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3"/>
    <p:sldId id="278" r:id="rId4"/>
    <p:sldId id="279" r:id="rId5"/>
    <p:sldId id="281" r:id="rId7"/>
    <p:sldId id="280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  <p:sldId id="293" r:id="rId19"/>
    <p:sldId id="294" r:id="rId20"/>
    <p:sldId id="295" r:id="rId21"/>
    <p:sldId id="296" r:id="rId22"/>
    <p:sldId id="297" r:id="rId23"/>
    <p:sldId id="298" r:id="rId24"/>
    <p:sldId id="299" r:id="rId25"/>
    <p:sldId id="300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5A32"/>
    <a:srgbClr val="B4B4BE"/>
    <a:srgbClr val="B42D2D"/>
    <a:srgbClr val="5C307D"/>
    <a:srgbClr val="404040"/>
    <a:srgbClr val="507D7D"/>
    <a:srgbClr val="6E6EAA"/>
    <a:srgbClr val="37B4C3"/>
    <a:srgbClr val="5A327D"/>
    <a:srgbClr val="4196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865" autoAdjust="0"/>
  </p:normalViewPr>
  <p:slideViewPr>
    <p:cSldViewPr snapToGrid="0">
      <p:cViewPr varScale="1">
        <p:scale>
          <a:sx n="63" d="100"/>
          <a:sy n="63" d="100"/>
        </p:scale>
        <p:origin x="-912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CFB564-F609-4D6A-B7A1-3D4272BF8A5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/>
            <a:r>
              <a:rPr lang="en-US" altLang="zh-CN" smtClean="0"/>
              <a:t>Second level</a:t>
            </a:r>
            <a:endParaRPr lang="en-US" altLang="zh-CN" smtClean="0"/>
          </a:p>
          <a:p>
            <a:pPr lvl="2"/>
            <a:r>
              <a:rPr lang="en-US" altLang="zh-CN" smtClean="0"/>
              <a:t>Third level</a:t>
            </a:r>
            <a:endParaRPr lang="en-US" altLang="zh-CN" smtClean="0"/>
          </a:p>
          <a:p>
            <a:pPr lvl="3"/>
            <a:r>
              <a:rPr lang="en-US" altLang="zh-CN" smtClean="0"/>
              <a:t>Fourth level</a:t>
            </a:r>
            <a:endParaRPr lang="en-US" altLang="zh-CN" smtClean="0"/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9BF65F-D44F-4528-A462-40F60C357A5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9BF65F-D44F-4528-A462-40F60C357A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9BF65F-D44F-4528-A462-40F60C357A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9BF65F-D44F-4528-A462-40F60C357A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 smtClean="0"/>
              <a:t>Click to edit Master subtitle style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96C3F-8C63-432F-9AD1-2207182A873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F9FB9-CEB1-457A-B993-A1A76D83EC0F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/>
            <a:r>
              <a:rPr lang="en-US" altLang="zh-CN" smtClean="0"/>
              <a:t>Second level</a:t>
            </a:r>
            <a:endParaRPr lang="en-US" altLang="zh-CN" smtClean="0"/>
          </a:p>
          <a:p>
            <a:pPr lvl="2"/>
            <a:r>
              <a:rPr lang="en-US" altLang="zh-CN" smtClean="0"/>
              <a:t>Third level</a:t>
            </a:r>
            <a:endParaRPr lang="en-US" altLang="zh-CN" smtClean="0"/>
          </a:p>
          <a:p>
            <a:pPr lvl="3"/>
            <a:r>
              <a:rPr lang="en-US" altLang="zh-CN" smtClean="0"/>
              <a:t>Fourth level</a:t>
            </a:r>
            <a:endParaRPr lang="en-US" altLang="zh-CN" smtClean="0"/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96C3F-8C63-432F-9AD1-2207182A873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F9FB9-CEB1-457A-B993-A1A76D83EC0F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" y="0"/>
            <a:ext cx="12190954" cy="6858588"/>
          </a:xfrm>
          <a:prstGeom prst="rect">
            <a:avLst/>
          </a:prstGeom>
        </p:spPr>
      </p:pic>
      <p:sp>
        <p:nvSpPr>
          <p:cNvPr id="8" name="Rectangle 4"/>
          <p:cNvSpPr/>
          <p:nvPr userDrawn="1"/>
        </p:nvSpPr>
        <p:spPr>
          <a:xfrm>
            <a:off x="319020" y="368489"/>
            <a:ext cx="11520000" cy="5760000"/>
          </a:xfrm>
          <a:prstGeom prst="rect">
            <a:avLst/>
          </a:prstGeom>
          <a:noFill/>
          <a:ln w="28575">
            <a:solidFill>
              <a:srgbClr val="5A327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11697188" y="1948934"/>
            <a:ext cx="252000" cy="2639889"/>
            <a:chOff x="11697188" y="1703270"/>
            <a:chExt cx="252000" cy="2639889"/>
          </a:xfrm>
        </p:grpSpPr>
        <p:sp>
          <p:nvSpPr>
            <p:cNvPr id="9" name="Rounded Rectangle 7"/>
            <p:cNvSpPr/>
            <p:nvPr userDrawn="1"/>
          </p:nvSpPr>
          <p:spPr>
            <a:xfrm>
              <a:off x="11697188" y="1703270"/>
              <a:ext cx="252000" cy="2639889"/>
            </a:xfrm>
            <a:prstGeom prst="roundRect">
              <a:avLst/>
            </a:prstGeom>
            <a:solidFill>
              <a:srgbClr val="5A327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TextBox 10"/>
            <p:cNvSpPr txBox="1"/>
            <p:nvPr userDrawn="1"/>
          </p:nvSpPr>
          <p:spPr>
            <a:xfrm>
              <a:off x="11765891" y="1776592"/>
              <a:ext cx="153888" cy="2566567"/>
            </a:xfrm>
            <a:prstGeom prst="rect">
              <a:avLst/>
            </a:prstGeom>
            <a:noFill/>
          </p:spPr>
          <p:txBody>
            <a:bodyPr vert="eaVert" wrap="square" lIns="0" tIns="0" rIns="0" bIns="0" rtlCol="0">
              <a:spAutoFit/>
            </a:bodyPr>
            <a:lstStyle/>
            <a:p>
              <a:r>
                <a:rPr lang="zh-CN" altLang="en-US" sz="1000" kern="1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数据结构（从概念到实现）  清华大学出版社</a:t>
              </a:r>
              <a:endParaRPr lang="zh-CN" altLang="en-US" sz="1000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96C3F-8C63-432F-9AD1-2207182A873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F9FB9-CEB1-457A-B993-A1A76D83EC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/>
            <a:r>
              <a:rPr lang="en-US" altLang="zh-CN" smtClean="0"/>
              <a:t>Second level</a:t>
            </a:r>
            <a:endParaRPr lang="en-US" altLang="zh-CN" smtClean="0"/>
          </a:p>
          <a:p>
            <a:pPr lvl="2"/>
            <a:r>
              <a:rPr lang="en-US" altLang="zh-CN" smtClean="0"/>
              <a:t>Third level</a:t>
            </a:r>
            <a:endParaRPr lang="en-US" altLang="zh-CN" smtClean="0"/>
          </a:p>
          <a:p>
            <a:pPr lvl="3"/>
            <a:r>
              <a:rPr lang="en-US" altLang="zh-CN" smtClean="0"/>
              <a:t>Fourth level</a:t>
            </a:r>
            <a:endParaRPr lang="en-US" altLang="zh-CN" smtClean="0"/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/>
            <a:r>
              <a:rPr lang="en-US" altLang="zh-CN" smtClean="0"/>
              <a:t>Second level</a:t>
            </a:r>
            <a:endParaRPr lang="en-US" altLang="zh-CN" smtClean="0"/>
          </a:p>
          <a:p>
            <a:pPr lvl="2"/>
            <a:r>
              <a:rPr lang="en-US" altLang="zh-CN" smtClean="0"/>
              <a:t>Third level</a:t>
            </a:r>
            <a:endParaRPr lang="en-US" altLang="zh-CN" smtClean="0"/>
          </a:p>
          <a:p>
            <a:pPr lvl="3"/>
            <a:r>
              <a:rPr lang="en-US" altLang="zh-CN" smtClean="0"/>
              <a:t>Fourth level</a:t>
            </a:r>
            <a:endParaRPr lang="en-US" altLang="zh-CN" smtClean="0"/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96C3F-8C63-432F-9AD1-2207182A873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F9FB9-CEB1-457A-B993-A1A76D83EC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/>
            <a:r>
              <a:rPr lang="en-US" altLang="zh-CN" smtClean="0"/>
              <a:t>Second level</a:t>
            </a:r>
            <a:endParaRPr lang="en-US" altLang="zh-CN" smtClean="0"/>
          </a:p>
          <a:p>
            <a:pPr lvl="2"/>
            <a:r>
              <a:rPr lang="en-US" altLang="zh-CN" smtClean="0"/>
              <a:t>Third level</a:t>
            </a:r>
            <a:endParaRPr lang="en-US" altLang="zh-CN" smtClean="0"/>
          </a:p>
          <a:p>
            <a:pPr lvl="3"/>
            <a:r>
              <a:rPr lang="en-US" altLang="zh-CN" smtClean="0"/>
              <a:t>Fourth level</a:t>
            </a:r>
            <a:endParaRPr lang="en-US" altLang="zh-CN" smtClean="0"/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/>
            <a:r>
              <a:rPr lang="en-US" altLang="zh-CN" smtClean="0"/>
              <a:t>Second level</a:t>
            </a:r>
            <a:endParaRPr lang="en-US" altLang="zh-CN" smtClean="0"/>
          </a:p>
          <a:p>
            <a:pPr lvl="2"/>
            <a:r>
              <a:rPr lang="en-US" altLang="zh-CN" smtClean="0"/>
              <a:t>Third level</a:t>
            </a:r>
            <a:endParaRPr lang="en-US" altLang="zh-CN" smtClean="0"/>
          </a:p>
          <a:p>
            <a:pPr lvl="3"/>
            <a:r>
              <a:rPr lang="en-US" altLang="zh-CN" smtClean="0"/>
              <a:t>Fourth level</a:t>
            </a:r>
            <a:endParaRPr lang="en-US" altLang="zh-CN" smtClean="0"/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96C3F-8C63-432F-9AD1-2207182A873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F9FB9-CEB1-457A-B993-A1A76D83EC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96C3F-8C63-432F-9AD1-2207182A873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F9FB9-CEB1-457A-B993-A1A76D83EC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96C3F-8C63-432F-9AD1-2207182A873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F9FB9-CEB1-457A-B993-A1A76D83EC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/>
            <a:r>
              <a:rPr lang="en-US" altLang="zh-CN" smtClean="0"/>
              <a:t>Second level</a:t>
            </a:r>
            <a:endParaRPr lang="en-US" altLang="zh-CN" smtClean="0"/>
          </a:p>
          <a:p>
            <a:pPr lvl="2"/>
            <a:r>
              <a:rPr lang="en-US" altLang="zh-CN" smtClean="0"/>
              <a:t>Third level</a:t>
            </a:r>
            <a:endParaRPr lang="en-US" altLang="zh-CN" smtClean="0"/>
          </a:p>
          <a:p>
            <a:pPr lvl="3"/>
            <a:r>
              <a:rPr lang="en-US" altLang="zh-CN" smtClean="0"/>
              <a:t>Fourth level</a:t>
            </a:r>
            <a:endParaRPr lang="en-US" altLang="zh-CN" smtClean="0"/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96C3F-8C63-432F-9AD1-2207182A873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F9FB9-CEB1-457A-B993-A1A76D83EC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96C3F-8C63-432F-9AD1-2207182A873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F9FB9-CEB1-457A-B993-A1A76D83EC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/>
            <a:r>
              <a:rPr lang="en-US" altLang="zh-CN" smtClean="0"/>
              <a:t>Second level</a:t>
            </a:r>
            <a:endParaRPr lang="en-US" altLang="zh-CN" smtClean="0"/>
          </a:p>
          <a:p>
            <a:pPr lvl="2"/>
            <a:r>
              <a:rPr lang="en-US" altLang="zh-CN" smtClean="0"/>
              <a:t>Third level</a:t>
            </a:r>
            <a:endParaRPr lang="en-US" altLang="zh-CN" smtClean="0"/>
          </a:p>
          <a:p>
            <a:pPr lvl="3"/>
            <a:r>
              <a:rPr lang="en-US" altLang="zh-CN" smtClean="0"/>
              <a:t>Fourth level</a:t>
            </a:r>
            <a:endParaRPr lang="en-US" altLang="zh-CN" smtClean="0"/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96C3F-8C63-432F-9AD1-2207182A873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F9FB9-CEB1-457A-B993-A1A76D83EC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/>
            <a:r>
              <a:rPr lang="en-US" altLang="zh-CN" smtClean="0"/>
              <a:t>Second level</a:t>
            </a:r>
            <a:endParaRPr lang="en-US" altLang="zh-CN" smtClean="0"/>
          </a:p>
          <a:p>
            <a:pPr lvl="2"/>
            <a:r>
              <a:rPr lang="en-US" altLang="zh-CN" smtClean="0"/>
              <a:t>Third level</a:t>
            </a:r>
            <a:endParaRPr lang="en-US" altLang="zh-CN" smtClean="0"/>
          </a:p>
          <a:p>
            <a:pPr lvl="3"/>
            <a:r>
              <a:rPr lang="en-US" altLang="zh-CN" smtClean="0"/>
              <a:t>Fourth level</a:t>
            </a:r>
            <a:endParaRPr lang="en-US" altLang="zh-CN" smtClean="0"/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96C3F-8C63-432F-9AD1-2207182A873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F9FB9-CEB1-457A-B993-A1A76D83EC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/>
            <a:r>
              <a:rPr lang="en-US" altLang="zh-CN" smtClean="0"/>
              <a:t>Second level</a:t>
            </a:r>
            <a:endParaRPr lang="en-US" altLang="zh-CN" smtClean="0"/>
          </a:p>
          <a:p>
            <a:pPr lvl="2"/>
            <a:r>
              <a:rPr lang="en-US" altLang="zh-CN" smtClean="0"/>
              <a:t>Third level</a:t>
            </a:r>
            <a:endParaRPr lang="en-US" altLang="zh-CN" smtClean="0"/>
          </a:p>
          <a:p>
            <a:pPr lvl="3"/>
            <a:r>
              <a:rPr lang="en-US" altLang="zh-CN" smtClean="0"/>
              <a:t>Fourth level</a:t>
            </a:r>
            <a:endParaRPr lang="en-US" altLang="zh-CN" smtClean="0"/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B96C3F-8C63-432F-9AD1-2207182A873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6F9FB9-CEB1-457A-B993-A1A76D83EC0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nip Diagonal Corner Rectangle 12"/>
          <p:cNvSpPr/>
          <p:nvPr/>
        </p:nvSpPr>
        <p:spPr>
          <a:xfrm>
            <a:off x="2931171" y="3899819"/>
            <a:ext cx="6568845" cy="725672"/>
          </a:xfrm>
          <a:prstGeom prst="snip2Diag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spcBef>
                <a:spcPct val="50000"/>
              </a:spcBef>
            </a:pP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381156" y="4011812"/>
            <a:ext cx="5657850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ct val="50000"/>
              </a:spcBef>
            </a:pPr>
            <a:r>
              <a:rPr lang="en-US" altLang="zh-CN" dirty="0" smtClean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5-5-1   </a:t>
            </a:r>
            <a:r>
              <a:rPr lang="zh-CN" altLang="en-US" dirty="0" smtClean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二叉树的顺序存储结构</a:t>
            </a:r>
            <a:endParaRPr lang="zh-CN" altLang="en-US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340433" y="1998397"/>
            <a:ext cx="7670342" cy="134525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mtClean="0"/>
              <a:t>v</a:t>
            </a:r>
            <a:endParaRPr lang="zh-CN" altLang="en-US" dirty="0"/>
          </a:p>
        </p:txBody>
      </p:sp>
      <p:sp>
        <p:nvSpPr>
          <p:cNvPr id="17" name="Text Box 6"/>
          <p:cNvSpPr txBox="1">
            <a:spLocks noChangeArrowheads="1"/>
          </p:cNvSpPr>
          <p:nvPr/>
        </p:nvSpPr>
        <p:spPr bwMode="auto">
          <a:xfrm>
            <a:off x="2862818" y="2403766"/>
            <a:ext cx="675362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 smtClean="0">
                <a:solidFill>
                  <a:srgbClr val="5C307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第五章     树和二叉树</a:t>
            </a:r>
            <a:endParaRPr lang="zh-CN" altLang="en-US" sz="3200" b="1" dirty="0">
              <a:solidFill>
                <a:srgbClr val="5C307D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ounded Rectangle 10"/>
          <p:cNvSpPr/>
          <p:nvPr/>
        </p:nvSpPr>
        <p:spPr>
          <a:xfrm>
            <a:off x="542923" y="100964"/>
            <a:ext cx="4500000" cy="540000"/>
          </a:xfrm>
          <a:prstGeom prst="roundRect">
            <a:avLst/>
          </a:prstGeom>
          <a:solidFill>
            <a:srgbClr val="5A32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Text Box 2"/>
          <p:cNvSpPr txBox="1">
            <a:spLocks noChangeArrowheads="1"/>
          </p:cNvSpPr>
          <p:nvPr/>
        </p:nvSpPr>
        <p:spPr bwMode="auto">
          <a:xfrm>
            <a:off x="638168" y="61585"/>
            <a:ext cx="433007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二叉树的顺序存储结构</a:t>
            </a:r>
            <a:endParaRPr lang="zh-CN" altLang="en-US" sz="32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850350" y="952588"/>
            <a:ext cx="7197526" cy="523220"/>
            <a:chOff x="1826091" y="4148024"/>
            <a:chExt cx="7197526" cy="523220"/>
          </a:xfrm>
        </p:grpSpPr>
        <p:sp>
          <p:nvSpPr>
            <p:cNvPr id="10" name="Text Box 11"/>
            <p:cNvSpPr txBox="1">
              <a:spLocks noChangeArrowheads="1"/>
            </p:cNvSpPr>
            <p:nvPr/>
          </p:nvSpPr>
          <p:spPr bwMode="auto">
            <a:xfrm>
              <a:off x="2385059" y="4148024"/>
              <a:ext cx="6638558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 smtClean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顺序存储结构的要求是什么？</a:t>
              </a:r>
              <a:endPara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Group 31"/>
            <p:cNvGrpSpPr/>
            <p:nvPr/>
          </p:nvGrpSpPr>
          <p:grpSpPr>
            <a:xfrm>
              <a:off x="1826091" y="4213620"/>
              <a:ext cx="465732" cy="432000"/>
              <a:chOff x="8686801" y="2019300"/>
              <a:chExt cx="528638" cy="565150"/>
            </a:xfrm>
            <a:solidFill>
              <a:srgbClr val="5A327D"/>
            </a:solidFill>
          </p:grpSpPr>
          <p:sp>
            <p:nvSpPr>
              <p:cNvPr id="12" name="Freeform 32"/>
              <p:cNvSpPr/>
              <p:nvPr/>
            </p:nvSpPr>
            <p:spPr bwMode="auto">
              <a:xfrm>
                <a:off x="8785226" y="2501900"/>
                <a:ext cx="331788" cy="82550"/>
              </a:xfrm>
              <a:custGeom>
                <a:avLst/>
                <a:gdLst>
                  <a:gd name="T0" fmla="*/ 121 w 122"/>
                  <a:gd name="T1" fmla="*/ 24 h 30"/>
                  <a:gd name="T2" fmla="*/ 107 w 122"/>
                  <a:gd name="T3" fmla="*/ 2 h 30"/>
                  <a:gd name="T4" fmla="*/ 104 w 122"/>
                  <a:gd name="T5" fmla="*/ 0 h 30"/>
                  <a:gd name="T6" fmla="*/ 62 w 122"/>
                  <a:gd name="T7" fmla="*/ 0 h 30"/>
                  <a:gd name="T8" fmla="*/ 60 w 122"/>
                  <a:gd name="T9" fmla="*/ 0 h 30"/>
                  <a:gd name="T10" fmla="*/ 18 w 122"/>
                  <a:gd name="T11" fmla="*/ 0 h 30"/>
                  <a:gd name="T12" fmla="*/ 15 w 122"/>
                  <a:gd name="T13" fmla="*/ 2 h 30"/>
                  <a:gd name="T14" fmla="*/ 1 w 122"/>
                  <a:gd name="T15" fmla="*/ 24 h 30"/>
                  <a:gd name="T16" fmla="*/ 2 w 122"/>
                  <a:gd name="T17" fmla="*/ 29 h 30"/>
                  <a:gd name="T18" fmla="*/ 4 w 122"/>
                  <a:gd name="T19" fmla="*/ 30 h 30"/>
                  <a:gd name="T20" fmla="*/ 8 w 122"/>
                  <a:gd name="T21" fmla="*/ 28 h 30"/>
                  <a:gd name="T22" fmla="*/ 20 w 122"/>
                  <a:gd name="T23" fmla="*/ 8 h 30"/>
                  <a:gd name="T24" fmla="*/ 60 w 122"/>
                  <a:gd name="T25" fmla="*/ 8 h 30"/>
                  <a:gd name="T26" fmla="*/ 62 w 122"/>
                  <a:gd name="T27" fmla="*/ 8 h 30"/>
                  <a:gd name="T28" fmla="*/ 102 w 122"/>
                  <a:gd name="T29" fmla="*/ 8 h 30"/>
                  <a:gd name="T30" fmla="*/ 114 w 122"/>
                  <a:gd name="T31" fmla="*/ 28 h 30"/>
                  <a:gd name="T32" fmla="*/ 118 w 122"/>
                  <a:gd name="T33" fmla="*/ 30 h 30"/>
                  <a:gd name="T34" fmla="*/ 120 w 122"/>
                  <a:gd name="T35" fmla="*/ 29 h 30"/>
                  <a:gd name="T36" fmla="*/ 121 w 122"/>
                  <a:gd name="T37" fmla="*/ 24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2" h="30">
                    <a:moveTo>
                      <a:pt x="121" y="24"/>
                    </a:moveTo>
                    <a:cubicBezTo>
                      <a:pt x="107" y="2"/>
                      <a:pt x="107" y="2"/>
                      <a:pt x="107" y="2"/>
                    </a:cubicBezTo>
                    <a:cubicBezTo>
                      <a:pt x="106" y="1"/>
                      <a:pt x="105" y="0"/>
                      <a:pt x="104" y="0"/>
                    </a:cubicBezTo>
                    <a:cubicBezTo>
                      <a:pt x="62" y="0"/>
                      <a:pt x="62" y="0"/>
                      <a:pt x="62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7" y="0"/>
                      <a:pt x="15" y="1"/>
                      <a:pt x="15" y="2"/>
                    </a:cubicBezTo>
                    <a:cubicBezTo>
                      <a:pt x="1" y="24"/>
                      <a:pt x="1" y="24"/>
                      <a:pt x="1" y="24"/>
                    </a:cubicBezTo>
                    <a:cubicBezTo>
                      <a:pt x="0" y="26"/>
                      <a:pt x="0" y="28"/>
                      <a:pt x="2" y="29"/>
                    </a:cubicBezTo>
                    <a:cubicBezTo>
                      <a:pt x="3" y="30"/>
                      <a:pt x="3" y="30"/>
                      <a:pt x="4" y="30"/>
                    </a:cubicBezTo>
                    <a:cubicBezTo>
                      <a:pt x="6" y="30"/>
                      <a:pt x="7" y="29"/>
                      <a:pt x="8" y="28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60" y="8"/>
                      <a:pt x="60" y="8"/>
                      <a:pt x="60" y="8"/>
                    </a:cubicBezTo>
                    <a:cubicBezTo>
                      <a:pt x="62" y="8"/>
                      <a:pt x="62" y="8"/>
                      <a:pt x="62" y="8"/>
                    </a:cubicBezTo>
                    <a:cubicBezTo>
                      <a:pt x="102" y="8"/>
                      <a:pt x="102" y="8"/>
                      <a:pt x="102" y="8"/>
                    </a:cubicBezTo>
                    <a:cubicBezTo>
                      <a:pt x="114" y="28"/>
                      <a:pt x="114" y="28"/>
                      <a:pt x="114" y="28"/>
                    </a:cubicBezTo>
                    <a:cubicBezTo>
                      <a:pt x="115" y="29"/>
                      <a:pt x="116" y="30"/>
                      <a:pt x="118" y="30"/>
                    </a:cubicBezTo>
                    <a:cubicBezTo>
                      <a:pt x="118" y="30"/>
                      <a:pt x="119" y="30"/>
                      <a:pt x="120" y="29"/>
                    </a:cubicBezTo>
                    <a:cubicBezTo>
                      <a:pt x="122" y="28"/>
                      <a:pt x="122" y="26"/>
                      <a:pt x="121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" name="Freeform 33"/>
              <p:cNvSpPr/>
              <p:nvPr/>
            </p:nvSpPr>
            <p:spPr bwMode="auto">
              <a:xfrm>
                <a:off x="8686801" y="2019300"/>
                <a:ext cx="165100" cy="149225"/>
              </a:xfrm>
              <a:custGeom>
                <a:avLst/>
                <a:gdLst>
                  <a:gd name="T0" fmla="*/ 33 w 61"/>
                  <a:gd name="T1" fmla="*/ 0 h 55"/>
                  <a:gd name="T2" fmla="*/ 0 w 61"/>
                  <a:gd name="T3" fmla="*/ 33 h 55"/>
                  <a:gd name="T4" fmla="*/ 7 w 61"/>
                  <a:gd name="T5" fmla="*/ 54 h 55"/>
                  <a:gd name="T6" fmla="*/ 10 w 61"/>
                  <a:gd name="T7" fmla="*/ 55 h 55"/>
                  <a:gd name="T8" fmla="*/ 13 w 61"/>
                  <a:gd name="T9" fmla="*/ 55 h 55"/>
                  <a:gd name="T10" fmla="*/ 59 w 61"/>
                  <a:gd name="T11" fmla="*/ 19 h 55"/>
                  <a:gd name="T12" fmla="*/ 60 w 61"/>
                  <a:gd name="T13" fmla="*/ 13 h 55"/>
                  <a:gd name="T14" fmla="*/ 33 w 61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55">
                    <a:moveTo>
                      <a:pt x="33" y="0"/>
                    </a:moveTo>
                    <a:cubicBezTo>
                      <a:pt x="15" y="0"/>
                      <a:pt x="0" y="15"/>
                      <a:pt x="0" y="33"/>
                    </a:cubicBezTo>
                    <a:cubicBezTo>
                      <a:pt x="0" y="41"/>
                      <a:pt x="2" y="48"/>
                      <a:pt x="7" y="54"/>
                    </a:cubicBezTo>
                    <a:cubicBezTo>
                      <a:pt x="8" y="55"/>
                      <a:pt x="9" y="55"/>
                      <a:pt x="10" y="55"/>
                    </a:cubicBezTo>
                    <a:cubicBezTo>
                      <a:pt x="11" y="55"/>
                      <a:pt x="12" y="55"/>
                      <a:pt x="13" y="55"/>
                    </a:cubicBezTo>
                    <a:cubicBezTo>
                      <a:pt x="59" y="19"/>
                      <a:pt x="59" y="19"/>
                      <a:pt x="59" y="19"/>
                    </a:cubicBezTo>
                    <a:cubicBezTo>
                      <a:pt x="61" y="17"/>
                      <a:pt x="61" y="15"/>
                      <a:pt x="60" y="13"/>
                    </a:cubicBezTo>
                    <a:cubicBezTo>
                      <a:pt x="54" y="5"/>
                      <a:pt x="44" y="0"/>
                      <a:pt x="3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" name="Freeform 34"/>
              <p:cNvSpPr/>
              <p:nvPr/>
            </p:nvSpPr>
            <p:spPr bwMode="auto">
              <a:xfrm>
                <a:off x="9048751" y="2019300"/>
                <a:ext cx="166688" cy="149225"/>
              </a:xfrm>
              <a:custGeom>
                <a:avLst/>
                <a:gdLst>
                  <a:gd name="T0" fmla="*/ 28 w 61"/>
                  <a:gd name="T1" fmla="*/ 0 h 55"/>
                  <a:gd name="T2" fmla="*/ 1 w 61"/>
                  <a:gd name="T3" fmla="*/ 13 h 55"/>
                  <a:gd name="T4" fmla="*/ 2 w 61"/>
                  <a:gd name="T5" fmla="*/ 19 h 55"/>
                  <a:gd name="T6" fmla="*/ 48 w 61"/>
                  <a:gd name="T7" fmla="*/ 55 h 55"/>
                  <a:gd name="T8" fmla="*/ 51 w 61"/>
                  <a:gd name="T9" fmla="*/ 55 h 55"/>
                  <a:gd name="T10" fmla="*/ 54 w 61"/>
                  <a:gd name="T11" fmla="*/ 54 h 55"/>
                  <a:gd name="T12" fmla="*/ 61 w 61"/>
                  <a:gd name="T13" fmla="*/ 33 h 55"/>
                  <a:gd name="T14" fmla="*/ 28 w 61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55">
                    <a:moveTo>
                      <a:pt x="28" y="0"/>
                    </a:moveTo>
                    <a:cubicBezTo>
                      <a:pt x="17" y="0"/>
                      <a:pt x="7" y="5"/>
                      <a:pt x="1" y="13"/>
                    </a:cubicBezTo>
                    <a:cubicBezTo>
                      <a:pt x="0" y="15"/>
                      <a:pt x="0" y="17"/>
                      <a:pt x="2" y="19"/>
                    </a:cubicBezTo>
                    <a:cubicBezTo>
                      <a:pt x="48" y="55"/>
                      <a:pt x="48" y="55"/>
                      <a:pt x="48" y="55"/>
                    </a:cubicBezTo>
                    <a:cubicBezTo>
                      <a:pt x="49" y="55"/>
                      <a:pt x="50" y="55"/>
                      <a:pt x="51" y="55"/>
                    </a:cubicBezTo>
                    <a:cubicBezTo>
                      <a:pt x="52" y="55"/>
                      <a:pt x="53" y="55"/>
                      <a:pt x="54" y="54"/>
                    </a:cubicBezTo>
                    <a:cubicBezTo>
                      <a:pt x="58" y="48"/>
                      <a:pt x="61" y="41"/>
                      <a:pt x="61" y="33"/>
                    </a:cubicBezTo>
                    <a:cubicBezTo>
                      <a:pt x="61" y="15"/>
                      <a:pt x="46" y="0"/>
                      <a:pt x="2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" name="Freeform 223"/>
              <p:cNvSpPr>
                <a:spLocks noEditPoints="1"/>
              </p:cNvSpPr>
              <p:nvPr/>
            </p:nvSpPr>
            <p:spPr bwMode="auto">
              <a:xfrm>
                <a:off x="8743951" y="2073275"/>
                <a:ext cx="411163" cy="414338"/>
              </a:xfrm>
              <a:custGeom>
                <a:avLst/>
                <a:gdLst>
                  <a:gd name="T0" fmla="*/ 76 w 151"/>
                  <a:gd name="T1" fmla="*/ 0 h 152"/>
                  <a:gd name="T2" fmla="*/ 0 w 151"/>
                  <a:gd name="T3" fmla="*/ 76 h 152"/>
                  <a:gd name="T4" fmla="*/ 76 w 151"/>
                  <a:gd name="T5" fmla="*/ 152 h 152"/>
                  <a:gd name="T6" fmla="*/ 151 w 151"/>
                  <a:gd name="T7" fmla="*/ 76 h 152"/>
                  <a:gd name="T8" fmla="*/ 76 w 151"/>
                  <a:gd name="T9" fmla="*/ 0 h 152"/>
                  <a:gd name="T10" fmla="*/ 104 w 151"/>
                  <a:gd name="T11" fmla="*/ 82 h 152"/>
                  <a:gd name="T12" fmla="*/ 77 w 151"/>
                  <a:gd name="T13" fmla="*/ 82 h 152"/>
                  <a:gd name="T14" fmla="*/ 71 w 151"/>
                  <a:gd name="T15" fmla="*/ 76 h 152"/>
                  <a:gd name="T16" fmla="*/ 71 w 151"/>
                  <a:gd name="T17" fmla="*/ 24 h 152"/>
                  <a:gd name="T18" fmla="*/ 77 w 151"/>
                  <a:gd name="T19" fmla="*/ 18 h 152"/>
                  <a:gd name="T20" fmla="*/ 83 w 151"/>
                  <a:gd name="T21" fmla="*/ 24 h 152"/>
                  <a:gd name="T22" fmla="*/ 83 w 151"/>
                  <a:gd name="T23" fmla="*/ 70 h 152"/>
                  <a:gd name="T24" fmla="*/ 104 w 151"/>
                  <a:gd name="T25" fmla="*/ 70 h 152"/>
                  <a:gd name="T26" fmla="*/ 110 w 151"/>
                  <a:gd name="T27" fmla="*/ 76 h 152"/>
                  <a:gd name="T28" fmla="*/ 104 w 151"/>
                  <a:gd name="T29" fmla="*/ 82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51" h="152">
                    <a:moveTo>
                      <a:pt x="76" y="0"/>
                    </a:moveTo>
                    <a:cubicBezTo>
                      <a:pt x="34" y="0"/>
                      <a:pt x="0" y="34"/>
                      <a:pt x="0" y="76"/>
                    </a:cubicBezTo>
                    <a:cubicBezTo>
                      <a:pt x="0" y="118"/>
                      <a:pt x="34" y="152"/>
                      <a:pt x="76" y="152"/>
                    </a:cubicBezTo>
                    <a:cubicBezTo>
                      <a:pt x="118" y="152"/>
                      <a:pt x="151" y="118"/>
                      <a:pt x="151" y="76"/>
                    </a:cubicBezTo>
                    <a:cubicBezTo>
                      <a:pt x="151" y="34"/>
                      <a:pt x="118" y="0"/>
                      <a:pt x="76" y="0"/>
                    </a:cubicBezTo>
                    <a:close/>
                    <a:moveTo>
                      <a:pt x="104" y="82"/>
                    </a:moveTo>
                    <a:cubicBezTo>
                      <a:pt x="77" y="82"/>
                      <a:pt x="77" y="82"/>
                      <a:pt x="77" y="82"/>
                    </a:cubicBezTo>
                    <a:cubicBezTo>
                      <a:pt x="73" y="82"/>
                      <a:pt x="71" y="79"/>
                      <a:pt x="71" y="76"/>
                    </a:cubicBezTo>
                    <a:cubicBezTo>
                      <a:pt x="71" y="24"/>
                      <a:pt x="71" y="24"/>
                      <a:pt x="71" y="24"/>
                    </a:cubicBezTo>
                    <a:cubicBezTo>
                      <a:pt x="71" y="21"/>
                      <a:pt x="73" y="18"/>
                      <a:pt x="77" y="18"/>
                    </a:cubicBezTo>
                    <a:cubicBezTo>
                      <a:pt x="80" y="18"/>
                      <a:pt x="83" y="21"/>
                      <a:pt x="83" y="24"/>
                    </a:cubicBezTo>
                    <a:cubicBezTo>
                      <a:pt x="83" y="70"/>
                      <a:pt x="83" y="70"/>
                      <a:pt x="83" y="70"/>
                    </a:cubicBezTo>
                    <a:cubicBezTo>
                      <a:pt x="104" y="70"/>
                      <a:pt x="104" y="70"/>
                      <a:pt x="104" y="70"/>
                    </a:cubicBezTo>
                    <a:cubicBezTo>
                      <a:pt x="107" y="70"/>
                      <a:pt x="110" y="72"/>
                      <a:pt x="110" y="76"/>
                    </a:cubicBezTo>
                    <a:cubicBezTo>
                      <a:pt x="110" y="79"/>
                      <a:pt x="107" y="82"/>
                      <a:pt x="104" y="8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16" name="Rectangle 2"/>
          <p:cNvSpPr txBox="1">
            <a:spLocks noChangeArrowheads="1"/>
          </p:cNvSpPr>
          <p:nvPr/>
        </p:nvSpPr>
        <p:spPr>
          <a:xfrm>
            <a:off x="744848" y="1719262"/>
            <a:ext cx="11081392" cy="5177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000"/>
              </a:lnSpc>
              <a:spcBef>
                <a:spcPts val="0"/>
              </a:spcBef>
              <a:buNone/>
            </a:pPr>
            <a:r>
              <a:rPr lang="zh-CN" altLang="en-US" sz="24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zh-CN" altLang="en-US" sz="2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一组</a:t>
            </a:r>
            <a:r>
              <a:rPr lang="zh-CN" altLang="en-US" sz="2400" dirty="0">
                <a:solidFill>
                  <a:srgbClr val="B42D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连续</a:t>
            </a:r>
            <a:r>
              <a:rPr lang="zh-CN" altLang="en-US" sz="2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4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存储单元</a:t>
            </a:r>
            <a:r>
              <a:rPr lang="zh-CN" altLang="en-US" sz="2400" dirty="0" smtClean="0">
                <a:solidFill>
                  <a:srgbClr val="B42D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依次</a:t>
            </a:r>
            <a:r>
              <a:rPr lang="zh-CN" altLang="en-US" sz="24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</a:t>
            </a:r>
            <a:r>
              <a:rPr lang="zh-CN" altLang="en-US" sz="2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数据元素，由</a:t>
            </a:r>
            <a:r>
              <a:rPr lang="zh-CN" altLang="en-US" sz="2400" dirty="0">
                <a:solidFill>
                  <a:srgbClr val="B42D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存储位置</a:t>
            </a:r>
            <a:r>
              <a:rPr lang="zh-CN" altLang="en-US" sz="24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表示元素</a:t>
            </a:r>
            <a:r>
              <a:rPr lang="zh-CN" altLang="en-US" sz="2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之间的逻辑</a:t>
            </a:r>
            <a:r>
              <a:rPr lang="zh-CN" altLang="en-US" sz="24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</a:t>
            </a:r>
            <a:endParaRPr lang="zh-CN" altLang="en-US" sz="24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850350" y="3779519"/>
            <a:ext cx="10076730" cy="523220"/>
            <a:chOff x="1826091" y="4148024"/>
            <a:chExt cx="10076730" cy="523220"/>
          </a:xfrm>
        </p:grpSpPr>
        <p:sp>
          <p:nvSpPr>
            <p:cNvPr id="21" name="Text Box 11"/>
            <p:cNvSpPr txBox="1">
              <a:spLocks noChangeArrowheads="1"/>
            </p:cNvSpPr>
            <p:nvPr/>
          </p:nvSpPr>
          <p:spPr bwMode="auto">
            <a:xfrm>
              <a:off x="2385059" y="4148024"/>
              <a:ext cx="951776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如何利用数组下标来反映结点之间的逻辑关系</a:t>
              </a:r>
              <a:r>
                <a:rPr lang="zh-CN" altLang="en-US" sz="2800" dirty="0" smtClean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?</a:t>
              </a:r>
              <a:endPara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2" name="Group 31"/>
            <p:cNvGrpSpPr/>
            <p:nvPr/>
          </p:nvGrpSpPr>
          <p:grpSpPr>
            <a:xfrm>
              <a:off x="1826091" y="4213620"/>
              <a:ext cx="465732" cy="432000"/>
              <a:chOff x="8686801" y="2019300"/>
              <a:chExt cx="528638" cy="565150"/>
            </a:xfrm>
            <a:solidFill>
              <a:srgbClr val="5A327D"/>
            </a:solidFill>
          </p:grpSpPr>
          <p:sp>
            <p:nvSpPr>
              <p:cNvPr id="25" name="Freeform 32"/>
              <p:cNvSpPr/>
              <p:nvPr/>
            </p:nvSpPr>
            <p:spPr bwMode="auto">
              <a:xfrm>
                <a:off x="8785226" y="2501900"/>
                <a:ext cx="331788" cy="82550"/>
              </a:xfrm>
              <a:custGeom>
                <a:avLst/>
                <a:gdLst>
                  <a:gd name="T0" fmla="*/ 121 w 122"/>
                  <a:gd name="T1" fmla="*/ 24 h 30"/>
                  <a:gd name="T2" fmla="*/ 107 w 122"/>
                  <a:gd name="T3" fmla="*/ 2 h 30"/>
                  <a:gd name="T4" fmla="*/ 104 w 122"/>
                  <a:gd name="T5" fmla="*/ 0 h 30"/>
                  <a:gd name="T6" fmla="*/ 62 w 122"/>
                  <a:gd name="T7" fmla="*/ 0 h 30"/>
                  <a:gd name="T8" fmla="*/ 60 w 122"/>
                  <a:gd name="T9" fmla="*/ 0 h 30"/>
                  <a:gd name="T10" fmla="*/ 18 w 122"/>
                  <a:gd name="T11" fmla="*/ 0 h 30"/>
                  <a:gd name="T12" fmla="*/ 15 w 122"/>
                  <a:gd name="T13" fmla="*/ 2 h 30"/>
                  <a:gd name="T14" fmla="*/ 1 w 122"/>
                  <a:gd name="T15" fmla="*/ 24 h 30"/>
                  <a:gd name="T16" fmla="*/ 2 w 122"/>
                  <a:gd name="T17" fmla="*/ 29 h 30"/>
                  <a:gd name="T18" fmla="*/ 4 w 122"/>
                  <a:gd name="T19" fmla="*/ 30 h 30"/>
                  <a:gd name="T20" fmla="*/ 8 w 122"/>
                  <a:gd name="T21" fmla="*/ 28 h 30"/>
                  <a:gd name="T22" fmla="*/ 20 w 122"/>
                  <a:gd name="T23" fmla="*/ 8 h 30"/>
                  <a:gd name="T24" fmla="*/ 60 w 122"/>
                  <a:gd name="T25" fmla="*/ 8 h 30"/>
                  <a:gd name="T26" fmla="*/ 62 w 122"/>
                  <a:gd name="T27" fmla="*/ 8 h 30"/>
                  <a:gd name="T28" fmla="*/ 102 w 122"/>
                  <a:gd name="T29" fmla="*/ 8 h 30"/>
                  <a:gd name="T30" fmla="*/ 114 w 122"/>
                  <a:gd name="T31" fmla="*/ 28 h 30"/>
                  <a:gd name="T32" fmla="*/ 118 w 122"/>
                  <a:gd name="T33" fmla="*/ 30 h 30"/>
                  <a:gd name="T34" fmla="*/ 120 w 122"/>
                  <a:gd name="T35" fmla="*/ 29 h 30"/>
                  <a:gd name="T36" fmla="*/ 121 w 122"/>
                  <a:gd name="T37" fmla="*/ 24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2" h="30">
                    <a:moveTo>
                      <a:pt x="121" y="24"/>
                    </a:moveTo>
                    <a:cubicBezTo>
                      <a:pt x="107" y="2"/>
                      <a:pt x="107" y="2"/>
                      <a:pt x="107" y="2"/>
                    </a:cubicBezTo>
                    <a:cubicBezTo>
                      <a:pt x="106" y="1"/>
                      <a:pt x="105" y="0"/>
                      <a:pt x="104" y="0"/>
                    </a:cubicBezTo>
                    <a:cubicBezTo>
                      <a:pt x="62" y="0"/>
                      <a:pt x="62" y="0"/>
                      <a:pt x="62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7" y="0"/>
                      <a:pt x="15" y="1"/>
                      <a:pt x="15" y="2"/>
                    </a:cubicBezTo>
                    <a:cubicBezTo>
                      <a:pt x="1" y="24"/>
                      <a:pt x="1" y="24"/>
                      <a:pt x="1" y="24"/>
                    </a:cubicBezTo>
                    <a:cubicBezTo>
                      <a:pt x="0" y="26"/>
                      <a:pt x="0" y="28"/>
                      <a:pt x="2" y="29"/>
                    </a:cubicBezTo>
                    <a:cubicBezTo>
                      <a:pt x="3" y="30"/>
                      <a:pt x="3" y="30"/>
                      <a:pt x="4" y="30"/>
                    </a:cubicBezTo>
                    <a:cubicBezTo>
                      <a:pt x="6" y="30"/>
                      <a:pt x="7" y="29"/>
                      <a:pt x="8" y="28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60" y="8"/>
                      <a:pt x="60" y="8"/>
                      <a:pt x="60" y="8"/>
                    </a:cubicBezTo>
                    <a:cubicBezTo>
                      <a:pt x="62" y="8"/>
                      <a:pt x="62" y="8"/>
                      <a:pt x="62" y="8"/>
                    </a:cubicBezTo>
                    <a:cubicBezTo>
                      <a:pt x="102" y="8"/>
                      <a:pt x="102" y="8"/>
                      <a:pt x="102" y="8"/>
                    </a:cubicBezTo>
                    <a:cubicBezTo>
                      <a:pt x="114" y="28"/>
                      <a:pt x="114" y="28"/>
                      <a:pt x="114" y="28"/>
                    </a:cubicBezTo>
                    <a:cubicBezTo>
                      <a:pt x="115" y="29"/>
                      <a:pt x="116" y="30"/>
                      <a:pt x="118" y="30"/>
                    </a:cubicBezTo>
                    <a:cubicBezTo>
                      <a:pt x="118" y="30"/>
                      <a:pt x="119" y="30"/>
                      <a:pt x="120" y="29"/>
                    </a:cubicBezTo>
                    <a:cubicBezTo>
                      <a:pt x="122" y="28"/>
                      <a:pt x="122" y="26"/>
                      <a:pt x="121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" name="Freeform 33"/>
              <p:cNvSpPr/>
              <p:nvPr/>
            </p:nvSpPr>
            <p:spPr bwMode="auto">
              <a:xfrm>
                <a:off x="8686801" y="2019300"/>
                <a:ext cx="165100" cy="149225"/>
              </a:xfrm>
              <a:custGeom>
                <a:avLst/>
                <a:gdLst>
                  <a:gd name="T0" fmla="*/ 33 w 61"/>
                  <a:gd name="T1" fmla="*/ 0 h 55"/>
                  <a:gd name="T2" fmla="*/ 0 w 61"/>
                  <a:gd name="T3" fmla="*/ 33 h 55"/>
                  <a:gd name="T4" fmla="*/ 7 w 61"/>
                  <a:gd name="T5" fmla="*/ 54 h 55"/>
                  <a:gd name="T6" fmla="*/ 10 w 61"/>
                  <a:gd name="T7" fmla="*/ 55 h 55"/>
                  <a:gd name="T8" fmla="*/ 13 w 61"/>
                  <a:gd name="T9" fmla="*/ 55 h 55"/>
                  <a:gd name="T10" fmla="*/ 59 w 61"/>
                  <a:gd name="T11" fmla="*/ 19 h 55"/>
                  <a:gd name="T12" fmla="*/ 60 w 61"/>
                  <a:gd name="T13" fmla="*/ 13 h 55"/>
                  <a:gd name="T14" fmla="*/ 33 w 61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55">
                    <a:moveTo>
                      <a:pt x="33" y="0"/>
                    </a:moveTo>
                    <a:cubicBezTo>
                      <a:pt x="15" y="0"/>
                      <a:pt x="0" y="15"/>
                      <a:pt x="0" y="33"/>
                    </a:cubicBezTo>
                    <a:cubicBezTo>
                      <a:pt x="0" y="41"/>
                      <a:pt x="2" y="48"/>
                      <a:pt x="7" y="54"/>
                    </a:cubicBezTo>
                    <a:cubicBezTo>
                      <a:pt x="8" y="55"/>
                      <a:pt x="9" y="55"/>
                      <a:pt x="10" y="55"/>
                    </a:cubicBezTo>
                    <a:cubicBezTo>
                      <a:pt x="11" y="55"/>
                      <a:pt x="12" y="55"/>
                      <a:pt x="13" y="55"/>
                    </a:cubicBezTo>
                    <a:cubicBezTo>
                      <a:pt x="59" y="19"/>
                      <a:pt x="59" y="19"/>
                      <a:pt x="59" y="19"/>
                    </a:cubicBezTo>
                    <a:cubicBezTo>
                      <a:pt x="61" y="17"/>
                      <a:pt x="61" y="15"/>
                      <a:pt x="60" y="13"/>
                    </a:cubicBezTo>
                    <a:cubicBezTo>
                      <a:pt x="54" y="5"/>
                      <a:pt x="44" y="0"/>
                      <a:pt x="3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" name="Freeform 34"/>
              <p:cNvSpPr/>
              <p:nvPr/>
            </p:nvSpPr>
            <p:spPr bwMode="auto">
              <a:xfrm>
                <a:off x="9048751" y="2019300"/>
                <a:ext cx="166688" cy="149225"/>
              </a:xfrm>
              <a:custGeom>
                <a:avLst/>
                <a:gdLst>
                  <a:gd name="T0" fmla="*/ 28 w 61"/>
                  <a:gd name="T1" fmla="*/ 0 h 55"/>
                  <a:gd name="T2" fmla="*/ 1 w 61"/>
                  <a:gd name="T3" fmla="*/ 13 h 55"/>
                  <a:gd name="T4" fmla="*/ 2 w 61"/>
                  <a:gd name="T5" fmla="*/ 19 h 55"/>
                  <a:gd name="T6" fmla="*/ 48 w 61"/>
                  <a:gd name="T7" fmla="*/ 55 h 55"/>
                  <a:gd name="T8" fmla="*/ 51 w 61"/>
                  <a:gd name="T9" fmla="*/ 55 h 55"/>
                  <a:gd name="T10" fmla="*/ 54 w 61"/>
                  <a:gd name="T11" fmla="*/ 54 h 55"/>
                  <a:gd name="T12" fmla="*/ 61 w 61"/>
                  <a:gd name="T13" fmla="*/ 33 h 55"/>
                  <a:gd name="T14" fmla="*/ 28 w 61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55">
                    <a:moveTo>
                      <a:pt x="28" y="0"/>
                    </a:moveTo>
                    <a:cubicBezTo>
                      <a:pt x="17" y="0"/>
                      <a:pt x="7" y="5"/>
                      <a:pt x="1" y="13"/>
                    </a:cubicBezTo>
                    <a:cubicBezTo>
                      <a:pt x="0" y="15"/>
                      <a:pt x="0" y="17"/>
                      <a:pt x="2" y="19"/>
                    </a:cubicBezTo>
                    <a:cubicBezTo>
                      <a:pt x="48" y="55"/>
                      <a:pt x="48" y="55"/>
                      <a:pt x="48" y="55"/>
                    </a:cubicBezTo>
                    <a:cubicBezTo>
                      <a:pt x="49" y="55"/>
                      <a:pt x="50" y="55"/>
                      <a:pt x="51" y="55"/>
                    </a:cubicBezTo>
                    <a:cubicBezTo>
                      <a:pt x="52" y="55"/>
                      <a:pt x="53" y="55"/>
                      <a:pt x="54" y="54"/>
                    </a:cubicBezTo>
                    <a:cubicBezTo>
                      <a:pt x="58" y="48"/>
                      <a:pt x="61" y="41"/>
                      <a:pt x="61" y="33"/>
                    </a:cubicBezTo>
                    <a:cubicBezTo>
                      <a:pt x="61" y="15"/>
                      <a:pt x="46" y="0"/>
                      <a:pt x="2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" name="Freeform 223"/>
              <p:cNvSpPr>
                <a:spLocks noEditPoints="1"/>
              </p:cNvSpPr>
              <p:nvPr/>
            </p:nvSpPr>
            <p:spPr bwMode="auto">
              <a:xfrm>
                <a:off x="8743951" y="2073275"/>
                <a:ext cx="411163" cy="414338"/>
              </a:xfrm>
              <a:custGeom>
                <a:avLst/>
                <a:gdLst>
                  <a:gd name="T0" fmla="*/ 76 w 151"/>
                  <a:gd name="T1" fmla="*/ 0 h 152"/>
                  <a:gd name="T2" fmla="*/ 0 w 151"/>
                  <a:gd name="T3" fmla="*/ 76 h 152"/>
                  <a:gd name="T4" fmla="*/ 76 w 151"/>
                  <a:gd name="T5" fmla="*/ 152 h 152"/>
                  <a:gd name="T6" fmla="*/ 151 w 151"/>
                  <a:gd name="T7" fmla="*/ 76 h 152"/>
                  <a:gd name="T8" fmla="*/ 76 w 151"/>
                  <a:gd name="T9" fmla="*/ 0 h 152"/>
                  <a:gd name="T10" fmla="*/ 104 w 151"/>
                  <a:gd name="T11" fmla="*/ 82 h 152"/>
                  <a:gd name="T12" fmla="*/ 77 w 151"/>
                  <a:gd name="T13" fmla="*/ 82 h 152"/>
                  <a:gd name="T14" fmla="*/ 71 w 151"/>
                  <a:gd name="T15" fmla="*/ 76 h 152"/>
                  <a:gd name="T16" fmla="*/ 71 w 151"/>
                  <a:gd name="T17" fmla="*/ 24 h 152"/>
                  <a:gd name="T18" fmla="*/ 77 w 151"/>
                  <a:gd name="T19" fmla="*/ 18 h 152"/>
                  <a:gd name="T20" fmla="*/ 83 w 151"/>
                  <a:gd name="T21" fmla="*/ 24 h 152"/>
                  <a:gd name="T22" fmla="*/ 83 w 151"/>
                  <a:gd name="T23" fmla="*/ 70 h 152"/>
                  <a:gd name="T24" fmla="*/ 104 w 151"/>
                  <a:gd name="T25" fmla="*/ 70 h 152"/>
                  <a:gd name="T26" fmla="*/ 110 w 151"/>
                  <a:gd name="T27" fmla="*/ 76 h 152"/>
                  <a:gd name="T28" fmla="*/ 104 w 151"/>
                  <a:gd name="T29" fmla="*/ 82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51" h="152">
                    <a:moveTo>
                      <a:pt x="76" y="0"/>
                    </a:moveTo>
                    <a:cubicBezTo>
                      <a:pt x="34" y="0"/>
                      <a:pt x="0" y="34"/>
                      <a:pt x="0" y="76"/>
                    </a:cubicBezTo>
                    <a:cubicBezTo>
                      <a:pt x="0" y="118"/>
                      <a:pt x="34" y="152"/>
                      <a:pt x="76" y="152"/>
                    </a:cubicBezTo>
                    <a:cubicBezTo>
                      <a:pt x="118" y="152"/>
                      <a:pt x="151" y="118"/>
                      <a:pt x="151" y="76"/>
                    </a:cubicBezTo>
                    <a:cubicBezTo>
                      <a:pt x="151" y="34"/>
                      <a:pt x="118" y="0"/>
                      <a:pt x="76" y="0"/>
                    </a:cubicBezTo>
                    <a:close/>
                    <a:moveTo>
                      <a:pt x="104" y="82"/>
                    </a:moveTo>
                    <a:cubicBezTo>
                      <a:pt x="77" y="82"/>
                      <a:pt x="77" y="82"/>
                      <a:pt x="77" y="82"/>
                    </a:cubicBezTo>
                    <a:cubicBezTo>
                      <a:pt x="73" y="82"/>
                      <a:pt x="71" y="79"/>
                      <a:pt x="71" y="76"/>
                    </a:cubicBezTo>
                    <a:cubicBezTo>
                      <a:pt x="71" y="24"/>
                      <a:pt x="71" y="24"/>
                      <a:pt x="71" y="24"/>
                    </a:cubicBezTo>
                    <a:cubicBezTo>
                      <a:pt x="71" y="21"/>
                      <a:pt x="73" y="18"/>
                      <a:pt x="77" y="18"/>
                    </a:cubicBezTo>
                    <a:cubicBezTo>
                      <a:pt x="80" y="18"/>
                      <a:pt x="83" y="21"/>
                      <a:pt x="83" y="24"/>
                    </a:cubicBezTo>
                    <a:cubicBezTo>
                      <a:pt x="83" y="70"/>
                      <a:pt x="83" y="70"/>
                      <a:pt x="83" y="70"/>
                    </a:cubicBezTo>
                    <a:cubicBezTo>
                      <a:pt x="104" y="70"/>
                      <a:pt x="104" y="70"/>
                      <a:pt x="104" y="70"/>
                    </a:cubicBezTo>
                    <a:cubicBezTo>
                      <a:pt x="107" y="70"/>
                      <a:pt x="110" y="72"/>
                      <a:pt x="110" y="76"/>
                    </a:cubicBezTo>
                    <a:cubicBezTo>
                      <a:pt x="110" y="79"/>
                      <a:pt x="107" y="82"/>
                      <a:pt x="104" y="8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32" name="Text Box 14" descr="水滴"/>
          <p:cNvSpPr txBox="1">
            <a:spLocks noChangeArrowheads="1"/>
          </p:cNvSpPr>
          <p:nvPr/>
        </p:nvSpPr>
        <p:spPr bwMode="auto">
          <a:xfrm>
            <a:off x="840508" y="4470400"/>
            <a:ext cx="1029049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1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zh-CN" altLang="en-US" sz="2800" dirty="0">
                <a:solidFill>
                  <a:srgbClr val="B42D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完全二叉树</a:t>
            </a: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中结点的编号可以唯一地反映结点之间的逻辑关系 </a:t>
            </a:r>
            <a:endParaRPr lang="zh-CN" altLang="en-US" sz="28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67216" y="2433594"/>
            <a:ext cx="10562784" cy="1118255"/>
            <a:chOff x="867216" y="2433594"/>
            <a:chExt cx="10562784" cy="1118255"/>
          </a:xfrm>
        </p:grpSpPr>
        <p:sp>
          <p:nvSpPr>
            <p:cNvPr id="31" name="Text Box 9"/>
            <p:cNvSpPr txBox="1">
              <a:spLocks noChangeArrowheads="1"/>
            </p:cNvSpPr>
            <p:nvPr/>
          </p:nvSpPr>
          <p:spPr bwMode="auto">
            <a:xfrm>
              <a:off x="1450108" y="2433594"/>
              <a:ext cx="9979892" cy="11182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rIns="0">
              <a:spAutoFit/>
            </a:bodyPr>
            <a:lstStyle/>
            <a:p>
              <a:pPr algn="l" eaLnBrk="0" hangingPunct="0">
                <a:lnSpc>
                  <a:spcPts val="4000"/>
                </a:lnSpc>
              </a:pPr>
              <a:r>
                <a:rPr lang="zh-CN" altLang="en-US" sz="28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二叉树的顺序存储结构是用一维数组存储二叉树的结点，结点的</a:t>
              </a:r>
              <a:r>
                <a:rPr lang="zh-CN" altLang="en-US" sz="2800" dirty="0">
                  <a:solidFill>
                    <a:srgbClr val="B42D2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存储位置（下标）</a:t>
              </a:r>
              <a:r>
                <a:rPr lang="zh-CN" altLang="en-US" sz="28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应能体现结点之间的</a:t>
              </a:r>
              <a:r>
                <a:rPr lang="zh-CN" altLang="en-US" sz="2800" dirty="0">
                  <a:solidFill>
                    <a:srgbClr val="B42D2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逻辑关系——父子</a:t>
              </a:r>
              <a:r>
                <a:rPr lang="zh-CN" altLang="en-US" sz="2800" dirty="0" smtClean="0">
                  <a:solidFill>
                    <a:srgbClr val="B42D2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关系 </a:t>
              </a:r>
              <a:endParaRPr lang="zh-CN" altLang="en-US" sz="2800" dirty="0">
                <a:solidFill>
                  <a:srgbClr val="B42D2D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4" name="Group 67"/>
            <p:cNvGrpSpPr/>
            <p:nvPr/>
          </p:nvGrpSpPr>
          <p:grpSpPr>
            <a:xfrm>
              <a:off x="867216" y="2560721"/>
              <a:ext cx="432000" cy="432000"/>
              <a:chOff x="10115551" y="5634038"/>
              <a:chExt cx="577850" cy="576263"/>
            </a:xfrm>
            <a:solidFill>
              <a:srgbClr val="5A327D"/>
            </a:solidFill>
          </p:grpSpPr>
          <p:sp>
            <p:nvSpPr>
              <p:cNvPr id="35" name="Freeform 13"/>
              <p:cNvSpPr/>
              <p:nvPr/>
            </p:nvSpPr>
            <p:spPr bwMode="auto">
              <a:xfrm>
                <a:off x="10177463" y="5634038"/>
                <a:ext cx="515938" cy="517525"/>
              </a:xfrm>
              <a:custGeom>
                <a:avLst/>
                <a:gdLst>
                  <a:gd name="T0" fmla="*/ 174 w 176"/>
                  <a:gd name="T1" fmla="*/ 61 h 176"/>
                  <a:gd name="T2" fmla="*/ 115 w 176"/>
                  <a:gd name="T3" fmla="*/ 2 h 176"/>
                  <a:gd name="T4" fmla="*/ 110 w 176"/>
                  <a:gd name="T5" fmla="*/ 2 h 176"/>
                  <a:gd name="T6" fmla="*/ 91 w 176"/>
                  <a:gd name="T7" fmla="*/ 20 h 176"/>
                  <a:gd name="T8" fmla="*/ 90 w 176"/>
                  <a:gd name="T9" fmla="*/ 23 h 176"/>
                  <a:gd name="T10" fmla="*/ 91 w 176"/>
                  <a:gd name="T11" fmla="*/ 26 h 176"/>
                  <a:gd name="T12" fmla="*/ 96 w 176"/>
                  <a:gd name="T13" fmla="*/ 31 h 176"/>
                  <a:gd name="T14" fmla="*/ 69 w 176"/>
                  <a:gd name="T15" fmla="*/ 58 h 176"/>
                  <a:gd name="T16" fmla="*/ 50 w 176"/>
                  <a:gd name="T17" fmla="*/ 56 h 176"/>
                  <a:gd name="T18" fmla="*/ 1 w 176"/>
                  <a:gd name="T19" fmla="*/ 76 h 176"/>
                  <a:gd name="T20" fmla="*/ 1 w 176"/>
                  <a:gd name="T21" fmla="*/ 82 h 176"/>
                  <a:gd name="T22" fmla="*/ 94 w 176"/>
                  <a:gd name="T23" fmla="*/ 175 h 176"/>
                  <a:gd name="T24" fmla="*/ 97 w 176"/>
                  <a:gd name="T25" fmla="*/ 176 h 176"/>
                  <a:gd name="T26" fmla="*/ 100 w 176"/>
                  <a:gd name="T27" fmla="*/ 175 h 176"/>
                  <a:gd name="T28" fmla="*/ 118 w 176"/>
                  <a:gd name="T29" fmla="*/ 107 h 176"/>
                  <a:gd name="T30" fmla="*/ 145 w 176"/>
                  <a:gd name="T31" fmla="*/ 80 h 176"/>
                  <a:gd name="T32" fmla="*/ 150 w 176"/>
                  <a:gd name="T33" fmla="*/ 85 h 176"/>
                  <a:gd name="T34" fmla="*/ 156 w 176"/>
                  <a:gd name="T35" fmla="*/ 85 h 176"/>
                  <a:gd name="T36" fmla="*/ 174 w 176"/>
                  <a:gd name="T37" fmla="*/ 66 h 176"/>
                  <a:gd name="T38" fmla="*/ 176 w 176"/>
                  <a:gd name="T39" fmla="*/ 63 h 176"/>
                  <a:gd name="T40" fmla="*/ 174 w 176"/>
                  <a:gd name="T41" fmla="*/ 61 h 1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76" h="176">
                    <a:moveTo>
                      <a:pt x="174" y="61"/>
                    </a:moveTo>
                    <a:cubicBezTo>
                      <a:pt x="115" y="2"/>
                      <a:pt x="115" y="2"/>
                      <a:pt x="115" y="2"/>
                    </a:cubicBezTo>
                    <a:cubicBezTo>
                      <a:pt x="114" y="0"/>
                      <a:pt x="111" y="0"/>
                      <a:pt x="110" y="2"/>
                    </a:cubicBezTo>
                    <a:cubicBezTo>
                      <a:pt x="91" y="20"/>
                      <a:pt x="91" y="20"/>
                      <a:pt x="91" y="20"/>
                    </a:cubicBezTo>
                    <a:cubicBezTo>
                      <a:pt x="90" y="21"/>
                      <a:pt x="90" y="22"/>
                      <a:pt x="90" y="23"/>
                    </a:cubicBezTo>
                    <a:cubicBezTo>
                      <a:pt x="90" y="24"/>
                      <a:pt x="90" y="25"/>
                      <a:pt x="91" y="26"/>
                    </a:cubicBezTo>
                    <a:cubicBezTo>
                      <a:pt x="96" y="31"/>
                      <a:pt x="96" y="31"/>
                      <a:pt x="96" y="31"/>
                    </a:cubicBezTo>
                    <a:cubicBezTo>
                      <a:pt x="69" y="58"/>
                      <a:pt x="69" y="58"/>
                      <a:pt x="69" y="58"/>
                    </a:cubicBezTo>
                    <a:cubicBezTo>
                      <a:pt x="63" y="57"/>
                      <a:pt x="57" y="56"/>
                      <a:pt x="50" y="56"/>
                    </a:cubicBezTo>
                    <a:cubicBezTo>
                      <a:pt x="32" y="56"/>
                      <a:pt x="14" y="63"/>
                      <a:pt x="1" y="76"/>
                    </a:cubicBezTo>
                    <a:cubicBezTo>
                      <a:pt x="0" y="78"/>
                      <a:pt x="0" y="80"/>
                      <a:pt x="1" y="82"/>
                    </a:cubicBezTo>
                    <a:cubicBezTo>
                      <a:pt x="94" y="175"/>
                      <a:pt x="94" y="175"/>
                      <a:pt x="94" y="175"/>
                    </a:cubicBezTo>
                    <a:cubicBezTo>
                      <a:pt x="95" y="175"/>
                      <a:pt x="96" y="176"/>
                      <a:pt x="97" y="176"/>
                    </a:cubicBezTo>
                    <a:cubicBezTo>
                      <a:pt x="98" y="176"/>
                      <a:pt x="99" y="175"/>
                      <a:pt x="100" y="175"/>
                    </a:cubicBezTo>
                    <a:cubicBezTo>
                      <a:pt x="117" y="157"/>
                      <a:pt x="124" y="131"/>
                      <a:pt x="118" y="107"/>
                    </a:cubicBezTo>
                    <a:cubicBezTo>
                      <a:pt x="145" y="80"/>
                      <a:pt x="145" y="80"/>
                      <a:pt x="145" y="80"/>
                    </a:cubicBezTo>
                    <a:cubicBezTo>
                      <a:pt x="150" y="85"/>
                      <a:pt x="150" y="85"/>
                      <a:pt x="150" y="85"/>
                    </a:cubicBezTo>
                    <a:cubicBezTo>
                      <a:pt x="152" y="86"/>
                      <a:pt x="154" y="86"/>
                      <a:pt x="156" y="85"/>
                    </a:cubicBezTo>
                    <a:cubicBezTo>
                      <a:pt x="174" y="66"/>
                      <a:pt x="174" y="66"/>
                      <a:pt x="174" y="66"/>
                    </a:cubicBezTo>
                    <a:cubicBezTo>
                      <a:pt x="175" y="65"/>
                      <a:pt x="176" y="64"/>
                      <a:pt x="176" y="63"/>
                    </a:cubicBezTo>
                    <a:cubicBezTo>
                      <a:pt x="176" y="62"/>
                      <a:pt x="175" y="61"/>
                      <a:pt x="174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6" name="Freeform 14"/>
              <p:cNvSpPr/>
              <p:nvPr/>
            </p:nvSpPr>
            <p:spPr bwMode="auto">
              <a:xfrm>
                <a:off x="10115551" y="5983288"/>
                <a:ext cx="228600" cy="227013"/>
              </a:xfrm>
              <a:custGeom>
                <a:avLst/>
                <a:gdLst>
                  <a:gd name="T0" fmla="*/ 7 w 78"/>
                  <a:gd name="T1" fmla="*/ 77 h 77"/>
                  <a:gd name="T2" fmla="*/ 2 w 78"/>
                  <a:gd name="T3" fmla="*/ 76 h 77"/>
                  <a:gd name="T4" fmla="*/ 2 w 78"/>
                  <a:gd name="T5" fmla="*/ 67 h 77"/>
                  <a:gd name="T6" fmla="*/ 67 w 78"/>
                  <a:gd name="T7" fmla="*/ 2 h 77"/>
                  <a:gd name="T8" fmla="*/ 76 w 78"/>
                  <a:gd name="T9" fmla="*/ 2 h 77"/>
                  <a:gd name="T10" fmla="*/ 76 w 78"/>
                  <a:gd name="T11" fmla="*/ 11 h 77"/>
                  <a:gd name="T12" fmla="*/ 11 w 78"/>
                  <a:gd name="T13" fmla="*/ 76 h 77"/>
                  <a:gd name="T14" fmla="*/ 7 w 78"/>
                  <a:gd name="T15" fmla="*/ 7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8" h="77">
                    <a:moveTo>
                      <a:pt x="7" y="77"/>
                    </a:moveTo>
                    <a:cubicBezTo>
                      <a:pt x="5" y="77"/>
                      <a:pt x="3" y="77"/>
                      <a:pt x="2" y="76"/>
                    </a:cubicBezTo>
                    <a:cubicBezTo>
                      <a:pt x="0" y="73"/>
                      <a:pt x="0" y="70"/>
                      <a:pt x="2" y="67"/>
                    </a:cubicBezTo>
                    <a:cubicBezTo>
                      <a:pt x="67" y="2"/>
                      <a:pt x="67" y="2"/>
                      <a:pt x="67" y="2"/>
                    </a:cubicBezTo>
                    <a:cubicBezTo>
                      <a:pt x="70" y="0"/>
                      <a:pt x="73" y="0"/>
                      <a:pt x="76" y="2"/>
                    </a:cubicBezTo>
                    <a:cubicBezTo>
                      <a:pt x="78" y="5"/>
                      <a:pt x="78" y="8"/>
                      <a:pt x="76" y="11"/>
                    </a:cubicBezTo>
                    <a:cubicBezTo>
                      <a:pt x="11" y="76"/>
                      <a:pt x="11" y="76"/>
                      <a:pt x="11" y="76"/>
                    </a:cubicBezTo>
                    <a:cubicBezTo>
                      <a:pt x="10" y="77"/>
                      <a:pt x="8" y="77"/>
                      <a:pt x="7" y="7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3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ounded Rectangle 10"/>
          <p:cNvSpPr/>
          <p:nvPr/>
        </p:nvSpPr>
        <p:spPr>
          <a:xfrm>
            <a:off x="542923" y="100964"/>
            <a:ext cx="4500000" cy="540000"/>
          </a:xfrm>
          <a:prstGeom prst="roundRect">
            <a:avLst/>
          </a:prstGeom>
          <a:solidFill>
            <a:srgbClr val="5A32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Text Box 2"/>
          <p:cNvSpPr txBox="1">
            <a:spLocks noChangeArrowheads="1"/>
          </p:cNvSpPr>
          <p:nvPr/>
        </p:nvSpPr>
        <p:spPr bwMode="auto">
          <a:xfrm>
            <a:off x="638168" y="61585"/>
            <a:ext cx="433007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二叉树的顺序存储结构</a:t>
            </a:r>
            <a:endParaRPr lang="zh-CN" altLang="en-US" sz="32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6101031" y="1018199"/>
            <a:ext cx="4121166" cy="2675615"/>
            <a:chOff x="7192931" y="1589829"/>
            <a:chExt cx="4121166" cy="2675615"/>
          </a:xfrm>
          <a:solidFill>
            <a:srgbClr val="B4B4BE"/>
          </a:solidFill>
        </p:grpSpPr>
        <p:sp>
          <p:nvSpPr>
            <p:cNvPr id="24" name="Freeform 65"/>
            <p:cNvSpPr/>
            <p:nvPr/>
          </p:nvSpPr>
          <p:spPr bwMode="auto">
            <a:xfrm>
              <a:off x="8436100" y="3438314"/>
              <a:ext cx="180000" cy="396000"/>
            </a:xfrm>
            <a:custGeom>
              <a:avLst/>
              <a:gdLst>
                <a:gd name="T0" fmla="*/ 119 w 119"/>
                <a:gd name="T1" fmla="*/ 0 h 356"/>
                <a:gd name="T2" fmla="*/ 0 w 119"/>
                <a:gd name="T3" fmla="*/ 356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19" h="356">
                  <a:moveTo>
                    <a:pt x="119" y="0"/>
                  </a:moveTo>
                  <a:lnTo>
                    <a:pt x="0" y="356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27" name="Freeform 45"/>
            <p:cNvSpPr/>
            <p:nvPr/>
          </p:nvSpPr>
          <p:spPr bwMode="auto">
            <a:xfrm>
              <a:off x="10768492" y="2743348"/>
              <a:ext cx="268288" cy="490538"/>
            </a:xfrm>
            <a:custGeom>
              <a:avLst/>
              <a:gdLst>
                <a:gd name="T0" fmla="*/ 0 w 222"/>
                <a:gd name="T1" fmla="*/ 0 h 421"/>
                <a:gd name="T2" fmla="*/ 222 w 222"/>
                <a:gd name="T3" fmla="*/ 421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22" h="421">
                  <a:moveTo>
                    <a:pt x="0" y="0"/>
                  </a:moveTo>
                  <a:lnTo>
                    <a:pt x="222" y="421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28" name="Freeform 44"/>
            <p:cNvSpPr/>
            <p:nvPr/>
          </p:nvSpPr>
          <p:spPr bwMode="auto">
            <a:xfrm>
              <a:off x="10212549" y="2712868"/>
              <a:ext cx="311150" cy="490538"/>
            </a:xfrm>
            <a:custGeom>
              <a:avLst/>
              <a:gdLst>
                <a:gd name="T0" fmla="*/ 259 w 259"/>
                <a:gd name="T1" fmla="*/ 0 h 421"/>
                <a:gd name="T2" fmla="*/ 0 w 259"/>
                <a:gd name="T3" fmla="*/ 421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9" h="421">
                  <a:moveTo>
                    <a:pt x="259" y="0"/>
                  </a:moveTo>
                  <a:lnTo>
                    <a:pt x="0" y="421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33" name="Line 42"/>
            <p:cNvSpPr>
              <a:spLocks noChangeShapeType="1"/>
            </p:cNvSpPr>
            <p:nvPr/>
          </p:nvSpPr>
          <p:spPr bwMode="auto">
            <a:xfrm flipH="1">
              <a:off x="8292567" y="1934953"/>
              <a:ext cx="995363" cy="493713"/>
            </a:xfrm>
            <a:prstGeom prst="line">
              <a:avLst/>
            </a:prstGeom>
            <a:grpFill/>
            <a:ln w="28575">
              <a:solidFill>
                <a:srgbClr val="285A32"/>
              </a:solidFill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34" name="Freeform 43"/>
            <p:cNvSpPr/>
            <p:nvPr/>
          </p:nvSpPr>
          <p:spPr bwMode="auto">
            <a:xfrm>
              <a:off x="9622892" y="1888915"/>
              <a:ext cx="928688" cy="568325"/>
            </a:xfrm>
            <a:custGeom>
              <a:avLst/>
              <a:gdLst>
                <a:gd name="T0" fmla="*/ 0 w 767"/>
                <a:gd name="T1" fmla="*/ 0 h 488"/>
                <a:gd name="T2" fmla="*/ 767 w 767"/>
                <a:gd name="T3" fmla="*/ 488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67" h="488">
                  <a:moveTo>
                    <a:pt x="0" y="0"/>
                  </a:moveTo>
                  <a:lnTo>
                    <a:pt x="767" y="488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35" name="Freeform 44"/>
            <p:cNvSpPr/>
            <p:nvPr/>
          </p:nvSpPr>
          <p:spPr bwMode="auto">
            <a:xfrm>
              <a:off x="7776629" y="2649328"/>
              <a:ext cx="311150" cy="490538"/>
            </a:xfrm>
            <a:custGeom>
              <a:avLst/>
              <a:gdLst>
                <a:gd name="T0" fmla="*/ 259 w 259"/>
                <a:gd name="T1" fmla="*/ 0 h 421"/>
                <a:gd name="T2" fmla="*/ 0 w 259"/>
                <a:gd name="T3" fmla="*/ 421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9" h="421">
                  <a:moveTo>
                    <a:pt x="259" y="0"/>
                  </a:moveTo>
                  <a:lnTo>
                    <a:pt x="0" y="421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36" name="Freeform 45"/>
            <p:cNvSpPr/>
            <p:nvPr/>
          </p:nvSpPr>
          <p:spPr bwMode="auto">
            <a:xfrm>
              <a:off x="8332572" y="2679808"/>
              <a:ext cx="268288" cy="490538"/>
            </a:xfrm>
            <a:custGeom>
              <a:avLst/>
              <a:gdLst>
                <a:gd name="T0" fmla="*/ 0 w 222"/>
                <a:gd name="T1" fmla="*/ 0 h 421"/>
                <a:gd name="T2" fmla="*/ 222 w 222"/>
                <a:gd name="T3" fmla="*/ 421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22" h="421">
                  <a:moveTo>
                    <a:pt x="0" y="0"/>
                  </a:moveTo>
                  <a:lnTo>
                    <a:pt x="222" y="421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39" name="Freeform 65"/>
            <p:cNvSpPr/>
            <p:nvPr/>
          </p:nvSpPr>
          <p:spPr bwMode="auto">
            <a:xfrm>
              <a:off x="7486116" y="3438314"/>
              <a:ext cx="180000" cy="396000"/>
            </a:xfrm>
            <a:custGeom>
              <a:avLst/>
              <a:gdLst>
                <a:gd name="T0" fmla="*/ 119 w 119"/>
                <a:gd name="T1" fmla="*/ 0 h 356"/>
                <a:gd name="T2" fmla="*/ 0 w 119"/>
                <a:gd name="T3" fmla="*/ 356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19" h="356">
                  <a:moveTo>
                    <a:pt x="119" y="0"/>
                  </a:moveTo>
                  <a:lnTo>
                    <a:pt x="0" y="356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40" name="Line 66"/>
            <p:cNvSpPr>
              <a:spLocks noChangeShapeType="1"/>
            </p:cNvSpPr>
            <p:nvPr/>
          </p:nvSpPr>
          <p:spPr bwMode="auto">
            <a:xfrm>
              <a:off x="7811554" y="3501815"/>
              <a:ext cx="111125" cy="412750"/>
            </a:xfrm>
            <a:prstGeom prst="line">
              <a:avLst/>
            </a:prstGeom>
            <a:grpFill/>
            <a:ln w="28575">
              <a:solidFill>
                <a:srgbClr val="285A32"/>
              </a:solidFill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41" name="Oval 37"/>
            <p:cNvSpPr>
              <a:spLocks noChangeArrowheads="1"/>
            </p:cNvSpPr>
            <p:nvPr/>
          </p:nvSpPr>
          <p:spPr bwMode="auto">
            <a:xfrm>
              <a:off x="9257450" y="1589829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Oval 37"/>
            <p:cNvSpPr>
              <a:spLocks noChangeArrowheads="1"/>
            </p:cNvSpPr>
            <p:nvPr/>
          </p:nvSpPr>
          <p:spPr bwMode="auto">
            <a:xfrm>
              <a:off x="7986182" y="2342463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Oval 37"/>
            <p:cNvSpPr>
              <a:spLocks noChangeArrowheads="1"/>
            </p:cNvSpPr>
            <p:nvPr/>
          </p:nvSpPr>
          <p:spPr bwMode="auto">
            <a:xfrm>
              <a:off x="10442042" y="2342463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Oval 37"/>
            <p:cNvSpPr>
              <a:spLocks noChangeArrowheads="1"/>
            </p:cNvSpPr>
            <p:nvPr/>
          </p:nvSpPr>
          <p:spPr bwMode="auto">
            <a:xfrm>
              <a:off x="7521161" y="3071819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Oval 37"/>
            <p:cNvSpPr>
              <a:spLocks noChangeArrowheads="1"/>
            </p:cNvSpPr>
            <p:nvPr/>
          </p:nvSpPr>
          <p:spPr bwMode="auto">
            <a:xfrm>
              <a:off x="8463501" y="3071819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Oval 37"/>
            <p:cNvSpPr>
              <a:spLocks noChangeArrowheads="1"/>
            </p:cNvSpPr>
            <p:nvPr/>
          </p:nvSpPr>
          <p:spPr bwMode="auto">
            <a:xfrm>
              <a:off x="9958648" y="3071819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Oval 37"/>
            <p:cNvSpPr>
              <a:spLocks noChangeArrowheads="1"/>
            </p:cNvSpPr>
            <p:nvPr/>
          </p:nvSpPr>
          <p:spPr bwMode="auto">
            <a:xfrm>
              <a:off x="7192931" y="3833444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Oval 37"/>
            <p:cNvSpPr>
              <a:spLocks noChangeArrowheads="1"/>
            </p:cNvSpPr>
            <p:nvPr/>
          </p:nvSpPr>
          <p:spPr bwMode="auto">
            <a:xfrm>
              <a:off x="7709222" y="3833444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Oval 37"/>
            <p:cNvSpPr>
              <a:spLocks noChangeArrowheads="1"/>
            </p:cNvSpPr>
            <p:nvPr/>
          </p:nvSpPr>
          <p:spPr bwMode="auto">
            <a:xfrm>
              <a:off x="8226109" y="3833444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Oval 37"/>
            <p:cNvSpPr>
              <a:spLocks noChangeArrowheads="1"/>
            </p:cNvSpPr>
            <p:nvPr/>
          </p:nvSpPr>
          <p:spPr bwMode="auto">
            <a:xfrm>
              <a:off x="10882097" y="3071819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6484328" y="891558"/>
            <a:ext cx="4038917" cy="2419033"/>
            <a:chOff x="1700164" y="1061758"/>
            <a:chExt cx="4038917" cy="2419033"/>
          </a:xfrm>
        </p:grpSpPr>
        <p:sp>
          <p:nvSpPr>
            <p:cNvPr id="51" name="Text Box 107"/>
            <p:cNvSpPr txBox="1">
              <a:spLocks noChangeArrowheads="1"/>
            </p:cNvSpPr>
            <p:nvPr/>
          </p:nvSpPr>
          <p:spPr bwMode="auto">
            <a:xfrm>
              <a:off x="3819476" y="1061758"/>
              <a:ext cx="244475" cy="360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18000" rIns="0" bIns="0"/>
            <a:lstStyle/>
            <a:p>
              <a:pPr algn="just" eaLnBrk="0" hangingPunct="0"/>
              <a:r>
                <a:rPr lang="zh-CN" altLang="en-US" sz="2400" b="1" dirty="0">
                  <a:solidFill>
                    <a:srgbClr val="40404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endParaRPr lang="zh-CN" altLang="en-US" sz="2400" b="1" dirty="0">
                <a:solidFill>
                  <a:srgbClr val="40404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2" name="Text Box 108"/>
            <p:cNvSpPr txBox="1">
              <a:spLocks noChangeArrowheads="1"/>
            </p:cNvSpPr>
            <p:nvPr/>
          </p:nvSpPr>
          <p:spPr bwMode="auto">
            <a:xfrm>
              <a:off x="3082876" y="2509558"/>
              <a:ext cx="247650" cy="361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18000" rIns="0" bIns="0"/>
            <a:lstStyle/>
            <a:p>
              <a:pPr algn="just" eaLnBrk="0" hangingPunct="0"/>
              <a:r>
                <a:rPr lang="zh-CN" altLang="en-US" sz="2400" b="1">
                  <a:solidFill>
                    <a:srgbClr val="40404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endParaRPr lang="zh-CN" altLang="en-US" sz="2400" b="1">
                <a:solidFill>
                  <a:srgbClr val="40404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3" name="Text Box 109"/>
            <p:cNvSpPr txBox="1">
              <a:spLocks noChangeArrowheads="1"/>
            </p:cNvSpPr>
            <p:nvPr/>
          </p:nvSpPr>
          <p:spPr bwMode="auto">
            <a:xfrm>
              <a:off x="2622819" y="1787246"/>
              <a:ext cx="244475" cy="360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18000" rIns="0" bIns="0"/>
            <a:lstStyle/>
            <a:p>
              <a:pPr algn="just" eaLnBrk="0" hangingPunct="0"/>
              <a:r>
                <a:rPr lang="zh-CN" altLang="en-US" sz="2400" b="1" dirty="0">
                  <a:solidFill>
                    <a:srgbClr val="40404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endParaRPr lang="zh-CN" altLang="en-US" sz="2400" b="1" dirty="0">
                <a:solidFill>
                  <a:srgbClr val="40404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4" name="Text Box 110"/>
            <p:cNvSpPr txBox="1">
              <a:spLocks noChangeArrowheads="1"/>
            </p:cNvSpPr>
            <p:nvPr/>
          </p:nvSpPr>
          <p:spPr bwMode="auto">
            <a:xfrm>
              <a:off x="5046614" y="1787246"/>
              <a:ext cx="246063" cy="360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18000" rIns="0" bIns="0"/>
            <a:lstStyle/>
            <a:p>
              <a:pPr algn="just" eaLnBrk="0" hangingPunct="0"/>
              <a:r>
                <a:rPr lang="zh-CN" altLang="en-US" sz="2400" b="1" dirty="0">
                  <a:solidFill>
                    <a:srgbClr val="40404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endParaRPr lang="zh-CN" altLang="en-US" sz="2400" b="1" dirty="0">
                <a:solidFill>
                  <a:srgbClr val="40404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5" name="Text Box 111"/>
            <p:cNvSpPr txBox="1">
              <a:spLocks noChangeArrowheads="1"/>
            </p:cNvSpPr>
            <p:nvPr/>
          </p:nvSpPr>
          <p:spPr bwMode="auto">
            <a:xfrm>
              <a:off x="2103389" y="2509558"/>
              <a:ext cx="244475" cy="361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18000" rIns="0" bIns="0"/>
            <a:lstStyle/>
            <a:p>
              <a:pPr algn="just" eaLnBrk="0" hangingPunct="0"/>
              <a:r>
                <a:rPr lang="zh-CN" altLang="en-US" sz="2400" b="1">
                  <a:solidFill>
                    <a:srgbClr val="40404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endParaRPr lang="zh-CN" altLang="en-US" sz="2400" b="1">
                <a:solidFill>
                  <a:srgbClr val="40404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6" name="Text Box 112"/>
            <p:cNvSpPr txBox="1">
              <a:spLocks noChangeArrowheads="1"/>
            </p:cNvSpPr>
            <p:nvPr/>
          </p:nvSpPr>
          <p:spPr bwMode="auto">
            <a:xfrm>
              <a:off x="4557664" y="2509558"/>
              <a:ext cx="244475" cy="361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18000" rIns="0" bIns="0"/>
            <a:lstStyle/>
            <a:p>
              <a:pPr algn="just" eaLnBrk="0" hangingPunct="0"/>
              <a:r>
                <a:rPr lang="zh-CN" altLang="en-US" sz="2400" b="1" dirty="0">
                  <a:solidFill>
                    <a:srgbClr val="40404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6</a:t>
              </a:r>
              <a:endParaRPr lang="zh-CN" altLang="en-US" sz="2400" b="1" dirty="0">
                <a:solidFill>
                  <a:srgbClr val="40404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7" name="Text Box 113"/>
            <p:cNvSpPr txBox="1">
              <a:spLocks noChangeArrowheads="1"/>
            </p:cNvSpPr>
            <p:nvPr/>
          </p:nvSpPr>
          <p:spPr bwMode="auto">
            <a:xfrm>
              <a:off x="5491431" y="2509558"/>
              <a:ext cx="247650" cy="361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18000" rIns="0" bIns="0"/>
            <a:lstStyle/>
            <a:p>
              <a:pPr algn="just" eaLnBrk="0" hangingPunct="0"/>
              <a:r>
                <a:rPr lang="zh-CN" altLang="en-US" sz="2400" b="1" dirty="0">
                  <a:solidFill>
                    <a:srgbClr val="40404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7</a:t>
              </a:r>
              <a:endParaRPr lang="zh-CN" altLang="en-US" sz="2400" b="1" dirty="0">
                <a:solidFill>
                  <a:srgbClr val="40404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8" name="Text Box 114"/>
            <p:cNvSpPr txBox="1">
              <a:spLocks noChangeArrowheads="1"/>
            </p:cNvSpPr>
            <p:nvPr/>
          </p:nvSpPr>
          <p:spPr bwMode="auto">
            <a:xfrm>
              <a:off x="1700164" y="3120428"/>
              <a:ext cx="244475" cy="360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18000" rIns="0" bIns="0"/>
            <a:lstStyle/>
            <a:p>
              <a:pPr algn="just" eaLnBrk="0" hangingPunct="0"/>
              <a:r>
                <a:rPr lang="zh-CN" altLang="en-US" sz="2400" b="1">
                  <a:solidFill>
                    <a:srgbClr val="40404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8</a:t>
              </a:r>
              <a:endParaRPr lang="zh-CN" altLang="en-US" sz="2400" b="1">
                <a:solidFill>
                  <a:srgbClr val="40404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9" name="Text Box 115"/>
            <p:cNvSpPr txBox="1">
              <a:spLocks noChangeArrowheads="1"/>
            </p:cNvSpPr>
            <p:nvPr/>
          </p:nvSpPr>
          <p:spPr bwMode="auto">
            <a:xfrm>
              <a:off x="2193876" y="3120428"/>
              <a:ext cx="244475" cy="360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18000" rIns="0" bIns="0"/>
            <a:lstStyle/>
            <a:p>
              <a:pPr algn="just" eaLnBrk="0" hangingPunct="0"/>
              <a:r>
                <a:rPr lang="zh-CN" altLang="en-US" sz="2400" b="1">
                  <a:solidFill>
                    <a:srgbClr val="40404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9</a:t>
              </a:r>
              <a:endParaRPr lang="zh-CN" altLang="en-US" sz="2400" b="1">
                <a:solidFill>
                  <a:srgbClr val="40404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0" name="Text Box 116"/>
            <p:cNvSpPr txBox="1">
              <a:spLocks noChangeArrowheads="1"/>
            </p:cNvSpPr>
            <p:nvPr/>
          </p:nvSpPr>
          <p:spPr bwMode="auto">
            <a:xfrm>
              <a:off x="2646314" y="3120428"/>
              <a:ext cx="384175" cy="360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18000" rIns="0" bIns="0"/>
            <a:lstStyle/>
            <a:p>
              <a:pPr algn="just" eaLnBrk="0" hangingPunct="0"/>
              <a:r>
                <a:rPr lang="zh-CN" altLang="en-US" sz="2400" b="1">
                  <a:solidFill>
                    <a:srgbClr val="40404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10</a:t>
              </a:r>
              <a:endParaRPr lang="zh-CN" altLang="en-US" sz="2400" b="1">
                <a:solidFill>
                  <a:srgbClr val="40404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5174532" y="3998675"/>
            <a:ext cx="6254272" cy="1946938"/>
            <a:chOff x="314168" y="4031715"/>
            <a:chExt cx="6254272" cy="1946938"/>
          </a:xfrm>
        </p:grpSpPr>
        <p:sp>
          <p:nvSpPr>
            <p:cNvPr id="84" name="AutoShape 135"/>
            <p:cNvSpPr>
              <a:spLocks noChangeArrowheads="1"/>
            </p:cNvSpPr>
            <p:nvPr/>
          </p:nvSpPr>
          <p:spPr bwMode="auto">
            <a:xfrm>
              <a:off x="2590652" y="4031715"/>
              <a:ext cx="1424939" cy="851654"/>
            </a:xfrm>
            <a:prstGeom prst="downArrow">
              <a:avLst>
                <a:gd name="adj1" fmla="val 68716"/>
                <a:gd name="adj2" fmla="val 25000"/>
              </a:avLst>
            </a:prstGeom>
            <a:noFill/>
            <a:ln w="28575">
              <a:solidFill>
                <a:srgbClr val="507D7D"/>
              </a:solidFill>
              <a:miter lim="800000"/>
            </a:ln>
            <a:effectLst/>
          </p:spPr>
          <p:txBody>
            <a:bodyPr wrap="square" anchor="ctr">
              <a:spAutoFit/>
            </a:bodyPr>
            <a:lstStyle/>
            <a:p>
              <a:pPr algn="l"/>
              <a:r>
                <a:rPr lang="zh-CN" altLang="en-US" sz="200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以编号</a:t>
              </a:r>
              <a:endParaRPr lang="zh-CN" altLang="en-US" sz="200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zh-CN" altLang="en-US" sz="200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为下标</a:t>
              </a:r>
              <a:endParaRPr lang="zh-CN" altLang="en-US" sz="200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314168" y="5015865"/>
              <a:ext cx="6254272" cy="962788"/>
              <a:chOff x="314168" y="5153025"/>
              <a:chExt cx="6254272" cy="962788"/>
            </a:xfrm>
          </p:grpSpPr>
          <p:sp>
            <p:nvSpPr>
              <p:cNvPr id="82" name="Rectangle 57" descr="水滴"/>
              <p:cNvSpPr>
                <a:spLocks noChangeArrowheads="1"/>
              </p:cNvSpPr>
              <p:nvPr/>
            </p:nvSpPr>
            <p:spPr bwMode="auto">
              <a:xfrm>
                <a:off x="314168" y="5611813"/>
                <a:ext cx="612000" cy="504000"/>
              </a:xfrm>
              <a:prstGeom prst="rect">
                <a:avLst/>
              </a:prstGeom>
              <a:noFill/>
              <a:ln w="28575">
                <a:solidFill>
                  <a:srgbClr val="507D7D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blipFill dpi="0" rotWithShape="0">
                      <a:blip r:embed="rId1"/>
                      <a:srcRect/>
                      <a:tile tx="0" ty="0" sx="100000" sy="100000" flip="none" algn="tl"/>
                    </a:blip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/>
                <a:r>
                  <a:rPr kumimoji="1" lang="zh-CN" altLang="en-US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 </a:t>
                </a:r>
                <a:r>
                  <a:rPr kumimoji="1" lang="en-US" altLang="zh-CN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A</a:t>
                </a:r>
                <a:endParaRPr kumimoji="1"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1" name="Rectangle 87"/>
              <p:cNvSpPr>
                <a:spLocks noChangeArrowheads="1"/>
              </p:cNvSpPr>
              <p:nvPr/>
            </p:nvSpPr>
            <p:spPr bwMode="auto">
              <a:xfrm>
                <a:off x="477838" y="5153025"/>
                <a:ext cx="6090602" cy="4587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algn="just"/>
                <a:r>
                  <a:rPr kumimoji="1" lang="zh-CN" altLang="en-US" sz="2400" b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1      2      </a:t>
                </a:r>
                <a:r>
                  <a:rPr kumimoji="1" lang="zh-CN" altLang="en-US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3      </a:t>
                </a:r>
                <a:r>
                  <a:rPr kumimoji="1" lang="zh-CN" altLang="en-US" sz="2400" b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4      5      6      7      8      9     10</a:t>
                </a:r>
                <a:endParaRPr kumimoji="1"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5" name="Rectangle 57" descr="水滴"/>
              <p:cNvSpPr>
                <a:spLocks noChangeArrowheads="1"/>
              </p:cNvSpPr>
              <p:nvPr/>
            </p:nvSpPr>
            <p:spPr bwMode="auto">
              <a:xfrm>
                <a:off x="931907" y="5611813"/>
                <a:ext cx="612000" cy="504000"/>
              </a:xfrm>
              <a:prstGeom prst="rect">
                <a:avLst/>
              </a:prstGeom>
              <a:noFill/>
              <a:ln w="28575">
                <a:solidFill>
                  <a:srgbClr val="507D7D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blipFill dpi="0" rotWithShape="0">
                      <a:blip r:embed="rId1"/>
                      <a:srcRect/>
                      <a:tile tx="0" ty="0" sx="100000" sy="100000" flip="none" algn="tl"/>
                    </a:blip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/>
                <a:r>
                  <a:rPr kumimoji="1" lang="zh-CN" altLang="en-US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 </a:t>
                </a:r>
                <a:r>
                  <a:rPr kumimoji="1" lang="en-US" altLang="zh-CN" sz="2400" b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B</a:t>
                </a:r>
                <a:endParaRPr kumimoji="1"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6" name="Rectangle 57" descr="水滴"/>
              <p:cNvSpPr>
                <a:spLocks noChangeArrowheads="1"/>
              </p:cNvSpPr>
              <p:nvPr/>
            </p:nvSpPr>
            <p:spPr bwMode="auto">
              <a:xfrm>
                <a:off x="1532866" y="5611813"/>
                <a:ext cx="612000" cy="504000"/>
              </a:xfrm>
              <a:prstGeom prst="rect">
                <a:avLst/>
              </a:prstGeom>
              <a:noFill/>
              <a:ln w="28575">
                <a:solidFill>
                  <a:srgbClr val="507D7D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blipFill dpi="0" rotWithShape="0">
                      <a:blip r:embed="rId1"/>
                      <a:srcRect/>
                      <a:tile tx="0" ty="0" sx="100000" sy="100000" flip="none" algn="tl"/>
                    </a:blip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/>
                <a:r>
                  <a:rPr kumimoji="1" lang="zh-CN" altLang="en-US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 </a:t>
                </a:r>
                <a:r>
                  <a:rPr kumimoji="1" lang="en-US" altLang="zh-CN" sz="2400" b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C</a:t>
                </a:r>
                <a:endParaRPr kumimoji="1"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7" name="Rectangle 57" descr="水滴"/>
              <p:cNvSpPr>
                <a:spLocks noChangeArrowheads="1"/>
              </p:cNvSpPr>
              <p:nvPr/>
            </p:nvSpPr>
            <p:spPr bwMode="auto">
              <a:xfrm>
                <a:off x="2150605" y="5611813"/>
                <a:ext cx="612000" cy="504000"/>
              </a:xfrm>
              <a:prstGeom prst="rect">
                <a:avLst/>
              </a:prstGeom>
              <a:noFill/>
              <a:ln w="28575">
                <a:solidFill>
                  <a:srgbClr val="507D7D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blipFill dpi="0" rotWithShape="0">
                      <a:blip r:embed="rId1"/>
                      <a:srcRect/>
                      <a:tile tx="0" ty="0" sx="100000" sy="100000" flip="none" algn="tl"/>
                    </a:blip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/>
                <a:r>
                  <a:rPr kumimoji="1" lang="zh-CN" altLang="en-US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 </a:t>
                </a:r>
                <a:r>
                  <a:rPr kumimoji="1" lang="en-US" altLang="zh-CN" sz="2400" b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D</a:t>
                </a:r>
                <a:endParaRPr kumimoji="1"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8" name="Rectangle 57" descr="水滴"/>
              <p:cNvSpPr>
                <a:spLocks noChangeArrowheads="1"/>
              </p:cNvSpPr>
              <p:nvPr/>
            </p:nvSpPr>
            <p:spPr bwMode="auto">
              <a:xfrm>
                <a:off x="2763874" y="5611813"/>
                <a:ext cx="612000" cy="504000"/>
              </a:xfrm>
              <a:prstGeom prst="rect">
                <a:avLst/>
              </a:prstGeom>
              <a:noFill/>
              <a:ln w="28575">
                <a:solidFill>
                  <a:srgbClr val="507D7D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blipFill dpi="0" rotWithShape="0">
                      <a:blip r:embed="rId1"/>
                      <a:srcRect/>
                      <a:tile tx="0" ty="0" sx="100000" sy="100000" flip="none" algn="tl"/>
                    </a:blip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/>
                <a:r>
                  <a:rPr kumimoji="1" lang="zh-CN" altLang="en-US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 </a:t>
                </a:r>
                <a:r>
                  <a:rPr kumimoji="1" lang="en-US" altLang="zh-CN" sz="2400" b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E</a:t>
                </a:r>
                <a:endParaRPr kumimoji="1"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9" name="Rectangle 57" descr="水滴"/>
              <p:cNvSpPr>
                <a:spLocks noChangeArrowheads="1"/>
              </p:cNvSpPr>
              <p:nvPr/>
            </p:nvSpPr>
            <p:spPr bwMode="auto">
              <a:xfrm>
                <a:off x="3381613" y="5611813"/>
                <a:ext cx="612000" cy="504000"/>
              </a:xfrm>
              <a:prstGeom prst="rect">
                <a:avLst/>
              </a:prstGeom>
              <a:noFill/>
              <a:ln w="28575">
                <a:solidFill>
                  <a:srgbClr val="507D7D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blipFill dpi="0" rotWithShape="0">
                      <a:blip r:embed="rId1"/>
                      <a:srcRect/>
                      <a:tile tx="0" ty="0" sx="100000" sy="100000" flip="none" algn="tl"/>
                    </a:blip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/>
                <a:r>
                  <a:rPr kumimoji="1" lang="zh-CN" altLang="en-US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 </a:t>
                </a:r>
                <a:r>
                  <a:rPr kumimoji="1" lang="en-US" altLang="zh-CN" sz="2400" b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F</a:t>
                </a:r>
                <a:endParaRPr kumimoji="1"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0" name="Rectangle 57" descr="水滴"/>
              <p:cNvSpPr>
                <a:spLocks noChangeArrowheads="1"/>
              </p:cNvSpPr>
              <p:nvPr/>
            </p:nvSpPr>
            <p:spPr bwMode="auto">
              <a:xfrm>
                <a:off x="3997812" y="5611813"/>
                <a:ext cx="612000" cy="504000"/>
              </a:xfrm>
              <a:prstGeom prst="rect">
                <a:avLst/>
              </a:prstGeom>
              <a:noFill/>
              <a:ln w="28575">
                <a:solidFill>
                  <a:srgbClr val="507D7D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blipFill dpi="0" rotWithShape="0">
                      <a:blip r:embed="rId1"/>
                      <a:srcRect/>
                      <a:tile tx="0" ty="0" sx="100000" sy="100000" flip="none" algn="tl"/>
                    </a:blip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/>
                <a:r>
                  <a:rPr kumimoji="1" lang="zh-CN" altLang="en-US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 </a:t>
                </a:r>
                <a:r>
                  <a:rPr kumimoji="1" lang="en-US" altLang="zh-CN" sz="2400" b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G</a:t>
                </a:r>
                <a:endParaRPr kumimoji="1"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1" name="Rectangle 57" descr="水滴"/>
              <p:cNvSpPr>
                <a:spLocks noChangeArrowheads="1"/>
              </p:cNvSpPr>
              <p:nvPr/>
            </p:nvSpPr>
            <p:spPr bwMode="auto">
              <a:xfrm>
                <a:off x="4600311" y="5611813"/>
                <a:ext cx="612000" cy="504000"/>
              </a:xfrm>
              <a:prstGeom prst="rect">
                <a:avLst/>
              </a:prstGeom>
              <a:noFill/>
              <a:ln w="28575">
                <a:solidFill>
                  <a:srgbClr val="507D7D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blipFill dpi="0" rotWithShape="0">
                      <a:blip r:embed="rId1"/>
                      <a:srcRect/>
                      <a:tile tx="0" ty="0" sx="100000" sy="100000" flip="none" algn="tl"/>
                    </a:blip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/>
                <a:r>
                  <a:rPr kumimoji="1" lang="zh-CN" altLang="en-US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 </a:t>
                </a:r>
                <a:r>
                  <a:rPr kumimoji="1" lang="en-US" altLang="zh-CN" sz="2400" b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H</a:t>
                </a:r>
                <a:endParaRPr kumimoji="1"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2" name="Rectangle 57" descr="水滴"/>
              <p:cNvSpPr>
                <a:spLocks noChangeArrowheads="1"/>
              </p:cNvSpPr>
              <p:nvPr/>
            </p:nvSpPr>
            <p:spPr bwMode="auto">
              <a:xfrm>
                <a:off x="5217831" y="5611813"/>
                <a:ext cx="612000" cy="504000"/>
              </a:xfrm>
              <a:prstGeom prst="rect">
                <a:avLst/>
              </a:prstGeom>
              <a:noFill/>
              <a:ln w="28575">
                <a:solidFill>
                  <a:srgbClr val="507D7D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blipFill dpi="0" rotWithShape="0">
                      <a:blip r:embed="rId1"/>
                      <a:srcRect/>
                      <a:tile tx="0" ty="0" sx="100000" sy="100000" flip="none" algn="tl"/>
                    </a:blip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/>
                <a:r>
                  <a:rPr kumimoji="1" lang="zh-CN" altLang="en-US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 </a:t>
                </a:r>
                <a:r>
                  <a:rPr kumimoji="1" lang="en-US" altLang="zh-CN" sz="2400" b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I</a:t>
                </a:r>
                <a:endParaRPr kumimoji="1"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3" name="Rectangle 57" descr="水滴"/>
              <p:cNvSpPr>
                <a:spLocks noChangeArrowheads="1"/>
              </p:cNvSpPr>
              <p:nvPr/>
            </p:nvSpPr>
            <p:spPr bwMode="auto">
              <a:xfrm>
                <a:off x="5835570" y="5611813"/>
                <a:ext cx="612000" cy="504000"/>
              </a:xfrm>
              <a:prstGeom prst="rect">
                <a:avLst/>
              </a:prstGeom>
              <a:noFill/>
              <a:ln w="28575">
                <a:solidFill>
                  <a:srgbClr val="507D7D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blipFill dpi="0" rotWithShape="0">
                      <a:blip r:embed="rId1"/>
                      <a:srcRect/>
                      <a:tile tx="0" ty="0" sx="100000" sy="100000" flip="none" algn="tl"/>
                    </a:blip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/>
                <a:r>
                  <a:rPr kumimoji="1" lang="zh-CN" altLang="en-US" sz="24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 </a:t>
                </a:r>
                <a:r>
                  <a:rPr kumimoji="1" lang="en-US" altLang="zh-CN" sz="2400" b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J</a:t>
                </a:r>
                <a:endParaRPr kumimoji="1"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5" name="矩形 4"/>
          <p:cNvSpPr/>
          <p:nvPr/>
        </p:nvSpPr>
        <p:spPr>
          <a:xfrm>
            <a:off x="1104449" y="2032442"/>
            <a:ext cx="4107631" cy="2677656"/>
          </a:xfrm>
          <a:prstGeom prst="rect">
            <a:avLst/>
          </a:prstGeom>
          <a:ln>
            <a:solidFill>
              <a:srgbClr val="285A32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 </a:t>
            </a:r>
            <a:r>
              <a:rPr lang="en-US" altLang="zh-CN" sz="2400" dirty="0" err="1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MaxSize</a:t>
            </a:r>
            <a:r>
              <a:rPr lang="en-US" altLang="zh-CN" sz="24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100;</a:t>
            </a:r>
            <a:endParaRPr lang="zh-CN" altLang="zh-CN" sz="2400" dirty="0">
              <a:solidFill>
                <a:srgbClr val="B42D2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 smtClean="0">
                <a:solidFill>
                  <a:srgbClr val="285A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template &lt;</a:t>
            </a:r>
            <a:r>
              <a:rPr lang="en-US" altLang="zh-CN" sz="2400" dirty="0" err="1" smtClean="0">
                <a:solidFill>
                  <a:srgbClr val="285A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typename</a:t>
            </a:r>
            <a:r>
              <a:rPr lang="en-US" altLang="zh-CN" sz="2400" dirty="0" smtClean="0">
                <a:solidFill>
                  <a:srgbClr val="285A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 err="1" smtClean="0">
                <a:solidFill>
                  <a:srgbClr val="285A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DataType</a:t>
            </a:r>
            <a:r>
              <a:rPr lang="en-US" altLang="zh-CN" sz="2400" dirty="0" smtClean="0">
                <a:solidFill>
                  <a:srgbClr val="285A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US" altLang="zh-CN" sz="2400" dirty="0" smtClean="0">
              <a:solidFill>
                <a:srgbClr val="285A3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 err="1" smtClean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lang="en-US" altLang="zh-CN" sz="2400" dirty="0" smtClean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 err="1" smtClean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SeqBiTree</a:t>
            </a:r>
            <a:endParaRPr lang="zh-CN" altLang="zh-CN" sz="2400" dirty="0">
              <a:solidFill>
                <a:srgbClr val="4040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zh-CN" altLang="zh-CN" sz="2400" dirty="0">
              <a:solidFill>
                <a:srgbClr val="4040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400" dirty="0" smtClean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400" dirty="0" err="1" smtClean="0">
                <a:solidFill>
                  <a:srgbClr val="285A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DataType</a:t>
            </a:r>
            <a:r>
              <a:rPr lang="en-US" altLang="zh-CN" sz="2400" dirty="0" smtClean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data[</a:t>
            </a:r>
            <a:r>
              <a:rPr lang="en-US" altLang="zh-CN" sz="2400" dirty="0" err="1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MaxSize</a:t>
            </a:r>
            <a:r>
              <a:rPr lang="en-US" altLang="zh-CN" sz="24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];</a:t>
            </a:r>
            <a:endParaRPr lang="zh-CN" altLang="zh-CN" sz="2400" dirty="0">
              <a:solidFill>
                <a:srgbClr val="4040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400" dirty="0" smtClean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400" dirty="0" err="1" smtClean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2400" dirty="0" smtClean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 err="1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biTreeNum</a:t>
            </a:r>
            <a:r>
              <a:rPr lang="en-US" altLang="zh-CN" sz="24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   </a:t>
            </a:r>
            <a:endParaRPr lang="zh-CN" altLang="zh-CN" sz="2400" dirty="0">
              <a:solidFill>
                <a:srgbClr val="4040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 smtClean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  <a:endParaRPr lang="zh-CN" altLang="zh-CN" sz="2400" dirty="0">
              <a:solidFill>
                <a:srgbClr val="4040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2" name="组合 61"/>
          <p:cNvGrpSpPr/>
          <p:nvPr/>
        </p:nvGrpSpPr>
        <p:grpSpPr>
          <a:xfrm>
            <a:off x="850350" y="952588"/>
            <a:ext cx="6466619" cy="523220"/>
            <a:chOff x="1826091" y="4148024"/>
            <a:chExt cx="6466619" cy="523220"/>
          </a:xfrm>
        </p:grpSpPr>
        <p:sp>
          <p:nvSpPr>
            <p:cNvPr id="63" name="Text Box 11"/>
            <p:cNvSpPr txBox="1">
              <a:spLocks noChangeArrowheads="1"/>
            </p:cNvSpPr>
            <p:nvPr/>
          </p:nvSpPr>
          <p:spPr bwMode="auto">
            <a:xfrm>
              <a:off x="2385059" y="4148024"/>
              <a:ext cx="5907651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 smtClean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如何定义二叉树的顺序存储结构呢？</a:t>
              </a:r>
              <a:endPara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64" name="Group 31"/>
            <p:cNvGrpSpPr/>
            <p:nvPr/>
          </p:nvGrpSpPr>
          <p:grpSpPr>
            <a:xfrm>
              <a:off x="1826091" y="4213620"/>
              <a:ext cx="465732" cy="432000"/>
              <a:chOff x="8686801" y="2019300"/>
              <a:chExt cx="528638" cy="565150"/>
            </a:xfrm>
            <a:solidFill>
              <a:srgbClr val="5A327D"/>
            </a:solidFill>
          </p:grpSpPr>
          <p:sp>
            <p:nvSpPr>
              <p:cNvPr id="65" name="Freeform 32"/>
              <p:cNvSpPr/>
              <p:nvPr/>
            </p:nvSpPr>
            <p:spPr bwMode="auto">
              <a:xfrm>
                <a:off x="8785226" y="2501900"/>
                <a:ext cx="331788" cy="82550"/>
              </a:xfrm>
              <a:custGeom>
                <a:avLst/>
                <a:gdLst>
                  <a:gd name="T0" fmla="*/ 121 w 122"/>
                  <a:gd name="T1" fmla="*/ 24 h 30"/>
                  <a:gd name="T2" fmla="*/ 107 w 122"/>
                  <a:gd name="T3" fmla="*/ 2 h 30"/>
                  <a:gd name="T4" fmla="*/ 104 w 122"/>
                  <a:gd name="T5" fmla="*/ 0 h 30"/>
                  <a:gd name="T6" fmla="*/ 62 w 122"/>
                  <a:gd name="T7" fmla="*/ 0 h 30"/>
                  <a:gd name="T8" fmla="*/ 60 w 122"/>
                  <a:gd name="T9" fmla="*/ 0 h 30"/>
                  <a:gd name="T10" fmla="*/ 18 w 122"/>
                  <a:gd name="T11" fmla="*/ 0 h 30"/>
                  <a:gd name="T12" fmla="*/ 15 w 122"/>
                  <a:gd name="T13" fmla="*/ 2 h 30"/>
                  <a:gd name="T14" fmla="*/ 1 w 122"/>
                  <a:gd name="T15" fmla="*/ 24 h 30"/>
                  <a:gd name="T16" fmla="*/ 2 w 122"/>
                  <a:gd name="T17" fmla="*/ 29 h 30"/>
                  <a:gd name="T18" fmla="*/ 4 w 122"/>
                  <a:gd name="T19" fmla="*/ 30 h 30"/>
                  <a:gd name="T20" fmla="*/ 8 w 122"/>
                  <a:gd name="T21" fmla="*/ 28 h 30"/>
                  <a:gd name="T22" fmla="*/ 20 w 122"/>
                  <a:gd name="T23" fmla="*/ 8 h 30"/>
                  <a:gd name="T24" fmla="*/ 60 w 122"/>
                  <a:gd name="T25" fmla="*/ 8 h 30"/>
                  <a:gd name="T26" fmla="*/ 62 w 122"/>
                  <a:gd name="T27" fmla="*/ 8 h 30"/>
                  <a:gd name="T28" fmla="*/ 102 w 122"/>
                  <a:gd name="T29" fmla="*/ 8 h 30"/>
                  <a:gd name="T30" fmla="*/ 114 w 122"/>
                  <a:gd name="T31" fmla="*/ 28 h 30"/>
                  <a:gd name="T32" fmla="*/ 118 w 122"/>
                  <a:gd name="T33" fmla="*/ 30 h 30"/>
                  <a:gd name="T34" fmla="*/ 120 w 122"/>
                  <a:gd name="T35" fmla="*/ 29 h 30"/>
                  <a:gd name="T36" fmla="*/ 121 w 122"/>
                  <a:gd name="T37" fmla="*/ 24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2" h="30">
                    <a:moveTo>
                      <a:pt x="121" y="24"/>
                    </a:moveTo>
                    <a:cubicBezTo>
                      <a:pt x="107" y="2"/>
                      <a:pt x="107" y="2"/>
                      <a:pt x="107" y="2"/>
                    </a:cubicBezTo>
                    <a:cubicBezTo>
                      <a:pt x="106" y="1"/>
                      <a:pt x="105" y="0"/>
                      <a:pt x="104" y="0"/>
                    </a:cubicBezTo>
                    <a:cubicBezTo>
                      <a:pt x="62" y="0"/>
                      <a:pt x="62" y="0"/>
                      <a:pt x="62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7" y="0"/>
                      <a:pt x="15" y="1"/>
                      <a:pt x="15" y="2"/>
                    </a:cubicBezTo>
                    <a:cubicBezTo>
                      <a:pt x="1" y="24"/>
                      <a:pt x="1" y="24"/>
                      <a:pt x="1" y="24"/>
                    </a:cubicBezTo>
                    <a:cubicBezTo>
                      <a:pt x="0" y="26"/>
                      <a:pt x="0" y="28"/>
                      <a:pt x="2" y="29"/>
                    </a:cubicBezTo>
                    <a:cubicBezTo>
                      <a:pt x="3" y="30"/>
                      <a:pt x="3" y="30"/>
                      <a:pt x="4" y="30"/>
                    </a:cubicBezTo>
                    <a:cubicBezTo>
                      <a:pt x="6" y="30"/>
                      <a:pt x="7" y="29"/>
                      <a:pt x="8" y="28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60" y="8"/>
                      <a:pt x="60" y="8"/>
                      <a:pt x="60" y="8"/>
                    </a:cubicBezTo>
                    <a:cubicBezTo>
                      <a:pt x="62" y="8"/>
                      <a:pt x="62" y="8"/>
                      <a:pt x="62" y="8"/>
                    </a:cubicBezTo>
                    <a:cubicBezTo>
                      <a:pt x="102" y="8"/>
                      <a:pt x="102" y="8"/>
                      <a:pt x="102" y="8"/>
                    </a:cubicBezTo>
                    <a:cubicBezTo>
                      <a:pt x="114" y="28"/>
                      <a:pt x="114" y="28"/>
                      <a:pt x="114" y="28"/>
                    </a:cubicBezTo>
                    <a:cubicBezTo>
                      <a:pt x="115" y="29"/>
                      <a:pt x="116" y="30"/>
                      <a:pt x="118" y="30"/>
                    </a:cubicBezTo>
                    <a:cubicBezTo>
                      <a:pt x="118" y="30"/>
                      <a:pt x="119" y="30"/>
                      <a:pt x="120" y="29"/>
                    </a:cubicBezTo>
                    <a:cubicBezTo>
                      <a:pt x="122" y="28"/>
                      <a:pt x="122" y="26"/>
                      <a:pt x="121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6" name="Freeform 33"/>
              <p:cNvSpPr/>
              <p:nvPr/>
            </p:nvSpPr>
            <p:spPr bwMode="auto">
              <a:xfrm>
                <a:off x="8686801" y="2019300"/>
                <a:ext cx="165100" cy="149225"/>
              </a:xfrm>
              <a:custGeom>
                <a:avLst/>
                <a:gdLst>
                  <a:gd name="T0" fmla="*/ 33 w 61"/>
                  <a:gd name="T1" fmla="*/ 0 h 55"/>
                  <a:gd name="T2" fmla="*/ 0 w 61"/>
                  <a:gd name="T3" fmla="*/ 33 h 55"/>
                  <a:gd name="T4" fmla="*/ 7 w 61"/>
                  <a:gd name="T5" fmla="*/ 54 h 55"/>
                  <a:gd name="T6" fmla="*/ 10 w 61"/>
                  <a:gd name="T7" fmla="*/ 55 h 55"/>
                  <a:gd name="T8" fmla="*/ 13 w 61"/>
                  <a:gd name="T9" fmla="*/ 55 h 55"/>
                  <a:gd name="T10" fmla="*/ 59 w 61"/>
                  <a:gd name="T11" fmla="*/ 19 h 55"/>
                  <a:gd name="T12" fmla="*/ 60 w 61"/>
                  <a:gd name="T13" fmla="*/ 13 h 55"/>
                  <a:gd name="T14" fmla="*/ 33 w 61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55">
                    <a:moveTo>
                      <a:pt x="33" y="0"/>
                    </a:moveTo>
                    <a:cubicBezTo>
                      <a:pt x="15" y="0"/>
                      <a:pt x="0" y="15"/>
                      <a:pt x="0" y="33"/>
                    </a:cubicBezTo>
                    <a:cubicBezTo>
                      <a:pt x="0" y="41"/>
                      <a:pt x="2" y="48"/>
                      <a:pt x="7" y="54"/>
                    </a:cubicBezTo>
                    <a:cubicBezTo>
                      <a:pt x="8" y="55"/>
                      <a:pt x="9" y="55"/>
                      <a:pt x="10" y="55"/>
                    </a:cubicBezTo>
                    <a:cubicBezTo>
                      <a:pt x="11" y="55"/>
                      <a:pt x="12" y="55"/>
                      <a:pt x="13" y="55"/>
                    </a:cubicBezTo>
                    <a:cubicBezTo>
                      <a:pt x="59" y="19"/>
                      <a:pt x="59" y="19"/>
                      <a:pt x="59" y="19"/>
                    </a:cubicBezTo>
                    <a:cubicBezTo>
                      <a:pt x="61" y="17"/>
                      <a:pt x="61" y="15"/>
                      <a:pt x="60" y="13"/>
                    </a:cubicBezTo>
                    <a:cubicBezTo>
                      <a:pt x="54" y="5"/>
                      <a:pt x="44" y="0"/>
                      <a:pt x="3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7" name="Freeform 34"/>
              <p:cNvSpPr/>
              <p:nvPr/>
            </p:nvSpPr>
            <p:spPr bwMode="auto">
              <a:xfrm>
                <a:off x="9048751" y="2019300"/>
                <a:ext cx="166688" cy="149225"/>
              </a:xfrm>
              <a:custGeom>
                <a:avLst/>
                <a:gdLst>
                  <a:gd name="T0" fmla="*/ 28 w 61"/>
                  <a:gd name="T1" fmla="*/ 0 h 55"/>
                  <a:gd name="T2" fmla="*/ 1 w 61"/>
                  <a:gd name="T3" fmla="*/ 13 h 55"/>
                  <a:gd name="T4" fmla="*/ 2 w 61"/>
                  <a:gd name="T5" fmla="*/ 19 h 55"/>
                  <a:gd name="T6" fmla="*/ 48 w 61"/>
                  <a:gd name="T7" fmla="*/ 55 h 55"/>
                  <a:gd name="T8" fmla="*/ 51 w 61"/>
                  <a:gd name="T9" fmla="*/ 55 h 55"/>
                  <a:gd name="T10" fmla="*/ 54 w 61"/>
                  <a:gd name="T11" fmla="*/ 54 h 55"/>
                  <a:gd name="T12" fmla="*/ 61 w 61"/>
                  <a:gd name="T13" fmla="*/ 33 h 55"/>
                  <a:gd name="T14" fmla="*/ 28 w 61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55">
                    <a:moveTo>
                      <a:pt x="28" y="0"/>
                    </a:moveTo>
                    <a:cubicBezTo>
                      <a:pt x="17" y="0"/>
                      <a:pt x="7" y="5"/>
                      <a:pt x="1" y="13"/>
                    </a:cubicBezTo>
                    <a:cubicBezTo>
                      <a:pt x="0" y="15"/>
                      <a:pt x="0" y="17"/>
                      <a:pt x="2" y="19"/>
                    </a:cubicBezTo>
                    <a:cubicBezTo>
                      <a:pt x="48" y="55"/>
                      <a:pt x="48" y="55"/>
                      <a:pt x="48" y="55"/>
                    </a:cubicBezTo>
                    <a:cubicBezTo>
                      <a:pt x="49" y="55"/>
                      <a:pt x="50" y="55"/>
                      <a:pt x="51" y="55"/>
                    </a:cubicBezTo>
                    <a:cubicBezTo>
                      <a:pt x="52" y="55"/>
                      <a:pt x="53" y="55"/>
                      <a:pt x="54" y="54"/>
                    </a:cubicBezTo>
                    <a:cubicBezTo>
                      <a:pt x="58" y="48"/>
                      <a:pt x="61" y="41"/>
                      <a:pt x="61" y="33"/>
                    </a:cubicBezTo>
                    <a:cubicBezTo>
                      <a:pt x="61" y="15"/>
                      <a:pt x="46" y="0"/>
                      <a:pt x="2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8" name="Freeform 223"/>
              <p:cNvSpPr>
                <a:spLocks noEditPoints="1"/>
              </p:cNvSpPr>
              <p:nvPr/>
            </p:nvSpPr>
            <p:spPr bwMode="auto">
              <a:xfrm>
                <a:off x="8743951" y="2073275"/>
                <a:ext cx="411163" cy="414338"/>
              </a:xfrm>
              <a:custGeom>
                <a:avLst/>
                <a:gdLst>
                  <a:gd name="T0" fmla="*/ 76 w 151"/>
                  <a:gd name="T1" fmla="*/ 0 h 152"/>
                  <a:gd name="T2" fmla="*/ 0 w 151"/>
                  <a:gd name="T3" fmla="*/ 76 h 152"/>
                  <a:gd name="T4" fmla="*/ 76 w 151"/>
                  <a:gd name="T5" fmla="*/ 152 h 152"/>
                  <a:gd name="T6" fmla="*/ 151 w 151"/>
                  <a:gd name="T7" fmla="*/ 76 h 152"/>
                  <a:gd name="T8" fmla="*/ 76 w 151"/>
                  <a:gd name="T9" fmla="*/ 0 h 152"/>
                  <a:gd name="T10" fmla="*/ 104 w 151"/>
                  <a:gd name="T11" fmla="*/ 82 h 152"/>
                  <a:gd name="T12" fmla="*/ 77 w 151"/>
                  <a:gd name="T13" fmla="*/ 82 h 152"/>
                  <a:gd name="T14" fmla="*/ 71 w 151"/>
                  <a:gd name="T15" fmla="*/ 76 h 152"/>
                  <a:gd name="T16" fmla="*/ 71 w 151"/>
                  <a:gd name="T17" fmla="*/ 24 h 152"/>
                  <a:gd name="T18" fmla="*/ 77 w 151"/>
                  <a:gd name="T19" fmla="*/ 18 h 152"/>
                  <a:gd name="T20" fmla="*/ 83 w 151"/>
                  <a:gd name="T21" fmla="*/ 24 h 152"/>
                  <a:gd name="T22" fmla="*/ 83 w 151"/>
                  <a:gd name="T23" fmla="*/ 70 h 152"/>
                  <a:gd name="T24" fmla="*/ 104 w 151"/>
                  <a:gd name="T25" fmla="*/ 70 h 152"/>
                  <a:gd name="T26" fmla="*/ 110 w 151"/>
                  <a:gd name="T27" fmla="*/ 76 h 152"/>
                  <a:gd name="T28" fmla="*/ 104 w 151"/>
                  <a:gd name="T29" fmla="*/ 82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51" h="152">
                    <a:moveTo>
                      <a:pt x="76" y="0"/>
                    </a:moveTo>
                    <a:cubicBezTo>
                      <a:pt x="34" y="0"/>
                      <a:pt x="0" y="34"/>
                      <a:pt x="0" y="76"/>
                    </a:cubicBezTo>
                    <a:cubicBezTo>
                      <a:pt x="0" y="118"/>
                      <a:pt x="34" y="152"/>
                      <a:pt x="76" y="152"/>
                    </a:cubicBezTo>
                    <a:cubicBezTo>
                      <a:pt x="118" y="152"/>
                      <a:pt x="151" y="118"/>
                      <a:pt x="151" y="76"/>
                    </a:cubicBezTo>
                    <a:cubicBezTo>
                      <a:pt x="151" y="34"/>
                      <a:pt x="118" y="0"/>
                      <a:pt x="76" y="0"/>
                    </a:cubicBezTo>
                    <a:close/>
                    <a:moveTo>
                      <a:pt x="104" y="82"/>
                    </a:moveTo>
                    <a:cubicBezTo>
                      <a:pt x="77" y="82"/>
                      <a:pt x="77" y="82"/>
                      <a:pt x="77" y="82"/>
                    </a:cubicBezTo>
                    <a:cubicBezTo>
                      <a:pt x="73" y="82"/>
                      <a:pt x="71" y="79"/>
                      <a:pt x="71" y="76"/>
                    </a:cubicBezTo>
                    <a:cubicBezTo>
                      <a:pt x="71" y="24"/>
                      <a:pt x="71" y="24"/>
                      <a:pt x="71" y="24"/>
                    </a:cubicBezTo>
                    <a:cubicBezTo>
                      <a:pt x="71" y="21"/>
                      <a:pt x="73" y="18"/>
                      <a:pt x="77" y="18"/>
                    </a:cubicBezTo>
                    <a:cubicBezTo>
                      <a:pt x="80" y="18"/>
                      <a:pt x="83" y="21"/>
                      <a:pt x="83" y="24"/>
                    </a:cubicBezTo>
                    <a:cubicBezTo>
                      <a:pt x="83" y="70"/>
                      <a:pt x="83" y="70"/>
                      <a:pt x="83" y="70"/>
                    </a:cubicBezTo>
                    <a:cubicBezTo>
                      <a:pt x="104" y="70"/>
                      <a:pt x="104" y="70"/>
                      <a:pt x="104" y="70"/>
                    </a:cubicBezTo>
                    <a:cubicBezTo>
                      <a:pt x="107" y="70"/>
                      <a:pt x="110" y="72"/>
                      <a:pt x="110" y="76"/>
                    </a:cubicBezTo>
                    <a:cubicBezTo>
                      <a:pt x="110" y="79"/>
                      <a:pt x="107" y="82"/>
                      <a:pt x="104" y="8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ounded Rectangle 10"/>
          <p:cNvSpPr/>
          <p:nvPr/>
        </p:nvSpPr>
        <p:spPr>
          <a:xfrm>
            <a:off x="542923" y="100964"/>
            <a:ext cx="4500000" cy="540000"/>
          </a:xfrm>
          <a:prstGeom prst="roundRect">
            <a:avLst/>
          </a:prstGeom>
          <a:solidFill>
            <a:srgbClr val="5A32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Text Box 2"/>
          <p:cNvSpPr txBox="1">
            <a:spLocks noChangeArrowheads="1"/>
          </p:cNvSpPr>
          <p:nvPr/>
        </p:nvSpPr>
        <p:spPr bwMode="auto">
          <a:xfrm>
            <a:off x="638168" y="61585"/>
            <a:ext cx="433007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二叉树的顺序存储结构</a:t>
            </a:r>
            <a:endParaRPr lang="zh-CN" altLang="en-US" sz="32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" name="Freeform 65"/>
          <p:cNvSpPr/>
          <p:nvPr/>
        </p:nvSpPr>
        <p:spPr bwMode="auto">
          <a:xfrm>
            <a:off x="8228120" y="2973364"/>
            <a:ext cx="216000" cy="432000"/>
          </a:xfrm>
          <a:custGeom>
            <a:avLst/>
            <a:gdLst>
              <a:gd name="T0" fmla="*/ 119 w 119"/>
              <a:gd name="T1" fmla="*/ 0 h 356"/>
              <a:gd name="T2" fmla="*/ 0 w 119"/>
              <a:gd name="T3" fmla="*/ 356 h 356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19" h="356">
                <a:moveTo>
                  <a:pt x="119" y="0"/>
                </a:moveTo>
                <a:lnTo>
                  <a:pt x="0" y="356"/>
                </a:lnTo>
              </a:path>
            </a:pathLst>
          </a:custGeom>
          <a:noFill/>
          <a:ln w="28575" cmpd="sng">
            <a:solidFill>
              <a:srgbClr val="285A3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18000"/>
          <a:lstStyle/>
          <a:p>
            <a:pPr>
              <a:lnSpc>
                <a:spcPts val="2500"/>
              </a:lnSpc>
            </a:pPr>
            <a:endParaRPr lang="zh-CN" altLang="en-US" sz="2400"/>
          </a:p>
        </p:txBody>
      </p:sp>
      <p:sp>
        <p:nvSpPr>
          <p:cNvPr id="27" name="Freeform 45"/>
          <p:cNvSpPr/>
          <p:nvPr/>
        </p:nvSpPr>
        <p:spPr bwMode="auto">
          <a:xfrm>
            <a:off x="10071720" y="3032696"/>
            <a:ext cx="268288" cy="490538"/>
          </a:xfrm>
          <a:custGeom>
            <a:avLst/>
            <a:gdLst>
              <a:gd name="T0" fmla="*/ 0 w 222"/>
              <a:gd name="T1" fmla="*/ 0 h 421"/>
              <a:gd name="T2" fmla="*/ 222 w 222"/>
              <a:gd name="T3" fmla="*/ 421 h 42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22" h="421">
                <a:moveTo>
                  <a:pt x="0" y="0"/>
                </a:moveTo>
                <a:lnTo>
                  <a:pt x="222" y="421"/>
                </a:lnTo>
              </a:path>
            </a:pathLst>
          </a:custGeom>
          <a:noFill/>
          <a:ln w="28575" cmpd="sng">
            <a:solidFill>
              <a:srgbClr val="285A3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18000"/>
          <a:lstStyle/>
          <a:p>
            <a:pPr>
              <a:lnSpc>
                <a:spcPts val="2500"/>
              </a:lnSpc>
            </a:pPr>
            <a:endParaRPr lang="zh-CN" altLang="en-US" sz="2400"/>
          </a:p>
        </p:txBody>
      </p:sp>
      <p:sp>
        <p:nvSpPr>
          <p:cNvPr id="28" name="Freeform 44"/>
          <p:cNvSpPr/>
          <p:nvPr/>
        </p:nvSpPr>
        <p:spPr bwMode="auto">
          <a:xfrm>
            <a:off x="10050289" y="2247918"/>
            <a:ext cx="311150" cy="490538"/>
          </a:xfrm>
          <a:custGeom>
            <a:avLst/>
            <a:gdLst>
              <a:gd name="T0" fmla="*/ 259 w 259"/>
              <a:gd name="T1" fmla="*/ 0 h 421"/>
              <a:gd name="T2" fmla="*/ 0 w 259"/>
              <a:gd name="T3" fmla="*/ 421 h 42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59" h="421">
                <a:moveTo>
                  <a:pt x="259" y="0"/>
                </a:moveTo>
                <a:lnTo>
                  <a:pt x="0" y="421"/>
                </a:lnTo>
              </a:path>
            </a:pathLst>
          </a:custGeom>
          <a:noFill/>
          <a:ln w="28575" cmpd="sng">
            <a:solidFill>
              <a:srgbClr val="285A3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18000"/>
          <a:lstStyle/>
          <a:p>
            <a:pPr>
              <a:lnSpc>
                <a:spcPts val="2500"/>
              </a:lnSpc>
            </a:pPr>
            <a:endParaRPr lang="zh-CN" altLang="en-US" sz="2400"/>
          </a:p>
        </p:txBody>
      </p:sp>
      <p:sp>
        <p:nvSpPr>
          <p:cNvPr id="33" name="Line 42"/>
          <p:cNvSpPr>
            <a:spLocks noChangeShapeType="1"/>
          </p:cNvSpPr>
          <p:nvPr/>
        </p:nvSpPr>
        <p:spPr bwMode="auto">
          <a:xfrm flipH="1">
            <a:off x="8130307" y="1470003"/>
            <a:ext cx="995363" cy="493713"/>
          </a:xfrm>
          <a:prstGeom prst="line">
            <a:avLst/>
          </a:prstGeom>
          <a:noFill/>
          <a:ln w="28575">
            <a:solidFill>
              <a:srgbClr val="285A3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18000"/>
          <a:lstStyle/>
          <a:p>
            <a:pPr>
              <a:lnSpc>
                <a:spcPts val="2500"/>
              </a:lnSpc>
            </a:pPr>
            <a:endParaRPr lang="zh-CN" altLang="en-US" sz="2400"/>
          </a:p>
        </p:txBody>
      </p:sp>
      <p:sp>
        <p:nvSpPr>
          <p:cNvPr id="34" name="Freeform 43"/>
          <p:cNvSpPr/>
          <p:nvPr/>
        </p:nvSpPr>
        <p:spPr bwMode="auto">
          <a:xfrm>
            <a:off x="9460632" y="1423965"/>
            <a:ext cx="928688" cy="568325"/>
          </a:xfrm>
          <a:custGeom>
            <a:avLst/>
            <a:gdLst>
              <a:gd name="T0" fmla="*/ 0 w 767"/>
              <a:gd name="T1" fmla="*/ 0 h 488"/>
              <a:gd name="T2" fmla="*/ 767 w 767"/>
              <a:gd name="T3" fmla="*/ 488 h 488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767" h="488">
                <a:moveTo>
                  <a:pt x="0" y="0"/>
                </a:moveTo>
                <a:lnTo>
                  <a:pt x="767" y="488"/>
                </a:lnTo>
              </a:path>
            </a:pathLst>
          </a:custGeom>
          <a:noFill/>
          <a:ln w="28575" cmpd="sng">
            <a:solidFill>
              <a:srgbClr val="285A3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18000"/>
          <a:lstStyle/>
          <a:p>
            <a:pPr>
              <a:lnSpc>
                <a:spcPts val="2500"/>
              </a:lnSpc>
            </a:pPr>
            <a:endParaRPr lang="zh-CN" altLang="en-US" sz="2400"/>
          </a:p>
        </p:txBody>
      </p:sp>
      <p:sp>
        <p:nvSpPr>
          <p:cNvPr id="36" name="Freeform 45"/>
          <p:cNvSpPr/>
          <p:nvPr/>
        </p:nvSpPr>
        <p:spPr bwMode="auto">
          <a:xfrm>
            <a:off x="8170312" y="2214858"/>
            <a:ext cx="268288" cy="490538"/>
          </a:xfrm>
          <a:custGeom>
            <a:avLst/>
            <a:gdLst>
              <a:gd name="T0" fmla="*/ 0 w 222"/>
              <a:gd name="T1" fmla="*/ 0 h 421"/>
              <a:gd name="T2" fmla="*/ 222 w 222"/>
              <a:gd name="T3" fmla="*/ 421 h 42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22" h="421">
                <a:moveTo>
                  <a:pt x="0" y="0"/>
                </a:moveTo>
                <a:lnTo>
                  <a:pt x="222" y="421"/>
                </a:lnTo>
              </a:path>
            </a:pathLst>
          </a:custGeom>
          <a:noFill/>
          <a:ln w="28575" cmpd="sng">
            <a:solidFill>
              <a:srgbClr val="285A3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18000"/>
          <a:lstStyle/>
          <a:p>
            <a:pPr>
              <a:lnSpc>
                <a:spcPts val="2500"/>
              </a:lnSpc>
            </a:pPr>
            <a:endParaRPr lang="zh-CN" altLang="en-US" sz="2400"/>
          </a:p>
        </p:txBody>
      </p:sp>
      <p:sp>
        <p:nvSpPr>
          <p:cNvPr id="41" name="Oval 37"/>
          <p:cNvSpPr>
            <a:spLocks noChangeArrowheads="1"/>
          </p:cNvSpPr>
          <p:nvPr/>
        </p:nvSpPr>
        <p:spPr bwMode="auto">
          <a:xfrm>
            <a:off x="9095190" y="1124879"/>
            <a:ext cx="432000" cy="432000"/>
          </a:xfrm>
          <a:prstGeom prst="ellipse">
            <a:avLst/>
          </a:prstGeom>
          <a:solidFill>
            <a:srgbClr val="B4B4BE"/>
          </a:solidFill>
          <a:ln w="28575">
            <a:solidFill>
              <a:srgbClr val="507D7D"/>
            </a:solidFill>
            <a:round/>
          </a:ln>
          <a:effectLst/>
        </p:spPr>
        <p:txBody>
          <a:bodyPr lIns="0" tIns="0" rIns="0" bIns="0"/>
          <a:lstStyle/>
          <a:p>
            <a:pPr algn="ctr">
              <a:lnSpc>
                <a:spcPts val="2500"/>
              </a:lnSpc>
            </a:pPr>
            <a:r>
              <a:rPr lang="en-US" altLang="zh-CN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Oval 37"/>
          <p:cNvSpPr>
            <a:spLocks noChangeArrowheads="1"/>
          </p:cNvSpPr>
          <p:nvPr/>
        </p:nvSpPr>
        <p:spPr bwMode="auto">
          <a:xfrm>
            <a:off x="7823922" y="1877513"/>
            <a:ext cx="432000" cy="432000"/>
          </a:xfrm>
          <a:prstGeom prst="ellipse">
            <a:avLst/>
          </a:prstGeom>
          <a:solidFill>
            <a:srgbClr val="B4B4BE"/>
          </a:solidFill>
          <a:ln w="28575">
            <a:solidFill>
              <a:srgbClr val="507D7D"/>
            </a:solidFill>
            <a:round/>
          </a:ln>
          <a:effectLst/>
        </p:spPr>
        <p:txBody>
          <a:bodyPr lIns="0" tIns="0" rIns="0" bIns="0"/>
          <a:lstStyle/>
          <a:p>
            <a:pPr algn="ctr">
              <a:lnSpc>
                <a:spcPts val="2500"/>
              </a:lnSpc>
            </a:pPr>
            <a:r>
              <a:rPr lang="en-US" altLang="zh-CN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Oval 37"/>
          <p:cNvSpPr>
            <a:spLocks noChangeArrowheads="1"/>
          </p:cNvSpPr>
          <p:nvPr/>
        </p:nvSpPr>
        <p:spPr bwMode="auto">
          <a:xfrm>
            <a:off x="10279782" y="1877513"/>
            <a:ext cx="432000" cy="432000"/>
          </a:xfrm>
          <a:prstGeom prst="ellipse">
            <a:avLst/>
          </a:prstGeom>
          <a:solidFill>
            <a:srgbClr val="B4B4BE"/>
          </a:solidFill>
          <a:ln w="28575">
            <a:solidFill>
              <a:srgbClr val="507D7D"/>
            </a:solidFill>
            <a:round/>
          </a:ln>
          <a:effectLst/>
        </p:spPr>
        <p:txBody>
          <a:bodyPr lIns="0" tIns="0" rIns="0" bIns="0"/>
          <a:lstStyle/>
          <a:p>
            <a:pPr algn="ctr">
              <a:lnSpc>
                <a:spcPts val="2500"/>
              </a:lnSpc>
            </a:pPr>
            <a:r>
              <a:rPr lang="en-US" altLang="zh-CN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Oval 37"/>
          <p:cNvSpPr>
            <a:spLocks noChangeArrowheads="1"/>
          </p:cNvSpPr>
          <p:nvPr/>
        </p:nvSpPr>
        <p:spPr bwMode="auto">
          <a:xfrm>
            <a:off x="8301241" y="2606869"/>
            <a:ext cx="432000" cy="432000"/>
          </a:xfrm>
          <a:prstGeom prst="ellipse">
            <a:avLst/>
          </a:prstGeom>
          <a:solidFill>
            <a:srgbClr val="B4B4BE"/>
          </a:solidFill>
          <a:ln w="28575">
            <a:solidFill>
              <a:srgbClr val="507D7D"/>
            </a:solidFill>
            <a:round/>
          </a:ln>
          <a:effectLst/>
        </p:spPr>
        <p:txBody>
          <a:bodyPr lIns="0" tIns="0" rIns="0" bIns="0"/>
          <a:lstStyle/>
          <a:p>
            <a:pPr algn="ctr">
              <a:lnSpc>
                <a:spcPts val="2500"/>
              </a:lnSpc>
            </a:pP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Oval 37"/>
          <p:cNvSpPr>
            <a:spLocks noChangeArrowheads="1"/>
          </p:cNvSpPr>
          <p:nvPr/>
        </p:nvSpPr>
        <p:spPr bwMode="auto">
          <a:xfrm>
            <a:off x="9796388" y="2606869"/>
            <a:ext cx="432000" cy="432000"/>
          </a:xfrm>
          <a:prstGeom prst="ellipse">
            <a:avLst/>
          </a:prstGeom>
          <a:solidFill>
            <a:srgbClr val="B4B4BE"/>
          </a:solidFill>
          <a:ln w="28575">
            <a:solidFill>
              <a:srgbClr val="507D7D"/>
            </a:solidFill>
            <a:round/>
          </a:ln>
          <a:effectLst/>
        </p:spPr>
        <p:txBody>
          <a:bodyPr lIns="0" tIns="0" rIns="0" bIns="0"/>
          <a:lstStyle/>
          <a:p>
            <a:pPr algn="ctr">
              <a:lnSpc>
                <a:spcPts val="2500"/>
              </a:lnSpc>
            </a:pPr>
            <a:r>
              <a:rPr lang="en-US" altLang="zh-CN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CN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Oval 37"/>
          <p:cNvSpPr>
            <a:spLocks noChangeArrowheads="1"/>
          </p:cNvSpPr>
          <p:nvPr/>
        </p:nvSpPr>
        <p:spPr bwMode="auto">
          <a:xfrm>
            <a:off x="7972409" y="3368494"/>
            <a:ext cx="432000" cy="432000"/>
          </a:xfrm>
          <a:prstGeom prst="ellipse">
            <a:avLst/>
          </a:prstGeom>
          <a:solidFill>
            <a:srgbClr val="B4B4BE"/>
          </a:solidFill>
          <a:ln w="28575">
            <a:solidFill>
              <a:srgbClr val="507D7D"/>
            </a:solidFill>
            <a:round/>
          </a:ln>
          <a:effectLst/>
        </p:spPr>
        <p:txBody>
          <a:bodyPr lIns="0" tIns="0" rIns="0" bIns="0"/>
          <a:lstStyle/>
          <a:p>
            <a:pPr algn="ctr">
              <a:lnSpc>
                <a:spcPts val="2500"/>
              </a:lnSpc>
            </a:pPr>
            <a:r>
              <a:rPr lang="en-US" altLang="zh-CN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CN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Oval 37"/>
          <p:cNvSpPr>
            <a:spLocks noChangeArrowheads="1"/>
          </p:cNvSpPr>
          <p:nvPr/>
        </p:nvSpPr>
        <p:spPr bwMode="auto">
          <a:xfrm>
            <a:off x="10185325" y="3361167"/>
            <a:ext cx="432000" cy="432000"/>
          </a:xfrm>
          <a:prstGeom prst="ellipse">
            <a:avLst/>
          </a:prstGeom>
          <a:solidFill>
            <a:srgbClr val="B4B4BE"/>
          </a:solidFill>
          <a:ln w="28575">
            <a:solidFill>
              <a:srgbClr val="507D7D"/>
            </a:solidFill>
            <a:round/>
          </a:ln>
          <a:effectLst/>
        </p:spPr>
        <p:txBody>
          <a:bodyPr lIns="0" tIns="0" rIns="0" bIns="0"/>
          <a:lstStyle/>
          <a:p>
            <a:pPr algn="ctr">
              <a:lnSpc>
                <a:spcPts val="2500"/>
              </a:lnSpc>
            </a:pPr>
            <a:r>
              <a:rPr lang="en-US" altLang="zh-CN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zh-CN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8336623" y="998238"/>
            <a:ext cx="2671212" cy="2524996"/>
            <a:chOff x="7406983" y="891558"/>
            <a:chExt cx="2671212" cy="2524996"/>
          </a:xfrm>
        </p:grpSpPr>
        <p:sp>
          <p:nvSpPr>
            <p:cNvPr id="51" name="Text Box 107"/>
            <p:cNvSpPr txBox="1">
              <a:spLocks noChangeArrowheads="1"/>
            </p:cNvSpPr>
            <p:nvPr/>
          </p:nvSpPr>
          <p:spPr bwMode="auto">
            <a:xfrm>
              <a:off x="8603640" y="891558"/>
              <a:ext cx="244475" cy="360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18000" rIns="0" bIns="0"/>
            <a:lstStyle/>
            <a:p>
              <a:pPr algn="just" eaLnBrk="0" hangingPunct="0"/>
              <a:r>
                <a:rPr lang="zh-CN" altLang="en-US" sz="2400" b="1" dirty="0">
                  <a:solidFill>
                    <a:srgbClr val="40404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endParaRPr lang="zh-CN" altLang="en-US" sz="2400" b="1" dirty="0">
                <a:solidFill>
                  <a:srgbClr val="40404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2" name="Text Box 108"/>
            <p:cNvSpPr txBox="1">
              <a:spLocks noChangeArrowheads="1"/>
            </p:cNvSpPr>
            <p:nvPr/>
          </p:nvSpPr>
          <p:spPr bwMode="auto">
            <a:xfrm>
              <a:off x="7867040" y="2339358"/>
              <a:ext cx="247650" cy="361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18000" rIns="0" bIns="0"/>
            <a:lstStyle/>
            <a:p>
              <a:pPr algn="just" eaLnBrk="0" hangingPunct="0"/>
              <a:r>
                <a:rPr lang="zh-CN" altLang="en-US" sz="2400" b="1">
                  <a:solidFill>
                    <a:srgbClr val="40404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endParaRPr lang="zh-CN" altLang="en-US" sz="2400" b="1">
                <a:solidFill>
                  <a:srgbClr val="40404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3" name="Text Box 109"/>
            <p:cNvSpPr txBox="1">
              <a:spLocks noChangeArrowheads="1"/>
            </p:cNvSpPr>
            <p:nvPr/>
          </p:nvSpPr>
          <p:spPr bwMode="auto">
            <a:xfrm>
              <a:off x="7406983" y="1617046"/>
              <a:ext cx="244475" cy="360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18000" rIns="0" bIns="0"/>
            <a:lstStyle/>
            <a:p>
              <a:pPr algn="just" eaLnBrk="0" hangingPunct="0"/>
              <a:r>
                <a:rPr lang="zh-CN" altLang="en-US" sz="2400" b="1" dirty="0">
                  <a:solidFill>
                    <a:srgbClr val="40404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endParaRPr lang="zh-CN" altLang="en-US" sz="2400" b="1" dirty="0">
                <a:solidFill>
                  <a:srgbClr val="40404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4" name="Text Box 110"/>
            <p:cNvSpPr txBox="1">
              <a:spLocks noChangeArrowheads="1"/>
            </p:cNvSpPr>
            <p:nvPr/>
          </p:nvSpPr>
          <p:spPr bwMode="auto">
            <a:xfrm>
              <a:off x="9830778" y="1617046"/>
              <a:ext cx="246063" cy="360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18000" rIns="0" bIns="0"/>
            <a:lstStyle/>
            <a:p>
              <a:pPr algn="just" eaLnBrk="0" hangingPunct="0"/>
              <a:r>
                <a:rPr lang="zh-CN" altLang="en-US" sz="2400" b="1" dirty="0">
                  <a:solidFill>
                    <a:srgbClr val="40404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endParaRPr lang="zh-CN" altLang="en-US" sz="2400" b="1" dirty="0">
                <a:solidFill>
                  <a:srgbClr val="40404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6" name="Text Box 112"/>
            <p:cNvSpPr txBox="1">
              <a:spLocks noChangeArrowheads="1"/>
            </p:cNvSpPr>
            <p:nvPr/>
          </p:nvSpPr>
          <p:spPr bwMode="auto">
            <a:xfrm>
              <a:off x="9341828" y="2339358"/>
              <a:ext cx="244475" cy="361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18000" rIns="0" bIns="0"/>
            <a:lstStyle/>
            <a:p>
              <a:pPr algn="just" eaLnBrk="0" hangingPunct="0"/>
              <a:r>
                <a:rPr lang="zh-CN" altLang="en-US" sz="2400" b="1" dirty="0">
                  <a:solidFill>
                    <a:srgbClr val="40404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6</a:t>
              </a:r>
              <a:endParaRPr lang="zh-CN" altLang="en-US" sz="2400" b="1" dirty="0">
                <a:solidFill>
                  <a:srgbClr val="40404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7" name="Text Box 113"/>
            <p:cNvSpPr txBox="1">
              <a:spLocks noChangeArrowheads="1"/>
            </p:cNvSpPr>
            <p:nvPr/>
          </p:nvSpPr>
          <p:spPr bwMode="auto">
            <a:xfrm>
              <a:off x="9741083" y="3093656"/>
              <a:ext cx="337112" cy="3228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18000" rIns="0" bIns="0"/>
            <a:lstStyle/>
            <a:p>
              <a:pPr algn="just" eaLnBrk="0" hangingPunct="0"/>
              <a:r>
                <a:rPr lang="en-US" altLang="zh-CN" sz="2400" b="1" dirty="0" smtClean="0">
                  <a:solidFill>
                    <a:srgbClr val="40404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13</a:t>
              </a:r>
              <a:endParaRPr lang="zh-CN" altLang="en-US" sz="2400" b="1" dirty="0">
                <a:solidFill>
                  <a:srgbClr val="40404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0" name="Text Box 116"/>
            <p:cNvSpPr txBox="1">
              <a:spLocks noChangeArrowheads="1"/>
            </p:cNvSpPr>
            <p:nvPr/>
          </p:nvSpPr>
          <p:spPr bwMode="auto">
            <a:xfrm>
              <a:off x="7506678" y="2950228"/>
              <a:ext cx="384175" cy="360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18000" rIns="0" bIns="0"/>
            <a:lstStyle/>
            <a:p>
              <a:pPr algn="just" eaLnBrk="0" hangingPunct="0"/>
              <a:r>
                <a:rPr lang="zh-CN" altLang="en-US" sz="2400" b="1" dirty="0">
                  <a:solidFill>
                    <a:srgbClr val="40404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10</a:t>
              </a:r>
              <a:endParaRPr lang="zh-CN" altLang="en-US" sz="2400" b="1" dirty="0">
                <a:solidFill>
                  <a:srgbClr val="40404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3620052" y="3998675"/>
            <a:ext cx="8008068" cy="1946938"/>
            <a:chOff x="3620052" y="3998675"/>
            <a:chExt cx="8008068" cy="1946938"/>
          </a:xfrm>
        </p:grpSpPr>
        <p:sp>
          <p:nvSpPr>
            <p:cNvPr id="84" name="AutoShape 135"/>
            <p:cNvSpPr>
              <a:spLocks noChangeArrowheads="1"/>
            </p:cNvSpPr>
            <p:nvPr/>
          </p:nvSpPr>
          <p:spPr bwMode="auto">
            <a:xfrm>
              <a:off x="8609256" y="3998675"/>
              <a:ext cx="1424939" cy="851654"/>
            </a:xfrm>
            <a:prstGeom prst="downArrow">
              <a:avLst>
                <a:gd name="adj1" fmla="val 68716"/>
                <a:gd name="adj2" fmla="val 25000"/>
              </a:avLst>
            </a:prstGeom>
            <a:noFill/>
            <a:ln w="28575">
              <a:solidFill>
                <a:srgbClr val="507D7D"/>
              </a:solidFill>
              <a:miter lim="800000"/>
            </a:ln>
            <a:effectLst/>
          </p:spPr>
          <p:txBody>
            <a:bodyPr wrap="square" anchor="ctr">
              <a:spAutoFit/>
            </a:bodyPr>
            <a:lstStyle/>
            <a:p>
              <a:pPr algn="l"/>
              <a:r>
                <a:rPr lang="zh-CN" altLang="en-US" sz="20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以编号</a:t>
              </a:r>
              <a:endParaRPr lang="zh-CN" altLang="en-US" sz="20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zh-CN" altLang="en-US" sz="20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为下标</a:t>
              </a:r>
              <a:endParaRPr lang="zh-CN" altLang="en-US" sz="20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2" name="Rectangle 57" descr="水滴"/>
            <p:cNvSpPr>
              <a:spLocks noChangeArrowheads="1"/>
            </p:cNvSpPr>
            <p:nvPr/>
          </p:nvSpPr>
          <p:spPr bwMode="auto">
            <a:xfrm>
              <a:off x="3620052" y="5441613"/>
              <a:ext cx="612000" cy="504000"/>
            </a:xfrm>
            <a:prstGeom prst="rect">
              <a:avLst/>
            </a:prstGeom>
            <a:noFill/>
            <a:ln w="28575">
              <a:solidFill>
                <a:srgbClr val="507D7D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1"/>
                    <a:srcRect/>
                    <a:tile tx="0" ty="0" sx="100000" sy="100000" flip="none" algn="tl"/>
                  </a:blip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r>
                <a:rPr kumimoji="1"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kumimoji="1"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kumimoji="1"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1" name="Rectangle 87"/>
            <p:cNvSpPr>
              <a:spLocks noChangeArrowheads="1"/>
            </p:cNvSpPr>
            <p:nvPr/>
          </p:nvSpPr>
          <p:spPr bwMode="auto">
            <a:xfrm>
              <a:off x="3783722" y="4982825"/>
              <a:ext cx="7844398" cy="4587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just"/>
              <a:r>
                <a:rPr kumimoji="1" lang="zh-CN" altLang="en-US" sz="24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1      2      </a:t>
              </a:r>
              <a:r>
                <a:rPr kumimoji="1"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      </a:t>
              </a:r>
              <a:r>
                <a:rPr kumimoji="1" lang="zh-CN" altLang="en-US" sz="24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4      5      6      7      8      9     10    </a:t>
              </a:r>
              <a:r>
                <a:rPr kumimoji="1" lang="en-US" altLang="zh-CN" sz="24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11    12    13 </a:t>
              </a:r>
              <a:endParaRPr kumimoji="1"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5" name="Rectangle 57" descr="水滴"/>
            <p:cNvSpPr>
              <a:spLocks noChangeArrowheads="1"/>
            </p:cNvSpPr>
            <p:nvPr/>
          </p:nvSpPr>
          <p:spPr bwMode="auto">
            <a:xfrm>
              <a:off x="4237791" y="5441613"/>
              <a:ext cx="612000" cy="504000"/>
            </a:xfrm>
            <a:prstGeom prst="rect">
              <a:avLst/>
            </a:prstGeom>
            <a:noFill/>
            <a:ln w="28575">
              <a:solidFill>
                <a:srgbClr val="507D7D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1"/>
                    <a:srcRect/>
                    <a:tile tx="0" ty="0" sx="100000" sy="100000" flip="none" algn="tl"/>
                  </a:blip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r>
                <a:rPr kumimoji="1"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kumimoji="1" lang="en-US" altLang="zh-CN" sz="24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kumimoji="1"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6" name="Rectangle 57" descr="水滴"/>
            <p:cNvSpPr>
              <a:spLocks noChangeArrowheads="1"/>
            </p:cNvSpPr>
            <p:nvPr/>
          </p:nvSpPr>
          <p:spPr bwMode="auto">
            <a:xfrm>
              <a:off x="4838750" y="5441613"/>
              <a:ext cx="612000" cy="504000"/>
            </a:xfrm>
            <a:prstGeom prst="rect">
              <a:avLst/>
            </a:prstGeom>
            <a:noFill/>
            <a:ln w="28575">
              <a:solidFill>
                <a:srgbClr val="507D7D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1"/>
                    <a:srcRect/>
                    <a:tile tx="0" ty="0" sx="100000" sy="100000" flip="none" algn="tl"/>
                  </a:blip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r>
                <a:rPr kumimoji="1"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kumimoji="1" lang="en-US" altLang="zh-CN" sz="24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kumimoji="1"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7" name="Rectangle 57" descr="水滴"/>
            <p:cNvSpPr>
              <a:spLocks noChangeArrowheads="1"/>
            </p:cNvSpPr>
            <p:nvPr/>
          </p:nvSpPr>
          <p:spPr bwMode="auto">
            <a:xfrm>
              <a:off x="5456489" y="5441613"/>
              <a:ext cx="612000" cy="504000"/>
            </a:xfrm>
            <a:prstGeom prst="rect">
              <a:avLst/>
            </a:prstGeom>
            <a:noFill/>
            <a:ln w="28575">
              <a:solidFill>
                <a:srgbClr val="507D7D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1"/>
                    <a:srcRect/>
                    <a:tile tx="0" ty="0" sx="100000" sy="100000" flip="none" algn="tl"/>
                  </a:blip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r>
                <a:rPr kumimoji="1"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kumimoji="1" lang="zh-CN" altLang="en-US" sz="24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∧</a:t>
              </a:r>
              <a:endParaRPr kumimoji="1"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8" name="Rectangle 57" descr="水滴"/>
            <p:cNvSpPr>
              <a:spLocks noChangeArrowheads="1"/>
            </p:cNvSpPr>
            <p:nvPr/>
          </p:nvSpPr>
          <p:spPr bwMode="auto">
            <a:xfrm>
              <a:off x="6069758" y="5441613"/>
              <a:ext cx="612000" cy="504000"/>
            </a:xfrm>
            <a:prstGeom prst="rect">
              <a:avLst/>
            </a:prstGeom>
            <a:noFill/>
            <a:ln w="28575">
              <a:solidFill>
                <a:srgbClr val="507D7D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1"/>
                    <a:srcRect/>
                    <a:tile tx="0" ty="0" sx="100000" sy="100000" flip="none" algn="tl"/>
                  </a:blip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r>
                <a:rPr kumimoji="1"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kumimoji="1" lang="en-US" altLang="zh-CN" sz="24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kumimoji="1"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9" name="Rectangle 57" descr="水滴"/>
            <p:cNvSpPr>
              <a:spLocks noChangeArrowheads="1"/>
            </p:cNvSpPr>
            <p:nvPr/>
          </p:nvSpPr>
          <p:spPr bwMode="auto">
            <a:xfrm>
              <a:off x="6687497" y="5441613"/>
              <a:ext cx="612000" cy="504000"/>
            </a:xfrm>
            <a:prstGeom prst="rect">
              <a:avLst/>
            </a:prstGeom>
            <a:noFill/>
            <a:ln w="28575">
              <a:solidFill>
                <a:srgbClr val="507D7D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1"/>
                    <a:srcRect/>
                    <a:tile tx="0" ty="0" sx="100000" sy="100000" flip="none" algn="tl"/>
                  </a:blip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r>
                <a:rPr kumimoji="1"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kumimoji="1" lang="en-US" altLang="zh-CN" sz="24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endParaRPr kumimoji="1"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0" name="Rectangle 57" descr="水滴"/>
            <p:cNvSpPr>
              <a:spLocks noChangeArrowheads="1"/>
            </p:cNvSpPr>
            <p:nvPr/>
          </p:nvSpPr>
          <p:spPr bwMode="auto">
            <a:xfrm>
              <a:off x="7303696" y="5441613"/>
              <a:ext cx="612000" cy="504000"/>
            </a:xfrm>
            <a:prstGeom prst="rect">
              <a:avLst/>
            </a:prstGeom>
            <a:noFill/>
            <a:ln w="28575">
              <a:solidFill>
                <a:srgbClr val="507D7D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1"/>
                    <a:srcRect/>
                    <a:tile tx="0" ty="0" sx="100000" sy="100000" flip="none" algn="tl"/>
                  </a:blip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r>
                <a:rPr kumimoji="1" lang="zh-CN" altLang="en-US" sz="24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∧</a:t>
              </a:r>
              <a:endParaRPr kumimoji="1"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1" name="Rectangle 57" descr="水滴"/>
            <p:cNvSpPr>
              <a:spLocks noChangeArrowheads="1"/>
            </p:cNvSpPr>
            <p:nvPr/>
          </p:nvSpPr>
          <p:spPr bwMode="auto">
            <a:xfrm>
              <a:off x="7906195" y="5441613"/>
              <a:ext cx="612000" cy="504000"/>
            </a:xfrm>
            <a:prstGeom prst="rect">
              <a:avLst/>
            </a:prstGeom>
            <a:noFill/>
            <a:ln w="28575">
              <a:solidFill>
                <a:srgbClr val="507D7D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1"/>
                    <a:srcRect/>
                    <a:tile tx="0" ty="0" sx="100000" sy="100000" flip="none" algn="tl"/>
                  </a:blip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r>
                <a:rPr kumimoji="1"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kumimoji="1" lang="zh-CN" altLang="en-US" sz="24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∧</a:t>
              </a:r>
              <a:endParaRPr kumimoji="1"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2" name="Rectangle 57" descr="水滴"/>
            <p:cNvSpPr>
              <a:spLocks noChangeArrowheads="1"/>
            </p:cNvSpPr>
            <p:nvPr/>
          </p:nvSpPr>
          <p:spPr bwMode="auto">
            <a:xfrm>
              <a:off x="8523715" y="5441613"/>
              <a:ext cx="612000" cy="504000"/>
            </a:xfrm>
            <a:prstGeom prst="rect">
              <a:avLst/>
            </a:prstGeom>
            <a:noFill/>
            <a:ln w="28575">
              <a:solidFill>
                <a:srgbClr val="507D7D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1"/>
                    <a:srcRect/>
                    <a:tile tx="0" ty="0" sx="100000" sy="100000" flip="none" algn="tl"/>
                  </a:blip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r>
                <a:rPr kumimoji="1"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kumimoji="1" lang="zh-CN" altLang="en-US" sz="24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∧</a:t>
              </a:r>
              <a:endParaRPr kumimoji="1"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3" name="Rectangle 57" descr="水滴"/>
            <p:cNvSpPr>
              <a:spLocks noChangeArrowheads="1"/>
            </p:cNvSpPr>
            <p:nvPr/>
          </p:nvSpPr>
          <p:spPr bwMode="auto">
            <a:xfrm>
              <a:off x="9126214" y="5441613"/>
              <a:ext cx="612000" cy="504000"/>
            </a:xfrm>
            <a:prstGeom prst="rect">
              <a:avLst/>
            </a:prstGeom>
            <a:noFill/>
            <a:ln w="28575">
              <a:solidFill>
                <a:srgbClr val="507D7D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1"/>
                    <a:srcRect/>
                    <a:tile tx="0" ty="0" sx="100000" sy="100000" flip="none" algn="tl"/>
                  </a:blip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r>
                <a:rPr kumimoji="1"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kumimoji="1" lang="en-US" altLang="zh-CN" sz="24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endParaRPr kumimoji="1"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6" name="Rectangle 57" descr="水滴"/>
            <p:cNvSpPr>
              <a:spLocks noChangeArrowheads="1"/>
            </p:cNvSpPr>
            <p:nvPr/>
          </p:nvSpPr>
          <p:spPr bwMode="auto">
            <a:xfrm>
              <a:off x="9738214" y="5441613"/>
              <a:ext cx="612000" cy="504000"/>
            </a:xfrm>
            <a:prstGeom prst="rect">
              <a:avLst/>
            </a:prstGeom>
            <a:noFill/>
            <a:ln w="28575">
              <a:solidFill>
                <a:srgbClr val="507D7D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1"/>
                    <a:srcRect/>
                    <a:tile tx="0" ty="0" sx="100000" sy="100000" flip="none" algn="tl"/>
                  </a:blip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r>
                <a:rPr kumimoji="1"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kumimoji="1" lang="zh-CN" altLang="en-US" sz="24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∧</a:t>
              </a:r>
              <a:endParaRPr kumimoji="1"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7" name="Rectangle 57" descr="水滴"/>
            <p:cNvSpPr>
              <a:spLocks noChangeArrowheads="1"/>
            </p:cNvSpPr>
            <p:nvPr/>
          </p:nvSpPr>
          <p:spPr bwMode="auto">
            <a:xfrm>
              <a:off x="10350214" y="5441613"/>
              <a:ext cx="612000" cy="504000"/>
            </a:xfrm>
            <a:prstGeom prst="rect">
              <a:avLst/>
            </a:prstGeom>
            <a:noFill/>
            <a:ln w="28575">
              <a:solidFill>
                <a:srgbClr val="507D7D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1"/>
                    <a:srcRect/>
                    <a:tile tx="0" ty="0" sx="100000" sy="100000" flip="none" algn="tl"/>
                  </a:blip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r>
                <a:rPr kumimoji="1"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kumimoji="1" lang="zh-CN" altLang="en-US" sz="24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∧</a:t>
              </a:r>
              <a:endParaRPr kumimoji="1"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8" name="Rectangle 57" descr="水滴"/>
            <p:cNvSpPr>
              <a:spLocks noChangeArrowheads="1"/>
            </p:cNvSpPr>
            <p:nvPr/>
          </p:nvSpPr>
          <p:spPr bwMode="auto">
            <a:xfrm>
              <a:off x="10962214" y="5441613"/>
              <a:ext cx="612000" cy="504000"/>
            </a:xfrm>
            <a:prstGeom prst="rect">
              <a:avLst/>
            </a:prstGeom>
            <a:noFill/>
            <a:ln w="28575">
              <a:solidFill>
                <a:srgbClr val="507D7D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1"/>
                    <a:srcRect/>
                    <a:tile tx="0" ty="0" sx="100000" sy="100000" flip="none" algn="tl"/>
                  </a:blip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r>
                <a:rPr kumimoji="1"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kumimoji="1" lang="en-US" altLang="zh-CN" sz="24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G</a:t>
              </a:r>
              <a:endParaRPr kumimoji="1"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8" name="矩形 7"/>
          <p:cNvSpPr/>
          <p:nvPr/>
        </p:nvSpPr>
        <p:spPr>
          <a:xfrm>
            <a:off x="1263008" y="1823697"/>
            <a:ext cx="5535292" cy="2785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500"/>
              </a:lnSpc>
            </a:pPr>
            <a:r>
              <a:rPr lang="zh-CN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将二叉树按完全二叉树</a:t>
            </a:r>
            <a:r>
              <a:rPr lang="zh-CN" altLang="zh-CN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编号</a:t>
            </a:r>
            <a:r>
              <a:rPr lang="zh-CN" altLang="en-US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endParaRPr lang="en-US" altLang="zh-CN" sz="2400" dirty="0" smtClean="0">
              <a:solidFill>
                <a:srgbClr val="40404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3500"/>
              </a:lnSpc>
            </a:pPr>
            <a:r>
              <a:rPr lang="zh-CN" altLang="en-US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zh-CN" altLang="zh-CN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根</a:t>
            </a:r>
            <a:r>
              <a:rPr lang="zh-CN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结点的编号</a:t>
            </a:r>
            <a:r>
              <a:rPr lang="zh-CN" altLang="zh-CN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</a:t>
            </a:r>
            <a:r>
              <a:rPr lang="en-US" altLang="zh-CN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1</a:t>
            </a:r>
            <a:endParaRPr lang="en-US" altLang="zh-CN" sz="2400" dirty="0" smtClean="0">
              <a:solidFill>
                <a:srgbClr val="40404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3500"/>
              </a:lnSpc>
            </a:pPr>
            <a:r>
              <a:rPr lang="zh-CN" altLang="en-US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zh-CN" altLang="zh-CN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若</a:t>
            </a:r>
            <a:r>
              <a:rPr lang="zh-CN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某</a:t>
            </a:r>
            <a:r>
              <a:rPr lang="zh-CN" altLang="zh-CN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结点</a:t>
            </a:r>
            <a:r>
              <a:rPr lang="en-US" altLang="zh-CN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i="1" dirty="0" err="1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400" i="1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zh-CN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有</a:t>
            </a:r>
            <a:r>
              <a:rPr lang="zh-CN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左孩子，则其左孩子的编号</a:t>
            </a:r>
            <a:r>
              <a:rPr lang="zh-CN" altLang="zh-CN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</a:t>
            </a:r>
            <a:r>
              <a:rPr lang="en-US" altLang="zh-CN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2</a:t>
            </a:r>
            <a:r>
              <a:rPr lang="en-US" altLang="zh-CN" sz="2400" i="1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endParaRPr lang="en-US" altLang="zh-CN" sz="2400" i="1" dirty="0" smtClean="0">
              <a:solidFill>
                <a:srgbClr val="40404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3500"/>
              </a:lnSpc>
            </a:pPr>
            <a:r>
              <a:rPr lang="zh-CN" altLang="en-US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zh-CN" altLang="zh-CN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若</a:t>
            </a:r>
            <a:r>
              <a:rPr lang="zh-CN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某</a:t>
            </a:r>
            <a:r>
              <a:rPr lang="zh-CN" altLang="zh-CN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结点</a:t>
            </a:r>
            <a:r>
              <a:rPr lang="en-US" altLang="zh-CN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i="1" dirty="0" err="1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400" i="1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zh-CN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有</a:t>
            </a:r>
            <a:r>
              <a:rPr lang="zh-CN" altLang="zh-CN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右孩子，则其右孩子的编号</a:t>
            </a:r>
            <a:r>
              <a:rPr lang="zh-CN" altLang="zh-CN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</a:t>
            </a:r>
            <a:r>
              <a:rPr lang="en-US" altLang="zh-CN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2</a:t>
            </a:r>
            <a:r>
              <a:rPr lang="en-US" altLang="zh-CN" sz="2400" i="1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+1</a:t>
            </a:r>
            <a:endParaRPr lang="zh-CN" altLang="zh-CN" sz="2400" dirty="0">
              <a:solidFill>
                <a:srgbClr val="40404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850350" y="952588"/>
            <a:ext cx="6855571" cy="523220"/>
            <a:chOff x="1826091" y="4148024"/>
            <a:chExt cx="6855571" cy="523220"/>
          </a:xfrm>
        </p:grpSpPr>
        <p:sp>
          <p:nvSpPr>
            <p:cNvPr id="48" name="Text Box 11"/>
            <p:cNvSpPr txBox="1">
              <a:spLocks noChangeArrowheads="1"/>
            </p:cNvSpPr>
            <p:nvPr/>
          </p:nvSpPr>
          <p:spPr bwMode="auto">
            <a:xfrm>
              <a:off x="2385059" y="4148024"/>
              <a:ext cx="6296603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对于</a:t>
              </a:r>
              <a:r>
                <a:rPr lang="zh-CN" altLang="en-US" sz="2800" dirty="0" smtClean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普通的二叉树，如何顺序存储呢？</a:t>
              </a:r>
              <a:endPara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55" name="Group 31"/>
            <p:cNvGrpSpPr/>
            <p:nvPr/>
          </p:nvGrpSpPr>
          <p:grpSpPr>
            <a:xfrm>
              <a:off x="1826091" y="4213620"/>
              <a:ext cx="465732" cy="432000"/>
              <a:chOff x="8686801" y="2019300"/>
              <a:chExt cx="528638" cy="565150"/>
            </a:xfrm>
            <a:solidFill>
              <a:srgbClr val="5A327D"/>
            </a:solidFill>
          </p:grpSpPr>
          <p:sp>
            <p:nvSpPr>
              <p:cNvPr id="58" name="Freeform 32"/>
              <p:cNvSpPr/>
              <p:nvPr/>
            </p:nvSpPr>
            <p:spPr bwMode="auto">
              <a:xfrm>
                <a:off x="8785226" y="2501900"/>
                <a:ext cx="331788" cy="82550"/>
              </a:xfrm>
              <a:custGeom>
                <a:avLst/>
                <a:gdLst>
                  <a:gd name="T0" fmla="*/ 121 w 122"/>
                  <a:gd name="T1" fmla="*/ 24 h 30"/>
                  <a:gd name="T2" fmla="*/ 107 w 122"/>
                  <a:gd name="T3" fmla="*/ 2 h 30"/>
                  <a:gd name="T4" fmla="*/ 104 w 122"/>
                  <a:gd name="T5" fmla="*/ 0 h 30"/>
                  <a:gd name="T6" fmla="*/ 62 w 122"/>
                  <a:gd name="T7" fmla="*/ 0 h 30"/>
                  <a:gd name="T8" fmla="*/ 60 w 122"/>
                  <a:gd name="T9" fmla="*/ 0 h 30"/>
                  <a:gd name="T10" fmla="*/ 18 w 122"/>
                  <a:gd name="T11" fmla="*/ 0 h 30"/>
                  <a:gd name="T12" fmla="*/ 15 w 122"/>
                  <a:gd name="T13" fmla="*/ 2 h 30"/>
                  <a:gd name="T14" fmla="*/ 1 w 122"/>
                  <a:gd name="T15" fmla="*/ 24 h 30"/>
                  <a:gd name="T16" fmla="*/ 2 w 122"/>
                  <a:gd name="T17" fmla="*/ 29 h 30"/>
                  <a:gd name="T18" fmla="*/ 4 w 122"/>
                  <a:gd name="T19" fmla="*/ 30 h 30"/>
                  <a:gd name="T20" fmla="*/ 8 w 122"/>
                  <a:gd name="T21" fmla="*/ 28 h 30"/>
                  <a:gd name="T22" fmla="*/ 20 w 122"/>
                  <a:gd name="T23" fmla="*/ 8 h 30"/>
                  <a:gd name="T24" fmla="*/ 60 w 122"/>
                  <a:gd name="T25" fmla="*/ 8 h 30"/>
                  <a:gd name="T26" fmla="*/ 62 w 122"/>
                  <a:gd name="T27" fmla="*/ 8 h 30"/>
                  <a:gd name="T28" fmla="*/ 102 w 122"/>
                  <a:gd name="T29" fmla="*/ 8 h 30"/>
                  <a:gd name="T30" fmla="*/ 114 w 122"/>
                  <a:gd name="T31" fmla="*/ 28 h 30"/>
                  <a:gd name="T32" fmla="*/ 118 w 122"/>
                  <a:gd name="T33" fmla="*/ 30 h 30"/>
                  <a:gd name="T34" fmla="*/ 120 w 122"/>
                  <a:gd name="T35" fmla="*/ 29 h 30"/>
                  <a:gd name="T36" fmla="*/ 121 w 122"/>
                  <a:gd name="T37" fmla="*/ 24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2" h="30">
                    <a:moveTo>
                      <a:pt x="121" y="24"/>
                    </a:moveTo>
                    <a:cubicBezTo>
                      <a:pt x="107" y="2"/>
                      <a:pt x="107" y="2"/>
                      <a:pt x="107" y="2"/>
                    </a:cubicBezTo>
                    <a:cubicBezTo>
                      <a:pt x="106" y="1"/>
                      <a:pt x="105" y="0"/>
                      <a:pt x="104" y="0"/>
                    </a:cubicBezTo>
                    <a:cubicBezTo>
                      <a:pt x="62" y="0"/>
                      <a:pt x="62" y="0"/>
                      <a:pt x="62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7" y="0"/>
                      <a:pt x="15" y="1"/>
                      <a:pt x="15" y="2"/>
                    </a:cubicBezTo>
                    <a:cubicBezTo>
                      <a:pt x="1" y="24"/>
                      <a:pt x="1" y="24"/>
                      <a:pt x="1" y="24"/>
                    </a:cubicBezTo>
                    <a:cubicBezTo>
                      <a:pt x="0" y="26"/>
                      <a:pt x="0" y="28"/>
                      <a:pt x="2" y="29"/>
                    </a:cubicBezTo>
                    <a:cubicBezTo>
                      <a:pt x="3" y="30"/>
                      <a:pt x="3" y="30"/>
                      <a:pt x="4" y="30"/>
                    </a:cubicBezTo>
                    <a:cubicBezTo>
                      <a:pt x="6" y="30"/>
                      <a:pt x="7" y="29"/>
                      <a:pt x="8" y="28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60" y="8"/>
                      <a:pt x="60" y="8"/>
                      <a:pt x="60" y="8"/>
                    </a:cubicBezTo>
                    <a:cubicBezTo>
                      <a:pt x="62" y="8"/>
                      <a:pt x="62" y="8"/>
                      <a:pt x="62" y="8"/>
                    </a:cubicBezTo>
                    <a:cubicBezTo>
                      <a:pt x="102" y="8"/>
                      <a:pt x="102" y="8"/>
                      <a:pt x="102" y="8"/>
                    </a:cubicBezTo>
                    <a:cubicBezTo>
                      <a:pt x="114" y="28"/>
                      <a:pt x="114" y="28"/>
                      <a:pt x="114" y="28"/>
                    </a:cubicBezTo>
                    <a:cubicBezTo>
                      <a:pt x="115" y="29"/>
                      <a:pt x="116" y="30"/>
                      <a:pt x="118" y="30"/>
                    </a:cubicBezTo>
                    <a:cubicBezTo>
                      <a:pt x="118" y="30"/>
                      <a:pt x="119" y="30"/>
                      <a:pt x="120" y="29"/>
                    </a:cubicBezTo>
                    <a:cubicBezTo>
                      <a:pt x="122" y="28"/>
                      <a:pt x="122" y="26"/>
                      <a:pt x="121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9" name="Freeform 33"/>
              <p:cNvSpPr/>
              <p:nvPr/>
            </p:nvSpPr>
            <p:spPr bwMode="auto">
              <a:xfrm>
                <a:off x="8686801" y="2019300"/>
                <a:ext cx="165100" cy="149225"/>
              </a:xfrm>
              <a:custGeom>
                <a:avLst/>
                <a:gdLst>
                  <a:gd name="T0" fmla="*/ 33 w 61"/>
                  <a:gd name="T1" fmla="*/ 0 h 55"/>
                  <a:gd name="T2" fmla="*/ 0 w 61"/>
                  <a:gd name="T3" fmla="*/ 33 h 55"/>
                  <a:gd name="T4" fmla="*/ 7 w 61"/>
                  <a:gd name="T5" fmla="*/ 54 h 55"/>
                  <a:gd name="T6" fmla="*/ 10 w 61"/>
                  <a:gd name="T7" fmla="*/ 55 h 55"/>
                  <a:gd name="T8" fmla="*/ 13 w 61"/>
                  <a:gd name="T9" fmla="*/ 55 h 55"/>
                  <a:gd name="T10" fmla="*/ 59 w 61"/>
                  <a:gd name="T11" fmla="*/ 19 h 55"/>
                  <a:gd name="T12" fmla="*/ 60 w 61"/>
                  <a:gd name="T13" fmla="*/ 13 h 55"/>
                  <a:gd name="T14" fmla="*/ 33 w 61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55">
                    <a:moveTo>
                      <a:pt x="33" y="0"/>
                    </a:moveTo>
                    <a:cubicBezTo>
                      <a:pt x="15" y="0"/>
                      <a:pt x="0" y="15"/>
                      <a:pt x="0" y="33"/>
                    </a:cubicBezTo>
                    <a:cubicBezTo>
                      <a:pt x="0" y="41"/>
                      <a:pt x="2" y="48"/>
                      <a:pt x="7" y="54"/>
                    </a:cubicBezTo>
                    <a:cubicBezTo>
                      <a:pt x="8" y="55"/>
                      <a:pt x="9" y="55"/>
                      <a:pt x="10" y="55"/>
                    </a:cubicBezTo>
                    <a:cubicBezTo>
                      <a:pt x="11" y="55"/>
                      <a:pt x="12" y="55"/>
                      <a:pt x="13" y="55"/>
                    </a:cubicBezTo>
                    <a:cubicBezTo>
                      <a:pt x="59" y="19"/>
                      <a:pt x="59" y="19"/>
                      <a:pt x="59" y="19"/>
                    </a:cubicBezTo>
                    <a:cubicBezTo>
                      <a:pt x="61" y="17"/>
                      <a:pt x="61" y="15"/>
                      <a:pt x="60" y="13"/>
                    </a:cubicBezTo>
                    <a:cubicBezTo>
                      <a:pt x="54" y="5"/>
                      <a:pt x="44" y="0"/>
                      <a:pt x="3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1" name="Freeform 34"/>
              <p:cNvSpPr/>
              <p:nvPr/>
            </p:nvSpPr>
            <p:spPr bwMode="auto">
              <a:xfrm>
                <a:off x="9048751" y="2019300"/>
                <a:ext cx="166688" cy="149225"/>
              </a:xfrm>
              <a:custGeom>
                <a:avLst/>
                <a:gdLst>
                  <a:gd name="T0" fmla="*/ 28 w 61"/>
                  <a:gd name="T1" fmla="*/ 0 h 55"/>
                  <a:gd name="T2" fmla="*/ 1 w 61"/>
                  <a:gd name="T3" fmla="*/ 13 h 55"/>
                  <a:gd name="T4" fmla="*/ 2 w 61"/>
                  <a:gd name="T5" fmla="*/ 19 h 55"/>
                  <a:gd name="T6" fmla="*/ 48 w 61"/>
                  <a:gd name="T7" fmla="*/ 55 h 55"/>
                  <a:gd name="T8" fmla="*/ 51 w 61"/>
                  <a:gd name="T9" fmla="*/ 55 h 55"/>
                  <a:gd name="T10" fmla="*/ 54 w 61"/>
                  <a:gd name="T11" fmla="*/ 54 h 55"/>
                  <a:gd name="T12" fmla="*/ 61 w 61"/>
                  <a:gd name="T13" fmla="*/ 33 h 55"/>
                  <a:gd name="T14" fmla="*/ 28 w 61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55">
                    <a:moveTo>
                      <a:pt x="28" y="0"/>
                    </a:moveTo>
                    <a:cubicBezTo>
                      <a:pt x="17" y="0"/>
                      <a:pt x="7" y="5"/>
                      <a:pt x="1" y="13"/>
                    </a:cubicBezTo>
                    <a:cubicBezTo>
                      <a:pt x="0" y="15"/>
                      <a:pt x="0" y="17"/>
                      <a:pt x="2" y="19"/>
                    </a:cubicBezTo>
                    <a:cubicBezTo>
                      <a:pt x="48" y="55"/>
                      <a:pt x="48" y="55"/>
                      <a:pt x="48" y="55"/>
                    </a:cubicBezTo>
                    <a:cubicBezTo>
                      <a:pt x="49" y="55"/>
                      <a:pt x="50" y="55"/>
                      <a:pt x="51" y="55"/>
                    </a:cubicBezTo>
                    <a:cubicBezTo>
                      <a:pt x="52" y="55"/>
                      <a:pt x="53" y="55"/>
                      <a:pt x="54" y="54"/>
                    </a:cubicBezTo>
                    <a:cubicBezTo>
                      <a:pt x="58" y="48"/>
                      <a:pt x="61" y="41"/>
                      <a:pt x="61" y="33"/>
                    </a:cubicBezTo>
                    <a:cubicBezTo>
                      <a:pt x="61" y="15"/>
                      <a:pt x="46" y="0"/>
                      <a:pt x="2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2" name="Freeform 223"/>
              <p:cNvSpPr>
                <a:spLocks noEditPoints="1"/>
              </p:cNvSpPr>
              <p:nvPr/>
            </p:nvSpPr>
            <p:spPr bwMode="auto">
              <a:xfrm>
                <a:off x="8743951" y="2073275"/>
                <a:ext cx="411163" cy="414338"/>
              </a:xfrm>
              <a:custGeom>
                <a:avLst/>
                <a:gdLst>
                  <a:gd name="T0" fmla="*/ 76 w 151"/>
                  <a:gd name="T1" fmla="*/ 0 h 152"/>
                  <a:gd name="T2" fmla="*/ 0 w 151"/>
                  <a:gd name="T3" fmla="*/ 76 h 152"/>
                  <a:gd name="T4" fmla="*/ 76 w 151"/>
                  <a:gd name="T5" fmla="*/ 152 h 152"/>
                  <a:gd name="T6" fmla="*/ 151 w 151"/>
                  <a:gd name="T7" fmla="*/ 76 h 152"/>
                  <a:gd name="T8" fmla="*/ 76 w 151"/>
                  <a:gd name="T9" fmla="*/ 0 h 152"/>
                  <a:gd name="T10" fmla="*/ 104 w 151"/>
                  <a:gd name="T11" fmla="*/ 82 h 152"/>
                  <a:gd name="T12" fmla="*/ 77 w 151"/>
                  <a:gd name="T13" fmla="*/ 82 h 152"/>
                  <a:gd name="T14" fmla="*/ 71 w 151"/>
                  <a:gd name="T15" fmla="*/ 76 h 152"/>
                  <a:gd name="T16" fmla="*/ 71 w 151"/>
                  <a:gd name="T17" fmla="*/ 24 h 152"/>
                  <a:gd name="T18" fmla="*/ 77 w 151"/>
                  <a:gd name="T19" fmla="*/ 18 h 152"/>
                  <a:gd name="T20" fmla="*/ 83 w 151"/>
                  <a:gd name="T21" fmla="*/ 24 h 152"/>
                  <a:gd name="T22" fmla="*/ 83 w 151"/>
                  <a:gd name="T23" fmla="*/ 70 h 152"/>
                  <a:gd name="T24" fmla="*/ 104 w 151"/>
                  <a:gd name="T25" fmla="*/ 70 h 152"/>
                  <a:gd name="T26" fmla="*/ 110 w 151"/>
                  <a:gd name="T27" fmla="*/ 76 h 152"/>
                  <a:gd name="T28" fmla="*/ 104 w 151"/>
                  <a:gd name="T29" fmla="*/ 82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51" h="152">
                    <a:moveTo>
                      <a:pt x="76" y="0"/>
                    </a:moveTo>
                    <a:cubicBezTo>
                      <a:pt x="34" y="0"/>
                      <a:pt x="0" y="34"/>
                      <a:pt x="0" y="76"/>
                    </a:cubicBezTo>
                    <a:cubicBezTo>
                      <a:pt x="0" y="118"/>
                      <a:pt x="34" y="152"/>
                      <a:pt x="76" y="152"/>
                    </a:cubicBezTo>
                    <a:cubicBezTo>
                      <a:pt x="118" y="152"/>
                      <a:pt x="151" y="118"/>
                      <a:pt x="151" y="76"/>
                    </a:cubicBezTo>
                    <a:cubicBezTo>
                      <a:pt x="151" y="34"/>
                      <a:pt x="118" y="0"/>
                      <a:pt x="76" y="0"/>
                    </a:cubicBezTo>
                    <a:close/>
                    <a:moveTo>
                      <a:pt x="104" y="82"/>
                    </a:moveTo>
                    <a:cubicBezTo>
                      <a:pt x="77" y="82"/>
                      <a:pt x="77" y="82"/>
                      <a:pt x="77" y="82"/>
                    </a:cubicBezTo>
                    <a:cubicBezTo>
                      <a:pt x="73" y="82"/>
                      <a:pt x="71" y="79"/>
                      <a:pt x="71" y="76"/>
                    </a:cubicBezTo>
                    <a:cubicBezTo>
                      <a:pt x="71" y="24"/>
                      <a:pt x="71" y="24"/>
                      <a:pt x="71" y="24"/>
                    </a:cubicBezTo>
                    <a:cubicBezTo>
                      <a:pt x="71" y="21"/>
                      <a:pt x="73" y="18"/>
                      <a:pt x="77" y="18"/>
                    </a:cubicBezTo>
                    <a:cubicBezTo>
                      <a:pt x="80" y="18"/>
                      <a:pt x="83" y="21"/>
                      <a:pt x="83" y="24"/>
                    </a:cubicBezTo>
                    <a:cubicBezTo>
                      <a:pt x="83" y="70"/>
                      <a:pt x="83" y="70"/>
                      <a:pt x="83" y="70"/>
                    </a:cubicBezTo>
                    <a:cubicBezTo>
                      <a:pt x="104" y="70"/>
                      <a:pt x="104" y="70"/>
                      <a:pt x="104" y="70"/>
                    </a:cubicBezTo>
                    <a:cubicBezTo>
                      <a:pt x="107" y="70"/>
                      <a:pt x="110" y="72"/>
                      <a:pt x="110" y="76"/>
                    </a:cubicBezTo>
                    <a:cubicBezTo>
                      <a:pt x="110" y="79"/>
                      <a:pt x="107" y="82"/>
                      <a:pt x="104" y="8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ounded Rectangle 10"/>
          <p:cNvSpPr/>
          <p:nvPr/>
        </p:nvSpPr>
        <p:spPr>
          <a:xfrm>
            <a:off x="542923" y="100964"/>
            <a:ext cx="4500000" cy="540000"/>
          </a:xfrm>
          <a:prstGeom prst="roundRect">
            <a:avLst/>
          </a:prstGeom>
          <a:solidFill>
            <a:srgbClr val="5A32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Text Box 2"/>
          <p:cNvSpPr txBox="1">
            <a:spLocks noChangeArrowheads="1"/>
          </p:cNvSpPr>
          <p:nvPr/>
        </p:nvSpPr>
        <p:spPr bwMode="auto">
          <a:xfrm>
            <a:off x="638168" y="61585"/>
            <a:ext cx="433007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二叉树的顺序存储结构</a:t>
            </a:r>
            <a:endParaRPr lang="zh-CN" altLang="en-US" sz="32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9" name="Text Box 27" descr="水滴"/>
          <p:cNvSpPr txBox="1">
            <a:spLocks noChangeArrowheads="1"/>
          </p:cNvSpPr>
          <p:nvPr/>
        </p:nvSpPr>
        <p:spPr bwMode="auto">
          <a:xfrm>
            <a:off x="1512822" y="4954949"/>
            <a:ext cx="7740967" cy="738664"/>
          </a:xfrm>
          <a:prstGeom prst="rect">
            <a:avLst/>
          </a:prstGeom>
          <a:noFill/>
          <a:ln w="28575">
            <a:solidFill>
              <a:srgbClr val="5C307D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1"/>
                  <a:srcRect/>
                  <a:tile tx="0" ty="0" sx="100000" sy="100000" flip="none" algn="tl"/>
                </a:blip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 anchorCtr="0">
            <a:spAutoFit/>
          </a:bodyPr>
          <a:lstStyle/>
          <a:p>
            <a:pPr algn="ctr" eaLnBrk="0" hangingPunc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二叉树的顺序存储结构一般仅存储</a:t>
            </a:r>
            <a:r>
              <a:rPr lang="zh-CN" altLang="en-US" sz="2800" dirty="0">
                <a:solidFill>
                  <a:srgbClr val="B42D2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完全二叉树</a:t>
            </a:r>
            <a:endParaRPr lang="zh-CN" altLang="en-US" sz="2800" dirty="0">
              <a:solidFill>
                <a:srgbClr val="B42D2D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83" name="组合 82"/>
          <p:cNvGrpSpPr/>
          <p:nvPr/>
        </p:nvGrpSpPr>
        <p:grpSpPr>
          <a:xfrm>
            <a:off x="850350" y="952588"/>
            <a:ext cx="7197526" cy="523220"/>
            <a:chOff x="1826091" y="4148024"/>
            <a:chExt cx="7197526" cy="523220"/>
          </a:xfrm>
        </p:grpSpPr>
        <p:sp>
          <p:nvSpPr>
            <p:cNvPr id="94" name="Text Box 11"/>
            <p:cNvSpPr txBox="1">
              <a:spLocks noChangeArrowheads="1"/>
            </p:cNvSpPr>
            <p:nvPr/>
          </p:nvSpPr>
          <p:spPr bwMode="auto">
            <a:xfrm>
              <a:off x="2385059" y="4148024"/>
              <a:ext cx="6638558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 smtClean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顺序存储一棵右斜树会发生什么情况？</a:t>
              </a:r>
              <a:endPara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95" name="Group 31"/>
            <p:cNvGrpSpPr/>
            <p:nvPr/>
          </p:nvGrpSpPr>
          <p:grpSpPr>
            <a:xfrm>
              <a:off x="1826091" y="4213620"/>
              <a:ext cx="465732" cy="432000"/>
              <a:chOff x="8686801" y="2019300"/>
              <a:chExt cx="528638" cy="565150"/>
            </a:xfrm>
            <a:solidFill>
              <a:srgbClr val="5A327D"/>
            </a:solidFill>
          </p:grpSpPr>
          <p:sp>
            <p:nvSpPr>
              <p:cNvPr id="96" name="Freeform 32"/>
              <p:cNvSpPr/>
              <p:nvPr/>
            </p:nvSpPr>
            <p:spPr bwMode="auto">
              <a:xfrm>
                <a:off x="8785226" y="2501900"/>
                <a:ext cx="331788" cy="82550"/>
              </a:xfrm>
              <a:custGeom>
                <a:avLst/>
                <a:gdLst>
                  <a:gd name="T0" fmla="*/ 121 w 122"/>
                  <a:gd name="T1" fmla="*/ 24 h 30"/>
                  <a:gd name="T2" fmla="*/ 107 w 122"/>
                  <a:gd name="T3" fmla="*/ 2 h 30"/>
                  <a:gd name="T4" fmla="*/ 104 w 122"/>
                  <a:gd name="T5" fmla="*/ 0 h 30"/>
                  <a:gd name="T6" fmla="*/ 62 w 122"/>
                  <a:gd name="T7" fmla="*/ 0 h 30"/>
                  <a:gd name="T8" fmla="*/ 60 w 122"/>
                  <a:gd name="T9" fmla="*/ 0 h 30"/>
                  <a:gd name="T10" fmla="*/ 18 w 122"/>
                  <a:gd name="T11" fmla="*/ 0 h 30"/>
                  <a:gd name="T12" fmla="*/ 15 w 122"/>
                  <a:gd name="T13" fmla="*/ 2 h 30"/>
                  <a:gd name="T14" fmla="*/ 1 w 122"/>
                  <a:gd name="T15" fmla="*/ 24 h 30"/>
                  <a:gd name="T16" fmla="*/ 2 w 122"/>
                  <a:gd name="T17" fmla="*/ 29 h 30"/>
                  <a:gd name="T18" fmla="*/ 4 w 122"/>
                  <a:gd name="T19" fmla="*/ 30 h 30"/>
                  <a:gd name="T20" fmla="*/ 8 w 122"/>
                  <a:gd name="T21" fmla="*/ 28 h 30"/>
                  <a:gd name="T22" fmla="*/ 20 w 122"/>
                  <a:gd name="T23" fmla="*/ 8 h 30"/>
                  <a:gd name="T24" fmla="*/ 60 w 122"/>
                  <a:gd name="T25" fmla="*/ 8 h 30"/>
                  <a:gd name="T26" fmla="*/ 62 w 122"/>
                  <a:gd name="T27" fmla="*/ 8 h 30"/>
                  <a:gd name="T28" fmla="*/ 102 w 122"/>
                  <a:gd name="T29" fmla="*/ 8 h 30"/>
                  <a:gd name="T30" fmla="*/ 114 w 122"/>
                  <a:gd name="T31" fmla="*/ 28 h 30"/>
                  <a:gd name="T32" fmla="*/ 118 w 122"/>
                  <a:gd name="T33" fmla="*/ 30 h 30"/>
                  <a:gd name="T34" fmla="*/ 120 w 122"/>
                  <a:gd name="T35" fmla="*/ 29 h 30"/>
                  <a:gd name="T36" fmla="*/ 121 w 122"/>
                  <a:gd name="T37" fmla="*/ 24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2" h="30">
                    <a:moveTo>
                      <a:pt x="121" y="24"/>
                    </a:moveTo>
                    <a:cubicBezTo>
                      <a:pt x="107" y="2"/>
                      <a:pt x="107" y="2"/>
                      <a:pt x="107" y="2"/>
                    </a:cubicBezTo>
                    <a:cubicBezTo>
                      <a:pt x="106" y="1"/>
                      <a:pt x="105" y="0"/>
                      <a:pt x="104" y="0"/>
                    </a:cubicBezTo>
                    <a:cubicBezTo>
                      <a:pt x="62" y="0"/>
                      <a:pt x="62" y="0"/>
                      <a:pt x="62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7" y="0"/>
                      <a:pt x="15" y="1"/>
                      <a:pt x="15" y="2"/>
                    </a:cubicBezTo>
                    <a:cubicBezTo>
                      <a:pt x="1" y="24"/>
                      <a:pt x="1" y="24"/>
                      <a:pt x="1" y="24"/>
                    </a:cubicBezTo>
                    <a:cubicBezTo>
                      <a:pt x="0" y="26"/>
                      <a:pt x="0" y="28"/>
                      <a:pt x="2" y="29"/>
                    </a:cubicBezTo>
                    <a:cubicBezTo>
                      <a:pt x="3" y="30"/>
                      <a:pt x="3" y="30"/>
                      <a:pt x="4" y="30"/>
                    </a:cubicBezTo>
                    <a:cubicBezTo>
                      <a:pt x="6" y="30"/>
                      <a:pt x="7" y="29"/>
                      <a:pt x="8" y="28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60" y="8"/>
                      <a:pt x="60" y="8"/>
                      <a:pt x="60" y="8"/>
                    </a:cubicBezTo>
                    <a:cubicBezTo>
                      <a:pt x="62" y="8"/>
                      <a:pt x="62" y="8"/>
                      <a:pt x="62" y="8"/>
                    </a:cubicBezTo>
                    <a:cubicBezTo>
                      <a:pt x="102" y="8"/>
                      <a:pt x="102" y="8"/>
                      <a:pt x="102" y="8"/>
                    </a:cubicBezTo>
                    <a:cubicBezTo>
                      <a:pt x="114" y="28"/>
                      <a:pt x="114" y="28"/>
                      <a:pt x="114" y="28"/>
                    </a:cubicBezTo>
                    <a:cubicBezTo>
                      <a:pt x="115" y="29"/>
                      <a:pt x="116" y="30"/>
                      <a:pt x="118" y="30"/>
                    </a:cubicBezTo>
                    <a:cubicBezTo>
                      <a:pt x="118" y="30"/>
                      <a:pt x="119" y="30"/>
                      <a:pt x="120" y="29"/>
                    </a:cubicBezTo>
                    <a:cubicBezTo>
                      <a:pt x="122" y="28"/>
                      <a:pt x="122" y="26"/>
                      <a:pt x="121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7" name="Freeform 33"/>
              <p:cNvSpPr/>
              <p:nvPr/>
            </p:nvSpPr>
            <p:spPr bwMode="auto">
              <a:xfrm>
                <a:off x="8686801" y="2019300"/>
                <a:ext cx="165100" cy="149225"/>
              </a:xfrm>
              <a:custGeom>
                <a:avLst/>
                <a:gdLst>
                  <a:gd name="T0" fmla="*/ 33 w 61"/>
                  <a:gd name="T1" fmla="*/ 0 h 55"/>
                  <a:gd name="T2" fmla="*/ 0 w 61"/>
                  <a:gd name="T3" fmla="*/ 33 h 55"/>
                  <a:gd name="T4" fmla="*/ 7 w 61"/>
                  <a:gd name="T5" fmla="*/ 54 h 55"/>
                  <a:gd name="T6" fmla="*/ 10 w 61"/>
                  <a:gd name="T7" fmla="*/ 55 h 55"/>
                  <a:gd name="T8" fmla="*/ 13 w 61"/>
                  <a:gd name="T9" fmla="*/ 55 h 55"/>
                  <a:gd name="T10" fmla="*/ 59 w 61"/>
                  <a:gd name="T11" fmla="*/ 19 h 55"/>
                  <a:gd name="T12" fmla="*/ 60 w 61"/>
                  <a:gd name="T13" fmla="*/ 13 h 55"/>
                  <a:gd name="T14" fmla="*/ 33 w 61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55">
                    <a:moveTo>
                      <a:pt x="33" y="0"/>
                    </a:moveTo>
                    <a:cubicBezTo>
                      <a:pt x="15" y="0"/>
                      <a:pt x="0" y="15"/>
                      <a:pt x="0" y="33"/>
                    </a:cubicBezTo>
                    <a:cubicBezTo>
                      <a:pt x="0" y="41"/>
                      <a:pt x="2" y="48"/>
                      <a:pt x="7" y="54"/>
                    </a:cubicBezTo>
                    <a:cubicBezTo>
                      <a:pt x="8" y="55"/>
                      <a:pt x="9" y="55"/>
                      <a:pt x="10" y="55"/>
                    </a:cubicBezTo>
                    <a:cubicBezTo>
                      <a:pt x="11" y="55"/>
                      <a:pt x="12" y="55"/>
                      <a:pt x="13" y="55"/>
                    </a:cubicBezTo>
                    <a:cubicBezTo>
                      <a:pt x="59" y="19"/>
                      <a:pt x="59" y="19"/>
                      <a:pt x="59" y="19"/>
                    </a:cubicBezTo>
                    <a:cubicBezTo>
                      <a:pt x="61" y="17"/>
                      <a:pt x="61" y="15"/>
                      <a:pt x="60" y="13"/>
                    </a:cubicBezTo>
                    <a:cubicBezTo>
                      <a:pt x="54" y="5"/>
                      <a:pt x="44" y="0"/>
                      <a:pt x="3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8" name="Freeform 34"/>
              <p:cNvSpPr/>
              <p:nvPr/>
            </p:nvSpPr>
            <p:spPr bwMode="auto">
              <a:xfrm>
                <a:off x="9048751" y="2019300"/>
                <a:ext cx="166688" cy="149225"/>
              </a:xfrm>
              <a:custGeom>
                <a:avLst/>
                <a:gdLst>
                  <a:gd name="T0" fmla="*/ 28 w 61"/>
                  <a:gd name="T1" fmla="*/ 0 h 55"/>
                  <a:gd name="T2" fmla="*/ 1 w 61"/>
                  <a:gd name="T3" fmla="*/ 13 h 55"/>
                  <a:gd name="T4" fmla="*/ 2 w 61"/>
                  <a:gd name="T5" fmla="*/ 19 h 55"/>
                  <a:gd name="T6" fmla="*/ 48 w 61"/>
                  <a:gd name="T7" fmla="*/ 55 h 55"/>
                  <a:gd name="T8" fmla="*/ 51 w 61"/>
                  <a:gd name="T9" fmla="*/ 55 h 55"/>
                  <a:gd name="T10" fmla="*/ 54 w 61"/>
                  <a:gd name="T11" fmla="*/ 54 h 55"/>
                  <a:gd name="T12" fmla="*/ 61 w 61"/>
                  <a:gd name="T13" fmla="*/ 33 h 55"/>
                  <a:gd name="T14" fmla="*/ 28 w 61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55">
                    <a:moveTo>
                      <a:pt x="28" y="0"/>
                    </a:moveTo>
                    <a:cubicBezTo>
                      <a:pt x="17" y="0"/>
                      <a:pt x="7" y="5"/>
                      <a:pt x="1" y="13"/>
                    </a:cubicBezTo>
                    <a:cubicBezTo>
                      <a:pt x="0" y="15"/>
                      <a:pt x="0" y="17"/>
                      <a:pt x="2" y="19"/>
                    </a:cubicBezTo>
                    <a:cubicBezTo>
                      <a:pt x="48" y="55"/>
                      <a:pt x="48" y="55"/>
                      <a:pt x="48" y="55"/>
                    </a:cubicBezTo>
                    <a:cubicBezTo>
                      <a:pt x="49" y="55"/>
                      <a:pt x="50" y="55"/>
                      <a:pt x="51" y="55"/>
                    </a:cubicBezTo>
                    <a:cubicBezTo>
                      <a:pt x="52" y="55"/>
                      <a:pt x="53" y="55"/>
                      <a:pt x="54" y="54"/>
                    </a:cubicBezTo>
                    <a:cubicBezTo>
                      <a:pt x="58" y="48"/>
                      <a:pt x="61" y="41"/>
                      <a:pt x="61" y="33"/>
                    </a:cubicBezTo>
                    <a:cubicBezTo>
                      <a:pt x="61" y="15"/>
                      <a:pt x="46" y="0"/>
                      <a:pt x="2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9" name="Freeform 223"/>
              <p:cNvSpPr>
                <a:spLocks noEditPoints="1"/>
              </p:cNvSpPr>
              <p:nvPr/>
            </p:nvSpPr>
            <p:spPr bwMode="auto">
              <a:xfrm>
                <a:off x="8743951" y="2073275"/>
                <a:ext cx="411163" cy="414338"/>
              </a:xfrm>
              <a:custGeom>
                <a:avLst/>
                <a:gdLst>
                  <a:gd name="T0" fmla="*/ 76 w 151"/>
                  <a:gd name="T1" fmla="*/ 0 h 152"/>
                  <a:gd name="T2" fmla="*/ 0 w 151"/>
                  <a:gd name="T3" fmla="*/ 76 h 152"/>
                  <a:gd name="T4" fmla="*/ 76 w 151"/>
                  <a:gd name="T5" fmla="*/ 152 h 152"/>
                  <a:gd name="T6" fmla="*/ 151 w 151"/>
                  <a:gd name="T7" fmla="*/ 76 h 152"/>
                  <a:gd name="T8" fmla="*/ 76 w 151"/>
                  <a:gd name="T9" fmla="*/ 0 h 152"/>
                  <a:gd name="T10" fmla="*/ 104 w 151"/>
                  <a:gd name="T11" fmla="*/ 82 h 152"/>
                  <a:gd name="T12" fmla="*/ 77 w 151"/>
                  <a:gd name="T13" fmla="*/ 82 h 152"/>
                  <a:gd name="T14" fmla="*/ 71 w 151"/>
                  <a:gd name="T15" fmla="*/ 76 h 152"/>
                  <a:gd name="T16" fmla="*/ 71 w 151"/>
                  <a:gd name="T17" fmla="*/ 24 h 152"/>
                  <a:gd name="T18" fmla="*/ 77 w 151"/>
                  <a:gd name="T19" fmla="*/ 18 h 152"/>
                  <a:gd name="T20" fmla="*/ 83 w 151"/>
                  <a:gd name="T21" fmla="*/ 24 h 152"/>
                  <a:gd name="T22" fmla="*/ 83 w 151"/>
                  <a:gd name="T23" fmla="*/ 70 h 152"/>
                  <a:gd name="T24" fmla="*/ 104 w 151"/>
                  <a:gd name="T25" fmla="*/ 70 h 152"/>
                  <a:gd name="T26" fmla="*/ 110 w 151"/>
                  <a:gd name="T27" fmla="*/ 76 h 152"/>
                  <a:gd name="T28" fmla="*/ 104 w 151"/>
                  <a:gd name="T29" fmla="*/ 82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51" h="152">
                    <a:moveTo>
                      <a:pt x="76" y="0"/>
                    </a:moveTo>
                    <a:cubicBezTo>
                      <a:pt x="34" y="0"/>
                      <a:pt x="0" y="34"/>
                      <a:pt x="0" y="76"/>
                    </a:cubicBezTo>
                    <a:cubicBezTo>
                      <a:pt x="0" y="118"/>
                      <a:pt x="34" y="152"/>
                      <a:pt x="76" y="152"/>
                    </a:cubicBezTo>
                    <a:cubicBezTo>
                      <a:pt x="118" y="152"/>
                      <a:pt x="151" y="118"/>
                      <a:pt x="151" y="76"/>
                    </a:cubicBezTo>
                    <a:cubicBezTo>
                      <a:pt x="151" y="34"/>
                      <a:pt x="118" y="0"/>
                      <a:pt x="76" y="0"/>
                    </a:cubicBezTo>
                    <a:close/>
                    <a:moveTo>
                      <a:pt x="104" y="82"/>
                    </a:moveTo>
                    <a:cubicBezTo>
                      <a:pt x="77" y="82"/>
                      <a:pt x="77" y="82"/>
                      <a:pt x="77" y="82"/>
                    </a:cubicBezTo>
                    <a:cubicBezTo>
                      <a:pt x="73" y="82"/>
                      <a:pt x="71" y="79"/>
                      <a:pt x="71" y="76"/>
                    </a:cubicBezTo>
                    <a:cubicBezTo>
                      <a:pt x="71" y="24"/>
                      <a:pt x="71" y="24"/>
                      <a:pt x="71" y="24"/>
                    </a:cubicBezTo>
                    <a:cubicBezTo>
                      <a:pt x="71" y="21"/>
                      <a:pt x="73" y="18"/>
                      <a:pt x="77" y="18"/>
                    </a:cubicBezTo>
                    <a:cubicBezTo>
                      <a:pt x="80" y="18"/>
                      <a:pt x="83" y="21"/>
                      <a:pt x="83" y="24"/>
                    </a:cubicBezTo>
                    <a:cubicBezTo>
                      <a:pt x="83" y="70"/>
                      <a:pt x="83" y="70"/>
                      <a:pt x="83" y="70"/>
                    </a:cubicBezTo>
                    <a:cubicBezTo>
                      <a:pt x="104" y="70"/>
                      <a:pt x="104" y="70"/>
                      <a:pt x="104" y="70"/>
                    </a:cubicBezTo>
                    <a:cubicBezTo>
                      <a:pt x="107" y="70"/>
                      <a:pt x="110" y="72"/>
                      <a:pt x="110" y="76"/>
                    </a:cubicBezTo>
                    <a:cubicBezTo>
                      <a:pt x="110" y="79"/>
                      <a:pt x="107" y="82"/>
                      <a:pt x="104" y="8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105" name="Freeform 45"/>
          <p:cNvSpPr/>
          <p:nvPr/>
        </p:nvSpPr>
        <p:spPr bwMode="auto">
          <a:xfrm>
            <a:off x="10063633" y="2999943"/>
            <a:ext cx="268288" cy="490538"/>
          </a:xfrm>
          <a:custGeom>
            <a:avLst/>
            <a:gdLst>
              <a:gd name="T0" fmla="*/ 0 w 222"/>
              <a:gd name="T1" fmla="*/ 0 h 421"/>
              <a:gd name="T2" fmla="*/ 222 w 222"/>
              <a:gd name="T3" fmla="*/ 421 h 42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22" h="421">
                <a:moveTo>
                  <a:pt x="0" y="0"/>
                </a:moveTo>
                <a:lnTo>
                  <a:pt x="222" y="421"/>
                </a:lnTo>
              </a:path>
            </a:pathLst>
          </a:custGeom>
          <a:noFill/>
          <a:ln w="28575" cmpd="sng">
            <a:solidFill>
              <a:srgbClr val="285A3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18000"/>
          <a:lstStyle/>
          <a:p>
            <a:pPr>
              <a:lnSpc>
                <a:spcPts val="2500"/>
              </a:lnSpc>
            </a:pPr>
            <a:endParaRPr lang="zh-CN" altLang="en-US" sz="2400"/>
          </a:p>
        </p:txBody>
      </p:sp>
      <p:sp>
        <p:nvSpPr>
          <p:cNvPr id="108" name="Freeform 43"/>
          <p:cNvSpPr/>
          <p:nvPr/>
        </p:nvSpPr>
        <p:spPr bwMode="auto">
          <a:xfrm>
            <a:off x="8918033" y="2145510"/>
            <a:ext cx="928688" cy="568325"/>
          </a:xfrm>
          <a:custGeom>
            <a:avLst/>
            <a:gdLst>
              <a:gd name="T0" fmla="*/ 0 w 767"/>
              <a:gd name="T1" fmla="*/ 0 h 488"/>
              <a:gd name="T2" fmla="*/ 767 w 767"/>
              <a:gd name="T3" fmla="*/ 488 h 488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767" h="488">
                <a:moveTo>
                  <a:pt x="0" y="0"/>
                </a:moveTo>
                <a:lnTo>
                  <a:pt x="767" y="488"/>
                </a:lnTo>
              </a:path>
            </a:pathLst>
          </a:custGeom>
          <a:noFill/>
          <a:ln w="28575" cmpd="sng">
            <a:solidFill>
              <a:srgbClr val="285A3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18000"/>
          <a:lstStyle/>
          <a:p>
            <a:pPr>
              <a:lnSpc>
                <a:spcPts val="2500"/>
              </a:lnSpc>
            </a:pPr>
            <a:endParaRPr lang="zh-CN" altLang="en-US" sz="2400"/>
          </a:p>
        </p:txBody>
      </p:sp>
      <p:sp>
        <p:nvSpPr>
          <p:cNvPr id="113" name="Oval 37"/>
          <p:cNvSpPr>
            <a:spLocks noChangeArrowheads="1"/>
          </p:cNvSpPr>
          <p:nvPr/>
        </p:nvSpPr>
        <p:spPr bwMode="auto">
          <a:xfrm>
            <a:off x="8552591" y="1846424"/>
            <a:ext cx="432000" cy="432000"/>
          </a:xfrm>
          <a:prstGeom prst="ellipse">
            <a:avLst/>
          </a:prstGeom>
          <a:solidFill>
            <a:srgbClr val="B4B4BE"/>
          </a:solidFill>
          <a:ln w="28575">
            <a:solidFill>
              <a:srgbClr val="507D7D"/>
            </a:solidFill>
            <a:round/>
          </a:ln>
          <a:effectLst/>
        </p:spPr>
        <p:txBody>
          <a:bodyPr lIns="0" tIns="0" rIns="0" bIns="0"/>
          <a:lstStyle/>
          <a:p>
            <a:pPr algn="ctr">
              <a:lnSpc>
                <a:spcPts val="2500"/>
              </a:lnSpc>
            </a:pPr>
            <a:r>
              <a:rPr lang="en-US" altLang="zh-CN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" name="Oval 37"/>
          <p:cNvSpPr>
            <a:spLocks noChangeArrowheads="1"/>
          </p:cNvSpPr>
          <p:nvPr/>
        </p:nvSpPr>
        <p:spPr bwMode="auto">
          <a:xfrm>
            <a:off x="9737183" y="2599058"/>
            <a:ext cx="432000" cy="432000"/>
          </a:xfrm>
          <a:prstGeom prst="ellipse">
            <a:avLst/>
          </a:prstGeom>
          <a:solidFill>
            <a:srgbClr val="B4B4BE"/>
          </a:solidFill>
          <a:ln w="28575">
            <a:solidFill>
              <a:srgbClr val="507D7D"/>
            </a:solidFill>
            <a:round/>
          </a:ln>
          <a:effectLst/>
        </p:spPr>
        <p:txBody>
          <a:bodyPr lIns="0" tIns="0" rIns="0" bIns="0"/>
          <a:lstStyle/>
          <a:p>
            <a:pPr algn="ctr">
              <a:lnSpc>
                <a:spcPts val="2500"/>
              </a:lnSpc>
            </a:pPr>
            <a:r>
              <a:rPr lang="en-US" altLang="zh-CN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6488072" y="2191548"/>
            <a:ext cx="3910465" cy="2330491"/>
            <a:chOff x="6488072" y="2191548"/>
            <a:chExt cx="3910465" cy="2330491"/>
          </a:xfrm>
          <a:noFill/>
        </p:grpSpPr>
        <p:grpSp>
          <p:nvGrpSpPr>
            <p:cNvPr id="100" name="组合 99"/>
            <p:cNvGrpSpPr/>
            <p:nvPr/>
          </p:nvGrpSpPr>
          <p:grpSpPr>
            <a:xfrm>
              <a:off x="8918033" y="3727393"/>
              <a:ext cx="458189" cy="794646"/>
              <a:chOff x="9146210" y="4160573"/>
              <a:chExt cx="458189" cy="794646"/>
            </a:xfrm>
            <a:grpFill/>
          </p:grpSpPr>
          <p:sp>
            <p:nvSpPr>
              <p:cNvPr id="101" name="Freeform 65"/>
              <p:cNvSpPr/>
              <p:nvPr/>
            </p:nvSpPr>
            <p:spPr bwMode="auto">
              <a:xfrm>
                <a:off x="9424399" y="4160573"/>
                <a:ext cx="180000" cy="396000"/>
              </a:xfrm>
              <a:custGeom>
                <a:avLst/>
                <a:gdLst>
                  <a:gd name="T0" fmla="*/ 119 w 119"/>
                  <a:gd name="T1" fmla="*/ 0 h 356"/>
                  <a:gd name="T2" fmla="*/ 0 w 119"/>
                  <a:gd name="T3" fmla="*/ 356 h 3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19" h="356">
                    <a:moveTo>
                      <a:pt x="119" y="0"/>
                    </a:moveTo>
                    <a:lnTo>
                      <a:pt x="0" y="356"/>
                    </a:lnTo>
                  </a:path>
                </a:pathLst>
              </a:custGeom>
              <a:grpFill/>
              <a:ln w="28575" cmpd="sng">
                <a:solidFill>
                  <a:srgbClr val="285A32"/>
                </a:solidFill>
                <a:prstDash val="dash"/>
                <a:round/>
              </a:ln>
            </p:spPr>
            <p:txBody>
              <a:bodyPr tIns="18000"/>
              <a:lstStyle/>
              <a:p>
                <a:pPr>
                  <a:lnSpc>
                    <a:spcPts val="2500"/>
                  </a:lnSpc>
                </a:pPr>
                <a:endParaRPr lang="zh-CN" altLang="en-US" sz="2400"/>
              </a:p>
            </p:txBody>
          </p:sp>
          <p:sp>
            <p:nvSpPr>
              <p:cNvPr id="102" name="Oval 37"/>
              <p:cNvSpPr>
                <a:spLocks noChangeArrowheads="1"/>
              </p:cNvSpPr>
              <p:nvPr/>
            </p:nvSpPr>
            <p:spPr bwMode="auto">
              <a:xfrm>
                <a:off x="9146210" y="4523219"/>
                <a:ext cx="432000" cy="432000"/>
              </a:xfrm>
              <a:prstGeom prst="ellipse">
                <a:avLst/>
              </a:prstGeom>
              <a:grpFill/>
              <a:ln w="28575">
                <a:solidFill>
                  <a:srgbClr val="507D7D"/>
                </a:solidFill>
                <a:prstDash val="dash"/>
                <a:round/>
              </a:ln>
              <a:effectLst/>
            </p:spPr>
            <p:txBody>
              <a:bodyPr lIns="0" tIns="0" rIns="0" bIns="0"/>
              <a:lstStyle/>
              <a:p>
                <a:pPr algn="ctr">
                  <a:lnSpc>
                    <a:spcPts val="2500"/>
                  </a:lnSpc>
                </a:pPr>
                <a:endParaRPr lang="zh-CN" alt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03" name="Freeform 65"/>
            <p:cNvSpPr/>
            <p:nvPr/>
          </p:nvSpPr>
          <p:spPr bwMode="auto">
            <a:xfrm>
              <a:off x="7716001" y="3725389"/>
              <a:ext cx="180000" cy="396000"/>
            </a:xfrm>
            <a:custGeom>
              <a:avLst/>
              <a:gdLst>
                <a:gd name="T0" fmla="*/ 119 w 119"/>
                <a:gd name="T1" fmla="*/ 0 h 356"/>
                <a:gd name="T2" fmla="*/ 0 w 119"/>
                <a:gd name="T3" fmla="*/ 356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19" h="356">
                  <a:moveTo>
                    <a:pt x="119" y="0"/>
                  </a:moveTo>
                  <a:lnTo>
                    <a:pt x="0" y="356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prstDash val="dash"/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104" name="Line 66"/>
            <p:cNvSpPr>
              <a:spLocks noChangeShapeType="1"/>
            </p:cNvSpPr>
            <p:nvPr/>
          </p:nvSpPr>
          <p:spPr bwMode="auto">
            <a:xfrm>
              <a:off x="8056679" y="3743170"/>
              <a:ext cx="111125" cy="412750"/>
            </a:xfrm>
            <a:prstGeom prst="line">
              <a:avLst/>
            </a:prstGeom>
            <a:grpFill/>
            <a:ln w="28575">
              <a:solidFill>
                <a:srgbClr val="285A32"/>
              </a:solidFill>
              <a:prstDash val="dash"/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106" name="Freeform 44"/>
            <p:cNvSpPr/>
            <p:nvPr/>
          </p:nvSpPr>
          <p:spPr bwMode="auto">
            <a:xfrm>
              <a:off x="9607702" y="2969463"/>
              <a:ext cx="211138" cy="358951"/>
            </a:xfrm>
            <a:custGeom>
              <a:avLst/>
              <a:gdLst>
                <a:gd name="T0" fmla="*/ 259 w 259"/>
                <a:gd name="T1" fmla="*/ 0 h 421"/>
                <a:gd name="T2" fmla="*/ 0 w 259"/>
                <a:gd name="T3" fmla="*/ 421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9" h="421">
                  <a:moveTo>
                    <a:pt x="259" y="0"/>
                  </a:moveTo>
                  <a:lnTo>
                    <a:pt x="0" y="421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prstDash val="dash"/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107" name="Line 42"/>
            <p:cNvSpPr>
              <a:spLocks noChangeShapeType="1"/>
            </p:cNvSpPr>
            <p:nvPr/>
          </p:nvSpPr>
          <p:spPr bwMode="auto">
            <a:xfrm flipH="1">
              <a:off x="7587708" y="2191548"/>
              <a:ext cx="995363" cy="493713"/>
            </a:xfrm>
            <a:prstGeom prst="line">
              <a:avLst/>
            </a:prstGeom>
            <a:grpFill/>
            <a:ln w="28575">
              <a:solidFill>
                <a:srgbClr val="285A32"/>
              </a:solidFill>
              <a:prstDash val="dash"/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109" name="Freeform 44"/>
            <p:cNvSpPr/>
            <p:nvPr/>
          </p:nvSpPr>
          <p:spPr bwMode="auto">
            <a:xfrm>
              <a:off x="7041290" y="2936403"/>
              <a:ext cx="311150" cy="392011"/>
            </a:xfrm>
            <a:custGeom>
              <a:avLst/>
              <a:gdLst>
                <a:gd name="T0" fmla="*/ 259 w 259"/>
                <a:gd name="T1" fmla="*/ 0 h 421"/>
                <a:gd name="T2" fmla="*/ 0 w 259"/>
                <a:gd name="T3" fmla="*/ 421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9" h="421">
                  <a:moveTo>
                    <a:pt x="259" y="0"/>
                  </a:moveTo>
                  <a:lnTo>
                    <a:pt x="0" y="421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prstDash val="dash"/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110" name="Freeform 45"/>
            <p:cNvSpPr/>
            <p:nvPr/>
          </p:nvSpPr>
          <p:spPr bwMode="auto">
            <a:xfrm>
              <a:off x="7627713" y="2936403"/>
              <a:ext cx="268288" cy="392011"/>
            </a:xfrm>
            <a:custGeom>
              <a:avLst/>
              <a:gdLst>
                <a:gd name="T0" fmla="*/ 0 w 222"/>
                <a:gd name="T1" fmla="*/ 0 h 421"/>
                <a:gd name="T2" fmla="*/ 222 w 222"/>
                <a:gd name="T3" fmla="*/ 421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22" h="421">
                  <a:moveTo>
                    <a:pt x="0" y="0"/>
                  </a:moveTo>
                  <a:lnTo>
                    <a:pt x="222" y="421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prstDash val="dash"/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111" name="Freeform 65"/>
            <p:cNvSpPr/>
            <p:nvPr/>
          </p:nvSpPr>
          <p:spPr bwMode="auto">
            <a:xfrm>
              <a:off x="6720297" y="3740629"/>
              <a:ext cx="180000" cy="396000"/>
            </a:xfrm>
            <a:custGeom>
              <a:avLst/>
              <a:gdLst>
                <a:gd name="T0" fmla="*/ 119 w 119"/>
                <a:gd name="T1" fmla="*/ 0 h 356"/>
                <a:gd name="T2" fmla="*/ 0 w 119"/>
                <a:gd name="T3" fmla="*/ 356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19" h="356">
                  <a:moveTo>
                    <a:pt x="119" y="0"/>
                  </a:moveTo>
                  <a:lnTo>
                    <a:pt x="0" y="356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prstDash val="dash"/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112" name="Line 66"/>
            <p:cNvSpPr>
              <a:spLocks noChangeShapeType="1"/>
            </p:cNvSpPr>
            <p:nvPr/>
          </p:nvSpPr>
          <p:spPr bwMode="auto">
            <a:xfrm>
              <a:off x="7106695" y="3758410"/>
              <a:ext cx="111125" cy="412750"/>
            </a:xfrm>
            <a:prstGeom prst="line">
              <a:avLst/>
            </a:prstGeom>
            <a:grpFill/>
            <a:ln w="28575">
              <a:solidFill>
                <a:srgbClr val="285A32"/>
              </a:solidFill>
              <a:prstDash val="dash"/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114" name="Oval 37"/>
            <p:cNvSpPr>
              <a:spLocks noChangeArrowheads="1"/>
            </p:cNvSpPr>
            <p:nvPr/>
          </p:nvSpPr>
          <p:spPr bwMode="auto">
            <a:xfrm>
              <a:off x="7281323" y="2599058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prstDash val="dash"/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6" name="Oval 37"/>
            <p:cNvSpPr>
              <a:spLocks noChangeArrowheads="1"/>
            </p:cNvSpPr>
            <p:nvPr/>
          </p:nvSpPr>
          <p:spPr bwMode="auto">
            <a:xfrm>
              <a:off x="6816302" y="3328414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prstDash val="dash"/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7" name="Oval 37"/>
            <p:cNvSpPr>
              <a:spLocks noChangeArrowheads="1"/>
            </p:cNvSpPr>
            <p:nvPr/>
          </p:nvSpPr>
          <p:spPr bwMode="auto">
            <a:xfrm>
              <a:off x="7758642" y="3328414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prstDash val="dash"/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8" name="Oval 37"/>
            <p:cNvSpPr>
              <a:spLocks noChangeArrowheads="1"/>
            </p:cNvSpPr>
            <p:nvPr/>
          </p:nvSpPr>
          <p:spPr bwMode="auto">
            <a:xfrm>
              <a:off x="9253789" y="3328414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prstDash val="dash"/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9" name="Oval 37"/>
            <p:cNvSpPr>
              <a:spLocks noChangeArrowheads="1"/>
            </p:cNvSpPr>
            <p:nvPr/>
          </p:nvSpPr>
          <p:spPr bwMode="auto">
            <a:xfrm>
              <a:off x="6488072" y="4090039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prstDash val="dash"/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0" name="Oval 37"/>
            <p:cNvSpPr>
              <a:spLocks noChangeArrowheads="1"/>
            </p:cNvSpPr>
            <p:nvPr/>
          </p:nvSpPr>
          <p:spPr bwMode="auto">
            <a:xfrm>
              <a:off x="7004363" y="4090039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prstDash val="dash"/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1" name="Oval 37"/>
            <p:cNvSpPr>
              <a:spLocks noChangeArrowheads="1"/>
            </p:cNvSpPr>
            <p:nvPr/>
          </p:nvSpPr>
          <p:spPr bwMode="auto">
            <a:xfrm>
              <a:off x="7521250" y="4090039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prstDash val="dash"/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2" name="Oval 37"/>
            <p:cNvSpPr>
              <a:spLocks noChangeArrowheads="1"/>
            </p:cNvSpPr>
            <p:nvPr/>
          </p:nvSpPr>
          <p:spPr bwMode="auto">
            <a:xfrm>
              <a:off x="8034966" y="4090039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prstDash val="dash"/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23" name="组合 122"/>
            <p:cNvGrpSpPr/>
            <p:nvPr/>
          </p:nvGrpSpPr>
          <p:grpSpPr>
            <a:xfrm>
              <a:off x="9443715" y="3760414"/>
              <a:ext cx="432000" cy="761625"/>
              <a:chOff x="9671892" y="4193594"/>
              <a:chExt cx="432000" cy="761625"/>
            </a:xfrm>
            <a:grpFill/>
          </p:grpSpPr>
          <p:sp>
            <p:nvSpPr>
              <p:cNvPr id="124" name="Line 66"/>
              <p:cNvSpPr>
                <a:spLocks noChangeShapeType="1"/>
              </p:cNvSpPr>
              <p:nvPr/>
            </p:nvSpPr>
            <p:spPr bwMode="auto">
              <a:xfrm>
                <a:off x="9780317" y="4193594"/>
                <a:ext cx="111125" cy="412750"/>
              </a:xfrm>
              <a:prstGeom prst="line">
                <a:avLst/>
              </a:prstGeom>
              <a:grpFill/>
              <a:ln w="28575">
                <a:solidFill>
                  <a:srgbClr val="285A32"/>
                </a:solidFill>
                <a:prstDash val="dash"/>
                <a:round/>
              </a:ln>
            </p:spPr>
            <p:txBody>
              <a:bodyPr tIns="18000"/>
              <a:lstStyle/>
              <a:p>
                <a:pPr>
                  <a:lnSpc>
                    <a:spcPts val="2500"/>
                  </a:lnSpc>
                </a:pPr>
                <a:endParaRPr lang="zh-CN" altLang="en-US" sz="2400"/>
              </a:p>
            </p:txBody>
          </p:sp>
          <p:sp>
            <p:nvSpPr>
              <p:cNvPr id="125" name="Oval 37"/>
              <p:cNvSpPr>
                <a:spLocks noChangeArrowheads="1"/>
              </p:cNvSpPr>
              <p:nvPr/>
            </p:nvSpPr>
            <p:spPr bwMode="auto">
              <a:xfrm>
                <a:off x="9671892" y="4523219"/>
                <a:ext cx="432000" cy="432000"/>
              </a:xfrm>
              <a:prstGeom prst="ellipse">
                <a:avLst/>
              </a:prstGeom>
              <a:grpFill/>
              <a:ln w="28575">
                <a:solidFill>
                  <a:srgbClr val="507D7D"/>
                </a:solidFill>
                <a:prstDash val="dash"/>
                <a:round/>
              </a:ln>
              <a:effectLst/>
            </p:spPr>
            <p:txBody>
              <a:bodyPr lIns="0" tIns="0" rIns="0" bIns="0"/>
              <a:lstStyle/>
              <a:p>
                <a:pPr algn="ctr">
                  <a:lnSpc>
                    <a:spcPts val="2500"/>
                  </a:lnSpc>
                </a:pPr>
                <a:endParaRPr lang="zh-CN" alt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26" name="组合 125"/>
            <p:cNvGrpSpPr/>
            <p:nvPr/>
          </p:nvGrpSpPr>
          <p:grpSpPr>
            <a:xfrm>
              <a:off x="9966537" y="3686911"/>
              <a:ext cx="432000" cy="835128"/>
              <a:chOff x="10194714" y="4120091"/>
              <a:chExt cx="432000" cy="835128"/>
            </a:xfrm>
            <a:grpFill/>
          </p:grpSpPr>
          <p:sp>
            <p:nvSpPr>
              <p:cNvPr id="127" name="Freeform 65"/>
              <p:cNvSpPr/>
              <p:nvPr/>
            </p:nvSpPr>
            <p:spPr bwMode="auto">
              <a:xfrm>
                <a:off x="10388328" y="4120091"/>
                <a:ext cx="180000" cy="396000"/>
              </a:xfrm>
              <a:custGeom>
                <a:avLst/>
                <a:gdLst>
                  <a:gd name="T0" fmla="*/ 119 w 119"/>
                  <a:gd name="T1" fmla="*/ 0 h 356"/>
                  <a:gd name="T2" fmla="*/ 0 w 119"/>
                  <a:gd name="T3" fmla="*/ 356 h 3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19" h="356">
                    <a:moveTo>
                      <a:pt x="119" y="0"/>
                    </a:moveTo>
                    <a:lnTo>
                      <a:pt x="0" y="356"/>
                    </a:lnTo>
                  </a:path>
                </a:pathLst>
              </a:custGeom>
              <a:grpFill/>
              <a:ln w="28575" cmpd="sng">
                <a:solidFill>
                  <a:srgbClr val="285A32"/>
                </a:solidFill>
                <a:prstDash val="dash"/>
                <a:round/>
              </a:ln>
            </p:spPr>
            <p:txBody>
              <a:bodyPr tIns="18000"/>
              <a:lstStyle/>
              <a:p>
                <a:pPr>
                  <a:lnSpc>
                    <a:spcPts val="2500"/>
                  </a:lnSpc>
                </a:pPr>
                <a:endParaRPr lang="zh-CN" altLang="en-US" sz="2400"/>
              </a:p>
            </p:txBody>
          </p:sp>
          <p:sp>
            <p:nvSpPr>
              <p:cNvPr id="128" name="Oval 37"/>
              <p:cNvSpPr>
                <a:spLocks noChangeArrowheads="1"/>
              </p:cNvSpPr>
              <p:nvPr/>
            </p:nvSpPr>
            <p:spPr bwMode="auto">
              <a:xfrm>
                <a:off x="10194714" y="4523219"/>
                <a:ext cx="432000" cy="432000"/>
              </a:xfrm>
              <a:prstGeom prst="ellipse">
                <a:avLst/>
              </a:prstGeom>
              <a:grpFill/>
              <a:ln w="28575">
                <a:solidFill>
                  <a:srgbClr val="507D7D"/>
                </a:solidFill>
                <a:prstDash val="dash"/>
                <a:round/>
              </a:ln>
              <a:effectLst/>
            </p:spPr>
            <p:txBody>
              <a:bodyPr lIns="0" tIns="0" rIns="0" bIns="0"/>
              <a:lstStyle/>
              <a:p>
                <a:pPr algn="ctr">
                  <a:lnSpc>
                    <a:spcPts val="2500"/>
                  </a:lnSpc>
                </a:pPr>
                <a:endParaRPr lang="zh-CN" alt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29" name="组合 128"/>
          <p:cNvGrpSpPr/>
          <p:nvPr/>
        </p:nvGrpSpPr>
        <p:grpSpPr>
          <a:xfrm>
            <a:off x="10470349" y="3750412"/>
            <a:ext cx="432000" cy="771627"/>
            <a:chOff x="10698526" y="4183592"/>
            <a:chExt cx="432000" cy="771627"/>
          </a:xfrm>
          <a:solidFill>
            <a:srgbClr val="B4B4BE"/>
          </a:solidFill>
        </p:grpSpPr>
        <p:sp>
          <p:nvSpPr>
            <p:cNvPr id="130" name="Line 66"/>
            <p:cNvSpPr>
              <a:spLocks noChangeShapeType="1"/>
            </p:cNvSpPr>
            <p:nvPr/>
          </p:nvSpPr>
          <p:spPr bwMode="auto">
            <a:xfrm>
              <a:off x="10713766" y="4183592"/>
              <a:ext cx="111125" cy="412750"/>
            </a:xfrm>
            <a:prstGeom prst="line">
              <a:avLst/>
            </a:prstGeom>
            <a:grpFill/>
            <a:ln w="28575">
              <a:solidFill>
                <a:srgbClr val="285A32"/>
              </a:solidFill>
              <a:round/>
            </a:ln>
          </p:spPr>
          <p:txBody>
            <a:bodyPr tIns="18000"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131" name="Oval 37"/>
            <p:cNvSpPr>
              <a:spLocks noChangeArrowheads="1"/>
            </p:cNvSpPr>
            <p:nvPr/>
          </p:nvSpPr>
          <p:spPr bwMode="auto">
            <a:xfrm>
              <a:off x="10698526" y="4523219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2" name="Oval 37"/>
          <p:cNvSpPr>
            <a:spLocks noChangeArrowheads="1"/>
          </p:cNvSpPr>
          <p:nvPr/>
        </p:nvSpPr>
        <p:spPr bwMode="auto">
          <a:xfrm>
            <a:off x="10177238" y="3328414"/>
            <a:ext cx="432000" cy="432000"/>
          </a:xfrm>
          <a:prstGeom prst="ellipse">
            <a:avLst/>
          </a:prstGeom>
          <a:solidFill>
            <a:srgbClr val="B4B4BE"/>
          </a:solidFill>
          <a:ln w="28575">
            <a:solidFill>
              <a:srgbClr val="507D7D"/>
            </a:solidFill>
            <a:round/>
          </a:ln>
          <a:effectLst/>
        </p:spPr>
        <p:txBody>
          <a:bodyPr lIns="0" tIns="0" rIns="0" bIns="0"/>
          <a:lstStyle/>
          <a:p>
            <a:pPr algn="ctr">
              <a:lnSpc>
                <a:spcPts val="2500"/>
              </a:lnSpc>
            </a:pPr>
            <a:r>
              <a:rPr lang="en-US" altLang="zh-CN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zh-CN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421382" y="2016814"/>
            <a:ext cx="424651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800" dirty="0" smtClean="0">
                <a:solidFill>
                  <a:srgbClr val="285A3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缺点</a:t>
            </a:r>
            <a:r>
              <a:rPr lang="zh-CN" altLang="en-US" sz="28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zh-CN" sz="28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浪费</a:t>
            </a:r>
            <a:r>
              <a:rPr lang="zh-CN" altLang="zh-CN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存储空间</a:t>
            </a:r>
            <a:endParaRPr lang="zh-CN" altLang="en-US" sz="28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 animBg="1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nip Diagonal Corner Rectangle 12"/>
          <p:cNvSpPr/>
          <p:nvPr/>
        </p:nvSpPr>
        <p:spPr>
          <a:xfrm>
            <a:off x="2931171" y="3899819"/>
            <a:ext cx="6568845" cy="725672"/>
          </a:xfrm>
          <a:prstGeom prst="snip2DiagRect">
            <a:avLst/>
          </a:prstGeom>
          <a:solidFill>
            <a:srgbClr val="5C3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spcBef>
                <a:spcPct val="50000"/>
              </a:spcBef>
            </a:pP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381156" y="4011812"/>
            <a:ext cx="5657850" cy="4594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ct val="50000"/>
              </a:spcBef>
            </a:pPr>
            <a:r>
              <a:rPr lang="en-US" altLang="zh-CN" dirty="0" smtClean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5-5-2   </a:t>
            </a:r>
            <a:r>
              <a:rPr lang="zh-CN" altLang="en-US" dirty="0" smtClean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二叉</a:t>
            </a:r>
            <a:r>
              <a:rPr lang="zh-CN" altLang="en-US" dirty="0" smtClean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链表</a:t>
            </a:r>
            <a:endParaRPr lang="zh-CN" altLang="en-US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340433" y="1998397"/>
            <a:ext cx="7670342" cy="134525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mtClean="0"/>
              <a:t>v</a:t>
            </a:r>
            <a:endParaRPr lang="zh-CN" altLang="en-US" dirty="0"/>
          </a:p>
        </p:txBody>
      </p:sp>
      <p:sp>
        <p:nvSpPr>
          <p:cNvPr id="17" name="Text Box 6"/>
          <p:cNvSpPr txBox="1">
            <a:spLocks noChangeArrowheads="1"/>
          </p:cNvSpPr>
          <p:nvPr/>
        </p:nvSpPr>
        <p:spPr bwMode="auto">
          <a:xfrm>
            <a:off x="2862818" y="2403766"/>
            <a:ext cx="675362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 smtClean="0">
                <a:solidFill>
                  <a:srgbClr val="5C307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第五章     树和二叉树</a:t>
            </a:r>
            <a:endParaRPr lang="zh-CN" altLang="en-US" sz="3200" b="1" dirty="0">
              <a:solidFill>
                <a:srgbClr val="5C307D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40"/>
          <p:cNvGrpSpPr/>
          <p:nvPr/>
        </p:nvGrpSpPr>
        <p:grpSpPr>
          <a:xfrm>
            <a:off x="1903785" y="1307175"/>
            <a:ext cx="517526" cy="387350"/>
            <a:chOff x="4113213" y="3232150"/>
            <a:chExt cx="517526" cy="387350"/>
          </a:xfrm>
          <a:solidFill>
            <a:srgbClr val="5A327D"/>
          </a:solidFill>
        </p:grpSpPr>
        <p:sp>
          <p:nvSpPr>
            <p:cNvPr id="23" name="Freeform 124"/>
            <p:cNvSpPr/>
            <p:nvPr/>
          </p:nvSpPr>
          <p:spPr bwMode="auto">
            <a:xfrm>
              <a:off x="4292601" y="3394075"/>
              <a:ext cx="338138" cy="225425"/>
            </a:xfrm>
            <a:custGeom>
              <a:avLst/>
              <a:gdLst>
                <a:gd name="T0" fmla="*/ 40 w 124"/>
                <a:gd name="T1" fmla="*/ 83 h 83"/>
                <a:gd name="T2" fmla="*/ 40 w 124"/>
                <a:gd name="T3" fmla="*/ 78 h 83"/>
                <a:gd name="T4" fmla="*/ 41 w 124"/>
                <a:gd name="T5" fmla="*/ 71 h 83"/>
                <a:gd name="T6" fmla="*/ 32 w 124"/>
                <a:gd name="T7" fmla="*/ 75 h 83"/>
                <a:gd name="T8" fmla="*/ 29 w 124"/>
                <a:gd name="T9" fmla="*/ 75 h 83"/>
                <a:gd name="T10" fmla="*/ 23 w 124"/>
                <a:gd name="T11" fmla="*/ 72 h 83"/>
                <a:gd name="T12" fmla="*/ 3 w 124"/>
                <a:gd name="T13" fmla="*/ 41 h 83"/>
                <a:gd name="T14" fmla="*/ 5 w 124"/>
                <a:gd name="T15" fmla="*/ 31 h 83"/>
                <a:gd name="T16" fmla="*/ 9 w 124"/>
                <a:gd name="T17" fmla="*/ 30 h 83"/>
                <a:gd name="T18" fmla="*/ 15 w 124"/>
                <a:gd name="T19" fmla="*/ 33 h 83"/>
                <a:gd name="T20" fmla="*/ 32 w 124"/>
                <a:gd name="T21" fmla="*/ 59 h 83"/>
                <a:gd name="T22" fmla="*/ 55 w 124"/>
                <a:gd name="T23" fmla="*/ 50 h 83"/>
                <a:gd name="T24" fmla="*/ 56 w 124"/>
                <a:gd name="T25" fmla="*/ 50 h 83"/>
                <a:gd name="T26" fmla="*/ 64 w 124"/>
                <a:gd name="T27" fmla="*/ 45 h 83"/>
                <a:gd name="T28" fmla="*/ 69 w 124"/>
                <a:gd name="T29" fmla="*/ 43 h 83"/>
                <a:gd name="T30" fmla="*/ 65 w 124"/>
                <a:gd name="T31" fmla="*/ 39 h 83"/>
                <a:gd name="T32" fmla="*/ 59 w 124"/>
                <a:gd name="T33" fmla="*/ 23 h 83"/>
                <a:gd name="T34" fmla="*/ 82 w 124"/>
                <a:gd name="T35" fmla="*/ 0 h 83"/>
                <a:gd name="T36" fmla="*/ 88 w 124"/>
                <a:gd name="T37" fmla="*/ 1 h 83"/>
                <a:gd name="T38" fmla="*/ 105 w 124"/>
                <a:gd name="T39" fmla="*/ 23 h 83"/>
                <a:gd name="T40" fmla="*/ 99 w 124"/>
                <a:gd name="T41" fmla="*/ 39 h 83"/>
                <a:gd name="T42" fmla="*/ 95 w 124"/>
                <a:gd name="T43" fmla="*/ 43 h 83"/>
                <a:gd name="T44" fmla="*/ 100 w 124"/>
                <a:gd name="T45" fmla="*/ 45 h 83"/>
                <a:gd name="T46" fmla="*/ 124 w 124"/>
                <a:gd name="T47" fmla="*/ 83 h 83"/>
                <a:gd name="T48" fmla="*/ 40 w 124"/>
                <a:gd name="T49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24" h="83">
                  <a:moveTo>
                    <a:pt x="40" y="83"/>
                  </a:moveTo>
                  <a:cubicBezTo>
                    <a:pt x="40" y="81"/>
                    <a:pt x="40" y="80"/>
                    <a:pt x="40" y="78"/>
                  </a:cubicBezTo>
                  <a:cubicBezTo>
                    <a:pt x="41" y="71"/>
                    <a:pt x="41" y="71"/>
                    <a:pt x="41" y="71"/>
                  </a:cubicBezTo>
                  <a:cubicBezTo>
                    <a:pt x="32" y="75"/>
                    <a:pt x="32" y="75"/>
                    <a:pt x="32" y="75"/>
                  </a:cubicBezTo>
                  <a:cubicBezTo>
                    <a:pt x="31" y="75"/>
                    <a:pt x="30" y="75"/>
                    <a:pt x="29" y="75"/>
                  </a:cubicBezTo>
                  <a:cubicBezTo>
                    <a:pt x="27" y="75"/>
                    <a:pt x="24" y="74"/>
                    <a:pt x="23" y="72"/>
                  </a:cubicBezTo>
                  <a:cubicBezTo>
                    <a:pt x="3" y="41"/>
                    <a:pt x="3" y="41"/>
                    <a:pt x="3" y="41"/>
                  </a:cubicBezTo>
                  <a:cubicBezTo>
                    <a:pt x="0" y="37"/>
                    <a:pt x="1" y="33"/>
                    <a:pt x="5" y="31"/>
                  </a:cubicBezTo>
                  <a:cubicBezTo>
                    <a:pt x="6" y="30"/>
                    <a:pt x="7" y="30"/>
                    <a:pt x="9" y="30"/>
                  </a:cubicBezTo>
                  <a:cubicBezTo>
                    <a:pt x="11" y="30"/>
                    <a:pt x="13" y="31"/>
                    <a:pt x="15" y="33"/>
                  </a:cubicBezTo>
                  <a:cubicBezTo>
                    <a:pt x="32" y="59"/>
                    <a:pt x="32" y="59"/>
                    <a:pt x="32" y="59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6" y="50"/>
                    <a:pt x="56" y="50"/>
                    <a:pt x="56" y="50"/>
                  </a:cubicBezTo>
                  <a:cubicBezTo>
                    <a:pt x="58" y="48"/>
                    <a:pt x="61" y="47"/>
                    <a:pt x="64" y="45"/>
                  </a:cubicBezTo>
                  <a:cubicBezTo>
                    <a:pt x="69" y="43"/>
                    <a:pt x="69" y="43"/>
                    <a:pt x="69" y="43"/>
                  </a:cubicBezTo>
                  <a:cubicBezTo>
                    <a:pt x="65" y="39"/>
                    <a:pt x="65" y="39"/>
                    <a:pt x="65" y="39"/>
                  </a:cubicBezTo>
                  <a:cubicBezTo>
                    <a:pt x="61" y="35"/>
                    <a:pt x="59" y="29"/>
                    <a:pt x="59" y="23"/>
                  </a:cubicBezTo>
                  <a:cubicBezTo>
                    <a:pt x="59" y="11"/>
                    <a:pt x="69" y="0"/>
                    <a:pt x="82" y="0"/>
                  </a:cubicBezTo>
                  <a:cubicBezTo>
                    <a:pt x="84" y="0"/>
                    <a:pt x="86" y="1"/>
                    <a:pt x="88" y="1"/>
                  </a:cubicBezTo>
                  <a:cubicBezTo>
                    <a:pt x="98" y="4"/>
                    <a:pt x="105" y="13"/>
                    <a:pt x="105" y="23"/>
                  </a:cubicBezTo>
                  <a:cubicBezTo>
                    <a:pt x="105" y="29"/>
                    <a:pt x="102" y="35"/>
                    <a:pt x="99" y="39"/>
                  </a:cubicBezTo>
                  <a:cubicBezTo>
                    <a:pt x="95" y="43"/>
                    <a:pt x="95" y="43"/>
                    <a:pt x="95" y="43"/>
                  </a:cubicBezTo>
                  <a:cubicBezTo>
                    <a:pt x="100" y="45"/>
                    <a:pt x="100" y="45"/>
                    <a:pt x="100" y="45"/>
                  </a:cubicBezTo>
                  <a:cubicBezTo>
                    <a:pt x="115" y="52"/>
                    <a:pt x="124" y="67"/>
                    <a:pt x="124" y="83"/>
                  </a:cubicBezTo>
                  <a:lnTo>
                    <a:pt x="40" y="8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Freeform 125"/>
            <p:cNvSpPr>
              <a:spLocks noEditPoints="1"/>
            </p:cNvSpPr>
            <p:nvPr/>
          </p:nvSpPr>
          <p:spPr bwMode="auto">
            <a:xfrm>
              <a:off x="4140201" y="3232150"/>
              <a:ext cx="395288" cy="314325"/>
            </a:xfrm>
            <a:custGeom>
              <a:avLst/>
              <a:gdLst>
                <a:gd name="T0" fmla="*/ 141 w 145"/>
                <a:gd name="T1" fmla="*/ 0 h 115"/>
                <a:gd name="T2" fmla="*/ 4 w 145"/>
                <a:gd name="T3" fmla="*/ 0 h 115"/>
                <a:gd name="T4" fmla="*/ 0 w 145"/>
                <a:gd name="T5" fmla="*/ 4 h 115"/>
                <a:gd name="T6" fmla="*/ 0 w 145"/>
                <a:gd name="T7" fmla="*/ 111 h 115"/>
                <a:gd name="T8" fmla="*/ 4 w 145"/>
                <a:gd name="T9" fmla="*/ 115 h 115"/>
                <a:gd name="T10" fmla="*/ 64 w 145"/>
                <a:gd name="T11" fmla="*/ 115 h 115"/>
                <a:gd name="T12" fmla="*/ 55 w 145"/>
                <a:gd name="T13" fmla="*/ 102 h 115"/>
                <a:gd name="T14" fmla="*/ 54 w 145"/>
                <a:gd name="T15" fmla="*/ 91 h 115"/>
                <a:gd name="T16" fmla="*/ 54 w 145"/>
                <a:gd name="T17" fmla="*/ 91 h 115"/>
                <a:gd name="T18" fmla="*/ 30 w 145"/>
                <a:gd name="T19" fmla="*/ 55 h 115"/>
                <a:gd name="T20" fmla="*/ 31 w 145"/>
                <a:gd name="T21" fmla="*/ 49 h 115"/>
                <a:gd name="T22" fmla="*/ 37 w 145"/>
                <a:gd name="T23" fmla="*/ 50 h 115"/>
                <a:gd name="T24" fmla="*/ 60 w 145"/>
                <a:gd name="T25" fmla="*/ 86 h 115"/>
                <a:gd name="T26" fmla="*/ 74 w 145"/>
                <a:gd name="T27" fmla="*/ 90 h 115"/>
                <a:gd name="T28" fmla="*/ 90 w 145"/>
                <a:gd name="T29" fmla="*/ 113 h 115"/>
                <a:gd name="T30" fmla="*/ 109 w 145"/>
                <a:gd name="T31" fmla="*/ 106 h 115"/>
                <a:gd name="T32" fmla="*/ 118 w 145"/>
                <a:gd name="T33" fmla="*/ 100 h 115"/>
                <a:gd name="T34" fmla="*/ 111 w 145"/>
                <a:gd name="T35" fmla="*/ 82 h 115"/>
                <a:gd name="T36" fmla="*/ 138 w 145"/>
                <a:gd name="T37" fmla="*/ 55 h 115"/>
                <a:gd name="T38" fmla="*/ 145 w 145"/>
                <a:gd name="T39" fmla="*/ 57 h 115"/>
                <a:gd name="T40" fmla="*/ 145 w 145"/>
                <a:gd name="T41" fmla="*/ 4 h 115"/>
                <a:gd name="T42" fmla="*/ 141 w 145"/>
                <a:gd name="T43" fmla="*/ 0 h 115"/>
                <a:gd name="T44" fmla="*/ 103 w 145"/>
                <a:gd name="T45" fmla="*/ 67 h 115"/>
                <a:gd name="T46" fmla="*/ 60 w 145"/>
                <a:gd name="T47" fmla="*/ 67 h 115"/>
                <a:gd name="T48" fmla="*/ 56 w 145"/>
                <a:gd name="T49" fmla="*/ 63 h 115"/>
                <a:gd name="T50" fmla="*/ 60 w 145"/>
                <a:gd name="T51" fmla="*/ 59 h 115"/>
                <a:gd name="T52" fmla="*/ 103 w 145"/>
                <a:gd name="T53" fmla="*/ 59 h 115"/>
                <a:gd name="T54" fmla="*/ 107 w 145"/>
                <a:gd name="T55" fmla="*/ 63 h 115"/>
                <a:gd name="T56" fmla="*/ 103 w 145"/>
                <a:gd name="T57" fmla="*/ 67 h 115"/>
                <a:gd name="T58" fmla="*/ 115 w 145"/>
                <a:gd name="T59" fmla="*/ 48 h 115"/>
                <a:gd name="T60" fmla="*/ 60 w 145"/>
                <a:gd name="T61" fmla="*/ 48 h 115"/>
                <a:gd name="T62" fmla="*/ 56 w 145"/>
                <a:gd name="T63" fmla="*/ 44 h 115"/>
                <a:gd name="T64" fmla="*/ 60 w 145"/>
                <a:gd name="T65" fmla="*/ 40 h 115"/>
                <a:gd name="T66" fmla="*/ 115 w 145"/>
                <a:gd name="T67" fmla="*/ 40 h 115"/>
                <a:gd name="T68" fmla="*/ 119 w 145"/>
                <a:gd name="T69" fmla="*/ 44 h 115"/>
                <a:gd name="T70" fmla="*/ 115 w 145"/>
                <a:gd name="T71" fmla="*/ 48 h 115"/>
                <a:gd name="T72" fmla="*/ 115 w 145"/>
                <a:gd name="T73" fmla="*/ 28 h 115"/>
                <a:gd name="T74" fmla="*/ 60 w 145"/>
                <a:gd name="T75" fmla="*/ 28 h 115"/>
                <a:gd name="T76" fmla="*/ 56 w 145"/>
                <a:gd name="T77" fmla="*/ 24 h 115"/>
                <a:gd name="T78" fmla="*/ 60 w 145"/>
                <a:gd name="T79" fmla="*/ 20 h 115"/>
                <a:gd name="T80" fmla="*/ 115 w 145"/>
                <a:gd name="T81" fmla="*/ 20 h 115"/>
                <a:gd name="T82" fmla="*/ 119 w 145"/>
                <a:gd name="T83" fmla="*/ 24 h 115"/>
                <a:gd name="T84" fmla="*/ 115 w 145"/>
                <a:gd name="T85" fmla="*/ 28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5" h="115">
                  <a:moveTo>
                    <a:pt x="14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1" y="0"/>
                    <a:pt x="0" y="2"/>
                    <a:pt x="0" y="4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13"/>
                    <a:pt x="1" y="115"/>
                    <a:pt x="4" y="115"/>
                  </a:cubicBezTo>
                  <a:cubicBezTo>
                    <a:pt x="64" y="115"/>
                    <a:pt x="64" y="115"/>
                    <a:pt x="64" y="115"/>
                  </a:cubicBezTo>
                  <a:cubicBezTo>
                    <a:pt x="55" y="102"/>
                    <a:pt x="55" y="102"/>
                    <a:pt x="55" y="102"/>
                  </a:cubicBezTo>
                  <a:cubicBezTo>
                    <a:pt x="53" y="99"/>
                    <a:pt x="53" y="95"/>
                    <a:pt x="54" y="91"/>
                  </a:cubicBezTo>
                  <a:cubicBezTo>
                    <a:pt x="54" y="91"/>
                    <a:pt x="54" y="91"/>
                    <a:pt x="54" y="91"/>
                  </a:cubicBezTo>
                  <a:cubicBezTo>
                    <a:pt x="30" y="55"/>
                    <a:pt x="30" y="55"/>
                    <a:pt x="30" y="55"/>
                  </a:cubicBezTo>
                  <a:cubicBezTo>
                    <a:pt x="29" y="53"/>
                    <a:pt x="29" y="50"/>
                    <a:pt x="31" y="49"/>
                  </a:cubicBezTo>
                  <a:cubicBezTo>
                    <a:pt x="33" y="48"/>
                    <a:pt x="36" y="48"/>
                    <a:pt x="37" y="50"/>
                  </a:cubicBezTo>
                  <a:cubicBezTo>
                    <a:pt x="60" y="86"/>
                    <a:pt x="60" y="86"/>
                    <a:pt x="60" y="86"/>
                  </a:cubicBezTo>
                  <a:cubicBezTo>
                    <a:pt x="65" y="83"/>
                    <a:pt x="71" y="85"/>
                    <a:pt x="74" y="90"/>
                  </a:cubicBezTo>
                  <a:cubicBezTo>
                    <a:pt x="90" y="113"/>
                    <a:pt x="90" y="113"/>
                    <a:pt x="90" y="113"/>
                  </a:cubicBezTo>
                  <a:cubicBezTo>
                    <a:pt x="109" y="106"/>
                    <a:pt x="109" y="106"/>
                    <a:pt x="109" y="106"/>
                  </a:cubicBezTo>
                  <a:cubicBezTo>
                    <a:pt x="112" y="104"/>
                    <a:pt x="115" y="102"/>
                    <a:pt x="118" y="100"/>
                  </a:cubicBezTo>
                  <a:cubicBezTo>
                    <a:pt x="114" y="96"/>
                    <a:pt x="111" y="89"/>
                    <a:pt x="111" y="82"/>
                  </a:cubicBezTo>
                  <a:cubicBezTo>
                    <a:pt x="111" y="68"/>
                    <a:pt x="123" y="55"/>
                    <a:pt x="138" y="55"/>
                  </a:cubicBezTo>
                  <a:cubicBezTo>
                    <a:pt x="140" y="55"/>
                    <a:pt x="143" y="56"/>
                    <a:pt x="145" y="57"/>
                  </a:cubicBezTo>
                  <a:cubicBezTo>
                    <a:pt x="145" y="4"/>
                    <a:pt x="145" y="4"/>
                    <a:pt x="145" y="4"/>
                  </a:cubicBezTo>
                  <a:cubicBezTo>
                    <a:pt x="145" y="2"/>
                    <a:pt x="143" y="0"/>
                    <a:pt x="141" y="0"/>
                  </a:cubicBezTo>
                  <a:close/>
                  <a:moveTo>
                    <a:pt x="103" y="67"/>
                  </a:moveTo>
                  <a:cubicBezTo>
                    <a:pt x="60" y="67"/>
                    <a:pt x="60" y="67"/>
                    <a:pt x="60" y="67"/>
                  </a:cubicBezTo>
                  <a:cubicBezTo>
                    <a:pt x="58" y="67"/>
                    <a:pt x="56" y="65"/>
                    <a:pt x="56" y="63"/>
                  </a:cubicBezTo>
                  <a:cubicBezTo>
                    <a:pt x="56" y="61"/>
                    <a:pt x="58" y="59"/>
                    <a:pt x="60" y="59"/>
                  </a:cubicBezTo>
                  <a:cubicBezTo>
                    <a:pt x="103" y="59"/>
                    <a:pt x="103" y="59"/>
                    <a:pt x="103" y="59"/>
                  </a:cubicBezTo>
                  <a:cubicBezTo>
                    <a:pt x="106" y="59"/>
                    <a:pt x="107" y="61"/>
                    <a:pt x="107" y="63"/>
                  </a:cubicBezTo>
                  <a:cubicBezTo>
                    <a:pt x="107" y="65"/>
                    <a:pt x="106" y="67"/>
                    <a:pt x="103" y="67"/>
                  </a:cubicBezTo>
                  <a:close/>
                  <a:moveTo>
                    <a:pt x="115" y="48"/>
                  </a:moveTo>
                  <a:cubicBezTo>
                    <a:pt x="60" y="48"/>
                    <a:pt x="60" y="48"/>
                    <a:pt x="60" y="48"/>
                  </a:cubicBezTo>
                  <a:cubicBezTo>
                    <a:pt x="58" y="48"/>
                    <a:pt x="56" y="46"/>
                    <a:pt x="56" y="44"/>
                  </a:cubicBezTo>
                  <a:cubicBezTo>
                    <a:pt x="56" y="41"/>
                    <a:pt x="58" y="40"/>
                    <a:pt x="60" y="40"/>
                  </a:cubicBezTo>
                  <a:cubicBezTo>
                    <a:pt x="115" y="40"/>
                    <a:pt x="115" y="40"/>
                    <a:pt x="115" y="40"/>
                  </a:cubicBezTo>
                  <a:cubicBezTo>
                    <a:pt x="117" y="40"/>
                    <a:pt x="119" y="41"/>
                    <a:pt x="119" y="44"/>
                  </a:cubicBezTo>
                  <a:cubicBezTo>
                    <a:pt x="119" y="46"/>
                    <a:pt x="117" y="48"/>
                    <a:pt x="115" y="48"/>
                  </a:cubicBezTo>
                  <a:close/>
                  <a:moveTo>
                    <a:pt x="115" y="28"/>
                  </a:moveTo>
                  <a:cubicBezTo>
                    <a:pt x="60" y="28"/>
                    <a:pt x="60" y="28"/>
                    <a:pt x="60" y="28"/>
                  </a:cubicBezTo>
                  <a:cubicBezTo>
                    <a:pt x="58" y="28"/>
                    <a:pt x="56" y="27"/>
                    <a:pt x="56" y="24"/>
                  </a:cubicBezTo>
                  <a:cubicBezTo>
                    <a:pt x="56" y="22"/>
                    <a:pt x="58" y="20"/>
                    <a:pt x="60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7" y="20"/>
                    <a:pt x="119" y="22"/>
                    <a:pt x="119" y="24"/>
                  </a:cubicBezTo>
                  <a:cubicBezTo>
                    <a:pt x="119" y="27"/>
                    <a:pt x="117" y="28"/>
                    <a:pt x="115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Freeform 126"/>
            <p:cNvSpPr/>
            <p:nvPr/>
          </p:nvSpPr>
          <p:spPr bwMode="auto">
            <a:xfrm>
              <a:off x="4113213" y="3578225"/>
              <a:ext cx="220663" cy="22225"/>
            </a:xfrm>
            <a:custGeom>
              <a:avLst/>
              <a:gdLst>
                <a:gd name="T0" fmla="*/ 77 w 81"/>
                <a:gd name="T1" fmla="*/ 8 h 8"/>
                <a:gd name="T2" fmla="*/ 3 w 81"/>
                <a:gd name="T3" fmla="*/ 8 h 8"/>
                <a:gd name="T4" fmla="*/ 0 w 81"/>
                <a:gd name="T5" fmla="*/ 4 h 8"/>
                <a:gd name="T6" fmla="*/ 3 w 81"/>
                <a:gd name="T7" fmla="*/ 0 h 8"/>
                <a:gd name="T8" fmla="*/ 77 w 81"/>
                <a:gd name="T9" fmla="*/ 0 h 8"/>
                <a:gd name="T10" fmla="*/ 81 w 81"/>
                <a:gd name="T11" fmla="*/ 4 h 8"/>
                <a:gd name="T12" fmla="*/ 77 w 81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8">
                  <a:moveTo>
                    <a:pt x="77" y="8"/>
                  </a:moveTo>
                  <a:cubicBezTo>
                    <a:pt x="3" y="8"/>
                    <a:pt x="3" y="8"/>
                    <a:pt x="3" y="8"/>
                  </a:cubicBezTo>
                  <a:cubicBezTo>
                    <a:pt x="1" y="8"/>
                    <a:pt x="0" y="6"/>
                    <a:pt x="0" y="4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79" y="0"/>
                    <a:pt x="81" y="1"/>
                    <a:pt x="81" y="4"/>
                  </a:cubicBezTo>
                  <a:cubicBezTo>
                    <a:pt x="81" y="6"/>
                    <a:pt x="79" y="8"/>
                    <a:pt x="77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34" name="Text Box 19"/>
          <p:cNvSpPr txBox="1">
            <a:spLocks noChangeArrowheads="1"/>
          </p:cNvSpPr>
          <p:nvPr/>
        </p:nvSpPr>
        <p:spPr bwMode="auto">
          <a:xfrm>
            <a:off x="2648902" y="1241862"/>
            <a:ext cx="459009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二叉</a:t>
            </a:r>
            <a:r>
              <a:rPr lang="zh-CN" altLang="en-US" sz="28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链表的存储结构定义</a:t>
            </a:r>
            <a:endParaRPr lang="zh-CN" altLang="en-US" sz="28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Rounded Rectangle 10"/>
          <p:cNvSpPr/>
          <p:nvPr/>
        </p:nvSpPr>
        <p:spPr>
          <a:xfrm>
            <a:off x="542924" y="100964"/>
            <a:ext cx="1997075" cy="540000"/>
          </a:xfrm>
          <a:prstGeom prst="roundRect">
            <a:avLst/>
          </a:prstGeom>
          <a:solidFill>
            <a:srgbClr val="5A32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Text Box 2"/>
          <p:cNvSpPr txBox="1">
            <a:spLocks noChangeArrowheads="1"/>
          </p:cNvSpPr>
          <p:nvPr/>
        </p:nvSpPr>
        <p:spPr bwMode="auto">
          <a:xfrm>
            <a:off x="744849" y="46345"/>
            <a:ext cx="173927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3200" b="1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讲什么？</a:t>
            </a:r>
            <a:endParaRPr lang="zh-CN" altLang="en-US" sz="32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0" name="Group 40"/>
          <p:cNvGrpSpPr/>
          <p:nvPr/>
        </p:nvGrpSpPr>
        <p:grpSpPr>
          <a:xfrm>
            <a:off x="1903785" y="2020407"/>
            <a:ext cx="517526" cy="387350"/>
            <a:chOff x="4113213" y="3232150"/>
            <a:chExt cx="517526" cy="387350"/>
          </a:xfrm>
          <a:solidFill>
            <a:srgbClr val="5A327D"/>
          </a:solidFill>
        </p:grpSpPr>
        <p:sp>
          <p:nvSpPr>
            <p:cNvPr id="11" name="Freeform 124"/>
            <p:cNvSpPr/>
            <p:nvPr/>
          </p:nvSpPr>
          <p:spPr bwMode="auto">
            <a:xfrm>
              <a:off x="4292601" y="3394075"/>
              <a:ext cx="338138" cy="225425"/>
            </a:xfrm>
            <a:custGeom>
              <a:avLst/>
              <a:gdLst>
                <a:gd name="T0" fmla="*/ 40 w 124"/>
                <a:gd name="T1" fmla="*/ 83 h 83"/>
                <a:gd name="T2" fmla="*/ 40 w 124"/>
                <a:gd name="T3" fmla="*/ 78 h 83"/>
                <a:gd name="T4" fmla="*/ 41 w 124"/>
                <a:gd name="T5" fmla="*/ 71 h 83"/>
                <a:gd name="T6" fmla="*/ 32 w 124"/>
                <a:gd name="T7" fmla="*/ 75 h 83"/>
                <a:gd name="T8" fmla="*/ 29 w 124"/>
                <a:gd name="T9" fmla="*/ 75 h 83"/>
                <a:gd name="T10" fmla="*/ 23 w 124"/>
                <a:gd name="T11" fmla="*/ 72 h 83"/>
                <a:gd name="T12" fmla="*/ 3 w 124"/>
                <a:gd name="T13" fmla="*/ 41 h 83"/>
                <a:gd name="T14" fmla="*/ 5 w 124"/>
                <a:gd name="T15" fmla="*/ 31 h 83"/>
                <a:gd name="T16" fmla="*/ 9 w 124"/>
                <a:gd name="T17" fmla="*/ 30 h 83"/>
                <a:gd name="T18" fmla="*/ 15 w 124"/>
                <a:gd name="T19" fmla="*/ 33 h 83"/>
                <a:gd name="T20" fmla="*/ 32 w 124"/>
                <a:gd name="T21" fmla="*/ 59 h 83"/>
                <a:gd name="T22" fmla="*/ 55 w 124"/>
                <a:gd name="T23" fmla="*/ 50 h 83"/>
                <a:gd name="T24" fmla="*/ 56 w 124"/>
                <a:gd name="T25" fmla="*/ 50 h 83"/>
                <a:gd name="T26" fmla="*/ 64 w 124"/>
                <a:gd name="T27" fmla="*/ 45 h 83"/>
                <a:gd name="T28" fmla="*/ 69 w 124"/>
                <a:gd name="T29" fmla="*/ 43 h 83"/>
                <a:gd name="T30" fmla="*/ 65 w 124"/>
                <a:gd name="T31" fmla="*/ 39 h 83"/>
                <a:gd name="T32" fmla="*/ 59 w 124"/>
                <a:gd name="T33" fmla="*/ 23 h 83"/>
                <a:gd name="T34" fmla="*/ 82 w 124"/>
                <a:gd name="T35" fmla="*/ 0 h 83"/>
                <a:gd name="T36" fmla="*/ 88 w 124"/>
                <a:gd name="T37" fmla="*/ 1 h 83"/>
                <a:gd name="T38" fmla="*/ 105 w 124"/>
                <a:gd name="T39" fmla="*/ 23 h 83"/>
                <a:gd name="T40" fmla="*/ 99 w 124"/>
                <a:gd name="T41" fmla="*/ 39 h 83"/>
                <a:gd name="T42" fmla="*/ 95 w 124"/>
                <a:gd name="T43" fmla="*/ 43 h 83"/>
                <a:gd name="T44" fmla="*/ 100 w 124"/>
                <a:gd name="T45" fmla="*/ 45 h 83"/>
                <a:gd name="T46" fmla="*/ 124 w 124"/>
                <a:gd name="T47" fmla="*/ 83 h 83"/>
                <a:gd name="T48" fmla="*/ 40 w 124"/>
                <a:gd name="T49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24" h="83">
                  <a:moveTo>
                    <a:pt x="40" y="83"/>
                  </a:moveTo>
                  <a:cubicBezTo>
                    <a:pt x="40" y="81"/>
                    <a:pt x="40" y="80"/>
                    <a:pt x="40" y="78"/>
                  </a:cubicBezTo>
                  <a:cubicBezTo>
                    <a:pt x="41" y="71"/>
                    <a:pt x="41" y="71"/>
                    <a:pt x="41" y="71"/>
                  </a:cubicBezTo>
                  <a:cubicBezTo>
                    <a:pt x="32" y="75"/>
                    <a:pt x="32" y="75"/>
                    <a:pt x="32" y="75"/>
                  </a:cubicBezTo>
                  <a:cubicBezTo>
                    <a:pt x="31" y="75"/>
                    <a:pt x="30" y="75"/>
                    <a:pt x="29" y="75"/>
                  </a:cubicBezTo>
                  <a:cubicBezTo>
                    <a:pt x="27" y="75"/>
                    <a:pt x="24" y="74"/>
                    <a:pt x="23" y="72"/>
                  </a:cubicBezTo>
                  <a:cubicBezTo>
                    <a:pt x="3" y="41"/>
                    <a:pt x="3" y="41"/>
                    <a:pt x="3" y="41"/>
                  </a:cubicBezTo>
                  <a:cubicBezTo>
                    <a:pt x="0" y="37"/>
                    <a:pt x="1" y="33"/>
                    <a:pt x="5" y="31"/>
                  </a:cubicBezTo>
                  <a:cubicBezTo>
                    <a:pt x="6" y="30"/>
                    <a:pt x="7" y="30"/>
                    <a:pt x="9" y="30"/>
                  </a:cubicBezTo>
                  <a:cubicBezTo>
                    <a:pt x="11" y="30"/>
                    <a:pt x="13" y="31"/>
                    <a:pt x="15" y="33"/>
                  </a:cubicBezTo>
                  <a:cubicBezTo>
                    <a:pt x="32" y="59"/>
                    <a:pt x="32" y="59"/>
                    <a:pt x="32" y="59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6" y="50"/>
                    <a:pt x="56" y="50"/>
                    <a:pt x="56" y="50"/>
                  </a:cubicBezTo>
                  <a:cubicBezTo>
                    <a:pt x="58" y="48"/>
                    <a:pt x="61" y="47"/>
                    <a:pt x="64" y="45"/>
                  </a:cubicBezTo>
                  <a:cubicBezTo>
                    <a:pt x="69" y="43"/>
                    <a:pt x="69" y="43"/>
                    <a:pt x="69" y="43"/>
                  </a:cubicBezTo>
                  <a:cubicBezTo>
                    <a:pt x="65" y="39"/>
                    <a:pt x="65" y="39"/>
                    <a:pt x="65" y="39"/>
                  </a:cubicBezTo>
                  <a:cubicBezTo>
                    <a:pt x="61" y="35"/>
                    <a:pt x="59" y="29"/>
                    <a:pt x="59" y="23"/>
                  </a:cubicBezTo>
                  <a:cubicBezTo>
                    <a:pt x="59" y="11"/>
                    <a:pt x="69" y="0"/>
                    <a:pt x="82" y="0"/>
                  </a:cubicBezTo>
                  <a:cubicBezTo>
                    <a:pt x="84" y="0"/>
                    <a:pt x="86" y="1"/>
                    <a:pt x="88" y="1"/>
                  </a:cubicBezTo>
                  <a:cubicBezTo>
                    <a:pt x="98" y="4"/>
                    <a:pt x="105" y="13"/>
                    <a:pt x="105" y="23"/>
                  </a:cubicBezTo>
                  <a:cubicBezTo>
                    <a:pt x="105" y="29"/>
                    <a:pt x="102" y="35"/>
                    <a:pt x="99" y="39"/>
                  </a:cubicBezTo>
                  <a:cubicBezTo>
                    <a:pt x="95" y="43"/>
                    <a:pt x="95" y="43"/>
                    <a:pt x="95" y="43"/>
                  </a:cubicBezTo>
                  <a:cubicBezTo>
                    <a:pt x="100" y="45"/>
                    <a:pt x="100" y="45"/>
                    <a:pt x="100" y="45"/>
                  </a:cubicBezTo>
                  <a:cubicBezTo>
                    <a:pt x="115" y="52"/>
                    <a:pt x="124" y="67"/>
                    <a:pt x="124" y="83"/>
                  </a:cubicBezTo>
                  <a:lnTo>
                    <a:pt x="40" y="8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Freeform 125"/>
            <p:cNvSpPr>
              <a:spLocks noEditPoints="1"/>
            </p:cNvSpPr>
            <p:nvPr/>
          </p:nvSpPr>
          <p:spPr bwMode="auto">
            <a:xfrm>
              <a:off x="4140201" y="3232150"/>
              <a:ext cx="395288" cy="314325"/>
            </a:xfrm>
            <a:custGeom>
              <a:avLst/>
              <a:gdLst>
                <a:gd name="T0" fmla="*/ 141 w 145"/>
                <a:gd name="T1" fmla="*/ 0 h 115"/>
                <a:gd name="T2" fmla="*/ 4 w 145"/>
                <a:gd name="T3" fmla="*/ 0 h 115"/>
                <a:gd name="T4" fmla="*/ 0 w 145"/>
                <a:gd name="T5" fmla="*/ 4 h 115"/>
                <a:gd name="T6" fmla="*/ 0 w 145"/>
                <a:gd name="T7" fmla="*/ 111 h 115"/>
                <a:gd name="T8" fmla="*/ 4 w 145"/>
                <a:gd name="T9" fmla="*/ 115 h 115"/>
                <a:gd name="T10" fmla="*/ 64 w 145"/>
                <a:gd name="T11" fmla="*/ 115 h 115"/>
                <a:gd name="T12" fmla="*/ 55 w 145"/>
                <a:gd name="T13" fmla="*/ 102 h 115"/>
                <a:gd name="T14" fmla="*/ 54 w 145"/>
                <a:gd name="T15" fmla="*/ 91 h 115"/>
                <a:gd name="T16" fmla="*/ 54 w 145"/>
                <a:gd name="T17" fmla="*/ 91 h 115"/>
                <a:gd name="T18" fmla="*/ 30 w 145"/>
                <a:gd name="T19" fmla="*/ 55 h 115"/>
                <a:gd name="T20" fmla="*/ 31 w 145"/>
                <a:gd name="T21" fmla="*/ 49 h 115"/>
                <a:gd name="T22" fmla="*/ 37 w 145"/>
                <a:gd name="T23" fmla="*/ 50 h 115"/>
                <a:gd name="T24" fmla="*/ 60 w 145"/>
                <a:gd name="T25" fmla="*/ 86 h 115"/>
                <a:gd name="T26" fmla="*/ 74 w 145"/>
                <a:gd name="T27" fmla="*/ 90 h 115"/>
                <a:gd name="T28" fmla="*/ 90 w 145"/>
                <a:gd name="T29" fmla="*/ 113 h 115"/>
                <a:gd name="T30" fmla="*/ 109 w 145"/>
                <a:gd name="T31" fmla="*/ 106 h 115"/>
                <a:gd name="T32" fmla="*/ 118 w 145"/>
                <a:gd name="T33" fmla="*/ 100 h 115"/>
                <a:gd name="T34" fmla="*/ 111 w 145"/>
                <a:gd name="T35" fmla="*/ 82 h 115"/>
                <a:gd name="T36" fmla="*/ 138 w 145"/>
                <a:gd name="T37" fmla="*/ 55 h 115"/>
                <a:gd name="T38" fmla="*/ 145 w 145"/>
                <a:gd name="T39" fmla="*/ 57 h 115"/>
                <a:gd name="T40" fmla="*/ 145 w 145"/>
                <a:gd name="T41" fmla="*/ 4 h 115"/>
                <a:gd name="T42" fmla="*/ 141 w 145"/>
                <a:gd name="T43" fmla="*/ 0 h 115"/>
                <a:gd name="T44" fmla="*/ 103 w 145"/>
                <a:gd name="T45" fmla="*/ 67 h 115"/>
                <a:gd name="T46" fmla="*/ 60 w 145"/>
                <a:gd name="T47" fmla="*/ 67 h 115"/>
                <a:gd name="T48" fmla="*/ 56 w 145"/>
                <a:gd name="T49" fmla="*/ 63 h 115"/>
                <a:gd name="T50" fmla="*/ 60 w 145"/>
                <a:gd name="T51" fmla="*/ 59 h 115"/>
                <a:gd name="T52" fmla="*/ 103 w 145"/>
                <a:gd name="T53" fmla="*/ 59 h 115"/>
                <a:gd name="T54" fmla="*/ 107 w 145"/>
                <a:gd name="T55" fmla="*/ 63 h 115"/>
                <a:gd name="T56" fmla="*/ 103 w 145"/>
                <a:gd name="T57" fmla="*/ 67 h 115"/>
                <a:gd name="T58" fmla="*/ 115 w 145"/>
                <a:gd name="T59" fmla="*/ 48 h 115"/>
                <a:gd name="T60" fmla="*/ 60 w 145"/>
                <a:gd name="T61" fmla="*/ 48 h 115"/>
                <a:gd name="T62" fmla="*/ 56 w 145"/>
                <a:gd name="T63" fmla="*/ 44 h 115"/>
                <a:gd name="T64" fmla="*/ 60 w 145"/>
                <a:gd name="T65" fmla="*/ 40 h 115"/>
                <a:gd name="T66" fmla="*/ 115 w 145"/>
                <a:gd name="T67" fmla="*/ 40 h 115"/>
                <a:gd name="T68" fmla="*/ 119 w 145"/>
                <a:gd name="T69" fmla="*/ 44 h 115"/>
                <a:gd name="T70" fmla="*/ 115 w 145"/>
                <a:gd name="T71" fmla="*/ 48 h 115"/>
                <a:gd name="T72" fmla="*/ 115 w 145"/>
                <a:gd name="T73" fmla="*/ 28 h 115"/>
                <a:gd name="T74" fmla="*/ 60 w 145"/>
                <a:gd name="T75" fmla="*/ 28 h 115"/>
                <a:gd name="T76" fmla="*/ 56 w 145"/>
                <a:gd name="T77" fmla="*/ 24 h 115"/>
                <a:gd name="T78" fmla="*/ 60 w 145"/>
                <a:gd name="T79" fmla="*/ 20 h 115"/>
                <a:gd name="T80" fmla="*/ 115 w 145"/>
                <a:gd name="T81" fmla="*/ 20 h 115"/>
                <a:gd name="T82" fmla="*/ 119 w 145"/>
                <a:gd name="T83" fmla="*/ 24 h 115"/>
                <a:gd name="T84" fmla="*/ 115 w 145"/>
                <a:gd name="T85" fmla="*/ 28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5" h="115">
                  <a:moveTo>
                    <a:pt x="14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1" y="0"/>
                    <a:pt x="0" y="2"/>
                    <a:pt x="0" y="4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13"/>
                    <a:pt x="1" y="115"/>
                    <a:pt x="4" y="115"/>
                  </a:cubicBezTo>
                  <a:cubicBezTo>
                    <a:pt x="64" y="115"/>
                    <a:pt x="64" y="115"/>
                    <a:pt x="64" y="115"/>
                  </a:cubicBezTo>
                  <a:cubicBezTo>
                    <a:pt x="55" y="102"/>
                    <a:pt x="55" y="102"/>
                    <a:pt x="55" y="102"/>
                  </a:cubicBezTo>
                  <a:cubicBezTo>
                    <a:pt x="53" y="99"/>
                    <a:pt x="53" y="95"/>
                    <a:pt x="54" y="91"/>
                  </a:cubicBezTo>
                  <a:cubicBezTo>
                    <a:pt x="54" y="91"/>
                    <a:pt x="54" y="91"/>
                    <a:pt x="54" y="91"/>
                  </a:cubicBezTo>
                  <a:cubicBezTo>
                    <a:pt x="30" y="55"/>
                    <a:pt x="30" y="55"/>
                    <a:pt x="30" y="55"/>
                  </a:cubicBezTo>
                  <a:cubicBezTo>
                    <a:pt x="29" y="53"/>
                    <a:pt x="29" y="50"/>
                    <a:pt x="31" y="49"/>
                  </a:cubicBezTo>
                  <a:cubicBezTo>
                    <a:pt x="33" y="48"/>
                    <a:pt x="36" y="48"/>
                    <a:pt x="37" y="50"/>
                  </a:cubicBezTo>
                  <a:cubicBezTo>
                    <a:pt x="60" y="86"/>
                    <a:pt x="60" y="86"/>
                    <a:pt x="60" y="86"/>
                  </a:cubicBezTo>
                  <a:cubicBezTo>
                    <a:pt x="65" y="83"/>
                    <a:pt x="71" y="85"/>
                    <a:pt x="74" y="90"/>
                  </a:cubicBezTo>
                  <a:cubicBezTo>
                    <a:pt x="90" y="113"/>
                    <a:pt x="90" y="113"/>
                    <a:pt x="90" y="113"/>
                  </a:cubicBezTo>
                  <a:cubicBezTo>
                    <a:pt x="109" y="106"/>
                    <a:pt x="109" y="106"/>
                    <a:pt x="109" y="106"/>
                  </a:cubicBezTo>
                  <a:cubicBezTo>
                    <a:pt x="112" y="104"/>
                    <a:pt x="115" y="102"/>
                    <a:pt x="118" y="100"/>
                  </a:cubicBezTo>
                  <a:cubicBezTo>
                    <a:pt x="114" y="96"/>
                    <a:pt x="111" y="89"/>
                    <a:pt x="111" y="82"/>
                  </a:cubicBezTo>
                  <a:cubicBezTo>
                    <a:pt x="111" y="68"/>
                    <a:pt x="123" y="55"/>
                    <a:pt x="138" y="55"/>
                  </a:cubicBezTo>
                  <a:cubicBezTo>
                    <a:pt x="140" y="55"/>
                    <a:pt x="143" y="56"/>
                    <a:pt x="145" y="57"/>
                  </a:cubicBezTo>
                  <a:cubicBezTo>
                    <a:pt x="145" y="4"/>
                    <a:pt x="145" y="4"/>
                    <a:pt x="145" y="4"/>
                  </a:cubicBezTo>
                  <a:cubicBezTo>
                    <a:pt x="145" y="2"/>
                    <a:pt x="143" y="0"/>
                    <a:pt x="141" y="0"/>
                  </a:cubicBezTo>
                  <a:close/>
                  <a:moveTo>
                    <a:pt x="103" y="67"/>
                  </a:moveTo>
                  <a:cubicBezTo>
                    <a:pt x="60" y="67"/>
                    <a:pt x="60" y="67"/>
                    <a:pt x="60" y="67"/>
                  </a:cubicBezTo>
                  <a:cubicBezTo>
                    <a:pt x="58" y="67"/>
                    <a:pt x="56" y="65"/>
                    <a:pt x="56" y="63"/>
                  </a:cubicBezTo>
                  <a:cubicBezTo>
                    <a:pt x="56" y="61"/>
                    <a:pt x="58" y="59"/>
                    <a:pt x="60" y="59"/>
                  </a:cubicBezTo>
                  <a:cubicBezTo>
                    <a:pt x="103" y="59"/>
                    <a:pt x="103" y="59"/>
                    <a:pt x="103" y="59"/>
                  </a:cubicBezTo>
                  <a:cubicBezTo>
                    <a:pt x="106" y="59"/>
                    <a:pt x="107" y="61"/>
                    <a:pt x="107" y="63"/>
                  </a:cubicBezTo>
                  <a:cubicBezTo>
                    <a:pt x="107" y="65"/>
                    <a:pt x="106" y="67"/>
                    <a:pt x="103" y="67"/>
                  </a:cubicBezTo>
                  <a:close/>
                  <a:moveTo>
                    <a:pt x="115" y="48"/>
                  </a:moveTo>
                  <a:cubicBezTo>
                    <a:pt x="60" y="48"/>
                    <a:pt x="60" y="48"/>
                    <a:pt x="60" y="48"/>
                  </a:cubicBezTo>
                  <a:cubicBezTo>
                    <a:pt x="58" y="48"/>
                    <a:pt x="56" y="46"/>
                    <a:pt x="56" y="44"/>
                  </a:cubicBezTo>
                  <a:cubicBezTo>
                    <a:pt x="56" y="41"/>
                    <a:pt x="58" y="40"/>
                    <a:pt x="60" y="40"/>
                  </a:cubicBezTo>
                  <a:cubicBezTo>
                    <a:pt x="115" y="40"/>
                    <a:pt x="115" y="40"/>
                    <a:pt x="115" y="40"/>
                  </a:cubicBezTo>
                  <a:cubicBezTo>
                    <a:pt x="117" y="40"/>
                    <a:pt x="119" y="41"/>
                    <a:pt x="119" y="44"/>
                  </a:cubicBezTo>
                  <a:cubicBezTo>
                    <a:pt x="119" y="46"/>
                    <a:pt x="117" y="48"/>
                    <a:pt x="115" y="48"/>
                  </a:cubicBezTo>
                  <a:close/>
                  <a:moveTo>
                    <a:pt x="115" y="28"/>
                  </a:moveTo>
                  <a:cubicBezTo>
                    <a:pt x="60" y="28"/>
                    <a:pt x="60" y="28"/>
                    <a:pt x="60" y="28"/>
                  </a:cubicBezTo>
                  <a:cubicBezTo>
                    <a:pt x="58" y="28"/>
                    <a:pt x="56" y="27"/>
                    <a:pt x="56" y="24"/>
                  </a:cubicBezTo>
                  <a:cubicBezTo>
                    <a:pt x="56" y="22"/>
                    <a:pt x="58" y="20"/>
                    <a:pt x="60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7" y="20"/>
                    <a:pt x="119" y="22"/>
                    <a:pt x="119" y="24"/>
                  </a:cubicBezTo>
                  <a:cubicBezTo>
                    <a:pt x="119" y="27"/>
                    <a:pt x="117" y="28"/>
                    <a:pt x="115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126"/>
            <p:cNvSpPr/>
            <p:nvPr/>
          </p:nvSpPr>
          <p:spPr bwMode="auto">
            <a:xfrm>
              <a:off x="4113213" y="3578225"/>
              <a:ext cx="220663" cy="22225"/>
            </a:xfrm>
            <a:custGeom>
              <a:avLst/>
              <a:gdLst>
                <a:gd name="T0" fmla="*/ 77 w 81"/>
                <a:gd name="T1" fmla="*/ 8 h 8"/>
                <a:gd name="T2" fmla="*/ 3 w 81"/>
                <a:gd name="T3" fmla="*/ 8 h 8"/>
                <a:gd name="T4" fmla="*/ 0 w 81"/>
                <a:gd name="T5" fmla="*/ 4 h 8"/>
                <a:gd name="T6" fmla="*/ 3 w 81"/>
                <a:gd name="T7" fmla="*/ 0 h 8"/>
                <a:gd name="T8" fmla="*/ 77 w 81"/>
                <a:gd name="T9" fmla="*/ 0 h 8"/>
                <a:gd name="T10" fmla="*/ 81 w 81"/>
                <a:gd name="T11" fmla="*/ 4 h 8"/>
                <a:gd name="T12" fmla="*/ 77 w 81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8">
                  <a:moveTo>
                    <a:pt x="77" y="8"/>
                  </a:moveTo>
                  <a:cubicBezTo>
                    <a:pt x="3" y="8"/>
                    <a:pt x="3" y="8"/>
                    <a:pt x="3" y="8"/>
                  </a:cubicBezTo>
                  <a:cubicBezTo>
                    <a:pt x="1" y="8"/>
                    <a:pt x="0" y="6"/>
                    <a:pt x="0" y="4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79" y="0"/>
                    <a:pt x="81" y="1"/>
                    <a:pt x="81" y="4"/>
                  </a:cubicBezTo>
                  <a:cubicBezTo>
                    <a:pt x="81" y="6"/>
                    <a:pt x="79" y="8"/>
                    <a:pt x="77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14" name="Text Box 19"/>
          <p:cNvSpPr txBox="1">
            <a:spLocks noChangeArrowheads="1"/>
          </p:cNvSpPr>
          <p:nvPr/>
        </p:nvSpPr>
        <p:spPr bwMode="auto">
          <a:xfrm>
            <a:off x="2648902" y="1955094"/>
            <a:ext cx="459009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</a:t>
            </a:r>
            <a:r>
              <a:rPr lang="zh-CN" altLang="en-US" sz="28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叉</a:t>
            </a:r>
            <a:r>
              <a:rPr lang="zh-CN" altLang="en-US" sz="28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链表的存储方法</a:t>
            </a:r>
            <a:endParaRPr lang="zh-CN" altLang="en-US" sz="28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6" name="Group 40"/>
          <p:cNvGrpSpPr/>
          <p:nvPr/>
        </p:nvGrpSpPr>
        <p:grpSpPr>
          <a:xfrm>
            <a:off x="1903785" y="2733639"/>
            <a:ext cx="517526" cy="387350"/>
            <a:chOff x="4113213" y="3232150"/>
            <a:chExt cx="517526" cy="387350"/>
          </a:xfrm>
          <a:solidFill>
            <a:srgbClr val="5A327D"/>
          </a:solidFill>
        </p:grpSpPr>
        <p:sp>
          <p:nvSpPr>
            <p:cNvPr id="17" name="Freeform 124"/>
            <p:cNvSpPr/>
            <p:nvPr/>
          </p:nvSpPr>
          <p:spPr bwMode="auto">
            <a:xfrm>
              <a:off x="4292601" y="3394075"/>
              <a:ext cx="338138" cy="225425"/>
            </a:xfrm>
            <a:custGeom>
              <a:avLst/>
              <a:gdLst>
                <a:gd name="T0" fmla="*/ 40 w 124"/>
                <a:gd name="T1" fmla="*/ 83 h 83"/>
                <a:gd name="T2" fmla="*/ 40 w 124"/>
                <a:gd name="T3" fmla="*/ 78 h 83"/>
                <a:gd name="T4" fmla="*/ 41 w 124"/>
                <a:gd name="T5" fmla="*/ 71 h 83"/>
                <a:gd name="T6" fmla="*/ 32 w 124"/>
                <a:gd name="T7" fmla="*/ 75 h 83"/>
                <a:gd name="T8" fmla="*/ 29 w 124"/>
                <a:gd name="T9" fmla="*/ 75 h 83"/>
                <a:gd name="T10" fmla="*/ 23 w 124"/>
                <a:gd name="T11" fmla="*/ 72 h 83"/>
                <a:gd name="T12" fmla="*/ 3 w 124"/>
                <a:gd name="T13" fmla="*/ 41 h 83"/>
                <a:gd name="T14" fmla="*/ 5 w 124"/>
                <a:gd name="T15" fmla="*/ 31 h 83"/>
                <a:gd name="T16" fmla="*/ 9 w 124"/>
                <a:gd name="T17" fmla="*/ 30 h 83"/>
                <a:gd name="T18" fmla="*/ 15 w 124"/>
                <a:gd name="T19" fmla="*/ 33 h 83"/>
                <a:gd name="T20" fmla="*/ 32 w 124"/>
                <a:gd name="T21" fmla="*/ 59 h 83"/>
                <a:gd name="T22" fmla="*/ 55 w 124"/>
                <a:gd name="T23" fmla="*/ 50 h 83"/>
                <a:gd name="T24" fmla="*/ 56 w 124"/>
                <a:gd name="T25" fmla="*/ 50 h 83"/>
                <a:gd name="T26" fmla="*/ 64 w 124"/>
                <a:gd name="T27" fmla="*/ 45 h 83"/>
                <a:gd name="T28" fmla="*/ 69 w 124"/>
                <a:gd name="T29" fmla="*/ 43 h 83"/>
                <a:gd name="T30" fmla="*/ 65 w 124"/>
                <a:gd name="T31" fmla="*/ 39 h 83"/>
                <a:gd name="T32" fmla="*/ 59 w 124"/>
                <a:gd name="T33" fmla="*/ 23 h 83"/>
                <a:gd name="T34" fmla="*/ 82 w 124"/>
                <a:gd name="T35" fmla="*/ 0 h 83"/>
                <a:gd name="T36" fmla="*/ 88 w 124"/>
                <a:gd name="T37" fmla="*/ 1 h 83"/>
                <a:gd name="T38" fmla="*/ 105 w 124"/>
                <a:gd name="T39" fmla="*/ 23 h 83"/>
                <a:gd name="T40" fmla="*/ 99 w 124"/>
                <a:gd name="T41" fmla="*/ 39 h 83"/>
                <a:gd name="T42" fmla="*/ 95 w 124"/>
                <a:gd name="T43" fmla="*/ 43 h 83"/>
                <a:gd name="T44" fmla="*/ 100 w 124"/>
                <a:gd name="T45" fmla="*/ 45 h 83"/>
                <a:gd name="T46" fmla="*/ 124 w 124"/>
                <a:gd name="T47" fmla="*/ 83 h 83"/>
                <a:gd name="T48" fmla="*/ 40 w 124"/>
                <a:gd name="T49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24" h="83">
                  <a:moveTo>
                    <a:pt x="40" y="83"/>
                  </a:moveTo>
                  <a:cubicBezTo>
                    <a:pt x="40" y="81"/>
                    <a:pt x="40" y="80"/>
                    <a:pt x="40" y="78"/>
                  </a:cubicBezTo>
                  <a:cubicBezTo>
                    <a:pt x="41" y="71"/>
                    <a:pt x="41" y="71"/>
                    <a:pt x="41" y="71"/>
                  </a:cubicBezTo>
                  <a:cubicBezTo>
                    <a:pt x="32" y="75"/>
                    <a:pt x="32" y="75"/>
                    <a:pt x="32" y="75"/>
                  </a:cubicBezTo>
                  <a:cubicBezTo>
                    <a:pt x="31" y="75"/>
                    <a:pt x="30" y="75"/>
                    <a:pt x="29" y="75"/>
                  </a:cubicBezTo>
                  <a:cubicBezTo>
                    <a:pt x="27" y="75"/>
                    <a:pt x="24" y="74"/>
                    <a:pt x="23" y="72"/>
                  </a:cubicBezTo>
                  <a:cubicBezTo>
                    <a:pt x="3" y="41"/>
                    <a:pt x="3" y="41"/>
                    <a:pt x="3" y="41"/>
                  </a:cubicBezTo>
                  <a:cubicBezTo>
                    <a:pt x="0" y="37"/>
                    <a:pt x="1" y="33"/>
                    <a:pt x="5" y="31"/>
                  </a:cubicBezTo>
                  <a:cubicBezTo>
                    <a:pt x="6" y="30"/>
                    <a:pt x="7" y="30"/>
                    <a:pt x="9" y="30"/>
                  </a:cubicBezTo>
                  <a:cubicBezTo>
                    <a:pt x="11" y="30"/>
                    <a:pt x="13" y="31"/>
                    <a:pt x="15" y="33"/>
                  </a:cubicBezTo>
                  <a:cubicBezTo>
                    <a:pt x="32" y="59"/>
                    <a:pt x="32" y="59"/>
                    <a:pt x="32" y="59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6" y="50"/>
                    <a:pt x="56" y="50"/>
                    <a:pt x="56" y="50"/>
                  </a:cubicBezTo>
                  <a:cubicBezTo>
                    <a:pt x="58" y="48"/>
                    <a:pt x="61" y="47"/>
                    <a:pt x="64" y="45"/>
                  </a:cubicBezTo>
                  <a:cubicBezTo>
                    <a:pt x="69" y="43"/>
                    <a:pt x="69" y="43"/>
                    <a:pt x="69" y="43"/>
                  </a:cubicBezTo>
                  <a:cubicBezTo>
                    <a:pt x="65" y="39"/>
                    <a:pt x="65" y="39"/>
                    <a:pt x="65" y="39"/>
                  </a:cubicBezTo>
                  <a:cubicBezTo>
                    <a:pt x="61" y="35"/>
                    <a:pt x="59" y="29"/>
                    <a:pt x="59" y="23"/>
                  </a:cubicBezTo>
                  <a:cubicBezTo>
                    <a:pt x="59" y="11"/>
                    <a:pt x="69" y="0"/>
                    <a:pt x="82" y="0"/>
                  </a:cubicBezTo>
                  <a:cubicBezTo>
                    <a:pt x="84" y="0"/>
                    <a:pt x="86" y="1"/>
                    <a:pt x="88" y="1"/>
                  </a:cubicBezTo>
                  <a:cubicBezTo>
                    <a:pt x="98" y="4"/>
                    <a:pt x="105" y="13"/>
                    <a:pt x="105" y="23"/>
                  </a:cubicBezTo>
                  <a:cubicBezTo>
                    <a:pt x="105" y="29"/>
                    <a:pt x="102" y="35"/>
                    <a:pt x="99" y="39"/>
                  </a:cubicBezTo>
                  <a:cubicBezTo>
                    <a:pt x="95" y="43"/>
                    <a:pt x="95" y="43"/>
                    <a:pt x="95" y="43"/>
                  </a:cubicBezTo>
                  <a:cubicBezTo>
                    <a:pt x="100" y="45"/>
                    <a:pt x="100" y="45"/>
                    <a:pt x="100" y="45"/>
                  </a:cubicBezTo>
                  <a:cubicBezTo>
                    <a:pt x="115" y="52"/>
                    <a:pt x="124" y="67"/>
                    <a:pt x="124" y="83"/>
                  </a:cubicBezTo>
                  <a:lnTo>
                    <a:pt x="40" y="8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125"/>
            <p:cNvSpPr>
              <a:spLocks noEditPoints="1"/>
            </p:cNvSpPr>
            <p:nvPr/>
          </p:nvSpPr>
          <p:spPr bwMode="auto">
            <a:xfrm>
              <a:off x="4140201" y="3232150"/>
              <a:ext cx="395288" cy="314325"/>
            </a:xfrm>
            <a:custGeom>
              <a:avLst/>
              <a:gdLst>
                <a:gd name="T0" fmla="*/ 141 w 145"/>
                <a:gd name="T1" fmla="*/ 0 h 115"/>
                <a:gd name="T2" fmla="*/ 4 w 145"/>
                <a:gd name="T3" fmla="*/ 0 h 115"/>
                <a:gd name="T4" fmla="*/ 0 w 145"/>
                <a:gd name="T5" fmla="*/ 4 h 115"/>
                <a:gd name="T6" fmla="*/ 0 w 145"/>
                <a:gd name="T7" fmla="*/ 111 h 115"/>
                <a:gd name="T8" fmla="*/ 4 w 145"/>
                <a:gd name="T9" fmla="*/ 115 h 115"/>
                <a:gd name="T10" fmla="*/ 64 w 145"/>
                <a:gd name="T11" fmla="*/ 115 h 115"/>
                <a:gd name="T12" fmla="*/ 55 w 145"/>
                <a:gd name="T13" fmla="*/ 102 h 115"/>
                <a:gd name="T14" fmla="*/ 54 w 145"/>
                <a:gd name="T15" fmla="*/ 91 h 115"/>
                <a:gd name="T16" fmla="*/ 54 w 145"/>
                <a:gd name="T17" fmla="*/ 91 h 115"/>
                <a:gd name="T18" fmla="*/ 30 w 145"/>
                <a:gd name="T19" fmla="*/ 55 h 115"/>
                <a:gd name="T20" fmla="*/ 31 w 145"/>
                <a:gd name="T21" fmla="*/ 49 h 115"/>
                <a:gd name="T22" fmla="*/ 37 w 145"/>
                <a:gd name="T23" fmla="*/ 50 h 115"/>
                <a:gd name="T24" fmla="*/ 60 w 145"/>
                <a:gd name="T25" fmla="*/ 86 h 115"/>
                <a:gd name="T26" fmla="*/ 74 w 145"/>
                <a:gd name="T27" fmla="*/ 90 h 115"/>
                <a:gd name="T28" fmla="*/ 90 w 145"/>
                <a:gd name="T29" fmla="*/ 113 h 115"/>
                <a:gd name="T30" fmla="*/ 109 w 145"/>
                <a:gd name="T31" fmla="*/ 106 h 115"/>
                <a:gd name="T32" fmla="*/ 118 w 145"/>
                <a:gd name="T33" fmla="*/ 100 h 115"/>
                <a:gd name="T34" fmla="*/ 111 w 145"/>
                <a:gd name="T35" fmla="*/ 82 h 115"/>
                <a:gd name="T36" fmla="*/ 138 w 145"/>
                <a:gd name="T37" fmla="*/ 55 h 115"/>
                <a:gd name="T38" fmla="*/ 145 w 145"/>
                <a:gd name="T39" fmla="*/ 57 h 115"/>
                <a:gd name="T40" fmla="*/ 145 w 145"/>
                <a:gd name="T41" fmla="*/ 4 h 115"/>
                <a:gd name="T42" fmla="*/ 141 w 145"/>
                <a:gd name="T43" fmla="*/ 0 h 115"/>
                <a:gd name="T44" fmla="*/ 103 w 145"/>
                <a:gd name="T45" fmla="*/ 67 h 115"/>
                <a:gd name="T46" fmla="*/ 60 w 145"/>
                <a:gd name="T47" fmla="*/ 67 h 115"/>
                <a:gd name="T48" fmla="*/ 56 w 145"/>
                <a:gd name="T49" fmla="*/ 63 h 115"/>
                <a:gd name="T50" fmla="*/ 60 w 145"/>
                <a:gd name="T51" fmla="*/ 59 h 115"/>
                <a:gd name="T52" fmla="*/ 103 w 145"/>
                <a:gd name="T53" fmla="*/ 59 h 115"/>
                <a:gd name="T54" fmla="*/ 107 w 145"/>
                <a:gd name="T55" fmla="*/ 63 h 115"/>
                <a:gd name="T56" fmla="*/ 103 w 145"/>
                <a:gd name="T57" fmla="*/ 67 h 115"/>
                <a:gd name="T58" fmla="*/ 115 w 145"/>
                <a:gd name="T59" fmla="*/ 48 h 115"/>
                <a:gd name="T60" fmla="*/ 60 w 145"/>
                <a:gd name="T61" fmla="*/ 48 h 115"/>
                <a:gd name="T62" fmla="*/ 56 w 145"/>
                <a:gd name="T63" fmla="*/ 44 h 115"/>
                <a:gd name="T64" fmla="*/ 60 w 145"/>
                <a:gd name="T65" fmla="*/ 40 h 115"/>
                <a:gd name="T66" fmla="*/ 115 w 145"/>
                <a:gd name="T67" fmla="*/ 40 h 115"/>
                <a:gd name="T68" fmla="*/ 119 w 145"/>
                <a:gd name="T69" fmla="*/ 44 h 115"/>
                <a:gd name="T70" fmla="*/ 115 w 145"/>
                <a:gd name="T71" fmla="*/ 48 h 115"/>
                <a:gd name="T72" fmla="*/ 115 w 145"/>
                <a:gd name="T73" fmla="*/ 28 h 115"/>
                <a:gd name="T74" fmla="*/ 60 w 145"/>
                <a:gd name="T75" fmla="*/ 28 h 115"/>
                <a:gd name="T76" fmla="*/ 56 w 145"/>
                <a:gd name="T77" fmla="*/ 24 h 115"/>
                <a:gd name="T78" fmla="*/ 60 w 145"/>
                <a:gd name="T79" fmla="*/ 20 h 115"/>
                <a:gd name="T80" fmla="*/ 115 w 145"/>
                <a:gd name="T81" fmla="*/ 20 h 115"/>
                <a:gd name="T82" fmla="*/ 119 w 145"/>
                <a:gd name="T83" fmla="*/ 24 h 115"/>
                <a:gd name="T84" fmla="*/ 115 w 145"/>
                <a:gd name="T85" fmla="*/ 28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5" h="115">
                  <a:moveTo>
                    <a:pt x="14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1" y="0"/>
                    <a:pt x="0" y="2"/>
                    <a:pt x="0" y="4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13"/>
                    <a:pt x="1" y="115"/>
                    <a:pt x="4" y="115"/>
                  </a:cubicBezTo>
                  <a:cubicBezTo>
                    <a:pt x="64" y="115"/>
                    <a:pt x="64" y="115"/>
                    <a:pt x="64" y="115"/>
                  </a:cubicBezTo>
                  <a:cubicBezTo>
                    <a:pt x="55" y="102"/>
                    <a:pt x="55" y="102"/>
                    <a:pt x="55" y="102"/>
                  </a:cubicBezTo>
                  <a:cubicBezTo>
                    <a:pt x="53" y="99"/>
                    <a:pt x="53" y="95"/>
                    <a:pt x="54" y="91"/>
                  </a:cubicBezTo>
                  <a:cubicBezTo>
                    <a:pt x="54" y="91"/>
                    <a:pt x="54" y="91"/>
                    <a:pt x="54" y="91"/>
                  </a:cubicBezTo>
                  <a:cubicBezTo>
                    <a:pt x="30" y="55"/>
                    <a:pt x="30" y="55"/>
                    <a:pt x="30" y="55"/>
                  </a:cubicBezTo>
                  <a:cubicBezTo>
                    <a:pt x="29" y="53"/>
                    <a:pt x="29" y="50"/>
                    <a:pt x="31" y="49"/>
                  </a:cubicBezTo>
                  <a:cubicBezTo>
                    <a:pt x="33" y="48"/>
                    <a:pt x="36" y="48"/>
                    <a:pt x="37" y="50"/>
                  </a:cubicBezTo>
                  <a:cubicBezTo>
                    <a:pt x="60" y="86"/>
                    <a:pt x="60" y="86"/>
                    <a:pt x="60" y="86"/>
                  </a:cubicBezTo>
                  <a:cubicBezTo>
                    <a:pt x="65" y="83"/>
                    <a:pt x="71" y="85"/>
                    <a:pt x="74" y="90"/>
                  </a:cubicBezTo>
                  <a:cubicBezTo>
                    <a:pt x="90" y="113"/>
                    <a:pt x="90" y="113"/>
                    <a:pt x="90" y="113"/>
                  </a:cubicBezTo>
                  <a:cubicBezTo>
                    <a:pt x="109" y="106"/>
                    <a:pt x="109" y="106"/>
                    <a:pt x="109" y="106"/>
                  </a:cubicBezTo>
                  <a:cubicBezTo>
                    <a:pt x="112" y="104"/>
                    <a:pt x="115" y="102"/>
                    <a:pt x="118" y="100"/>
                  </a:cubicBezTo>
                  <a:cubicBezTo>
                    <a:pt x="114" y="96"/>
                    <a:pt x="111" y="89"/>
                    <a:pt x="111" y="82"/>
                  </a:cubicBezTo>
                  <a:cubicBezTo>
                    <a:pt x="111" y="68"/>
                    <a:pt x="123" y="55"/>
                    <a:pt x="138" y="55"/>
                  </a:cubicBezTo>
                  <a:cubicBezTo>
                    <a:pt x="140" y="55"/>
                    <a:pt x="143" y="56"/>
                    <a:pt x="145" y="57"/>
                  </a:cubicBezTo>
                  <a:cubicBezTo>
                    <a:pt x="145" y="4"/>
                    <a:pt x="145" y="4"/>
                    <a:pt x="145" y="4"/>
                  </a:cubicBezTo>
                  <a:cubicBezTo>
                    <a:pt x="145" y="2"/>
                    <a:pt x="143" y="0"/>
                    <a:pt x="141" y="0"/>
                  </a:cubicBezTo>
                  <a:close/>
                  <a:moveTo>
                    <a:pt x="103" y="67"/>
                  </a:moveTo>
                  <a:cubicBezTo>
                    <a:pt x="60" y="67"/>
                    <a:pt x="60" y="67"/>
                    <a:pt x="60" y="67"/>
                  </a:cubicBezTo>
                  <a:cubicBezTo>
                    <a:pt x="58" y="67"/>
                    <a:pt x="56" y="65"/>
                    <a:pt x="56" y="63"/>
                  </a:cubicBezTo>
                  <a:cubicBezTo>
                    <a:pt x="56" y="61"/>
                    <a:pt x="58" y="59"/>
                    <a:pt x="60" y="59"/>
                  </a:cubicBezTo>
                  <a:cubicBezTo>
                    <a:pt x="103" y="59"/>
                    <a:pt x="103" y="59"/>
                    <a:pt x="103" y="59"/>
                  </a:cubicBezTo>
                  <a:cubicBezTo>
                    <a:pt x="106" y="59"/>
                    <a:pt x="107" y="61"/>
                    <a:pt x="107" y="63"/>
                  </a:cubicBezTo>
                  <a:cubicBezTo>
                    <a:pt x="107" y="65"/>
                    <a:pt x="106" y="67"/>
                    <a:pt x="103" y="67"/>
                  </a:cubicBezTo>
                  <a:close/>
                  <a:moveTo>
                    <a:pt x="115" y="48"/>
                  </a:moveTo>
                  <a:cubicBezTo>
                    <a:pt x="60" y="48"/>
                    <a:pt x="60" y="48"/>
                    <a:pt x="60" y="48"/>
                  </a:cubicBezTo>
                  <a:cubicBezTo>
                    <a:pt x="58" y="48"/>
                    <a:pt x="56" y="46"/>
                    <a:pt x="56" y="44"/>
                  </a:cubicBezTo>
                  <a:cubicBezTo>
                    <a:pt x="56" y="41"/>
                    <a:pt x="58" y="40"/>
                    <a:pt x="60" y="40"/>
                  </a:cubicBezTo>
                  <a:cubicBezTo>
                    <a:pt x="115" y="40"/>
                    <a:pt x="115" y="40"/>
                    <a:pt x="115" y="40"/>
                  </a:cubicBezTo>
                  <a:cubicBezTo>
                    <a:pt x="117" y="40"/>
                    <a:pt x="119" y="41"/>
                    <a:pt x="119" y="44"/>
                  </a:cubicBezTo>
                  <a:cubicBezTo>
                    <a:pt x="119" y="46"/>
                    <a:pt x="117" y="48"/>
                    <a:pt x="115" y="48"/>
                  </a:cubicBezTo>
                  <a:close/>
                  <a:moveTo>
                    <a:pt x="115" y="28"/>
                  </a:moveTo>
                  <a:cubicBezTo>
                    <a:pt x="60" y="28"/>
                    <a:pt x="60" y="28"/>
                    <a:pt x="60" y="28"/>
                  </a:cubicBezTo>
                  <a:cubicBezTo>
                    <a:pt x="58" y="28"/>
                    <a:pt x="56" y="27"/>
                    <a:pt x="56" y="24"/>
                  </a:cubicBezTo>
                  <a:cubicBezTo>
                    <a:pt x="56" y="22"/>
                    <a:pt x="58" y="20"/>
                    <a:pt x="60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7" y="20"/>
                    <a:pt x="119" y="22"/>
                    <a:pt x="119" y="24"/>
                  </a:cubicBezTo>
                  <a:cubicBezTo>
                    <a:pt x="119" y="27"/>
                    <a:pt x="117" y="28"/>
                    <a:pt x="115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Freeform 126"/>
            <p:cNvSpPr/>
            <p:nvPr/>
          </p:nvSpPr>
          <p:spPr bwMode="auto">
            <a:xfrm>
              <a:off x="4113213" y="3578225"/>
              <a:ext cx="220663" cy="22225"/>
            </a:xfrm>
            <a:custGeom>
              <a:avLst/>
              <a:gdLst>
                <a:gd name="T0" fmla="*/ 77 w 81"/>
                <a:gd name="T1" fmla="*/ 8 h 8"/>
                <a:gd name="T2" fmla="*/ 3 w 81"/>
                <a:gd name="T3" fmla="*/ 8 h 8"/>
                <a:gd name="T4" fmla="*/ 0 w 81"/>
                <a:gd name="T5" fmla="*/ 4 h 8"/>
                <a:gd name="T6" fmla="*/ 3 w 81"/>
                <a:gd name="T7" fmla="*/ 0 h 8"/>
                <a:gd name="T8" fmla="*/ 77 w 81"/>
                <a:gd name="T9" fmla="*/ 0 h 8"/>
                <a:gd name="T10" fmla="*/ 81 w 81"/>
                <a:gd name="T11" fmla="*/ 4 h 8"/>
                <a:gd name="T12" fmla="*/ 77 w 81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8">
                  <a:moveTo>
                    <a:pt x="77" y="8"/>
                  </a:moveTo>
                  <a:cubicBezTo>
                    <a:pt x="3" y="8"/>
                    <a:pt x="3" y="8"/>
                    <a:pt x="3" y="8"/>
                  </a:cubicBezTo>
                  <a:cubicBezTo>
                    <a:pt x="1" y="8"/>
                    <a:pt x="0" y="6"/>
                    <a:pt x="0" y="4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79" y="0"/>
                    <a:pt x="81" y="1"/>
                    <a:pt x="81" y="4"/>
                  </a:cubicBezTo>
                  <a:cubicBezTo>
                    <a:pt x="81" y="6"/>
                    <a:pt x="79" y="8"/>
                    <a:pt x="77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20" name="Text Box 19"/>
          <p:cNvSpPr txBox="1">
            <a:spLocks noChangeArrowheads="1"/>
          </p:cNvSpPr>
          <p:nvPr/>
        </p:nvSpPr>
        <p:spPr bwMode="auto">
          <a:xfrm>
            <a:off x="2648902" y="2668326"/>
            <a:ext cx="742473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二叉链表的实现</a:t>
            </a:r>
            <a:r>
              <a:rPr lang="en-US" altLang="zh-CN" sz="28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前序、中序、</a:t>
            </a: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后序</a:t>
            </a:r>
            <a:r>
              <a:rPr lang="zh-CN" altLang="en-US" sz="28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遍历</a:t>
            </a:r>
            <a:endParaRPr lang="zh-CN" altLang="en-US" sz="28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1" name="Group 40"/>
          <p:cNvGrpSpPr/>
          <p:nvPr/>
        </p:nvGrpSpPr>
        <p:grpSpPr>
          <a:xfrm>
            <a:off x="1903785" y="3446871"/>
            <a:ext cx="517526" cy="387350"/>
            <a:chOff x="4113213" y="3232150"/>
            <a:chExt cx="517526" cy="387350"/>
          </a:xfrm>
          <a:solidFill>
            <a:srgbClr val="5A327D"/>
          </a:solidFill>
        </p:grpSpPr>
        <p:sp>
          <p:nvSpPr>
            <p:cNvPr id="26" name="Freeform 124"/>
            <p:cNvSpPr/>
            <p:nvPr/>
          </p:nvSpPr>
          <p:spPr bwMode="auto">
            <a:xfrm>
              <a:off x="4292601" y="3394075"/>
              <a:ext cx="338138" cy="225425"/>
            </a:xfrm>
            <a:custGeom>
              <a:avLst/>
              <a:gdLst>
                <a:gd name="T0" fmla="*/ 40 w 124"/>
                <a:gd name="T1" fmla="*/ 83 h 83"/>
                <a:gd name="T2" fmla="*/ 40 w 124"/>
                <a:gd name="T3" fmla="*/ 78 h 83"/>
                <a:gd name="T4" fmla="*/ 41 w 124"/>
                <a:gd name="T5" fmla="*/ 71 h 83"/>
                <a:gd name="T6" fmla="*/ 32 w 124"/>
                <a:gd name="T7" fmla="*/ 75 h 83"/>
                <a:gd name="T8" fmla="*/ 29 w 124"/>
                <a:gd name="T9" fmla="*/ 75 h 83"/>
                <a:gd name="T10" fmla="*/ 23 w 124"/>
                <a:gd name="T11" fmla="*/ 72 h 83"/>
                <a:gd name="T12" fmla="*/ 3 w 124"/>
                <a:gd name="T13" fmla="*/ 41 h 83"/>
                <a:gd name="T14" fmla="*/ 5 w 124"/>
                <a:gd name="T15" fmla="*/ 31 h 83"/>
                <a:gd name="T16" fmla="*/ 9 w 124"/>
                <a:gd name="T17" fmla="*/ 30 h 83"/>
                <a:gd name="T18" fmla="*/ 15 w 124"/>
                <a:gd name="T19" fmla="*/ 33 h 83"/>
                <a:gd name="T20" fmla="*/ 32 w 124"/>
                <a:gd name="T21" fmla="*/ 59 h 83"/>
                <a:gd name="T22" fmla="*/ 55 w 124"/>
                <a:gd name="T23" fmla="*/ 50 h 83"/>
                <a:gd name="T24" fmla="*/ 56 w 124"/>
                <a:gd name="T25" fmla="*/ 50 h 83"/>
                <a:gd name="T26" fmla="*/ 64 w 124"/>
                <a:gd name="T27" fmla="*/ 45 h 83"/>
                <a:gd name="T28" fmla="*/ 69 w 124"/>
                <a:gd name="T29" fmla="*/ 43 h 83"/>
                <a:gd name="T30" fmla="*/ 65 w 124"/>
                <a:gd name="T31" fmla="*/ 39 h 83"/>
                <a:gd name="T32" fmla="*/ 59 w 124"/>
                <a:gd name="T33" fmla="*/ 23 h 83"/>
                <a:gd name="T34" fmla="*/ 82 w 124"/>
                <a:gd name="T35" fmla="*/ 0 h 83"/>
                <a:gd name="T36" fmla="*/ 88 w 124"/>
                <a:gd name="T37" fmla="*/ 1 h 83"/>
                <a:gd name="T38" fmla="*/ 105 w 124"/>
                <a:gd name="T39" fmla="*/ 23 h 83"/>
                <a:gd name="T40" fmla="*/ 99 w 124"/>
                <a:gd name="T41" fmla="*/ 39 h 83"/>
                <a:gd name="T42" fmla="*/ 95 w 124"/>
                <a:gd name="T43" fmla="*/ 43 h 83"/>
                <a:gd name="T44" fmla="*/ 100 w 124"/>
                <a:gd name="T45" fmla="*/ 45 h 83"/>
                <a:gd name="T46" fmla="*/ 124 w 124"/>
                <a:gd name="T47" fmla="*/ 83 h 83"/>
                <a:gd name="T48" fmla="*/ 40 w 124"/>
                <a:gd name="T49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24" h="83">
                  <a:moveTo>
                    <a:pt x="40" y="83"/>
                  </a:moveTo>
                  <a:cubicBezTo>
                    <a:pt x="40" y="81"/>
                    <a:pt x="40" y="80"/>
                    <a:pt x="40" y="78"/>
                  </a:cubicBezTo>
                  <a:cubicBezTo>
                    <a:pt x="41" y="71"/>
                    <a:pt x="41" y="71"/>
                    <a:pt x="41" y="71"/>
                  </a:cubicBezTo>
                  <a:cubicBezTo>
                    <a:pt x="32" y="75"/>
                    <a:pt x="32" y="75"/>
                    <a:pt x="32" y="75"/>
                  </a:cubicBezTo>
                  <a:cubicBezTo>
                    <a:pt x="31" y="75"/>
                    <a:pt x="30" y="75"/>
                    <a:pt x="29" y="75"/>
                  </a:cubicBezTo>
                  <a:cubicBezTo>
                    <a:pt x="27" y="75"/>
                    <a:pt x="24" y="74"/>
                    <a:pt x="23" y="72"/>
                  </a:cubicBezTo>
                  <a:cubicBezTo>
                    <a:pt x="3" y="41"/>
                    <a:pt x="3" y="41"/>
                    <a:pt x="3" y="41"/>
                  </a:cubicBezTo>
                  <a:cubicBezTo>
                    <a:pt x="0" y="37"/>
                    <a:pt x="1" y="33"/>
                    <a:pt x="5" y="31"/>
                  </a:cubicBezTo>
                  <a:cubicBezTo>
                    <a:pt x="6" y="30"/>
                    <a:pt x="7" y="30"/>
                    <a:pt x="9" y="30"/>
                  </a:cubicBezTo>
                  <a:cubicBezTo>
                    <a:pt x="11" y="30"/>
                    <a:pt x="13" y="31"/>
                    <a:pt x="15" y="33"/>
                  </a:cubicBezTo>
                  <a:cubicBezTo>
                    <a:pt x="32" y="59"/>
                    <a:pt x="32" y="59"/>
                    <a:pt x="32" y="59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6" y="50"/>
                    <a:pt x="56" y="50"/>
                    <a:pt x="56" y="50"/>
                  </a:cubicBezTo>
                  <a:cubicBezTo>
                    <a:pt x="58" y="48"/>
                    <a:pt x="61" y="47"/>
                    <a:pt x="64" y="45"/>
                  </a:cubicBezTo>
                  <a:cubicBezTo>
                    <a:pt x="69" y="43"/>
                    <a:pt x="69" y="43"/>
                    <a:pt x="69" y="43"/>
                  </a:cubicBezTo>
                  <a:cubicBezTo>
                    <a:pt x="65" y="39"/>
                    <a:pt x="65" y="39"/>
                    <a:pt x="65" y="39"/>
                  </a:cubicBezTo>
                  <a:cubicBezTo>
                    <a:pt x="61" y="35"/>
                    <a:pt x="59" y="29"/>
                    <a:pt x="59" y="23"/>
                  </a:cubicBezTo>
                  <a:cubicBezTo>
                    <a:pt x="59" y="11"/>
                    <a:pt x="69" y="0"/>
                    <a:pt x="82" y="0"/>
                  </a:cubicBezTo>
                  <a:cubicBezTo>
                    <a:pt x="84" y="0"/>
                    <a:pt x="86" y="1"/>
                    <a:pt x="88" y="1"/>
                  </a:cubicBezTo>
                  <a:cubicBezTo>
                    <a:pt x="98" y="4"/>
                    <a:pt x="105" y="13"/>
                    <a:pt x="105" y="23"/>
                  </a:cubicBezTo>
                  <a:cubicBezTo>
                    <a:pt x="105" y="29"/>
                    <a:pt x="102" y="35"/>
                    <a:pt x="99" y="39"/>
                  </a:cubicBezTo>
                  <a:cubicBezTo>
                    <a:pt x="95" y="43"/>
                    <a:pt x="95" y="43"/>
                    <a:pt x="95" y="43"/>
                  </a:cubicBezTo>
                  <a:cubicBezTo>
                    <a:pt x="100" y="45"/>
                    <a:pt x="100" y="45"/>
                    <a:pt x="100" y="45"/>
                  </a:cubicBezTo>
                  <a:cubicBezTo>
                    <a:pt x="115" y="52"/>
                    <a:pt x="124" y="67"/>
                    <a:pt x="124" y="83"/>
                  </a:cubicBezTo>
                  <a:lnTo>
                    <a:pt x="40" y="8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" name="Freeform 125"/>
            <p:cNvSpPr>
              <a:spLocks noEditPoints="1"/>
            </p:cNvSpPr>
            <p:nvPr/>
          </p:nvSpPr>
          <p:spPr bwMode="auto">
            <a:xfrm>
              <a:off x="4140201" y="3232150"/>
              <a:ext cx="395288" cy="314325"/>
            </a:xfrm>
            <a:custGeom>
              <a:avLst/>
              <a:gdLst>
                <a:gd name="T0" fmla="*/ 141 w 145"/>
                <a:gd name="T1" fmla="*/ 0 h 115"/>
                <a:gd name="T2" fmla="*/ 4 w 145"/>
                <a:gd name="T3" fmla="*/ 0 h 115"/>
                <a:gd name="T4" fmla="*/ 0 w 145"/>
                <a:gd name="T5" fmla="*/ 4 h 115"/>
                <a:gd name="T6" fmla="*/ 0 w 145"/>
                <a:gd name="T7" fmla="*/ 111 h 115"/>
                <a:gd name="T8" fmla="*/ 4 w 145"/>
                <a:gd name="T9" fmla="*/ 115 h 115"/>
                <a:gd name="T10" fmla="*/ 64 w 145"/>
                <a:gd name="T11" fmla="*/ 115 h 115"/>
                <a:gd name="T12" fmla="*/ 55 w 145"/>
                <a:gd name="T13" fmla="*/ 102 h 115"/>
                <a:gd name="T14" fmla="*/ 54 w 145"/>
                <a:gd name="T15" fmla="*/ 91 h 115"/>
                <a:gd name="T16" fmla="*/ 54 w 145"/>
                <a:gd name="T17" fmla="*/ 91 h 115"/>
                <a:gd name="T18" fmla="*/ 30 w 145"/>
                <a:gd name="T19" fmla="*/ 55 h 115"/>
                <a:gd name="T20" fmla="*/ 31 w 145"/>
                <a:gd name="T21" fmla="*/ 49 h 115"/>
                <a:gd name="T22" fmla="*/ 37 w 145"/>
                <a:gd name="T23" fmla="*/ 50 h 115"/>
                <a:gd name="T24" fmla="*/ 60 w 145"/>
                <a:gd name="T25" fmla="*/ 86 h 115"/>
                <a:gd name="T26" fmla="*/ 74 w 145"/>
                <a:gd name="T27" fmla="*/ 90 h 115"/>
                <a:gd name="T28" fmla="*/ 90 w 145"/>
                <a:gd name="T29" fmla="*/ 113 h 115"/>
                <a:gd name="T30" fmla="*/ 109 w 145"/>
                <a:gd name="T31" fmla="*/ 106 h 115"/>
                <a:gd name="T32" fmla="*/ 118 w 145"/>
                <a:gd name="T33" fmla="*/ 100 h 115"/>
                <a:gd name="T34" fmla="*/ 111 w 145"/>
                <a:gd name="T35" fmla="*/ 82 h 115"/>
                <a:gd name="T36" fmla="*/ 138 w 145"/>
                <a:gd name="T37" fmla="*/ 55 h 115"/>
                <a:gd name="T38" fmla="*/ 145 w 145"/>
                <a:gd name="T39" fmla="*/ 57 h 115"/>
                <a:gd name="T40" fmla="*/ 145 w 145"/>
                <a:gd name="T41" fmla="*/ 4 h 115"/>
                <a:gd name="T42" fmla="*/ 141 w 145"/>
                <a:gd name="T43" fmla="*/ 0 h 115"/>
                <a:gd name="T44" fmla="*/ 103 w 145"/>
                <a:gd name="T45" fmla="*/ 67 h 115"/>
                <a:gd name="T46" fmla="*/ 60 w 145"/>
                <a:gd name="T47" fmla="*/ 67 h 115"/>
                <a:gd name="T48" fmla="*/ 56 w 145"/>
                <a:gd name="T49" fmla="*/ 63 h 115"/>
                <a:gd name="T50" fmla="*/ 60 w 145"/>
                <a:gd name="T51" fmla="*/ 59 h 115"/>
                <a:gd name="T52" fmla="*/ 103 w 145"/>
                <a:gd name="T53" fmla="*/ 59 h 115"/>
                <a:gd name="T54" fmla="*/ 107 w 145"/>
                <a:gd name="T55" fmla="*/ 63 h 115"/>
                <a:gd name="T56" fmla="*/ 103 w 145"/>
                <a:gd name="T57" fmla="*/ 67 h 115"/>
                <a:gd name="T58" fmla="*/ 115 w 145"/>
                <a:gd name="T59" fmla="*/ 48 h 115"/>
                <a:gd name="T60" fmla="*/ 60 w 145"/>
                <a:gd name="T61" fmla="*/ 48 h 115"/>
                <a:gd name="T62" fmla="*/ 56 w 145"/>
                <a:gd name="T63" fmla="*/ 44 h 115"/>
                <a:gd name="T64" fmla="*/ 60 w 145"/>
                <a:gd name="T65" fmla="*/ 40 h 115"/>
                <a:gd name="T66" fmla="*/ 115 w 145"/>
                <a:gd name="T67" fmla="*/ 40 h 115"/>
                <a:gd name="T68" fmla="*/ 119 w 145"/>
                <a:gd name="T69" fmla="*/ 44 h 115"/>
                <a:gd name="T70" fmla="*/ 115 w 145"/>
                <a:gd name="T71" fmla="*/ 48 h 115"/>
                <a:gd name="T72" fmla="*/ 115 w 145"/>
                <a:gd name="T73" fmla="*/ 28 h 115"/>
                <a:gd name="T74" fmla="*/ 60 w 145"/>
                <a:gd name="T75" fmla="*/ 28 h 115"/>
                <a:gd name="T76" fmla="*/ 56 w 145"/>
                <a:gd name="T77" fmla="*/ 24 h 115"/>
                <a:gd name="T78" fmla="*/ 60 w 145"/>
                <a:gd name="T79" fmla="*/ 20 h 115"/>
                <a:gd name="T80" fmla="*/ 115 w 145"/>
                <a:gd name="T81" fmla="*/ 20 h 115"/>
                <a:gd name="T82" fmla="*/ 119 w 145"/>
                <a:gd name="T83" fmla="*/ 24 h 115"/>
                <a:gd name="T84" fmla="*/ 115 w 145"/>
                <a:gd name="T85" fmla="*/ 28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5" h="115">
                  <a:moveTo>
                    <a:pt x="14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1" y="0"/>
                    <a:pt x="0" y="2"/>
                    <a:pt x="0" y="4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13"/>
                    <a:pt x="1" y="115"/>
                    <a:pt x="4" y="115"/>
                  </a:cubicBezTo>
                  <a:cubicBezTo>
                    <a:pt x="64" y="115"/>
                    <a:pt x="64" y="115"/>
                    <a:pt x="64" y="115"/>
                  </a:cubicBezTo>
                  <a:cubicBezTo>
                    <a:pt x="55" y="102"/>
                    <a:pt x="55" y="102"/>
                    <a:pt x="55" y="102"/>
                  </a:cubicBezTo>
                  <a:cubicBezTo>
                    <a:pt x="53" y="99"/>
                    <a:pt x="53" y="95"/>
                    <a:pt x="54" y="91"/>
                  </a:cubicBezTo>
                  <a:cubicBezTo>
                    <a:pt x="54" y="91"/>
                    <a:pt x="54" y="91"/>
                    <a:pt x="54" y="91"/>
                  </a:cubicBezTo>
                  <a:cubicBezTo>
                    <a:pt x="30" y="55"/>
                    <a:pt x="30" y="55"/>
                    <a:pt x="30" y="55"/>
                  </a:cubicBezTo>
                  <a:cubicBezTo>
                    <a:pt x="29" y="53"/>
                    <a:pt x="29" y="50"/>
                    <a:pt x="31" y="49"/>
                  </a:cubicBezTo>
                  <a:cubicBezTo>
                    <a:pt x="33" y="48"/>
                    <a:pt x="36" y="48"/>
                    <a:pt x="37" y="50"/>
                  </a:cubicBezTo>
                  <a:cubicBezTo>
                    <a:pt x="60" y="86"/>
                    <a:pt x="60" y="86"/>
                    <a:pt x="60" y="86"/>
                  </a:cubicBezTo>
                  <a:cubicBezTo>
                    <a:pt x="65" y="83"/>
                    <a:pt x="71" y="85"/>
                    <a:pt x="74" y="90"/>
                  </a:cubicBezTo>
                  <a:cubicBezTo>
                    <a:pt x="90" y="113"/>
                    <a:pt x="90" y="113"/>
                    <a:pt x="90" y="113"/>
                  </a:cubicBezTo>
                  <a:cubicBezTo>
                    <a:pt x="109" y="106"/>
                    <a:pt x="109" y="106"/>
                    <a:pt x="109" y="106"/>
                  </a:cubicBezTo>
                  <a:cubicBezTo>
                    <a:pt x="112" y="104"/>
                    <a:pt x="115" y="102"/>
                    <a:pt x="118" y="100"/>
                  </a:cubicBezTo>
                  <a:cubicBezTo>
                    <a:pt x="114" y="96"/>
                    <a:pt x="111" y="89"/>
                    <a:pt x="111" y="82"/>
                  </a:cubicBezTo>
                  <a:cubicBezTo>
                    <a:pt x="111" y="68"/>
                    <a:pt x="123" y="55"/>
                    <a:pt x="138" y="55"/>
                  </a:cubicBezTo>
                  <a:cubicBezTo>
                    <a:pt x="140" y="55"/>
                    <a:pt x="143" y="56"/>
                    <a:pt x="145" y="57"/>
                  </a:cubicBezTo>
                  <a:cubicBezTo>
                    <a:pt x="145" y="4"/>
                    <a:pt x="145" y="4"/>
                    <a:pt x="145" y="4"/>
                  </a:cubicBezTo>
                  <a:cubicBezTo>
                    <a:pt x="145" y="2"/>
                    <a:pt x="143" y="0"/>
                    <a:pt x="141" y="0"/>
                  </a:cubicBezTo>
                  <a:close/>
                  <a:moveTo>
                    <a:pt x="103" y="67"/>
                  </a:moveTo>
                  <a:cubicBezTo>
                    <a:pt x="60" y="67"/>
                    <a:pt x="60" y="67"/>
                    <a:pt x="60" y="67"/>
                  </a:cubicBezTo>
                  <a:cubicBezTo>
                    <a:pt x="58" y="67"/>
                    <a:pt x="56" y="65"/>
                    <a:pt x="56" y="63"/>
                  </a:cubicBezTo>
                  <a:cubicBezTo>
                    <a:pt x="56" y="61"/>
                    <a:pt x="58" y="59"/>
                    <a:pt x="60" y="59"/>
                  </a:cubicBezTo>
                  <a:cubicBezTo>
                    <a:pt x="103" y="59"/>
                    <a:pt x="103" y="59"/>
                    <a:pt x="103" y="59"/>
                  </a:cubicBezTo>
                  <a:cubicBezTo>
                    <a:pt x="106" y="59"/>
                    <a:pt x="107" y="61"/>
                    <a:pt x="107" y="63"/>
                  </a:cubicBezTo>
                  <a:cubicBezTo>
                    <a:pt x="107" y="65"/>
                    <a:pt x="106" y="67"/>
                    <a:pt x="103" y="67"/>
                  </a:cubicBezTo>
                  <a:close/>
                  <a:moveTo>
                    <a:pt x="115" y="48"/>
                  </a:moveTo>
                  <a:cubicBezTo>
                    <a:pt x="60" y="48"/>
                    <a:pt x="60" y="48"/>
                    <a:pt x="60" y="48"/>
                  </a:cubicBezTo>
                  <a:cubicBezTo>
                    <a:pt x="58" y="48"/>
                    <a:pt x="56" y="46"/>
                    <a:pt x="56" y="44"/>
                  </a:cubicBezTo>
                  <a:cubicBezTo>
                    <a:pt x="56" y="41"/>
                    <a:pt x="58" y="40"/>
                    <a:pt x="60" y="40"/>
                  </a:cubicBezTo>
                  <a:cubicBezTo>
                    <a:pt x="115" y="40"/>
                    <a:pt x="115" y="40"/>
                    <a:pt x="115" y="40"/>
                  </a:cubicBezTo>
                  <a:cubicBezTo>
                    <a:pt x="117" y="40"/>
                    <a:pt x="119" y="41"/>
                    <a:pt x="119" y="44"/>
                  </a:cubicBezTo>
                  <a:cubicBezTo>
                    <a:pt x="119" y="46"/>
                    <a:pt x="117" y="48"/>
                    <a:pt x="115" y="48"/>
                  </a:cubicBezTo>
                  <a:close/>
                  <a:moveTo>
                    <a:pt x="115" y="28"/>
                  </a:moveTo>
                  <a:cubicBezTo>
                    <a:pt x="60" y="28"/>
                    <a:pt x="60" y="28"/>
                    <a:pt x="60" y="28"/>
                  </a:cubicBezTo>
                  <a:cubicBezTo>
                    <a:pt x="58" y="28"/>
                    <a:pt x="56" y="27"/>
                    <a:pt x="56" y="24"/>
                  </a:cubicBezTo>
                  <a:cubicBezTo>
                    <a:pt x="56" y="22"/>
                    <a:pt x="58" y="20"/>
                    <a:pt x="60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7" y="20"/>
                    <a:pt x="119" y="22"/>
                    <a:pt x="119" y="24"/>
                  </a:cubicBezTo>
                  <a:cubicBezTo>
                    <a:pt x="119" y="27"/>
                    <a:pt x="117" y="28"/>
                    <a:pt x="115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" name="Freeform 126"/>
            <p:cNvSpPr/>
            <p:nvPr/>
          </p:nvSpPr>
          <p:spPr bwMode="auto">
            <a:xfrm>
              <a:off x="4113213" y="3578225"/>
              <a:ext cx="220663" cy="22225"/>
            </a:xfrm>
            <a:custGeom>
              <a:avLst/>
              <a:gdLst>
                <a:gd name="T0" fmla="*/ 77 w 81"/>
                <a:gd name="T1" fmla="*/ 8 h 8"/>
                <a:gd name="T2" fmla="*/ 3 w 81"/>
                <a:gd name="T3" fmla="*/ 8 h 8"/>
                <a:gd name="T4" fmla="*/ 0 w 81"/>
                <a:gd name="T5" fmla="*/ 4 h 8"/>
                <a:gd name="T6" fmla="*/ 3 w 81"/>
                <a:gd name="T7" fmla="*/ 0 h 8"/>
                <a:gd name="T8" fmla="*/ 77 w 81"/>
                <a:gd name="T9" fmla="*/ 0 h 8"/>
                <a:gd name="T10" fmla="*/ 81 w 81"/>
                <a:gd name="T11" fmla="*/ 4 h 8"/>
                <a:gd name="T12" fmla="*/ 77 w 81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8">
                  <a:moveTo>
                    <a:pt x="77" y="8"/>
                  </a:moveTo>
                  <a:cubicBezTo>
                    <a:pt x="3" y="8"/>
                    <a:pt x="3" y="8"/>
                    <a:pt x="3" y="8"/>
                  </a:cubicBezTo>
                  <a:cubicBezTo>
                    <a:pt x="1" y="8"/>
                    <a:pt x="0" y="6"/>
                    <a:pt x="0" y="4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79" y="0"/>
                    <a:pt x="81" y="1"/>
                    <a:pt x="81" y="4"/>
                  </a:cubicBezTo>
                  <a:cubicBezTo>
                    <a:pt x="81" y="6"/>
                    <a:pt x="79" y="8"/>
                    <a:pt x="77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29" name="Text Box 19"/>
          <p:cNvSpPr txBox="1">
            <a:spLocks noChangeArrowheads="1"/>
          </p:cNvSpPr>
          <p:nvPr/>
        </p:nvSpPr>
        <p:spPr bwMode="auto">
          <a:xfrm>
            <a:off x="2648902" y="3381558"/>
            <a:ext cx="742473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二叉链表的实现</a:t>
            </a:r>
            <a:r>
              <a:rPr lang="en-US" altLang="zh-CN" sz="28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层序</a:t>
            </a:r>
            <a:r>
              <a:rPr lang="zh-CN" altLang="en-US" sz="28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遍历</a:t>
            </a:r>
            <a:endParaRPr lang="zh-CN" altLang="en-US" sz="28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0" name="Group 40"/>
          <p:cNvGrpSpPr/>
          <p:nvPr/>
        </p:nvGrpSpPr>
        <p:grpSpPr>
          <a:xfrm>
            <a:off x="1903785" y="4160103"/>
            <a:ext cx="517526" cy="387350"/>
            <a:chOff x="4113213" y="3232150"/>
            <a:chExt cx="517526" cy="387350"/>
          </a:xfrm>
          <a:solidFill>
            <a:srgbClr val="5A327D"/>
          </a:solidFill>
        </p:grpSpPr>
        <p:sp>
          <p:nvSpPr>
            <p:cNvPr id="31" name="Freeform 124"/>
            <p:cNvSpPr/>
            <p:nvPr/>
          </p:nvSpPr>
          <p:spPr bwMode="auto">
            <a:xfrm>
              <a:off x="4292601" y="3394075"/>
              <a:ext cx="338138" cy="225425"/>
            </a:xfrm>
            <a:custGeom>
              <a:avLst/>
              <a:gdLst>
                <a:gd name="T0" fmla="*/ 40 w 124"/>
                <a:gd name="T1" fmla="*/ 83 h 83"/>
                <a:gd name="T2" fmla="*/ 40 w 124"/>
                <a:gd name="T3" fmla="*/ 78 h 83"/>
                <a:gd name="T4" fmla="*/ 41 w 124"/>
                <a:gd name="T5" fmla="*/ 71 h 83"/>
                <a:gd name="T6" fmla="*/ 32 w 124"/>
                <a:gd name="T7" fmla="*/ 75 h 83"/>
                <a:gd name="T8" fmla="*/ 29 w 124"/>
                <a:gd name="T9" fmla="*/ 75 h 83"/>
                <a:gd name="T10" fmla="*/ 23 w 124"/>
                <a:gd name="T11" fmla="*/ 72 h 83"/>
                <a:gd name="T12" fmla="*/ 3 w 124"/>
                <a:gd name="T13" fmla="*/ 41 h 83"/>
                <a:gd name="T14" fmla="*/ 5 w 124"/>
                <a:gd name="T15" fmla="*/ 31 h 83"/>
                <a:gd name="T16" fmla="*/ 9 w 124"/>
                <a:gd name="T17" fmla="*/ 30 h 83"/>
                <a:gd name="T18" fmla="*/ 15 w 124"/>
                <a:gd name="T19" fmla="*/ 33 h 83"/>
                <a:gd name="T20" fmla="*/ 32 w 124"/>
                <a:gd name="T21" fmla="*/ 59 h 83"/>
                <a:gd name="T22" fmla="*/ 55 w 124"/>
                <a:gd name="T23" fmla="*/ 50 h 83"/>
                <a:gd name="T24" fmla="*/ 56 w 124"/>
                <a:gd name="T25" fmla="*/ 50 h 83"/>
                <a:gd name="T26" fmla="*/ 64 w 124"/>
                <a:gd name="T27" fmla="*/ 45 h 83"/>
                <a:gd name="T28" fmla="*/ 69 w 124"/>
                <a:gd name="T29" fmla="*/ 43 h 83"/>
                <a:gd name="T30" fmla="*/ 65 w 124"/>
                <a:gd name="T31" fmla="*/ 39 h 83"/>
                <a:gd name="T32" fmla="*/ 59 w 124"/>
                <a:gd name="T33" fmla="*/ 23 h 83"/>
                <a:gd name="T34" fmla="*/ 82 w 124"/>
                <a:gd name="T35" fmla="*/ 0 h 83"/>
                <a:gd name="T36" fmla="*/ 88 w 124"/>
                <a:gd name="T37" fmla="*/ 1 h 83"/>
                <a:gd name="T38" fmla="*/ 105 w 124"/>
                <a:gd name="T39" fmla="*/ 23 h 83"/>
                <a:gd name="T40" fmla="*/ 99 w 124"/>
                <a:gd name="T41" fmla="*/ 39 h 83"/>
                <a:gd name="T42" fmla="*/ 95 w 124"/>
                <a:gd name="T43" fmla="*/ 43 h 83"/>
                <a:gd name="T44" fmla="*/ 100 w 124"/>
                <a:gd name="T45" fmla="*/ 45 h 83"/>
                <a:gd name="T46" fmla="*/ 124 w 124"/>
                <a:gd name="T47" fmla="*/ 83 h 83"/>
                <a:gd name="T48" fmla="*/ 40 w 124"/>
                <a:gd name="T49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24" h="83">
                  <a:moveTo>
                    <a:pt x="40" y="83"/>
                  </a:moveTo>
                  <a:cubicBezTo>
                    <a:pt x="40" y="81"/>
                    <a:pt x="40" y="80"/>
                    <a:pt x="40" y="78"/>
                  </a:cubicBezTo>
                  <a:cubicBezTo>
                    <a:pt x="41" y="71"/>
                    <a:pt x="41" y="71"/>
                    <a:pt x="41" y="71"/>
                  </a:cubicBezTo>
                  <a:cubicBezTo>
                    <a:pt x="32" y="75"/>
                    <a:pt x="32" y="75"/>
                    <a:pt x="32" y="75"/>
                  </a:cubicBezTo>
                  <a:cubicBezTo>
                    <a:pt x="31" y="75"/>
                    <a:pt x="30" y="75"/>
                    <a:pt x="29" y="75"/>
                  </a:cubicBezTo>
                  <a:cubicBezTo>
                    <a:pt x="27" y="75"/>
                    <a:pt x="24" y="74"/>
                    <a:pt x="23" y="72"/>
                  </a:cubicBezTo>
                  <a:cubicBezTo>
                    <a:pt x="3" y="41"/>
                    <a:pt x="3" y="41"/>
                    <a:pt x="3" y="41"/>
                  </a:cubicBezTo>
                  <a:cubicBezTo>
                    <a:pt x="0" y="37"/>
                    <a:pt x="1" y="33"/>
                    <a:pt x="5" y="31"/>
                  </a:cubicBezTo>
                  <a:cubicBezTo>
                    <a:pt x="6" y="30"/>
                    <a:pt x="7" y="30"/>
                    <a:pt x="9" y="30"/>
                  </a:cubicBezTo>
                  <a:cubicBezTo>
                    <a:pt x="11" y="30"/>
                    <a:pt x="13" y="31"/>
                    <a:pt x="15" y="33"/>
                  </a:cubicBezTo>
                  <a:cubicBezTo>
                    <a:pt x="32" y="59"/>
                    <a:pt x="32" y="59"/>
                    <a:pt x="32" y="59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6" y="50"/>
                    <a:pt x="56" y="50"/>
                    <a:pt x="56" y="50"/>
                  </a:cubicBezTo>
                  <a:cubicBezTo>
                    <a:pt x="58" y="48"/>
                    <a:pt x="61" y="47"/>
                    <a:pt x="64" y="45"/>
                  </a:cubicBezTo>
                  <a:cubicBezTo>
                    <a:pt x="69" y="43"/>
                    <a:pt x="69" y="43"/>
                    <a:pt x="69" y="43"/>
                  </a:cubicBezTo>
                  <a:cubicBezTo>
                    <a:pt x="65" y="39"/>
                    <a:pt x="65" y="39"/>
                    <a:pt x="65" y="39"/>
                  </a:cubicBezTo>
                  <a:cubicBezTo>
                    <a:pt x="61" y="35"/>
                    <a:pt x="59" y="29"/>
                    <a:pt x="59" y="23"/>
                  </a:cubicBezTo>
                  <a:cubicBezTo>
                    <a:pt x="59" y="11"/>
                    <a:pt x="69" y="0"/>
                    <a:pt x="82" y="0"/>
                  </a:cubicBezTo>
                  <a:cubicBezTo>
                    <a:pt x="84" y="0"/>
                    <a:pt x="86" y="1"/>
                    <a:pt x="88" y="1"/>
                  </a:cubicBezTo>
                  <a:cubicBezTo>
                    <a:pt x="98" y="4"/>
                    <a:pt x="105" y="13"/>
                    <a:pt x="105" y="23"/>
                  </a:cubicBezTo>
                  <a:cubicBezTo>
                    <a:pt x="105" y="29"/>
                    <a:pt x="102" y="35"/>
                    <a:pt x="99" y="39"/>
                  </a:cubicBezTo>
                  <a:cubicBezTo>
                    <a:pt x="95" y="43"/>
                    <a:pt x="95" y="43"/>
                    <a:pt x="95" y="43"/>
                  </a:cubicBezTo>
                  <a:cubicBezTo>
                    <a:pt x="100" y="45"/>
                    <a:pt x="100" y="45"/>
                    <a:pt x="100" y="45"/>
                  </a:cubicBezTo>
                  <a:cubicBezTo>
                    <a:pt x="115" y="52"/>
                    <a:pt x="124" y="67"/>
                    <a:pt x="124" y="83"/>
                  </a:cubicBezTo>
                  <a:lnTo>
                    <a:pt x="40" y="8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" name="Freeform 125"/>
            <p:cNvSpPr>
              <a:spLocks noEditPoints="1"/>
            </p:cNvSpPr>
            <p:nvPr/>
          </p:nvSpPr>
          <p:spPr bwMode="auto">
            <a:xfrm>
              <a:off x="4140201" y="3232150"/>
              <a:ext cx="395288" cy="314325"/>
            </a:xfrm>
            <a:custGeom>
              <a:avLst/>
              <a:gdLst>
                <a:gd name="T0" fmla="*/ 141 w 145"/>
                <a:gd name="T1" fmla="*/ 0 h 115"/>
                <a:gd name="T2" fmla="*/ 4 w 145"/>
                <a:gd name="T3" fmla="*/ 0 h 115"/>
                <a:gd name="T4" fmla="*/ 0 w 145"/>
                <a:gd name="T5" fmla="*/ 4 h 115"/>
                <a:gd name="T6" fmla="*/ 0 w 145"/>
                <a:gd name="T7" fmla="*/ 111 h 115"/>
                <a:gd name="T8" fmla="*/ 4 w 145"/>
                <a:gd name="T9" fmla="*/ 115 h 115"/>
                <a:gd name="T10" fmla="*/ 64 w 145"/>
                <a:gd name="T11" fmla="*/ 115 h 115"/>
                <a:gd name="T12" fmla="*/ 55 w 145"/>
                <a:gd name="T13" fmla="*/ 102 h 115"/>
                <a:gd name="T14" fmla="*/ 54 w 145"/>
                <a:gd name="T15" fmla="*/ 91 h 115"/>
                <a:gd name="T16" fmla="*/ 54 w 145"/>
                <a:gd name="T17" fmla="*/ 91 h 115"/>
                <a:gd name="T18" fmla="*/ 30 w 145"/>
                <a:gd name="T19" fmla="*/ 55 h 115"/>
                <a:gd name="T20" fmla="*/ 31 w 145"/>
                <a:gd name="T21" fmla="*/ 49 h 115"/>
                <a:gd name="T22" fmla="*/ 37 w 145"/>
                <a:gd name="T23" fmla="*/ 50 h 115"/>
                <a:gd name="T24" fmla="*/ 60 w 145"/>
                <a:gd name="T25" fmla="*/ 86 h 115"/>
                <a:gd name="T26" fmla="*/ 74 w 145"/>
                <a:gd name="T27" fmla="*/ 90 h 115"/>
                <a:gd name="T28" fmla="*/ 90 w 145"/>
                <a:gd name="T29" fmla="*/ 113 h 115"/>
                <a:gd name="T30" fmla="*/ 109 w 145"/>
                <a:gd name="T31" fmla="*/ 106 h 115"/>
                <a:gd name="T32" fmla="*/ 118 w 145"/>
                <a:gd name="T33" fmla="*/ 100 h 115"/>
                <a:gd name="T34" fmla="*/ 111 w 145"/>
                <a:gd name="T35" fmla="*/ 82 h 115"/>
                <a:gd name="T36" fmla="*/ 138 w 145"/>
                <a:gd name="T37" fmla="*/ 55 h 115"/>
                <a:gd name="T38" fmla="*/ 145 w 145"/>
                <a:gd name="T39" fmla="*/ 57 h 115"/>
                <a:gd name="T40" fmla="*/ 145 w 145"/>
                <a:gd name="T41" fmla="*/ 4 h 115"/>
                <a:gd name="T42" fmla="*/ 141 w 145"/>
                <a:gd name="T43" fmla="*/ 0 h 115"/>
                <a:gd name="T44" fmla="*/ 103 w 145"/>
                <a:gd name="T45" fmla="*/ 67 h 115"/>
                <a:gd name="T46" fmla="*/ 60 w 145"/>
                <a:gd name="T47" fmla="*/ 67 h 115"/>
                <a:gd name="T48" fmla="*/ 56 w 145"/>
                <a:gd name="T49" fmla="*/ 63 h 115"/>
                <a:gd name="T50" fmla="*/ 60 w 145"/>
                <a:gd name="T51" fmla="*/ 59 h 115"/>
                <a:gd name="T52" fmla="*/ 103 w 145"/>
                <a:gd name="T53" fmla="*/ 59 h 115"/>
                <a:gd name="T54" fmla="*/ 107 w 145"/>
                <a:gd name="T55" fmla="*/ 63 h 115"/>
                <a:gd name="T56" fmla="*/ 103 w 145"/>
                <a:gd name="T57" fmla="*/ 67 h 115"/>
                <a:gd name="T58" fmla="*/ 115 w 145"/>
                <a:gd name="T59" fmla="*/ 48 h 115"/>
                <a:gd name="T60" fmla="*/ 60 w 145"/>
                <a:gd name="T61" fmla="*/ 48 h 115"/>
                <a:gd name="T62" fmla="*/ 56 w 145"/>
                <a:gd name="T63" fmla="*/ 44 h 115"/>
                <a:gd name="T64" fmla="*/ 60 w 145"/>
                <a:gd name="T65" fmla="*/ 40 h 115"/>
                <a:gd name="T66" fmla="*/ 115 w 145"/>
                <a:gd name="T67" fmla="*/ 40 h 115"/>
                <a:gd name="T68" fmla="*/ 119 w 145"/>
                <a:gd name="T69" fmla="*/ 44 h 115"/>
                <a:gd name="T70" fmla="*/ 115 w 145"/>
                <a:gd name="T71" fmla="*/ 48 h 115"/>
                <a:gd name="T72" fmla="*/ 115 w 145"/>
                <a:gd name="T73" fmla="*/ 28 h 115"/>
                <a:gd name="T74" fmla="*/ 60 w 145"/>
                <a:gd name="T75" fmla="*/ 28 h 115"/>
                <a:gd name="T76" fmla="*/ 56 w 145"/>
                <a:gd name="T77" fmla="*/ 24 h 115"/>
                <a:gd name="T78" fmla="*/ 60 w 145"/>
                <a:gd name="T79" fmla="*/ 20 h 115"/>
                <a:gd name="T80" fmla="*/ 115 w 145"/>
                <a:gd name="T81" fmla="*/ 20 h 115"/>
                <a:gd name="T82" fmla="*/ 119 w 145"/>
                <a:gd name="T83" fmla="*/ 24 h 115"/>
                <a:gd name="T84" fmla="*/ 115 w 145"/>
                <a:gd name="T85" fmla="*/ 28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5" h="115">
                  <a:moveTo>
                    <a:pt x="14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1" y="0"/>
                    <a:pt x="0" y="2"/>
                    <a:pt x="0" y="4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13"/>
                    <a:pt x="1" y="115"/>
                    <a:pt x="4" y="115"/>
                  </a:cubicBezTo>
                  <a:cubicBezTo>
                    <a:pt x="64" y="115"/>
                    <a:pt x="64" y="115"/>
                    <a:pt x="64" y="115"/>
                  </a:cubicBezTo>
                  <a:cubicBezTo>
                    <a:pt x="55" y="102"/>
                    <a:pt x="55" y="102"/>
                    <a:pt x="55" y="102"/>
                  </a:cubicBezTo>
                  <a:cubicBezTo>
                    <a:pt x="53" y="99"/>
                    <a:pt x="53" y="95"/>
                    <a:pt x="54" y="91"/>
                  </a:cubicBezTo>
                  <a:cubicBezTo>
                    <a:pt x="54" y="91"/>
                    <a:pt x="54" y="91"/>
                    <a:pt x="54" y="91"/>
                  </a:cubicBezTo>
                  <a:cubicBezTo>
                    <a:pt x="30" y="55"/>
                    <a:pt x="30" y="55"/>
                    <a:pt x="30" y="55"/>
                  </a:cubicBezTo>
                  <a:cubicBezTo>
                    <a:pt x="29" y="53"/>
                    <a:pt x="29" y="50"/>
                    <a:pt x="31" y="49"/>
                  </a:cubicBezTo>
                  <a:cubicBezTo>
                    <a:pt x="33" y="48"/>
                    <a:pt x="36" y="48"/>
                    <a:pt x="37" y="50"/>
                  </a:cubicBezTo>
                  <a:cubicBezTo>
                    <a:pt x="60" y="86"/>
                    <a:pt x="60" y="86"/>
                    <a:pt x="60" y="86"/>
                  </a:cubicBezTo>
                  <a:cubicBezTo>
                    <a:pt x="65" y="83"/>
                    <a:pt x="71" y="85"/>
                    <a:pt x="74" y="90"/>
                  </a:cubicBezTo>
                  <a:cubicBezTo>
                    <a:pt x="90" y="113"/>
                    <a:pt x="90" y="113"/>
                    <a:pt x="90" y="113"/>
                  </a:cubicBezTo>
                  <a:cubicBezTo>
                    <a:pt x="109" y="106"/>
                    <a:pt x="109" y="106"/>
                    <a:pt x="109" y="106"/>
                  </a:cubicBezTo>
                  <a:cubicBezTo>
                    <a:pt x="112" y="104"/>
                    <a:pt x="115" y="102"/>
                    <a:pt x="118" y="100"/>
                  </a:cubicBezTo>
                  <a:cubicBezTo>
                    <a:pt x="114" y="96"/>
                    <a:pt x="111" y="89"/>
                    <a:pt x="111" y="82"/>
                  </a:cubicBezTo>
                  <a:cubicBezTo>
                    <a:pt x="111" y="68"/>
                    <a:pt x="123" y="55"/>
                    <a:pt x="138" y="55"/>
                  </a:cubicBezTo>
                  <a:cubicBezTo>
                    <a:pt x="140" y="55"/>
                    <a:pt x="143" y="56"/>
                    <a:pt x="145" y="57"/>
                  </a:cubicBezTo>
                  <a:cubicBezTo>
                    <a:pt x="145" y="4"/>
                    <a:pt x="145" y="4"/>
                    <a:pt x="145" y="4"/>
                  </a:cubicBezTo>
                  <a:cubicBezTo>
                    <a:pt x="145" y="2"/>
                    <a:pt x="143" y="0"/>
                    <a:pt x="141" y="0"/>
                  </a:cubicBezTo>
                  <a:close/>
                  <a:moveTo>
                    <a:pt x="103" y="67"/>
                  </a:moveTo>
                  <a:cubicBezTo>
                    <a:pt x="60" y="67"/>
                    <a:pt x="60" y="67"/>
                    <a:pt x="60" y="67"/>
                  </a:cubicBezTo>
                  <a:cubicBezTo>
                    <a:pt x="58" y="67"/>
                    <a:pt x="56" y="65"/>
                    <a:pt x="56" y="63"/>
                  </a:cubicBezTo>
                  <a:cubicBezTo>
                    <a:pt x="56" y="61"/>
                    <a:pt x="58" y="59"/>
                    <a:pt x="60" y="59"/>
                  </a:cubicBezTo>
                  <a:cubicBezTo>
                    <a:pt x="103" y="59"/>
                    <a:pt x="103" y="59"/>
                    <a:pt x="103" y="59"/>
                  </a:cubicBezTo>
                  <a:cubicBezTo>
                    <a:pt x="106" y="59"/>
                    <a:pt x="107" y="61"/>
                    <a:pt x="107" y="63"/>
                  </a:cubicBezTo>
                  <a:cubicBezTo>
                    <a:pt x="107" y="65"/>
                    <a:pt x="106" y="67"/>
                    <a:pt x="103" y="67"/>
                  </a:cubicBezTo>
                  <a:close/>
                  <a:moveTo>
                    <a:pt x="115" y="48"/>
                  </a:moveTo>
                  <a:cubicBezTo>
                    <a:pt x="60" y="48"/>
                    <a:pt x="60" y="48"/>
                    <a:pt x="60" y="48"/>
                  </a:cubicBezTo>
                  <a:cubicBezTo>
                    <a:pt x="58" y="48"/>
                    <a:pt x="56" y="46"/>
                    <a:pt x="56" y="44"/>
                  </a:cubicBezTo>
                  <a:cubicBezTo>
                    <a:pt x="56" y="41"/>
                    <a:pt x="58" y="40"/>
                    <a:pt x="60" y="40"/>
                  </a:cubicBezTo>
                  <a:cubicBezTo>
                    <a:pt x="115" y="40"/>
                    <a:pt x="115" y="40"/>
                    <a:pt x="115" y="40"/>
                  </a:cubicBezTo>
                  <a:cubicBezTo>
                    <a:pt x="117" y="40"/>
                    <a:pt x="119" y="41"/>
                    <a:pt x="119" y="44"/>
                  </a:cubicBezTo>
                  <a:cubicBezTo>
                    <a:pt x="119" y="46"/>
                    <a:pt x="117" y="48"/>
                    <a:pt x="115" y="48"/>
                  </a:cubicBezTo>
                  <a:close/>
                  <a:moveTo>
                    <a:pt x="115" y="28"/>
                  </a:moveTo>
                  <a:cubicBezTo>
                    <a:pt x="60" y="28"/>
                    <a:pt x="60" y="28"/>
                    <a:pt x="60" y="28"/>
                  </a:cubicBezTo>
                  <a:cubicBezTo>
                    <a:pt x="58" y="28"/>
                    <a:pt x="56" y="27"/>
                    <a:pt x="56" y="24"/>
                  </a:cubicBezTo>
                  <a:cubicBezTo>
                    <a:pt x="56" y="22"/>
                    <a:pt x="58" y="20"/>
                    <a:pt x="60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7" y="20"/>
                    <a:pt x="119" y="22"/>
                    <a:pt x="119" y="24"/>
                  </a:cubicBezTo>
                  <a:cubicBezTo>
                    <a:pt x="119" y="27"/>
                    <a:pt x="117" y="28"/>
                    <a:pt x="115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3" name="Freeform 126"/>
            <p:cNvSpPr/>
            <p:nvPr/>
          </p:nvSpPr>
          <p:spPr bwMode="auto">
            <a:xfrm>
              <a:off x="4113213" y="3578225"/>
              <a:ext cx="220663" cy="22225"/>
            </a:xfrm>
            <a:custGeom>
              <a:avLst/>
              <a:gdLst>
                <a:gd name="T0" fmla="*/ 77 w 81"/>
                <a:gd name="T1" fmla="*/ 8 h 8"/>
                <a:gd name="T2" fmla="*/ 3 w 81"/>
                <a:gd name="T3" fmla="*/ 8 h 8"/>
                <a:gd name="T4" fmla="*/ 0 w 81"/>
                <a:gd name="T5" fmla="*/ 4 h 8"/>
                <a:gd name="T6" fmla="*/ 3 w 81"/>
                <a:gd name="T7" fmla="*/ 0 h 8"/>
                <a:gd name="T8" fmla="*/ 77 w 81"/>
                <a:gd name="T9" fmla="*/ 0 h 8"/>
                <a:gd name="T10" fmla="*/ 81 w 81"/>
                <a:gd name="T11" fmla="*/ 4 h 8"/>
                <a:gd name="T12" fmla="*/ 77 w 81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8">
                  <a:moveTo>
                    <a:pt x="77" y="8"/>
                  </a:moveTo>
                  <a:cubicBezTo>
                    <a:pt x="3" y="8"/>
                    <a:pt x="3" y="8"/>
                    <a:pt x="3" y="8"/>
                  </a:cubicBezTo>
                  <a:cubicBezTo>
                    <a:pt x="1" y="8"/>
                    <a:pt x="0" y="6"/>
                    <a:pt x="0" y="4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79" y="0"/>
                    <a:pt x="81" y="1"/>
                    <a:pt x="81" y="4"/>
                  </a:cubicBezTo>
                  <a:cubicBezTo>
                    <a:pt x="81" y="6"/>
                    <a:pt x="79" y="8"/>
                    <a:pt x="77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35" name="Text Box 19"/>
          <p:cNvSpPr txBox="1">
            <a:spLocks noChangeArrowheads="1"/>
          </p:cNvSpPr>
          <p:nvPr/>
        </p:nvSpPr>
        <p:spPr bwMode="auto">
          <a:xfrm>
            <a:off x="2648902" y="4094790"/>
            <a:ext cx="742473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二叉链表的实现</a:t>
            </a:r>
            <a:r>
              <a:rPr lang="en-US" altLang="zh-CN" sz="28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建立</a:t>
            </a:r>
            <a:endParaRPr lang="zh-CN" altLang="en-US" sz="28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6" name="Group 40"/>
          <p:cNvGrpSpPr/>
          <p:nvPr/>
        </p:nvGrpSpPr>
        <p:grpSpPr>
          <a:xfrm>
            <a:off x="1903785" y="4873335"/>
            <a:ext cx="517526" cy="387350"/>
            <a:chOff x="4113213" y="3232150"/>
            <a:chExt cx="517526" cy="387350"/>
          </a:xfrm>
          <a:solidFill>
            <a:srgbClr val="5A327D"/>
          </a:solidFill>
        </p:grpSpPr>
        <p:sp>
          <p:nvSpPr>
            <p:cNvPr id="39" name="Freeform 124"/>
            <p:cNvSpPr/>
            <p:nvPr/>
          </p:nvSpPr>
          <p:spPr bwMode="auto">
            <a:xfrm>
              <a:off x="4292601" y="3394075"/>
              <a:ext cx="338138" cy="225425"/>
            </a:xfrm>
            <a:custGeom>
              <a:avLst/>
              <a:gdLst>
                <a:gd name="T0" fmla="*/ 40 w 124"/>
                <a:gd name="T1" fmla="*/ 83 h 83"/>
                <a:gd name="T2" fmla="*/ 40 w 124"/>
                <a:gd name="T3" fmla="*/ 78 h 83"/>
                <a:gd name="T4" fmla="*/ 41 w 124"/>
                <a:gd name="T5" fmla="*/ 71 h 83"/>
                <a:gd name="T6" fmla="*/ 32 w 124"/>
                <a:gd name="T7" fmla="*/ 75 h 83"/>
                <a:gd name="T8" fmla="*/ 29 w 124"/>
                <a:gd name="T9" fmla="*/ 75 h 83"/>
                <a:gd name="T10" fmla="*/ 23 w 124"/>
                <a:gd name="T11" fmla="*/ 72 h 83"/>
                <a:gd name="T12" fmla="*/ 3 w 124"/>
                <a:gd name="T13" fmla="*/ 41 h 83"/>
                <a:gd name="T14" fmla="*/ 5 w 124"/>
                <a:gd name="T15" fmla="*/ 31 h 83"/>
                <a:gd name="T16" fmla="*/ 9 w 124"/>
                <a:gd name="T17" fmla="*/ 30 h 83"/>
                <a:gd name="T18" fmla="*/ 15 w 124"/>
                <a:gd name="T19" fmla="*/ 33 h 83"/>
                <a:gd name="T20" fmla="*/ 32 w 124"/>
                <a:gd name="T21" fmla="*/ 59 h 83"/>
                <a:gd name="T22" fmla="*/ 55 w 124"/>
                <a:gd name="T23" fmla="*/ 50 h 83"/>
                <a:gd name="T24" fmla="*/ 56 w 124"/>
                <a:gd name="T25" fmla="*/ 50 h 83"/>
                <a:gd name="T26" fmla="*/ 64 w 124"/>
                <a:gd name="T27" fmla="*/ 45 h 83"/>
                <a:gd name="T28" fmla="*/ 69 w 124"/>
                <a:gd name="T29" fmla="*/ 43 h 83"/>
                <a:gd name="T30" fmla="*/ 65 w 124"/>
                <a:gd name="T31" fmla="*/ 39 h 83"/>
                <a:gd name="T32" fmla="*/ 59 w 124"/>
                <a:gd name="T33" fmla="*/ 23 h 83"/>
                <a:gd name="T34" fmla="*/ 82 w 124"/>
                <a:gd name="T35" fmla="*/ 0 h 83"/>
                <a:gd name="T36" fmla="*/ 88 w 124"/>
                <a:gd name="T37" fmla="*/ 1 h 83"/>
                <a:gd name="T38" fmla="*/ 105 w 124"/>
                <a:gd name="T39" fmla="*/ 23 h 83"/>
                <a:gd name="T40" fmla="*/ 99 w 124"/>
                <a:gd name="T41" fmla="*/ 39 h 83"/>
                <a:gd name="T42" fmla="*/ 95 w 124"/>
                <a:gd name="T43" fmla="*/ 43 h 83"/>
                <a:gd name="T44" fmla="*/ 100 w 124"/>
                <a:gd name="T45" fmla="*/ 45 h 83"/>
                <a:gd name="T46" fmla="*/ 124 w 124"/>
                <a:gd name="T47" fmla="*/ 83 h 83"/>
                <a:gd name="T48" fmla="*/ 40 w 124"/>
                <a:gd name="T49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24" h="83">
                  <a:moveTo>
                    <a:pt x="40" y="83"/>
                  </a:moveTo>
                  <a:cubicBezTo>
                    <a:pt x="40" y="81"/>
                    <a:pt x="40" y="80"/>
                    <a:pt x="40" y="78"/>
                  </a:cubicBezTo>
                  <a:cubicBezTo>
                    <a:pt x="41" y="71"/>
                    <a:pt x="41" y="71"/>
                    <a:pt x="41" y="71"/>
                  </a:cubicBezTo>
                  <a:cubicBezTo>
                    <a:pt x="32" y="75"/>
                    <a:pt x="32" y="75"/>
                    <a:pt x="32" y="75"/>
                  </a:cubicBezTo>
                  <a:cubicBezTo>
                    <a:pt x="31" y="75"/>
                    <a:pt x="30" y="75"/>
                    <a:pt x="29" y="75"/>
                  </a:cubicBezTo>
                  <a:cubicBezTo>
                    <a:pt x="27" y="75"/>
                    <a:pt x="24" y="74"/>
                    <a:pt x="23" y="72"/>
                  </a:cubicBezTo>
                  <a:cubicBezTo>
                    <a:pt x="3" y="41"/>
                    <a:pt x="3" y="41"/>
                    <a:pt x="3" y="41"/>
                  </a:cubicBezTo>
                  <a:cubicBezTo>
                    <a:pt x="0" y="37"/>
                    <a:pt x="1" y="33"/>
                    <a:pt x="5" y="31"/>
                  </a:cubicBezTo>
                  <a:cubicBezTo>
                    <a:pt x="6" y="30"/>
                    <a:pt x="7" y="30"/>
                    <a:pt x="9" y="30"/>
                  </a:cubicBezTo>
                  <a:cubicBezTo>
                    <a:pt x="11" y="30"/>
                    <a:pt x="13" y="31"/>
                    <a:pt x="15" y="33"/>
                  </a:cubicBezTo>
                  <a:cubicBezTo>
                    <a:pt x="32" y="59"/>
                    <a:pt x="32" y="59"/>
                    <a:pt x="32" y="59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6" y="50"/>
                    <a:pt x="56" y="50"/>
                    <a:pt x="56" y="50"/>
                  </a:cubicBezTo>
                  <a:cubicBezTo>
                    <a:pt x="58" y="48"/>
                    <a:pt x="61" y="47"/>
                    <a:pt x="64" y="45"/>
                  </a:cubicBezTo>
                  <a:cubicBezTo>
                    <a:pt x="69" y="43"/>
                    <a:pt x="69" y="43"/>
                    <a:pt x="69" y="43"/>
                  </a:cubicBezTo>
                  <a:cubicBezTo>
                    <a:pt x="65" y="39"/>
                    <a:pt x="65" y="39"/>
                    <a:pt x="65" y="39"/>
                  </a:cubicBezTo>
                  <a:cubicBezTo>
                    <a:pt x="61" y="35"/>
                    <a:pt x="59" y="29"/>
                    <a:pt x="59" y="23"/>
                  </a:cubicBezTo>
                  <a:cubicBezTo>
                    <a:pt x="59" y="11"/>
                    <a:pt x="69" y="0"/>
                    <a:pt x="82" y="0"/>
                  </a:cubicBezTo>
                  <a:cubicBezTo>
                    <a:pt x="84" y="0"/>
                    <a:pt x="86" y="1"/>
                    <a:pt x="88" y="1"/>
                  </a:cubicBezTo>
                  <a:cubicBezTo>
                    <a:pt x="98" y="4"/>
                    <a:pt x="105" y="13"/>
                    <a:pt x="105" y="23"/>
                  </a:cubicBezTo>
                  <a:cubicBezTo>
                    <a:pt x="105" y="29"/>
                    <a:pt x="102" y="35"/>
                    <a:pt x="99" y="39"/>
                  </a:cubicBezTo>
                  <a:cubicBezTo>
                    <a:pt x="95" y="43"/>
                    <a:pt x="95" y="43"/>
                    <a:pt x="95" y="43"/>
                  </a:cubicBezTo>
                  <a:cubicBezTo>
                    <a:pt x="100" y="45"/>
                    <a:pt x="100" y="45"/>
                    <a:pt x="100" y="45"/>
                  </a:cubicBezTo>
                  <a:cubicBezTo>
                    <a:pt x="115" y="52"/>
                    <a:pt x="124" y="67"/>
                    <a:pt x="124" y="83"/>
                  </a:cubicBezTo>
                  <a:lnTo>
                    <a:pt x="40" y="8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" name="Freeform 125"/>
            <p:cNvSpPr>
              <a:spLocks noEditPoints="1"/>
            </p:cNvSpPr>
            <p:nvPr/>
          </p:nvSpPr>
          <p:spPr bwMode="auto">
            <a:xfrm>
              <a:off x="4140201" y="3232150"/>
              <a:ext cx="395288" cy="314325"/>
            </a:xfrm>
            <a:custGeom>
              <a:avLst/>
              <a:gdLst>
                <a:gd name="T0" fmla="*/ 141 w 145"/>
                <a:gd name="T1" fmla="*/ 0 h 115"/>
                <a:gd name="T2" fmla="*/ 4 w 145"/>
                <a:gd name="T3" fmla="*/ 0 h 115"/>
                <a:gd name="T4" fmla="*/ 0 w 145"/>
                <a:gd name="T5" fmla="*/ 4 h 115"/>
                <a:gd name="T6" fmla="*/ 0 w 145"/>
                <a:gd name="T7" fmla="*/ 111 h 115"/>
                <a:gd name="T8" fmla="*/ 4 w 145"/>
                <a:gd name="T9" fmla="*/ 115 h 115"/>
                <a:gd name="T10" fmla="*/ 64 w 145"/>
                <a:gd name="T11" fmla="*/ 115 h 115"/>
                <a:gd name="T12" fmla="*/ 55 w 145"/>
                <a:gd name="T13" fmla="*/ 102 h 115"/>
                <a:gd name="T14" fmla="*/ 54 w 145"/>
                <a:gd name="T15" fmla="*/ 91 h 115"/>
                <a:gd name="T16" fmla="*/ 54 w 145"/>
                <a:gd name="T17" fmla="*/ 91 h 115"/>
                <a:gd name="T18" fmla="*/ 30 w 145"/>
                <a:gd name="T19" fmla="*/ 55 h 115"/>
                <a:gd name="T20" fmla="*/ 31 w 145"/>
                <a:gd name="T21" fmla="*/ 49 h 115"/>
                <a:gd name="T22" fmla="*/ 37 w 145"/>
                <a:gd name="T23" fmla="*/ 50 h 115"/>
                <a:gd name="T24" fmla="*/ 60 w 145"/>
                <a:gd name="T25" fmla="*/ 86 h 115"/>
                <a:gd name="T26" fmla="*/ 74 w 145"/>
                <a:gd name="T27" fmla="*/ 90 h 115"/>
                <a:gd name="T28" fmla="*/ 90 w 145"/>
                <a:gd name="T29" fmla="*/ 113 h 115"/>
                <a:gd name="T30" fmla="*/ 109 w 145"/>
                <a:gd name="T31" fmla="*/ 106 h 115"/>
                <a:gd name="T32" fmla="*/ 118 w 145"/>
                <a:gd name="T33" fmla="*/ 100 h 115"/>
                <a:gd name="T34" fmla="*/ 111 w 145"/>
                <a:gd name="T35" fmla="*/ 82 h 115"/>
                <a:gd name="T36" fmla="*/ 138 w 145"/>
                <a:gd name="T37" fmla="*/ 55 h 115"/>
                <a:gd name="T38" fmla="*/ 145 w 145"/>
                <a:gd name="T39" fmla="*/ 57 h 115"/>
                <a:gd name="T40" fmla="*/ 145 w 145"/>
                <a:gd name="T41" fmla="*/ 4 h 115"/>
                <a:gd name="T42" fmla="*/ 141 w 145"/>
                <a:gd name="T43" fmla="*/ 0 h 115"/>
                <a:gd name="T44" fmla="*/ 103 w 145"/>
                <a:gd name="T45" fmla="*/ 67 h 115"/>
                <a:gd name="T46" fmla="*/ 60 w 145"/>
                <a:gd name="T47" fmla="*/ 67 h 115"/>
                <a:gd name="T48" fmla="*/ 56 w 145"/>
                <a:gd name="T49" fmla="*/ 63 h 115"/>
                <a:gd name="T50" fmla="*/ 60 w 145"/>
                <a:gd name="T51" fmla="*/ 59 h 115"/>
                <a:gd name="T52" fmla="*/ 103 w 145"/>
                <a:gd name="T53" fmla="*/ 59 h 115"/>
                <a:gd name="T54" fmla="*/ 107 w 145"/>
                <a:gd name="T55" fmla="*/ 63 h 115"/>
                <a:gd name="T56" fmla="*/ 103 w 145"/>
                <a:gd name="T57" fmla="*/ 67 h 115"/>
                <a:gd name="T58" fmla="*/ 115 w 145"/>
                <a:gd name="T59" fmla="*/ 48 h 115"/>
                <a:gd name="T60" fmla="*/ 60 w 145"/>
                <a:gd name="T61" fmla="*/ 48 h 115"/>
                <a:gd name="T62" fmla="*/ 56 w 145"/>
                <a:gd name="T63" fmla="*/ 44 h 115"/>
                <a:gd name="T64" fmla="*/ 60 w 145"/>
                <a:gd name="T65" fmla="*/ 40 h 115"/>
                <a:gd name="T66" fmla="*/ 115 w 145"/>
                <a:gd name="T67" fmla="*/ 40 h 115"/>
                <a:gd name="T68" fmla="*/ 119 w 145"/>
                <a:gd name="T69" fmla="*/ 44 h 115"/>
                <a:gd name="T70" fmla="*/ 115 w 145"/>
                <a:gd name="T71" fmla="*/ 48 h 115"/>
                <a:gd name="T72" fmla="*/ 115 w 145"/>
                <a:gd name="T73" fmla="*/ 28 h 115"/>
                <a:gd name="T74" fmla="*/ 60 w 145"/>
                <a:gd name="T75" fmla="*/ 28 h 115"/>
                <a:gd name="T76" fmla="*/ 56 w 145"/>
                <a:gd name="T77" fmla="*/ 24 h 115"/>
                <a:gd name="T78" fmla="*/ 60 w 145"/>
                <a:gd name="T79" fmla="*/ 20 h 115"/>
                <a:gd name="T80" fmla="*/ 115 w 145"/>
                <a:gd name="T81" fmla="*/ 20 h 115"/>
                <a:gd name="T82" fmla="*/ 119 w 145"/>
                <a:gd name="T83" fmla="*/ 24 h 115"/>
                <a:gd name="T84" fmla="*/ 115 w 145"/>
                <a:gd name="T85" fmla="*/ 28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5" h="115">
                  <a:moveTo>
                    <a:pt x="14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1" y="0"/>
                    <a:pt x="0" y="2"/>
                    <a:pt x="0" y="4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13"/>
                    <a:pt x="1" y="115"/>
                    <a:pt x="4" y="115"/>
                  </a:cubicBezTo>
                  <a:cubicBezTo>
                    <a:pt x="64" y="115"/>
                    <a:pt x="64" y="115"/>
                    <a:pt x="64" y="115"/>
                  </a:cubicBezTo>
                  <a:cubicBezTo>
                    <a:pt x="55" y="102"/>
                    <a:pt x="55" y="102"/>
                    <a:pt x="55" y="102"/>
                  </a:cubicBezTo>
                  <a:cubicBezTo>
                    <a:pt x="53" y="99"/>
                    <a:pt x="53" y="95"/>
                    <a:pt x="54" y="91"/>
                  </a:cubicBezTo>
                  <a:cubicBezTo>
                    <a:pt x="54" y="91"/>
                    <a:pt x="54" y="91"/>
                    <a:pt x="54" y="91"/>
                  </a:cubicBezTo>
                  <a:cubicBezTo>
                    <a:pt x="30" y="55"/>
                    <a:pt x="30" y="55"/>
                    <a:pt x="30" y="55"/>
                  </a:cubicBezTo>
                  <a:cubicBezTo>
                    <a:pt x="29" y="53"/>
                    <a:pt x="29" y="50"/>
                    <a:pt x="31" y="49"/>
                  </a:cubicBezTo>
                  <a:cubicBezTo>
                    <a:pt x="33" y="48"/>
                    <a:pt x="36" y="48"/>
                    <a:pt x="37" y="50"/>
                  </a:cubicBezTo>
                  <a:cubicBezTo>
                    <a:pt x="60" y="86"/>
                    <a:pt x="60" y="86"/>
                    <a:pt x="60" y="86"/>
                  </a:cubicBezTo>
                  <a:cubicBezTo>
                    <a:pt x="65" y="83"/>
                    <a:pt x="71" y="85"/>
                    <a:pt x="74" y="90"/>
                  </a:cubicBezTo>
                  <a:cubicBezTo>
                    <a:pt x="90" y="113"/>
                    <a:pt x="90" y="113"/>
                    <a:pt x="90" y="113"/>
                  </a:cubicBezTo>
                  <a:cubicBezTo>
                    <a:pt x="109" y="106"/>
                    <a:pt x="109" y="106"/>
                    <a:pt x="109" y="106"/>
                  </a:cubicBezTo>
                  <a:cubicBezTo>
                    <a:pt x="112" y="104"/>
                    <a:pt x="115" y="102"/>
                    <a:pt x="118" y="100"/>
                  </a:cubicBezTo>
                  <a:cubicBezTo>
                    <a:pt x="114" y="96"/>
                    <a:pt x="111" y="89"/>
                    <a:pt x="111" y="82"/>
                  </a:cubicBezTo>
                  <a:cubicBezTo>
                    <a:pt x="111" y="68"/>
                    <a:pt x="123" y="55"/>
                    <a:pt x="138" y="55"/>
                  </a:cubicBezTo>
                  <a:cubicBezTo>
                    <a:pt x="140" y="55"/>
                    <a:pt x="143" y="56"/>
                    <a:pt x="145" y="57"/>
                  </a:cubicBezTo>
                  <a:cubicBezTo>
                    <a:pt x="145" y="4"/>
                    <a:pt x="145" y="4"/>
                    <a:pt x="145" y="4"/>
                  </a:cubicBezTo>
                  <a:cubicBezTo>
                    <a:pt x="145" y="2"/>
                    <a:pt x="143" y="0"/>
                    <a:pt x="141" y="0"/>
                  </a:cubicBezTo>
                  <a:close/>
                  <a:moveTo>
                    <a:pt x="103" y="67"/>
                  </a:moveTo>
                  <a:cubicBezTo>
                    <a:pt x="60" y="67"/>
                    <a:pt x="60" y="67"/>
                    <a:pt x="60" y="67"/>
                  </a:cubicBezTo>
                  <a:cubicBezTo>
                    <a:pt x="58" y="67"/>
                    <a:pt x="56" y="65"/>
                    <a:pt x="56" y="63"/>
                  </a:cubicBezTo>
                  <a:cubicBezTo>
                    <a:pt x="56" y="61"/>
                    <a:pt x="58" y="59"/>
                    <a:pt x="60" y="59"/>
                  </a:cubicBezTo>
                  <a:cubicBezTo>
                    <a:pt x="103" y="59"/>
                    <a:pt x="103" y="59"/>
                    <a:pt x="103" y="59"/>
                  </a:cubicBezTo>
                  <a:cubicBezTo>
                    <a:pt x="106" y="59"/>
                    <a:pt x="107" y="61"/>
                    <a:pt x="107" y="63"/>
                  </a:cubicBezTo>
                  <a:cubicBezTo>
                    <a:pt x="107" y="65"/>
                    <a:pt x="106" y="67"/>
                    <a:pt x="103" y="67"/>
                  </a:cubicBezTo>
                  <a:close/>
                  <a:moveTo>
                    <a:pt x="115" y="48"/>
                  </a:moveTo>
                  <a:cubicBezTo>
                    <a:pt x="60" y="48"/>
                    <a:pt x="60" y="48"/>
                    <a:pt x="60" y="48"/>
                  </a:cubicBezTo>
                  <a:cubicBezTo>
                    <a:pt x="58" y="48"/>
                    <a:pt x="56" y="46"/>
                    <a:pt x="56" y="44"/>
                  </a:cubicBezTo>
                  <a:cubicBezTo>
                    <a:pt x="56" y="41"/>
                    <a:pt x="58" y="40"/>
                    <a:pt x="60" y="40"/>
                  </a:cubicBezTo>
                  <a:cubicBezTo>
                    <a:pt x="115" y="40"/>
                    <a:pt x="115" y="40"/>
                    <a:pt x="115" y="40"/>
                  </a:cubicBezTo>
                  <a:cubicBezTo>
                    <a:pt x="117" y="40"/>
                    <a:pt x="119" y="41"/>
                    <a:pt x="119" y="44"/>
                  </a:cubicBezTo>
                  <a:cubicBezTo>
                    <a:pt x="119" y="46"/>
                    <a:pt x="117" y="48"/>
                    <a:pt x="115" y="48"/>
                  </a:cubicBezTo>
                  <a:close/>
                  <a:moveTo>
                    <a:pt x="115" y="28"/>
                  </a:moveTo>
                  <a:cubicBezTo>
                    <a:pt x="60" y="28"/>
                    <a:pt x="60" y="28"/>
                    <a:pt x="60" y="28"/>
                  </a:cubicBezTo>
                  <a:cubicBezTo>
                    <a:pt x="58" y="28"/>
                    <a:pt x="56" y="27"/>
                    <a:pt x="56" y="24"/>
                  </a:cubicBezTo>
                  <a:cubicBezTo>
                    <a:pt x="56" y="22"/>
                    <a:pt x="58" y="20"/>
                    <a:pt x="60" y="20"/>
                  </a:cubicBezTo>
                  <a:cubicBezTo>
                    <a:pt x="115" y="20"/>
                    <a:pt x="115" y="20"/>
                    <a:pt x="115" y="20"/>
                  </a:cubicBezTo>
                  <a:cubicBezTo>
                    <a:pt x="117" y="20"/>
                    <a:pt x="119" y="22"/>
                    <a:pt x="119" y="24"/>
                  </a:cubicBezTo>
                  <a:cubicBezTo>
                    <a:pt x="119" y="27"/>
                    <a:pt x="117" y="28"/>
                    <a:pt x="115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1" name="Freeform 126"/>
            <p:cNvSpPr/>
            <p:nvPr/>
          </p:nvSpPr>
          <p:spPr bwMode="auto">
            <a:xfrm>
              <a:off x="4113213" y="3578225"/>
              <a:ext cx="220663" cy="22225"/>
            </a:xfrm>
            <a:custGeom>
              <a:avLst/>
              <a:gdLst>
                <a:gd name="T0" fmla="*/ 77 w 81"/>
                <a:gd name="T1" fmla="*/ 8 h 8"/>
                <a:gd name="T2" fmla="*/ 3 w 81"/>
                <a:gd name="T3" fmla="*/ 8 h 8"/>
                <a:gd name="T4" fmla="*/ 0 w 81"/>
                <a:gd name="T5" fmla="*/ 4 h 8"/>
                <a:gd name="T6" fmla="*/ 3 w 81"/>
                <a:gd name="T7" fmla="*/ 0 h 8"/>
                <a:gd name="T8" fmla="*/ 77 w 81"/>
                <a:gd name="T9" fmla="*/ 0 h 8"/>
                <a:gd name="T10" fmla="*/ 81 w 81"/>
                <a:gd name="T11" fmla="*/ 4 h 8"/>
                <a:gd name="T12" fmla="*/ 77 w 81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8">
                  <a:moveTo>
                    <a:pt x="77" y="8"/>
                  </a:moveTo>
                  <a:cubicBezTo>
                    <a:pt x="3" y="8"/>
                    <a:pt x="3" y="8"/>
                    <a:pt x="3" y="8"/>
                  </a:cubicBezTo>
                  <a:cubicBezTo>
                    <a:pt x="1" y="8"/>
                    <a:pt x="0" y="6"/>
                    <a:pt x="0" y="4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79" y="0"/>
                    <a:pt x="81" y="1"/>
                    <a:pt x="81" y="4"/>
                  </a:cubicBezTo>
                  <a:cubicBezTo>
                    <a:pt x="81" y="6"/>
                    <a:pt x="79" y="8"/>
                    <a:pt x="77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42" name="Text Box 19"/>
          <p:cNvSpPr txBox="1">
            <a:spLocks noChangeArrowheads="1"/>
          </p:cNvSpPr>
          <p:nvPr/>
        </p:nvSpPr>
        <p:spPr bwMode="auto">
          <a:xfrm>
            <a:off x="2648902" y="4808022"/>
            <a:ext cx="675767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二叉链表的实现</a:t>
            </a:r>
            <a:r>
              <a:rPr lang="en-US" altLang="zh-CN" sz="28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销毁</a:t>
            </a:r>
            <a:endParaRPr lang="zh-CN" altLang="en-US" sz="28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2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3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42D2D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6" presetClass="emph" presetSubtype="0" repeatCount="2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42D2D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6" presetClass="emph" presetSubtype="0" repeatCount="2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42D2D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mph" presetSubtype="0" repeatCount="2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 tmFilter="0, 0; .2, .5; .8, .5; 1, 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5" dur="250" autoRev="1" fill="hold"/>
                                        <p:tgtEl>
                                          <p:spTgt spid="2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42D2D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6" presetClass="emph" presetSubtype="0" repeatCount="2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 tmFilter="0, 0; .2, .5; .8, .5; 1, 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" dur="250" autoRev="1" fill="hold"/>
                                        <p:tgtEl>
                                          <p:spTgt spid="3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42D2D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6" presetClass="emph" presetSubtype="0" repeatCount="2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 tmFilter="0, 0; .2, .5; .8, .5; 1, 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7" dur="250" autoRev="1" fill="hold"/>
                                        <p:tgtEl>
                                          <p:spTgt spid="4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nimClr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42D2D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</p:childTnLst>
        </p:cTn>
      </p:par>
    </p:tnLst>
    <p:bldLst>
      <p:bldP spid="34" grpId="0" bldLvl="0" animBg="1"/>
      <p:bldP spid="14" grpId="0" bldLvl="0" animBg="1"/>
      <p:bldP spid="20" grpId="0" bldLvl="0" animBg="1"/>
      <p:bldP spid="29" grpId="0" bldLvl="0" animBg="1"/>
      <p:bldP spid="35" grpId="0" bldLvl="0" animBg="1"/>
      <p:bldP spid="42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850350" y="952588"/>
            <a:ext cx="7197526" cy="523220"/>
            <a:chOff x="1826091" y="4148024"/>
            <a:chExt cx="7197526" cy="523220"/>
          </a:xfrm>
        </p:grpSpPr>
        <p:sp>
          <p:nvSpPr>
            <p:cNvPr id="10" name="Text Box 11"/>
            <p:cNvSpPr txBox="1">
              <a:spLocks noChangeArrowheads="1"/>
            </p:cNvSpPr>
            <p:nvPr/>
          </p:nvSpPr>
          <p:spPr bwMode="auto">
            <a:xfrm>
              <a:off x="2385059" y="4148024"/>
              <a:ext cx="6638558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 smtClean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如何用链接存储方式存储二叉树呢？</a:t>
              </a:r>
              <a:endPara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Group 31"/>
            <p:cNvGrpSpPr/>
            <p:nvPr/>
          </p:nvGrpSpPr>
          <p:grpSpPr>
            <a:xfrm>
              <a:off x="1826091" y="4213620"/>
              <a:ext cx="465732" cy="432000"/>
              <a:chOff x="8686801" y="2019300"/>
              <a:chExt cx="528638" cy="565150"/>
            </a:xfrm>
            <a:solidFill>
              <a:srgbClr val="5A327D"/>
            </a:solidFill>
          </p:grpSpPr>
          <p:sp>
            <p:nvSpPr>
              <p:cNvPr id="12" name="Freeform 32"/>
              <p:cNvSpPr/>
              <p:nvPr/>
            </p:nvSpPr>
            <p:spPr bwMode="auto">
              <a:xfrm>
                <a:off x="8785226" y="2501900"/>
                <a:ext cx="331788" cy="82550"/>
              </a:xfrm>
              <a:custGeom>
                <a:avLst/>
                <a:gdLst>
                  <a:gd name="T0" fmla="*/ 121 w 122"/>
                  <a:gd name="T1" fmla="*/ 24 h 30"/>
                  <a:gd name="T2" fmla="*/ 107 w 122"/>
                  <a:gd name="T3" fmla="*/ 2 h 30"/>
                  <a:gd name="T4" fmla="*/ 104 w 122"/>
                  <a:gd name="T5" fmla="*/ 0 h 30"/>
                  <a:gd name="T6" fmla="*/ 62 w 122"/>
                  <a:gd name="T7" fmla="*/ 0 h 30"/>
                  <a:gd name="T8" fmla="*/ 60 w 122"/>
                  <a:gd name="T9" fmla="*/ 0 h 30"/>
                  <a:gd name="T10" fmla="*/ 18 w 122"/>
                  <a:gd name="T11" fmla="*/ 0 h 30"/>
                  <a:gd name="T12" fmla="*/ 15 w 122"/>
                  <a:gd name="T13" fmla="*/ 2 h 30"/>
                  <a:gd name="T14" fmla="*/ 1 w 122"/>
                  <a:gd name="T15" fmla="*/ 24 h 30"/>
                  <a:gd name="T16" fmla="*/ 2 w 122"/>
                  <a:gd name="T17" fmla="*/ 29 h 30"/>
                  <a:gd name="T18" fmla="*/ 4 w 122"/>
                  <a:gd name="T19" fmla="*/ 30 h 30"/>
                  <a:gd name="T20" fmla="*/ 8 w 122"/>
                  <a:gd name="T21" fmla="*/ 28 h 30"/>
                  <a:gd name="T22" fmla="*/ 20 w 122"/>
                  <a:gd name="T23" fmla="*/ 8 h 30"/>
                  <a:gd name="T24" fmla="*/ 60 w 122"/>
                  <a:gd name="T25" fmla="*/ 8 h 30"/>
                  <a:gd name="T26" fmla="*/ 62 w 122"/>
                  <a:gd name="T27" fmla="*/ 8 h 30"/>
                  <a:gd name="T28" fmla="*/ 102 w 122"/>
                  <a:gd name="T29" fmla="*/ 8 h 30"/>
                  <a:gd name="T30" fmla="*/ 114 w 122"/>
                  <a:gd name="T31" fmla="*/ 28 h 30"/>
                  <a:gd name="T32" fmla="*/ 118 w 122"/>
                  <a:gd name="T33" fmla="*/ 30 h 30"/>
                  <a:gd name="T34" fmla="*/ 120 w 122"/>
                  <a:gd name="T35" fmla="*/ 29 h 30"/>
                  <a:gd name="T36" fmla="*/ 121 w 122"/>
                  <a:gd name="T37" fmla="*/ 24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2" h="30">
                    <a:moveTo>
                      <a:pt x="121" y="24"/>
                    </a:moveTo>
                    <a:cubicBezTo>
                      <a:pt x="107" y="2"/>
                      <a:pt x="107" y="2"/>
                      <a:pt x="107" y="2"/>
                    </a:cubicBezTo>
                    <a:cubicBezTo>
                      <a:pt x="106" y="1"/>
                      <a:pt x="105" y="0"/>
                      <a:pt x="104" y="0"/>
                    </a:cubicBezTo>
                    <a:cubicBezTo>
                      <a:pt x="62" y="0"/>
                      <a:pt x="62" y="0"/>
                      <a:pt x="62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7" y="0"/>
                      <a:pt x="15" y="1"/>
                      <a:pt x="15" y="2"/>
                    </a:cubicBezTo>
                    <a:cubicBezTo>
                      <a:pt x="1" y="24"/>
                      <a:pt x="1" y="24"/>
                      <a:pt x="1" y="24"/>
                    </a:cubicBezTo>
                    <a:cubicBezTo>
                      <a:pt x="0" y="26"/>
                      <a:pt x="0" y="28"/>
                      <a:pt x="2" y="29"/>
                    </a:cubicBezTo>
                    <a:cubicBezTo>
                      <a:pt x="3" y="30"/>
                      <a:pt x="3" y="30"/>
                      <a:pt x="4" y="30"/>
                    </a:cubicBezTo>
                    <a:cubicBezTo>
                      <a:pt x="6" y="30"/>
                      <a:pt x="7" y="29"/>
                      <a:pt x="8" y="28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60" y="8"/>
                      <a:pt x="60" y="8"/>
                      <a:pt x="60" y="8"/>
                    </a:cubicBezTo>
                    <a:cubicBezTo>
                      <a:pt x="62" y="8"/>
                      <a:pt x="62" y="8"/>
                      <a:pt x="62" y="8"/>
                    </a:cubicBezTo>
                    <a:cubicBezTo>
                      <a:pt x="102" y="8"/>
                      <a:pt x="102" y="8"/>
                      <a:pt x="102" y="8"/>
                    </a:cubicBezTo>
                    <a:cubicBezTo>
                      <a:pt x="114" y="28"/>
                      <a:pt x="114" y="28"/>
                      <a:pt x="114" y="28"/>
                    </a:cubicBezTo>
                    <a:cubicBezTo>
                      <a:pt x="115" y="29"/>
                      <a:pt x="116" y="30"/>
                      <a:pt x="118" y="30"/>
                    </a:cubicBezTo>
                    <a:cubicBezTo>
                      <a:pt x="118" y="30"/>
                      <a:pt x="119" y="30"/>
                      <a:pt x="120" y="29"/>
                    </a:cubicBezTo>
                    <a:cubicBezTo>
                      <a:pt x="122" y="28"/>
                      <a:pt x="122" y="26"/>
                      <a:pt x="121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" name="Freeform 33"/>
              <p:cNvSpPr/>
              <p:nvPr/>
            </p:nvSpPr>
            <p:spPr bwMode="auto">
              <a:xfrm>
                <a:off x="8686801" y="2019300"/>
                <a:ext cx="165100" cy="149225"/>
              </a:xfrm>
              <a:custGeom>
                <a:avLst/>
                <a:gdLst>
                  <a:gd name="T0" fmla="*/ 33 w 61"/>
                  <a:gd name="T1" fmla="*/ 0 h 55"/>
                  <a:gd name="T2" fmla="*/ 0 w 61"/>
                  <a:gd name="T3" fmla="*/ 33 h 55"/>
                  <a:gd name="T4" fmla="*/ 7 w 61"/>
                  <a:gd name="T5" fmla="*/ 54 h 55"/>
                  <a:gd name="T6" fmla="*/ 10 w 61"/>
                  <a:gd name="T7" fmla="*/ 55 h 55"/>
                  <a:gd name="T8" fmla="*/ 13 w 61"/>
                  <a:gd name="T9" fmla="*/ 55 h 55"/>
                  <a:gd name="T10" fmla="*/ 59 w 61"/>
                  <a:gd name="T11" fmla="*/ 19 h 55"/>
                  <a:gd name="T12" fmla="*/ 60 w 61"/>
                  <a:gd name="T13" fmla="*/ 13 h 55"/>
                  <a:gd name="T14" fmla="*/ 33 w 61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55">
                    <a:moveTo>
                      <a:pt x="33" y="0"/>
                    </a:moveTo>
                    <a:cubicBezTo>
                      <a:pt x="15" y="0"/>
                      <a:pt x="0" y="15"/>
                      <a:pt x="0" y="33"/>
                    </a:cubicBezTo>
                    <a:cubicBezTo>
                      <a:pt x="0" y="41"/>
                      <a:pt x="2" y="48"/>
                      <a:pt x="7" y="54"/>
                    </a:cubicBezTo>
                    <a:cubicBezTo>
                      <a:pt x="8" y="55"/>
                      <a:pt x="9" y="55"/>
                      <a:pt x="10" y="55"/>
                    </a:cubicBezTo>
                    <a:cubicBezTo>
                      <a:pt x="11" y="55"/>
                      <a:pt x="12" y="55"/>
                      <a:pt x="13" y="55"/>
                    </a:cubicBezTo>
                    <a:cubicBezTo>
                      <a:pt x="59" y="19"/>
                      <a:pt x="59" y="19"/>
                      <a:pt x="59" y="19"/>
                    </a:cubicBezTo>
                    <a:cubicBezTo>
                      <a:pt x="61" y="17"/>
                      <a:pt x="61" y="15"/>
                      <a:pt x="60" y="13"/>
                    </a:cubicBezTo>
                    <a:cubicBezTo>
                      <a:pt x="54" y="5"/>
                      <a:pt x="44" y="0"/>
                      <a:pt x="3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" name="Freeform 34"/>
              <p:cNvSpPr/>
              <p:nvPr/>
            </p:nvSpPr>
            <p:spPr bwMode="auto">
              <a:xfrm>
                <a:off x="9048751" y="2019300"/>
                <a:ext cx="166688" cy="149225"/>
              </a:xfrm>
              <a:custGeom>
                <a:avLst/>
                <a:gdLst>
                  <a:gd name="T0" fmla="*/ 28 w 61"/>
                  <a:gd name="T1" fmla="*/ 0 h 55"/>
                  <a:gd name="T2" fmla="*/ 1 w 61"/>
                  <a:gd name="T3" fmla="*/ 13 h 55"/>
                  <a:gd name="T4" fmla="*/ 2 w 61"/>
                  <a:gd name="T5" fmla="*/ 19 h 55"/>
                  <a:gd name="T6" fmla="*/ 48 w 61"/>
                  <a:gd name="T7" fmla="*/ 55 h 55"/>
                  <a:gd name="T8" fmla="*/ 51 w 61"/>
                  <a:gd name="T9" fmla="*/ 55 h 55"/>
                  <a:gd name="T10" fmla="*/ 54 w 61"/>
                  <a:gd name="T11" fmla="*/ 54 h 55"/>
                  <a:gd name="T12" fmla="*/ 61 w 61"/>
                  <a:gd name="T13" fmla="*/ 33 h 55"/>
                  <a:gd name="T14" fmla="*/ 28 w 61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55">
                    <a:moveTo>
                      <a:pt x="28" y="0"/>
                    </a:moveTo>
                    <a:cubicBezTo>
                      <a:pt x="17" y="0"/>
                      <a:pt x="7" y="5"/>
                      <a:pt x="1" y="13"/>
                    </a:cubicBezTo>
                    <a:cubicBezTo>
                      <a:pt x="0" y="15"/>
                      <a:pt x="0" y="17"/>
                      <a:pt x="2" y="19"/>
                    </a:cubicBezTo>
                    <a:cubicBezTo>
                      <a:pt x="48" y="55"/>
                      <a:pt x="48" y="55"/>
                      <a:pt x="48" y="55"/>
                    </a:cubicBezTo>
                    <a:cubicBezTo>
                      <a:pt x="49" y="55"/>
                      <a:pt x="50" y="55"/>
                      <a:pt x="51" y="55"/>
                    </a:cubicBezTo>
                    <a:cubicBezTo>
                      <a:pt x="52" y="55"/>
                      <a:pt x="53" y="55"/>
                      <a:pt x="54" y="54"/>
                    </a:cubicBezTo>
                    <a:cubicBezTo>
                      <a:pt x="58" y="48"/>
                      <a:pt x="61" y="41"/>
                      <a:pt x="61" y="33"/>
                    </a:cubicBezTo>
                    <a:cubicBezTo>
                      <a:pt x="61" y="15"/>
                      <a:pt x="46" y="0"/>
                      <a:pt x="2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" name="Freeform 223"/>
              <p:cNvSpPr>
                <a:spLocks noEditPoints="1"/>
              </p:cNvSpPr>
              <p:nvPr/>
            </p:nvSpPr>
            <p:spPr bwMode="auto">
              <a:xfrm>
                <a:off x="8743951" y="2073275"/>
                <a:ext cx="411163" cy="414338"/>
              </a:xfrm>
              <a:custGeom>
                <a:avLst/>
                <a:gdLst>
                  <a:gd name="T0" fmla="*/ 76 w 151"/>
                  <a:gd name="T1" fmla="*/ 0 h 152"/>
                  <a:gd name="T2" fmla="*/ 0 w 151"/>
                  <a:gd name="T3" fmla="*/ 76 h 152"/>
                  <a:gd name="T4" fmla="*/ 76 w 151"/>
                  <a:gd name="T5" fmla="*/ 152 h 152"/>
                  <a:gd name="T6" fmla="*/ 151 w 151"/>
                  <a:gd name="T7" fmla="*/ 76 h 152"/>
                  <a:gd name="T8" fmla="*/ 76 w 151"/>
                  <a:gd name="T9" fmla="*/ 0 h 152"/>
                  <a:gd name="T10" fmla="*/ 104 w 151"/>
                  <a:gd name="T11" fmla="*/ 82 h 152"/>
                  <a:gd name="T12" fmla="*/ 77 w 151"/>
                  <a:gd name="T13" fmla="*/ 82 h 152"/>
                  <a:gd name="T14" fmla="*/ 71 w 151"/>
                  <a:gd name="T15" fmla="*/ 76 h 152"/>
                  <a:gd name="T16" fmla="*/ 71 w 151"/>
                  <a:gd name="T17" fmla="*/ 24 h 152"/>
                  <a:gd name="T18" fmla="*/ 77 w 151"/>
                  <a:gd name="T19" fmla="*/ 18 h 152"/>
                  <a:gd name="T20" fmla="*/ 83 w 151"/>
                  <a:gd name="T21" fmla="*/ 24 h 152"/>
                  <a:gd name="T22" fmla="*/ 83 w 151"/>
                  <a:gd name="T23" fmla="*/ 70 h 152"/>
                  <a:gd name="T24" fmla="*/ 104 w 151"/>
                  <a:gd name="T25" fmla="*/ 70 h 152"/>
                  <a:gd name="T26" fmla="*/ 110 w 151"/>
                  <a:gd name="T27" fmla="*/ 76 h 152"/>
                  <a:gd name="T28" fmla="*/ 104 w 151"/>
                  <a:gd name="T29" fmla="*/ 82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51" h="152">
                    <a:moveTo>
                      <a:pt x="76" y="0"/>
                    </a:moveTo>
                    <a:cubicBezTo>
                      <a:pt x="34" y="0"/>
                      <a:pt x="0" y="34"/>
                      <a:pt x="0" y="76"/>
                    </a:cubicBezTo>
                    <a:cubicBezTo>
                      <a:pt x="0" y="118"/>
                      <a:pt x="34" y="152"/>
                      <a:pt x="76" y="152"/>
                    </a:cubicBezTo>
                    <a:cubicBezTo>
                      <a:pt x="118" y="152"/>
                      <a:pt x="151" y="118"/>
                      <a:pt x="151" y="76"/>
                    </a:cubicBezTo>
                    <a:cubicBezTo>
                      <a:pt x="151" y="34"/>
                      <a:pt x="118" y="0"/>
                      <a:pt x="76" y="0"/>
                    </a:cubicBezTo>
                    <a:close/>
                    <a:moveTo>
                      <a:pt x="104" y="82"/>
                    </a:moveTo>
                    <a:cubicBezTo>
                      <a:pt x="77" y="82"/>
                      <a:pt x="77" y="82"/>
                      <a:pt x="77" y="82"/>
                    </a:cubicBezTo>
                    <a:cubicBezTo>
                      <a:pt x="73" y="82"/>
                      <a:pt x="71" y="79"/>
                      <a:pt x="71" y="76"/>
                    </a:cubicBezTo>
                    <a:cubicBezTo>
                      <a:pt x="71" y="24"/>
                      <a:pt x="71" y="24"/>
                      <a:pt x="71" y="24"/>
                    </a:cubicBezTo>
                    <a:cubicBezTo>
                      <a:pt x="71" y="21"/>
                      <a:pt x="73" y="18"/>
                      <a:pt x="77" y="18"/>
                    </a:cubicBezTo>
                    <a:cubicBezTo>
                      <a:pt x="80" y="18"/>
                      <a:pt x="83" y="21"/>
                      <a:pt x="83" y="24"/>
                    </a:cubicBezTo>
                    <a:cubicBezTo>
                      <a:pt x="83" y="70"/>
                      <a:pt x="83" y="70"/>
                      <a:pt x="83" y="70"/>
                    </a:cubicBezTo>
                    <a:cubicBezTo>
                      <a:pt x="104" y="70"/>
                      <a:pt x="104" y="70"/>
                      <a:pt x="104" y="70"/>
                    </a:cubicBezTo>
                    <a:cubicBezTo>
                      <a:pt x="107" y="70"/>
                      <a:pt x="110" y="72"/>
                      <a:pt x="110" y="76"/>
                    </a:cubicBezTo>
                    <a:cubicBezTo>
                      <a:pt x="110" y="79"/>
                      <a:pt x="107" y="82"/>
                      <a:pt x="104" y="8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grpSp>
        <p:nvGrpSpPr>
          <p:cNvPr id="27" name="组合 26"/>
          <p:cNvGrpSpPr/>
          <p:nvPr/>
        </p:nvGrpSpPr>
        <p:grpSpPr>
          <a:xfrm>
            <a:off x="8484133" y="2051553"/>
            <a:ext cx="3005177" cy="3274895"/>
            <a:chOff x="8138952" y="2616992"/>
            <a:chExt cx="3005177" cy="3274895"/>
          </a:xfrm>
          <a:solidFill>
            <a:srgbClr val="B4B4BE"/>
          </a:solidFill>
        </p:grpSpPr>
        <p:sp>
          <p:nvSpPr>
            <p:cNvPr id="28" name="Line 25"/>
            <p:cNvSpPr>
              <a:spLocks noChangeShapeType="1"/>
            </p:cNvSpPr>
            <p:nvPr/>
          </p:nvSpPr>
          <p:spPr bwMode="auto">
            <a:xfrm flipH="1">
              <a:off x="8995407" y="2953542"/>
              <a:ext cx="511175" cy="540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39" name="Line 26"/>
            <p:cNvSpPr>
              <a:spLocks noChangeShapeType="1"/>
            </p:cNvSpPr>
            <p:nvPr/>
          </p:nvSpPr>
          <p:spPr bwMode="auto">
            <a:xfrm>
              <a:off x="9879645" y="2953541"/>
              <a:ext cx="432000" cy="540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40" name="Line 27"/>
            <p:cNvSpPr>
              <a:spLocks noChangeShapeType="1"/>
            </p:cNvSpPr>
            <p:nvPr/>
          </p:nvSpPr>
          <p:spPr bwMode="auto">
            <a:xfrm flipH="1">
              <a:off x="8373108" y="3834286"/>
              <a:ext cx="360000" cy="648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41" name="Line 28"/>
            <p:cNvSpPr>
              <a:spLocks noChangeShapeType="1"/>
            </p:cNvSpPr>
            <p:nvPr/>
          </p:nvSpPr>
          <p:spPr bwMode="auto">
            <a:xfrm>
              <a:off x="8417876" y="4899182"/>
              <a:ext cx="396875" cy="606425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42" name="Line 29"/>
            <p:cNvSpPr>
              <a:spLocks noChangeShapeType="1"/>
            </p:cNvSpPr>
            <p:nvPr/>
          </p:nvSpPr>
          <p:spPr bwMode="auto">
            <a:xfrm flipH="1">
              <a:off x="10043475" y="3829524"/>
              <a:ext cx="288000" cy="648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43" name="Line 30"/>
            <p:cNvSpPr>
              <a:spLocks noChangeShapeType="1"/>
            </p:cNvSpPr>
            <p:nvPr/>
          </p:nvSpPr>
          <p:spPr bwMode="auto">
            <a:xfrm>
              <a:off x="10561325" y="3841246"/>
              <a:ext cx="288000" cy="6258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44" name="Oval 37"/>
            <p:cNvSpPr>
              <a:spLocks noChangeArrowheads="1"/>
            </p:cNvSpPr>
            <p:nvPr/>
          </p:nvSpPr>
          <p:spPr bwMode="auto">
            <a:xfrm>
              <a:off x="9486898" y="2616992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Oval 37"/>
            <p:cNvSpPr>
              <a:spLocks noChangeArrowheads="1"/>
            </p:cNvSpPr>
            <p:nvPr/>
          </p:nvSpPr>
          <p:spPr bwMode="auto">
            <a:xfrm>
              <a:off x="10228577" y="3433283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Oval 37"/>
            <p:cNvSpPr>
              <a:spLocks noChangeArrowheads="1"/>
            </p:cNvSpPr>
            <p:nvPr/>
          </p:nvSpPr>
          <p:spPr bwMode="auto">
            <a:xfrm>
              <a:off x="8631553" y="3433283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Oval 37"/>
            <p:cNvSpPr>
              <a:spLocks noChangeArrowheads="1"/>
            </p:cNvSpPr>
            <p:nvPr/>
          </p:nvSpPr>
          <p:spPr bwMode="auto">
            <a:xfrm>
              <a:off x="8138952" y="4473574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Oval 37"/>
            <p:cNvSpPr>
              <a:spLocks noChangeArrowheads="1"/>
            </p:cNvSpPr>
            <p:nvPr/>
          </p:nvSpPr>
          <p:spPr bwMode="auto">
            <a:xfrm>
              <a:off x="9775505" y="4473574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Oval 37"/>
            <p:cNvSpPr>
              <a:spLocks noChangeArrowheads="1"/>
            </p:cNvSpPr>
            <p:nvPr/>
          </p:nvSpPr>
          <p:spPr bwMode="auto">
            <a:xfrm>
              <a:off x="10712129" y="4473574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Oval 37"/>
            <p:cNvSpPr>
              <a:spLocks noChangeArrowheads="1"/>
            </p:cNvSpPr>
            <p:nvPr/>
          </p:nvSpPr>
          <p:spPr bwMode="auto">
            <a:xfrm>
              <a:off x="8714420" y="5459887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1" name="Group 41"/>
          <p:cNvGrpSpPr/>
          <p:nvPr/>
        </p:nvGrpSpPr>
        <p:grpSpPr bwMode="auto">
          <a:xfrm>
            <a:off x="995804" y="1802924"/>
            <a:ext cx="7891463" cy="706438"/>
            <a:chOff x="314" y="2293"/>
            <a:chExt cx="4971" cy="445"/>
          </a:xfrm>
          <a:noFill/>
        </p:grpSpPr>
        <p:sp>
          <p:nvSpPr>
            <p:cNvPr id="52" name="Line 9"/>
            <p:cNvSpPr>
              <a:spLocks noChangeShapeType="1"/>
            </p:cNvSpPr>
            <p:nvPr/>
          </p:nvSpPr>
          <p:spPr bwMode="auto">
            <a:xfrm flipV="1">
              <a:off x="350" y="2581"/>
              <a:ext cx="431" cy="0"/>
            </a:xfrm>
            <a:prstGeom prst="line">
              <a:avLst/>
            </a:prstGeom>
            <a:grpFill/>
            <a:ln w="28575">
              <a:solidFill>
                <a:srgbClr val="507D7D"/>
              </a:solidFill>
              <a:round/>
              <a:tailEnd type="stealth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bIns="36000"/>
            <a:lstStyle/>
            <a:p>
              <a:endParaRPr lang="zh-CN" altLang="en-US"/>
            </a:p>
          </p:txBody>
        </p:sp>
        <p:sp>
          <p:nvSpPr>
            <p:cNvPr id="53" name="Text Box 10"/>
            <p:cNvSpPr txBox="1">
              <a:spLocks noChangeArrowheads="1"/>
            </p:cNvSpPr>
            <p:nvPr/>
          </p:nvSpPr>
          <p:spPr bwMode="auto">
            <a:xfrm>
              <a:off x="314" y="2293"/>
              <a:ext cx="480" cy="292"/>
            </a:xfrm>
            <a:prstGeom prst="rect">
              <a:avLst/>
            </a:prstGeom>
            <a:grp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36000"/>
            <a:lstStyle/>
            <a:p>
              <a:pPr algn="l"/>
              <a:r>
                <a:rPr lang="en-US" altLang="zh-CN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first</a:t>
              </a:r>
              <a:endPara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4" name="Line 11"/>
            <p:cNvSpPr>
              <a:spLocks noChangeShapeType="1"/>
            </p:cNvSpPr>
            <p:nvPr/>
          </p:nvSpPr>
          <p:spPr bwMode="auto">
            <a:xfrm>
              <a:off x="3835" y="2607"/>
              <a:ext cx="354" cy="0"/>
            </a:xfrm>
            <a:prstGeom prst="line">
              <a:avLst/>
            </a:prstGeom>
            <a:grpFill/>
            <a:ln w="28575">
              <a:solidFill>
                <a:srgbClr val="507D7D"/>
              </a:solidFill>
              <a:prstDash val="dash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bIns="36000"/>
            <a:lstStyle/>
            <a:p>
              <a:endParaRPr lang="zh-CN" altLang="en-US"/>
            </a:p>
          </p:txBody>
        </p:sp>
        <p:grpSp>
          <p:nvGrpSpPr>
            <p:cNvPr id="55" name="Group 12"/>
            <p:cNvGrpSpPr/>
            <p:nvPr/>
          </p:nvGrpSpPr>
          <p:grpSpPr bwMode="auto">
            <a:xfrm>
              <a:off x="1792" y="2406"/>
              <a:ext cx="704" cy="305"/>
              <a:chOff x="759" y="3237"/>
              <a:chExt cx="704" cy="305"/>
            </a:xfrm>
            <a:grpFill/>
          </p:grpSpPr>
          <p:sp>
            <p:nvSpPr>
              <p:cNvPr id="69" name="Text Box 13"/>
              <p:cNvSpPr txBox="1">
                <a:spLocks noChangeArrowheads="1"/>
              </p:cNvSpPr>
              <p:nvPr/>
            </p:nvSpPr>
            <p:spPr bwMode="auto">
              <a:xfrm>
                <a:off x="759" y="3237"/>
                <a:ext cx="704" cy="305"/>
              </a:xfrm>
              <a:prstGeom prst="rect">
                <a:avLst/>
              </a:prstGeom>
              <a:grpFill/>
              <a:ln w="28575">
                <a:solidFill>
                  <a:srgbClr val="507D7D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rIns="0" bIns="72000"/>
              <a:lstStyle/>
              <a:p>
                <a:pPr algn="l">
                  <a:lnSpc>
                    <a:spcPct val="90000"/>
                  </a:lnSpc>
                </a:pPr>
                <a:r>
                  <a:rPr lang="en-US" altLang="zh-CN" sz="2800" b="1" i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800" b="1" baseline="-250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2800" b="1" baseline="-2500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0" name="Line 14"/>
              <p:cNvSpPr>
                <a:spLocks noChangeShapeType="1"/>
              </p:cNvSpPr>
              <p:nvPr/>
            </p:nvSpPr>
            <p:spPr bwMode="auto">
              <a:xfrm>
                <a:off x="1115" y="3237"/>
                <a:ext cx="0" cy="292"/>
              </a:xfrm>
              <a:prstGeom prst="line">
                <a:avLst/>
              </a:prstGeom>
              <a:grpFill/>
              <a:ln w="28575">
                <a:solidFill>
                  <a:srgbClr val="507D7D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bIns="72000" anchor="ctr"/>
              <a:lstStyle/>
              <a:p>
                <a:endParaRPr lang="zh-CN" altLang="en-US"/>
              </a:p>
            </p:txBody>
          </p:sp>
        </p:grpSp>
        <p:sp>
          <p:nvSpPr>
            <p:cNvPr id="56" name="Line 15"/>
            <p:cNvSpPr>
              <a:spLocks noChangeShapeType="1"/>
            </p:cNvSpPr>
            <p:nvPr/>
          </p:nvSpPr>
          <p:spPr bwMode="auto">
            <a:xfrm>
              <a:off x="2421" y="2590"/>
              <a:ext cx="363" cy="0"/>
            </a:xfrm>
            <a:prstGeom prst="line">
              <a:avLst/>
            </a:prstGeom>
            <a:grpFill/>
            <a:ln w="28575">
              <a:solidFill>
                <a:srgbClr val="507D7D"/>
              </a:solidFill>
              <a:round/>
              <a:tailEnd type="stealth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bIns="36000"/>
            <a:lstStyle/>
            <a:p>
              <a:endParaRPr lang="zh-CN" altLang="en-US"/>
            </a:p>
          </p:txBody>
        </p:sp>
        <p:grpSp>
          <p:nvGrpSpPr>
            <p:cNvPr id="57" name="Group 16"/>
            <p:cNvGrpSpPr/>
            <p:nvPr/>
          </p:nvGrpSpPr>
          <p:grpSpPr bwMode="auto">
            <a:xfrm>
              <a:off x="2788" y="2415"/>
              <a:ext cx="704" cy="305"/>
              <a:chOff x="759" y="3237"/>
              <a:chExt cx="704" cy="305"/>
            </a:xfrm>
            <a:grpFill/>
          </p:grpSpPr>
          <p:sp>
            <p:nvSpPr>
              <p:cNvPr id="67" name="Text Box 17"/>
              <p:cNvSpPr txBox="1">
                <a:spLocks noChangeArrowheads="1"/>
              </p:cNvSpPr>
              <p:nvPr/>
            </p:nvSpPr>
            <p:spPr bwMode="auto">
              <a:xfrm>
                <a:off x="759" y="3237"/>
                <a:ext cx="704" cy="305"/>
              </a:xfrm>
              <a:prstGeom prst="rect">
                <a:avLst/>
              </a:prstGeom>
              <a:grpFill/>
              <a:ln w="28575">
                <a:solidFill>
                  <a:srgbClr val="507D7D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rIns="0" bIns="72000"/>
              <a:lstStyle/>
              <a:p>
                <a:pPr algn="l">
                  <a:lnSpc>
                    <a:spcPct val="90000"/>
                  </a:lnSpc>
                </a:pPr>
                <a:r>
                  <a:rPr lang="en-US" altLang="zh-CN" sz="2800" b="1" i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800" b="1" baseline="-250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2</a:t>
                </a:r>
                <a:endParaRPr lang="en-US" altLang="zh-CN" sz="2800" b="1" baseline="-2500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8" name="Line 18"/>
              <p:cNvSpPr>
                <a:spLocks noChangeShapeType="1"/>
              </p:cNvSpPr>
              <p:nvPr/>
            </p:nvSpPr>
            <p:spPr bwMode="auto">
              <a:xfrm>
                <a:off x="1115" y="3237"/>
                <a:ext cx="0" cy="292"/>
              </a:xfrm>
              <a:prstGeom prst="line">
                <a:avLst/>
              </a:prstGeom>
              <a:grpFill/>
              <a:ln w="28575">
                <a:solidFill>
                  <a:srgbClr val="507D7D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bIns="72000" anchor="ctr"/>
              <a:lstStyle/>
              <a:p>
                <a:endParaRPr lang="zh-CN" altLang="en-US"/>
              </a:p>
            </p:txBody>
          </p:sp>
        </p:grpSp>
        <p:sp>
          <p:nvSpPr>
            <p:cNvPr id="58" name="Line 19"/>
            <p:cNvSpPr>
              <a:spLocks noChangeShapeType="1"/>
            </p:cNvSpPr>
            <p:nvPr/>
          </p:nvSpPr>
          <p:spPr bwMode="auto">
            <a:xfrm>
              <a:off x="3399" y="2608"/>
              <a:ext cx="363" cy="0"/>
            </a:xfrm>
            <a:prstGeom prst="line">
              <a:avLst/>
            </a:prstGeom>
            <a:grpFill/>
            <a:ln w="28575">
              <a:solidFill>
                <a:srgbClr val="507D7D"/>
              </a:solidFill>
              <a:round/>
              <a:tailEnd type="stealth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bIns="36000"/>
            <a:lstStyle/>
            <a:p>
              <a:endParaRPr lang="zh-CN" altLang="en-US"/>
            </a:p>
          </p:txBody>
        </p:sp>
        <p:sp>
          <p:nvSpPr>
            <p:cNvPr id="59" name="Line 20"/>
            <p:cNvSpPr>
              <a:spLocks noChangeShapeType="1"/>
            </p:cNvSpPr>
            <p:nvPr/>
          </p:nvSpPr>
          <p:spPr bwMode="auto">
            <a:xfrm>
              <a:off x="4213" y="2608"/>
              <a:ext cx="363" cy="0"/>
            </a:xfrm>
            <a:prstGeom prst="line">
              <a:avLst/>
            </a:prstGeom>
            <a:grpFill/>
            <a:ln w="28575">
              <a:solidFill>
                <a:srgbClr val="507D7D"/>
              </a:solidFill>
              <a:round/>
              <a:tailEnd type="stealth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bIns="36000"/>
            <a:lstStyle/>
            <a:p>
              <a:endParaRPr lang="zh-CN" altLang="en-US"/>
            </a:p>
          </p:txBody>
        </p:sp>
        <p:grpSp>
          <p:nvGrpSpPr>
            <p:cNvPr id="60" name="Group 21"/>
            <p:cNvGrpSpPr/>
            <p:nvPr/>
          </p:nvGrpSpPr>
          <p:grpSpPr bwMode="auto">
            <a:xfrm>
              <a:off x="4580" y="2433"/>
              <a:ext cx="704" cy="305"/>
              <a:chOff x="759" y="3237"/>
              <a:chExt cx="704" cy="305"/>
            </a:xfrm>
            <a:grpFill/>
          </p:grpSpPr>
          <p:sp>
            <p:nvSpPr>
              <p:cNvPr id="65" name="Text Box 22"/>
              <p:cNvSpPr txBox="1">
                <a:spLocks noChangeArrowheads="1"/>
              </p:cNvSpPr>
              <p:nvPr/>
            </p:nvSpPr>
            <p:spPr bwMode="auto">
              <a:xfrm>
                <a:off x="759" y="3237"/>
                <a:ext cx="704" cy="305"/>
              </a:xfrm>
              <a:prstGeom prst="rect">
                <a:avLst/>
              </a:prstGeom>
              <a:grpFill/>
              <a:ln w="28575">
                <a:solidFill>
                  <a:srgbClr val="507D7D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rIns="0" bIns="72000"/>
              <a:lstStyle/>
              <a:p>
                <a:pPr algn="l">
                  <a:lnSpc>
                    <a:spcPct val="90000"/>
                  </a:lnSpc>
                </a:pPr>
                <a:r>
                  <a:rPr lang="en-US" altLang="zh-CN" sz="2800" b="1" i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800" b="1" i="1" baseline="-250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n</a:t>
                </a:r>
                <a:endParaRPr lang="en-US" altLang="zh-CN" sz="2800" b="1" i="1" baseline="-2500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6" name="Line 23"/>
              <p:cNvSpPr>
                <a:spLocks noChangeShapeType="1"/>
              </p:cNvSpPr>
              <p:nvPr/>
            </p:nvSpPr>
            <p:spPr bwMode="auto">
              <a:xfrm>
                <a:off x="1115" y="3237"/>
                <a:ext cx="0" cy="292"/>
              </a:xfrm>
              <a:prstGeom prst="line">
                <a:avLst/>
              </a:prstGeom>
              <a:grpFill/>
              <a:ln w="28575">
                <a:solidFill>
                  <a:srgbClr val="507D7D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189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bIns="72000" anchor="ctr"/>
              <a:lstStyle/>
              <a:p>
                <a:endParaRPr lang="zh-CN" altLang="en-US"/>
              </a:p>
            </p:txBody>
          </p:sp>
        </p:grpSp>
        <p:sp>
          <p:nvSpPr>
            <p:cNvPr id="61" name="Text Box 24"/>
            <p:cNvSpPr txBox="1">
              <a:spLocks noChangeArrowheads="1"/>
            </p:cNvSpPr>
            <p:nvPr/>
          </p:nvSpPr>
          <p:spPr bwMode="auto">
            <a:xfrm>
              <a:off x="4956" y="2432"/>
              <a:ext cx="329" cy="282"/>
            </a:xfrm>
            <a:prstGeom prst="rect">
              <a:avLst/>
            </a:prstGeom>
            <a:grp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bIns="36000"/>
            <a:lstStyle/>
            <a:p>
              <a:pPr algn="l"/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∧</a:t>
              </a:r>
              <a:endPara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2" name="Text Box 30"/>
            <p:cNvSpPr txBox="1">
              <a:spLocks noChangeArrowheads="1"/>
            </p:cNvSpPr>
            <p:nvPr/>
          </p:nvSpPr>
          <p:spPr bwMode="auto">
            <a:xfrm>
              <a:off x="786" y="2406"/>
              <a:ext cx="704" cy="306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tIns="0" rIns="0" bIns="72000"/>
            <a:lstStyle/>
            <a:p>
              <a:pPr algn="l">
                <a:lnSpc>
                  <a:spcPct val="90000"/>
                </a:lnSpc>
              </a:pPr>
              <a:endParaRPr lang="en-US" altLang="zh-CN" sz="2800" b="1" baseline="-250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3" name="Line 31"/>
            <p:cNvSpPr>
              <a:spLocks noChangeShapeType="1"/>
            </p:cNvSpPr>
            <p:nvPr/>
          </p:nvSpPr>
          <p:spPr bwMode="auto">
            <a:xfrm>
              <a:off x="1142" y="2406"/>
              <a:ext cx="0" cy="306"/>
            </a:xfrm>
            <a:prstGeom prst="lin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bIns="72000" anchor="ctr"/>
            <a:lstStyle/>
            <a:p>
              <a:endParaRPr lang="zh-CN" altLang="en-US"/>
            </a:p>
          </p:txBody>
        </p:sp>
        <p:sp>
          <p:nvSpPr>
            <p:cNvPr id="64" name="Line 32"/>
            <p:cNvSpPr>
              <a:spLocks noChangeShapeType="1"/>
            </p:cNvSpPr>
            <p:nvPr/>
          </p:nvSpPr>
          <p:spPr bwMode="auto">
            <a:xfrm>
              <a:off x="1415" y="2590"/>
              <a:ext cx="363" cy="0"/>
            </a:xfrm>
            <a:prstGeom prst="line">
              <a:avLst/>
            </a:prstGeom>
            <a:grpFill/>
            <a:ln w="28575">
              <a:solidFill>
                <a:srgbClr val="507D7D"/>
              </a:solidFill>
              <a:round/>
              <a:tailEnd type="stealth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bIns="36000"/>
            <a:lstStyle/>
            <a:p>
              <a:endParaRPr lang="zh-CN" altLang="en-US"/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900699" y="3083844"/>
            <a:ext cx="7426180" cy="1588448"/>
            <a:chOff x="900699" y="3083844"/>
            <a:chExt cx="7426180" cy="1588448"/>
          </a:xfrm>
        </p:grpSpPr>
        <p:sp>
          <p:nvSpPr>
            <p:cNvPr id="71" name="Text Box 8"/>
            <p:cNvSpPr txBox="1">
              <a:spLocks noChangeArrowheads="1"/>
            </p:cNvSpPr>
            <p:nvPr/>
          </p:nvSpPr>
          <p:spPr bwMode="auto">
            <a:xfrm>
              <a:off x="1487548" y="3083844"/>
              <a:ext cx="6839331" cy="15884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rIns="0">
              <a:spAutoFit/>
            </a:bodyPr>
            <a:lstStyle/>
            <a:p>
              <a:pPr algn="l" eaLnBrk="0" hangingPunct="0">
                <a:lnSpc>
                  <a:spcPts val="4000"/>
                </a:lnSpc>
              </a:pPr>
              <a:r>
                <a:rPr lang="zh-CN" altLang="en-US" sz="2800" dirty="0">
                  <a:solidFill>
                    <a:srgbClr val="285A3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二叉链表</a:t>
              </a:r>
              <a:r>
                <a:rPr lang="zh-CN" altLang="en-US" sz="2800" dirty="0" smtClean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：二叉树</a:t>
              </a:r>
              <a:r>
                <a:rPr lang="zh-CN" altLang="en-US" sz="28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的每个结点对应一个链表结点，链表</a:t>
              </a:r>
              <a:r>
                <a:rPr lang="zh-CN" altLang="en-US" sz="2800" dirty="0" smtClean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结点存放结点的</a:t>
              </a:r>
              <a:r>
                <a:rPr lang="zh-CN" altLang="en-US" sz="2800" dirty="0">
                  <a:solidFill>
                    <a:srgbClr val="B42D2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</a:t>
              </a:r>
              <a:r>
                <a:rPr lang="zh-CN" altLang="en-US" sz="2800" dirty="0" smtClean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信息和指示</a:t>
              </a:r>
              <a:r>
                <a:rPr lang="zh-CN" altLang="en-US" sz="2800" dirty="0">
                  <a:solidFill>
                    <a:srgbClr val="B42D2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左右孩子的</a:t>
              </a:r>
              <a:r>
                <a:rPr lang="zh-CN" altLang="en-US" sz="2800" dirty="0" smtClean="0">
                  <a:solidFill>
                    <a:srgbClr val="B42D2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指针</a:t>
              </a:r>
              <a:endParaRPr lang="zh-CN" altLang="en-US" sz="2800" dirty="0">
                <a:solidFill>
                  <a:srgbClr val="B42D2D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72" name="Group 67"/>
            <p:cNvGrpSpPr/>
            <p:nvPr/>
          </p:nvGrpSpPr>
          <p:grpSpPr>
            <a:xfrm>
              <a:off x="900699" y="3140075"/>
              <a:ext cx="432000" cy="432000"/>
              <a:chOff x="10115551" y="5634038"/>
              <a:chExt cx="577850" cy="576263"/>
            </a:xfrm>
            <a:solidFill>
              <a:srgbClr val="5A327D"/>
            </a:solidFill>
          </p:grpSpPr>
          <p:sp>
            <p:nvSpPr>
              <p:cNvPr id="73" name="Freeform 13"/>
              <p:cNvSpPr/>
              <p:nvPr/>
            </p:nvSpPr>
            <p:spPr bwMode="auto">
              <a:xfrm>
                <a:off x="10177463" y="5634038"/>
                <a:ext cx="515938" cy="517525"/>
              </a:xfrm>
              <a:custGeom>
                <a:avLst/>
                <a:gdLst>
                  <a:gd name="T0" fmla="*/ 174 w 176"/>
                  <a:gd name="T1" fmla="*/ 61 h 176"/>
                  <a:gd name="T2" fmla="*/ 115 w 176"/>
                  <a:gd name="T3" fmla="*/ 2 h 176"/>
                  <a:gd name="T4" fmla="*/ 110 w 176"/>
                  <a:gd name="T5" fmla="*/ 2 h 176"/>
                  <a:gd name="T6" fmla="*/ 91 w 176"/>
                  <a:gd name="T7" fmla="*/ 20 h 176"/>
                  <a:gd name="T8" fmla="*/ 90 w 176"/>
                  <a:gd name="T9" fmla="*/ 23 h 176"/>
                  <a:gd name="T10" fmla="*/ 91 w 176"/>
                  <a:gd name="T11" fmla="*/ 26 h 176"/>
                  <a:gd name="T12" fmla="*/ 96 w 176"/>
                  <a:gd name="T13" fmla="*/ 31 h 176"/>
                  <a:gd name="T14" fmla="*/ 69 w 176"/>
                  <a:gd name="T15" fmla="*/ 58 h 176"/>
                  <a:gd name="T16" fmla="*/ 50 w 176"/>
                  <a:gd name="T17" fmla="*/ 56 h 176"/>
                  <a:gd name="T18" fmla="*/ 1 w 176"/>
                  <a:gd name="T19" fmla="*/ 76 h 176"/>
                  <a:gd name="T20" fmla="*/ 1 w 176"/>
                  <a:gd name="T21" fmla="*/ 82 h 176"/>
                  <a:gd name="T22" fmla="*/ 94 w 176"/>
                  <a:gd name="T23" fmla="*/ 175 h 176"/>
                  <a:gd name="T24" fmla="*/ 97 w 176"/>
                  <a:gd name="T25" fmla="*/ 176 h 176"/>
                  <a:gd name="T26" fmla="*/ 100 w 176"/>
                  <a:gd name="T27" fmla="*/ 175 h 176"/>
                  <a:gd name="T28" fmla="*/ 118 w 176"/>
                  <a:gd name="T29" fmla="*/ 107 h 176"/>
                  <a:gd name="T30" fmla="*/ 145 w 176"/>
                  <a:gd name="T31" fmla="*/ 80 h 176"/>
                  <a:gd name="T32" fmla="*/ 150 w 176"/>
                  <a:gd name="T33" fmla="*/ 85 h 176"/>
                  <a:gd name="T34" fmla="*/ 156 w 176"/>
                  <a:gd name="T35" fmla="*/ 85 h 176"/>
                  <a:gd name="T36" fmla="*/ 174 w 176"/>
                  <a:gd name="T37" fmla="*/ 66 h 176"/>
                  <a:gd name="T38" fmla="*/ 176 w 176"/>
                  <a:gd name="T39" fmla="*/ 63 h 176"/>
                  <a:gd name="T40" fmla="*/ 174 w 176"/>
                  <a:gd name="T41" fmla="*/ 61 h 1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76" h="176">
                    <a:moveTo>
                      <a:pt x="174" y="61"/>
                    </a:moveTo>
                    <a:cubicBezTo>
                      <a:pt x="115" y="2"/>
                      <a:pt x="115" y="2"/>
                      <a:pt x="115" y="2"/>
                    </a:cubicBezTo>
                    <a:cubicBezTo>
                      <a:pt x="114" y="0"/>
                      <a:pt x="111" y="0"/>
                      <a:pt x="110" y="2"/>
                    </a:cubicBezTo>
                    <a:cubicBezTo>
                      <a:pt x="91" y="20"/>
                      <a:pt x="91" y="20"/>
                      <a:pt x="91" y="20"/>
                    </a:cubicBezTo>
                    <a:cubicBezTo>
                      <a:pt x="90" y="21"/>
                      <a:pt x="90" y="22"/>
                      <a:pt x="90" y="23"/>
                    </a:cubicBezTo>
                    <a:cubicBezTo>
                      <a:pt x="90" y="24"/>
                      <a:pt x="90" y="25"/>
                      <a:pt x="91" y="26"/>
                    </a:cubicBezTo>
                    <a:cubicBezTo>
                      <a:pt x="96" y="31"/>
                      <a:pt x="96" y="31"/>
                      <a:pt x="96" y="31"/>
                    </a:cubicBezTo>
                    <a:cubicBezTo>
                      <a:pt x="69" y="58"/>
                      <a:pt x="69" y="58"/>
                      <a:pt x="69" y="58"/>
                    </a:cubicBezTo>
                    <a:cubicBezTo>
                      <a:pt x="63" y="57"/>
                      <a:pt x="57" y="56"/>
                      <a:pt x="50" y="56"/>
                    </a:cubicBezTo>
                    <a:cubicBezTo>
                      <a:pt x="32" y="56"/>
                      <a:pt x="14" y="63"/>
                      <a:pt x="1" y="76"/>
                    </a:cubicBezTo>
                    <a:cubicBezTo>
                      <a:pt x="0" y="78"/>
                      <a:pt x="0" y="80"/>
                      <a:pt x="1" y="82"/>
                    </a:cubicBezTo>
                    <a:cubicBezTo>
                      <a:pt x="94" y="175"/>
                      <a:pt x="94" y="175"/>
                      <a:pt x="94" y="175"/>
                    </a:cubicBezTo>
                    <a:cubicBezTo>
                      <a:pt x="95" y="175"/>
                      <a:pt x="96" y="176"/>
                      <a:pt x="97" y="176"/>
                    </a:cubicBezTo>
                    <a:cubicBezTo>
                      <a:pt x="98" y="176"/>
                      <a:pt x="99" y="175"/>
                      <a:pt x="100" y="175"/>
                    </a:cubicBezTo>
                    <a:cubicBezTo>
                      <a:pt x="117" y="157"/>
                      <a:pt x="124" y="131"/>
                      <a:pt x="118" y="107"/>
                    </a:cubicBezTo>
                    <a:cubicBezTo>
                      <a:pt x="145" y="80"/>
                      <a:pt x="145" y="80"/>
                      <a:pt x="145" y="80"/>
                    </a:cubicBezTo>
                    <a:cubicBezTo>
                      <a:pt x="150" y="85"/>
                      <a:pt x="150" y="85"/>
                      <a:pt x="150" y="85"/>
                    </a:cubicBezTo>
                    <a:cubicBezTo>
                      <a:pt x="152" y="86"/>
                      <a:pt x="154" y="86"/>
                      <a:pt x="156" y="85"/>
                    </a:cubicBezTo>
                    <a:cubicBezTo>
                      <a:pt x="174" y="66"/>
                      <a:pt x="174" y="66"/>
                      <a:pt x="174" y="66"/>
                    </a:cubicBezTo>
                    <a:cubicBezTo>
                      <a:pt x="175" y="65"/>
                      <a:pt x="176" y="64"/>
                      <a:pt x="176" y="63"/>
                    </a:cubicBezTo>
                    <a:cubicBezTo>
                      <a:pt x="176" y="62"/>
                      <a:pt x="175" y="61"/>
                      <a:pt x="174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4" name="Freeform 14"/>
              <p:cNvSpPr/>
              <p:nvPr/>
            </p:nvSpPr>
            <p:spPr bwMode="auto">
              <a:xfrm>
                <a:off x="10115551" y="5983288"/>
                <a:ext cx="228600" cy="227013"/>
              </a:xfrm>
              <a:custGeom>
                <a:avLst/>
                <a:gdLst>
                  <a:gd name="T0" fmla="*/ 7 w 78"/>
                  <a:gd name="T1" fmla="*/ 77 h 77"/>
                  <a:gd name="T2" fmla="*/ 2 w 78"/>
                  <a:gd name="T3" fmla="*/ 76 h 77"/>
                  <a:gd name="T4" fmla="*/ 2 w 78"/>
                  <a:gd name="T5" fmla="*/ 67 h 77"/>
                  <a:gd name="T6" fmla="*/ 67 w 78"/>
                  <a:gd name="T7" fmla="*/ 2 h 77"/>
                  <a:gd name="T8" fmla="*/ 76 w 78"/>
                  <a:gd name="T9" fmla="*/ 2 h 77"/>
                  <a:gd name="T10" fmla="*/ 76 w 78"/>
                  <a:gd name="T11" fmla="*/ 11 h 77"/>
                  <a:gd name="T12" fmla="*/ 11 w 78"/>
                  <a:gd name="T13" fmla="*/ 76 h 77"/>
                  <a:gd name="T14" fmla="*/ 7 w 78"/>
                  <a:gd name="T15" fmla="*/ 7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8" h="77">
                    <a:moveTo>
                      <a:pt x="7" y="77"/>
                    </a:moveTo>
                    <a:cubicBezTo>
                      <a:pt x="5" y="77"/>
                      <a:pt x="3" y="77"/>
                      <a:pt x="2" y="76"/>
                    </a:cubicBezTo>
                    <a:cubicBezTo>
                      <a:pt x="0" y="73"/>
                      <a:pt x="0" y="70"/>
                      <a:pt x="2" y="67"/>
                    </a:cubicBezTo>
                    <a:cubicBezTo>
                      <a:pt x="67" y="2"/>
                      <a:pt x="67" y="2"/>
                      <a:pt x="67" y="2"/>
                    </a:cubicBezTo>
                    <a:cubicBezTo>
                      <a:pt x="70" y="0"/>
                      <a:pt x="73" y="0"/>
                      <a:pt x="76" y="2"/>
                    </a:cubicBezTo>
                    <a:cubicBezTo>
                      <a:pt x="78" y="5"/>
                      <a:pt x="78" y="8"/>
                      <a:pt x="76" y="11"/>
                    </a:cubicBezTo>
                    <a:cubicBezTo>
                      <a:pt x="11" y="76"/>
                      <a:pt x="11" y="76"/>
                      <a:pt x="11" y="76"/>
                    </a:cubicBezTo>
                    <a:cubicBezTo>
                      <a:pt x="10" y="77"/>
                      <a:pt x="8" y="77"/>
                      <a:pt x="7" y="7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75" name="Rounded Rectangle 10"/>
          <p:cNvSpPr/>
          <p:nvPr/>
        </p:nvSpPr>
        <p:spPr>
          <a:xfrm>
            <a:off x="542923" y="100964"/>
            <a:ext cx="4032000" cy="540000"/>
          </a:xfrm>
          <a:prstGeom prst="roundRect">
            <a:avLst/>
          </a:prstGeom>
          <a:solidFill>
            <a:srgbClr val="5A32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Text Box 2"/>
          <p:cNvSpPr txBox="1">
            <a:spLocks noChangeArrowheads="1"/>
          </p:cNvSpPr>
          <p:nvPr/>
        </p:nvSpPr>
        <p:spPr bwMode="auto">
          <a:xfrm>
            <a:off x="638167" y="61585"/>
            <a:ext cx="393938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二叉链表的存储方法</a:t>
            </a:r>
            <a:endParaRPr lang="zh-CN" altLang="en-US" sz="32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78" name="Group 11"/>
          <p:cNvGrpSpPr/>
          <p:nvPr/>
        </p:nvGrpSpPr>
        <p:grpSpPr bwMode="auto">
          <a:xfrm>
            <a:off x="2504667" y="4940168"/>
            <a:ext cx="3672000" cy="576000"/>
            <a:chOff x="2928" y="1438"/>
            <a:chExt cx="3042" cy="425"/>
          </a:xfrm>
        </p:grpSpPr>
        <p:sp>
          <p:nvSpPr>
            <p:cNvPr id="85" name="Rectangle 12"/>
            <p:cNvSpPr>
              <a:spLocks noChangeArrowheads="1"/>
            </p:cNvSpPr>
            <p:nvPr/>
          </p:nvSpPr>
          <p:spPr bwMode="auto">
            <a:xfrm>
              <a:off x="2928" y="1438"/>
              <a:ext cx="1015" cy="425"/>
            </a:xfrm>
            <a:prstGeom prst="rect">
              <a:avLst/>
            </a:prstGeom>
            <a:noFill/>
            <a:ln w="38100">
              <a:solidFill>
                <a:srgbClr val="507D7D"/>
              </a:solidFill>
              <a:miter lim="800000"/>
            </a:ln>
          </p:spPr>
          <p:txBody>
            <a:bodyPr tIns="0" bIns="10800" anchor="ctr" anchorCtr="0"/>
            <a:lstStyle/>
            <a:p>
              <a:pPr eaLnBrk="0" hangingPunct="0"/>
              <a:r>
                <a:rPr lang="en-US" altLang="zh-CN" sz="2800" b="1" dirty="0" smtClean="0">
                  <a:solidFill>
                    <a:srgbClr val="40404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2800" b="1" dirty="0" err="1" smtClean="0">
                  <a:solidFill>
                    <a:srgbClr val="40404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lchild</a:t>
              </a:r>
              <a:endParaRPr lang="en-US" altLang="zh-CN" sz="2800" b="1" dirty="0">
                <a:solidFill>
                  <a:srgbClr val="40404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6" name="Rectangle 13"/>
            <p:cNvSpPr>
              <a:spLocks noChangeArrowheads="1"/>
            </p:cNvSpPr>
            <p:nvPr/>
          </p:nvSpPr>
          <p:spPr bwMode="auto">
            <a:xfrm>
              <a:off x="3943" y="1438"/>
              <a:ext cx="1015" cy="425"/>
            </a:xfrm>
            <a:prstGeom prst="rect">
              <a:avLst/>
            </a:prstGeom>
            <a:noFill/>
            <a:ln w="38100">
              <a:solidFill>
                <a:srgbClr val="507D7D"/>
              </a:solidFill>
              <a:miter lim="800000"/>
            </a:ln>
          </p:spPr>
          <p:txBody>
            <a:bodyPr tIns="0" bIns="10800" anchor="ctr" anchorCtr="0"/>
            <a:lstStyle/>
            <a:p>
              <a:pPr eaLnBrk="0" hangingPunct="0"/>
              <a:r>
                <a:rPr lang="zh-CN" altLang="en-US" sz="2800" b="1" dirty="0">
                  <a:solidFill>
                    <a:srgbClr val="40404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lang="zh-CN" altLang="en-US" sz="2800" b="1" dirty="0" smtClean="0">
                  <a:solidFill>
                    <a:srgbClr val="40404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2800" b="1" dirty="0" smtClean="0">
                  <a:solidFill>
                    <a:srgbClr val="40404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data</a:t>
              </a:r>
              <a:endParaRPr lang="en-US" altLang="zh-CN" sz="2800" b="1" dirty="0">
                <a:solidFill>
                  <a:srgbClr val="40404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7" name="Rectangle 14"/>
            <p:cNvSpPr>
              <a:spLocks noChangeArrowheads="1"/>
            </p:cNvSpPr>
            <p:nvPr/>
          </p:nvSpPr>
          <p:spPr bwMode="auto">
            <a:xfrm>
              <a:off x="4955" y="1438"/>
              <a:ext cx="1015" cy="425"/>
            </a:xfrm>
            <a:prstGeom prst="rect">
              <a:avLst/>
            </a:prstGeom>
            <a:noFill/>
            <a:ln w="38100">
              <a:solidFill>
                <a:srgbClr val="507D7D"/>
              </a:solidFill>
              <a:miter lim="800000"/>
            </a:ln>
          </p:spPr>
          <p:txBody>
            <a:bodyPr tIns="0" bIns="10800" anchor="ctr" anchorCtr="0"/>
            <a:lstStyle/>
            <a:p>
              <a:pPr eaLnBrk="0" hangingPunct="0"/>
              <a:r>
                <a:rPr lang="en-US" altLang="zh-CN" sz="2800" b="1" dirty="0" smtClean="0">
                  <a:solidFill>
                    <a:srgbClr val="40404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2800" b="1" dirty="0" err="1" smtClean="0">
                  <a:solidFill>
                    <a:srgbClr val="40404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rchild</a:t>
              </a:r>
              <a:endParaRPr lang="en-US" altLang="zh-CN" sz="2800" b="1" dirty="0">
                <a:solidFill>
                  <a:srgbClr val="40404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ounded Rectangle 10"/>
          <p:cNvSpPr/>
          <p:nvPr/>
        </p:nvSpPr>
        <p:spPr>
          <a:xfrm>
            <a:off x="542923" y="100964"/>
            <a:ext cx="4032000" cy="540000"/>
          </a:xfrm>
          <a:prstGeom prst="roundRect">
            <a:avLst/>
          </a:prstGeom>
          <a:solidFill>
            <a:srgbClr val="5A32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Text Box 2"/>
          <p:cNvSpPr txBox="1">
            <a:spLocks noChangeArrowheads="1"/>
          </p:cNvSpPr>
          <p:nvPr/>
        </p:nvSpPr>
        <p:spPr bwMode="auto">
          <a:xfrm>
            <a:off x="638167" y="61585"/>
            <a:ext cx="393938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二叉链表的存储方法</a:t>
            </a:r>
            <a:endParaRPr lang="zh-CN" altLang="en-US" sz="32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8484133" y="2051553"/>
            <a:ext cx="3005177" cy="3274895"/>
            <a:chOff x="8138952" y="2616992"/>
            <a:chExt cx="3005177" cy="3274895"/>
          </a:xfrm>
          <a:solidFill>
            <a:srgbClr val="B4B4BE"/>
          </a:solidFill>
        </p:grpSpPr>
        <p:sp>
          <p:nvSpPr>
            <p:cNvPr id="28" name="Line 25"/>
            <p:cNvSpPr>
              <a:spLocks noChangeShapeType="1"/>
            </p:cNvSpPr>
            <p:nvPr/>
          </p:nvSpPr>
          <p:spPr bwMode="auto">
            <a:xfrm flipH="1">
              <a:off x="8995407" y="2953542"/>
              <a:ext cx="511175" cy="540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39" name="Line 26"/>
            <p:cNvSpPr>
              <a:spLocks noChangeShapeType="1"/>
            </p:cNvSpPr>
            <p:nvPr/>
          </p:nvSpPr>
          <p:spPr bwMode="auto">
            <a:xfrm>
              <a:off x="9879645" y="2953541"/>
              <a:ext cx="432000" cy="540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40" name="Line 27"/>
            <p:cNvSpPr>
              <a:spLocks noChangeShapeType="1"/>
            </p:cNvSpPr>
            <p:nvPr/>
          </p:nvSpPr>
          <p:spPr bwMode="auto">
            <a:xfrm flipH="1">
              <a:off x="8373108" y="3834286"/>
              <a:ext cx="360000" cy="648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41" name="Line 28"/>
            <p:cNvSpPr>
              <a:spLocks noChangeShapeType="1"/>
            </p:cNvSpPr>
            <p:nvPr/>
          </p:nvSpPr>
          <p:spPr bwMode="auto">
            <a:xfrm>
              <a:off x="8417876" y="4899182"/>
              <a:ext cx="396875" cy="606425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42" name="Line 29"/>
            <p:cNvSpPr>
              <a:spLocks noChangeShapeType="1"/>
            </p:cNvSpPr>
            <p:nvPr/>
          </p:nvSpPr>
          <p:spPr bwMode="auto">
            <a:xfrm flipH="1">
              <a:off x="10043475" y="3829524"/>
              <a:ext cx="288000" cy="648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43" name="Line 30"/>
            <p:cNvSpPr>
              <a:spLocks noChangeShapeType="1"/>
            </p:cNvSpPr>
            <p:nvPr/>
          </p:nvSpPr>
          <p:spPr bwMode="auto">
            <a:xfrm>
              <a:off x="10561325" y="3841246"/>
              <a:ext cx="288000" cy="6258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44" name="Oval 37"/>
            <p:cNvSpPr>
              <a:spLocks noChangeArrowheads="1"/>
            </p:cNvSpPr>
            <p:nvPr/>
          </p:nvSpPr>
          <p:spPr bwMode="auto">
            <a:xfrm>
              <a:off x="9486898" y="2616992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Oval 37"/>
            <p:cNvSpPr>
              <a:spLocks noChangeArrowheads="1"/>
            </p:cNvSpPr>
            <p:nvPr/>
          </p:nvSpPr>
          <p:spPr bwMode="auto">
            <a:xfrm>
              <a:off x="10228577" y="3433283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Oval 37"/>
            <p:cNvSpPr>
              <a:spLocks noChangeArrowheads="1"/>
            </p:cNvSpPr>
            <p:nvPr/>
          </p:nvSpPr>
          <p:spPr bwMode="auto">
            <a:xfrm>
              <a:off x="8631553" y="3433283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Oval 37"/>
            <p:cNvSpPr>
              <a:spLocks noChangeArrowheads="1"/>
            </p:cNvSpPr>
            <p:nvPr/>
          </p:nvSpPr>
          <p:spPr bwMode="auto">
            <a:xfrm>
              <a:off x="8138952" y="4473574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Oval 37"/>
            <p:cNvSpPr>
              <a:spLocks noChangeArrowheads="1"/>
            </p:cNvSpPr>
            <p:nvPr/>
          </p:nvSpPr>
          <p:spPr bwMode="auto">
            <a:xfrm>
              <a:off x="9775505" y="4473574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Oval 37"/>
            <p:cNvSpPr>
              <a:spLocks noChangeArrowheads="1"/>
            </p:cNvSpPr>
            <p:nvPr/>
          </p:nvSpPr>
          <p:spPr bwMode="auto">
            <a:xfrm>
              <a:off x="10712129" y="4473574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Oval 37"/>
            <p:cNvSpPr>
              <a:spLocks noChangeArrowheads="1"/>
            </p:cNvSpPr>
            <p:nvPr/>
          </p:nvSpPr>
          <p:spPr bwMode="auto">
            <a:xfrm>
              <a:off x="8714420" y="5459887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5" name="Group 87"/>
          <p:cNvGrpSpPr/>
          <p:nvPr/>
        </p:nvGrpSpPr>
        <p:grpSpPr bwMode="auto">
          <a:xfrm>
            <a:off x="1737519" y="4214813"/>
            <a:ext cx="1439862" cy="1050925"/>
            <a:chOff x="720" y="2679"/>
            <a:chExt cx="907" cy="662"/>
          </a:xfrm>
          <a:noFill/>
        </p:grpSpPr>
        <p:sp>
          <p:nvSpPr>
            <p:cNvPr id="76" name="Rectangle 62"/>
            <p:cNvSpPr>
              <a:spLocks noChangeArrowheads="1"/>
            </p:cNvSpPr>
            <p:nvPr/>
          </p:nvSpPr>
          <p:spPr bwMode="auto">
            <a:xfrm>
              <a:off x="720" y="3092"/>
              <a:ext cx="907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10800" rIns="18000" bIns="10800">
              <a:flatTx/>
            </a:bodyPr>
            <a:lstStyle/>
            <a:p>
              <a:endParaRPr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7" name="Rectangle 63"/>
            <p:cNvSpPr>
              <a:spLocks noChangeArrowheads="1"/>
            </p:cNvSpPr>
            <p:nvPr/>
          </p:nvSpPr>
          <p:spPr bwMode="auto">
            <a:xfrm>
              <a:off x="1031" y="3092"/>
              <a:ext cx="284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0" rIns="18000" bIns="10800">
              <a:flatTx/>
            </a:bodyPr>
            <a:lstStyle/>
            <a:p>
              <a:pPr algn="just"/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Angsana New" panose="02020603050405020304" pitchFamily="18" charset="-34"/>
                </a:rPr>
                <a:t>G</a:t>
              </a:r>
              <a:endPara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ngsana New" panose="02020603050405020304" pitchFamily="18" charset="-34"/>
              </a:endParaRPr>
            </a:p>
          </p:txBody>
        </p:sp>
        <p:sp>
          <p:nvSpPr>
            <p:cNvPr id="78" name="Freeform 32"/>
            <p:cNvSpPr/>
            <p:nvPr/>
          </p:nvSpPr>
          <p:spPr bwMode="auto">
            <a:xfrm>
              <a:off x="889" y="2679"/>
              <a:ext cx="319" cy="385"/>
            </a:xfrm>
            <a:custGeom>
              <a:avLst/>
              <a:gdLst>
                <a:gd name="T0" fmla="*/ 0 w 444"/>
                <a:gd name="T1" fmla="*/ 0 h 523"/>
                <a:gd name="T2" fmla="*/ 444 w 444"/>
                <a:gd name="T3" fmla="*/ 523 h 5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44" h="523">
                  <a:moveTo>
                    <a:pt x="0" y="0"/>
                  </a:moveTo>
                  <a:lnTo>
                    <a:pt x="444" y="523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prstDash val="solid"/>
              <a:round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9" name="Group 84"/>
          <p:cNvGrpSpPr/>
          <p:nvPr/>
        </p:nvGrpSpPr>
        <p:grpSpPr bwMode="auto">
          <a:xfrm>
            <a:off x="4996656" y="3122613"/>
            <a:ext cx="1439863" cy="1182688"/>
            <a:chOff x="2773" y="1991"/>
            <a:chExt cx="907" cy="745"/>
          </a:xfrm>
          <a:noFill/>
        </p:grpSpPr>
        <p:sp>
          <p:nvSpPr>
            <p:cNvPr id="80" name="Rectangle 70"/>
            <p:cNvSpPr>
              <a:spLocks noChangeArrowheads="1"/>
            </p:cNvSpPr>
            <p:nvPr/>
          </p:nvSpPr>
          <p:spPr bwMode="auto">
            <a:xfrm>
              <a:off x="2773" y="2487"/>
              <a:ext cx="907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10800" rIns="18000" bIns="10800">
              <a:flatTx/>
            </a:bodyPr>
            <a:lstStyle/>
            <a:p>
              <a:endParaRPr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1" name="Rectangle 71"/>
            <p:cNvSpPr>
              <a:spLocks noChangeArrowheads="1"/>
            </p:cNvSpPr>
            <p:nvPr/>
          </p:nvSpPr>
          <p:spPr bwMode="auto">
            <a:xfrm>
              <a:off x="3084" y="2487"/>
              <a:ext cx="284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0" rIns="18000" bIns="10800">
              <a:flatTx/>
            </a:bodyPr>
            <a:lstStyle/>
            <a:p>
              <a:pPr algn="just"/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Angsana New" panose="02020603050405020304" pitchFamily="18" charset="-34"/>
                </a:rPr>
                <a:t>F</a:t>
              </a:r>
              <a:endPara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ngsana New" panose="02020603050405020304" pitchFamily="18" charset="-34"/>
              </a:endParaRPr>
            </a:p>
          </p:txBody>
        </p:sp>
        <p:sp>
          <p:nvSpPr>
            <p:cNvPr id="82" name="Line 31"/>
            <p:cNvSpPr>
              <a:spLocks noChangeShapeType="1"/>
            </p:cNvSpPr>
            <p:nvPr/>
          </p:nvSpPr>
          <p:spPr bwMode="auto">
            <a:xfrm>
              <a:off x="2946" y="1991"/>
              <a:ext cx="292" cy="458"/>
            </a:xfrm>
            <a:prstGeom prst="line">
              <a:avLst/>
            </a:prstGeom>
            <a:grpFill/>
            <a:ln w="28575">
              <a:solidFill>
                <a:srgbClr val="285A32"/>
              </a:solidFill>
              <a:prstDash val="solid"/>
              <a:round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3" name="Group 83"/>
          <p:cNvGrpSpPr/>
          <p:nvPr/>
        </p:nvGrpSpPr>
        <p:grpSpPr bwMode="auto">
          <a:xfrm>
            <a:off x="3137694" y="3122613"/>
            <a:ext cx="1439862" cy="1184275"/>
            <a:chOff x="1602" y="1991"/>
            <a:chExt cx="907" cy="746"/>
          </a:xfrm>
          <a:noFill/>
        </p:grpSpPr>
        <p:sp>
          <p:nvSpPr>
            <p:cNvPr id="84" name="Rectangle 66"/>
            <p:cNvSpPr>
              <a:spLocks noChangeArrowheads="1"/>
            </p:cNvSpPr>
            <p:nvPr/>
          </p:nvSpPr>
          <p:spPr bwMode="auto">
            <a:xfrm>
              <a:off x="1602" y="2488"/>
              <a:ext cx="907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10800" rIns="18000" bIns="10800">
              <a:flatTx/>
            </a:bodyPr>
            <a:lstStyle/>
            <a:p>
              <a:endParaRPr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5" name="Rectangle 67"/>
            <p:cNvSpPr>
              <a:spLocks noChangeArrowheads="1"/>
            </p:cNvSpPr>
            <p:nvPr/>
          </p:nvSpPr>
          <p:spPr bwMode="auto">
            <a:xfrm>
              <a:off x="1913" y="2488"/>
              <a:ext cx="284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0" rIns="18000" bIns="10800">
              <a:flatTx/>
            </a:bodyPr>
            <a:lstStyle/>
            <a:p>
              <a:pPr algn="just"/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Angsana New" panose="02020603050405020304" pitchFamily="18" charset="-34"/>
                </a:rPr>
                <a:t>E</a:t>
              </a:r>
              <a:endPara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ngsana New" panose="02020603050405020304" pitchFamily="18" charset="-34"/>
              </a:endParaRPr>
            </a:p>
          </p:txBody>
        </p:sp>
        <p:sp>
          <p:nvSpPr>
            <p:cNvPr id="86" name="Line 30"/>
            <p:cNvSpPr>
              <a:spLocks noChangeShapeType="1"/>
            </p:cNvSpPr>
            <p:nvPr/>
          </p:nvSpPr>
          <p:spPr bwMode="auto">
            <a:xfrm flipH="1">
              <a:off x="2069" y="1991"/>
              <a:ext cx="292" cy="458"/>
            </a:xfrm>
            <a:prstGeom prst="line">
              <a:avLst/>
            </a:prstGeom>
            <a:grpFill/>
            <a:ln w="28575">
              <a:solidFill>
                <a:srgbClr val="285A32"/>
              </a:solidFill>
              <a:prstDash val="solid"/>
              <a:round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7" name="Group 82"/>
          <p:cNvGrpSpPr/>
          <p:nvPr/>
        </p:nvGrpSpPr>
        <p:grpSpPr bwMode="auto">
          <a:xfrm>
            <a:off x="853281" y="3122613"/>
            <a:ext cx="1439863" cy="1171575"/>
            <a:chOff x="163" y="1991"/>
            <a:chExt cx="907" cy="738"/>
          </a:xfrm>
          <a:noFill/>
        </p:grpSpPr>
        <p:sp>
          <p:nvSpPr>
            <p:cNvPr id="88" name="Rectangle 59"/>
            <p:cNvSpPr>
              <a:spLocks noChangeArrowheads="1"/>
            </p:cNvSpPr>
            <p:nvPr/>
          </p:nvSpPr>
          <p:spPr bwMode="auto">
            <a:xfrm>
              <a:off x="163" y="2480"/>
              <a:ext cx="907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10800" rIns="18000" bIns="10800">
              <a:flatTx/>
            </a:bodyPr>
            <a:lstStyle/>
            <a:p>
              <a:endParaRPr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9" name="Rectangle 60"/>
            <p:cNvSpPr>
              <a:spLocks noChangeArrowheads="1"/>
            </p:cNvSpPr>
            <p:nvPr/>
          </p:nvSpPr>
          <p:spPr bwMode="auto">
            <a:xfrm>
              <a:off x="474" y="2480"/>
              <a:ext cx="284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0" rIns="18000" bIns="10800">
              <a:flatTx/>
            </a:bodyPr>
            <a:lstStyle/>
            <a:p>
              <a:pPr algn="just"/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Angsana New" panose="02020603050405020304" pitchFamily="18" charset="-34"/>
                </a:rPr>
                <a:t>D</a:t>
              </a:r>
              <a:endPara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ngsana New" panose="02020603050405020304" pitchFamily="18" charset="-34"/>
              </a:endParaRPr>
            </a:p>
          </p:txBody>
        </p:sp>
        <p:sp>
          <p:nvSpPr>
            <p:cNvPr id="90" name="Line 29"/>
            <p:cNvSpPr>
              <a:spLocks noChangeShapeType="1"/>
            </p:cNvSpPr>
            <p:nvPr/>
          </p:nvSpPr>
          <p:spPr bwMode="auto">
            <a:xfrm flipH="1">
              <a:off x="607" y="1991"/>
              <a:ext cx="292" cy="458"/>
            </a:xfrm>
            <a:prstGeom prst="line">
              <a:avLst/>
            </a:prstGeom>
            <a:grpFill/>
            <a:ln w="28575">
              <a:solidFill>
                <a:srgbClr val="285A32"/>
              </a:solidFill>
              <a:prstDash val="solid"/>
              <a:round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1" name="Group 80"/>
          <p:cNvGrpSpPr/>
          <p:nvPr/>
        </p:nvGrpSpPr>
        <p:grpSpPr bwMode="auto">
          <a:xfrm>
            <a:off x="1753394" y="2101851"/>
            <a:ext cx="1473200" cy="1101725"/>
            <a:chOff x="730" y="1348"/>
            <a:chExt cx="928" cy="694"/>
          </a:xfrm>
          <a:noFill/>
        </p:grpSpPr>
        <p:sp>
          <p:nvSpPr>
            <p:cNvPr id="92" name="Rectangle 57"/>
            <p:cNvSpPr>
              <a:spLocks noChangeArrowheads="1"/>
            </p:cNvSpPr>
            <p:nvPr/>
          </p:nvSpPr>
          <p:spPr bwMode="auto">
            <a:xfrm>
              <a:off x="730" y="1793"/>
              <a:ext cx="907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10800" rIns="18000" bIns="10800">
              <a:flatTx/>
            </a:bodyPr>
            <a:lstStyle/>
            <a:p>
              <a:endParaRPr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3" name="Rectangle 58"/>
            <p:cNvSpPr>
              <a:spLocks noChangeArrowheads="1"/>
            </p:cNvSpPr>
            <p:nvPr/>
          </p:nvSpPr>
          <p:spPr bwMode="auto">
            <a:xfrm>
              <a:off x="1041" y="1793"/>
              <a:ext cx="284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0" rIns="18000" bIns="10800">
              <a:flatTx/>
            </a:bodyPr>
            <a:lstStyle/>
            <a:p>
              <a:pPr algn="just"/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Angsana New" panose="02020603050405020304" pitchFamily="18" charset="-34"/>
                </a:rPr>
                <a:t>B</a:t>
              </a:r>
              <a:endPara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ngsana New" panose="02020603050405020304" pitchFamily="18" charset="-34"/>
              </a:endParaRPr>
            </a:p>
          </p:txBody>
        </p:sp>
        <p:sp>
          <p:nvSpPr>
            <p:cNvPr id="94" name="Freeform 27"/>
            <p:cNvSpPr/>
            <p:nvPr/>
          </p:nvSpPr>
          <p:spPr bwMode="auto">
            <a:xfrm>
              <a:off x="1262" y="1348"/>
              <a:ext cx="396" cy="400"/>
            </a:xfrm>
            <a:custGeom>
              <a:avLst/>
              <a:gdLst>
                <a:gd name="T0" fmla="*/ 550 w 550"/>
                <a:gd name="T1" fmla="*/ 0 h 544"/>
                <a:gd name="T2" fmla="*/ 0 w 550"/>
                <a:gd name="T3" fmla="*/ 544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50" h="544">
                  <a:moveTo>
                    <a:pt x="550" y="0"/>
                  </a:moveTo>
                  <a:lnTo>
                    <a:pt x="0" y="544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prstDash val="solid"/>
              <a:round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9" name="Rectangle 7"/>
          <p:cNvSpPr>
            <a:spLocks noChangeArrowheads="1"/>
          </p:cNvSpPr>
          <p:nvPr/>
        </p:nvSpPr>
        <p:spPr bwMode="auto">
          <a:xfrm>
            <a:off x="2759869" y="2809876"/>
            <a:ext cx="422275" cy="365125"/>
          </a:xfrm>
          <a:prstGeom prst="rect">
            <a:avLst/>
          </a:prstGeom>
          <a:noFill/>
          <a:ln w="28575">
            <a:noFill/>
            <a:prstDash val="solid"/>
          </a:ln>
        </p:spPr>
        <p:txBody>
          <a:bodyPr lIns="54000" tIns="10800" rIns="18000" bIns="10800"/>
          <a:lstStyle/>
          <a:p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∧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0" name="Rectangle 61"/>
          <p:cNvSpPr>
            <a:spLocks noChangeArrowheads="1"/>
          </p:cNvSpPr>
          <p:nvPr/>
        </p:nvSpPr>
        <p:spPr bwMode="auto">
          <a:xfrm>
            <a:off x="915194" y="3884613"/>
            <a:ext cx="422275" cy="365125"/>
          </a:xfrm>
          <a:prstGeom prst="rect">
            <a:avLst/>
          </a:prstGeom>
          <a:noFill/>
          <a:ln w="28575">
            <a:noFill/>
            <a:prstDash val="solid"/>
          </a:ln>
        </p:spPr>
        <p:txBody>
          <a:bodyPr lIns="54000" tIns="10800" rIns="18000" bIns="10800"/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∧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01" name="Group 88"/>
          <p:cNvGrpSpPr/>
          <p:nvPr/>
        </p:nvGrpSpPr>
        <p:grpSpPr bwMode="auto">
          <a:xfrm>
            <a:off x="1799431" y="4856163"/>
            <a:ext cx="1366838" cy="381000"/>
            <a:chOff x="759" y="3083"/>
            <a:chExt cx="861" cy="240"/>
          </a:xfrm>
          <a:noFill/>
        </p:grpSpPr>
        <p:sp>
          <p:nvSpPr>
            <p:cNvPr id="102" name="Rectangle 64"/>
            <p:cNvSpPr>
              <a:spLocks noChangeArrowheads="1"/>
            </p:cNvSpPr>
            <p:nvPr/>
          </p:nvSpPr>
          <p:spPr bwMode="auto">
            <a:xfrm>
              <a:off x="759" y="3083"/>
              <a:ext cx="266" cy="230"/>
            </a:xfrm>
            <a:prstGeom prst="rect">
              <a:avLst/>
            </a:prstGeom>
            <a:noFill/>
            <a:ln w="28575">
              <a:noFill/>
              <a:prstDash val="solid"/>
            </a:ln>
          </p:spPr>
          <p:txBody>
            <a:bodyPr lIns="54000" tIns="10800" rIns="18000" bIns="10800"/>
            <a:lstStyle/>
            <a:p>
              <a:r>
                <a:rPr lang="zh-CN" altLang="en-US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∧</a:t>
              </a:r>
              <a:endParaRPr lang="zh-CN" altLang="en-US" sz="2400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3" name="Rectangle 65"/>
            <p:cNvSpPr>
              <a:spLocks noChangeArrowheads="1"/>
            </p:cNvSpPr>
            <p:nvPr/>
          </p:nvSpPr>
          <p:spPr bwMode="auto">
            <a:xfrm>
              <a:off x="1354" y="3093"/>
              <a:ext cx="266" cy="230"/>
            </a:xfrm>
            <a:prstGeom prst="rect">
              <a:avLst/>
            </a:prstGeom>
            <a:noFill/>
            <a:ln w="28575">
              <a:noFill/>
              <a:prstDash val="solid"/>
            </a:ln>
          </p:spPr>
          <p:txBody>
            <a:bodyPr lIns="54000" tIns="10800" rIns="18000" bIns="10800"/>
            <a:lstStyle/>
            <a:p>
              <a:r>
                <a:rPr lang="zh-CN" altLang="en-US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∧</a:t>
              </a:r>
              <a:endParaRPr lang="zh-CN" altLang="en-US" sz="2400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04" name="Group 85"/>
          <p:cNvGrpSpPr/>
          <p:nvPr/>
        </p:nvGrpSpPr>
        <p:grpSpPr bwMode="auto">
          <a:xfrm>
            <a:off x="3199606" y="3897313"/>
            <a:ext cx="1366838" cy="381000"/>
            <a:chOff x="1641" y="2479"/>
            <a:chExt cx="861" cy="240"/>
          </a:xfrm>
          <a:noFill/>
        </p:grpSpPr>
        <p:sp>
          <p:nvSpPr>
            <p:cNvPr id="105" name="Rectangle 68"/>
            <p:cNvSpPr>
              <a:spLocks noChangeArrowheads="1"/>
            </p:cNvSpPr>
            <p:nvPr/>
          </p:nvSpPr>
          <p:spPr bwMode="auto">
            <a:xfrm>
              <a:off x="1641" y="2479"/>
              <a:ext cx="266" cy="230"/>
            </a:xfrm>
            <a:prstGeom prst="rect">
              <a:avLst/>
            </a:prstGeom>
            <a:noFill/>
            <a:ln w="28575">
              <a:noFill/>
              <a:prstDash val="solid"/>
            </a:ln>
          </p:spPr>
          <p:txBody>
            <a:bodyPr lIns="54000" tIns="10800" rIns="18000" bIns="10800"/>
            <a:lstStyle/>
            <a:p>
              <a:r>
                <a:rPr lang="zh-CN" altLang="en-US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∧</a:t>
              </a:r>
              <a:endParaRPr lang="zh-CN" altLang="en-US" sz="2400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6" name="Rectangle 69"/>
            <p:cNvSpPr>
              <a:spLocks noChangeArrowheads="1"/>
            </p:cNvSpPr>
            <p:nvPr/>
          </p:nvSpPr>
          <p:spPr bwMode="auto">
            <a:xfrm>
              <a:off x="2236" y="2489"/>
              <a:ext cx="266" cy="230"/>
            </a:xfrm>
            <a:prstGeom prst="rect">
              <a:avLst/>
            </a:prstGeom>
            <a:noFill/>
            <a:ln w="28575">
              <a:noFill/>
              <a:prstDash val="solid"/>
            </a:ln>
          </p:spPr>
          <p:txBody>
            <a:bodyPr lIns="54000" tIns="10800" rIns="18000" bIns="10800"/>
            <a:lstStyle/>
            <a:p>
              <a:r>
                <a:rPr lang="zh-CN" altLang="en-US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∧</a:t>
              </a:r>
              <a:endParaRPr lang="zh-CN" altLang="en-US" sz="2400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07" name="Group 86"/>
          <p:cNvGrpSpPr/>
          <p:nvPr/>
        </p:nvGrpSpPr>
        <p:grpSpPr bwMode="auto">
          <a:xfrm>
            <a:off x="5058569" y="3895726"/>
            <a:ext cx="1366837" cy="381000"/>
            <a:chOff x="2812" y="2478"/>
            <a:chExt cx="861" cy="240"/>
          </a:xfrm>
          <a:noFill/>
        </p:grpSpPr>
        <p:sp>
          <p:nvSpPr>
            <p:cNvPr id="108" name="Rectangle 72"/>
            <p:cNvSpPr>
              <a:spLocks noChangeArrowheads="1"/>
            </p:cNvSpPr>
            <p:nvPr/>
          </p:nvSpPr>
          <p:spPr bwMode="auto">
            <a:xfrm>
              <a:off x="2812" y="2478"/>
              <a:ext cx="266" cy="230"/>
            </a:xfrm>
            <a:prstGeom prst="rect">
              <a:avLst/>
            </a:prstGeom>
            <a:noFill/>
            <a:ln w="28575">
              <a:noFill/>
              <a:prstDash val="solid"/>
            </a:ln>
          </p:spPr>
          <p:txBody>
            <a:bodyPr lIns="54000" tIns="10800" rIns="18000" bIns="10800"/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∧</a:t>
              </a:r>
              <a:endPara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9" name="Rectangle 73"/>
            <p:cNvSpPr>
              <a:spLocks noChangeArrowheads="1"/>
            </p:cNvSpPr>
            <p:nvPr/>
          </p:nvSpPr>
          <p:spPr bwMode="auto">
            <a:xfrm>
              <a:off x="3407" y="2488"/>
              <a:ext cx="266" cy="230"/>
            </a:xfrm>
            <a:prstGeom prst="rect">
              <a:avLst/>
            </a:prstGeom>
            <a:grpFill/>
            <a:ln w="28575">
              <a:noFill/>
              <a:prstDash val="solid"/>
              <a:miter lim="800000"/>
            </a:ln>
          </p:spPr>
          <p:txBody>
            <a:bodyPr lIns="54000" tIns="10800" rIns="18000" bIns="10800"/>
            <a:lstStyle/>
            <a:p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∧</a:t>
              </a:r>
              <a:endPara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10" name="Group 81"/>
          <p:cNvGrpSpPr/>
          <p:nvPr/>
        </p:nvGrpSpPr>
        <p:grpSpPr bwMode="auto">
          <a:xfrm>
            <a:off x="3980656" y="2101851"/>
            <a:ext cx="1439863" cy="1087437"/>
            <a:chOff x="2133" y="1348"/>
            <a:chExt cx="907" cy="685"/>
          </a:xfrm>
          <a:noFill/>
        </p:grpSpPr>
        <p:sp>
          <p:nvSpPr>
            <p:cNvPr id="111" name="Freeform 28"/>
            <p:cNvSpPr/>
            <p:nvPr/>
          </p:nvSpPr>
          <p:spPr bwMode="auto">
            <a:xfrm>
              <a:off x="2242" y="1348"/>
              <a:ext cx="338" cy="400"/>
            </a:xfrm>
            <a:custGeom>
              <a:avLst/>
              <a:gdLst>
                <a:gd name="T0" fmla="*/ 0 w 469"/>
                <a:gd name="T1" fmla="*/ 0 h 544"/>
                <a:gd name="T2" fmla="*/ 469 w 469"/>
                <a:gd name="T3" fmla="*/ 544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69" h="544">
                  <a:moveTo>
                    <a:pt x="0" y="0"/>
                  </a:moveTo>
                  <a:lnTo>
                    <a:pt x="469" y="544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prstDash val="solid"/>
              <a:round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" name="Rectangle 74"/>
            <p:cNvSpPr>
              <a:spLocks noChangeArrowheads="1"/>
            </p:cNvSpPr>
            <p:nvPr/>
          </p:nvSpPr>
          <p:spPr bwMode="auto">
            <a:xfrm>
              <a:off x="2133" y="1784"/>
              <a:ext cx="907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10800" rIns="18000" bIns="10800">
              <a:flatTx/>
            </a:bodyPr>
            <a:lstStyle/>
            <a:p>
              <a:endParaRPr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3" name="Rectangle 75"/>
            <p:cNvSpPr>
              <a:spLocks noChangeArrowheads="1"/>
            </p:cNvSpPr>
            <p:nvPr/>
          </p:nvSpPr>
          <p:spPr bwMode="auto">
            <a:xfrm>
              <a:off x="2444" y="1784"/>
              <a:ext cx="284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0" rIns="18000" bIns="10800">
              <a:flatTx/>
            </a:bodyPr>
            <a:lstStyle/>
            <a:p>
              <a:pPr algn="just"/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Angsana New" panose="02020603050405020304" pitchFamily="18" charset="-34"/>
                </a:rPr>
                <a:t>C</a:t>
              </a:r>
              <a:endPara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ngsana New" panose="02020603050405020304" pitchFamily="18" charset="-34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3036094" y="1052206"/>
            <a:ext cx="1869122" cy="1108382"/>
            <a:chOff x="3036094" y="1052206"/>
            <a:chExt cx="1869122" cy="1108382"/>
          </a:xfrm>
        </p:grpSpPr>
        <p:grpSp>
          <p:nvGrpSpPr>
            <p:cNvPr id="95" name="Group 92"/>
            <p:cNvGrpSpPr/>
            <p:nvPr/>
          </p:nvGrpSpPr>
          <p:grpSpPr bwMode="auto">
            <a:xfrm>
              <a:off x="3036094" y="1296988"/>
              <a:ext cx="1439862" cy="863600"/>
              <a:chOff x="1493" y="1120"/>
              <a:chExt cx="907" cy="544"/>
            </a:xfrm>
            <a:noFill/>
          </p:grpSpPr>
          <p:sp>
            <p:nvSpPr>
              <p:cNvPr id="96" name="Rectangle 6"/>
              <p:cNvSpPr>
                <a:spLocks noChangeArrowheads="1"/>
              </p:cNvSpPr>
              <p:nvPr/>
            </p:nvSpPr>
            <p:spPr bwMode="auto">
              <a:xfrm>
                <a:off x="1493" y="1415"/>
                <a:ext cx="907" cy="249"/>
              </a:xfrm>
              <a:prstGeom prst="rect">
                <a:avLst/>
              </a:prstGeom>
              <a:grpFill/>
              <a:ln w="28575">
                <a:solidFill>
                  <a:srgbClr val="507D7D"/>
                </a:solidFill>
                <a:prstDash val="solid"/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54000" tIns="10800" rIns="18000" bIns="10800">
                <a:flatTx/>
              </a:bodyPr>
              <a:lstStyle/>
              <a:p>
                <a:endParaRPr lang="zh-CN" altLang="en-US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7" name="Rectangle 8"/>
              <p:cNvSpPr>
                <a:spLocks noChangeArrowheads="1"/>
              </p:cNvSpPr>
              <p:nvPr/>
            </p:nvSpPr>
            <p:spPr bwMode="auto">
              <a:xfrm>
                <a:off x="1804" y="1415"/>
                <a:ext cx="284" cy="249"/>
              </a:xfrm>
              <a:prstGeom prst="rect">
                <a:avLst/>
              </a:prstGeom>
              <a:grpFill/>
              <a:ln w="28575">
                <a:solidFill>
                  <a:srgbClr val="507D7D"/>
                </a:solidFill>
                <a:prstDash val="solid"/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90000" tIns="0" rIns="18000" bIns="10800">
                <a:flatTx/>
              </a:bodyPr>
              <a:lstStyle/>
              <a:p>
                <a:pPr algn="just"/>
                <a:r>
                  <a:rPr lang="en-US" altLang="zh-CN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Angsana New" panose="02020603050405020304" pitchFamily="18" charset="-34"/>
                  </a:rPr>
                  <a:t>A</a:t>
                </a:r>
                <a:endPara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Angsana New" panose="02020603050405020304" pitchFamily="18" charset="-34"/>
                </a:endParaRPr>
              </a:p>
            </p:txBody>
          </p:sp>
          <p:sp>
            <p:nvSpPr>
              <p:cNvPr id="98" name="Line 33"/>
              <p:cNvSpPr>
                <a:spLocks noChangeShapeType="1"/>
              </p:cNvSpPr>
              <p:nvPr/>
            </p:nvSpPr>
            <p:spPr bwMode="auto">
              <a:xfrm>
                <a:off x="1726" y="1120"/>
                <a:ext cx="208" cy="276"/>
              </a:xfrm>
              <a:prstGeom prst="line">
                <a:avLst/>
              </a:prstGeom>
              <a:grpFill/>
              <a:ln w="28575">
                <a:solidFill>
                  <a:srgbClr val="B42D2D"/>
                </a:solidFill>
                <a:prstDash val="solid"/>
                <a:round/>
                <a:tailEnd type="stealth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" name="TextBox 1"/>
            <p:cNvSpPr txBox="1"/>
            <p:nvPr/>
          </p:nvSpPr>
          <p:spPr>
            <a:xfrm>
              <a:off x="3614578" y="1052206"/>
              <a:ext cx="129063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 smtClean="0">
                  <a:solidFill>
                    <a:srgbClr val="B42D2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root</a:t>
              </a:r>
              <a:endParaRPr lang="zh-CN" altLang="en-US" sz="28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/>
      <p:bldP spid="10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ounded Rectangle 10"/>
          <p:cNvSpPr/>
          <p:nvPr/>
        </p:nvSpPr>
        <p:spPr>
          <a:xfrm>
            <a:off x="542923" y="100964"/>
            <a:ext cx="4788000" cy="540000"/>
          </a:xfrm>
          <a:prstGeom prst="roundRect">
            <a:avLst/>
          </a:prstGeom>
          <a:solidFill>
            <a:srgbClr val="5A32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Text Box 2"/>
          <p:cNvSpPr txBox="1">
            <a:spLocks noChangeArrowheads="1"/>
          </p:cNvSpPr>
          <p:nvPr/>
        </p:nvSpPr>
        <p:spPr bwMode="auto">
          <a:xfrm>
            <a:off x="638167" y="61585"/>
            <a:ext cx="507762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二叉链表的存储结构定义</a:t>
            </a:r>
            <a:endParaRPr lang="zh-CN" altLang="en-US" sz="32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75" name="Group 87"/>
          <p:cNvGrpSpPr/>
          <p:nvPr/>
        </p:nvGrpSpPr>
        <p:grpSpPr bwMode="auto">
          <a:xfrm>
            <a:off x="1737519" y="4214813"/>
            <a:ext cx="1439862" cy="1050925"/>
            <a:chOff x="720" y="2679"/>
            <a:chExt cx="907" cy="662"/>
          </a:xfrm>
          <a:noFill/>
        </p:grpSpPr>
        <p:sp>
          <p:nvSpPr>
            <p:cNvPr id="76" name="Rectangle 62"/>
            <p:cNvSpPr>
              <a:spLocks noChangeArrowheads="1"/>
            </p:cNvSpPr>
            <p:nvPr/>
          </p:nvSpPr>
          <p:spPr bwMode="auto">
            <a:xfrm>
              <a:off x="720" y="3092"/>
              <a:ext cx="907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10800" rIns="18000" bIns="10800">
              <a:flatTx/>
            </a:bodyPr>
            <a:lstStyle/>
            <a:p>
              <a:endParaRPr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7" name="Rectangle 63"/>
            <p:cNvSpPr>
              <a:spLocks noChangeArrowheads="1"/>
            </p:cNvSpPr>
            <p:nvPr/>
          </p:nvSpPr>
          <p:spPr bwMode="auto">
            <a:xfrm>
              <a:off x="1031" y="3092"/>
              <a:ext cx="284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0" rIns="18000" bIns="10800">
              <a:flatTx/>
            </a:bodyPr>
            <a:lstStyle/>
            <a:p>
              <a:pPr algn="just"/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Angsana New" panose="02020603050405020304" pitchFamily="18" charset="-34"/>
                </a:rPr>
                <a:t>G</a:t>
              </a:r>
              <a:endPara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ngsana New" panose="02020603050405020304" pitchFamily="18" charset="-34"/>
              </a:endParaRPr>
            </a:p>
          </p:txBody>
        </p:sp>
        <p:sp>
          <p:nvSpPr>
            <p:cNvPr id="78" name="Freeform 32"/>
            <p:cNvSpPr/>
            <p:nvPr/>
          </p:nvSpPr>
          <p:spPr bwMode="auto">
            <a:xfrm>
              <a:off x="889" y="2679"/>
              <a:ext cx="319" cy="385"/>
            </a:xfrm>
            <a:custGeom>
              <a:avLst/>
              <a:gdLst>
                <a:gd name="T0" fmla="*/ 0 w 444"/>
                <a:gd name="T1" fmla="*/ 0 h 523"/>
                <a:gd name="T2" fmla="*/ 444 w 444"/>
                <a:gd name="T3" fmla="*/ 523 h 5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44" h="523">
                  <a:moveTo>
                    <a:pt x="0" y="0"/>
                  </a:moveTo>
                  <a:lnTo>
                    <a:pt x="444" y="523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prstDash val="solid"/>
              <a:round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9" name="Group 84"/>
          <p:cNvGrpSpPr/>
          <p:nvPr/>
        </p:nvGrpSpPr>
        <p:grpSpPr bwMode="auto">
          <a:xfrm>
            <a:off x="4996656" y="3122613"/>
            <a:ext cx="1439863" cy="1182688"/>
            <a:chOff x="2773" y="1991"/>
            <a:chExt cx="907" cy="745"/>
          </a:xfrm>
          <a:noFill/>
        </p:grpSpPr>
        <p:sp>
          <p:nvSpPr>
            <p:cNvPr id="80" name="Rectangle 70"/>
            <p:cNvSpPr>
              <a:spLocks noChangeArrowheads="1"/>
            </p:cNvSpPr>
            <p:nvPr/>
          </p:nvSpPr>
          <p:spPr bwMode="auto">
            <a:xfrm>
              <a:off x="2773" y="2487"/>
              <a:ext cx="907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10800" rIns="18000" bIns="10800">
              <a:flatTx/>
            </a:bodyPr>
            <a:lstStyle/>
            <a:p>
              <a:endParaRPr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1" name="Rectangle 71"/>
            <p:cNvSpPr>
              <a:spLocks noChangeArrowheads="1"/>
            </p:cNvSpPr>
            <p:nvPr/>
          </p:nvSpPr>
          <p:spPr bwMode="auto">
            <a:xfrm>
              <a:off x="3084" y="2487"/>
              <a:ext cx="284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0" rIns="18000" bIns="10800">
              <a:flatTx/>
            </a:bodyPr>
            <a:lstStyle/>
            <a:p>
              <a:pPr algn="just"/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Angsana New" panose="02020603050405020304" pitchFamily="18" charset="-34"/>
                </a:rPr>
                <a:t>F</a:t>
              </a:r>
              <a:endPara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ngsana New" panose="02020603050405020304" pitchFamily="18" charset="-34"/>
              </a:endParaRPr>
            </a:p>
          </p:txBody>
        </p:sp>
        <p:sp>
          <p:nvSpPr>
            <p:cNvPr id="82" name="Line 31"/>
            <p:cNvSpPr>
              <a:spLocks noChangeShapeType="1"/>
            </p:cNvSpPr>
            <p:nvPr/>
          </p:nvSpPr>
          <p:spPr bwMode="auto">
            <a:xfrm>
              <a:off x="2946" y="1991"/>
              <a:ext cx="292" cy="458"/>
            </a:xfrm>
            <a:prstGeom prst="line">
              <a:avLst/>
            </a:prstGeom>
            <a:grpFill/>
            <a:ln w="28575">
              <a:solidFill>
                <a:srgbClr val="285A32"/>
              </a:solidFill>
              <a:prstDash val="solid"/>
              <a:round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3" name="Group 83"/>
          <p:cNvGrpSpPr/>
          <p:nvPr/>
        </p:nvGrpSpPr>
        <p:grpSpPr bwMode="auto">
          <a:xfrm>
            <a:off x="3137694" y="3122613"/>
            <a:ext cx="1439862" cy="1184275"/>
            <a:chOff x="1602" y="1991"/>
            <a:chExt cx="907" cy="746"/>
          </a:xfrm>
          <a:noFill/>
        </p:grpSpPr>
        <p:sp>
          <p:nvSpPr>
            <p:cNvPr id="84" name="Rectangle 66"/>
            <p:cNvSpPr>
              <a:spLocks noChangeArrowheads="1"/>
            </p:cNvSpPr>
            <p:nvPr/>
          </p:nvSpPr>
          <p:spPr bwMode="auto">
            <a:xfrm>
              <a:off x="1602" y="2488"/>
              <a:ext cx="907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10800" rIns="18000" bIns="10800">
              <a:flatTx/>
            </a:bodyPr>
            <a:lstStyle/>
            <a:p>
              <a:endParaRPr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5" name="Rectangle 67"/>
            <p:cNvSpPr>
              <a:spLocks noChangeArrowheads="1"/>
            </p:cNvSpPr>
            <p:nvPr/>
          </p:nvSpPr>
          <p:spPr bwMode="auto">
            <a:xfrm>
              <a:off x="1913" y="2488"/>
              <a:ext cx="284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0" rIns="18000" bIns="10800">
              <a:flatTx/>
            </a:bodyPr>
            <a:lstStyle/>
            <a:p>
              <a:pPr algn="just"/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Angsana New" panose="02020603050405020304" pitchFamily="18" charset="-34"/>
                </a:rPr>
                <a:t>E</a:t>
              </a:r>
              <a:endPara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ngsana New" panose="02020603050405020304" pitchFamily="18" charset="-34"/>
              </a:endParaRPr>
            </a:p>
          </p:txBody>
        </p:sp>
        <p:sp>
          <p:nvSpPr>
            <p:cNvPr id="86" name="Line 30"/>
            <p:cNvSpPr>
              <a:spLocks noChangeShapeType="1"/>
            </p:cNvSpPr>
            <p:nvPr/>
          </p:nvSpPr>
          <p:spPr bwMode="auto">
            <a:xfrm flipH="1">
              <a:off x="2069" y="1991"/>
              <a:ext cx="292" cy="458"/>
            </a:xfrm>
            <a:prstGeom prst="line">
              <a:avLst/>
            </a:prstGeom>
            <a:grpFill/>
            <a:ln w="28575">
              <a:solidFill>
                <a:srgbClr val="285A32"/>
              </a:solidFill>
              <a:prstDash val="solid"/>
              <a:round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7" name="Group 82"/>
          <p:cNvGrpSpPr/>
          <p:nvPr/>
        </p:nvGrpSpPr>
        <p:grpSpPr bwMode="auto">
          <a:xfrm>
            <a:off x="853281" y="3122613"/>
            <a:ext cx="1439863" cy="1171575"/>
            <a:chOff x="163" y="1991"/>
            <a:chExt cx="907" cy="738"/>
          </a:xfrm>
          <a:noFill/>
        </p:grpSpPr>
        <p:sp>
          <p:nvSpPr>
            <p:cNvPr id="88" name="Rectangle 59"/>
            <p:cNvSpPr>
              <a:spLocks noChangeArrowheads="1"/>
            </p:cNvSpPr>
            <p:nvPr/>
          </p:nvSpPr>
          <p:spPr bwMode="auto">
            <a:xfrm>
              <a:off x="163" y="2480"/>
              <a:ext cx="907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10800" rIns="18000" bIns="10800">
              <a:flatTx/>
            </a:bodyPr>
            <a:lstStyle/>
            <a:p>
              <a:endParaRPr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9" name="Rectangle 60"/>
            <p:cNvSpPr>
              <a:spLocks noChangeArrowheads="1"/>
            </p:cNvSpPr>
            <p:nvPr/>
          </p:nvSpPr>
          <p:spPr bwMode="auto">
            <a:xfrm>
              <a:off x="474" y="2480"/>
              <a:ext cx="284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0" rIns="18000" bIns="10800">
              <a:flatTx/>
            </a:bodyPr>
            <a:lstStyle/>
            <a:p>
              <a:pPr algn="just"/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Angsana New" panose="02020603050405020304" pitchFamily="18" charset="-34"/>
                </a:rPr>
                <a:t>D</a:t>
              </a:r>
              <a:endPara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ngsana New" panose="02020603050405020304" pitchFamily="18" charset="-34"/>
              </a:endParaRPr>
            </a:p>
          </p:txBody>
        </p:sp>
        <p:sp>
          <p:nvSpPr>
            <p:cNvPr id="90" name="Line 29"/>
            <p:cNvSpPr>
              <a:spLocks noChangeShapeType="1"/>
            </p:cNvSpPr>
            <p:nvPr/>
          </p:nvSpPr>
          <p:spPr bwMode="auto">
            <a:xfrm flipH="1">
              <a:off x="607" y="1991"/>
              <a:ext cx="292" cy="458"/>
            </a:xfrm>
            <a:prstGeom prst="line">
              <a:avLst/>
            </a:prstGeom>
            <a:grpFill/>
            <a:ln w="28575">
              <a:solidFill>
                <a:srgbClr val="285A32"/>
              </a:solidFill>
              <a:prstDash val="solid"/>
              <a:round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1" name="Group 80"/>
          <p:cNvGrpSpPr/>
          <p:nvPr/>
        </p:nvGrpSpPr>
        <p:grpSpPr bwMode="auto">
          <a:xfrm>
            <a:off x="1753394" y="2101851"/>
            <a:ext cx="1473200" cy="1101725"/>
            <a:chOff x="730" y="1348"/>
            <a:chExt cx="928" cy="694"/>
          </a:xfrm>
          <a:noFill/>
        </p:grpSpPr>
        <p:sp>
          <p:nvSpPr>
            <p:cNvPr id="92" name="Rectangle 57"/>
            <p:cNvSpPr>
              <a:spLocks noChangeArrowheads="1"/>
            </p:cNvSpPr>
            <p:nvPr/>
          </p:nvSpPr>
          <p:spPr bwMode="auto">
            <a:xfrm>
              <a:off x="730" y="1793"/>
              <a:ext cx="907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10800" rIns="18000" bIns="10800">
              <a:flatTx/>
            </a:bodyPr>
            <a:lstStyle/>
            <a:p>
              <a:endParaRPr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3" name="Rectangle 58"/>
            <p:cNvSpPr>
              <a:spLocks noChangeArrowheads="1"/>
            </p:cNvSpPr>
            <p:nvPr/>
          </p:nvSpPr>
          <p:spPr bwMode="auto">
            <a:xfrm>
              <a:off x="1041" y="1793"/>
              <a:ext cx="284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0" rIns="18000" bIns="10800">
              <a:flatTx/>
            </a:bodyPr>
            <a:lstStyle/>
            <a:p>
              <a:pPr algn="just"/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Angsana New" panose="02020603050405020304" pitchFamily="18" charset="-34"/>
                </a:rPr>
                <a:t>B</a:t>
              </a:r>
              <a:endPara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ngsana New" panose="02020603050405020304" pitchFamily="18" charset="-34"/>
              </a:endParaRPr>
            </a:p>
          </p:txBody>
        </p:sp>
        <p:sp>
          <p:nvSpPr>
            <p:cNvPr id="94" name="Freeform 27"/>
            <p:cNvSpPr/>
            <p:nvPr/>
          </p:nvSpPr>
          <p:spPr bwMode="auto">
            <a:xfrm>
              <a:off x="1262" y="1348"/>
              <a:ext cx="396" cy="400"/>
            </a:xfrm>
            <a:custGeom>
              <a:avLst/>
              <a:gdLst>
                <a:gd name="T0" fmla="*/ 550 w 550"/>
                <a:gd name="T1" fmla="*/ 0 h 544"/>
                <a:gd name="T2" fmla="*/ 0 w 550"/>
                <a:gd name="T3" fmla="*/ 544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50" h="544">
                  <a:moveTo>
                    <a:pt x="550" y="0"/>
                  </a:moveTo>
                  <a:lnTo>
                    <a:pt x="0" y="544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prstDash val="solid"/>
              <a:round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5" name="Group 92"/>
          <p:cNvGrpSpPr/>
          <p:nvPr/>
        </p:nvGrpSpPr>
        <p:grpSpPr bwMode="auto">
          <a:xfrm>
            <a:off x="3036094" y="1296988"/>
            <a:ext cx="1439862" cy="863600"/>
            <a:chOff x="1493" y="1120"/>
            <a:chExt cx="907" cy="544"/>
          </a:xfrm>
          <a:noFill/>
        </p:grpSpPr>
        <p:sp>
          <p:nvSpPr>
            <p:cNvPr id="96" name="Rectangle 6"/>
            <p:cNvSpPr>
              <a:spLocks noChangeArrowheads="1"/>
            </p:cNvSpPr>
            <p:nvPr/>
          </p:nvSpPr>
          <p:spPr bwMode="auto">
            <a:xfrm>
              <a:off x="1493" y="1415"/>
              <a:ext cx="907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10800" rIns="18000" bIns="10800">
              <a:flatTx/>
            </a:bodyPr>
            <a:lstStyle/>
            <a:p>
              <a:endParaRPr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7" name="Rectangle 8"/>
            <p:cNvSpPr>
              <a:spLocks noChangeArrowheads="1"/>
            </p:cNvSpPr>
            <p:nvPr/>
          </p:nvSpPr>
          <p:spPr bwMode="auto">
            <a:xfrm>
              <a:off x="1804" y="1415"/>
              <a:ext cx="284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0" rIns="18000" bIns="10800">
              <a:flatTx/>
            </a:bodyPr>
            <a:lstStyle/>
            <a:p>
              <a:pPr algn="just"/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Angsana New" panose="02020603050405020304" pitchFamily="18" charset="-34"/>
                </a:rPr>
                <a:t>A</a:t>
              </a:r>
              <a:endPara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ngsana New" panose="02020603050405020304" pitchFamily="18" charset="-34"/>
              </a:endParaRPr>
            </a:p>
          </p:txBody>
        </p:sp>
        <p:sp>
          <p:nvSpPr>
            <p:cNvPr id="98" name="Line 33"/>
            <p:cNvSpPr>
              <a:spLocks noChangeShapeType="1"/>
            </p:cNvSpPr>
            <p:nvPr/>
          </p:nvSpPr>
          <p:spPr bwMode="auto">
            <a:xfrm>
              <a:off x="1726" y="1120"/>
              <a:ext cx="208" cy="276"/>
            </a:xfrm>
            <a:prstGeom prst="line">
              <a:avLst/>
            </a:prstGeom>
            <a:grpFill/>
            <a:ln w="28575">
              <a:solidFill>
                <a:srgbClr val="B42D2D"/>
              </a:solidFill>
              <a:prstDash val="solid"/>
              <a:round/>
              <a:tailEnd type="stealth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9" name="Rectangle 7"/>
          <p:cNvSpPr>
            <a:spLocks noChangeArrowheads="1"/>
          </p:cNvSpPr>
          <p:nvPr/>
        </p:nvSpPr>
        <p:spPr bwMode="auto">
          <a:xfrm>
            <a:off x="2759869" y="2809876"/>
            <a:ext cx="422275" cy="365125"/>
          </a:xfrm>
          <a:prstGeom prst="rect">
            <a:avLst/>
          </a:prstGeom>
          <a:noFill/>
          <a:ln w="28575">
            <a:noFill/>
            <a:prstDash val="solid"/>
          </a:ln>
        </p:spPr>
        <p:txBody>
          <a:bodyPr lIns="54000" tIns="10800" rIns="18000" bIns="10800"/>
          <a:lstStyle/>
          <a:p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∧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0" name="Rectangle 61"/>
          <p:cNvSpPr>
            <a:spLocks noChangeArrowheads="1"/>
          </p:cNvSpPr>
          <p:nvPr/>
        </p:nvSpPr>
        <p:spPr bwMode="auto">
          <a:xfrm>
            <a:off x="915194" y="3884613"/>
            <a:ext cx="422275" cy="365125"/>
          </a:xfrm>
          <a:prstGeom prst="rect">
            <a:avLst/>
          </a:prstGeom>
          <a:noFill/>
          <a:ln w="28575">
            <a:noFill/>
            <a:prstDash val="solid"/>
          </a:ln>
        </p:spPr>
        <p:txBody>
          <a:bodyPr lIns="54000" tIns="10800" rIns="18000" bIns="10800"/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∧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01" name="Group 88"/>
          <p:cNvGrpSpPr/>
          <p:nvPr/>
        </p:nvGrpSpPr>
        <p:grpSpPr bwMode="auto">
          <a:xfrm>
            <a:off x="1799431" y="4856163"/>
            <a:ext cx="1366838" cy="381000"/>
            <a:chOff x="759" y="3083"/>
            <a:chExt cx="861" cy="240"/>
          </a:xfrm>
          <a:noFill/>
        </p:grpSpPr>
        <p:sp>
          <p:nvSpPr>
            <p:cNvPr id="102" name="Rectangle 64"/>
            <p:cNvSpPr>
              <a:spLocks noChangeArrowheads="1"/>
            </p:cNvSpPr>
            <p:nvPr/>
          </p:nvSpPr>
          <p:spPr bwMode="auto">
            <a:xfrm>
              <a:off x="759" y="3083"/>
              <a:ext cx="266" cy="230"/>
            </a:xfrm>
            <a:prstGeom prst="rect">
              <a:avLst/>
            </a:prstGeom>
            <a:noFill/>
            <a:ln w="28575">
              <a:noFill/>
              <a:prstDash val="solid"/>
            </a:ln>
          </p:spPr>
          <p:txBody>
            <a:bodyPr lIns="54000" tIns="10800" rIns="18000" bIns="10800"/>
            <a:lstStyle/>
            <a:p>
              <a:r>
                <a:rPr lang="zh-CN" altLang="en-US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∧</a:t>
              </a:r>
              <a:endParaRPr lang="zh-CN" altLang="en-US" sz="2400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3" name="Rectangle 65"/>
            <p:cNvSpPr>
              <a:spLocks noChangeArrowheads="1"/>
            </p:cNvSpPr>
            <p:nvPr/>
          </p:nvSpPr>
          <p:spPr bwMode="auto">
            <a:xfrm>
              <a:off x="1354" y="3093"/>
              <a:ext cx="266" cy="230"/>
            </a:xfrm>
            <a:prstGeom prst="rect">
              <a:avLst/>
            </a:prstGeom>
            <a:noFill/>
            <a:ln w="28575">
              <a:noFill/>
              <a:prstDash val="solid"/>
            </a:ln>
          </p:spPr>
          <p:txBody>
            <a:bodyPr lIns="54000" tIns="10800" rIns="18000" bIns="10800"/>
            <a:lstStyle/>
            <a:p>
              <a:r>
                <a:rPr lang="zh-CN" altLang="en-US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∧</a:t>
              </a:r>
              <a:endParaRPr lang="zh-CN" altLang="en-US" sz="2400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04" name="Group 85"/>
          <p:cNvGrpSpPr/>
          <p:nvPr/>
        </p:nvGrpSpPr>
        <p:grpSpPr bwMode="auto">
          <a:xfrm>
            <a:off x="3199606" y="3897313"/>
            <a:ext cx="1366838" cy="381000"/>
            <a:chOff x="1641" y="2479"/>
            <a:chExt cx="861" cy="240"/>
          </a:xfrm>
          <a:noFill/>
        </p:grpSpPr>
        <p:sp>
          <p:nvSpPr>
            <p:cNvPr id="105" name="Rectangle 68"/>
            <p:cNvSpPr>
              <a:spLocks noChangeArrowheads="1"/>
            </p:cNvSpPr>
            <p:nvPr/>
          </p:nvSpPr>
          <p:spPr bwMode="auto">
            <a:xfrm>
              <a:off x="1641" y="2479"/>
              <a:ext cx="266" cy="230"/>
            </a:xfrm>
            <a:prstGeom prst="rect">
              <a:avLst/>
            </a:prstGeom>
            <a:noFill/>
            <a:ln w="28575">
              <a:noFill/>
              <a:prstDash val="solid"/>
            </a:ln>
          </p:spPr>
          <p:txBody>
            <a:bodyPr lIns="54000" tIns="10800" rIns="18000" bIns="10800"/>
            <a:lstStyle/>
            <a:p>
              <a:r>
                <a:rPr lang="zh-CN" altLang="en-US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∧</a:t>
              </a:r>
              <a:endParaRPr lang="zh-CN" altLang="en-US" sz="2400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6" name="Rectangle 69"/>
            <p:cNvSpPr>
              <a:spLocks noChangeArrowheads="1"/>
            </p:cNvSpPr>
            <p:nvPr/>
          </p:nvSpPr>
          <p:spPr bwMode="auto">
            <a:xfrm>
              <a:off x="2236" y="2489"/>
              <a:ext cx="266" cy="230"/>
            </a:xfrm>
            <a:prstGeom prst="rect">
              <a:avLst/>
            </a:prstGeom>
            <a:noFill/>
            <a:ln w="28575">
              <a:noFill/>
              <a:prstDash val="solid"/>
            </a:ln>
          </p:spPr>
          <p:txBody>
            <a:bodyPr lIns="54000" tIns="10800" rIns="18000" bIns="10800"/>
            <a:lstStyle/>
            <a:p>
              <a:r>
                <a:rPr lang="zh-CN" altLang="en-US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∧</a:t>
              </a:r>
              <a:endParaRPr lang="zh-CN" altLang="en-US" sz="2400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07" name="Group 86"/>
          <p:cNvGrpSpPr/>
          <p:nvPr/>
        </p:nvGrpSpPr>
        <p:grpSpPr bwMode="auto">
          <a:xfrm>
            <a:off x="5058569" y="3895726"/>
            <a:ext cx="1366837" cy="381000"/>
            <a:chOff x="2812" y="2478"/>
            <a:chExt cx="861" cy="240"/>
          </a:xfrm>
          <a:noFill/>
        </p:grpSpPr>
        <p:sp>
          <p:nvSpPr>
            <p:cNvPr id="108" name="Rectangle 72"/>
            <p:cNvSpPr>
              <a:spLocks noChangeArrowheads="1"/>
            </p:cNvSpPr>
            <p:nvPr/>
          </p:nvSpPr>
          <p:spPr bwMode="auto">
            <a:xfrm>
              <a:off x="2812" y="2478"/>
              <a:ext cx="266" cy="230"/>
            </a:xfrm>
            <a:prstGeom prst="rect">
              <a:avLst/>
            </a:prstGeom>
            <a:noFill/>
            <a:ln w="28575">
              <a:noFill/>
              <a:prstDash val="solid"/>
            </a:ln>
          </p:spPr>
          <p:txBody>
            <a:bodyPr lIns="54000" tIns="10800" rIns="18000" bIns="10800"/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∧</a:t>
              </a:r>
              <a:endPara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9" name="Rectangle 73"/>
            <p:cNvSpPr>
              <a:spLocks noChangeArrowheads="1"/>
            </p:cNvSpPr>
            <p:nvPr/>
          </p:nvSpPr>
          <p:spPr bwMode="auto">
            <a:xfrm>
              <a:off x="3407" y="2488"/>
              <a:ext cx="266" cy="230"/>
            </a:xfrm>
            <a:prstGeom prst="rect">
              <a:avLst/>
            </a:prstGeom>
            <a:grpFill/>
            <a:ln w="28575">
              <a:noFill/>
              <a:prstDash val="solid"/>
              <a:miter lim="800000"/>
            </a:ln>
          </p:spPr>
          <p:txBody>
            <a:bodyPr lIns="54000" tIns="10800" rIns="18000" bIns="10800"/>
            <a:lstStyle/>
            <a:p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∧</a:t>
              </a:r>
              <a:endPara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10" name="Group 81"/>
          <p:cNvGrpSpPr/>
          <p:nvPr/>
        </p:nvGrpSpPr>
        <p:grpSpPr bwMode="auto">
          <a:xfrm>
            <a:off x="3980656" y="2101851"/>
            <a:ext cx="1439863" cy="1087437"/>
            <a:chOff x="2133" y="1348"/>
            <a:chExt cx="907" cy="685"/>
          </a:xfrm>
          <a:noFill/>
        </p:grpSpPr>
        <p:sp>
          <p:nvSpPr>
            <p:cNvPr id="111" name="Freeform 28"/>
            <p:cNvSpPr/>
            <p:nvPr/>
          </p:nvSpPr>
          <p:spPr bwMode="auto">
            <a:xfrm>
              <a:off x="2242" y="1348"/>
              <a:ext cx="338" cy="400"/>
            </a:xfrm>
            <a:custGeom>
              <a:avLst/>
              <a:gdLst>
                <a:gd name="T0" fmla="*/ 0 w 469"/>
                <a:gd name="T1" fmla="*/ 0 h 544"/>
                <a:gd name="T2" fmla="*/ 469 w 469"/>
                <a:gd name="T3" fmla="*/ 544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69" h="544">
                  <a:moveTo>
                    <a:pt x="0" y="0"/>
                  </a:moveTo>
                  <a:lnTo>
                    <a:pt x="469" y="544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prstDash val="solid"/>
              <a:round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" name="Rectangle 74"/>
            <p:cNvSpPr>
              <a:spLocks noChangeArrowheads="1"/>
            </p:cNvSpPr>
            <p:nvPr/>
          </p:nvSpPr>
          <p:spPr bwMode="auto">
            <a:xfrm>
              <a:off x="2133" y="1784"/>
              <a:ext cx="907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10800" rIns="18000" bIns="10800">
              <a:flatTx/>
            </a:bodyPr>
            <a:lstStyle/>
            <a:p>
              <a:endParaRPr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3" name="Rectangle 75"/>
            <p:cNvSpPr>
              <a:spLocks noChangeArrowheads="1"/>
            </p:cNvSpPr>
            <p:nvPr/>
          </p:nvSpPr>
          <p:spPr bwMode="auto">
            <a:xfrm>
              <a:off x="2444" y="1784"/>
              <a:ext cx="284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0" rIns="18000" bIns="10800">
              <a:flatTx/>
            </a:bodyPr>
            <a:lstStyle/>
            <a:p>
              <a:pPr algn="just"/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Angsana New" panose="02020603050405020304" pitchFamily="18" charset="-34"/>
                </a:rPr>
                <a:t>C</a:t>
              </a:r>
              <a:endPara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ngsana New" panose="02020603050405020304" pitchFamily="18" charset="-34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6461761" y="1273256"/>
            <a:ext cx="5212079" cy="2400657"/>
          </a:xfrm>
          <a:prstGeom prst="rect">
            <a:avLst/>
          </a:prstGeom>
          <a:ln>
            <a:solidFill>
              <a:srgbClr val="285A32"/>
            </a:solidFill>
            <a:prstDash val="dash"/>
          </a:ln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400" dirty="0" smtClean="0">
                <a:solidFill>
                  <a:srgbClr val="285A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template &lt;</a:t>
            </a:r>
            <a:r>
              <a:rPr lang="en-US" altLang="zh-CN" sz="2400" dirty="0" err="1" smtClean="0">
                <a:solidFill>
                  <a:srgbClr val="285A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typename</a:t>
            </a:r>
            <a:r>
              <a:rPr lang="en-US" altLang="zh-CN" sz="2400" dirty="0" smtClean="0">
                <a:solidFill>
                  <a:srgbClr val="285A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 err="1" smtClean="0">
                <a:solidFill>
                  <a:srgbClr val="285A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DataType</a:t>
            </a:r>
            <a:r>
              <a:rPr lang="en-US" altLang="zh-CN" sz="2400" dirty="0" smtClean="0">
                <a:solidFill>
                  <a:srgbClr val="285A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BiNode</a:t>
            </a:r>
            <a:endParaRPr lang="zh-CN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zh-CN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400" dirty="0" err="1">
                <a:solidFill>
                  <a:srgbClr val="285A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DataType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data;</a:t>
            </a:r>
            <a:endParaRPr lang="zh-CN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BiNode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400" dirty="0" smtClean="0">
                <a:solidFill>
                  <a:srgbClr val="285A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 err="1" smtClean="0">
                <a:solidFill>
                  <a:srgbClr val="285A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DataType</a:t>
            </a:r>
            <a:r>
              <a:rPr lang="en-US" altLang="zh-CN" sz="2400" dirty="0" smtClean="0">
                <a:solidFill>
                  <a:srgbClr val="285A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lchild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*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rchild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  <a:endParaRPr lang="en-US" altLang="zh-C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9" name="组合 58"/>
          <p:cNvGrpSpPr/>
          <p:nvPr/>
        </p:nvGrpSpPr>
        <p:grpSpPr>
          <a:xfrm>
            <a:off x="3750151" y="4882685"/>
            <a:ext cx="3686969" cy="523220"/>
            <a:chOff x="1826091" y="4148024"/>
            <a:chExt cx="3686969" cy="523220"/>
          </a:xfrm>
        </p:grpSpPr>
        <p:sp>
          <p:nvSpPr>
            <p:cNvPr id="60" name="Text Box 11"/>
            <p:cNvSpPr txBox="1">
              <a:spLocks noChangeArrowheads="1"/>
            </p:cNvSpPr>
            <p:nvPr/>
          </p:nvSpPr>
          <p:spPr bwMode="auto">
            <a:xfrm>
              <a:off x="2385059" y="4148024"/>
              <a:ext cx="3128001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 smtClean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叶子结点的标志？</a:t>
              </a:r>
              <a:endPara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61" name="Group 31"/>
            <p:cNvGrpSpPr/>
            <p:nvPr/>
          </p:nvGrpSpPr>
          <p:grpSpPr>
            <a:xfrm>
              <a:off x="1826091" y="4213620"/>
              <a:ext cx="465732" cy="432000"/>
              <a:chOff x="8686801" y="2019300"/>
              <a:chExt cx="528638" cy="565150"/>
            </a:xfrm>
            <a:solidFill>
              <a:srgbClr val="5A327D"/>
            </a:solidFill>
          </p:grpSpPr>
          <p:sp>
            <p:nvSpPr>
              <p:cNvPr id="62" name="Freeform 32"/>
              <p:cNvSpPr/>
              <p:nvPr/>
            </p:nvSpPr>
            <p:spPr bwMode="auto">
              <a:xfrm>
                <a:off x="8785226" y="2501900"/>
                <a:ext cx="331788" cy="82550"/>
              </a:xfrm>
              <a:custGeom>
                <a:avLst/>
                <a:gdLst>
                  <a:gd name="T0" fmla="*/ 121 w 122"/>
                  <a:gd name="T1" fmla="*/ 24 h 30"/>
                  <a:gd name="T2" fmla="*/ 107 w 122"/>
                  <a:gd name="T3" fmla="*/ 2 h 30"/>
                  <a:gd name="T4" fmla="*/ 104 w 122"/>
                  <a:gd name="T5" fmla="*/ 0 h 30"/>
                  <a:gd name="T6" fmla="*/ 62 w 122"/>
                  <a:gd name="T7" fmla="*/ 0 h 30"/>
                  <a:gd name="T8" fmla="*/ 60 w 122"/>
                  <a:gd name="T9" fmla="*/ 0 h 30"/>
                  <a:gd name="T10" fmla="*/ 18 w 122"/>
                  <a:gd name="T11" fmla="*/ 0 h 30"/>
                  <a:gd name="T12" fmla="*/ 15 w 122"/>
                  <a:gd name="T13" fmla="*/ 2 h 30"/>
                  <a:gd name="T14" fmla="*/ 1 w 122"/>
                  <a:gd name="T15" fmla="*/ 24 h 30"/>
                  <a:gd name="T16" fmla="*/ 2 w 122"/>
                  <a:gd name="T17" fmla="*/ 29 h 30"/>
                  <a:gd name="T18" fmla="*/ 4 w 122"/>
                  <a:gd name="T19" fmla="*/ 30 h 30"/>
                  <a:gd name="T20" fmla="*/ 8 w 122"/>
                  <a:gd name="T21" fmla="*/ 28 h 30"/>
                  <a:gd name="T22" fmla="*/ 20 w 122"/>
                  <a:gd name="T23" fmla="*/ 8 h 30"/>
                  <a:gd name="T24" fmla="*/ 60 w 122"/>
                  <a:gd name="T25" fmla="*/ 8 h 30"/>
                  <a:gd name="T26" fmla="*/ 62 w 122"/>
                  <a:gd name="T27" fmla="*/ 8 h 30"/>
                  <a:gd name="T28" fmla="*/ 102 w 122"/>
                  <a:gd name="T29" fmla="*/ 8 h 30"/>
                  <a:gd name="T30" fmla="*/ 114 w 122"/>
                  <a:gd name="T31" fmla="*/ 28 h 30"/>
                  <a:gd name="T32" fmla="*/ 118 w 122"/>
                  <a:gd name="T33" fmla="*/ 30 h 30"/>
                  <a:gd name="T34" fmla="*/ 120 w 122"/>
                  <a:gd name="T35" fmla="*/ 29 h 30"/>
                  <a:gd name="T36" fmla="*/ 121 w 122"/>
                  <a:gd name="T37" fmla="*/ 24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2" h="30">
                    <a:moveTo>
                      <a:pt x="121" y="24"/>
                    </a:moveTo>
                    <a:cubicBezTo>
                      <a:pt x="107" y="2"/>
                      <a:pt x="107" y="2"/>
                      <a:pt x="107" y="2"/>
                    </a:cubicBezTo>
                    <a:cubicBezTo>
                      <a:pt x="106" y="1"/>
                      <a:pt x="105" y="0"/>
                      <a:pt x="104" y="0"/>
                    </a:cubicBezTo>
                    <a:cubicBezTo>
                      <a:pt x="62" y="0"/>
                      <a:pt x="62" y="0"/>
                      <a:pt x="62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7" y="0"/>
                      <a:pt x="15" y="1"/>
                      <a:pt x="15" y="2"/>
                    </a:cubicBezTo>
                    <a:cubicBezTo>
                      <a:pt x="1" y="24"/>
                      <a:pt x="1" y="24"/>
                      <a:pt x="1" y="24"/>
                    </a:cubicBezTo>
                    <a:cubicBezTo>
                      <a:pt x="0" y="26"/>
                      <a:pt x="0" y="28"/>
                      <a:pt x="2" y="29"/>
                    </a:cubicBezTo>
                    <a:cubicBezTo>
                      <a:pt x="3" y="30"/>
                      <a:pt x="3" y="30"/>
                      <a:pt x="4" y="30"/>
                    </a:cubicBezTo>
                    <a:cubicBezTo>
                      <a:pt x="6" y="30"/>
                      <a:pt x="7" y="29"/>
                      <a:pt x="8" y="28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60" y="8"/>
                      <a:pt x="60" y="8"/>
                      <a:pt x="60" y="8"/>
                    </a:cubicBezTo>
                    <a:cubicBezTo>
                      <a:pt x="62" y="8"/>
                      <a:pt x="62" y="8"/>
                      <a:pt x="62" y="8"/>
                    </a:cubicBezTo>
                    <a:cubicBezTo>
                      <a:pt x="102" y="8"/>
                      <a:pt x="102" y="8"/>
                      <a:pt x="102" y="8"/>
                    </a:cubicBezTo>
                    <a:cubicBezTo>
                      <a:pt x="114" y="28"/>
                      <a:pt x="114" y="28"/>
                      <a:pt x="114" y="28"/>
                    </a:cubicBezTo>
                    <a:cubicBezTo>
                      <a:pt x="115" y="29"/>
                      <a:pt x="116" y="30"/>
                      <a:pt x="118" y="30"/>
                    </a:cubicBezTo>
                    <a:cubicBezTo>
                      <a:pt x="118" y="30"/>
                      <a:pt x="119" y="30"/>
                      <a:pt x="120" y="29"/>
                    </a:cubicBezTo>
                    <a:cubicBezTo>
                      <a:pt x="122" y="28"/>
                      <a:pt x="122" y="26"/>
                      <a:pt x="121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3" name="Freeform 33"/>
              <p:cNvSpPr/>
              <p:nvPr/>
            </p:nvSpPr>
            <p:spPr bwMode="auto">
              <a:xfrm>
                <a:off x="8686801" y="2019300"/>
                <a:ext cx="165100" cy="149225"/>
              </a:xfrm>
              <a:custGeom>
                <a:avLst/>
                <a:gdLst>
                  <a:gd name="T0" fmla="*/ 33 w 61"/>
                  <a:gd name="T1" fmla="*/ 0 h 55"/>
                  <a:gd name="T2" fmla="*/ 0 w 61"/>
                  <a:gd name="T3" fmla="*/ 33 h 55"/>
                  <a:gd name="T4" fmla="*/ 7 w 61"/>
                  <a:gd name="T5" fmla="*/ 54 h 55"/>
                  <a:gd name="T6" fmla="*/ 10 w 61"/>
                  <a:gd name="T7" fmla="*/ 55 h 55"/>
                  <a:gd name="T8" fmla="*/ 13 w 61"/>
                  <a:gd name="T9" fmla="*/ 55 h 55"/>
                  <a:gd name="T10" fmla="*/ 59 w 61"/>
                  <a:gd name="T11" fmla="*/ 19 h 55"/>
                  <a:gd name="T12" fmla="*/ 60 w 61"/>
                  <a:gd name="T13" fmla="*/ 13 h 55"/>
                  <a:gd name="T14" fmla="*/ 33 w 61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55">
                    <a:moveTo>
                      <a:pt x="33" y="0"/>
                    </a:moveTo>
                    <a:cubicBezTo>
                      <a:pt x="15" y="0"/>
                      <a:pt x="0" y="15"/>
                      <a:pt x="0" y="33"/>
                    </a:cubicBezTo>
                    <a:cubicBezTo>
                      <a:pt x="0" y="41"/>
                      <a:pt x="2" y="48"/>
                      <a:pt x="7" y="54"/>
                    </a:cubicBezTo>
                    <a:cubicBezTo>
                      <a:pt x="8" y="55"/>
                      <a:pt x="9" y="55"/>
                      <a:pt x="10" y="55"/>
                    </a:cubicBezTo>
                    <a:cubicBezTo>
                      <a:pt x="11" y="55"/>
                      <a:pt x="12" y="55"/>
                      <a:pt x="13" y="55"/>
                    </a:cubicBezTo>
                    <a:cubicBezTo>
                      <a:pt x="59" y="19"/>
                      <a:pt x="59" y="19"/>
                      <a:pt x="59" y="19"/>
                    </a:cubicBezTo>
                    <a:cubicBezTo>
                      <a:pt x="61" y="17"/>
                      <a:pt x="61" y="15"/>
                      <a:pt x="60" y="13"/>
                    </a:cubicBezTo>
                    <a:cubicBezTo>
                      <a:pt x="54" y="5"/>
                      <a:pt x="44" y="0"/>
                      <a:pt x="3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4" name="Freeform 34"/>
              <p:cNvSpPr/>
              <p:nvPr/>
            </p:nvSpPr>
            <p:spPr bwMode="auto">
              <a:xfrm>
                <a:off x="9048751" y="2019300"/>
                <a:ext cx="166688" cy="149225"/>
              </a:xfrm>
              <a:custGeom>
                <a:avLst/>
                <a:gdLst>
                  <a:gd name="T0" fmla="*/ 28 w 61"/>
                  <a:gd name="T1" fmla="*/ 0 h 55"/>
                  <a:gd name="T2" fmla="*/ 1 w 61"/>
                  <a:gd name="T3" fmla="*/ 13 h 55"/>
                  <a:gd name="T4" fmla="*/ 2 w 61"/>
                  <a:gd name="T5" fmla="*/ 19 h 55"/>
                  <a:gd name="T6" fmla="*/ 48 w 61"/>
                  <a:gd name="T7" fmla="*/ 55 h 55"/>
                  <a:gd name="T8" fmla="*/ 51 w 61"/>
                  <a:gd name="T9" fmla="*/ 55 h 55"/>
                  <a:gd name="T10" fmla="*/ 54 w 61"/>
                  <a:gd name="T11" fmla="*/ 54 h 55"/>
                  <a:gd name="T12" fmla="*/ 61 w 61"/>
                  <a:gd name="T13" fmla="*/ 33 h 55"/>
                  <a:gd name="T14" fmla="*/ 28 w 61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55">
                    <a:moveTo>
                      <a:pt x="28" y="0"/>
                    </a:moveTo>
                    <a:cubicBezTo>
                      <a:pt x="17" y="0"/>
                      <a:pt x="7" y="5"/>
                      <a:pt x="1" y="13"/>
                    </a:cubicBezTo>
                    <a:cubicBezTo>
                      <a:pt x="0" y="15"/>
                      <a:pt x="0" y="17"/>
                      <a:pt x="2" y="19"/>
                    </a:cubicBezTo>
                    <a:cubicBezTo>
                      <a:pt x="48" y="55"/>
                      <a:pt x="48" y="55"/>
                      <a:pt x="48" y="55"/>
                    </a:cubicBezTo>
                    <a:cubicBezTo>
                      <a:pt x="49" y="55"/>
                      <a:pt x="50" y="55"/>
                      <a:pt x="51" y="55"/>
                    </a:cubicBezTo>
                    <a:cubicBezTo>
                      <a:pt x="52" y="55"/>
                      <a:pt x="53" y="55"/>
                      <a:pt x="54" y="54"/>
                    </a:cubicBezTo>
                    <a:cubicBezTo>
                      <a:pt x="58" y="48"/>
                      <a:pt x="61" y="41"/>
                      <a:pt x="61" y="33"/>
                    </a:cubicBezTo>
                    <a:cubicBezTo>
                      <a:pt x="61" y="15"/>
                      <a:pt x="46" y="0"/>
                      <a:pt x="2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5" name="Freeform 223"/>
              <p:cNvSpPr>
                <a:spLocks noEditPoints="1"/>
              </p:cNvSpPr>
              <p:nvPr/>
            </p:nvSpPr>
            <p:spPr bwMode="auto">
              <a:xfrm>
                <a:off x="8743951" y="2073275"/>
                <a:ext cx="411163" cy="414338"/>
              </a:xfrm>
              <a:custGeom>
                <a:avLst/>
                <a:gdLst>
                  <a:gd name="T0" fmla="*/ 76 w 151"/>
                  <a:gd name="T1" fmla="*/ 0 h 152"/>
                  <a:gd name="T2" fmla="*/ 0 w 151"/>
                  <a:gd name="T3" fmla="*/ 76 h 152"/>
                  <a:gd name="T4" fmla="*/ 76 w 151"/>
                  <a:gd name="T5" fmla="*/ 152 h 152"/>
                  <a:gd name="T6" fmla="*/ 151 w 151"/>
                  <a:gd name="T7" fmla="*/ 76 h 152"/>
                  <a:gd name="T8" fmla="*/ 76 w 151"/>
                  <a:gd name="T9" fmla="*/ 0 h 152"/>
                  <a:gd name="T10" fmla="*/ 104 w 151"/>
                  <a:gd name="T11" fmla="*/ 82 h 152"/>
                  <a:gd name="T12" fmla="*/ 77 w 151"/>
                  <a:gd name="T13" fmla="*/ 82 h 152"/>
                  <a:gd name="T14" fmla="*/ 71 w 151"/>
                  <a:gd name="T15" fmla="*/ 76 h 152"/>
                  <a:gd name="T16" fmla="*/ 71 w 151"/>
                  <a:gd name="T17" fmla="*/ 24 h 152"/>
                  <a:gd name="T18" fmla="*/ 77 w 151"/>
                  <a:gd name="T19" fmla="*/ 18 h 152"/>
                  <a:gd name="T20" fmla="*/ 83 w 151"/>
                  <a:gd name="T21" fmla="*/ 24 h 152"/>
                  <a:gd name="T22" fmla="*/ 83 w 151"/>
                  <a:gd name="T23" fmla="*/ 70 h 152"/>
                  <a:gd name="T24" fmla="*/ 104 w 151"/>
                  <a:gd name="T25" fmla="*/ 70 h 152"/>
                  <a:gd name="T26" fmla="*/ 110 w 151"/>
                  <a:gd name="T27" fmla="*/ 76 h 152"/>
                  <a:gd name="T28" fmla="*/ 104 w 151"/>
                  <a:gd name="T29" fmla="*/ 82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51" h="152">
                    <a:moveTo>
                      <a:pt x="76" y="0"/>
                    </a:moveTo>
                    <a:cubicBezTo>
                      <a:pt x="34" y="0"/>
                      <a:pt x="0" y="34"/>
                      <a:pt x="0" y="76"/>
                    </a:cubicBezTo>
                    <a:cubicBezTo>
                      <a:pt x="0" y="118"/>
                      <a:pt x="34" y="152"/>
                      <a:pt x="76" y="152"/>
                    </a:cubicBezTo>
                    <a:cubicBezTo>
                      <a:pt x="118" y="152"/>
                      <a:pt x="151" y="118"/>
                      <a:pt x="151" y="76"/>
                    </a:cubicBezTo>
                    <a:cubicBezTo>
                      <a:pt x="151" y="34"/>
                      <a:pt x="118" y="0"/>
                      <a:pt x="76" y="0"/>
                    </a:cubicBezTo>
                    <a:close/>
                    <a:moveTo>
                      <a:pt x="104" y="82"/>
                    </a:moveTo>
                    <a:cubicBezTo>
                      <a:pt x="77" y="82"/>
                      <a:pt x="77" y="82"/>
                      <a:pt x="77" y="82"/>
                    </a:cubicBezTo>
                    <a:cubicBezTo>
                      <a:pt x="73" y="82"/>
                      <a:pt x="71" y="79"/>
                      <a:pt x="71" y="76"/>
                    </a:cubicBezTo>
                    <a:cubicBezTo>
                      <a:pt x="71" y="24"/>
                      <a:pt x="71" y="24"/>
                      <a:pt x="71" y="24"/>
                    </a:cubicBezTo>
                    <a:cubicBezTo>
                      <a:pt x="71" y="21"/>
                      <a:pt x="73" y="18"/>
                      <a:pt x="77" y="18"/>
                    </a:cubicBezTo>
                    <a:cubicBezTo>
                      <a:pt x="80" y="18"/>
                      <a:pt x="83" y="21"/>
                      <a:pt x="83" y="24"/>
                    </a:cubicBezTo>
                    <a:cubicBezTo>
                      <a:pt x="83" y="70"/>
                      <a:pt x="83" y="70"/>
                      <a:pt x="83" y="70"/>
                    </a:cubicBezTo>
                    <a:cubicBezTo>
                      <a:pt x="104" y="70"/>
                      <a:pt x="104" y="70"/>
                      <a:pt x="104" y="70"/>
                    </a:cubicBezTo>
                    <a:cubicBezTo>
                      <a:pt x="107" y="70"/>
                      <a:pt x="110" y="72"/>
                      <a:pt x="110" y="76"/>
                    </a:cubicBezTo>
                    <a:cubicBezTo>
                      <a:pt x="110" y="79"/>
                      <a:pt x="107" y="82"/>
                      <a:pt x="104" y="8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grpSp>
        <p:nvGrpSpPr>
          <p:cNvPr id="3" name="组合 2"/>
          <p:cNvGrpSpPr/>
          <p:nvPr/>
        </p:nvGrpSpPr>
        <p:grpSpPr>
          <a:xfrm>
            <a:off x="7302892" y="4888469"/>
            <a:ext cx="4188068" cy="523220"/>
            <a:chOff x="7409572" y="4812269"/>
            <a:chExt cx="4188068" cy="523220"/>
          </a:xfrm>
        </p:grpSpPr>
        <p:sp>
          <p:nvSpPr>
            <p:cNvPr id="67" name="Text Box 11"/>
            <p:cNvSpPr txBox="1">
              <a:spLocks noChangeArrowheads="1"/>
            </p:cNvSpPr>
            <p:nvPr/>
          </p:nvSpPr>
          <p:spPr bwMode="auto">
            <a:xfrm>
              <a:off x="8100387" y="4812269"/>
              <a:ext cx="3497253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 smtClean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左右孩子指针均为空</a:t>
              </a:r>
              <a:endPara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3" name="右箭头 72"/>
            <p:cNvSpPr/>
            <p:nvPr/>
          </p:nvSpPr>
          <p:spPr>
            <a:xfrm>
              <a:off x="7409572" y="4913163"/>
              <a:ext cx="576000" cy="324000"/>
            </a:xfrm>
            <a:prstGeom prst="rightArrow">
              <a:avLst/>
            </a:prstGeom>
            <a:noFill/>
            <a:ln w="28575">
              <a:solidFill>
                <a:srgbClr val="507D7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6" name="TextBox 55"/>
          <p:cNvSpPr txBox="1"/>
          <p:nvPr/>
        </p:nvSpPr>
        <p:spPr>
          <a:xfrm>
            <a:off x="3614578" y="1052206"/>
            <a:ext cx="12906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root</a:t>
            </a:r>
            <a:endParaRPr lang="zh-CN" altLang="en-US" sz="2800" dirty="0">
              <a:solidFill>
                <a:srgbClr val="B42D2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ounded Rectangle 10"/>
          <p:cNvSpPr/>
          <p:nvPr/>
        </p:nvSpPr>
        <p:spPr>
          <a:xfrm>
            <a:off x="542923" y="100964"/>
            <a:ext cx="4788000" cy="540000"/>
          </a:xfrm>
          <a:prstGeom prst="roundRect">
            <a:avLst/>
          </a:prstGeom>
          <a:solidFill>
            <a:srgbClr val="5A32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Text Box 2"/>
          <p:cNvSpPr txBox="1">
            <a:spLocks noChangeArrowheads="1"/>
          </p:cNvSpPr>
          <p:nvPr/>
        </p:nvSpPr>
        <p:spPr bwMode="auto">
          <a:xfrm>
            <a:off x="638167" y="61585"/>
            <a:ext cx="507762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二叉链表的存储结构定义</a:t>
            </a:r>
            <a:endParaRPr lang="zh-CN" altLang="en-US" sz="32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75" name="Group 87"/>
          <p:cNvGrpSpPr/>
          <p:nvPr/>
        </p:nvGrpSpPr>
        <p:grpSpPr bwMode="auto">
          <a:xfrm>
            <a:off x="1737519" y="4214813"/>
            <a:ext cx="1439862" cy="1050925"/>
            <a:chOff x="720" y="2679"/>
            <a:chExt cx="907" cy="662"/>
          </a:xfrm>
          <a:noFill/>
        </p:grpSpPr>
        <p:sp>
          <p:nvSpPr>
            <p:cNvPr id="76" name="Rectangle 62"/>
            <p:cNvSpPr>
              <a:spLocks noChangeArrowheads="1"/>
            </p:cNvSpPr>
            <p:nvPr/>
          </p:nvSpPr>
          <p:spPr bwMode="auto">
            <a:xfrm>
              <a:off x="720" y="3092"/>
              <a:ext cx="907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10800" rIns="18000" bIns="10800">
              <a:flatTx/>
            </a:bodyPr>
            <a:lstStyle/>
            <a:p>
              <a:endParaRPr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7" name="Rectangle 63"/>
            <p:cNvSpPr>
              <a:spLocks noChangeArrowheads="1"/>
            </p:cNvSpPr>
            <p:nvPr/>
          </p:nvSpPr>
          <p:spPr bwMode="auto">
            <a:xfrm>
              <a:off x="1031" y="3092"/>
              <a:ext cx="284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0" rIns="18000" bIns="10800">
              <a:flatTx/>
            </a:bodyPr>
            <a:lstStyle/>
            <a:p>
              <a:pPr algn="just"/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Angsana New" panose="02020603050405020304" pitchFamily="18" charset="-34"/>
                </a:rPr>
                <a:t>G</a:t>
              </a:r>
              <a:endPara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ngsana New" panose="02020603050405020304" pitchFamily="18" charset="-34"/>
              </a:endParaRPr>
            </a:p>
          </p:txBody>
        </p:sp>
        <p:sp>
          <p:nvSpPr>
            <p:cNvPr id="78" name="Freeform 32"/>
            <p:cNvSpPr/>
            <p:nvPr/>
          </p:nvSpPr>
          <p:spPr bwMode="auto">
            <a:xfrm>
              <a:off x="889" y="2679"/>
              <a:ext cx="319" cy="385"/>
            </a:xfrm>
            <a:custGeom>
              <a:avLst/>
              <a:gdLst>
                <a:gd name="T0" fmla="*/ 0 w 444"/>
                <a:gd name="T1" fmla="*/ 0 h 523"/>
                <a:gd name="T2" fmla="*/ 444 w 444"/>
                <a:gd name="T3" fmla="*/ 523 h 5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44" h="523">
                  <a:moveTo>
                    <a:pt x="0" y="0"/>
                  </a:moveTo>
                  <a:lnTo>
                    <a:pt x="444" y="523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prstDash val="solid"/>
              <a:round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9" name="Group 84"/>
          <p:cNvGrpSpPr/>
          <p:nvPr/>
        </p:nvGrpSpPr>
        <p:grpSpPr bwMode="auto">
          <a:xfrm>
            <a:off x="4996656" y="3122613"/>
            <a:ext cx="1439863" cy="1182688"/>
            <a:chOff x="2773" y="1991"/>
            <a:chExt cx="907" cy="745"/>
          </a:xfrm>
          <a:noFill/>
        </p:grpSpPr>
        <p:sp>
          <p:nvSpPr>
            <p:cNvPr id="80" name="Rectangle 70"/>
            <p:cNvSpPr>
              <a:spLocks noChangeArrowheads="1"/>
            </p:cNvSpPr>
            <p:nvPr/>
          </p:nvSpPr>
          <p:spPr bwMode="auto">
            <a:xfrm>
              <a:off x="2773" y="2487"/>
              <a:ext cx="907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10800" rIns="18000" bIns="10800">
              <a:flatTx/>
            </a:bodyPr>
            <a:lstStyle/>
            <a:p>
              <a:endParaRPr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1" name="Rectangle 71"/>
            <p:cNvSpPr>
              <a:spLocks noChangeArrowheads="1"/>
            </p:cNvSpPr>
            <p:nvPr/>
          </p:nvSpPr>
          <p:spPr bwMode="auto">
            <a:xfrm>
              <a:off x="3084" y="2487"/>
              <a:ext cx="284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0" rIns="18000" bIns="10800">
              <a:flatTx/>
            </a:bodyPr>
            <a:lstStyle/>
            <a:p>
              <a:pPr algn="just"/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Angsana New" panose="02020603050405020304" pitchFamily="18" charset="-34"/>
                </a:rPr>
                <a:t>F</a:t>
              </a:r>
              <a:endPara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ngsana New" panose="02020603050405020304" pitchFamily="18" charset="-34"/>
              </a:endParaRPr>
            </a:p>
          </p:txBody>
        </p:sp>
        <p:sp>
          <p:nvSpPr>
            <p:cNvPr id="82" name="Line 31"/>
            <p:cNvSpPr>
              <a:spLocks noChangeShapeType="1"/>
            </p:cNvSpPr>
            <p:nvPr/>
          </p:nvSpPr>
          <p:spPr bwMode="auto">
            <a:xfrm>
              <a:off x="2946" y="1991"/>
              <a:ext cx="292" cy="458"/>
            </a:xfrm>
            <a:prstGeom prst="line">
              <a:avLst/>
            </a:prstGeom>
            <a:grpFill/>
            <a:ln w="28575">
              <a:solidFill>
                <a:srgbClr val="285A32"/>
              </a:solidFill>
              <a:prstDash val="solid"/>
              <a:round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3" name="Group 83"/>
          <p:cNvGrpSpPr/>
          <p:nvPr/>
        </p:nvGrpSpPr>
        <p:grpSpPr bwMode="auto">
          <a:xfrm>
            <a:off x="3137694" y="3122613"/>
            <a:ext cx="1439862" cy="1184275"/>
            <a:chOff x="1602" y="1991"/>
            <a:chExt cx="907" cy="746"/>
          </a:xfrm>
          <a:noFill/>
        </p:grpSpPr>
        <p:sp>
          <p:nvSpPr>
            <p:cNvPr id="84" name="Rectangle 66"/>
            <p:cNvSpPr>
              <a:spLocks noChangeArrowheads="1"/>
            </p:cNvSpPr>
            <p:nvPr/>
          </p:nvSpPr>
          <p:spPr bwMode="auto">
            <a:xfrm>
              <a:off x="1602" y="2488"/>
              <a:ext cx="907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10800" rIns="18000" bIns="10800">
              <a:flatTx/>
            </a:bodyPr>
            <a:lstStyle/>
            <a:p>
              <a:endParaRPr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5" name="Rectangle 67"/>
            <p:cNvSpPr>
              <a:spLocks noChangeArrowheads="1"/>
            </p:cNvSpPr>
            <p:nvPr/>
          </p:nvSpPr>
          <p:spPr bwMode="auto">
            <a:xfrm>
              <a:off x="1913" y="2488"/>
              <a:ext cx="284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0" rIns="18000" bIns="10800">
              <a:flatTx/>
            </a:bodyPr>
            <a:lstStyle/>
            <a:p>
              <a:pPr algn="just"/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Angsana New" panose="02020603050405020304" pitchFamily="18" charset="-34"/>
                </a:rPr>
                <a:t>E</a:t>
              </a:r>
              <a:endPara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ngsana New" panose="02020603050405020304" pitchFamily="18" charset="-34"/>
              </a:endParaRPr>
            </a:p>
          </p:txBody>
        </p:sp>
        <p:sp>
          <p:nvSpPr>
            <p:cNvPr id="86" name="Line 30"/>
            <p:cNvSpPr>
              <a:spLocks noChangeShapeType="1"/>
            </p:cNvSpPr>
            <p:nvPr/>
          </p:nvSpPr>
          <p:spPr bwMode="auto">
            <a:xfrm flipH="1">
              <a:off x="2069" y="1991"/>
              <a:ext cx="292" cy="458"/>
            </a:xfrm>
            <a:prstGeom prst="line">
              <a:avLst/>
            </a:prstGeom>
            <a:grpFill/>
            <a:ln w="28575">
              <a:solidFill>
                <a:srgbClr val="285A32"/>
              </a:solidFill>
              <a:prstDash val="solid"/>
              <a:round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7" name="Group 82"/>
          <p:cNvGrpSpPr/>
          <p:nvPr/>
        </p:nvGrpSpPr>
        <p:grpSpPr bwMode="auto">
          <a:xfrm>
            <a:off x="853281" y="3122613"/>
            <a:ext cx="1439863" cy="1171575"/>
            <a:chOff x="163" y="1991"/>
            <a:chExt cx="907" cy="738"/>
          </a:xfrm>
          <a:noFill/>
        </p:grpSpPr>
        <p:sp>
          <p:nvSpPr>
            <p:cNvPr id="88" name="Rectangle 59"/>
            <p:cNvSpPr>
              <a:spLocks noChangeArrowheads="1"/>
            </p:cNvSpPr>
            <p:nvPr/>
          </p:nvSpPr>
          <p:spPr bwMode="auto">
            <a:xfrm>
              <a:off x="163" y="2480"/>
              <a:ext cx="907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10800" rIns="18000" bIns="10800">
              <a:flatTx/>
            </a:bodyPr>
            <a:lstStyle/>
            <a:p>
              <a:endParaRPr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9" name="Rectangle 60"/>
            <p:cNvSpPr>
              <a:spLocks noChangeArrowheads="1"/>
            </p:cNvSpPr>
            <p:nvPr/>
          </p:nvSpPr>
          <p:spPr bwMode="auto">
            <a:xfrm>
              <a:off x="474" y="2480"/>
              <a:ext cx="284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0" rIns="18000" bIns="10800">
              <a:flatTx/>
            </a:bodyPr>
            <a:lstStyle/>
            <a:p>
              <a:pPr algn="just"/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Angsana New" panose="02020603050405020304" pitchFamily="18" charset="-34"/>
                </a:rPr>
                <a:t>D</a:t>
              </a:r>
              <a:endPara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ngsana New" panose="02020603050405020304" pitchFamily="18" charset="-34"/>
              </a:endParaRPr>
            </a:p>
          </p:txBody>
        </p:sp>
        <p:sp>
          <p:nvSpPr>
            <p:cNvPr id="90" name="Line 29"/>
            <p:cNvSpPr>
              <a:spLocks noChangeShapeType="1"/>
            </p:cNvSpPr>
            <p:nvPr/>
          </p:nvSpPr>
          <p:spPr bwMode="auto">
            <a:xfrm flipH="1">
              <a:off x="607" y="1991"/>
              <a:ext cx="292" cy="458"/>
            </a:xfrm>
            <a:prstGeom prst="line">
              <a:avLst/>
            </a:prstGeom>
            <a:grpFill/>
            <a:ln w="28575">
              <a:solidFill>
                <a:srgbClr val="285A32"/>
              </a:solidFill>
              <a:prstDash val="solid"/>
              <a:round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1" name="Group 80"/>
          <p:cNvGrpSpPr/>
          <p:nvPr/>
        </p:nvGrpSpPr>
        <p:grpSpPr bwMode="auto">
          <a:xfrm>
            <a:off x="1753394" y="2101851"/>
            <a:ext cx="1473200" cy="1101725"/>
            <a:chOff x="730" y="1348"/>
            <a:chExt cx="928" cy="694"/>
          </a:xfrm>
          <a:noFill/>
        </p:grpSpPr>
        <p:sp>
          <p:nvSpPr>
            <p:cNvPr id="92" name="Rectangle 57"/>
            <p:cNvSpPr>
              <a:spLocks noChangeArrowheads="1"/>
            </p:cNvSpPr>
            <p:nvPr/>
          </p:nvSpPr>
          <p:spPr bwMode="auto">
            <a:xfrm>
              <a:off x="730" y="1793"/>
              <a:ext cx="907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10800" rIns="18000" bIns="10800">
              <a:flatTx/>
            </a:bodyPr>
            <a:lstStyle/>
            <a:p>
              <a:endParaRPr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3" name="Rectangle 58"/>
            <p:cNvSpPr>
              <a:spLocks noChangeArrowheads="1"/>
            </p:cNvSpPr>
            <p:nvPr/>
          </p:nvSpPr>
          <p:spPr bwMode="auto">
            <a:xfrm>
              <a:off x="1041" y="1793"/>
              <a:ext cx="284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0" rIns="18000" bIns="10800">
              <a:flatTx/>
            </a:bodyPr>
            <a:lstStyle/>
            <a:p>
              <a:pPr algn="just"/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Angsana New" panose="02020603050405020304" pitchFamily="18" charset="-34"/>
                </a:rPr>
                <a:t>B</a:t>
              </a:r>
              <a:endPara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ngsana New" panose="02020603050405020304" pitchFamily="18" charset="-34"/>
              </a:endParaRPr>
            </a:p>
          </p:txBody>
        </p:sp>
        <p:sp>
          <p:nvSpPr>
            <p:cNvPr id="94" name="Freeform 27"/>
            <p:cNvSpPr/>
            <p:nvPr/>
          </p:nvSpPr>
          <p:spPr bwMode="auto">
            <a:xfrm>
              <a:off x="1262" y="1348"/>
              <a:ext cx="396" cy="400"/>
            </a:xfrm>
            <a:custGeom>
              <a:avLst/>
              <a:gdLst>
                <a:gd name="T0" fmla="*/ 550 w 550"/>
                <a:gd name="T1" fmla="*/ 0 h 544"/>
                <a:gd name="T2" fmla="*/ 0 w 550"/>
                <a:gd name="T3" fmla="*/ 544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50" h="544">
                  <a:moveTo>
                    <a:pt x="550" y="0"/>
                  </a:moveTo>
                  <a:lnTo>
                    <a:pt x="0" y="544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prstDash val="solid"/>
              <a:round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5" name="Group 92"/>
          <p:cNvGrpSpPr/>
          <p:nvPr/>
        </p:nvGrpSpPr>
        <p:grpSpPr bwMode="auto">
          <a:xfrm>
            <a:off x="3036094" y="1296988"/>
            <a:ext cx="1439862" cy="863600"/>
            <a:chOff x="1493" y="1120"/>
            <a:chExt cx="907" cy="544"/>
          </a:xfrm>
          <a:noFill/>
        </p:grpSpPr>
        <p:sp>
          <p:nvSpPr>
            <p:cNvPr id="96" name="Rectangle 6"/>
            <p:cNvSpPr>
              <a:spLocks noChangeArrowheads="1"/>
            </p:cNvSpPr>
            <p:nvPr/>
          </p:nvSpPr>
          <p:spPr bwMode="auto">
            <a:xfrm>
              <a:off x="1493" y="1415"/>
              <a:ext cx="907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10800" rIns="18000" bIns="10800">
              <a:flatTx/>
            </a:bodyPr>
            <a:lstStyle/>
            <a:p>
              <a:endParaRPr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7" name="Rectangle 8"/>
            <p:cNvSpPr>
              <a:spLocks noChangeArrowheads="1"/>
            </p:cNvSpPr>
            <p:nvPr/>
          </p:nvSpPr>
          <p:spPr bwMode="auto">
            <a:xfrm>
              <a:off x="1804" y="1415"/>
              <a:ext cx="284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0" rIns="18000" bIns="10800">
              <a:flatTx/>
            </a:bodyPr>
            <a:lstStyle/>
            <a:p>
              <a:pPr algn="just"/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Angsana New" panose="02020603050405020304" pitchFamily="18" charset="-34"/>
                </a:rPr>
                <a:t>A</a:t>
              </a:r>
              <a:endPara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ngsana New" panose="02020603050405020304" pitchFamily="18" charset="-34"/>
              </a:endParaRPr>
            </a:p>
          </p:txBody>
        </p:sp>
        <p:sp>
          <p:nvSpPr>
            <p:cNvPr id="98" name="Line 33"/>
            <p:cNvSpPr>
              <a:spLocks noChangeShapeType="1"/>
            </p:cNvSpPr>
            <p:nvPr/>
          </p:nvSpPr>
          <p:spPr bwMode="auto">
            <a:xfrm>
              <a:off x="1726" y="1120"/>
              <a:ext cx="208" cy="276"/>
            </a:xfrm>
            <a:prstGeom prst="line">
              <a:avLst/>
            </a:prstGeom>
            <a:grpFill/>
            <a:ln w="28575">
              <a:solidFill>
                <a:srgbClr val="B42D2D"/>
              </a:solidFill>
              <a:prstDash val="solid"/>
              <a:round/>
              <a:tailEnd type="stealth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9" name="Rectangle 7"/>
          <p:cNvSpPr>
            <a:spLocks noChangeArrowheads="1"/>
          </p:cNvSpPr>
          <p:nvPr/>
        </p:nvSpPr>
        <p:spPr bwMode="auto">
          <a:xfrm>
            <a:off x="2759869" y="2809876"/>
            <a:ext cx="422275" cy="365125"/>
          </a:xfrm>
          <a:prstGeom prst="rect">
            <a:avLst/>
          </a:prstGeom>
          <a:noFill/>
          <a:ln w="28575">
            <a:noFill/>
            <a:prstDash val="solid"/>
          </a:ln>
        </p:spPr>
        <p:txBody>
          <a:bodyPr lIns="54000" tIns="10800" rIns="18000" bIns="10800"/>
          <a:lstStyle/>
          <a:p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∧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0" name="Rectangle 61"/>
          <p:cNvSpPr>
            <a:spLocks noChangeArrowheads="1"/>
          </p:cNvSpPr>
          <p:nvPr/>
        </p:nvSpPr>
        <p:spPr bwMode="auto">
          <a:xfrm>
            <a:off x="915194" y="3884613"/>
            <a:ext cx="422275" cy="365125"/>
          </a:xfrm>
          <a:prstGeom prst="rect">
            <a:avLst/>
          </a:prstGeom>
          <a:noFill/>
          <a:ln w="28575">
            <a:noFill/>
            <a:prstDash val="solid"/>
          </a:ln>
        </p:spPr>
        <p:txBody>
          <a:bodyPr lIns="54000" tIns="10800" rIns="18000" bIns="10800"/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∧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01" name="Group 88"/>
          <p:cNvGrpSpPr/>
          <p:nvPr/>
        </p:nvGrpSpPr>
        <p:grpSpPr bwMode="auto">
          <a:xfrm>
            <a:off x="1799431" y="4856163"/>
            <a:ext cx="1366838" cy="381000"/>
            <a:chOff x="759" y="3083"/>
            <a:chExt cx="861" cy="240"/>
          </a:xfrm>
          <a:noFill/>
        </p:grpSpPr>
        <p:sp>
          <p:nvSpPr>
            <p:cNvPr id="102" name="Rectangle 64"/>
            <p:cNvSpPr>
              <a:spLocks noChangeArrowheads="1"/>
            </p:cNvSpPr>
            <p:nvPr/>
          </p:nvSpPr>
          <p:spPr bwMode="auto">
            <a:xfrm>
              <a:off x="759" y="3083"/>
              <a:ext cx="266" cy="230"/>
            </a:xfrm>
            <a:prstGeom prst="rect">
              <a:avLst/>
            </a:prstGeom>
            <a:noFill/>
            <a:ln w="28575">
              <a:noFill/>
              <a:prstDash val="solid"/>
            </a:ln>
          </p:spPr>
          <p:txBody>
            <a:bodyPr lIns="54000" tIns="10800" rIns="18000" bIns="10800"/>
            <a:lstStyle/>
            <a:p>
              <a:r>
                <a:rPr lang="zh-CN" altLang="en-US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∧</a:t>
              </a:r>
              <a:endParaRPr lang="zh-CN" altLang="en-US" sz="2400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3" name="Rectangle 65"/>
            <p:cNvSpPr>
              <a:spLocks noChangeArrowheads="1"/>
            </p:cNvSpPr>
            <p:nvPr/>
          </p:nvSpPr>
          <p:spPr bwMode="auto">
            <a:xfrm>
              <a:off x="1354" y="3093"/>
              <a:ext cx="266" cy="230"/>
            </a:xfrm>
            <a:prstGeom prst="rect">
              <a:avLst/>
            </a:prstGeom>
            <a:noFill/>
            <a:ln w="28575">
              <a:noFill/>
              <a:prstDash val="solid"/>
            </a:ln>
          </p:spPr>
          <p:txBody>
            <a:bodyPr lIns="54000" tIns="10800" rIns="18000" bIns="10800"/>
            <a:lstStyle/>
            <a:p>
              <a:r>
                <a:rPr lang="zh-CN" altLang="en-US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∧</a:t>
              </a:r>
              <a:endParaRPr lang="zh-CN" altLang="en-US" sz="2400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04" name="Group 85"/>
          <p:cNvGrpSpPr/>
          <p:nvPr/>
        </p:nvGrpSpPr>
        <p:grpSpPr bwMode="auto">
          <a:xfrm>
            <a:off x="3199606" y="3897313"/>
            <a:ext cx="1366838" cy="381000"/>
            <a:chOff x="1641" y="2479"/>
            <a:chExt cx="861" cy="240"/>
          </a:xfrm>
          <a:noFill/>
        </p:grpSpPr>
        <p:sp>
          <p:nvSpPr>
            <p:cNvPr id="105" name="Rectangle 68"/>
            <p:cNvSpPr>
              <a:spLocks noChangeArrowheads="1"/>
            </p:cNvSpPr>
            <p:nvPr/>
          </p:nvSpPr>
          <p:spPr bwMode="auto">
            <a:xfrm>
              <a:off x="1641" y="2479"/>
              <a:ext cx="266" cy="230"/>
            </a:xfrm>
            <a:prstGeom prst="rect">
              <a:avLst/>
            </a:prstGeom>
            <a:noFill/>
            <a:ln w="28575">
              <a:noFill/>
              <a:prstDash val="solid"/>
            </a:ln>
          </p:spPr>
          <p:txBody>
            <a:bodyPr lIns="54000" tIns="10800" rIns="18000" bIns="10800"/>
            <a:lstStyle/>
            <a:p>
              <a:r>
                <a:rPr lang="zh-CN" altLang="en-US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∧</a:t>
              </a:r>
              <a:endParaRPr lang="zh-CN" altLang="en-US" sz="2400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6" name="Rectangle 69"/>
            <p:cNvSpPr>
              <a:spLocks noChangeArrowheads="1"/>
            </p:cNvSpPr>
            <p:nvPr/>
          </p:nvSpPr>
          <p:spPr bwMode="auto">
            <a:xfrm>
              <a:off x="2236" y="2489"/>
              <a:ext cx="266" cy="230"/>
            </a:xfrm>
            <a:prstGeom prst="rect">
              <a:avLst/>
            </a:prstGeom>
            <a:noFill/>
            <a:ln w="28575">
              <a:noFill/>
              <a:prstDash val="solid"/>
            </a:ln>
          </p:spPr>
          <p:txBody>
            <a:bodyPr lIns="54000" tIns="10800" rIns="18000" bIns="10800"/>
            <a:lstStyle/>
            <a:p>
              <a:r>
                <a:rPr lang="zh-CN" altLang="en-US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∧</a:t>
              </a:r>
              <a:endParaRPr lang="zh-CN" altLang="en-US" sz="2400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07" name="Group 86"/>
          <p:cNvGrpSpPr/>
          <p:nvPr/>
        </p:nvGrpSpPr>
        <p:grpSpPr bwMode="auto">
          <a:xfrm>
            <a:off x="5058569" y="3895726"/>
            <a:ext cx="1366837" cy="381000"/>
            <a:chOff x="2812" y="2478"/>
            <a:chExt cx="861" cy="240"/>
          </a:xfrm>
          <a:noFill/>
        </p:grpSpPr>
        <p:sp>
          <p:nvSpPr>
            <p:cNvPr id="108" name="Rectangle 72"/>
            <p:cNvSpPr>
              <a:spLocks noChangeArrowheads="1"/>
            </p:cNvSpPr>
            <p:nvPr/>
          </p:nvSpPr>
          <p:spPr bwMode="auto">
            <a:xfrm>
              <a:off x="2812" y="2478"/>
              <a:ext cx="266" cy="230"/>
            </a:xfrm>
            <a:prstGeom prst="rect">
              <a:avLst/>
            </a:prstGeom>
            <a:noFill/>
            <a:ln w="28575">
              <a:noFill/>
              <a:prstDash val="solid"/>
            </a:ln>
          </p:spPr>
          <p:txBody>
            <a:bodyPr lIns="54000" tIns="10800" rIns="18000" bIns="10800"/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∧</a:t>
              </a:r>
              <a:endPara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9" name="Rectangle 73"/>
            <p:cNvSpPr>
              <a:spLocks noChangeArrowheads="1"/>
            </p:cNvSpPr>
            <p:nvPr/>
          </p:nvSpPr>
          <p:spPr bwMode="auto">
            <a:xfrm>
              <a:off x="3407" y="2488"/>
              <a:ext cx="266" cy="230"/>
            </a:xfrm>
            <a:prstGeom prst="rect">
              <a:avLst/>
            </a:prstGeom>
            <a:grpFill/>
            <a:ln w="28575">
              <a:noFill/>
              <a:prstDash val="solid"/>
              <a:miter lim="800000"/>
            </a:ln>
          </p:spPr>
          <p:txBody>
            <a:bodyPr lIns="54000" tIns="10800" rIns="18000" bIns="10800"/>
            <a:lstStyle/>
            <a:p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∧</a:t>
              </a:r>
              <a:endPara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10" name="Group 81"/>
          <p:cNvGrpSpPr/>
          <p:nvPr/>
        </p:nvGrpSpPr>
        <p:grpSpPr bwMode="auto">
          <a:xfrm>
            <a:off x="3980656" y="2101851"/>
            <a:ext cx="1439863" cy="1087437"/>
            <a:chOff x="2133" y="1348"/>
            <a:chExt cx="907" cy="685"/>
          </a:xfrm>
          <a:noFill/>
        </p:grpSpPr>
        <p:sp>
          <p:nvSpPr>
            <p:cNvPr id="111" name="Freeform 28"/>
            <p:cNvSpPr/>
            <p:nvPr/>
          </p:nvSpPr>
          <p:spPr bwMode="auto">
            <a:xfrm>
              <a:off x="2242" y="1348"/>
              <a:ext cx="338" cy="400"/>
            </a:xfrm>
            <a:custGeom>
              <a:avLst/>
              <a:gdLst>
                <a:gd name="T0" fmla="*/ 0 w 469"/>
                <a:gd name="T1" fmla="*/ 0 h 544"/>
                <a:gd name="T2" fmla="*/ 469 w 469"/>
                <a:gd name="T3" fmla="*/ 544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69" h="544">
                  <a:moveTo>
                    <a:pt x="0" y="0"/>
                  </a:moveTo>
                  <a:lnTo>
                    <a:pt x="469" y="544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prstDash val="solid"/>
              <a:round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" name="Rectangle 74"/>
            <p:cNvSpPr>
              <a:spLocks noChangeArrowheads="1"/>
            </p:cNvSpPr>
            <p:nvPr/>
          </p:nvSpPr>
          <p:spPr bwMode="auto">
            <a:xfrm>
              <a:off x="2133" y="1784"/>
              <a:ext cx="907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10800" rIns="18000" bIns="10800">
              <a:flatTx/>
            </a:bodyPr>
            <a:lstStyle/>
            <a:p>
              <a:endParaRPr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3" name="Rectangle 75"/>
            <p:cNvSpPr>
              <a:spLocks noChangeArrowheads="1"/>
            </p:cNvSpPr>
            <p:nvPr/>
          </p:nvSpPr>
          <p:spPr bwMode="auto">
            <a:xfrm>
              <a:off x="2444" y="1784"/>
              <a:ext cx="284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0" rIns="18000" bIns="10800">
              <a:flatTx/>
            </a:bodyPr>
            <a:lstStyle/>
            <a:p>
              <a:pPr algn="just"/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Angsana New" panose="02020603050405020304" pitchFamily="18" charset="-34"/>
                </a:rPr>
                <a:t>C</a:t>
              </a:r>
              <a:endPara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ngsana New" panose="02020603050405020304" pitchFamily="18" charset="-34"/>
              </a:endParaRPr>
            </a:p>
          </p:txBody>
        </p:sp>
      </p:grpSp>
      <p:grpSp>
        <p:nvGrpSpPr>
          <p:cNvPr id="59" name="组合 58"/>
          <p:cNvGrpSpPr/>
          <p:nvPr/>
        </p:nvGrpSpPr>
        <p:grpSpPr>
          <a:xfrm>
            <a:off x="3750151" y="4882685"/>
            <a:ext cx="7405529" cy="523220"/>
            <a:chOff x="1826091" y="4148024"/>
            <a:chExt cx="7405529" cy="523220"/>
          </a:xfrm>
        </p:grpSpPr>
        <p:sp>
          <p:nvSpPr>
            <p:cNvPr id="60" name="Text Box 11"/>
            <p:cNvSpPr txBox="1">
              <a:spLocks noChangeArrowheads="1"/>
            </p:cNvSpPr>
            <p:nvPr/>
          </p:nvSpPr>
          <p:spPr bwMode="auto">
            <a:xfrm>
              <a:off x="2385059" y="4148024"/>
              <a:ext cx="6846561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i="1" dirty="0" smtClean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n </a:t>
              </a:r>
              <a:r>
                <a:rPr lang="zh-CN" altLang="en-US" sz="2800" dirty="0" smtClean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个结点的二叉链表有多少个空指针？</a:t>
              </a:r>
              <a:endParaRPr lang="zh-CN" altLang="en-US" sz="28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61" name="Group 31"/>
            <p:cNvGrpSpPr/>
            <p:nvPr/>
          </p:nvGrpSpPr>
          <p:grpSpPr>
            <a:xfrm>
              <a:off x="1826091" y="4213620"/>
              <a:ext cx="465732" cy="432000"/>
              <a:chOff x="8686801" y="2019300"/>
              <a:chExt cx="528638" cy="565150"/>
            </a:xfrm>
            <a:solidFill>
              <a:srgbClr val="5A327D"/>
            </a:solidFill>
          </p:grpSpPr>
          <p:sp>
            <p:nvSpPr>
              <p:cNvPr id="62" name="Freeform 32"/>
              <p:cNvSpPr/>
              <p:nvPr/>
            </p:nvSpPr>
            <p:spPr bwMode="auto">
              <a:xfrm>
                <a:off x="8785226" y="2501900"/>
                <a:ext cx="331788" cy="82550"/>
              </a:xfrm>
              <a:custGeom>
                <a:avLst/>
                <a:gdLst>
                  <a:gd name="T0" fmla="*/ 121 w 122"/>
                  <a:gd name="T1" fmla="*/ 24 h 30"/>
                  <a:gd name="T2" fmla="*/ 107 w 122"/>
                  <a:gd name="T3" fmla="*/ 2 h 30"/>
                  <a:gd name="T4" fmla="*/ 104 w 122"/>
                  <a:gd name="T5" fmla="*/ 0 h 30"/>
                  <a:gd name="T6" fmla="*/ 62 w 122"/>
                  <a:gd name="T7" fmla="*/ 0 h 30"/>
                  <a:gd name="T8" fmla="*/ 60 w 122"/>
                  <a:gd name="T9" fmla="*/ 0 h 30"/>
                  <a:gd name="T10" fmla="*/ 18 w 122"/>
                  <a:gd name="T11" fmla="*/ 0 h 30"/>
                  <a:gd name="T12" fmla="*/ 15 w 122"/>
                  <a:gd name="T13" fmla="*/ 2 h 30"/>
                  <a:gd name="T14" fmla="*/ 1 w 122"/>
                  <a:gd name="T15" fmla="*/ 24 h 30"/>
                  <a:gd name="T16" fmla="*/ 2 w 122"/>
                  <a:gd name="T17" fmla="*/ 29 h 30"/>
                  <a:gd name="T18" fmla="*/ 4 w 122"/>
                  <a:gd name="T19" fmla="*/ 30 h 30"/>
                  <a:gd name="T20" fmla="*/ 8 w 122"/>
                  <a:gd name="T21" fmla="*/ 28 h 30"/>
                  <a:gd name="T22" fmla="*/ 20 w 122"/>
                  <a:gd name="T23" fmla="*/ 8 h 30"/>
                  <a:gd name="T24" fmla="*/ 60 w 122"/>
                  <a:gd name="T25" fmla="*/ 8 h 30"/>
                  <a:gd name="T26" fmla="*/ 62 w 122"/>
                  <a:gd name="T27" fmla="*/ 8 h 30"/>
                  <a:gd name="T28" fmla="*/ 102 w 122"/>
                  <a:gd name="T29" fmla="*/ 8 h 30"/>
                  <a:gd name="T30" fmla="*/ 114 w 122"/>
                  <a:gd name="T31" fmla="*/ 28 h 30"/>
                  <a:gd name="T32" fmla="*/ 118 w 122"/>
                  <a:gd name="T33" fmla="*/ 30 h 30"/>
                  <a:gd name="T34" fmla="*/ 120 w 122"/>
                  <a:gd name="T35" fmla="*/ 29 h 30"/>
                  <a:gd name="T36" fmla="*/ 121 w 122"/>
                  <a:gd name="T37" fmla="*/ 24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2" h="30">
                    <a:moveTo>
                      <a:pt x="121" y="24"/>
                    </a:moveTo>
                    <a:cubicBezTo>
                      <a:pt x="107" y="2"/>
                      <a:pt x="107" y="2"/>
                      <a:pt x="107" y="2"/>
                    </a:cubicBezTo>
                    <a:cubicBezTo>
                      <a:pt x="106" y="1"/>
                      <a:pt x="105" y="0"/>
                      <a:pt x="104" y="0"/>
                    </a:cubicBezTo>
                    <a:cubicBezTo>
                      <a:pt x="62" y="0"/>
                      <a:pt x="62" y="0"/>
                      <a:pt x="62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7" y="0"/>
                      <a:pt x="15" y="1"/>
                      <a:pt x="15" y="2"/>
                    </a:cubicBezTo>
                    <a:cubicBezTo>
                      <a:pt x="1" y="24"/>
                      <a:pt x="1" y="24"/>
                      <a:pt x="1" y="24"/>
                    </a:cubicBezTo>
                    <a:cubicBezTo>
                      <a:pt x="0" y="26"/>
                      <a:pt x="0" y="28"/>
                      <a:pt x="2" y="29"/>
                    </a:cubicBezTo>
                    <a:cubicBezTo>
                      <a:pt x="3" y="30"/>
                      <a:pt x="3" y="30"/>
                      <a:pt x="4" y="30"/>
                    </a:cubicBezTo>
                    <a:cubicBezTo>
                      <a:pt x="6" y="30"/>
                      <a:pt x="7" y="29"/>
                      <a:pt x="8" y="28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60" y="8"/>
                      <a:pt x="60" y="8"/>
                      <a:pt x="60" y="8"/>
                    </a:cubicBezTo>
                    <a:cubicBezTo>
                      <a:pt x="62" y="8"/>
                      <a:pt x="62" y="8"/>
                      <a:pt x="62" y="8"/>
                    </a:cubicBezTo>
                    <a:cubicBezTo>
                      <a:pt x="102" y="8"/>
                      <a:pt x="102" y="8"/>
                      <a:pt x="102" y="8"/>
                    </a:cubicBezTo>
                    <a:cubicBezTo>
                      <a:pt x="114" y="28"/>
                      <a:pt x="114" y="28"/>
                      <a:pt x="114" y="28"/>
                    </a:cubicBezTo>
                    <a:cubicBezTo>
                      <a:pt x="115" y="29"/>
                      <a:pt x="116" y="30"/>
                      <a:pt x="118" y="30"/>
                    </a:cubicBezTo>
                    <a:cubicBezTo>
                      <a:pt x="118" y="30"/>
                      <a:pt x="119" y="30"/>
                      <a:pt x="120" y="29"/>
                    </a:cubicBezTo>
                    <a:cubicBezTo>
                      <a:pt x="122" y="28"/>
                      <a:pt x="122" y="26"/>
                      <a:pt x="121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3" name="Freeform 33"/>
              <p:cNvSpPr/>
              <p:nvPr/>
            </p:nvSpPr>
            <p:spPr bwMode="auto">
              <a:xfrm>
                <a:off x="8686801" y="2019300"/>
                <a:ext cx="165100" cy="149225"/>
              </a:xfrm>
              <a:custGeom>
                <a:avLst/>
                <a:gdLst>
                  <a:gd name="T0" fmla="*/ 33 w 61"/>
                  <a:gd name="T1" fmla="*/ 0 h 55"/>
                  <a:gd name="T2" fmla="*/ 0 w 61"/>
                  <a:gd name="T3" fmla="*/ 33 h 55"/>
                  <a:gd name="T4" fmla="*/ 7 w 61"/>
                  <a:gd name="T5" fmla="*/ 54 h 55"/>
                  <a:gd name="T6" fmla="*/ 10 w 61"/>
                  <a:gd name="T7" fmla="*/ 55 h 55"/>
                  <a:gd name="T8" fmla="*/ 13 w 61"/>
                  <a:gd name="T9" fmla="*/ 55 h 55"/>
                  <a:gd name="T10" fmla="*/ 59 w 61"/>
                  <a:gd name="T11" fmla="*/ 19 h 55"/>
                  <a:gd name="T12" fmla="*/ 60 w 61"/>
                  <a:gd name="T13" fmla="*/ 13 h 55"/>
                  <a:gd name="T14" fmla="*/ 33 w 61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55">
                    <a:moveTo>
                      <a:pt x="33" y="0"/>
                    </a:moveTo>
                    <a:cubicBezTo>
                      <a:pt x="15" y="0"/>
                      <a:pt x="0" y="15"/>
                      <a:pt x="0" y="33"/>
                    </a:cubicBezTo>
                    <a:cubicBezTo>
                      <a:pt x="0" y="41"/>
                      <a:pt x="2" y="48"/>
                      <a:pt x="7" y="54"/>
                    </a:cubicBezTo>
                    <a:cubicBezTo>
                      <a:pt x="8" y="55"/>
                      <a:pt x="9" y="55"/>
                      <a:pt x="10" y="55"/>
                    </a:cubicBezTo>
                    <a:cubicBezTo>
                      <a:pt x="11" y="55"/>
                      <a:pt x="12" y="55"/>
                      <a:pt x="13" y="55"/>
                    </a:cubicBezTo>
                    <a:cubicBezTo>
                      <a:pt x="59" y="19"/>
                      <a:pt x="59" y="19"/>
                      <a:pt x="59" y="19"/>
                    </a:cubicBezTo>
                    <a:cubicBezTo>
                      <a:pt x="61" y="17"/>
                      <a:pt x="61" y="15"/>
                      <a:pt x="60" y="13"/>
                    </a:cubicBezTo>
                    <a:cubicBezTo>
                      <a:pt x="54" y="5"/>
                      <a:pt x="44" y="0"/>
                      <a:pt x="3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4" name="Freeform 34"/>
              <p:cNvSpPr/>
              <p:nvPr/>
            </p:nvSpPr>
            <p:spPr bwMode="auto">
              <a:xfrm>
                <a:off x="9048751" y="2019300"/>
                <a:ext cx="166688" cy="149225"/>
              </a:xfrm>
              <a:custGeom>
                <a:avLst/>
                <a:gdLst>
                  <a:gd name="T0" fmla="*/ 28 w 61"/>
                  <a:gd name="T1" fmla="*/ 0 h 55"/>
                  <a:gd name="T2" fmla="*/ 1 w 61"/>
                  <a:gd name="T3" fmla="*/ 13 h 55"/>
                  <a:gd name="T4" fmla="*/ 2 w 61"/>
                  <a:gd name="T5" fmla="*/ 19 h 55"/>
                  <a:gd name="T6" fmla="*/ 48 w 61"/>
                  <a:gd name="T7" fmla="*/ 55 h 55"/>
                  <a:gd name="T8" fmla="*/ 51 w 61"/>
                  <a:gd name="T9" fmla="*/ 55 h 55"/>
                  <a:gd name="T10" fmla="*/ 54 w 61"/>
                  <a:gd name="T11" fmla="*/ 54 h 55"/>
                  <a:gd name="T12" fmla="*/ 61 w 61"/>
                  <a:gd name="T13" fmla="*/ 33 h 55"/>
                  <a:gd name="T14" fmla="*/ 28 w 61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55">
                    <a:moveTo>
                      <a:pt x="28" y="0"/>
                    </a:moveTo>
                    <a:cubicBezTo>
                      <a:pt x="17" y="0"/>
                      <a:pt x="7" y="5"/>
                      <a:pt x="1" y="13"/>
                    </a:cubicBezTo>
                    <a:cubicBezTo>
                      <a:pt x="0" y="15"/>
                      <a:pt x="0" y="17"/>
                      <a:pt x="2" y="19"/>
                    </a:cubicBezTo>
                    <a:cubicBezTo>
                      <a:pt x="48" y="55"/>
                      <a:pt x="48" y="55"/>
                      <a:pt x="48" y="55"/>
                    </a:cubicBezTo>
                    <a:cubicBezTo>
                      <a:pt x="49" y="55"/>
                      <a:pt x="50" y="55"/>
                      <a:pt x="51" y="55"/>
                    </a:cubicBezTo>
                    <a:cubicBezTo>
                      <a:pt x="52" y="55"/>
                      <a:pt x="53" y="55"/>
                      <a:pt x="54" y="54"/>
                    </a:cubicBezTo>
                    <a:cubicBezTo>
                      <a:pt x="58" y="48"/>
                      <a:pt x="61" y="41"/>
                      <a:pt x="61" y="33"/>
                    </a:cubicBezTo>
                    <a:cubicBezTo>
                      <a:pt x="61" y="15"/>
                      <a:pt x="46" y="0"/>
                      <a:pt x="2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5" name="Freeform 223"/>
              <p:cNvSpPr>
                <a:spLocks noEditPoints="1"/>
              </p:cNvSpPr>
              <p:nvPr/>
            </p:nvSpPr>
            <p:spPr bwMode="auto">
              <a:xfrm>
                <a:off x="8743951" y="2073275"/>
                <a:ext cx="411163" cy="414338"/>
              </a:xfrm>
              <a:custGeom>
                <a:avLst/>
                <a:gdLst>
                  <a:gd name="T0" fmla="*/ 76 w 151"/>
                  <a:gd name="T1" fmla="*/ 0 h 152"/>
                  <a:gd name="T2" fmla="*/ 0 w 151"/>
                  <a:gd name="T3" fmla="*/ 76 h 152"/>
                  <a:gd name="T4" fmla="*/ 76 w 151"/>
                  <a:gd name="T5" fmla="*/ 152 h 152"/>
                  <a:gd name="T6" fmla="*/ 151 w 151"/>
                  <a:gd name="T7" fmla="*/ 76 h 152"/>
                  <a:gd name="T8" fmla="*/ 76 w 151"/>
                  <a:gd name="T9" fmla="*/ 0 h 152"/>
                  <a:gd name="T10" fmla="*/ 104 w 151"/>
                  <a:gd name="T11" fmla="*/ 82 h 152"/>
                  <a:gd name="T12" fmla="*/ 77 w 151"/>
                  <a:gd name="T13" fmla="*/ 82 h 152"/>
                  <a:gd name="T14" fmla="*/ 71 w 151"/>
                  <a:gd name="T15" fmla="*/ 76 h 152"/>
                  <a:gd name="T16" fmla="*/ 71 w 151"/>
                  <a:gd name="T17" fmla="*/ 24 h 152"/>
                  <a:gd name="T18" fmla="*/ 77 w 151"/>
                  <a:gd name="T19" fmla="*/ 18 h 152"/>
                  <a:gd name="T20" fmla="*/ 83 w 151"/>
                  <a:gd name="T21" fmla="*/ 24 h 152"/>
                  <a:gd name="T22" fmla="*/ 83 w 151"/>
                  <a:gd name="T23" fmla="*/ 70 h 152"/>
                  <a:gd name="T24" fmla="*/ 104 w 151"/>
                  <a:gd name="T25" fmla="*/ 70 h 152"/>
                  <a:gd name="T26" fmla="*/ 110 w 151"/>
                  <a:gd name="T27" fmla="*/ 76 h 152"/>
                  <a:gd name="T28" fmla="*/ 104 w 151"/>
                  <a:gd name="T29" fmla="*/ 82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51" h="152">
                    <a:moveTo>
                      <a:pt x="76" y="0"/>
                    </a:moveTo>
                    <a:cubicBezTo>
                      <a:pt x="34" y="0"/>
                      <a:pt x="0" y="34"/>
                      <a:pt x="0" y="76"/>
                    </a:cubicBezTo>
                    <a:cubicBezTo>
                      <a:pt x="0" y="118"/>
                      <a:pt x="34" y="152"/>
                      <a:pt x="76" y="152"/>
                    </a:cubicBezTo>
                    <a:cubicBezTo>
                      <a:pt x="118" y="152"/>
                      <a:pt x="151" y="118"/>
                      <a:pt x="151" y="76"/>
                    </a:cubicBezTo>
                    <a:cubicBezTo>
                      <a:pt x="151" y="34"/>
                      <a:pt x="118" y="0"/>
                      <a:pt x="76" y="0"/>
                    </a:cubicBezTo>
                    <a:close/>
                    <a:moveTo>
                      <a:pt x="104" y="82"/>
                    </a:moveTo>
                    <a:cubicBezTo>
                      <a:pt x="77" y="82"/>
                      <a:pt x="77" y="82"/>
                      <a:pt x="77" y="82"/>
                    </a:cubicBezTo>
                    <a:cubicBezTo>
                      <a:pt x="73" y="82"/>
                      <a:pt x="71" y="79"/>
                      <a:pt x="71" y="76"/>
                    </a:cubicBezTo>
                    <a:cubicBezTo>
                      <a:pt x="71" y="24"/>
                      <a:pt x="71" y="24"/>
                      <a:pt x="71" y="24"/>
                    </a:cubicBezTo>
                    <a:cubicBezTo>
                      <a:pt x="71" y="21"/>
                      <a:pt x="73" y="18"/>
                      <a:pt x="77" y="18"/>
                    </a:cubicBezTo>
                    <a:cubicBezTo>
                      <a:pt x="80" y="18"/>
                      <a:pt x="83" y="21"/>
                      <a:pt x="83" y="24"/>
                    </a:cubicBezTo>
                    <a:cubicBezTo>
                      <a:pt x="83" y="70"/>
                      <a:pt x="83" y="70"/>
                      <a:pt x="83" y="70"/>
                    </a:cubicBezTo>
                    <a:cubicBezTo>
                      <a:pt x="104" y="70"/>
                      <a:pt x="104" y="70"/>
                      <a:pt x="104" y="70"/>
                    </a:cubicBezTo>
                    <a:cubicBezTo>
                      <a:pt x="107" y="70"/>
                      <a:pt x="110" y="72"/>
                      <a:pt x="110" y="76"/>
                    </a:cubicBezTo>
                    <a:cubicBezTo>
                      <a:pt x="110" y="79"/>
                      <a:pt x="107" y="82"/>
                      <a:pt x="104" y="8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67" name="Text Box 11"/>
          <p:cNvSpPr txBox="1">
            <a:spLocks noChangeArrowheads="1"/>
          </p:cNvSpPr>
          <p:nvPr/>
        </p:nvSpPr>
        <p:spPr bwMode="auto">
          <a:xfrm>
            <a:off x="5000401" y="5451929"/>
            <a:ext cx="510371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800" i="1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800" dirty="0" smtClean="0">
                <a:solidFill>
                  <a:srgbClr val="404040"/>
                </a:solidFill>
                <a:latin typeface="+mn-ea"/>
                <a:cs typeface="Times New Roman" panose="02020603050405020304" pitchFamily="18" charset="0"/>
              </a:rPr>
              <a:t>-</a:t>
            </a:r>
            <a:r>
              <a:rPr lang="en-US" altLang="zh-CN" sz="28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800" i="1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800" dirty="0" smtClean="0">
                <a:solidFill>
                  <a:srgbClr val="404040"/>
                </a:solidFill>
                <a:latin typeface="+mn-ea"/>
                <a:cs typeface="Times New Roman" panose="02020603050405020304" pitchFamily="18" charset="0"/>
              </a:rPr>
              <a:t>-</a:t>
            </a:r>
            <a:r>
              <a:rPr lang="en-US" altLang="zh-CN" sz="28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1) = </a:t>
            </a:r>
            <a:r>
              <a:rPr lang="en-US" altLang="zh-CN" sz="2800" i="1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8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+1 </a:t>
            </a:r>
            <a:r>
              <a:rPr lang="zh-CN" altLang="en-US" sz="28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个空指针</a:t>
            </a:r>
            <a:endParaRPr lang="zh-CN" altLang="en-US" sz="2800" dirty="0">
              <a:solidFill>
                <a:srgbClr val="40404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614578" y="1052206"/>
            <a:ext cx="12906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root</a:t>
            </a:r>
            <a:endParaRPr lang="zh-CN" altLang="en-US" sz="2800" dirty="0">
              <a:solidFill>
                <a:srgbClr val="B42D2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6461761" y="1273256"/>
            <a:ext cx="5212079" cy="2400657"/>
          </a:xfrm>
          <a:prstGeom prst="rect">
            <a:avLst/>
          </a:prstGeom>
          <a:ln>
            <a:solidFill>
              <a:srgbClr val="285A32"/>
            </a:solidFill>
            <a:prstDash val="dash"/>
          </a:ln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</a:pPr>
            <a:r>
              <a:rPr lang="en-US" altLang="zh-CN" sz="2400" dirty="0" smtClean="0">
                <a:solidFill>
                  <a:srgbClr val="285A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template &lt;</a:t>
            </a:r>
            <a:r>
              <a:rPr lang="en-US" altLang="zh-CN" sz="2400" dirty="0" err="1" smtClean="0">
                <a:solidFill>
                  <a:srgbClr val="285A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typename</a:t>
            </a:r>
            <a:r>
              <a:rPr lang="en-US" altLang="zh-CN" sz="2400" dirty="0" smtClean="0">
                <a:solidFill>
                  <a:srgbClr val="285A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 err="1" smtClean="0">
                <a:solidFill>
                  <a:srgbClr val="285A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DataType</a:t>
            </a:r>
            <a:r>
              <a:rPr lang="en-US" altLang="zh-CN" sz="2400" dirty="0" smtClean="0">
                <a:solidFill>
                  <a:srgbClr val="285A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BiNode</a:t>
            </a:r>
            <a:endParaRPr lang="zh-CN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zh-CN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400" dirty="0" err="1">
                <a:solidFill>
                  <a:srgbClr val="285A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DataType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data;</a:t>
            </a:r>
            <a:endParaRPr lang="zh-CN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BiNode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400" dirty="0" smtClean="0">
                <a:solidFill>
                  <a:srgbClr val="285A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 err="1" smtClean="0">
                <a:solidFill>
                  <a:srgbClr val="285A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DataType</a:t>
            </a:r>
            <a:r>
              <a:rPr lang="en-US" altLang="zh-CN" sz="2400" dirty="0" smtClean="0">
                <a:solidFill>
                  <a:srgbClr val="285A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lchild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*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rchild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  <a:endParaRPr lang="en-US" altLang="zh-C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ounded Rectangle 10"/>
          <p:cNvSpPr/>
          <p:nvPr/>
        </p:nvSpPr>
        <p:spPr>
          <a:xfrm>
            <a:off x="542923" y="100964"/>
            <a:ext cx="4032000" cy="540000"/>
          </a:xfrm>
          <a:prstGeom prst="roundRect">
            <a:avLst/>
          </a:prstGeom>
          <a:solidFill>
            <a:srgbClr val="5A32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Text Box 2"/>
          <p:cNvSpPr txBox="1">
            <a:spLocks noChangeArrowheads="1"/>
          </p:cNvSpPr>
          <p:nvPr/>
        </p:nvSpPr>
        <p:spPr bwMode="auto">
          <a:xfrm>
            <a:off x="638167" y="61585"/>
            <a:ext cx="392827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</a:t>
            </a:r>
            <a:r>
              <a:rPr lang="zh-CN" altLang="en-US" sz="3200" b="1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叉链表的存储方法</a:t>
            </a:r>
            <a:endParaRPr lang="zh-CN" altLang="en-US" sz="32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75" name="Group 87"/>
          <p:cNvGrpSpPr/>
          <p:nvPr/>
        </p:nvGrpSpPr>
        <p:grpSpPr bwMode="auto">
          <a:xfrm>
            <a:off x="1737519" y="4214813"/>
            <a:ext cx="1439862" cy="1050925"/>
            <a:chOff x="720" y="2679"/>
            <a:chExt cx="907" cy="662"/>
          </a:xfrm>
          <a:noFill/>
        </p:grpSpPr>
        <p:sp>
          <p:nvSpPr>
            <p:cNvPr id="76" name="Rectangle 62"/>
            <p:cNvSpPr>
              <a:spLocks noChangeArrowheads="1"/>
            </p:cNvSpPr>
            <p:nvPr/>
          </p:nvSpPr>
          <p:spPr bwMode="auto">
            <a:xfrm>
              <a:off x="720" y="3092"/>
              <a:ext cx="907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10800" rIns="18000" bIns="10800">
              <a:flatTx/>
            </a:bodyPr>
            <a:lstStyle/>
            <a:p>
              <a:endParaRPr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7" name="Rectangle 63"/>
            <p:cNvSpPr>
              <a:spLocks noChangeArrowheads="1"/>
            </p:cNvSpPr>
            <p:nvPr/>
          </p:nvSpPr>
          <p:spPr bwMode="auto">
            <a:xfrm>
              <a:off x="1031" y="3092"/>
              <a:ext cx="284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0" rIns="18000" bIns="10800">
              <a:flatTx/>
            </a:bodyPr>
            <a:lstStyle/>
            <a:p>
              <a:pPr algn="just"/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Angsana New" panose="02020603050405020304" pitchFamily="18" charset="-34"/>
                </a:rPr>
                <a:t>G</a:t>
              </a:r>
              <a:endPara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ngsana New" panose="02020603050405020304" pitchFamily="18" charset="-34"/>
              </a:endParaRPr>
            </a:p>
          </p:txBody>
        </p:sp>
        <p:sp>
          <p:nvSpPr>
            <p:cNvPr id="78" name="Freeform 32"/>
            <p:cNvSpPr/>
            <p:nvPr/>
          </p:nvSpPr>
          <p:spPr bwMode="auto">
            <a:xfrm>
              <a:off x="889" y="2679"/>
              <a:ext cx="319" cy="385"/>
            </a:xfrm>
            <a:custGeom>
              <a:avLst/>
              <a:gdLst>
                <a:gd name="T0" fmla="*/ 0 w 444"/>
                <a:gd name="T1" fmla="*/ 0 h 523"/>
                <a:gd name="T2" fmla="*/ 444 w 444"/>
                <a:gd name="T3" fmla="*/ 523 h 5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44" h="523">
                  <a:moveTo>
                    <a:pt x="0" y="0"/>
                  </a:moveTo>
                  <a:lnTo>
                    <a:pt x="444" y="523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prstDash val="solid"/>
              <a:round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9" name="Group 84"/>
          <p:cNvGrpSpPr/>
          <p:nvPr/>
        </p:nvGrpSpPr>
        <p:grpSpPr bwMode="auto">
          <a:xfrm>
            <a:off x="4996656" y="3122613"/>
            <a:ext cx="1439863" cy="1182688"/>
            <a:chOff x="2773" y="1991"/>
            <a:chExt cx="907" cy="745"/>
          </a:xfrm>
          <a:noFill/>
        </p:grpSpPr>
        <p:sp>
          <p:nvSpPr>
            <p:cNvPr id="80" name="Rectangle 70"/>
            <p:cNvSpPr>
              <a:spLocks noChangeArrowheads="1"/>
            </p:cNvSpPr>
            <p:nvPr/>
          </p:nvSpPr>
          <p:spPr bwMode="auto">
            <a:xfrm>
              <a:off x="2773" y="2487"/>
              <a:ext cx="907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10800" rIns="18000" bIns="10800">
              <a:flatTx/>
            </a:bodyPr>
            <a:lstStyle/>
            <a:p>
              <a:endParaRPr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1" name="Rectangle 71"/>
            <p:cNvSpPr>
              <a:spLocks noChangeArrowheads="1"/>
            </p:cNvSpPr>
            <p:nvPr/>
          </p:nvSpPr>
          <p:spPr bwMode="auto">
            <a:xfrm>
              <a:off x="3084" y="2487"/>
              <a:ext cx="284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0" rIns="18000" bIns="10800">
              <a:flatTx/>
            </a:bodyPr>
            <a:lstStyle/>
            <a:p>
              <a:pPr algn="just"/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Angsana New" panose="02020603050405020304" pitchFamily="18" charset="-34"/>
                </a:rPr>
                <a:t>F</a:t>
              </a:r>
              <a:endPara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ngsana New" panose="02020603050405020304" pitchFamily="18" charset="-34"/>
              </a:endParaRPr>
            </a:p>
          </p:txBody>
        </p:sp>
        <p:sp>
          <p:nvSpPr>
            <p:cNvPr id="82" name="Line 31"/>
            <p:cNvSpPr>
              <a:spLocks noChangeShapeType="1"/>
            </p:cNvSpPr>
            <p:nvPr/>
          </p:nvSpPr>
          <p:spPr bwMode="auto">
            <a:xfrm>
              <a:off x="2946" y="1991"/>
              <a:ext cx="292" cy="458"/>
            </a:xfrm>
            <a:prstGeom prst="line">
              <a:avLst/>
            </a:prstGeom>
            <a:grpFill/>
            <a:ln w="28575">
              <a:solidFill>
                <a:srgbClr val="285A32"/>
              </a:solidFill>
              <a:prstDash val="solid"/>
              <a:round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3" name="Group 83"/>
          <p:cNvGrpSpPr/>
          <p:nvPr/>
        </p:nvGrpSpPr>
        <p:grpSpPr bwMode="auto">
          <a:xfrm>
            <a:off x="3137694" y="3122613"/>
            <a:ext cx="1439862" cy="1184275"/>
            <a:chOff x="1602" y="1991"/>
            <a:chExt cx="907" cy="746"/>
          </a:xfrm>
          <a:noFill/>
        </p:grpSpPr>
        <p:sp>
          <p:nvSpPr>
            <p:cNvPr id="84" name="Rectangle 66"/>
            <p:cNvSpPr>
              <a:spLocks noChangeArrowheads="1"/>
            </p:cNvSpPr>
            <p:nvPr/>
          </p:nvSpPr>
          <p:spPr bwMode="auto">
            <a:xfrm>
              <a:off x="1602" y="2488"/>
              <a:ext cx="907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10800" rIns="18000" bIns="10800">
              <a:flatTx/>
            </a:bodyPr>
            <a:lstStyle/>
            <a:p>
              <a:endParaRPr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5" name="Rectangle 67"/>
            <p:cNvSpPr>
              <a:spLocks noChangeArrowheads="1"/>
            </p:cNvSpPr>
            <p:nvPr/>
          </p:nvSpPr>
          <p:spPr bwMode="auto">
            <a:xfrm>
              <a:off x="1913" y="2488"/>
              <a:ext cx="284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0" rIns="18000" bIns="10800">
              <a:flatTx/>
            </a:bodyPr>
            <a:lstStyle/>
            <a:p>
              <a:pPr algn="just"/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Angsana New" panose="02020603050405020304" pitchFamily="18" charset="-34"/>
                </a:rPr>
                <a:t>E</a:t>
              </a:r>
              <a:endPara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ngsana New" panose="02020603050405020304" pitchFamily="18" charset="-34"/>
              </a:endParaRPr>
            </a:p>
          </p:txBody>
        </p:sp>
        <p:sp>
          <p:nvSpPr>
            <p:cNvPr id="86" name="Line 30"/>
            <p:cNvSpPr>
              <a:spLocks noChangeShapeType="1"/>
            </p:cNvSpPr>
            <p:nvPr/>
          </p:nvSpPr>
          <p:spPr bwMode="auto">
            <a:xfrm flipH="1">
              <a:off x="2069" y="1991"/>
              <a:ext cx="292" cy="458"/>
            </a:xfrm>
            <a:prstGeom prst="line">
              <a:avLst/>
            </a:prstGeom>
            <a:grpFill/>
            <a:ln w="28575">
              <a:solidFill>
                <a:srgbClr val="285A32"/>
              </a:solidFill>
              <a:prstDash val="solid"/>
              <a:round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7" name="Group 82"/>
          <p:cNvGrpSpPr/>
          <p:nvPr/>
        </p:nvGrpSpPr>
        <p:grpSpPr bwMode="auto">
          <a:xfrm>
            <a:off x="853281" y="3122613"/>
            <a:ext cx="1439863" cy="1171575"/>
            <a:chOff x="163" y="1991"/>
            <a:chExt cx="907" cy="738"/>
          </a:xfrm>
          <a:noFill/>
        </p:grpSpPr>
        <p:sp>
          <p:nvSpPr>
            <p:cNvPr id="88" name="Rectangle 59"/>
            <p:cNvSpPr>
              <a:spLocks noChangeArrowheads="1"/>
            </p:cNvSpPr>
            <p:nvPr/>
          </p:nvSpPr>
          <p:spPr bwMode="auto">
            <a:xfrm>
              <a:off x="163" y="2480"/>
              <a:ext cx="907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10800" rIns="18000" bIns="10800">
              <a:flatTx/>
            </a:bodyPr>
            <a:lstStyle/>
            <a:p>
              <a:endParaRPr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9" name="Rectangle 60"/>
            <p:cNvSpPr>
              <a:spLocks noChangeArrowheads="1"/>
            </p:cNvSpPr>
            <p:nvPr/>
          </p:nvSpPr>
          <p:spPr bwMode="auto">
            <a:xfrm>
              <a:off x="474" y="2480"/>
              <a:ext cx="284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0" rIns="18000" bIns="10800">
              <a:flatTx/>
            </a:bodyPr>
            <a:lstStyle/>
            <a:p>
              <a:pPr algn="just"/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Angsana New" panose="02020603050405020304" pitchFamily="18" charset="-34"/>
                </a:rPr>
                <a:t>D</a:t>
              </a:r>
              <a:endPara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ngsana New" panose="02020603050405020304" pitchFamily="18" charset="-34"/>
              </a:endParaRPr>
            </a:p>
          </p:txBody>
        </p:sp>
        <p:sp>
          <p:nvSpPr>
            <p:cNvPr id="90" name="Line 29"/>
            <p:cNvSpPr>
              <a:spLocks noChangeShapeType="1"/>
            </p:cNvSpPr>
            <p:nvPr/>
          </p:nvSpPr>
          <p:spPr bwMode="auto">
            <a:xfrm flipH="1">
              <a:off x="607" y="1991"/>
              <a:ext cx="292" cy="458"/>
            </a:xfrm>
            <a:prstGeom prst="line">
              <a:avLst/>
            </a:prstGeom>
            <a:grpFill/>
            <a:ln w="28575">
              <a:solidFill>
                <a:srgbClr val="285A32"/>
              </a:solidFill>
              <a:prstDash val="solid"/>
              <a:round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1" name="Group 80"/>
          <p:cNvGrpSpPr/>
          <p:nvPr/>
        </p:nvGrpSpPr>
        <p:grpSpPr bwMode="auto">
          <a:xfrm>
            <a:off x="1753394" y="2101851"/>
            <a:ext cx="1473200" cy="1101725"/>
            <a:chOff x="730" y="1348"/>
            <a:chExt cx="928" cy="694"/>
          </a:xfrm>
          <a:noFill/>
        </p:grpSpPr>
        <p:sp>
          <p:nvSpPr>
            <p:cNvPr id="92" name="Rectangle 57"/>
            <p:cNvSpPr>
              <a:spLocks noChangeArrowheads="1"/>
            </p:cNvSpPr>
            <p:nvPr/>
          </p:nvSpPr>
          <p:spPr bwMode="auto">
            <a:xfrm>
              <a:off x="730" y="1793"/>
              <a:ext cx="907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10800" rIns="18000" bIns="10800">
              <a:flatTx/>
            </a:bodyPr>
            <a:lstStyle/>
            <a:p>
              <a:endParaRPr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3" name="Rectangle 58"/>
            <p:cNvSpPr>
              <a:spLocks noChangeArrowheads="1"/>
            </p:cNvSpPr>
            <p:nvPr/>
          </p:nvSpPr>
          <p:spPr bwMode="auto">
            <a:xfrm>
              <a:off x="1041" y="1793"/>
              <a:ext cx="284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0" rIns="18000" bIns="10800">
              <a:flatTx/>
            </a:bodyPr>
            <a:lstStyle/>
            <a:p>
              <a:pPr algn="just"/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Angsana New" panose="02020603050405020304" pitchFamily="18" charset="-34"/>
                </a:rPr>
                <a:t>B</a:t>
              </a:r>
              <a:endPara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ngsana New" panose="02020603050405020304" pitchFamily="18" charset="-34"/>
              </a:endParaRPr>
            </a:p>
          </p:txBody>
        </p:sp>
        <p:sp>
          <p:nvSpPr>
            <p:cNvPr id="94" name="Freeform 27"/>
            <p:cNvSpPr/>
            <p:nvPr/>
          </p:nvSpPr>
          <p:spPr bwMode="auto">
            <a:xfrm>
              <a:off x="1262" y="1348"/>
              <a:ext cx="396" cy="400"/>
            </a:xfrm>
            <a:custGeom>
              <a:avLst/>
              <a:gdLst>
                <a:gd name="T0" fmla="*/ 550 w 550"/>
                <a:gd name="T1" fmla="*/ 0 h 544"/>
                <a:gd name="T2" fmla="*/ 0 w 550"/>
                <a:gd name="T3" fmla="*/ 544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50" h="544">
                  <a:moveTo>
                    <a:pt x="550" y="0"/>
                  </a:moveTo>
                  <a:lnTo>
                    <a:pt x="0" y="544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prstDash val="solid"/>
              <a:round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5" name="Group 92"/>
          <p:cNvGrpSpPr/>
          <p:nvPr/>
        </p:nvGrpSpPr>
        <p:grpSpPr bwMode="auto">
          <a:xfrm>
            <a:off x="3036094" y="1296988"/>
            <a:ext cx="1439862" cy="863600"/>
            <a:chOff x="1493" y="1120"/>
            <a:chExt cx="907" cy="544"/>
          </a:xfrm>
          <a:noFill/>
        </p:grpSpPr>
        <p:sp>
          <p:nvSpPr>
            <p:cNvPr id="96" name="Rectangle 6"/>
            <p:cNvSpPr>
              <a:spLocks noChangeArrowheads="1"/>
            </p:cNvSpPr>
            <p:nvPr/>
          </p:nvSpPr>
          <p:spPr bwMode="auto">
            <a:xfrm>
              <a:off x="1493" y="1415"/>
              <a:ext cx="907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10800" rIns="18000" bIns="10800">
              <a:flatTx/>
            </a:bodyPr>
            <a:lstStyle/>
            <a:p>
              <a:endParaRPr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7" name="Rectangle 8"/>
            <p:cNvSpPr>
              <a:spLocks noChangeArrowheads="1"/>
            </p:cNvSpPr>
            <p:nvPr/>
          </p:nvSpPr>
          <p:spPr bwMode="auto">
            <a:xfrm>
              <a:off x="1804" y="1415"/>
              <a:ext cx="284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0" rIns="18000" bIns="10800">
              <a:flatTx/>
            </a:bodyPr>
            <a:lstStyle/>
            <a:p>
              <a:pPr algn="just"/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Angsana New" panose="02020603050405020304" pitchFamily="18" charset="-34"/>
                </a:rPr>
                <a:t>A</a:t>
              </a:r>
              <a:endPara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ngsana New" panose="02020603050405020304" pitchFamily="18" charset="-34"/>
              </a:endParaRPr>
            </a:p>
          </p:txBody>
        </p:sp>
        <p:sp>
          <p:nvSpPr>
            <p:cNvPr id="98" name="Line 33"/>
            <p:cNvSpPr>
              <a:spLocks noChangeShapeType="1"/>
            </p:cNvSpPr>
            <p:nvPr/>
          </p:nvSpPr>
          <p:spPr bwMode="auto">
            <a:xfrm>
              <a:off x="1726" y="1120"/>
              <a:ext cx="208" cy="276"/>
            </a:xfrm>
            <a:prstGeom prst="line">
              <a:avLst/>
            </a:prstGeom>
            <a:grpFill/>
            <a:ln w="28575">
              <a:solidFill>
                <a:srgbClr val="B42D2D"/>
              </a:solidFill>
              <a:prstDash val="solid"/>
              <a:round/>
              <a:tailEnd type="stealth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9" name="Rectangle 7"/>
          <p:cNvSpPr>
            <a:spLocks noChangeArrowheads="1"/>
          </p:cNvSpPr>
          <p:nvPr/>
        </p:nvSpPr>
        <p:spPr bwMode="auto">
          <a:xfrm>
            <a:off x="2759869" y="2809876"/>
            <a:ext cx="422275" cy="365125"/>
          </a:xfrm>
          <a:prstGeom prst="rect">
            <a:avLst/>
          </a:prstGeom>
          <a:noFill/>
          <a:ln w="28575">
            <a:noFill/>
            <a:prstDash val="solid"/>
          </a:ln>
        </p:spPr>
        <p:txBody>
          <a:bodyPr lIns="54000" tIns="10800" rIns="18000" bIns="10800"/>
          <a:lstStyle/>
          <a:p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∧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0" name="Rectangle 61"/>
          <p:cNvSpPr>
            <a:spLocks noChangeArrowheads="1"/>
          </p:cNvSpPr>
          <p:nvPr/>
        </p:nvSpPr>
        <p:spPr bwMode="auto">
          <a:xfrm>
            <a:off x="915194" y="3884613"/>
            <a:ext cx="422275" cy="365125"/>
          </a:xfrm>
          <a:prstGeom prst="rect">
            <a:avLst/>
          </a:prstGeom>
          <a:noFill/>
          <a:ln w="28575">
            <a:noFill/>
            <a:prstDash val="solid"/>
          </a:ln>
        </p:spPr>
        <p:txBody>
          <a:bodyPr lIns="54000" tIns="10800" rIns="18000" bIns="10800"/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∧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01" name="Group 88"/>
          <p:cNvGrpSpPr/>
          <p:nvPr/>
        </p:nvGrpSpPr>
        <p:grpSpPr bwMode="auto">
          <a:xfrm>
            <a:off x="1799431" y="4856163"/>
            <a:ext cx="1366838" cy="381000"/>
            <a:chOff x="759" y="3083"/>
            <a:chExt cx="861" cy="240"/>
          </a:xfrm>
          <a:noFill/>
        </p:grpSpPr>
        <p:sp>
          <p:nvSpPr>
            <p:cNvPr id="102" name="Rectangle 64"/>
            <p:cNvSpPr>
              <a:spLocks noChangeArrowheads="1"/>
            </p:cNvSpPr>
            <p:nvPr/>
          </p:nvSpPr>
          <p:spPr bwMode="auto">
            <a:xfrm>
              <a:off x="759" y="3083"/>
              <a:ext cx="266" cy="230"/>
            </a:xfrm>
            <a:prstGeom prst="rect">
              <a:avLst/>
            </a:prstGeom>
            <a:noFill/>
            <a:ln w="28575">
              <a:noFill/>
              <a:prstDash val="solid"/>
            </a:ln>
          </p:spPr>
          <p:txBody>
            <a:bodyPr lIns="54000" tIns="10800" rIns="18000" bIns="10800"/>
            <a:lstStyle/>
            <a:p>
              <a:r>
                <a:rPr lang="zh-CN" altLang="en-US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∧</a:t>
              </a:r>
              <a:endParaRPr lang="zh-CN" altLang="en-US" sz="2400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3" name="Rectangle 65"/>
            <p:cNvSpPr>
              <a:spLocks noChangeArrowheads="1"/>
            </p:cNvSpPr>
            <p:nvPr/>
          </p:nvSpPr>
          <p:spPr bwMode="auto">
            <a:xfrm>
              <a:off x="1354" y="3093"/>
              <a:ext cx="266" cy="230"/>
            </a:xfrm>
            <a:prstGeom prst="rect">
              <a:avLst/>
            </a:prstGeom>
            <a:noFill/>
            <a:ln w="28575">
              <a:noFill/>
              <a:prstDash val="solid"/>
            </a:ln>
          </p:spPr>
          <p:txBody>
            <a:bodyPr lIns="54000" tIns="10800" rIns="18000" bIns="10800"/>
            <a:lstStyle/>
            <a:p>
              <a:r>
                <a:rPr lang="zh-CN" altLang="en-US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∧</a:t>
              </a:r>
              <a:endParaRPr lang="zh-CN" altLang="en-US" sz="2400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04" name="Group 85"/>
          <p:cNvGrpSpPr/>
          <p:nvPr/>
        </p:nvGrpSpPr>
        <p:grpSpPr bwMode="auto">
          <a:xfrm>
            <a:off x="3199606" y="3897313"/>
            <a:ext cx="1366838" cy="381000"/>
            <a:chOff x="1641" y="2479"/>
            <a:chExt cx="861" cy="240"/>
          </a:xfrm>
          <a:noFill/>
        </p:grpSpPr>
        <p:sp>
          <p:nvSpPr>
            <p:cNvPr id="105" name="Rectangle 68"/>
            <p:cNvSpPr>
              <a:spLocks noChangeArrowheads="1"/>
            </p:cNvSpPr>
            <p:nvPr/>
          </p:nvSpPr>
          <p:spPr bwMode="auto">
            <a:xfrm>
              <a:off x="1641" y="2479"/>
              <a:ext cx="266" cy="230"/>
            </a:xfrm>
            <a:prstGeom prst="rect">
              <a:avLst/>
            </a:prstGeom>
            <a:noFill/>
            <a:ln w="28575">
              <a:noFill/>
              <a:prstDash val="solid"/>
            </a:ln>
          </p:spPr>
          <p:txBody>
            <a:bodyPr lIns="54000" tIns="10800" rIns="18000" bIns="10800"/>
            <a:lstStyle/>
            <a:p>
              <a:r>
                <a:rPr lang="zh-CN" altLang="en-US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∧</a:t>
              </a:r>
              <a:endParaRPr lang="zh-CN" altLang="en-US" sz="2400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6" name="Rectangle 69"/>
            <p:cNvSpPr>
              <a:spLocks noChangeArrowheads="1"/>
            </p:cNvSpPr>
            <p:nvPr/>
          </p:nvSpPr>
          <p:spPr bwMode="auto">
            <a:xfrm>
              <a:off x="2236" y="2489"/>
              <a:ext cx="266" cy="230"/>
            </a:xfrm>
            <a:prstGeom prst="rect">
              <a:avLst/>
            </a:prstGeom>
            <a:noFill/>
            <a:ln w="28575">
              <a:noFill/>
              <a:prstDash val="solid"/>
            </a:ln>
          </p:spPr>
          <p:txBody>
            <a:bodyPr lIns="54000" tIns="10800" rIns="18000" bIns="10800"/>
            <a:lstStyle/>
            <a:p>
              <a:r>
                <a:rPr lang="zh-CN" altLang="en-US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∧</a:t>
              </a:r>
              <a:endParaRPr lang="zh-CN" altLang="en-US" sz="2400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07" name="Group 86"/>
          <p:cNvGrpSpPr/>
          <p:nvPr/>
        </p:nvGrpSpPr>
        <p:grpSpPr bwMode="auto">
          <a:xfrm>
            <a:off x="5058569" y="3895726"/>
            <a:ext cx="1366837" cy="381000"/>
            <a:chOff x="2812" y="2478"/>
            <a:chExt cx="861" cy="240"/>
          </a:xfrm>
          <a:noFill/>
        </p:grpSpPr>
        <p:sp>
          <p:nvSpPr>
            <p:cNvPr id="108" name="Rectangle 72"/>
            <p:cNvSpPr>
              <a:spLocks noChangeArrowheads="1"/>
            </p:cNvSpPr>
            <p:nvPr/>
          </p:nvSpPr>
          <p:spPr bwMode="auto">
            <a:xfrm>
              <a:off x="2812" y="2478"/>
              <a:ext cx="266" cy="230"/>
            </a:xfrm>
            <a:prstGeom prst="rect">
              <a:avLst/>
            </a:prstGeom>
            <a:noFill/>
            <a:ln w="28575">
              <a:noFill/>
              <a:prstDash val="solid"/>
            </a:ln>
          </p:spPr>
          <p:txBody>
            <a:bodyPr lIns="54000" tIns="10800" rIns="18000" bIns="10800"/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∧</a:t>
              </a:r>
              <a:endPara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9" name="Rectangle 73"/>
            <p:cNvSpPr>
              <a:spLocks noChangeArrowheads="1"/>
            </p:cNvSpPr>
            <p:nvPr/>
          </p:nvSpPr>
          <p:spPr bwMode="auto">
            <a:xfrm>
              <a:off x="3407" y="2488"/>
              <a:ext cx="266" cy="230"/>
            </a:xfrm>
            <a:prstGeom prst="rect">
              <a:avLst/>
            </a:prstGeom>
            <a:grpFill/>
            <a:ln w="28575">
              <a:noFill/>
              <a:prstDash val="solid"/>
              <a:miter lim="800000"/>
            </a:ln>
          </p:spPr>
          <p:txBody>
            <a:bodyPr lIns="54000" tIns="10800" rIns="18000" bIns="10800"/>
            <a:lstStyle/>
            <a:p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∧</a:t>
              </a:r>
              <a:endPara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10" name="Group 81"/>
          <p:cNvGrpSpPr/>
          <p:nvPr/>
        </p:nvGrpSpPr>
        <p:grpSpPr bwMode="auto">
          <a:xfrm>
            <a:off x="3980656" y="2101851"/>
            <a:ext cx="1439863" cy="1087437"/>
            <a:chOff x="2133" y="1348"/>
            <a:chExt cx="907" cy="685"/>
          </a:xfrm>
          <a:noFill/>
        </p:grpSpPr>
        <p:sp>
          <p:nvSpPr>
            <p:cNvPr id="111" name="Freeform 28"/>
            <p:cNvSpPr/>
            <p:nvPr/>
          </p:nvSpPr>
          <p:spPr bwMode="auto">
            <a:xfrm>
              <a:off x="2242" y="1348"/>
              <a:ext cx="338" cy="400"/>
            </a:xfrm>
            <a:custGeom>
              <a:avLst/>
              <a:gdLst>
                <a:gd name="T0" fmla="*/ 0 w 469"/>
                <a:gd name="T1" fmla="*/ 0 h 544"/>
                <a:gd name="T2" fmla="*/ 469 w 469"/>
                <a:gd name="T3" fmla="*/ 544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69" h="544">
                  <a:moveTo>
                    <a:pt x="0" y="0"/>
                  </a:moveTo>
                  <a:lnTo>
                    <a:pt x="469" y="544"/>
                  </a:lnTo>
                </a:path>
              </a:pathLst>
            </a:custGeom>
            <a:grpFill/>
            <a:ln w="28575" cmpd="sng">
              <a:solidFill>
                <a:srgbClr val="285A32"/>
              </a:solidFill>
              <a:prstDash val="solid"/>
              <a:round/>
              <a:tailEnd type="stealth" w="lg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" name="Rectangle 74"/>
            <p:cNvSpPr>
              <a:spLocks noChangeArrowheads="1"/>
            </p:cNvSpPr>
            <p:nvPr/>
          </p:nvSpPr>
          <p:spPr bwMode="auto">
            <a:xfrm>
              <a:off x="2133" y="1784"/>
              <a:ext cx="907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10800" rIns="18000" bIns="10800">
              <a:flatTx/>
            </a:bodyPr>
            <a:lstStyle/>
            <a:p>
              <a:endParaRPr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3" name="Rectangle 75"/>
            <p:cNvSpPr>
              <a:spLocks noChangeArrowheads="1"/>
            </p:cNvSpPr>
            <p:nvPr/>
          </p:nvSpPr>
          <p:spPr bwMode="auto">
            <a:xfrm>
              <a:off x="2444" y="1784"/>
              <a:ext cx="284" cy="249"/>
            </a:xfrm>
            <a:prstGeom prst="rect">
              <a:avLst/>
            </a:prstGeom>
            <a:grpFill/>
            <a:ln w="28575">
              <a:solidFill>
                <a:srgbClr val="507D7D"/>
              </a:solidFill>
              <a:prstDash val="solid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0" rIns="18000" bIns="10800">
              <a:flatTx/>
            </a:bodyPr>
            <a:lstStyle/>
            <a:p>
              <a:pPr algn="just"/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Angsana New" panose="02020603050405020304" pitchFamily="18" charset="-34"/>
                </a:rPr>
                <a:t>C</a:t>
              </a:r>
              <a:endPara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ngsana New" panose="02020603050405020304" pitchFamily="18" charset="-34"/>
              </a:endParaRPr>
            </a:p>
          </p:txBody>
        </p:sp>
      </p:grpSp>
      <p:grpSp>
        <p:nvGrpSpPr>
          <p:cNvPr id="59" name="组合 58"/>
          <p:cNvGrpSpPr/>
          <p:nvPr/>
        </p:nvGrpSpPr>
        <p:grpSpPr>
          <a:xfrm>
            <a:off x="3750151" y="4882685"/>
            <a:ext cx="5028089" cy="523220"/>
            <a:chOff x="1826091" y="4148024"/>
            <a:chExt cx="5028089" cy="523220"/>
          </a:xfrm>
        </p:grpSpPr>
        <p:sp>
          <p:nvSpPr>
            <p:cNvPr id="60" name="Text Box 11"/>
            <p:cNvSpPr txBox="1">
              <a:spLocks noChangeArrowheads="1"/>
            </p:cNvSpPr>
            <p:nvPr/>
          </p:nvSpPr>
          <p:spPr bwMode="auto">
            <a:xfrm>
              <a:off x="2385059" y="4148024"/>
              <a:ext cx="4469121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 smtClean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如何查找双亲？时间性能？</a:t>
              </a:r>
              <a:endParaRPr lang="zh-CN" altLang="en-US" sz="28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61" name="Group 31"/>
            <p:cNvGrpSpPr/>
            <p:nvPr/>
          </p:nvGrpSpPr>
          <p:grpSpPr>
            <a:xfrm>
              <a:off x="1826091" y="4213620"/>
              <a:ext cx="465732" cy="432000"/>
              <a:chOff x="8686801" y="2019300"/>
              <a:chExt cx="528638" cy="565150"/>
            </a:xfrm>
            <a:solidFill>
              <a:srgbClr val="5A327D"/>
            </a:solidFill>
          </p:grpSpPr>
          <p:sp>
            <p:nvSpPr>
              <p:cNvPr id="62" name="Freeform 32"/>
              <p:cNvSpPr/>
              <p:nvPr/>
            </p:nvSpPr>
            <p:spPr bwMode="auto">
              <a:xfrm>
                <a:off x="8785226" y="2501900"/>
                <a:ext cx="331788" cy="82550"/>
              </a:xfrm>
              <a:custGeom>
                <a:avLst/>
                <a:gdLst>
                  <a:gd name="T0" fmla="*/ 121 w 122"/>
                  <a:gd name="T1" fmla="*/ 24 h 30"/>
                  <a:gd name="T2" fmla="*/ 107 w 122"/>
                  <a:gd name="T3" fmla="*/ 2 h 30"/>
                  <a:gd name="T4" fmla="*/ 104 w 122"/>
                  <a:gd name="T5" fmla="*/ 0 h 30"/>
                  <a:gd name="T6" fmla="*/ 62 w 122"/>
                  <a:gd name="T7" fmla="*/ 0 h 30"/>
                  <a:gd name="T8" fmla="*/ 60 w 122"/>
                  <a:gd name="T9" fmla="*/ 0 h 30"/>
                  <a:gd name="T10" fmla="*/ 18 w 122"/>
                  <a:gd name="T11" fmla="*/ 0 h 30"/>
                  <a:gd name="T12" fmla="*/ 15 w 122"/>
                  <a:gd name="T13" fmla="*/ 2 h 30"/>
                  <a:gd name="T14" fmla="*/ 1 w 122"/>
                  <a:gd name="T15" fmla="*/ 24 h 30"/>
                  <a:gd name="T16" fmla="*/ 2 w 122"/>
                  <a:gd name="T17" fmla="*/ 29 h 30"/>
                  <a:gd name="T18" fmla="*/ 4 w 122"/>
                  <a:gd name="T19" fmla="*/ 30 h 30"/>
                  <a:gd name="T20" fmla="*/ 8 w 122"/>
                  <a:gd name="T21" fmla="*/ 28 h 30"/>
                  <a:gd name="T22" fmla="*/ 20 w 122"/>
                  <a:gd name="T23" fmla="*/ 8 h 30"/>
                  <a:gd name="T24" fmla="*/ 60 w 122"/>
                  <a:gd name="T25" fmla="*/ 8 h 30"/>
                  <a:gd name="T26" fmla="*/ 62 w 122"/>
                  <a:gd name="T27" fmla="*/ 8 h 30"/>
                  <a:gd name="T28" fmla="*/ 102 w 122"/>
                  <a:gd name="T29" fmla="*/ 8 h 30"/>
                  <a:gd name="T30" fmla="*/ 114 w 122"/>
                  <a:gd name="T31" fmla="*/ 28 h 30"/>
                  <a:gd name="T32" fmla="*/ 118 w 122"/>
                  <a:gd name="T33" fmla="*/ 30 h 30"/>
                  <a:gd name="T34" fmla="*/ 120 w 122"/>
                  <a:gd name="T35" fmla="*/ 29 h 30"/>
                  <a:gd name="T36" fmla="*/ 121 w 122"/>
                  <a:gd name="T37" fmla="*/ 24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2" h="30">
                    <a:moveTo>
                      <a:pt x="121" y="24"/>
                    </a:moveTo>
                    <a:cubicBezTo>
                      <a:pt x="107" y="2"/>
                      <a:pt x="107" y="2"/>
                      <a:pt x="107" y="2"/>
                    </a:cubicBezTo>
                    <a:cubicBezTo>
                      <a:pt x="106" y="1"/>
                      <a:pt x="105" y="0"/>
                      <a:pt x="104" y="0"/>
                    </a:cubicBezTo>
                    <a:cubicBezTo>
                      <a:pt x="62" y="0"/>
                      <a:pt x="62" y="0"/>
                      <a:pt x="62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7" y="0"/>
                      <a:pt x="15" y="1"/>
                      <a:pt x="15" y="2"/>
                    </a:cubicBezTo>
                    <a:cubicBezTo>
                      <a:pt x="1" y="24"/>
                      <a:pt x="1" y="24"/>
                      <a:pt x="1" y="24"/>
                    </a:cubicBezTo>
                    <a:cubicBezTo>
                      <a:pt x="0" y="26"/>
                      <a:pt x="0" y="28"/>
                      <a:pt x="2" y="29"/>
                    </a:cubicBezTo>
                    <a:cubicBezTo>
                      <a:pt x="3" y="30"/>
                      <a:pt x="3" y="30"/>
                      <a:pt x="4" y="30"/>
                    </a:cubicBezTo>
                    <a:cubicBezTo>
                      <a:pt x="6" y="30"/>
                      <a:pt x="7" y="29"/>
                      <a:pt x="8" y="28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60" y="8"/>
                      <a:pt x="60" y="8"/>
                      <a:pt x="60" y="8"/>
                    </a:cubicBezTo>
                    <a:cubicBezTo>
                      <a:pt x="62" y="8"/>
                      <a:pt x="62" y="8"/>
                      <a:pt x="62" y="8"/>
                    </a:cubicBezTo>
                    <a:cubicBezTo>
                      <a:pt x="102" y="8"/>
                      <a:pt x="102" y="8"/>
                      <a:pt x="102" y="8"/>
                    </a:cubicBezTo>
                    <a:cubicBezTo>
                      <a:pt x="114" y="28"/>
                      <a:pt x="114" y="28"/>
                      <a:pt x="114" y="28"/>
                    </a:cubicBezTo>
                    <a:cubicBezTo>
                      <a:pt x="115" y="29"/>
                      <a:pt x="116" y="30"/>
                      <a:pt x="118" y="30"/>
                    </a:cubicBezTo>
                    <a:cubicBezTo>
                      <a:pt x="118" y="30"/>
                      <a:pt x="119" y="30"/>
                      <a:pt x="120" y="29"/>
                    </a:cubicBezTo>
                    <a:cubicBezTo>
                      <a:pt x="122" y="28"/>
                      <a:pt x="122" y="26"/>
                      <a:pt x="121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3" name="Freeform 33"/>
              <p:cNvSpPr/>
              <p:nvPr/>
            </p:nvSpPr>
            <p:spPr bwMode="auto">
              <a:xfrm>
                <a:off x="8686801" y="2019300"/>
                <a:ext cx="165100" cy="149225"/>
              </a:xfrm>
              <a:custGeom>
                <a:avLst/>
                <a:gdLst>
                  <a:gd name="T0" fmla="*/ 33 w 61"/>
                  <a:gd name="T1" fmla="*/ 0 h 55"/>
                  <a:gd name="T2" fmla="*/ 0 w 61"/>
                  <a:gd name="T3" fmla="*/ 33 h 55"/>
                  <a:gd name="T4" fmla="*/ 7 w 61"/>
                  <a:gd name="T5" fmla="*/ 54 h 55"/>
                  <a:gd name="T6" fmla="*/ 10 w 61"/>
                  <a:gd name="T7" fmla="*/ 55 h 55"/>
                  <a:gd name="T8" fmla="*/ 13 w 61"/>
                  <a:gd name="T9" fmla="*/ 55 h 55"/>
                  <a:gd name="T10" fmla="*/ 59 w 61"/>
                  <a:gd name="T11" fmla="*/ 19 h 55"/>
                  <a:gd name="T12" fmla="*/ 60 w 61"/>
                  <a:gd name="T13" fmla="*/ 13 h 55"/>
                  <a:gd name="T14" fmla="*/ 33 w 61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55">
                    <a:moveTo>
                      <a:pt x="33" y="0"/>
                    </a:moveTo>
                    <a:cubicBezTo>
                      <a:pt x="15" y="0"/>
                      <a:pt x="0" y="15"/>
                      <a:pt x="0" y="33"/>
                    </a:cubicBezTo>
                    <a:cubicBezTo>
                      <a:pt x="0" y="41"/>
                      <a:pt x="2" y="48"/>
                      <a:pt x="7" y="54"/>
                    </a:cubicBezTo>
                    <a:cubicBezTo>
                      <a:pt x="8" y="55"/>
                      <a:pt x="9" y="55"/>
                      <a:pt x="10" y="55"/>
                    </a:cubicBezTo>
                    <a:cubicBezTo>
                      <a:pt x="11" y="55"/>
                      <a:pt x="12" y="55"/>
                      <a:pt x="13" y="55"/>
                    </a:cubicBezTo>
                    <a:cubicBezTo>
                      <a:pt x="59" y="19"/>
                      <a:pt x="59" y="19"/>
                      <a:pt x="59" y="19"/>
                    </a:cubicBezTo>
                    <a:cubicBezTo>
                      <a:pt x="61" y="17"/>
                      <a:pt x="61" y="15"/>
                      <a:pt x="60" y="13"/>
                    </a:cubicBezTo>
                    <a:cubicBezTo>
                      <a:pt x="54" y="5"/>
                      <a:pt x="44" y="0"/>
                      <a:pt x="3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4" name="Freeform 34"/>
              <p:cNvSpPr/>
              <p:nvPr/>
            </p:nvSpPr>
            <p:spPr bwMode="auto">
              <a:xfrm>
                <a:off x="9048751" y="2019300"/>
                <a:ext cx="166688" cy="149225"/>
              </a:xfrm>
              <a:custGeom>
                <a:avLst/>
                <a:gdLst>
                  <a:gd name="T0" fmla="*/ 28 w 61"/>
                  <a:gd name="T1" fmla="*/ 0 h 55"/>
                  <a:gd name="T2" fmla="*/ 1 w 61"/>
                  <a:gd name="T3" fmla="*/ 13 h 55"/>
                  <a:gd name="T4" fmla="*/ 2 w 61"/>
                  <a:gd name="T5" fmla="*/ 19 h 55"/>
                  <a:gd name="T6" fmla="*/ 48 w 61"/>
                  <a:gd name="T7" fmla="*/ 55 h 55"/>
                  <a:gd name="T8" fmla="*/ 51 w 61"/>
                  <a:gd name="T9" fmla="*/ 55 h 55"/>
                  <a:gd name="T10" fmla="*/ 54 w 61"/>
                  <a:gd name="T11" fmla="*/ 54 h 55"/>
                  <a:gd name="T12" fmla="*/ 61 w 61"/>
                  <a:gd name="T13" fmla="*/ 33 h 55"/>
                  <a:gd name="T14" fmla="*/ 28 w 61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55">
                    <a:moveTo>
                      <a:pt x="28" y="0"/>
                    </a:moveTo>
                    <a:cubicBezTo>
                      <a:pt x="17" y="0"/>
                      <a:pt x="7" y="5"/>
                      <a:pt x="1" y="13"/>
                    </a:cubicBezTo>
                    <a:cubicBezTo>
                      <a:pt x="0" y="15"/>
                      <a:pt x="0" y="17"/>
                      <a:pt x="2" y="19"/>
                    </a:cubicBezTo>
                    <a:cubicBezTo>
                      <a:pt x="48" y="55"/>
                      <a:pt x="48" y="55"/>
                      <a:pt x="48" y="55"/>
                    </a:cubicBezTo>
                    <a:cubicBezTo>
                      <a:pt x="49" y="55"/>
                      <a:pt x="50" y="55"/>
                      <a:pt x="51" y="55"/>
                    </a:cubicBezTo>
                    <a:cubicBezTo>
                      <a:pt x="52" y="55"/>
                      <a:pt x="53" y="55"/>
                      <a:pt x="54" y="54"/>
                    </a:cubicBezTo>
                    <a:cubicBezTo>
                      <a:pt x="58" y="48"/>
                      <a:pt x="61" y="41"/>
                      <a:pt x="61" y="33"/>
                    </a:cubicBezTo>
                    <a:cubicBezTo>
                      <a:pt x="61" y="15"/>
                      <a:pt x="46" y="0"/>
                      <a:pt x="2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5" name="Freeform 223"/>
              <p:cNvSpPr>
                <a:spLocks noEditPoints="1"/>
              </p:cNvSpPr>
              <p:nvPr/>
            </p:nvSpPr>
            <p:spPr bwMode="auto">
              <a:xfrm>
                <a:off x="8743951" y="2073275"/>
                <a:ext cx="411163" cy="414338"/>
              </a:xfrm>
              <a:custGeom>
                <a:avLst/>
                <a:gdLst>
                  <a:gd name="T0" fmla="*/ 76 w 151"/>
                  <a:gd name="T1" fmla="*/ 0 h 152"/>
                  <a:gd name="T2" fmla="*/ 0 w 151"/>
                  <a:gd name="T3" fmla="*/ 76 h 152"/>
                  <a:gd name="T4" fmla="*/ 76 w 151"/>
                  <a:gd name="T5" fmla="*/ 152 h 152"/>
                  <a:gd name="T6" fmla="*/ 151 w 151"/>
                  <a:gd name="T7" fmla="*/ 76 h 152"/>
                  <a:gd name="T8" fmla="*/ 76 w 151"/>
                  <a:gd name="T9" fmla="*/ 0 h 152"/>
                  <a:gd name="T10" fmla="*/ 104 w 151"/>
                  <a:gd name="T11" fmla="*/ 82 h 152"/>
                  <a:gd name="T12" fmla="*/ 77 w 151"/>
                  <a:gd name="T13" fmla="*/ 82 h 152"/>
                  <a:gd name="T14" fmla="*/ 71 w 151"/>
                  <a:gd name="T15" fmla="*/ 76 h 152"/>
                  <a:gd name="T16" fmla="*/ 71 w 151"/>
                  <a:gd name="T17" fmla="*/ 24 h 152"/>
                  <a:gd name="T18" fmla="*/ 77 w 151"/>
                  <a:gd name="T19" fmla="*/ 18 h 152"/>
                  <a:gd name="T20" fmla="*/ 83 w 151"/>
                  <a:gd name="T21" fmla="*/ 24 h 152"/>
                  <a:gd name="T22" fmla="*/ 83 w 151"/>
                  <a:gd name="T23" fmla="*/ 70 h 152"/>
                  <a:gd name="T24" fmla="*/ 104 w 151"/>
                  <a:gd name="T25" fmla="*/ 70 h 152"/>
                  <a:gd name="T26" fmla="*/ 110 w 151"/>
                  <a:gd name="T27" fmla="*/ 76 h 152"/>
                  <a:gd name="T28" fmla="*/ 104 w 151"/>
                  <a:gd name="T29" fmla="*/ 82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51" h="152">
                    <a:moveTo>
                      <a:pt x="76" y="0"/>
                    </a:moveTo>
                    <a:cubicBezTo>
                      <a:pt x="34" y="0"/>
                      <a:pt x="0" y="34"/>
                      <a:pt x="0" y="76"/>
                    </a:cubicBezTo>
                    <a:cubicBezTo>
                      <a:pt x="0" y="118"/>
                      <a:pt x="34" y="152"/>
                      <a:pt x="76" y="152"/>
                    </a:cubicBezTo>
                    <a:cubicBezTo>
                      <a:pt x="118" y="152"/>
                      <a:pt x="151" y="118"/>
                      <a:pt x="151" y="76"/>
                    </a:cubicBezTo>
                    <a:cubicBezTo>
                      <a:pt x="151" y="34"/>
                      <a:pt x="118" y="0"/>
                      <a:pt x="76" y="0"/>
                    </a:cubicBezTo>
                    <a:close/>
                    <a:moveTo>
                      <a:pt x="104" y="82"/>
                    </a:moveTo>
                    <a:cubicBezTo>
                      <a:pt x="77" y="82"/>
                      <a:pt x="77" y="82"/>
                      <a:pt x="77" y="82"/>
                    </a:cubicBezTo>
                    <a:cubicBezTo>
                      <a:pt x="73" y="82"/>
                      <a:pt x="71" y="79"/>
                      <a:pt x="71" y="76"/>
                    </a:cubicBezTo>
                    <a:cubicBezTo>
                      <a:pt x="71" y="24"/>
                      <a:pt x="71" y="24"/>
                      <a:pt x="71" y="24"/>
                    </a:cubicBezTo>
                    <a:cubicBezTo>
                      <a:pt x="71" y="21"/>
                      <a:pt x="73" y="18"/>
                      <a:pt x="77" y="18"/>
                    </a:cubicBezTo>
                    <a:cubicBezTo>
                      <a:pt x="80" y="18"/>
                      <a:pt x="83" y="21"/>
                      <a:pt x="83" y="24"/>
                    </a:cubicBezTo>
                    <a:cubicBezTo>
                      <a:pt x="83" y="70"/>
                      <a:pt x="83" y="70"/>
                      <a:pt x="83" y="70"/>
                    </a:cubicBezTo>
                    <a:cubicBezTo>
                      <a:pt x="104" y="70"/>
                      <a:pt x="104" y="70"/>
                      <a:pt x="104" y="70"/>
                    </a:cubicBezTo>
                    <a:cubicBezTo>
                      <a:pt x="107" y="70"/>
                      <a:pt x="110" y="72"/>
                      <a:pt x="110" y="76"/>
                    </a:cubicBezTo>
                    <a:cubicBezTo>
                      <a:pt x="110" y="79"/>
                      <a:pt x="107" y="82"/>
                      <a:pt x="104" y="8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grpSp>
        <p:nvGrpSpPr>
          <p:cNvPr id="3" name="组合 2"/>
          <p:cNvGrpSpPr/>
          <p:nvPr/>
        </p:nvGrpSpPr>
        <p:grpSpPr>
          <a:xfrm>
            <a:off x="8778240" y="4855808"/>
            <a:ext cx="1628300" cy="523220"/>
            <a:chOff x="8778240" y="4855808"/>
            <a:chExt cx="1628300" cy="523220"/>
          </a:xfrm>
        </p:grpSpPr>
        <p:sp>
          <p:nvSpPr>
            <p:cNvPr id="67" name="Text Box 11"/>
            <p:cNvSpPr txBox="1">
              <a:spLocks noChangeArrowheads="1"/>
            </p:cNvSpPr>
            <p:nvPr/>
          </p:nvSpPr>
          <p:spPr bwMode="auto">
            <a:xfrm>
              <a:off x="9465722" y="4855808"/>
              <a:ext cx="940818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i="1" dirty="0" smtClean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O</a:t>
              </a:r>
              <a:r>
                <a:rPr lang="en-US" altLang="zh-CN" sz="2800" dirty="0" smtClean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 smtClean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n</a:t>
              </a:r>
              <a:r>
                <a:rPr lang="en-US" altLang="zh-CN" sz="2800" dirty="0" smtClean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)</a:t>
              </a:r>
              <a:endParaRPr lang="zh-CN" altLang="en-US" sz="28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53" name="右箭头 52"/>
            <p:cNvSpPr/>
            <p:nvPr/>
          </p:nvSpPr>
          <p:spPr>
            <a:xfrm>
              <a:off x="8778240" y="4999388"/>
              <a:ext cx="576000" cy="324000"/>
            </a:xfrm>
            <a:prstGeom prst="rightArrow">
              <a:avLst/>
            </a:prstGeom>
            <a:noFill/>
            <a:ln w="28575">
              <a:solidFill>
                <a:srgbClr val="507D7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5058569" y="992843"/>
            <a:ext cx="6608922" cy="1487927"/>
            <a:chOff x="5058569" y="992843"/>
            <a:chExt cx="6608922" cy="1487927"/>
          </a:xfrm>
        </p:grpSpPr>
        <p:sp>
          <p:nvSpPr>
            <p:cNvPr id="55" name="Text Box 15"/>
            <p:cNvSpPr txBox="1">
              <a:spLocks noChangeArrowheads="1"/>
            </p:cNvSpPr>
            <p:nvPr/>
          </p:nvSpPr>
          <p:spPr bwMode="auto">
            <a:xfrm>
              <a:off x="5058569" y="992843"/>
              <a:ext cx="660892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在二叉</a:t>
              </a:r>
              <a:r>
                <a:rPr lang="zh-CN" altLang="en-US" sz="2800" dirty="0" smtClean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链表中增加一</a:t>
              </a:r>
              <a:r>
                <a:rPr lang="zh-CN" altLang="en-US" sz="28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个指向双亲的指针</a:t>
              </a:r>
              <a:r>
                <a:rPr lang="zh-CN" altLang="en-US" sz="2800" dirty="0" smtClean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域</a:t>
              </a:r>
              <a:endPara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56" name="Group 9"/>
            <p:cNvGrpSpPr/>
            <p:nvPr/>
          </p:nvGrpSpPr>
          <p:grpSpPr bwMode="auto">
            <a:xfrm>
              <a:off x="5956111" y="1832770"/>
              <a:ext cx="4860000" cy="648000"/>
              <a:chOff x="2555" y="7156"/>
              <a:chExt cx="4060" cy="425"/>
            </a:xfrm>
          </p:grpSpPr>
          <p:sp>
            <p:nvSpPr>
              <p:cNvPr id="57" name="Rectangle 10"/>
              <p:cNvSpPr>
                <a:spLocks noChangeArrowheads="1"/>
              </p:cNvSpPr>
              <p:nvPr/>
            </p:nvSpPr>
            <p:spPr bwMode="auto">
              <a:xfrm>
                <a:off x="2555" y="7156"/>
                <a:ext cx="1015" cy="425"/>
              </a:xfrm>
              <a:prstGeom prst="rect">
                <a:avLst/>
              </a:prstGeom>
              <a:solidFill>
                <a:srgbClr val="DDDDDD"/>
              </a:solidFill>
              <a:ln w="28575">
                <a:solidFill>
                  <a:srgbClr val="507D7D"/>
                </a:solidFill>
                <a:miter lim="800000"/>
              </a:ln>
            </p:spPr>
            <p:txBody>
              <a:bodyPr tIns="0" bIns="0" anchor="ctr" anchorCtr="0"/>
              <a:lstStyle/>
              <a:p>
                <a:pPr algn="just" eaLnBrk="0" hangingPunct="0"/>
                <a:r>
                  <a:rPr lang="zh-CN" altLang="en-US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lchild</a:t>
                </a:r>
                <a:endParaRPr lang="en-US" altLang="zh-CN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8" name="Rectangle 11"/>
              <p:cNvSpPr>
                <a:spLocks noChangeArrowheads="1"/>
              </p:cNvSpPr>
              <p:nvPr/>
            </p:nvSpPr>
            <p:spPr bwMode="auto">
              <a:xfrm>
                <a:off x="3570" y="7156"/>
                <a:ext cx="1015" cy="425"/>
              </a:xfrm>
              <a:prstGeom prst="rect">
                <a:avLst/>
              </a:prstGeom>
              <a:solidFill>
                <a:srgbClr val="DDDDDD"/>
              </a:solidFill>
              <a:ln w="28575">
                <a:solidFill>
                  <a:srgbClr val="507D7D"/>
                </a:solidFill>
                <a:miter lim="800000"/>
              </a:ln>
            </p:spPr>
            <p:txBody>
              <a:bodyPr tIns="0" bIns="0" anchor="ctr" anchorCtr="0"/>
              <a:lstStyle/>
              <a:p>
                <a:pPr algn="just" eaLnBrk="0" hangingPunct="0"/>
                <a:r>
                  <a:rPr lang="zh-CN" altLang="en-US" sz="28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</a:t>
                </a:r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data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6" name="Rectangle 12"/>
              <p:cNvSpPr>
                <a:spLocks noChangeArrowheads="1"/>
              </p:cNvSpPr>
              <p:nvPr/>
            </p:nvSpPr>
            <p:spPr bwMode="auto">
              <a:xfrm>
                <a:off x="4585" y="7156"/>
                <a:ext cx="1015" cy="425"/>
              </a:xfrm>
              <a:prstGeom prst="rect">
                <a:avLst/>
              </a:prstGeom>
              <a:solidFill>
                <a:srgbClr val="DDDDDD"/>
              </a:solidFill>
              <a:ln w="28575">
                <a:solidFill>
                  <a:srgbClr val="507D7D"/>
                </a:solidFill>
                <a:miter lim="800000"/>
              </a:ln>
            </p:spPr>
            <p:txBody>
              <a:bodyPr tIns="0" bIns="0" anchor="ctr" anchorCtr="0"/>
              <a:lstStyle/>
              <a:p>
                <a:pPr algn="just" eaLnBrk="0" hangingPunct="0"/>
                <a:r>
                  <a:rPr lang="en-US" altLang="zh-CN" sz="28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parent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8" name="Rectangle 13"/>
              <p:cNvSpPr>
                <a:spLocks noChangeArrowheads="1"/>
              </p:cNvSpPr>
              <p:nvPr/>
            </p:nvSpPr>
            <p:spPr bwMode="auto">
              <a:xfrm>
                <a:off x="5600" y="7156"/>
                <a:ext cx="1015" cy="425"/>
              </a:xfrm>
              <a:prstGeom prst="rect">
                <a:avLst/>
              </a:prstGeom>
              <a:solidFill>
                <a:srgbClr val="DDDDDD"/>
              </a:solidFill>
              <a:ln w="28575">
                <a:solidFill>
                  <a:srgbClr val="507D7D"/>
                </a:solidFill>
                <a:miter lim="800000"/>
              </a:ln>
            </p:spPr>
            <p:txBody>
              <a:bodyPr tIns="0" bIns="0" anchor="ctr" anchorCtr="0"/>
              <a:lstStyle/>
              <a:p>
                <a:pPr algn="just" eaLnBrk="0" hangingPunct="0"/>
                <a:r>
                  <a:rPr lang="en-US" altLang="zh-CN" sz="28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800" dirty="0" err="1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rchild</a:t>
                </a:r>
                <a:endParaRPr lang="en-US" altLang="zh-CN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70" name="TextBox 69"/>
          <p:cNvSpPr txBox="1"/>
          <p:nvPr/>
        </p:nvSpPr>
        <p:spPr>
          <a:xfrm>
            <a:off x="3614578" y="1052206"/>
            <a:ext cx="12906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root</a:t>
            </a:r>
            <a:endParaRPr lang="zh-CN" altLang="en-US" sz="2800" dirty="0">
              <a:solidFill>
                <a:srgbClr val="B42D2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ounded Rectangle 10"/>
          <p:cNvSpPr/>
          <p:nvPr/>
        </p:nvSpPr>
        <p:spPr>
          <a:xfrm>
            <a:off x="542923" y="100964"/>
            <a:ext cx="4032000" cy="540000"/>
          </a:xfrm>
          <a:prstGeom prst="roundRect">
            <a:avLst/>
          </a:prstGeom>
          <a:solidFill>
            <a:srgbClr val="5A32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Text Box 2"/>
          <p:cNvSpPr txBox="1">
            <a:spLocks noChangeArrowheads="1"/>
          </p:cNvSpPr>
          <p:nvPr/>
        </p:nvSpPr>
        <p:spPr bwMode="auto">
          <a:xfrm>
            <a:off x="638167" y="61585"/>
            <a:ext cx="392827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</a:t>
            </a:r>
            <a:r>
              <a:rPr lang="zh-CN" altLang="en-US" sz="3200" b="1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叉链表的存储方法</a:t>
            </a:r>
            <a:endParaRPr lang="zh-CN" altLang="en-US" sz="32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676274" y="862132"/>
            <a:ext cx="6769100" cy="4624268"/>
            <a:chOff x="676274" y="1077913"/>
            <a:chExt cx="6769100" cy="4105276"/>
          </a:xfrm>
        </p:grpSpPr>
        <p:sp>
          <p:nvSpPr>
            <p:cNvPr id="70" name="Line 19"/>
            <p:cNvSpPr>
              <a:spLocks noChangeShapeType="1"/>
            </p:cNvSpPr>
            <p:nvPr/>
          </p:nvSpPr>
          <p:spPr bwMode="auto">
            <a:xfrm flipH="1">
              <a:off x="1549399" y="2947988"/>
              <a:ext cx="463550" cy="727075"/>
            </a:xfrm>
            <a:prstGeom prst="line">
              <a:avLst/>
            </a:prstGeom>
            <a:noFill/>
            <a:ln w="28575">
              <a:solidFill>
                <a:srgbClr val="285A32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lnSpc>
                  <a:spcPts val="3300"/>
                </a:lnSpc>
              </a:pPr>
              <a:endParaRPr lang="zh-CN" altLang="en-US"/>
            </a:p>
          </p:txBody>
        </p:sp>
        <p:sp>
          <p:nvSpPr>
            <p:cNvPr id="71" name="Freeform 23"/>
            <p:cNvSpPr/>
            <p:nvPr/>
          </p:nvSpPr>
          <p:spPr bwMode="auto">
            <a:xfrm>
              <a:off x="2678112" y="1927226"/>
              <a:ext cx="628650" cy="635000"/>
            </a:xfrm>
            <a:custGeom>
              <a:avLst/>
              <a:gdLst>
                <a:gd name="T0" fmla="*/ 550 w 550"/>
                <a:gd name="T1" fmla="*/ 0 h 544"/>
                <a:gd name="T2" fmla="*/ 0 w 550"/>
                <a:gd name="T3" fmla="*/ 544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50" h="544">
                  <a:moveTo>
                    <a:pt x="550" y="0"/>
                  </a:moveTo>
                  <a:lnTo>
                    <a:pt x="0" y="544"/>
                  </a:lnTo>
                </a:path>
              </a:pathLst>
            </a:custGeom>
            <a:noFill/>
            <a:ln w="28575" cmpd="sng">
              <a:solidFill>
                <a:srgbClr val="285A32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lnSpc>
                  <a:spcPts val="3300"/>
                </a:lnSpc>
              </a:pPr>
              <a:endParaRPr lang="zh-CN" altLang="en-US"/>
            </a:p>
          </p:txBody>
        </p:sp>
        <p:sp>
          <p:nvSpPr>
            <p:cNvPr id="72" name="Rectangle 25"/>
            <p:cNvSpPr>
              <a:spLocks noChangeArrowheads="1"/>
            </p:cNvSpPr>
            <p:nvPr/>
          </p:nvSpPr>
          <p:spPr bwMode="auto">
            <a:xfrm>
              <a:off x="3116262" y="1590676"/>
              <a:ext cx="1871663" cy="395288"/>
            </a:xfrm>
            <a:prstGeom prst="rect">
              <a:avLst/>
            </a:prstGeom>
            <a:noFill/>
            <a:ln w="28575">
              <a:solidFill>
                <a:srgbClr val="507D7D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10800" rIns="18000" bIns="10800">
              <a:flatTx/>
            </a:bodyPr>
            <a:lstStyle/>
            <a:p>
              <a:pPr>
                <a:lnSpc>
                  <a:spcPts val="3300"/>
                </a:lnSpc>
              </a:pPr>
              <a:endParaRPr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3" name="Rectangle 26"/>
            <p:cNvSpPr>
              <a:spLocks noChangeArrowheads="1"/>
            </p:cNvSpPr>
            <p:nvPr/>
          </p:nvSpPr>
          <p:spPr bwMode="auto">
            <a:xfrm>
              <a:off x="3609974" y="1590676"/>
              <a:ext cx="450850" cy="395288"/>
            </a:xfrm>
            <a:prstGeom prst="rect">
              <a:avLst/>
            </a:prstGeom>
            <a:noFill/>
            <a:ln w="28575">
              <a:solidFill>
                <a:srgbClr val="507D7D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0" rIns="18000" bIns="10800">
              <a:flatTx/>
            </a:bodyPr>
            <a:lstStyle/>
            <a:p>
              <a:pPr algn="just">
                <a:lnSpc>
                  <a:spcPts val="3300"/>
                </a:lnSpc>
              </a:pPr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Angsana New" panose="02020603050405020304" pitchFamily="18" charset="-34"/>
                </a:rPr>
                <a:t>A</a:t>
              </a:r>
              <a:endPara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ngsana New" panose="02020603050405020304" pitchFamily="18" charset="-34"/>
              </a:endParaRPr>
            </a:p>
          </p:txBody>
        </p:sp>
        <p:sp>
          <p:nvSpPr>
            <p:cNvPr id="74" name="Line 28"/>
            <p:cNvSpPr>
              <a:spLocks noChangeShapeType="1"/>
            </p:cNvSpPr>
            <p:nvPr/>
          </p:nvSpPr>
          <p:spPr bwMode="auto">
            <a:xfrm>
              <a:off x="3846512" y="1077913"/>
              <a:ext cx="241300" cy="482600"/>
            </a:xfrm>
            <a:prstGeom prst="line">
              <a:avLst/>
            </a:prstGeom>
            <a:noFill/>
            <a:ln w="28575">
              <a:solidFill>
                <a:srgbClr val="B42D2D"/>
              </a:solidFill>
              <a:rou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3300"/>
                </a:lnSpc>
              </a:pPr>
              <a:endParaRPr lang="zh-CN" altLang="en-US"/>
            </a:p>
          </p:txBody>
        </p:sp>
        <p:sp>
          <p:nvSpPr>
            <p:cNvPr id="114" name="Freeform 63"/>
            <p:cNvSpPr/>
            <p:nvPr/>
          </p:nvSpPr>
          <p:spPr bwMode="auto">
            <a:xfrm>
              <a:off x="4776787" y="1927226"/>
              <a:ext cx="536575" cy="635000"/>
            </a:xfrm>
            <a:custGeom>
              <a:avLst/>
              <a:gdLst>
                <a:gd name="T0" fmla="*/ 0 w 469"/>
                <a:gd name="T1" fmla="*/ 0 h 544"/>
                <a:gd name="T2" fmla="*/ 469 w 469"/>
                <a:gd name="T3" fmla="*/ 544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69" h="544">
                  <a:moveTo>
                    <a:pt x="0" y="0"/>
                  </a:moveTo>
                  <a:lnTo>
                    <a:pt x="469" y="544"/>
                  </a:lnTo>
                </a:path>
              </a:pathLst>
            </a:custGeom>
            <a:noFill/>
            <a:ln w="28575" cmpd="sng">
              <a:solidFill>
                <a:srgbClr val="285A32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lnSpc>
                  <a:spcPts val="3300"/>
                </a:lnSpc>
              </a:pPr>
              <a:endParaRPr lang="zh-CN" altLang="en-US"/>
            </a:p>
          </p:txBody>
        </p:sp>
        <p:sp>
          <p:nvSpPr>
            <p:cNvPr id="115" name="Line 68"/>
            <p:cNvSpPr>
              <a:spLocks noChangeShapeType="1"/>
            </p:cNvSpPr>
            <p:nvPr/>
          </p:nvSpPr>
          <p:spPr bwMode="auto">
            <a:xfrm>
              <a:off x="4537074" y="1584326"/>
              <a:ext cx="0" cy="398463"/>
            </a:xfrm>
            <a:prstGeom prst="line">
              <a:avLst/>
            </a:prstGeom>
            <a:noFill/>
            <a:ln w="28575">
              <a:solidFill>
                <a:srgbClr val="507D7D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  <a:flatTx/>
            </a:bodyPr>
            <a:lstStyle/>
            <a:p>
              <a:pPr>
                <a:lnSpc>
                  <a:spcPts val="3300"/>
                </a:lnSpc>
              </a:pPr>
              <a:endParaRPr lang="zh-CN" altLang="en-US"/>
            </a:p>
          </p:txBody>
        </p:sp>
        <p:sp>
          <p:nvSpPr>
            <p:cNvPr id="116" name="Rectangle 69"/>
            <p:cNvSpPr>
              <a:spLocks noChangeArrowheads="1"/>
            </p:cNvSpPr>
            <p:nvPr/>
          </p:nvSpPr>
          <p:spPr bwMode="auto">
            <a:xfrm>
              <a:off x="4094162" y="1587572"/>
              <a:ext cx="422275" cy="365125"/>
            </a:xfrm>
            <a:prstGeom prst="rect">
              <a:avLst/>
            </a:prstGeom>
            <a:noFill/>
            <a:ln w="2857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4000" tIns="10800" rIns="18000" bIns="10800"/>
            <a:lstStyle/>
            <a:p>
              <a:pPr>
                <a:lnSpc>
                  <a:spcPts val="3300"/>
                </a:lnSpc>
              </a:pPr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∧</a:t>
              </a:r>
              <a:endPara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7" name="Rectangle 70"/>
            <p:cNvSpPr>
              <a:spLocks noChangeArrowheads="1"/>
            </p:cNvSpPr>
            <p:nvPr/>
          </p:nvSpPr>
          <p:spPr bwMode="auto">
            <a:xfrm>
              <a:off x="1641474" y="2620963"/>
              <a:ext cx="1871663" cy="395288"/>
            </a:xfrm>
            <a:prstGeom prst="rect">
              <a:avLst/>
            </a:prstGeom>
            <a:noFill/>
            <a:ln w="28575">
              <a:solidFill>
                <a:srgbClr val="507D7D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10800" rIns="18000" bIns="10800">
              <a:flatTx/>
            </a:bodyPr>
            <a:lstStyle/>
            <a:p>
              <a:pPr>
                <a:lnSpc>
                  <a:spcPts val="3300"/>
                </a:lnSpc>
              </a:pPr>
              <a:endParaRPr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8" name="Rectangle 71"/>
            <p:cNvSpPr>
              <a:spLocks noChangeArrowheads="1"/>
            </p:cNvSpPr>
            <p:nvPr/>
          </p:nvSpPr>
          <p:spPr bwMode="auto">
            <a:xfrm>
              <a:off x="2135187" y="2620963"/>
              <a:ext cx="450850" cy="395288"/>
            </a:xfrm>
            <a:prstGeom prst="rect">
              <a:avLst/>
            </a:prstGeom>
            <a:noFill/>
            <a:ln w="28575">
              <a:solidFill>
                <a:srgbClr val="507D7D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0" rIns="18000" bIns="10800">
              <a:flatTx/>
            </a:bodyPr>
            <a:lstStyle/>
            <a:p>
              <a:pPr algn="just">
                <a:lnSpc>
                  <a:spcPts val="3300"/>
                </a:lnSpc>
              </a:pPr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Angsana New" panose="02020603050405020304" pitchFamily="18" charset="-34"/>
                </a:rPr>
                <a:t>B</a:t>
              </a:r>
              <a:endPara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ngsana New" panose="02020603050405020304" pitchFamily="18" charset="-34"/>
              </a:endParaRPr>
            </a:p>
          </p:txBody>
        </p:sp>
        <p:sp>
          <p:nvSpPr>
            <p:cNvPr id="119" name="Line 72"/>
            <p:cNvSpPr>
              <a:spLocks noChangeShapeType="1"/>
            </p:cNvSpPr>
            <p:nvPr/>
          </p:nvSpPr>
          <p:spPr bwMode="auto">
            <a:xfrm>
              <a:off x="3062287" y="2614613"/>
              <a:ext cx="0" cy="398463"/>
            </a:xfrm>
            <a:prstGeom prst="line">
              <a:avLst/>
            </a:prstGeom>
            <a:noFill/>
            <a:ln w="28575">
              <a:solidFill>
                <a:srgbClr val="507D7D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  <a:flatTx/>
            </a:bodyPr>
            <a:lstStyle/>
            <a:p>
              <a:pPr>
                <a:lnSpc>
                  <a:spcPts val="3300"/>
                </a:lnSpc>
              </a:pPr>
              <a:endParaRPr lang="zh-CN" altLang="en-US"/>
            </a:p>
          </p:txBody>
        </p:sp>
        <p:sp>
          <p:nvSpPr>
            <p:cNvPr id="120" name="Rectangle 73"/>
            <p:cNvSpPr>
              <a:spLocks noChangeArrowheads="1"/>
            </p:cNvSpPr>
            <p:nvPr/>
          </p:nvSpPr>
          <p:spPr bwMode="auto">
            <a:xfrm>
              <a:off x="3090862" y="2617860"/>
              <a:ext cx="422275" cy="365125"/>
            </a:xfrm>
            <a:prstGeom prst="rect">
              <a:avLst/>
            </a:prstGeom>
            <a:noFill/>
            <a:ln w="2857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4000" tIns="10800" rIns="18000" bIns="10800"/>
            <a:lstStyle/>
            <a:p>
              <a:pPr>
                <a:lnSpc>
                  <a:spcPts val="3300"/>
                </a:lnSpc>
              </a:pPr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∧</a:t>
              </a:r>
              <a:endPara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1" name="Rectangle 74"/>
            <p:cNvSpPr>
              <a:spLocks noChangeArrowheads="1"/>
            </p:cNvSpPr>
            <p:nvPr/>
          </p:nvSpPr>
          <p:spPr bwMode="auto">
            <a:xfrm>
              <a:off x="676274" y="3741738"/>
              <a:ext cx="1871663" cy="395288"/>
            </a:xfrm>
            <a:prstGeom prst="rect">
              <a:avLst/>
            </a:prstGeom>
            <a:noFill/>
            <a:ln w="28575">
              <a:solidFill>
                <a:srgbClr val="507D7D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10800" rIns="18000" bIns="10800">
              <a:flatTx/>
            </a:bodyPr>
            <a:lstStyle/>
            <a:p>
              <a:pPr>
                <a:lnSpc>
                  <a:spcPts val="3300"/>
                </a:lnSpc>
              </a:pPr>
              <a:endParaRPr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2" name="Rectangle 75"/>
            <p:cNvSpPr>
              <a:spLocks noChangeArrowheads="1"/>
            </p:cNvSpPr>
            <p:nvPr/>
          </p:nvSpPr>
          <p:spPr bwMode="auto">
            <a:xfrm>
              <a:off x="1169987" y="3741738"/>
              <a:ext cx="450850" cy="395288"/>
            </a:xfrm>
            <a:prstGeom prst="rect">
              <a:avLst/>
            </a:prstGeom>
            <a:noFill/>
            <a:ln w="28575">
              <a:solidFill>
                <a:srgbClr val="507D7D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0" rIns="18000" bIns="10800">
              <a:flatTx/>
            </a:bodyPr>
            <a:lstStyle/>
            <a:p>
              <a:pPr algn="just">
                <a:lnSpc>
                  <a:spcPts val="3300"/>
                </a:lnSpc>
              </a:pPr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Angsana New" panose="02020603050405020304" pitchFamily="18" charset="-34"/>
                </a:rPr>
                <a:t>D</a:t>
              </a:r>
              <a:endPara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ngsana New" panose="02020603050405020304" pitchFamily="18" charset="-34"/>
              </a:endParaRPr>
            </a:p>
          </p:txBody>
        </p:sp>
        <p:sp>
          <p:nvSpPr>
            <p:cNvPr id="123" name="Line 76"/>
            <p:cNvSpPr>
              <a:spLocks noChangeShapeType="1"/>
            </p:cNvSpPr>
            <p:nvPr/>
          </p:nvSpPr>
          <p:spPr bwMode="auto">
            <a:xfrm>
              <a:off x="2097087" y="3735388"/>
              <a:ext cx="0" cy="398463"/>
            </a:xfrm>
            <a:prstGeom prst="line">
              <a:avLst/>
            </a:prstGeom>
            <a:noFill/>
            <a:ln w="28575">
              <a:solidFill>
                <a:srgbClr val="507D7D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  <a:flatTx/>
            </a:bodyPr>
            <a:lstStyle/>
            <a:p>
              <a:pPr>
                <a:lnSpc>
                  <a:spcPts val="3300"/>
                </a:lnSpc>
              </a:pPr>
              <a:endParaRPr lang="zh-CN" altLang="en-US"/>
            </a:p>
          </p:txBody>
        </p:sp>
        <p:sp>
          <p:nvSpPr>
            <p:cNvPr id="124" name="Rectangle 77"/>
            <p:cNvSpPr>
              <a:spLocks noChangeArrowheads="1"/>
            </p:cNvSpPr>
            <p:nvPr/>
          </p:nvSpPr>
          <p:spPr bwMode="auto">
            <a:xfrm>
              <a:off x="682624" y="3738636"/>
              <a:ext cx="422275" cy="365125"/>
            </a:xfrm>
            <a:prstGeom prst="rect">
              <a:avLst/>
            </a:prstGeom>
            <a:noFill/>
            <a:ln w="2857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4000" tIns="10800" rIns="18000" bIns="10800"/>
            <a:lstStyle/>
            <a:p>
              <a:pPr>
                <a:lnSpc>
                  <a:spcPts val="3300"/>
                </a:lnSpc>
              </a:pPr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∧</a:t>
              </a:r>
              <a:endPara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5" name="Rectangle 78"/>
            <p:cNvSpPr>
              <a:spLocks noChangeArrowheads="1"/>
            </p:cNvSpPr>
            <p:nvPr/>
          </p:nvSpPr>
          <p:spPr bwMode="auto">
            <a:xfrm>
              <a:off x="3549649" y="3729038"/>
              <a:ext cx="1871663" cy="395288"/>
            </a:xfrm>
            <a:prstGeom prst="rect">
              <a:avLst/>
            </a:prstGeom>
            <a:noFill/>
            <a:ln w="28575">
              <a:solidFill>
                <a:srgbClr val="507D7D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10800" rIns="18000" bIns="10800">
              <a:flatTx/>
            </a:bodyPr>
            <a:lstStyle/>
            <a:p>
              <a:pPr>
                <a:lnSpc>
                  <a:spcPts val="3300"/>
                </a:lnSpc>
              </a:pPr>
              <a:endParaRPr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6" name="Rectangle 79"/>
            <p:cNvSpPr>
              <a:spLocks noChangeArrowheads="1"/>
            </p:cNvSpPr>
            <p:nvPr/>
          </p:nvSpPr>
          <p:spPr bwMode="auto">
            <a:xfrm>
              <a:off x="4043362" y="3729038"/>
              <a:ext cx="450850" cy="395288"/>
            </a:xfrm>
            <a:prstGeom prst="rect">
              <a:avLst/>
            </a:prstGeom>
            <a:noFill/>
            <a:ln w="28575">
              <a:solidFill>
                <a:srgbClr val="507D7D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0" rIns="18000" bIns="10800">
              <a:flatTx/>
            </a:bodyPr>
            <a:lstStyle/>
            <a:p>
              <a:pPr algn="just">
                <a:lnSpc>
                  <a:spcPts val="3300"/>
                </a:lnSpc>
              </a:pPr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Angsana New" panose="02020603050405020304" pitchFamily="18" charset="-34"/>
                </a:rPr>
                <a:t>E</a:t>
              </a:r>
              <a:endPara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ngsana New" panose="02020603050405020304" pitchFamily="18" charset="-34"/>
              </a:endParaRPr>
            </a:p>
          </p:txBody>
        </p:sp>
        <p:sp>
          <p:nvSpPr>
            <p:cNvPr id="127" name="Line 80"/>
            <p:cNvSpPr>
              <a:spLocks noChangeShapeType="1"/>
            </p:cNvSpPr>
            <p:nvPr/>
          </p:nvSpPr>
          <p:spPr bwMode="auto">
            <a:xfrm>
              <a:off x="4970462" y="3722688"/>
              <a:ext cx="0" cy="398463"/>
            </a:xfrm>
            <a:prstGeom prst="line">
              <a:avLst/>
            </a:prstGeom>
            <a:noFill/>
            <a:ln w="28575">
              <a:solidFill>
                <a:srgbClr val="507D7D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  <a:flatTx/>
            </a:bodyPr>
            <a:lstStyle/>
            <a:p>
              <a:pPr>
                <a:lnSpc>
                  <a:spcPts val="3300"/>
                </a:lnSpc>
              </a:pPr>
              <a:endParaRPr lang="zh-CN" altLang="en-US"/>
            </a:p>
          </p:txBody>
        </p:sp>
        <p:sp>
          <p:nvSpPr>
            <p:cNvPr id="128" name="Rectangle 81"/>
            <p:cNvSpPr>
              <a:spLocks noChangeArrowheads="1"/>
            </p:cNvSpPr>
            <p:nvPr/>
          </p:nvSpPr>
          <p:spPr bwMode="auto">
            <a:xfrm>
              <a:off x="5027612" y="3725936"/>
              <a:ext cx="422275" cy="365125"/>
            </a:xfrm>
            <a:prstGeom prst="rect">
              <a:avLst/>
            </a:prstGeom>
            <a:noFill/>
            <a:ln w="2857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4000" tIns="10800" rIns="18000" bIns="10800"/>
            <a:lstStyle/>
            <a:p>
              <a:pPr>
                <a:lnSpc>
                  <a:spcPts val="3300"/>
                </a:lnSpc>
              </a:pPr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∧</a:t>
              </a:r>
              <a:endPara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9" name="Rectangle 82"/>
            <p:cNvSpPr>
              <a:spLocks noChangeArrowheads="1"/>
            </p:cNvSpPr>
            <p:nvPr/>
          </p:nvSpPr>
          <p:spPr bwMode="auto">
            <a:xfrm>
              <a:off x="5559424" y="3714751"/>
              <a:ext cx="1871663" cy="395288"/>
            </a:xfrm>
            <a:prstGeom prst="rect">
              <a:avLst/>
            </a:prstGeom>
            <a:noFill/>
            <a:ln w="28575">
              <a:solidFill>
                <a:srgbClr val="507D7D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10800" rIns="18000" bIns="10800">
              <a:flatTx/>
            </a:bodyPr>
            <a:lstStyle/>
            <a:p>
              <a:pPr>
                <a:lnSpc>
                  <a:spcPts val="3300"/>
                </a:lnSpc>
              </a:pPr>
              <a:endParaRPr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0" name="Rectangle 83"/>
            <p:cNvSpPr>
              <a:spLocks noChangeArrowheads="1"/>
            </p:cNvSpPr>
            <p:nvPr/>
          </p:nvSpPr>
          <p:spPr bwMode="auto">
            <a:xfrm>
              <a:off x="6053137" y="3714751"/>
              <a:ext cx="450850" cy="395288"/>
            </a:xfrm>
            <a:prstGeom prst="rect">
              <a:avLst/>
            </a:prstGeom>
            <a:noFill/>
            <a:ln w="28575">
              <a:solidFill>
                <a:srgbClr val="507D7D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0" rIns="18000" bIns="10800">
              <a:flatTx/>
            </a:bodyPr>
            <a:lstStyle/>
            <a:p>
              <a:pPr algn="just">
                <a:lnSpc>
                  <a:spcPts val="3300"/>
                </a:lnSpc>
              </a:pPr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Angsana New" panose="02020603050405020304" pitchFamily="18" charset="-34"/>
                </a:rPr>
                <a:t>F</a:t>
              </a:r>
              <a:endPara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ngsana New" panose="02020603050405020304" pitchFamily="18" charset="-34"/>
              </a:endParaRPr>
            </a:p>
          </p:txBody>
        </p:sp>
        <p:sp>
          <p:nvSpPr>
            <p:cNvPr id="131" name="Line 84"/>
            <p:cNvSpPr>
              <a:spLocks noChangeShapeType="1"/>
            </p:cNvSpPr>
            <p:nvPr/>
          </p:nvSpPr>
          <p:spPr bwMode="auto">
            <a:xfrm>
              <a:off x="6980237" y="3708401"/>
              <a:ext cx="0" cy="398463"/>
            </a:xfrm>
            <a:prstGeom prst="line">
              <a:avLst/>
            </a:prstGeom>
            <a:noFill/>
            <a:ln w="28575">
              <a:solidFill>
                <a:srgbClr val="507D7D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  <a:flatTx/>
            </a:bodyPr>
            <a:lstStyle/>
            <a:p>
              <a:pPr>
                <a:lnSpc>
                  <a:spcPts val="3300"/>
                </a:lnSpc>
              </a:pPr>
              <a:endParaRPr lang="zh-CN" altLang="en-US"/>
            </a:p>
          </p:txBody>
        </p:sp>
        <p:sp>
          <p:nvSpPr>
            <p:cNvPr id="132" name="Rectangle 85"/>
            <p:cNvSpPr>
              <a:spLocks noChangeArrowheads="1"/>
            </p:cNvSpPr>
            <p:nvPr/>
          </p:nvSpPr>
          <p:spPr bwMode="auto">
            <a:xfrm>
              <a:off x="7023099" y="3725177"/>
              <a:ext cx="422275" cy="365125"/>
            </a:xfrm>
            <a:prstGeom prst="rect">
              <a:avLst/>
            </a:prstGeom>
            <a:noFill/>
            <a:ln w="2857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4000" tIns="10800" rIns="18000" bIns="10800"/>
            <a:lstStyle/>
            <a:p>
              <a:pPr>
                <a:lnSpc>
                  <a:spcPts val="3300"/>
                </a:lnSpc>
              </a:pPr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∧</a:t>
              </a:r>
              <a:endPara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3" name="Rectangle 86"/>
            <p:cNvSpPr>
              <a:spLocks noChangeArrowheads="1"/>
            </p:cNvSpPr>
            <p:nvPr/>
          </p:nvSpPr>
          <p:spPr bwMode="auto">
            <a:xfrm>
              <a:off x="4340224" y="2633663"/>
              <a:ext cx="1871663" cy="395288"/>
            </a:xfrm>
            <a:prstGeom prst="rect">
              <a:avLst/>
            </a:prstGeom>
            <a:noFill/>
            <a:ln w="28575">
              <a:solidFill>
                <a:srgbClr val="507D7D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10800" rIns="18000" bIns="10800">
              <a:flatTx/>
            </a:bodyPr>
            <a:lstStyle/>
            <a:p>
              <a:pPr>
                <a:lnSpc>
                  <a:spcPts val="3300"/>
                </a:lnSpc>
              </a:pPr>
              <a:endParaRPr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4" name="Rectangle 87"/>
            <p:cNvSpPr>
              <a:spLocks noChangeArrowheads="1"/>
            </p:cNvSpPr>
            <p:nvPr/>
          </p:nvSpPr>
          <p:spPr bwMode="auto">
            <a:xfrm>
              <a:off x="4833937" y="2633663"/>
              <a:ext cx="450850" cy="395288"/>
            </a:xfrm>
            <a:prstGeom prst="rect">
              <a:avLst/>
            </a:prstGeom>
            <a:noFill/>
            <a:ln w="28575">
              <a:solidFill>
                <a:srgbClr val="507D7D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0" rIns="18000" bIns="10800">
              <a:flatTx/>
            </a:bodyPr>
            <a:lstStyle/>
            <a:p>
              <a:pPr algn="just">
                <a:lnSpc>
                  <a:spcPts val="3300"/>
                </a:lnSpc>
              </a:pPr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Angsana New" panose="02020603050405020304" pitchFamily="18" charset="-34"/>
                </a:rPr>
                <a:t>C</a:t>
              </a:r>
              <a:endPara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ngsana New" panose="02020603050405020304" pitchFamily="18" charset="-34"/>
              </a:endParaRPr>
            </a:p>
          </p:txBody>
        </p:sp>
        <p:sp>
          <p:nvSpPr>
            <p:cNvPr id="135" name="Line 88"/>
            <p:cNvSpPr>
              <a:spLocks noChangeShapeType="1"/>
            </p:cNvSpPr>
            <p:nvPr/>
          </p:nvSpPr>
          <p:spPr bwMode="auto">
            <a:xfrm>
              <a:off x="5761037" y="2627313"/>
              <a:ext cx="0" cy="398463"/>
            </a:xfrm>
            <a:prstGeom prst="line">
              <a:avLst/>
            </a:prstGeom>
            <a:noFill/>
            <a:ln w="28575">
              <a:solidFill>
                <a:srgbClr val="507D7D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  <a:flatTx/>
            </a:bodyPr>
            <a:lstStyle/>
            <a:p>
              <a:pPr>
                <a:lnSpc>
                  <a:spcPts val="3300"/>
                </a:lnSpc>
              </a:pPr>
              <a:endParaRPr lang="zh-CN" altLang="en-US"/>
            </a:p>
          </p:txBody>
        </p:sp>
        <p:sp>
          <p:nvSpPr>
            <p:cNvPr id="136" name="Rectangle 90"/>
            <p:cNvSpPr>
              <a:spLocks noChangeArrowheads="1"/>
            </p:cNvSpPr>
            <p:nvPr/>
          </p:nvSpPr>
          <p:spPr bwMode="auto">
            <a:xfrm>
              <a:off x="1471612" y="4787901"/>
              <a:ext cx="1871663" cy="395288"/>
            </a:xfrm>
            <a:prstGeom prst="rect">
              <a:avLst/>
            </a:prstGeom>
            <a:noFill/>
            <a:ln w="28575">
              <a:solidFill>
                <a:srgbClr val="507D7D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4000" tIns="10800" rIns="18000" bIns="10800">
              <a:flatTx/>
            </a:bodyPr>
            <a:lstStyle/>
            <a:p>
              <a:pPr>
                <a:lnSpc>
                  <a:spcPts val="3300"/>
                </a:lnSpc>
              </a:pPr>
              <a:endParaRPr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7" name="Rectangle 91"/>
            <p:cNvSpPr>
              <a:spLocks noChangeArrowheads="1"/>
            </p:cNvSpPr>
            <p:nvPr/>
          </p:nvSpPr>
          <p:spPr bwMode="auto">
            <a:xfrm>
              <a:off x="1965324" y="4787901"/>
              <a:ext cx="450850" cy="395288"/>
            </a:xfrm>
            <a:prstGeom prst="rect">
              <a:avLst/>
            </a:prstGeom>
            <a:noFill/>
            <a:ln w="28575">
              <a:solidFill>
                <a:srgbClr val="507D7D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0" rIns="18000" bIns="10800">
              <a:flatTx/>
            </a:bodyPr>
            <a:lstStyle/>
            <a:p>
              <a:pPr algn="just">
                <a:lnSpc>
                  <a:spcPts val="3300"/>
                </a:lnSpc>
              </a:pPr>
              <a:r>
                <a:rPr lang="en-US" altLang="zh-CN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Angsana New" panose="02020603050405020304" pitchFamily="18" charset="-34"/>
                </a:rPr>
                <a:t>G</a:t>
              </a:r>
              <a:endParaRPr lang="en-US" altLang="zh-CN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ngsana New" panose="02020603050405020304" pitchFamily="18" charset="-34"/>
              </a:endParaRPr>
            </a:p>
          </p:txBody>
        </p:sp>
        <p:sp>
          <p:nvSpPr>
            <p:cNvPr id="138" name="Line 92"/>
            <p:cNvSpPr>
              <a:spLocks noChangeShapeType="1"/>
            </p:cNvSpPr>
            <p:nvPr/>
          </p:nvSpPr>
          <p:spPr bwMode="auto">
            <a:xfrm>
              <a:off x="2892424" y="4781551"/>
              <a:ext cx="0" cy="398463"/>
            </a:xfrm>
            <a:prstGeom prst="line">
              <a:avLst/>
            </a:prstGeom>
            <a:noFill/>
            <a:ln w="28575">
              <a:solidFill>
                <a:srgbClr val="507D7D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  <a:flatTx/>
            </a:bodyPr>
            <a:lstStyle/>
            <a:p>
              <a:pPr>
                <a:lnSpc>
                  <a:spcPts val="3300"/>
                </a:lnSpc>
              </a:pPr>
              <a:endParaRPr lang="zh-CN" altLang="en-US"/>
            </a:p>
          </p:txBody>
        </p:sp>
        <p:sp>
          <p:nvSpPr>
            <p:cNvPr id="139" name="Rectangle 93"/>
            <p:cNvSpPr>
              <a:spLocks noChangeArrowheads="1"/>
            </p:cNvSpPr>
            <p:nvPr/>
          </p:nvSpPr>
          <p:spPr bwMode="auto">
            <a:xfrm>
              <a:off x="2935287" y="4784797"/>
              <a:ext cx="422275" cy="365125"/>
            </a:xfrm>
            <a:prstGeom prst="rect">
              <a:avLst/>
            </a:prstGeom>
            <a:noFill/>
            <a:ln w="2857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4000" tIns="10800" rIns="18000" bIns="10800"/>
            <a:lstStyle/>
            <a:p>
              <a:pPr>
                <a:lnSpc>
                  <a:spcPts val="3300"/>
                </a:lnSpc>
              </a:pPr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∧</a:t>
              </a:r>
              <a:endPara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0" name="Freeform 94"/>
            <p:cNvSpPr/>
            <p:nvPr/>
          </p:nvSpPr>
          <p:spPr bwMode="auto">
            <a:xfrm flipH="1" flipV="1">
              <a:off x="2908299" y="2000251"/>
              <a:ext cx="641350" cy="692150"/>
            </a:xfrm>
            <a:custGeom>
              <a:avLst/>
              <a:gdLst>
                <a:gd name="T0" fmla="*/ 550 w 550"/>
                <a:gd name="T1" fmla="*/ 0 h 544"/>
                <a:gd name="T2" fmla="*/ 0 w 550"/>
                <a:gd name="T3" fmla="*/ 544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50" h="544">
                  <a:moveTo>
                    <a:pt x="550" y="0"/>
                  </a:moveTo>
                  <a:lnTo>
                    <a:pt x="0" y="544"/>
                  </a:lnTo>
                </a:path>
              </a:pathLst>
            </a:custGeom>
            <a:noFill/>
            <a:ln w="28575" cmpd="sng">
              <a:solidFill>
                <a:srgbClr val="285A32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lnSpc>
                  <a:spcPts val="3300"/>
                </a:lnSpc>
              </a:pPr>
              <a:endParaRPr lang="zh-CN" altLang="en-US"/>
            </a:p>
          </p:txBody>
        </p:sp>
        <p:sp>
          <p:nvSpPr>
            <p:cNvPr id="141" name="Rectangle 89"/>
            <p:cNvSpPr>
              <a:spLocks noChangeArrowheads="1"/>
            </p:cNvSpPr>
            <p:nvPr/>
          </p:nvSpPr>
          <p:spPr bwMode="auto">
            <a:xfrm>
              <a:off x="1493837" y="4813372"/>
              <a:ext cx="422275" cy="365125"/>
            </a:xfrm>
            <a:prstGeom prst="rect">
              <a:avLst/>
            </a:prstGeom>
            <a:noFill/>
            <a:ln w="2857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4000" tIns="10800" rIns="18000" bIns="10800"/>
            <a:lstStyle/>
            <a:p>
              <a:pPr>
                <a:lnSpc>
                  <a:spcPts val="3300"/>
                </a:lnSpc>
              </a:pPr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∧</a:t>
              </a:r>
              <a:endPara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2" name="Freeform 95"/>
            <p:cNvSpPr/>
            <p:nvPr/>
          </p:nvSpPr>
          <p:spPr bwMode="auto">
            <a:xfrm flipH="1" flipV="1">
              <a:off x="1846262" y="3046413"/>
              <a:ext cx="465138" cy="781050"/>
            </a:xfrm>
            <a:custGeom>
              <a:avLst/>
              <a:gdLst>
                <a:gd name="T0" fmla="*/ 550 w 550"/>
                <a:gd name="T1" fmla="*/ 0 h 544"/>
                <a:gd name="T2" fmla="*/ 0 w 550"/>
                <a:gd name="T3" fmla="*/ 544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50" h="544">
                  <a:moveTo>
                    <a:pt x="550" y="0"/>
                  </a:moveTo>
                  <a:lnTo>
                    <a:pt x="0" y="544"/>
                  </a:lnTo>
                </a:path>
              </a:pathLst>
            </a:custGeom>
            <a:noFill/>
            <a:ln w="28575" cmpd="sng">
              <a:solidFill>
                <a:srgbClr val="285A32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lnSpc>
                  <a:spcPts val="3300"/>
                </a:lnSpc>
              </a:pPr>
              <a:endParaRPr lang="zh-CN" altLang="en-US"/>
            </a:p>
          </p:txBody>
        </p:sp>
        <p:sp>
          <p:nvSpPr>
            <p:cNvPr id="143" name="Rectangle 96"/>
            <p:cNvSpPr>
              <a:spLocks noChangeArrowheads="1"/>
            </p:cNvSpPr>
            <p:nvPr/>
          </p:nvSpPr>
          <p:spPr bwMode="auto">
            <a:xfrm>
              <a:off x="3582987" y="3741810"/>
              <a:ext cx="422275" cy="365125"/>
            </a:xfrm>
            <a:prstGeom prst="rect">
              <a:avLst/>
            </a:prstGeom>
            <a:noFill/>
            <a:ln w="2857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4000" tIns="10800" rIns="18000" bIns="10800"/>
            <a:lstStyle/>
            <a:p>
              <a:pPr>
                <a:lnSpc>
                  <a:spcPts val="3300"/>
                </a:lnSpc>
              </a:pPr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∧</a:t>
              </a:r>
              <a:endPara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4" name="Rectangle 97"/>
            <p:cNvSpPr>
              <a:spLocks noChangeArrowheads="1"/>
            </p:cNvSpPr>
            <p:nvPr/>
          </p:nvSpPr>
          <p:spPr bwMode="auto">
            <a:xfrm>
              <a:off x="5622924" y="3739466"/>
              <a:ext cx="422275" cy="365125"/>
            </a:xfrm>
            <a:prstGeom prst="rect">
              <a:avLst/>
            </a:prstGeom>
            <a:noFill/>
            <a:ln w="2857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4000" tIns="10800" rIns="18000" bIns="10800"/>
            <a:lstStyle/>
            <a:p>
              <a:pPr>
                <a:lnSpc>
                  <a:spcPts val="3300"/>
                </a:lnSpc>
              </a:pPr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∧</a:t>
              </a:r>
              <a:endPara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5" name="Freeform 98"/>
            <p:cNvSpPr/>
            <p:nvPr/>
          </p:nvSpPr>
          <p:spPr bwMode="auto">
            <a:xfrm flipH="1" flipV="1">
              <a:off x="4678362" y="3032126"/>
              <a:ext cx="465138" cy="781050"/>
            </a:xfrm>
            <a:custGeom>
              <a:avLst/>
              <a:gdLst>
                <a:gd name="T0" fmla="*/ 550 w 550"/>
                <a:gd name="T1" fmla="*/ 0 h 544"/>
                <a:gd name="T2" fmla="*/ 0 w 550"/>
                <a:gd name="T3" fmla="*/ 544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50" h="544">
                  <a:moveTo>
                    <a:pt x="550" y="0"/>
                  </a:moveTo>
                  <a:lnTo>
                    <a:pt x="0" y="544"/>
                  </a:lnTo>
                </a:path>
              </a:pathLst>
            </a:custGeom>
            <a:noFill/>
            <a:ln w="28575" cmpd="sng">
              <a:solidFill>
                <a:srgbClr val="285A32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lnSpc>
                  <a:spcPts val="3300"/>
                </a:lnSpc>
              </a:pPr>
              <a:endParaRPr lang="zh-CN" altLang="en-US"/>
            </a:p>
          </p:txBody>
        </p:sp>
        <p:sp>
          <p:nvSpPr>
            <p:cNvPr id="146" name="Line 15"/>
            <p:cNvSpPr>
              <a:spLocks noChangeShapeType="1"/>
            </p:cNvSpPr>
            <p:nvPr/>
          </p:nvSpPr>
          <p:spPr bwMode="auto">
            <a:xfrm flipH="1">
              <a:off x="4206874" y="2962276"/>
              <a:ext cx="463550" cy="727075"/>
            </a:xfrm>
            <a:prstGeom prst="line">
              <a:avLst/>
            </a:prstGeom>
            <a:noFill/>
            <a:ln w="28575">
              <a:solidFill>
                <a:srgbClr val="285A32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lnSpc>
                  <a:spcPts val="3300"/>
                </a:lnSpc>
              </a:pPr>
              <a:endParaRPr lang="zh-CN" altLang="en-US"/>
            </a:p>
          </p:txBody>
        </p:sp>
        <p:sp>
          <p:nvSpPr>
            <p:cNvPr id="147" name="Freeform 7"/>
            <p:cNvSpPr/>
            <p:nvPr/>
          </p:nvSpPr>
          <p:spPr bwMode="auto">
            <a:xfrm>
              <a:off x="2262187" y="4024313"/>
              <a:ext cx="536575" cy="714375"/>
            </a:xfrm>
            <a:custGeom>
              <a:avLst/>
              <a:gdLst>
                <a:gd name="T0" fmla="*/ 0 w 444"/>
                <a:gd name="T1" fmla="*/ 0 h 523"/>
                <a:gd name="T2" fmla="*/ 444 w 444"/>
                <a:gd name="T3" fmla="*/ 523 h 5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44" h="523">
                  <a:moveTo>
                    <a:pt x="0" y="0"/>
                  </a:moveTo>
                  <a:lnTo>
                    <a:pt x="444" y="523"/>
                  </a:lnTo>
                </a:path>
              </a:pathLst>
            </a:custGeom>
            <a:noFill/>
            <a:ln w="28575" cmpd="sng">
              <a:solidFill>
                <a:srgbClr val="285A32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lnSpc>
                  <a:spcPts val="3300"/>
                </a:lnSpc>
              </a:pPr>
              <a:endParaRPr lang="zh-CN" altLang="en-US"/>
            </a:p>
          </p:txBody>
        </p:sp>
        <p:sp>
          <p:nvSpPr>
            <p:cNvPr id="148" name="Freeform 99"/>
            <p:cNvSpPr/>
            <p:nvPr/>
          </p:nvSpPr>
          <p:spPr bwMode="auto">
            <a:xfrm flipH="1" flipV="1">
              <a:off x="2117724" y="4192588"/>
              <a:ext cx="496888" cy="644525"/>
            </a:xfrm>
            <a:custGeom>
              <a:avLst/>
              <a:gdLst>
                <a:gd name="T0" fmla="*/ 0 w 444"/>
                <a:gd name="T1" fmla="*/ 0 h 523"/>
                <a:gd name="T2" fmla="*/ 444 w 444"/>
                <a:gd name="T3" fmla="*/ 523 h 5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44" h="523">
                  <a:moveTo>
                    <a:pt x="0" y="0"/>
                  </a:moveTo>
                  <a:lnTo>
                    <a:pt x="444" y="523"/>
                  </a:lnTo>
                </a:path>
              </a:pathLst>
            </a:custGeom>
            <a:noFill/>
            <a:ln w="28575" cmpd="sng">
              <a:solidFill>
                <a:srgbClr val="285A32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lnSpc>
                  <a:spcPts val="3300"/>
                </a:lnSpc>
              </a:pPr>
              <a:endParaRPr lang="zh-CN" altLang="en-US"/>
            </a:p>
          </p:txBody>
        </p:sp>
        <p:sp>
          <p:nvSpPr>
            <p:cNvPr id="149" name="Freeform 100"/>
            <p:cNvSpPr/>
            <p:nvPr/>
          </p:nvSpPr>
          <p:spPr bwMode="auto">
            <a:xfrm flipH="1" flipV="1">
              <a:off x="6249987" y="3011488"/>
              <a:ext cx="495300" cy="747713"/>
            </a:xfrm>
            <a:custGeom>
              <a:avLst/>
              <a:gdLst>
                <a:gd name="T0" fmla="*/ 0 w 444"/>
                <a:gd name="T1" fmla="*/ 0 h 523"/>
                <a:gd name="T2" fmla="*/ 444 w 444"/>
                <a:gd name="T3" fmla="*/ 523 h 5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44" h="523">
                  <a:moveTo>
                    <a:pt x="0" y="0"/>
                  </a:moveTo>
                  <a:lnTo>
                    <a:pt x="444" y="523"/>
                  </a:lnTo>
                </a:path>
              </a:pathLst>
            </a:custGeom>
            <a:noFill/>
            <a:ln w="28575" cmpd="sng">
              <a:solidFill>
                <a:srgbClr val="285A32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lnSpc>
                  <a:spcPts val="3300"/>
                </a:lnSpc>
              </a:pPr>
              <a:endParaRPr lang="zh-CN" altLang="en-US"/>
            </a:p>
          </p:txBody>
        </p:sp>
        <p:sp>
          <p:nvSpPr>
            <p:cNvPr id="150" name="Freeform 101"/>
            <p:cNvSpPr/>
            <p:nvPr/>
          </p:nvSpPr>
          <p:spPr bwMode="auto">
            <a:xfrm flipH="1" flipV="1">
              <a:off x="5011737" y="1951038"/>
              <a:ext cx="568325" cy="703263"/>
            </a:xfrm>
            <a:custGeom>
              <a:avLst/>
              <a:gdLst>
                <a:gd name="T0" fmla="*/ 0 w 444"/>
                <a:gd name="T1" fmla="*/ 0 h 523"/>
                <a:gd name="T2" fmla="*/ 444 w 444"/>
                <a:gd name="T3" fmla="*/ 523 h 5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44" h="523">
                  <a:moveTo>
                    <a:pt x="0" y="0"/>
                  </a:moveTo>
                  <a:lnTo>
                    <a:pt x="444" y="523"/>
                  </a:lnTo>
                </a:path>
              </a:pathLst>
            </a:custGeom>
            <a:noFill/>
            <a:ln w="28575" cmpd="sng">
              <a:solidFill>
                <a:srgbClr val="285A32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lnSpc>
                  <a:spcPts val="3300"/>
                </a:lnSpc>
              </a:pPr>
              <a:endParaRPr lang="zh-CN" altLang="en-US"/>
            </a:p>
          </p:txBody>
        </p:sp>
        <p:sp>
          <p:nvSpPr>
            <p:cNvPr id="151" name="Line 11"/>
            <p:cNvSpPr>
              <a:spLocks noChangeShapeType="1"/>
            </p:cNvSpPr>
            <p:nvPr/>
          </p:nvSpPr>
          <p:spPr bwMode="auto">
            <a:xfrm>
              <a:off x="5938837" y="2932113"/>
              <a:ext cx="463550" cy="727075"/>
            </a:xfrm>
            <a:prstGeom prst="line">
              <a:avLst/>
            </a:prstGeom>
            <a:noFill/>
            <a:ln w="28575">
              <a:solidFill>
                <a:srgbClr val="285A32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lnSpc>
                  <a:spcPts val="3300"/>
                </a:lnSpc>
              </a:pPr>
              <a:endParaRPr lang="zh-CN" altLang="en-US"/>
            </a:p>
          </p:txBody>
        </p:sp>
      </p:grpSp>
      <p:grpSp>
        <p:nvGrpSpPr>
          <p:cNvPr id="152" name="组合 151"/>
          <p:cNvGrpSpPr/>
          <p:nvPr/>
        </p:nvGrpSpPr>
        <p:grpSpPr>
          <a:xfrm>
            <a:off x="8201650" y="1014531"/>
            <a:ext cx="3005177" cy="3274895"/>
            <a:chOff x="8138952" y="2616992"/>
            <a:chExt cx="3005177" cy="3274895"/>
          </a:xfrm>
          <a:solidFill>
            <a:srgbClr val="B4B4BE"/>
          </a:solidFill>
        </p:grpSpPr>
        <p:sp>
          <p:nvSpPr>
            <p:cNvPr id="153" name="Line 25"/>
            <p:cNvSpPr>
              <a:spLocks noChangeShapeType="1"/>
            </p:cNvSpPr>
            <p:nvPr/>
          </p:nvSpPr>
          <p:spPr bwMode="auto">
            <a:xfrm flipH="1">
              <a:off x="8995407" y="2953542"/>
              <a:ext cx="511175" cy="540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154" name="Line 26"/>
            <p:cNvSpPr>
              <a:spLocks noChangeShapeType="1"/>
            </p:cNvSpPr>
            <p:nvPr/>
          </p:nvSpPr>
          <p:spPr bwMode="auto">
            <a:xfrm>
              <a:off x="9879645" y="2953541"/>
              <a:ext cx="432000" cy="540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155" name="Line 27"/>
            <p:cNvSpPr>
              <a:spLocks noChangeShapeType="1"/>
            </p:cNvSpPr>
            <p:nvPr/>
          </p:nvSpPr>
          <p:spPr bwMode="auto">
            <a:xfrm flipH="1">
              <a:off x="8373108" y="3834286"/>
              <a:ext cx="360000" cy="648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156" name="Line 28"/>
            <p:cNvSpPr>
              <a:spLocks noChangeShapeType="1"/>
            </p:cNvSpPr>
            <p:nvPr/>
          </p:nvSpPr>
          <p:spPr bwMode="auto">
            <a:xfrm>
              <a:off x="8417876" y="4899182"/>
              <a:ext cx="396875" cy="606425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157" name="Line 29"/>
            <p:cNvSpPr>
              <a:spLocks noChangeShapeType="1"/>
            </p:cNvSpPr>
            <p:nvPr/>
          </p:nvSpPr>
          <p:spPr bwMode="auto">
            <a:xfrm flipH="1">
              <a:off x="10043475" y="3829524"/>
              <a:ext cx="288000" cy="648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158" name="Line 30"/>
            <p:cNvSpPr>
              <a:spLocks noChangeShapeType="1"/>
            </p:cNvSpPr>
            <p:nvPr/>
          </p:nvSpPr>
          <p:spPr bwMode="auto">
            <a:xfrm>
              <a:off x="10561325" y="3841246"/>
              <a:ext cx="288000" cy="6258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159" name="Oval 37"/>
            <p:cNvSpPr>
              <a:spLocks noChangeArrowheads="1"/>
            </p:cNvSpPr>
            <p:nvPr/>
          </p:nvSpPr>
          <p:spPr bwMode="auto">
            <a:xfrm>
              <a:off x="9486898" y="2616992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0" name="Oval 37"/>
            <p:cNvSpPr>
              <a:spLocks noChangeArrowheads="1"/>
            </p:cNvSpPr>
            <p:nvPr/>
          </p:nvSpPr>
          <p:spPr bwMode="auto">
            <a:xfrm>
              <a:off x="10228577" y="3433283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1" name="Oval 37"/>
            <p:cNvSpPr>
              <a:spLocks noChangeArrowheads="1"/>
            </p:cNvSpPr>
            <p:nvPr/>
          </p:nvSpPr>
          <p:spPr bwMode="auto">
            <a:xfrm>
              <a:off x="8631553" y="3433283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2" name="Oval 37"/>
            <p:cNvSpPr>
              <a:spLocks noChangeArrowheads="1"/>
            </p:cNvSpPr>
            <p:nvPr/>
          </p:nvSpPr>
          <p:spPr bwMode="auto">
            <a:xfrm>
              <a:off x="8138952" y="4473574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3" name="Oval 37"/>
            <p:cNvSpPr>
              <a:spLocks noChangeArrowheads="1"/>
            </p:cNvSpPr>
            <p:nvPr/>
          </p:nvSpPr>
          <p:spPr bwMode="auto">
            <a:xfrm>
              <a:off x="9775505" y="4473574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4" name="Oval 37"/>
            <p:cNvSpPr>
              <a:spLocks noChangeArrowheads="1"/>
            </p:cNvSpPr>
            <p:nvPr/>
          </p:nvSpPr>
          <p:spPr bwMode="auto">
            <a:xfrm>
              <a:off x="10712129" y="4473574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5" name="Oval 37"/>
            <p:cNvSpPr>
              <a:spLocks noChangeArrowheads="1"/>
            </p:cNvSpPr>
            <p:nvPr/>
          </p:nvSpPr>
          <p:spPr bwMode="auto">
            <a:xfrm>
              <a:off x="8714420" y="5459887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4" name="TextBox 63"/>
          <p:cNvSpPr txBox="1"/>
          <p:nvPr/>
        </p:nvSpPr>
        <p:spPr>
          <a:xfrm>
            <a:off x="3949858" y="671206"/>
            <a:ext cx="12906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root</a:t>
            </a:r>
            <a:endParaRPr lang="zh-CN" altLang="en-US" sz="2800" dirty="0">
              <a:solidFill>
                <a:srgbClr val="B42D2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ounded Rectangle 10"/>
          <p:cNvSpPr/>
          <p:nvPr/>
        </p:nvSpPr>
        <p:spPr>
          <a:xfrm>
            <a:off x="542923" y="100964"/>
            <a:ext cx="3600000" cy="540000"/>
          </a:xfrm>
          <a:prstGeom prst="roundRect">
            <a:avLst/>
          </a:prstGeom>
          <a:solidFill>
            <a:srgbClr val="5A32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Text Box 2"/>
          <p:cNvSpPr txBox="1">
            <a:spLocks noChangeArrowheads="1"/>
          </p:cNvSpPr>
          <p:nvPr/>
        </p:nvSpPr>
        <p:spPr bwMode="auto">
          <a:xfrm>
            <a:off x="638167" y="61585"/>
            <a:ext cx="352235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</a:t>
            </a:r>
            <a:r>
              <a:rPr lang="zh-CN" altLang="en-US" sz="3200" b="1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叉</a:t>
            </a:r>
            <a:r>
              <a:rPr lang="zh-CN" altLang="en-US" sz="3200" b="1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链表</a:t>
            </a:r>
            <a:r>
              <a:rPr lang="zh-CN" altLang="en-US" sz="3200" b="1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的类定义</a:t>
            </a:r>
            <a:endParaRPr lang="zh-CN" altLang="en-US" sz="32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63" name="组合 62"/>
          <p:cNvGrpSpPr/>
          <p:nvPr/>
        </p:nvGrpSpPr>
        <p:grpSpPr>
          <a:xfrm>
            <a:off x="437714" y="957106"/>
            <a:ext cx="9209206" cy="523220"/>
            <a:chOff x="1826091" y="4148024"/>
            <a:chExt cx="9209206" cy="523220"/>
          </a:xfrm>
        </p:grpSpPr>
        <p:sp>
          <p:nvSpPr>
            <p:cNvPr id="65" name="Text Box 11"/>
            <p:cNvSpPr txBox="1">
              <a:spLocks noChangeArrowheads="1"/>
            </p:cNvSpPr>
            <p:nvPr/>
          </p:nvSpPr>
          <p:spPr bwMode="auto">
            <a:xfrm>
              <a:off x="2385059" y="4148024"/>
              <a:ext cx="8650238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 smtClean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二叉树</a:t>
              </a:r>
              <a:r>
                <a:rPr lang="zh-CN" altLang="en-US" sz="2800" dirty="0" smtClean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</a:t>
              </a:r>
              <a:r>
                <a:rPr lang="zh-CN" altLang="en-US" sz="2800" dirty="0" smtClean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抽象数据类型定义？</a:t>
              </a:r>
              <a:endPara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66" name="Group 31"/>
            <p:cNvGrpSpPr/>
            <p:nvPr/>
          </p:nvGrpSpPr>
          <p:grpSpPr>
            <a:xfrm>
              <a:off x="1826091" y="4213620"/>
              <a:ext cx="465732" cy="432000"/>
              <a:chOff x="8686801" y="2019300"/>
              <a:chExt cx="528638" cy="565150"/>
            </a:xfrm>
            <a:solidFill>
              <a:srgbClr val="5A327D"/>
            </a:solidFill>
          </p:grpSpPr>
          <p:sp>
            <p:nvSpPr>
              <p:cNvPr id="67" name="Freeform 32"/>
              <p:cNvSpPr/>
              <p:nvPr/>
            </p:nvSpPr>
            <p:spPr bwMode="auto">
              <a:xfrm>
                <a:off x="8785226" y="2501900"/>
                <a:ext cx="331788" cy="82550"/>
              </a:xfrm>
              <a:custGeom>
                <a:avLst/>
                <a:gdLst>
                  <a:gd name="T0" fmla="*/ 121 w 122"/>
                  <a:gd name="T1" fmla="*/ 24 h 30"/>
                  <a:gd name="T2" fmla="*/ 107 w 122"/>
                  <a:gd name="T3" fmla="*/ 2 h 30"/>
                  <a:gd name="T4" fmla="*/ 104 w 122"/>
                  <a:gd name="T5" fmla="*/ 0 h 30"/>
                  <a:gd name="T6" fmla="*/ 62 w 122"/>
                  <a:gd name="T7" fmla="*/ 0 h 30"/>
                  <a:gd name="T8" fmla="*/ 60 w 122"/>
                  <a:gd name="T9" fmla="*/ 0 h 30"/>
                  <a:gd name="T10" fmla="*/ 18 w 122"/>
                  <a:gd name="T11" fmla="*/ 0 h 30"/>
                  <a:gd name="T12" fmla="*/ 15 w 122"/>
                  <a:gd name="T13" fmla="*/ 2 h 30"/>
                  <a:gd name="T14" fmla="*/ 1 w 122"/>
                  <a:gd name="T15" fmla="*/ 24 h 30"/>
                  <a:gd name="T16" fmla="*/ 2 w 122"/>
                  <a:gd name="T17" fmla="*/ 29 h 30"/>
                  <a:gd name="T18" fmla="*/ 4 w 122"/>
                  <a:gd name="T19" fmla="*/ 30 h 30"/>
                  <a:gd name="T20" fmla="*/ 8 w 122"/>
                  <a:gd name="T21" fmla="*/ 28 h 30"/>
                  <a:gd name="T22" fmla="*/ 20 w 122"/>
                  <a:gd name="T23" fmla="*/ 8 h 30"/>
                  <a:gd name="T24" fmla="*/ 60 w 122"/>
                  <a:gd name="T25" fmla="*/ 8 h 30"/>
                  <a:gd name="T26" fmla="*/ 62 w 122"/>
                  <a:gd name="T27" fmla="*/ 8 h 30"/>
                  <a:gd name="T28" fmla="*/ 102 w 122"/>
                  <a:gd name="T29" fmla="*/ 8 h 30"/>
                  <a:gd name="T30" fmla="*/ 114 w 122"/>
                  <a:gd name="T31" fmla="*/ 28 h 30"/>
                  <a:gd name="T32" fmla="*/ 118 w 122"/>
                  <a:gd name="T33" fmla="*/ 30 h 30"/>
                  <a:gd name="T34" fmla="*/ 120 w 122"/>
                  <a:gd name="T35" fmla="*/ 29 h 30"/>
                  <a:gd name="T36" fmla="*/ 121 w 122"/>
                  <a:gd name="T37" fmla="*/ 24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2" h="30">
                    <a:moveTo>
                      <a:pt x="121" y="24"/>
                    </a:moveTo>
                    <a:cubicBezTo>
                      <a:pt x="107" y="2"/>
                      <a:pt x="107" y="2"/>
                      <a:pt x="107" y="2"/>
                    </a:cubicBezTo>
                    <a:cubicBezTo>
                      <a:pt x="106" y="1"/>
                      <a:pt x="105" y="0"/>
                      <a:pt x="104" y="0"/>
                    </a:cubicBezTo>
                    <a:cubicBezTo>
                      <a:pt x="62" y="0"/>
                      <a:pt x="62" y="0"/>
                      <a:pt x="62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7" y="0"/>
                      <a:pt x="15" y="1"/>
                      <a:pt x="15" y="2"/>
                    </a:cubicBezTo>
                    <a:cubicBezTo>
                      <a:pt x="1" y="24"/>
                      <a:pt x="1" y="24"/>
                      <a:pt x="1" y="24"/>
                    </a:cubicBezTo>
                    <a:cubicBezTo>
                      <a:pt x="0" y="26"/>
                      <a:pt x="0" y="28"/>
                      <a:pt x="2" y="29"/>
                    </a:cubicBezTo>
                    <a:cubicBezTo>
                      <a:pt x="3" y="30"/>
                      <a:pt x="3" y="30"/>
                      <a:pt x="4" y="30"/>
                    </a:cubicBezTo>
                    <a:cubicBezTo>
                      <a:pt x="6" y="30"/>
                      <a:pt x="7" y="29"/>
                      <a:pt x="8" y="28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60" y="8"/>
                      <a:pt x="60" y="8"/>
                      <a:pt x="60" y="8"/>
                    </a:cubicBezTo>
                    <a:cubicBezTo>
                      <a:pt x="62" y="8"/>
                      <a:pt x="62" y="8"/>
                      <a:pt x="62" y="8"/>
                    </a:cubicBezTo>
                    <a:cubicBezTo>
                      <a:pt x="102" y="8"/>
                      <a:pt x="102" y="8"/>
                      <a:pt x="102" y="8"/>
                    </a:cubicBezTo>
                    <a:cubicBezTo>
                      <a:pt x="114" y="28"/>
                      <a:pt x="114" y="28"/>
                      <a:pt x="114" y="28"/>
                    </a:cubicBezTo>
                    <a:cubicBezTo>
                      <a:pt x="115" y="29"/>
                      <a:pt x="116" y="30"/>
                      <a:pt x="118" y="30"/>
                    </a:cubicBezTo>
                    <a:cubicBezTo>
                      <a:pt x="118" y="30"/>
                      <a:pt x="119" y="30"/>
                      <a:pt x="120" y="29"/>
                    </a:cubicBezTo>
                    <a:cubicBezTo>
                      <a:pt x="122" y="28"/>
                      <a:pt x="122" y="26"/>
                      <a:pt x="121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8" name="Freeform 33"/>
              <p:cNvSpPr/>
              <p:nvPr/>
            </p:nvSpPr>
            <p:spPr bwMode="auto">
              <a:xfrm>
                <a:off x="8686801" y="2019300"/>
                <a:ext cx="165100" cy="149225"/>
              </a:xfrm>
              <a:custGeom>
                <a:avLst/>
                <a:gdLst>
                  <a:gd name="T0" fmla="*/ 33 w 61"/>
                  <a:gd name="T1" fmla="*/ 0 h 55"/>
                  <a:gd name="T2" fmla="*/ 0 w 61"/>
                  <a:gd name="T3" fmla="*/ 33 h 55"/>
                  <a:gd name="T4" fmla="*/ 7 w 61"/>
                  <a:gd name="T5" fmla="*/ 54 h 55"/>
                  <a:gd name="T6" fmla="*/ 10 w 61"/>
                  <a:gd name="T7" fmla="*/ 55 h 55"/>
                  <a:gd name="T8" fmla="*/ 13 w 61"/>
                  <a:gd name="T9" fmla="*/ 55 h 55"/>
                  <a:gd name="T10" fmla="*/ 59 w 61"/>
                  <a:gd name="T11" fmla="*/ 19 h 55"/>
                  <a:gd name="T12" fmla="*/ 60 w 61"/>
                  <a:gd name="T13" fmla="*/ 13 h 55"/>
                  <a:gd name="T14" fmla="*/ 33 w 61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55">
                    <a:moveTo>
                      <a:pt x="33" y="0"/>
                    </a:moveTo>
                    <a:cubicBezTo>
                      <a:pt x="15" y="0"/>
                      <a:pt x="0" y="15"/>
                      <a:pt x="0" y="33"/>
                    </a:cubicBezTo>
                    <a:cubicBezTo>
                      <a:pt x="0" y="41"/>
                      <a:pt x="2" y="48"/>
                      <a:pt x="7" y="54"/>
                    </a:cubicBezTo>
                    <a:cubicBezTo>
                      <a:pt x="8" y="55"/>
                      <a:pt x="9" y="55"/>
                      <a:pt x="10" y="55"/>
                    </a:cubicBezTo>
                    <a:cubicBezTo>
                      <a:pt x="11" y="55"/>
                      <a:pt x="12" y="55"/>
                      <a:pt x="13" y="55"/>
                    </a:cubicBezTo>
                    <a:cubicBezTo>
                      <a:pt x="59" y="19"/>
                      <a:pt x="59" y="19"/>
                      <a:pt x="59" y="19"/>
                    </a:cubicBezTo>
                    <a:cubicBezTo>
                      <a:pt x="61" y="17"/>
                      <a:pt x="61" y="15"/>
                      <a:pt x="60" y="13"/>
                    </a:cubicBezTo>
                    <a:cubicBezTo>
                      <a:pt x="54" y="5"/>
                      <a:pt x="44" y="0"/>
                      <a:pt x="3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9" name="Freeform 34"/>
              <p:cNvSpPr/>
              <p:nvPr/>
            </p:nvSpPr>
            <p:spPr bwMode="auto">
              <a:xfrm>
                <a:off x="9048751" y="2019300"/>
                <a:ext cx="166688" cy="149225"/>
              </a:xfrm>
              <a:custGeom>
                <a:avLst/>
                <a:gdLst>
                  <a:gd name="T0" fmla="*/ 28 w 61"/>
                  <a:gd name="T1" fmla="*/ 0 h 55"/>
                  <a:gd name="T2" fmla="*/ 1 w 61"/>
                  <a:gd name="T3" fmla="*/ 13 h 55"/>
                  <a:gd name="T4" fmla="*/ 2 w 61"/>
                  <a:gd name="T5" fmla="*/ 19 h 55"/>
                  <a:gd name="T6" fmla="*/ 48 w 61"/>
                  <a:gd name="T7" fmla="*/ 55 h 55"/>
                  <a:gd name="T8" fmla="*/ 51 w 61"/>
                  <a:gd name="T9" fmla="*/ 55 h 55"/>
                  <a:gd name="T10" fmla="*/ 54 w 61"/>
                  <a:gd name="T11" fmla="*/ 54 h 55"/>
                  <a:gd name="T12" fmla="*/ 61 w 61"/>
                  <a:gd name="T13" fmla="*/ 33 h 55"/>
                  <a:gd name="T14" fmla="*/ 28 w 61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55">
                    <a:moveTo>
                      <a:pt x="28" y="0"/>
                    </a:moveTo>
                    <a:cubicBezTo>
                      <a:pt x="17" y="0"/>
                      <a:pt x="7" y="5"/>
                      <a:pt x="1" y="13"/>
                    </a:cubicBezTo>
                    <a:cubicBezTo>
                      <a:pt x="0" y="15"/>
                      <a:pt x="0" y="17"/>
                      <a:pt x="2" y="19"/>
                    </a:cubicBezTo>
                    <a:cubicBezTo>
                      <a:pt x="48" y="55"/>
                      <a:pt x="48" y="55"/>
                      <a:pt x="48" y="55"/>
                    </a:cubicBezTo>
                    <a:cubicBezTo>
                      <a:pt x="49" y="55"/>
                      <a:pt x="50" y="55"/>
                      <a:pt x="51" y="55"/>
                    </a:cubicBezTo>
                    <a:cubicBezTo>
                      <a:pt x="52" y="55"/>
                      <a:pt x="53" y="55"/>
                      <a:pt x="54" y="54"/>
                    </a:cubicBezTo>
                    <a:cubicBezTo>
                      <a:pt x="58" y="48"/>
                      <a:pt x="61" y="41"/>
                      <a:pt x="61" y="33"/>
                    </a:cubicBezTo>
                    <a:cubicBezTo>
                      <a:pt x="61" y="15"/>
                      <a:pt x="46" y="0"/>
                      <a:pt x="2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5" name="Freeform 223"/>
              <p:cNvSpPr>
                <a:spLocks noEditPoints="1"/>
              </p:cNvSpPr>
              <p:nvPr/>
            </p:nvSpPr>
            <p:spPr bwMode="auto">
              <a:xfrm>
                <a:off x="8743951" y="2073275"/>
                <a:ext cx="411163" cy="414338"/>
              </a:xfrm>
              <a:custGeom>
                <a:avLst/>
                <a:gdLst>
                  <a:gd name="T0" fmla="*/ 76 w 151"/>
                  <a:gd name="T1" fmla="*/ 0 h 152"/>
                  <a:gd name="T2" fmla="*/ 0 w 151"/>
                  <a:gd name="T3" fmla="*/ 76 h 152"/>
                  <a:gd name="T4" fmla="*/ 76 w 151"/>
                  <a:gd name="T5" fmla="*/ 152 h 152"/>
                  <a:gd name="T6" fmla="*/ 151 w 151"/>
                  <a:gd name="T7" fmla="*/ 76 h 152"/>
                  <a:gd name="T8" fmla="*/ 76 w 151"/>
                  <a:gd name="T9" fmla="*/ 0 h 152"/>
                  <a:gd name="T10" fmla="*/ 104 w 151"/>
                  <a:gd name="T11" fmla="*/ 82 h 152"/>
                  <a:gd name="T12" fmla="*/ 77 w 151"/>
                  <a:gd name="T13" fmla="*/ 82 h 152"/>
                  <a:gd name="T14" fmla="*/ 71 w 151"/>
                  <a:gd name="T15" fmla="*/ 76 h 152"/>
                  <a:gd name="T16" fmla="*/ 71 w 151"/>
                  <a:gd name="T17" fmla="*/ 24 h 152"/>
                  <a:gd name="T18" fmla="*/ 77 w 151"/>
                  <a:gd name="T19" fmla="*/ 18 h 152"/>
                  <a:gd name="T20" fmla="*/ 83 w 151"/>
                  <a:gd name="T21" fmla="*/ 24 h 152"/>
                  <a:gd name="T22" fmla="*/ 83 w 151"/>
                  <a:gd name="T23" fmla="*/ 70 h 152"/>
                  <a:gd name="T24" fmla="*/ 104 w 151"/>
                  <a:gd name="T25" fmla="*/ 70 h 152"/>
                  <a:gd name="T26" fmla="*/ 110 w 151"/>
                  <a:gd name="T27" fmla="*/ 76 h 152"/>
                  <a:gd name="T28" fmla="*/ 104 w 151"/>
                  <a:gd name="T29" fmla="*/ 82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51" h="152">
                    <a:moveTo>
                      <a:pt x="76" y="0"/>
                    </a:moveTo>
                    <a:cubicBezTo>
                      <a:pt x="34" y="0"/>
                      <a:pt x="0" y="34"/>
                      <a:pt x="0" y="76"/>
                    </a:cubicBezTo>
                    <a:cubicBezTo>
                      <a:pt x="0" y="118"/>
                      <a:pt x="34" y="152"/>
                      <a:pt x="76" y="152"/>
                    </a:cubicBezTo>
                    <a:cubicBezTo>
                      <a:pt x="118" y="152"/>
                      <a:pt x="151" y="118"/>
                      <a:pt x="151" y="76"/>
                    </a:cubicBezTo>
                    <a:cubicBezTo>
                      <a:pt x="151" y="34"/>
                      <a:pt x="118" y="0"/>
                      <a:pt x="76" y="0"/>
                    </a:cubicBezTo>
                    <a:close/>
                    <a:moveTo>
                      <a:pt x="104" y="82"/>
                    </a:moveTo>
                    <a:cubicBezTo>
                      <a:pt x="77" y="82"/>
                      <a:pt x="77" y="82"/>
                      <a:pt x="77" y="82"/>
                    </a:cubicBezTo>
                    <a:cubicBezTo>
                      <a:pt x="73" y="82"/>
                      <a:pt x="71" y="79"/>
                      <a:pt x="71" y="76"/>
                    </a:cubicBezTo>
                    <a:cubicBezTo>
                      <a:pt x="71" y="24"/>
                      <a:pt x="71" y="24"/>
                      <a:pt x="71" y="24"/>
                    </a:cubicBezTo>
                    <a:cubicBezTo>
                      <a:pt x="71" y="21"/>
                      <a:pt x="73" y="18"/>
                      <a:pt x="77" y="18"/>
                    </a:cubicBezTo>
                    <a:cubicBezTo>
                      <a:pt x="80" y="18"/>
                      <a:pt x="83" y="21"/>
                      <a:pt x="83" y="24"/>
                    </a:cubicBezTo>
                    <a:cubicBezTo>
                      <a:pt x="83" y="70"/>
                      <a:pt x="83" y="70"/>
                      <a:pt x="83" y="70"/>
                    </a:cubicBezTo>
                    <a:cubicBezTo>
                      <a:pt x="104" y="70"/>
                      <a:pt x="104" y="70"/>
                      <a:pt x="104" y="70"/>
                    </a:cubicBezTo>
                    <a:cubicBezTo>
                      <a:pt x="107" y="70"/>
                      <a:pt x="110" y="72"/>
                      <a:pt x="110" y="76"/>
                    </a:cubicBezTo>
                    <a:cubicBezTo>
                      <a:pt x="110" y="79"/>
                      <a:pt x="107" y="82"/>
                      <a:pt x="104" y="8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76" name="Rectangle 1"/>
          <p:cNvSpPr>
            <a:spLocks noChangeArrowheads="1"/>
          </p:cNvSpPr>
          <p:nvPr/>
        </p:nvSpPr>
        <p:spPr bwMode="auto">
          <a:xfrm>
            <a:off x="5645614" y="462817"/>
            <a:ext cx="6044732" cy="5632311"/>
          </a:xfrm>
          <a:prstGeom prst="rect">
            <a:avLst/>
          </a:prstGeom>
          <a:noFill/>
          <a:ln w="9525">
            <a:solidFill>
              <a:srgbClr val="285A32"/>
            </a:solidFill>
            <a:prstDash val="dash"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template &lt;</a:t>
            </a:r>
            <a:r>
              <a:rPr lang="en-US" altLang="zh-CN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typename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DataType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zh-CN" altLang="zh-C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altLang="zh-CN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BiTree</a:t>
            </a:r>
            <a:endParaRPr lang="zh-CN" altLang="zh-C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zh-CN" altLang="zh-C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public:</a:t>
            </a:r>
            <a:endParaRPr lang="zh-CN" altLang="zh-C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0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000" dirty="0" err="1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BiTree</a:t>
            </a:r>
            <a:r>
              <a:rPr lang="en-US" altLang="zh-CN" sz="20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){root = </a:t>
            </a:r>
            <a:r>
              <a:rPr lang="en-US" altLang="zh-CN" sz="2000" dirty="0" err="1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</a:t>
            </a:r>
            <a:r>
              <a:rPr lang="en-US" altLang="zh-CN" sz="20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(root</a:t>
            </a:r>
            <a:r>
              <a:rPr lang="en-US" altLang="zh-CN" sz="20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);}</a:t>
            </a:r>
            <a:endParaRPr lang="zh-CN" altLang="zh-CN" sz="2000" dirty="0" smtClean="0">
              <a:solidFill>
                <a:srgbClr val="B42D2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0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0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~</a:t>
            </a:r>
            <a:r>
              <a:rPr lang="en-US" altLang="zh-CN" sz="2000" dirty="0" err="1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BiTree</a:t>
            </a:r>
            <a:r>
              <a:rPr lang="en-US" altLang="zh-CN" sz="20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){Release(root</a:t>
            </a:r>
            <a:r>
              <a:rPr lang="en-US" altLang="zh-CN" sz="20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);}</a:t>
            </a:r>
            <a:endParaRPr lang="zh-CN" altLang="zh-CN" sz="2000" dirty="0" smtClean="0">
              <a:solidFill>
                <a:srgbClr val="B42D2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0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0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altLang="zh-CN" sz="2000" dirty="0" err="1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PreOrder</a:t>
            </a:r>
            <a:r>
              <a:rPr lang="en-US" altLang="zh-CN" sz="20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){</a:t>
            </a:r>
            <a:r>
              <a:rPr lang="en-US" altLang="zh-CN" sz="2000" dirty="0" err="1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PreOrder</a:t>
            </a:r>
            <a:r>
              <a:rPr lang="en-US" altLang="zh-CN" sz="20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(root</a:t>
            </a:r>
            <a:r>
              <a:rPr lang="en-US" altLang="zh-CN" sz="20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);}</a:t>
            </a:r>
            <a:endParaRPr lang="zh-CN" altLang="zh-CN" sz="2000" dirty="0" smtClean="0">
              <a:solidFill>
                <a:srgbClr val="B42D2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0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0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altLang="zh-CN" sz="2000" dirty="0" err="1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InOrder</a:t>
            </a:r>
            <a:r>
              <a:rPr lang="en-US" altLang="zh-CN" sz="20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){</a:t>
            </a:r>
            <a:r>
              <a:rPr lang="en-US" altLang="zh-CN" sz="2000" dirty="0" err="1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InOrder</a:t>
            </a:r>
            <a:r>
              <a:rPr lang="en-US" altLang="zh-CN" sz="20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(root</a:t>
            </a:r>
            <a:r>
              <a:rPr lang="en-US" altLang="zh-CN" sz="20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);}</a:t>
            </a:r>
            <a:endParaRPr lang="zh-CN" altLang="zh-CN" sz="2000" dirty="0" smtClean="0">
              <a:solidFill>
                <a:srgbClr val="B42D2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0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0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altLang="zh-CN" sz="2000" dirty="0" err="1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PostOrder</a:t>
            </a:r>
            <a:r>
              <a:rPr lang="en-US" altLang="zh-CN" sz="20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){</a:t>
            </a:r>
            <a:r>
              <a:rPr lang="en-US" altLang="zh-CN" sz="2000" dirty="0" err="1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PostOrder</a:t>
            </a:r>
            <a:r>
              <a:rPr lang="en-US" altLang="zh-CN" sz="20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(root</a:t>
            </a:r>
            <a:r>
              <a:rPr lang="en-US" altLang="zh-CN" sz="20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);}</a:t>
            </a:r>
            <a:endParaRPr lang="zh-CN" altLang="zh-CN" sz="2000" dirty="0" smtClean="0">
              <a:solidFill>
                <a:srgbClr val="B42D2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0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0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altLang="zh-CN" sz="2000" dirty="0" err="1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LeverOrder</a:t>
            </a:r>
            <a:r>
              <a:rPr lang="en-US" altLang="zh-CN" sz="20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);                   </a:t>
            </a:r>
            <a:endParaRPr lang="zh-CN" altLang="zh-CN" sz="2000" dirty="0" smtClean="0">
              <a:solidFill>
                <a:srgbClr val="B42D2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private:</a:t>
            </a:r>
            <a:endParaRPr lang="zh-CN" altLang="zh-C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000" dirty="0" err="1" smtClean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BiNode</a:t>
            </a:r>
            <a:r>
              <a:rPr lang="en-US" altLang="zh-CN" sz="2000" dirty="0" smtClean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000" dirty="0" err="1" smtClean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DataType</a:t>
            </a:r>
            <a:r>
              <a:rPr lang="en-US" altLang="zh-CN" sz="2000" dirty="0" smtClean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*</a:t>
            </a:r>
            <a:r>
              <a:rPr lang="en-US" altLang="zh-CN" sz="2000" dirty="0" err="1" smtClean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</a:t>
            </a:r>
            <a:r>
              <a:rPr lang="en-US" altLang="zh-CN" sz="2000" dirty="0" smtClean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dirty="0" err="1" smtClean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BiNode</a:t>
            </a:r>
            <a:r>
              <a:rPr lang="en-US" altLang="zh-CN" sz="2000" dirty="0" smtClean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000" dirty="0" err="1" smtClean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DataType</a:t>
            </a:r>
            <a:r>
              <a:rPr lang="en-US" altLang="zh-CN" sz="2000" dirty="0" smtClean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*</a:t>
            </a:r>
            <a:r>
              <a:rPr lang="en-US" altLang="zh-CN" sz="2000" dirty="0" err="1" smtClean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bt</a:t>
            </a:r>
            <a:r>
              <a:rPr lang="en-US" altLang="zh-CN" sz="2000" dirty="0" smtClean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 </a:t>
            </a:r>
            <a:endParaRPr lang="zh-CN" altLang="zh-CN" sz="2000" dirty="0" smtClean="0">
              <a:solidFill>
                <a:srgbClr val="5C307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 smtClean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000" dirty="0" smtClean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000" dirty="0" smtClean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altLang="zh-CN" sz="2000" dirty="0" smtClean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Release(</a:t>
            </a:r>
            <a:r>
              <a:rPr lang="en-US" altLang="zh-CN" sz="2000" dirty="0" err="1" smtClean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BiNode</a:t>
            </a:r>
            <a:r>
              <a:rPr lang="en-US" altLang="zh-CN" sz="2000" dirty="0" smtClean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000" dirty="0" err="1" smtClean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DataType</a:t>
            </a:r>
            <a:r>
              <a:rPr lang="en-US" altLang="zh-CN" sz="2000" dirty="0" smtClean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*</a:t>
            </a:r>
            <a:r>
              <a:rPr lang="en-US" altLang="zh-CN" sz="2000" dirty="0" err="1" smtClean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bt</a:t>
            </a:r>
            <a:r>
              <a:rPr lang="en-US" altLang="zh-CN" sz="2000" dirty="0" smtClean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         </a:t>
            </a:r>
            <a:endParaRPr lang="zh-CN" altLang="zh-CN" sz="2000" dirty="0" smtClean="0">
              <a:solidFill>
                <a:srgbClr val="5C307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 smtClean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000" dirty="0" smtClean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000" dirty="0" smtClean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altLang="zh-CN" sz="2000" dirty="0" err="1" smtClean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PreOrder</a:t>
            </a:r>
            <a:r>
              <a:rPr lang="en-US" altLang="zh-CN" sz="2000" dirty="0" smtClean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dirty="0" err="1" smtClean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BiNode</a:t>
            </a:r>
            <a:r>
              <a:rPr lang="en-US" altLang="zh-CN" sz="2000" dirty="0" smtClean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000" dirty="0" err="1" smtClean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DataType</a:t>
            </a:r>
            <a:r>
              <a:rPr lang="en-US" altLang="zh-CN" sz="2000" dirty="0" smtClean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*</a:t>
            </a:r>
            <a:r>
              <a:rPr lang="en-US" altLang="zh-CN" sz="2000" dirty="0" err="1" smtClean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bt</a:t>
            </a:r>
            <a:r>
              <a:rPr lang="en-US" altLang="zh-CN" sz="2000" dirty="0" smtClean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      </a:t>
            </a:r>
            <a:endParaRPr lang="zh-CN" altLang="zh-CN" sz="2000" dirty="0" smtClean="0">
              <a:solidFill>
                <a:srgbClr val="5C307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 smtClean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000" dirty="0" smtClean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000" dirty="0" smtClean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altLang="zh-CN" sz="2000" dirty="0" err="1" smtClean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InOrder</a:t>
            </a:r>
            <a:r>
              <a:rPr lang="en-US" altLang="zh-CN" sz="2000" dirty="0" smtClean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dirty="0" err="1" smtClean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BiNode</a:t>
            </a:r>
            <a:r>
              <a:rPr lang="en-US" altLang="zh-CN" sz="2000" dirty="0" smtClean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000" dirty="0" err="1" smtClean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DataType</a:t>
            </a:r>
            <a:r>
              <a:rPr lang="en-US" altLang="zh-CN" sz="2000" dirty="0" smtClean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*</a:t>
            </a:r>
            <a:r>
              <a:rPr lang="en-US" altLang="zh-CN" sz="2000" dirty="0" err="1" smtClean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bt</a:t>
            </a:r>
            <a:r>
              <a:rPr lang="en-US" altLang="zh-CN" sz="2000" dirty="0" smtClean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         </a:t>
            </a:r>
            <a:endParaRPr lang="zh-CN" altLang="zh-CN" sz="2000" dirty="0" smtClean="0">
              <a:solidFill>
                <a:srgbClr val="5C307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 smtClean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000" dirty="0" smtClean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000" dirty="0" smtClean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altLang="zh-CN" sz="2000" dirty="0" err="1" smtClean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PostOrder</a:t>
            </a:r>
            <a:r>
              <a:rPr lang="en-US" altLang="zh-CN" sz="2000" dirty="0" smtClean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dirty="0" err="1" smtClean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BiNode</a:t>
            </a:r>
            <a:r>
              <a:rPr lang="en-US" altLang="zh-CN" sz="2000" dirty="0" smtClean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000" dirty="0" err="1" smtClean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DataType</a:t>
            </a:r>
            <a:r>
              <a:rPr lang="en-US" altLang="zh-CN" sz="2000" dirty="0" smtClean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*</a:t>
            </a:r>
            <a:r>
              <a:rPr lang="en-US" altLang="zh-CN" sz="2000" dirty="0" err="1" smtClean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bt</a:t>
            </a:r>
            <a:r>
              <a:rPr lang="en-US" altLang="zh-CN" sz="2000" dirty="0" smtClean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     </a:t>
            </a:r>
            <a:endParaRPr lang="zh-CN" altLang="zh-CN" sz="2000" dirty="0" smtClean="0">
              <a:solidFill>
                <a:srgbClr val="5C307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000" dirty="0" err="1" smtClean="0">
                <a:solidFill>
                  <a:srgbClr val="285A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BiNode</a:t>
            </a:r>
            <a:r>
              <a:rPr lang="en-US" altLang="zh-CN" sz="2000" dirty="0" smtClean="0">
                <a:solidFill>
                  <a:srgbClr val="285A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000" dirty="0" err="1" smtClean="0">
                <a:solidFill>
                  <a:srgbClr val="285A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DataType</a:t>
            </a:r>
            <a:r>
              <a:rPr lang="en-US" altLang="zh-CN" sz="2000" dirty="0" smtClean="0">
                <a:solidFill>
                  <a:srgbClr val="285A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*root;                           </a:t>
            </a:r>
            <a:endParaRPr lang="zh-CN" altLang="zh-CN" sz="2000" dirty="0" smtClean="0">
              <a:solidFill>
                <a:srgbClr val="285A3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  <a:endParaRPr lang="zh-C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624840" y="1904732"/>
            <a:ext cx="4114800" cy="3234219"/>
          </a:xfrm>
          <a:prstGeom prst="rect">
            <a:avLst/>
          </a:prstGeom>
          <a:ln>
            <a:solidFill>
              <a:srgbClr val="285A32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3500"/>
              </a:lnSpc>
            </a:pPr>
            <a:r>
              <a:rPr lang="en-US" altLang="zh-CN" sz="2000" dirty="0" err="1" smtClean="0">
                <a:solidFill>
                  <a:srgbClr val="B42D2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InitBiTree</a:t>
            </a:r>
            <a:r>
              <a:rPr lang="zh-CN" altLang="en-US" sz="20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zh-CN" sz="20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初始化一</a:t>
            </a:r>
            <a:r>
              <a:rPr lang="zh-CN" altLang="zh-CN" sz="20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棵</a:t>
            </a:r>
            <a:r>
              <a:rPr lang="zh-CN" altLang="en-US" sz="20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空的</a:t>
            </a:r>
            <a:r>
              <a:rPr lang="zh-CN" altLang="zh-CN" sz="20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二叉树</a:t>
            </a:r>
            <a:r>
              <a:rPr lang="en-US" altLang="zh-CN" sz="20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endParaRPr lang="zh-CN" altLang="zh-CN" sz="2000" dirty="0">
              <a:solidFill>
                <a:srgbClr val="40404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3500"/>
              </a:lnSpc>
            </a:pPr>
            <a:r>
              <a:rPr lang="en-US" altLang="zh-CN" sz="2000" dirty="0" err="1" smtClean="0">
                <a:solidFill>
                  <a:srgbClr val="B42D2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CreatBiTree</a:t>
            </a:r>
            <a:r>
              <a:rPr lang="zh-CN" altLang="en-US" sz="20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zh-CN" sz="20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建立一棵二叉树</a:t>
            </a:r>
            <a:r>
              <a:rPr lang="en-US" altLang="zh-CN" sz="20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endParaRPr lang="zh-CN" altLang="zh-CN" sz="2000" dirty="0">
              <a:solidFill>
                <a:srgbClr val="40404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3500"/>
              </a:lnSpc>
            </a:pPr>
            <a:r>
              <a:rPr lang="en-US" altLang="zh-CN" sz="2000" dirty="0" err="1" smtClean="0">
                <a:solidFill>
                  <a:srgbClr val="B42D2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DestroyBiTree</a:t>
            </a:r>
            <a:r>
              <a:rPr lang="zh-CN" altLang="en-US" sz="20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zh-CN" sz="20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销毁一棵二叉树</a:t>
            </a:r>
            <a:endParaRPr lang="zh-CN" altLang="zh-CN" sz="2000" dirty="0">
              <a:solidFill>
                <a:srgbClr val="40404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3500"/>
              </a:lnSpc>
            </a:pPr>
            <a:r>
              <a:rPr lang="en-US" altLang="zh-CN" sz="2000" dirty="0" err="1" smtClean="0">
                <a:solidFill>
                  <a:srgbClr val="B42D2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PreOrder</a:t>
            </a:r>
            <a:r>
              <a:rPr lang="zh-CN" altLang="en-US" sz="20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zh-CN" sz="20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前序遍历二叉树</a:t>
            </a:r>
            <a:endParaRPr lang="zh-CN" altLang="zh-CN" sz="2000" dirty="0">
              <a:solidFill>
                <a:srgbClr val="40404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3500"/>
              </a:lnSpc>
            </a:pPr>
            <a:r>
              <a:rPr lang="en-US" altLang="zh-CN" sz="2000" dirty="0" err="1" smtClean="0">
                <a:solidFill>
                  <a:srgbClr val="B42D2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InOrder</a:t>
            </a:r>
            <a:r>
              <a:rPr lang="zh-CN" altLang="en-US" sz="20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zh-CN" sz="20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中序遍历二叉树</a:t>
            </a:r>
            <a:endParaRPr lang="zh-CN" altLang="zh-CN" sz="2000" dirty="0">
              <a:solidFill>
                <a:srgbClr val="40404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3500"/>
              </a:lnSpc>
            </a:pPr>
            <a:r>
              <a:rPr lang="en-US" altLang="zh-CN" sz="2000" dirty="0" err="1" smtClean="0">
                <a:solidFill>
                  <a:srgbClr val="B42D2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PostOrder</a:t>
            </a:r>
            <a:r>
              <a:rPr lang="zh-CN" altLang="en-US" sz="20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zh-CN" sz="20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后序遍历二叉树</a:t>
            </a:r>
            <a:endParaRPr lang="zh-CN" altLang="zh-CN" sz="2000" dirty="0">
              <a:solidFill>
                <a:srgbClr val="40404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3500"/>
              </a:lnSpc>
            </a:pPr>
            <a:r>
              <a:rPr lang="en-US" altLang="zh-CN" sz="2000" dirty="0" err="1" smtClean="0">
                <a:solidFill>
                  <a:srgbClr val="B42D2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LeverOrder</a:t>
            </a:r>
            <a:r>
              <a:rPr lang="zh-CN" altLang="en-US" sz="20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zh-CN" sz="20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层序遍历</a:t>
            </a:r>
            <a:r>
              <a:rPr lang="zh-CN" altLang="zh-CN" sz="20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二叉树</a:t>
            </a:r>
            <a:endParaRPr lang="zh-CN" altLang="zh-CN" sz="2000" dirty="0">
              <a:solidFill>
                <a:srgbClr val="40404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8" name="右箭头 77"/>
          <p:cNvSpPr/>
          <p:nvPr/>
        </p:nvSpPr>
        <p:spPr>
          <a:xfrm>
            <a:off x="4892040" y="3291840"/>
            <a:ext cx="576000" cy="360000"/>
          </a:xfrm>
          <a:prstGeom prst="rightArrow">
            <a:avLst/>
          </a:prstGeom>
          <a:noFill/>
          <a:ln w="28575">
            <a:solidFill>
              <a:srgbClr val="B42D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ounded Rectangle 10"/>
          <p:cNvSpPr/>
          <p:nvPr/>
        </p:nvSpPr>
        <p:spPr>
          <a:xfrm>
            <a:off x="542923" y="100964"/>
            <a:ext cx="3672000" cy="540000"/>
          </a:xfrm>
          <a:prstGeom prst="roundRect">
            <a:avLst/>
          </a:prstGeom>
          <a:solidFill>
            <a:srgbClr val="5A32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Text Box 2"/>
          <p:cNvSpPr txBox="1">
            <a:spLocks noChangeArrowheads="1"/>
          </p:cNvSpPr>
          <p:nvPr/>
        </p:nvSpPr>
        <p:spPr bwMode="auto">
          <a:xfrm>
            <a:off x="638168" y="61585"/>
            <a:ext cx="355283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二叉树的前序遍历</a:t>
            </a:r>
            <a:endParaRPr lang="zh-CN" altLang="en-US" sz="32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86762" y="729118"/>
            <a:ext cx="10399398" cy="3785652"/>
          </a:xfrm>
          <a:prstGeom prst="rect">
            <a:avLst/>
          </a:prstGeom>
          <a:ln>
            <a:solidFill>
              <a:srgbClr val="5C307D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template &lt;</a:t>
            </a: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typename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DataType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zh-CN" altLang="zh-C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BiTree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DataType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 :: </a:t>
            </a: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PreOrder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BiNode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DataType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 *</a:t>
            </a: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bt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zh-CN" altLang="zh-C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zh-CN" altLang="zh-C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bt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== </a:t>
            </a: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nullptr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return;            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zh-CN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递归调用的结束条件</a:t>
            </a:r>
            <a:endParaRPr lang="zh-CN" altLang="zh-C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else 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zh-CN" altLang="zh-C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4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altLang="zh-CN" sz="2400" dirty="0" err="1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sz="24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&lt;&lt; </a:t>
            </a:r>
            <a:r>
              <a:rPr lang="en-US" altLang="zh-CN" sz="2400" dirty="0" err="1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bt</a:t>
            </a:r>
            <a:r>
              <a:rPr lang="en-US" altLang="zh-CN" sz="24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-&gt;data;                </a:t>
            </a:r>
            <a:r>
              <a:rPr lang="zh-CN" altLang="en-US" sz="24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altLang="zh-CN" sz="24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4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zh-CN" altLang="zh-CN" sz="24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访问根结点</a:t>
            </a:r>
            <a:r>
              <a:rPr lang="en-US" altLang="zh-CN" sz="2400" dirty="0" err="1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bt</a:t>
            </a:r>
            <a:r>
              <a:rPr lang="zh-CN" altLang="zh-CN" sz="24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的数据域</a:t>
            </a:r>
            <a:endParaRPr lang="zh-CN" altLang="zh-CN" sz="2400" dirty="0" smtClean="0">
              <a:solidFill>
                <a:srgbClr val="B42D2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PreOrder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bt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lchild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);          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zh-CN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前序递归遍历</a:t>
            </a: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bt</a:t>
            </a:r>
            <a:r>
              <a:rPr lang="zh-CN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的左子树</a:t>
            </a:r>
            <a:endParaRPr lang="zh-CN" altLang="zh-C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PreOrder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bt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rchild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);           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zh-CN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前序递归遍历</a:t>
            </a: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bt</a:t>
            </a:r>
            <a:r>
              <a:rPr lang="zh-CN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的右子树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zh-CN" altLang="zh-C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zh-C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Text Box 8"/>
          <p:cNvSpPr txBox="1">
            <a:spLocks noChangeArrowheads="1"/>
          </p:cNvSpPr>
          <p:nvPr/>
        </p:nvSpPr>
        <p:spPr bwMode="auto">
          <a:xfrm>
            <a:off x="1295400" y="4749208"/>
            <a:ext cx="5806440" cy="1118255"/>
          </a:xfrm>
          <a:prstGeom prst="rect">
            <a:avLst/>
          </a:prstGeom>
          <a:noFill/>
          <a:ln w="38100">
            <a:solidFill>
              <a:srgbClr val="5C307D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rIns="0">
            <a:spAutoFit/>
          </a:bodyPr>
          <a:lstStyle/>
          <a:p>
            <a:pPr algn="ctr" eaLnBrk="0" hangingPunct="0">
              <a:lnSpc>
                <a:spcPts val="4000"/>
              </a:lnSpc>
            </a:pPr>
            <a:r>
              <a:rPr lang="zh-CN" altLang="en-US" sz="28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按照</a:t>
            </a:r>
            <a:r>
              <a:rPr lang="zh-CN" altLang="en-US" sz="2800" dirty="0" smtClean="0">
                <a:solidFill>
                  <a:srgbClr val="B42D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先左后右</a:t>
            </a:r>
            <a:r>
              <a:rPr lang="zh-CN" altLang="en-US" sz="28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方式</a:t>
            </a:r>
            <a:r>
              <a:rPr lang="zh-CN" altLang="en-US" sz="28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扫描二叉树，</a:t>
            </a:r>
            <a:endParaRPr lang="en-US" altLang="zh-CN" sz="2800" dirty="0" smtClean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0" hangingPunct="0">
              <a:lnSpc>
                <a:spcPts val="4000"/>
              </a:lnSpc>
            </a:pPr>
            <a:r>
              <a:rPr lang="zh-CN" altLang="en-US" sz="28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区别仅在于访问结点的时机</a:t>
            </a:r>
            <a:endParaRPr lang="zh-CN" altLang="en-US" sz="2800" dirty="0">
              <a:solidFill>
                <a:srgbClr val="B42D2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梯形 1"/>
          <p:cNvSpPr/>
          <p:nvPr/>
        </p:nvSpPr>
        <p:spPr>
          <a:xfrm>
            <a:off x="8244840" y="4511039"/>
            <a:ext cx="2052000" cy="1605037"/>
          </a:xfrm>
          <a:prstGeom prst="trapezoid">
            <a:avLst/>
          </a:prstGeom>
          <a:noFill/>
          <a:ln w="28575">
            <a:solidFill>
              <a:srgbClr val="6E6E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Oval 37"/>
          <p:cNvSpPr>
            <a:spLocks noChangeArrowheads="1"/>
          </p:cNvSpPr>
          <p:nvPr/>
        </p:nvSpPr>
        <p:spPr bwMode="auto">
          <a:xfrm>
            <a:off x="9047880" y="4609408"/>
            <a:ext cx="432000" cy="432000"/>
          </a:xfrm>
          <a:prstGeom prst="ellipse">
            <a:avLst/>
          </a:prstGeom>
          <a:solidFill>
            <a:srgbClr val="B4B4BE"/>
          </a:solidFill>
          <a:ln w="28575">
            <a:solidFill>
              <a:srgbClr val="507D7D"/>
            </a:solidFill>
            <a:round/>
          </a:ln>
          <a:effectLst/>
        </p:spPr>
        <p:txBody>
          <a:bodyPr lIns="0" tIns="0" rIns="0" bIns="0"/>
          <a:lstStyle/>
          <a:p>
            <a:pPr algn="ctr">
              <a:lnSpc>
                <a:spcPts val="2500"/>
              </a:lnSpc>
            </a:pPr>
            <a:endParaRPr lang="zh-CN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8480203" y="4985507"/>
            <a:ext cx="720000" cy="1071540"/>
            <a:chOff x="8480203" y="4848347"/>
            <a:chExt cx="720000" cy="1071540"/>
          </a:xfrm>
        </p:grpSpPr>
        <p:sp>
          <p:nvSpPr>
            <p:cNvPr id="11" name="梯形 10"/>
            <p:cNvSpPr/>
            <p:nvPr/>
          </p:nvSpPr>
          <p:spPr>
            <a:xfrm>
              <a:off x="8480203" y="5199887"/>
              <a:ext cx="720000" cy="720000"/>
            </a:xfrm>
            <a:prstGeom prst="trapezoid">
              <a:avLst/>
            </a:prstGeom>
            <a:noFill/>
            <a:ln w="28575">
              <a:solidFill>
                <a:srgbClr val="6E6EA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3000"/>
                </a:lnSpc>
              </a:pPr>
              <a:r>
                <a:rPr lang="en-US" altLang="zh-CN" sz="2800" dirty="0" smtClean="0">
                  <a:solidFill>
                    <a:srgbClr val="40404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endParaRPr lang="zh-CN" altLang="en-US" sz="28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Line 25"/>
            <p:cNvSpPr>
              <a:spLocks noChangeShapeType="1"/>
            </p:cNvSpPr>
            <p:nvPr/>
          </p:nvSpPr>
          <p:spPr bwMode="auto">
            <a:xfrm flipH="1">
              <a:off x="8840201" y="4848347"/>
              <a:ext cx="255588" cy="336300"/>
            </a:xfrm>
            <a:prstGeom prst="line">
              <a:avLst/>
            </a:prstGeom>
            <a:noFill/>
            <a:ln w="38100">
              <a:solidFill>
                <a:srgbClr val="285A3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9344803" y="4988044"/>
            <a:ext cx="720000" cy="1069003"/>
            <a:chOff x="9344803" y="4850884"/>
            <a:chExt cx="720000" cy="1069003"/>
          </a:xfrm>
        </p:grpSpPr>
        <p:sp>
          <p:nvSpPr>
            <p:cNvPr id="14" name="Line 25"/>
            <p:cNvSpPr>
              <a:spLocks noChangeShapeType="1"/>
            </p:cNvSpPr>
            <p:nvPr/>
          </p:nvSpPr>
          <p:spPr bwMode="auto">
            <a:xfrm>
              <a:off x="9419520" y="4850884"/>
              <a:ext cx="255588" cy="336300"/>
            </a:xfrm>
            <a:prstGeom prst="line">
              <a:avLst/>
            </a:prstGeom>
            <a:noFill/>
            <a:ln w="38100">
              <a:solidFill>
                <a:srgbClr val="285A3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15" name="梯形 14"/>
            <p:cNvSpPr/>
            <p:nvPr/>
          </p:nvSpPr>
          <p:spPr>
            <a:xfrm>
              <a:off x="9344803" y="5199887"/>
              <a:ext cx="720000" cy="720000"/>
            </a:xfrm>
            <a:prstGeom prst="trapezoid">
              <a:avLst/>
            </a:prstGeom>
            <a:noFill/>
            <a:ln w="28575">
              <a:solidFill>
                <a:srgbClr val="6E6EA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3000"/>
                </a:lnSpc>
              </a:pPr>
              <a:r>
                <a:rPr lang="en-US" altLang="zh-CN" sz="2800" dirty="0" smtClean="0">
                  <a:solidFill>
                    <a:srgbClr val="40404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lang="zh-CN" altLang="en-US" sz="28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5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5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21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5" presetClass="emph" presetSubtype="0" repeatCount="2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5" presetClass="emph" presetSubtype="0" repeatCount="2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  <p:bldLst>
      <p:bldP spid="4" grpId="0" bldLvl="0" animBg="1"/>
      <p:bldP spid="70" grpId="0" bldLvl="0" animBg="1"/>
      <p:bldP spid="2" grpId="0" bldLvl="0" animBg="1"/>
      <p:bldP spid="10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9519135" y="785349"/>
            <a:ext cx="2029024" cy="2204532"/>
            <a:chOff x="5203030" y="646360"/>
            <a:chExt cx="2029024" cy="2204532"/>
          </a:xfrm>
          <a:solidFill>
            <a:srgbClr val="B4B4BE"/>
          </a:solidFill>
        </p:grpSpPr>
        <p:sp>
          <p:nvSpPr>
            <p:cNvPr id="10" name="Line 25"/>
            <p:cNvSpPr>
              <a:spLocks noChangeShapeType="1"/>
            </p:cNvSpPr>
            <p:nvPr/>
          </p:nvSpPr>
          <p:spPr bwMode="auto">
            <a:xfrm flipH="1">
              <a:off x="5566884" y="982910"/>
              <a:ext cx="511175" cy="540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11" name="Line 26"/>
            <p:cNvSpPr>
              <a:spLocks noChangeShapeType="1"/>
            </p:cNvSpPr>
            <p:nvPr/>
          </p:nvSpPr>
          <p:spPr bwMode="auto">
            <a:xfrm>
              <a:off x="6451122" y="982909"/>
              <a:ext cx="432000" cy="540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13" name="Line 28"/>
            <p:cNvSpPr>
              <a:spLocks noChangeShapeType="1"/>
            </p:cNvSpPr>
            <p:nvPr/>
          </p:nvSpPr>
          <p:spPr bwMode="auto">
            <a:xfrm>
              <a:off x="5536404" y="1848930"/>
              <a:ext cx="324000" cy="612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16" name="Oval 37"/>
            <p:cNvSpPr>
              <a:spLocks noChangeArrowheads="1"/>
            </p:cNvSpPr>
            <p:nvPr/>
          </p:nvSpPr>
          <p:spPr bwMode="auto">
            <a:xfrm>
              <a:off x="6058375" y="646360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Oval 37"/>
            <p:cNvSpPr>
              <a:spLocks noChangeArrowheads="1"/>
            </p:cNvSpPr>
            <p:nvPr/>
          </p:nvSpPr>
          <p:spPr bwMode="auto">
            <a:xfrm>
              <a:off x="6800054" y="1462651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Oval 37"/>
            <p:cNvSpPr>
              <a:spLocks noChangeArrowheads="1"/>
            </p:cNvSpPr>
            <p:nvPr/>
          </p:nvSpPr>
          <p:spPr bwMode="auto">
            <a:xfrm>
              <a:off x="5203030" y="1462651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Oval 37"/>
            <p:cNvSpPr>
              <a:spLocks noChangeArrowheads="1"/>
            </p:cNvSpPr>
            <p:nvPr/>
          </p:nvSpPr>
          <p:spPr bwMode="auto">
            <a:xfrm>
              <a:off x="5757005" y="2418892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4" name="矩形 23"/>
          <p:cNvSpPr/>
          <p:nvPr/>
        </p:nvSpPr>
        <p:spPr>
          <a:xfrm>
            <a:off x="523933" y="1887615"/>
            <a:ext cx="2340000" cy="2462213"/>
          </a:xfrm>
          <a:prstGeom prst="rect">
            <a:avLst/>
          </a:prstGeom>
          <a:ln>
            <a:solidFill>
              <a:srgbClr val="5C307D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Pre(</a:t>
            </a:r>
            <a:r>
              <a:rPr lang="zh-CN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A) </a:t>
            </a:r>
            <a:endParaRPr lang="zh-CN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altLang="zh-CN" sz="22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zh-CN" altLang="en-US" sz="22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2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2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22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   </a:t>
            </a:r>
            <a:endParaRPr lang="zh-CN" altLang="zh-CN" sz="2200" dirty="0">
              <a:solidFill>
                <a:srgbClr val="B42D2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Pre(A-&gt;</a:t>
            </a: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lchild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    </a:t>
            </a:r>
            <a:endParaRPr lang="zh-CN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altLang="zh-C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zh-CN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组合 100"/>
          <p:cNvGrpSpPr/>
          <p:nvPr/>
        </p:nvGrpSpPr>
        <p:grpSpPr>
          <a:xfrm>
            <a:off x="2123268" y="1017115"/>
            <a:ext cx="3168228" cy="2185453"/>
            <a:chOff x="2123268" y="1017115"/>
            <a:chExt cx="3168228" cy="2185453"/>
          </a:xfrm>
        </p:grpSpPr>
        <p:sp>
          <p:nvSpPr>
            <p:cNvPr id="25" name="矩形 24"/>
            <p:cNvSpPr/>
            <p:nvPr/>
          </p:nvSpPr>
          <p:spPr>
            <a:xfrm>
              <a:off x="2951496" y="1017115"/>
              <a:ext cx="2340000" cy="1954381"/>
            </a:xfrm>
            <a:prstGeom prst="rect">
              <a:avLst/>
            </a:prstGeom>
            <a:ln>
              <a:solidFill>
                <a:srgbClr val="5C307D"/>
              </a:solidFill>
              <a:prstDash val="dash"/>
            </a:ln>
          </p:spPr>
          <p:txBody>
            <a:bodyPr wrap="square">
              <a:spAutoFit/>
            </a:bodyPr>
            <a:lstStyle/>
            <a:p>
              <a:r>
                <a:rPr lang="en-US" altLang="zh-CN" sz="2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Pre(</a:t>
              </a:r>
              <a:r>
                <a:rPr lang="zh-CN" altLang="en-US" sz="2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r>
                <a:rPr lang="en-US" altLang="zh-CN" sz="2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B) </a:t>
              </a:r>
              <a:endParaRPr lang="zh-CN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2200" dirty="0" smtClean="0">
                  <a:solidFill>
                    <a:srgbClr val="B42D2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</a:t>
              </a:r>
              <a:r>
                <a:rPr lang="zh-CN" altLang="en-US" sz="2200" dirty="0" smtClean="0">
                  <a:solidFill>
                    <a:srgbClr val="B42D2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（</a:t>
              </a:r>
              <a:r>
                <a:rPr lang="en-US" altLang="zh-CN" sz="2200" dirty="0" smtClean="0">
                  <a:solidFill>
                    <a:srgbClr val="B42D2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en-US" sz="2200" dirty="0" smtClean="0">
                  <a:solidFill>
                    <a:srgbClr val="B42D2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）</a:t>
              </a:r>
              <a:r>
                <a:rPr lang="en-US" altLang="zh-CN" sz="2200" dirty="0" smtClean="0">
                  <a:solidFill>
                    <a:srgbClr val="B42D2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    </a:t>
              </a:r>
              <a:endParaRPr lang="zh-CN" altLang="zh-CN" sz="22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en-US" altLang="zh-CN" sz="2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Pre(B-</a:t>
              </a:r>
              <a:r>
                <a:rPr lang="en-US" altLang="zh-CN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&gt;</a:t>
              </a:r>
              <a:r>
                <a:rPr lang="en-US" altLang="zh-CN" sz="2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lchild</a:t>
              </a:r>
              <a:r>
                <a:rPr lang="en-US" altLang="zh-CN" sz="2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);    </a:t>
              </a:r>
              <a:endParaRPr lang="zh-CN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2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  <a:endParaRPr lang="zh-CN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" name="直接箭头连接符 4"/>
            <p:cNvCxnSpPr/>
            <p:nvPr/>
          </p:nvCxnSpPr>
          <p:spPr>
            <a:xfrm flipV="1">
              <a:off x="2123268" y="1281653"/>
              <a:ext cx="900000" cy="1920915"/>
            </a:xfrm>
            <a:prstGeom prst="straightConnector1">
              <a:avLst/>
            </a:prstGeom>
            <a:ln w="25400">
              <a:solidFill>
                <a:srgbClr val="B42D2D"/>
              </a:solidFill>
              <a:tailEnd type="stealth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组合 91"/>
          <p:cNvGrpSpPr/>
          <p:nvPr/>
        </p:nvGrpSpPr>
        <p:grpSpPr>
          <a:xfrm>
            <a:off x="4624656" y="734025"/>
            <a:ext cx="2024548" cy="1321096"/>
            <a:chOff x="4624656" y="734025"/>
            <a:chExt cx="2024548" cy="1321096"/>
          </a:xfrm>
        </p:grpSpPr>
        <p:sp>
          <p:nvSpPr>
            <p:cNvPr id="26" name="矩形 25"/>
            <p:cNvSpPr/>
            <p:nvPr/>
          </p:nvSpPr>
          <p:spPr>
            <a:xfrm>
              <a:off x="5389204" y="734025"/>
              <a:ext cx="1260000" cy="430887"/>
            </a:xfrm>
            <a:prstGeom prst="rect">
              <a:avLst/>
            </a:prstGeom>
            <a:ln>
              <a:solidFill>
                <a:srgbClr val="5C307D"/>
              </a:solidFill>
              <a:prstDash val="dash"/>
            </a:ln>
          </p:spPr>
          <p:txBody>
            <a:bodyPr wrap="square">
              <a:spAutoFit/>
            </a:bodyPr>
            <a:lstStyle/>
            <a:p>
              <a:r>
                <a:rPr lang="en-US" altLang="zh-CN" sz="2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Pre(</a:t>
              </a:r>
              <a:r>
                <a:rPr lang="zh-CN" altLang="en-US" sz="2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∧</a:t>
              </a:r>
              <a:r>
                <a:rPr lang="en-US" altLang="zh-CN" sz="2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 </a:t>
              </a:r>
              <a:endParaRPr lang="zh-CN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4" name="直接箭头连接符 33"/>
            <p:cNvCxnSpPr>
              <a:endCxn id="26" idx="1"/>
            </p:cNvCxnSpPr>
            <p:nvPr/>
          </p:nvCxnSpPr>
          <p:spPr>
            <a:xfrm flipV="1">
              <a:off x="4624656" y="949469"/>
              <a:ext cx="828000" cy="1105652"/>
            </a:xfrm>
            <a:prstGeom prst="straightConnector1">
              <a:avLst/>
            </a:prstGeom>
            <a:ln w="25400">
              <a:solidFill>
                <a:srgbClr val="B42D2D"/>
              </a:solidFill>
              <a:tailEnd type="stealth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组合 94"/>
          <p:cNvGrpSpPr/>
          <p:nvPr/>
        </p:nvGrpSpPr>
        <p:grpSpPr>
          <a:xfrm>
            <a:off x="4742495" y="1597334"/>
            <a:ext cx="3017705" cy="1954381"/>
            <a:chOff x="4742495" y="1597334"/>
            <a:chExt cx="3017705" cy="1954381"/>
          </a:xfrm>
        </p:grpSpPr>
        <p:sp>
          <p:nvSpPr>
            <p:cNvPr id="27" name="矩形 26"/>
            <p:cNvSpPr/>
            <p:nvPr/>
          </p:nvSpPr>
          <p:spPr>
            <a:xfrm>
              <a:off x="5420200" y="1597334"/>
              <a:ext cx="2340000" cy="1954381"/>
            </a:xfrm>
            <a:prstGeom prst="rect">
              <a:avLst/>
            </a:prstGeom>
            <a:ln>
              <a:solidFill>
                <a:srgbClr val="5C307D"/>
              </a:solidFill>
              <a:prstDash val="dash"/>
            </a:ln>
          </p:spPr>
          <p:txBody>
            <a:bodyPr wrap="square">
              <a:spAutoFit/>
            </a:bodyPr>
            <a:lstStyle/>
            <a:p>
              <a:r>
                <a:rPr lang="en-US" altLang="zh-CN" sz="2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Pre(</a:t>
              </a:r>
              <a:r>
                <a:rPr lang="zh-CN" altLang="en-US" sz="2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r>
                <a:rPr lang="en-US" altLang="zh-CN" sz="2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D) </a:t>
              </a:r>
              <a:endParaRPr lang="zh-CN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2200" dirty="0" smtClean="0">
                  <a:solidFill>
                    <a:srgbClr val="B42D2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</a:t>
              </a:r>
              <a:r>
                <a:rPr lang="zh-CN" altLang="en-US" sz="2200" dirty="0" smtClean="0">
                  <a:solidFill>
                    <a:srgbClr val="B42D2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（</a:t>
              </a:r>
              <a:r>
                <a:rPr lang="en-US" altLang="zh-CN" sz="2200" dirty="0" smtClean="0">
                  <a:solidFill>
                    <a:srgbClr val="B42D2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en-US" sz="2200" dirty="0" smtClean="0">
                  <a:solidFill>
                    <a:srgbClr val="B42D2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）</a:t>
              </a:r>
              <a:r>
                <a:rPr lang="en-US" altLang="zh-CN" sz="2200" dirty="0" smtClean="0">
                  <a:solidFill>
                    <a:srgbClr val="B42D2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    </a:t>
              </a:r>
              <a:endParaRPr lang="zh-CN" altLang="zh-CN" sz="22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en-US" altLang="zh-CN" sz="2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Pre(D-</a:t>
              </a:r>
              <a:r>
                <a:rPr lang="en-US" altLang="zh-CN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&gt;</a:t>
              </a:r>
              <a:r>
                <a:rPr lang="en-US" altLang="zh-CN" sz="2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lchild</a:t>
              </a:r>
              <a:r>
                <a:rPr lang="en-US" altLang="zh-CN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); </a:t>
              </a:r>
              <a:endParaRPr lang="zh-CN" altLang="zh-CN" sz="2200" dirty="0" smtClean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2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  <a:endParaRPr lang="zh-CN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1" name="直接箭头连接符 40"/>
            <p:cNvCxnSpPr/>
            <p:nvPr/>
          </p:nvCxnSpPr>
          <p:spPr>
            <a:xfrm flipV="1">
              <a:off x="4742495" y="1826654"/>
              <a:ext cx="773391" cy="756000"/>
            </a:xfrm>
            <a:prstGeom prst="straightConnector1">
              <a:avLst/>
            </a:prstGeom>
            <a:ln w="25400">
              <a:solidFill>
                <a:srgbClr val="B42D2D"/>
              </a:solidFill>
              <a:tailEnd type="stealth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9" name="直接箭头连接符 38"/>
          <p:cNvCxnSpPr/>
          <p:nvPr/>
        </p:nvCxnSpPr>
        <p:spPr>
          <a:xfrm flipH="1">
            <a:off x="4968240" y="1164912"/>
            <a:ext cx="796109" cy="1072981"/>
          </a:xfrm>
          <a:prstGeom prst="straightConnector1">
            <a:avLst/>
          </a:prstGeom>
          <a:ln w="25400">
            <a:solidFill>
              <a:srgbClr val="285A3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95"/>
          <p:cNvGrpSpPr/>
          <p:nvPr/>
        </p:nvGrpSpPr>
        <p:grpSpPr>
          <a:xfrm>
            <a:off x="7315212" y="2027913"/>
            <a:ext cx="1799619" cy="595951"/>
            <a:chOff x="7315212" y="2027913"/>
            <a:chExt cx="1799619" cy="595951"/>
          </a:xfrm>
        </p:grpSpPr>
        <p:sp>
          <p:nvSpPr>
            <p:cNvPr id="28" name="矩形 27"/>
            <p:cNvSpPr/>
            <p:nvPr/>
          </p:nvSpPr>
          <p:spPr>
            <a:xfrm>
              <a:off x="7854831" y="2027913"/>
              <a:ext cx="1260000" cy="430887"/>
            </a:xfrm>
            <a:prstGeom prst="rect">
              <a:avLst/>
            </a:prstGeom>
            <a:ln>
              <a:solidFill>
                <a:srgbClr val="5C307D"/>
              </a:solidFill>
              <a:prstDash val="dash"/>
            </a:ln>
          </p:spPr>
          <p:txBody>
            <a:bodyPr wrap="square">
              <a:spAutoFit/>
            </a:bodyPr>
            <a:lstStyle/>
            <a:p>
              <a:r>
                <a:rPr lang="en-US" altLang="zh-CN" sz="2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Pre(</a:t>
              </a:r>
              <a:r>
                <a:rPr lang="zh-CN" altLang="en-US" sz="2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∧</a:t>
              </a:r>
              <a:r>
                <a:rPr lang="en-US" altLang="zh-CN" sz="2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 </a:t>
              </a:r>
              <a:endParaRPr lang="zh-CN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5" name="直接箭头连接符 44"/>
            <p:cNvCxnSpPr/>
            <p:nvPr/>
          </p:nvCxnSpPr>
          <p:spPr>
            <a:xfrm flipV="1">
              <a:off x="7315212" y="2245864"/>
              <a:ext cx="641007" cy="378000"/>
            </a:xfrm>
            <a:prstGeom prst="straightConnector1">
              <a:avLst/>
            </a:prstGeom>
            <a:ln w="25400">
              <a:solidFill>
                <a:srgbClr val="B42D2D"/>
              </a:solidFill>
              <a:tailEnd type="stealth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组合 98"/>
          <p:cNvGrpSpPr/>
          <p:nvPr/>
        </p:nvGrpSpPr>
        <p:grpSpPr>
          <a:xfrm>
            <a:off x="7213823" y="2621726"/>
            <a:ext cx="1901008" cy="490874"/>
            <a:chOff x="7213823" y="2621726"/>
            <a:chExt cx="1901008" cy="490874"/>
          </a:xfrm>
        </p:grpSpPr>
        <p:sp>
          <p:nvSpPr>
            <p:cNvPr id="29" name="矩形 28"/>
            <p:cNvSpPr/>
            <p:nvPr/>
          </p:nvSpPr>
          <p:spPr>
            <a:xfrm>
              <a:off x="7854831" y="2621726"/>
              <a:ext cx="1260000" cy="430887"/>
            </a:xfrm>
            <a:prstGeom prst="rect">
              <a:avLst/>
            </a:prstGeom>
            <a:ln>
              <a:solidFill>
                <a:srgbClr val="5C307D"/>
              </a:solidFill>
              <a:prstDash val="dash"/>
            </a:ln>
          </p:spPr>
          <p:txBody>
            <a:bodyPr wrap="square">
              <a:spAutoFit/>
            </a:bodyPr>
            <a:lstStyle/>
            <a:p>
              <a:r>
                <a:rPr lang="en-US" altLang="zh-CN" sz="2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Pre(</a:t>
              </a:r>
              <a:r>
                <a:rPr lang="zh-CN" altLang="en-US" sz="2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∧</a:t>
              </a:r>
              <a:r>
                <a:rPr lang="en-US" altLang="zh-CN" sz="2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 </a:t>
              </a:r>
              <a:endParaRPr lang="zh-CN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6" name="直接箭头连接符 45"/>
            <p:cNvCxnSpPr>
              <a:endCxn id="29" idx="1"/>
            </p:cNvCxnSpPr>
            <p:nvPr/>
          </p:nvCxnSpPr>
          <p:spPr>
            <a:xfrm flipV="1">
              <a:off x="7213823" y="2837170"/>
              <a:ext cx="641008" cy="275430"/>
            </a:xfrm>
            <a:prstGeom prst="straightConnector1">
              <a:avLst/>
            </a:prstGeom>
            <a:ln w="25400">
              <a:solidFill>
                <a:srgbClr val="B42D2D"/>
              </a:solidFill>
              <a:tailEnd type="stealth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7" name="直接箭头连接符 46"/>
          <p:cNvCxnSpPr/>
          <p:nvPr/>
        </p:nvCxnSpPr>
        <p:spPr>
          <a:xfrm flipH="1">
            <a:off x="7488349" y="2458799"/>
            <a:ext cx="792000" cy="396000"/>
          </a:xfrm>
          <a:prstGeom prst="straightConnector1">
            <a:avLst/>
          </a:prstGeom>
          <a:ln w="25400">
            <a:solidFill>
              <a:srgbClr val="285A3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/>
          <p:cNvCxnSpPr/>
          <p:nvPr/>
        </p:nvCxnSpPr>
        <p:spPr>
          <a:xfrm flipH="1">
            <a:off x="7488349" y="3067853"/>
            <a:ext cx="792000" cy="180000"/>
          </a:xfrm>
          <a:prstGeom prst="straightConnector1">
            <a:avLst/>
          </a:prstGeom>
          <a:ln w="25400">
            <a:solidFill>
              <a:srgbClr val="285A3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/>
          <p:cNvCxnSpPr/>
          <p:nvPr/>
        </p:nvCxnSpPr>
        <p:spPr>
          <a:xfrm flipH="1" flipV="1">
            <a:off x="4970923" y="2647984"/>
            <a:ext cx="1174271" cy="929232"/>
          </a:xfrm>
          <a:prstGeom prst="straightConnector1">
            <a:avLst/>
          </a:prstGeom>
          <a:ln w="25400">
            <a:solidFill>
              <a:srgbClr val="285A3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/>
          <p:cNvCxnSpPr/>
          <p:nvPr/>
        </p:nvCxnSpPr>
        <p:spPr>
          <a:xfrm flipH="1">
            <a:off x="2562750" y="2986690"/>
            <a:ext cx="1172342" cy="369163"/>
          </a:xfrm>
          <a:prstGeom prst="straightConnector1">
            <a:avLst/>
          </a:prstGeom>
          <a:ln w="25400">
            <a:solidFill>
              <a:srgbClr val="285A3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矩形 90"/>
          <p:cNvSpPr/>
          <p:nvPr/>
        </p:nvSpPr>
        <p:spPr>
          <a:xfrm>
            <a:off x="3209221" y="2424852"/>
            <a:ext cx="1919969" cy="430887"/>
          </a:xfrm>
          <a:prstGeom prst="rect">
            <a:avLst/>
          </a:prstGeom>
          <a:ln>
            <a:noFill/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Pre(B-&gt;</a:t>
            </a: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rchild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</a:t>
            </a:r>
            <a:r>
              <a:rPr lang="en-US" altLang="zh-C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5703978" y="2968428"/>
            <a:ext cx="1962217" cy="430887"/>
          </a:xfrm>
          <a:prstGeom prst="rect">
            <a:avLst/>
          </a:prstGeom>
          <a:ln>
            <a:noFill/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Pre(D-&gt;</a:t>
            </a:r>
            <a:r>
              <a:rPr lang="en-US" altLang="zh-CN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rchild</a:t>
            </a:r>
            <a:r>
              <a:rPr lang="en-US" altLang="zh-C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);   </a:t>
            </a:r>
            <a:endParaRPr lang="zh-CN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" name="组合 3"/>
          <p:cNvGrpSpPr/>
          <p:nvPr/>
        </p:nvGrpSpPr>
        <p:grpSpPr>
          <a:xfrm>
            <a:off x="638168" y="5228502"/>
            <a:ext cx="6728261" cy="523220"/>
            <a:chOff x="638168" y="5228502"/>
            <a:chExt cx="6728261" cy="523220"/>
          </a:xfrm>
        </p:grpSpPr>
        <p:sp>
          <p:nvSpPr>
            <p:cNvPr id="42" name="Freeform 84"/>
            <p:cNvSpPr/>
            <p:nvPr/>
          </p:nvSpPr>
          <p:spPr bwMode="auto">
            <a:xfrm>
              <a:off x="638168" y="5294281"/>
              <a:ext cx="432000" cy="360000"/>
            </a:xfrm>
            <a:custGeom>
              <a:avLst/>
              <a:gdLst>
                <a:gd name="T0" fmla="*/ 180 w 202"/>
                <a:gd name="T1" fmla="*/ 16 h 171"/>
                <a:gd name="T2" fmla="*/ 140 w 202"/>
                <a:gd name="T3" fmla="*/ 0 h 171"/>
                <a:gd name="T4" fmla="*/ 100 w 202"/>
                <a:gd name="T5" fmla="*/ 16 h 171"/>
                <a:gd name="T6" fmla="*/ 51 w 202"/>
                <a:gd name="T7" fmla="*/ 66 h 171"/>
                <a:gd name="T8" fmla="*/ 17 w 202"/>
                <a:gd name="T9" fmla="*/ 100 h 171"/>
                <a:gd name="T10" fmla="*/ 17 w 202"/>
                <a:gd name="T11" fmla="*/ 159 h 171"/>
                <a:gd name="T12" fmla="*/ 46 w 202"/>
                <a:gd name="T13" fmla="*/ 171 h 171"/>
                <a:gd name="T14" fmla="*/ 76 w 202"/>
                <a:gd name="T15" fmla="*/ 158 h 171"/>
                <a:gd name="T16" fmla="*/ 138 w 202"/>
                <a:gd name="T17" fmla="*/ 96 h 171"/>
                <a:gd name="T18" fmla="*/ 138 w 202"/>
                <a:gd name="T19" fmla="*/ 96 h 171"/>
                <a:gd name="T20" fmla="*/ 160 w 202"/>
                <a:gd name="T21" fmla="*/ 75 h 171"/>
                <a:gd name="T22" fmla="*/ 168 w 202"/>
                <a:gd name="T23" fmla="*/ 54 h 171"/>
                <a:gd name="T24" fmla="*/ 160 w 202"/>
                <a:gd name="T25" fmla="*/ 33 h 171"/>
                <a:gd name="T26" fmla="*/ 118 w 202"/>
                <a:gd name="T27" fmla="*/ 34 h 171"/>
                <a:gd name="T28" fmla="*/ 43 w 202"/>
                <a:gd name="T29" fmla="*/ 109 h 171"/>
                <a:gd name="T30" fmla="*/ 43 w 202"/>
                <a:gd name="T31" fmla="*/ 117 h 171"/>
                <a:gd name="T32" fmla="*/ 47 w 202"/>
                <a:gd name="T33" fmla="*/ 119 h 171"/>
                <a:gd name="T34" fmla="*/ 51 w 202"/>
                <a:gd name="T35" fmla="*/ 117 h 171"/>
                <a:gd name="T36" fmla="*/ 127 w 202"/>
                <a:gd name="T37" fmla="*/ 42 h 171"/>
                <a:gd name="T38" fmla="*/ 152 w 202"/>
                <a:gd name="T39" fmla="*/ 41 h 171"/>
                <a:gd name="T40" fmla="*/ 157 w 202"/>
                <a:gd name="T41" fmla="*/ 54 h 171"/>
                <a:gd name="T42" fmla="*/ 151 w 202"/>
                <a:gd name="T43" fmla="*/ 67 h 171"/>
                <a:gd name="T44" fmla="*/ 129 w 202"/>
                <a:gd name="T45" fmla="*/ 89 h 171"/>
                <a:gd name="T46" fmla="*/ 129 w 202"/>
                <a:gd name="T47" fmla="*/ 89 h 171"/>
                <a:gd name="T48" fmla="*/ 68 w 202"/>
                <a:gd name="T49" fmla="*/ 150 h 171"/>
                <a:gd name="T50" fmla="*/ 25 w 202"/>
                <a:gd name="T51" fmla="*/ 151 h 171"/>
                <a:gd name="T52" fmla="*/ 25 w 202"/>
                <a:gd name="T53" fmla="*/ 108 h 171"/>
                <a:gd name="T54" fmla="*/ 29 w 202"/>
                <a:gd name="T55" fmla="*/ 104 h 171"/>
                <a:gd name="T56" fmla="*/ 29 w 202"/>
                <a:gd name="T57" fmla="*/ 104 h 171"/>
                <a:gd name="T58" fmla="*/ 109 w 202"/>
                <a:gd name="T59" fmla="*/ 25 h 171"/>
                <a:gd name="T60" fmla="*/ 140 w 202"/>
                <a:gd name="T61" fmla="*/ 11 h 171"/>
                <a:gd name="T62" fmla="*/ 172 w 202"/>
                <a:gd name="T63" fmla="*/ 24 h 171"/>
                <a:gd name="T64" fmla="*/ 172 w 202"/>
                <a:gd name="T65" fmla="*/ 88 h 171"/>
                <a:gd name="T66" fmla="*/ 106 w 202"/>
                <a:gd name="T67" fmla="*/ 153 h 171"/>
                <a:gd name="T68" fmla="*/ 106 w 202"/>
                <a:gd name="T69" fmla="*/ 161 h 171"/>
                <a:gd name="T70" fmla="*/ 110 w 202"/>
                <a:gd name="T71" fmla="*/ 163 h 171"/>
                <a:gd name="T72" fmla="*/ 115 w 202"/>
                <a:gd name="T73" fmla="*/ 161 h 171"/>
                <a:gd name="T74" fmla="*/ 180 w 202"/>
                <a:gd name="T75" fmla="*/ 96 h 171"/>
                <a:gd name="T76" fmla="*/ 180 w 202"/>
                <a:gd name="T77" fmla="*/ 16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02" h="171">
                  <a:moveTo>
                    <a:pt x="180" y="16"/>
                  </a:moveTo>
                  <a:cubicBezTo>
                    <a:pt x="170" y="5"/>
                    <a:pt x="155" y="0"/>
                    <a:pt x="140" y="0"/>
                  </a:cubicBezTo>
                  <a:cubicBezTo>
                    <a:pt x="125" y="0"/>
                    <a:pt x="111" y="6"/>
                    <a:pt x="100" y="16"/>
                  </a:cubicBezTo>
                  <a:cubicBezTo>
                    <a:pt x="51" y="66"/>
                    <a:pt x="51" y="66"/>
                    <a:pt x="51" y="66"/>
                  </a:cubicBezTo>
                  <a:cubicBezTo>
                    <a:pt x="17" y="100"/>
                    <a:pt x="17" y="100"/>
                    <a:pt x="17" y="100"/>
                  </a:cubicBezTo>
                  <a:cubicBezTo>
                    <a:pt x="1" y="116"/>
                    <a:pt x="0" y="143"/>
                    <a:pt x="17" y="159"/>
                  </a:cubicBezTo>
                  <a:cubicBezTo>
                    <a:pt x="25" y="167"/>
                    <a:pt x="35" y="171"/>
                    <a:pt x="46" y="171"/>
                  </a:cubicBezTo>
                  <a:cubicBezTo>
                    <a:pt x="57" y="171"/>
                    <a:pt x="68" y="167"/>
                    <a:pt x="76" y="158"/>
                  </a:cubicBezTo>
                  <a:cubicBezTo>
                    <a:pt x="138" y="96"/>
                    <a:pt x="138" y="96"/>
                    <a:pt x="138" y="96"/>
                  </a:cubicBezTo>
                  <a:cubicBezTo>
                    <a:pt x="138" y="96"/>
                    <a:pt x="138" y="96"/>
                    <a:pt x="138" y="96"/>
                  </a:cubicBezTo>
                  <a:cubicBezTo>
                    <a:pt x="160" y="75"/>
                    <a:pt x="160" y="75"/>
                    <a:pt x="160" y="75"/>
                  </a:cubicBezTo>
                  <a:cubicBezTo>
                    <a:pt x="165" y="69"/>
                    <a:pt x="168" y="62"/>
                    <a:pt x="168" y="54"/>
                  </a:cubicBezTo>
                  <a:cubicBezTo>
                    <a:pt x="169" y="46"/>
                    <a:pt x="166" y="39"/>
                    <a:pt x="160" y="33"/>
                  </a:cubicBezTo>
                  <a:cubicBezTo>
                    <a:pt x="149" y="22"/>
                    <a:pt x="130" y="22"/>
                    <a:pt x="118" y="34"/>
                  </a:cubicBezTo>
                  <a:cubicBezTo>
                    <a:pt x="43" y="109"/>
                    <a:pt x="43" y="109"/>
                    <a:pt x="43" y="109"/>
                  </a:cubicBezTo>
                  <a:cubicBezTo>
                    <a:pt x="41" y="111"/>
                    <a:pt x="41" y="115"/>
                    <a:pt x="43" y="117"/>
                  </a:cubicBezTo>
                  <a:cubicBezTo>
                    <a:pt x="44" y="118"/>
                    <a:pt x="46" y="119"/>
                    <a:pt x="47" y="119"/>
                  </a:cubicBezTo>
                  <a:cubicBezTo>
                    <a:pt x="49" y="119"/>
                    <a:pt x="50" y="118"/>
                    <a:pt x="51" y="117"/>
                  </a:cubicBezTo>
                  <a:cubicBezTo>
                    <a:pt x="127" y="42"/>
                    <a:pt x="127" y="42"/>
                    <a:pt x="127" y="42"/>
                  </a:cubicBezTo>
                  <a:cubicBezTo>
                    <a:pt x="134" y="35"/>
                    <a:pt x="145" y="35"/>
                    <a:pt x="152" y="41"/>
                  </a:cubicBezTo>
                  <a:cubicBezTo>
                    <a:pt x="155" y="45"/>
                    <a:pt x="157" y="49"/>
                    <a:pt x="157" y="54"/>
                  </a:cubicBezTo>
                  <a:cubicBezTo>
                    <a:pt x="157" y="59"/>
                    <a:pt x="155" y="63"/>
                    <a:pt x="151" y="67"/>
                  </a:cubicBezTo>
                  <a:cubicBezTo>
                    <a:pt x="129" y="89"/>
                    <a:pt x="129" y="89"/>
                    <a:pt x="129" y="89"/>
                  </a:cubicBezTo>
                  <a:cubicBezTo>
                    <a:pt x="129" y="89"/>
                    <a:pt x="129" y="89"/>
                    <a:pt x="129" y="89"/>
                  </a:cubicBezTo>
                  <a:cubicBezTo>
                    <a:pt x="68" y="150"/>
                    <a:pt x="68" y="150"/>
                    <a:pt x="68" y="150"/>
                  </a:cubicBezTo>
                  <a:cubicBezTo>
                    <a:pt x="56" y="162"/>
                    <a:pt x="36" y="163"/>
                    <a:pt x="25" y="151"/>
                  </a:cubicBezTo>
                  <a:cubicBezTo>
                    <a:pt x="13" y="139"/>
                    <a:pt x="13" y="120"/>
                    <a:pt x="25" y="108"/>
                  </a:cubicBezTo>
                  <a:cubicBezTo>
                    <a:pt x="29" y="104"/>
                    <a:pt x="29" y="104"/>
                    <a:pt x="29" y="104"/>
                  </a:cubicBezTo>
                  <a:cubicBezTo>
                    <a:pt x="29" y="104"/>
                    <a:pt x="29" y="104"/>
                    <a:pt x="29" y="104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17" y="16"/>
                    <a:pt x="128" y="11"/>
                    <a:pt x="140" y="11"/>
                  </a:cubicBezTo>
                  <a:cubicBezTo>
                    <a:pt x="152" y="11"/>
                    <a:pt x="164" y="16"/>
                    <a:pt x="172" y="24"/>
                  </a:cubicBezTo>
                  <a:cubicBezTo>
                    <a:pt x="190" y="42"/>
                    <a:pt x="189" y="70"/>
                    <a:pt x="172" y="88"/>
                  </a:cubicBezTo>
                  <a:cubicBezTo>
                    <a:pt x="106" y="153"/>
                    <a:pt x="106" y="153"/>
                    <a:pt x="106" y="153"/>
                  </a:cubicBezTo>
                  <a:cubicBezTo>
                    <a:pt x="104" y="155"/>
                    <a:pt x="104" y="159"/>
                    <a:pt x="106" y="161"/>
                  </a:cubicBezTo>
                  <a:cubicBezTo>
                    <a:pt x="108" y="162"/>
                    <a:pt x="109" y="163"/>
                    <a:pt x="110" y="163"/>
                  </a:cubicBezTo>
                  <a:cubicBezTo>
                    <a:pt x="112" y="163"/>
                    <a:pt x="113" y="162"/>
                    <a:pt x="115" y="161"/>
                  </a:cubicBezTo>
                  <a:cubicBezTo>
                    <a:pt x="180" y="96"/>
                    <a:pt x="180" y="96"/>
                    <a:pt x="180" y="96"/>
                  </a:cubicBezTo>
                  <a:cubicBezTo>
                    <a:pt x="202" y="74"/>
                    <a:pt x="202" y="38"/>
                    <a:pt x="180" y="16"/>
                  </a:cubicBezTo>
                  <a:close/>
                </a:path>
              </a:pathLst>
            </a:custGeom>
            <a:solidFill>
              <a:srgbClr val="5A327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1206688" y="5228502"/>
              <a:ext cx="615974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 smtClean="0">
                  <a:solidFill>
                    <a:srgbClr val="B42D2D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约定</a:t>
              </a:r>
              <a:r>
                <a:rPr lang="zh-CN" altLang="en-US" sz="2800" dirty="0" smtClean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：</a:t>
              </a:r>
              <a:r>
                <a:rPr lang="en-US" altLang="zh-CN" sz="2800" dirty="0" smtClean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*A </a:t>
              </a:r>
              <a:r>
                <a:rPr lang="zh-CN" altLang="en-US" sz="2800" dirty="0" smtClean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表示根指针指向结点 </a:t>
              </a:r>
              <a:r>
                <a:rPr lang="en-US" altLang="zh-CN" sz="2800" dirty="0" smtClean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</a:t>
              </a:r>
              <a:endParaRPr lang="zh-CN" altLang="en-US" sz="28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44" name="矩形 43"/>
          <p:cNvSpPr/>
          <p:nvPr/>
        </p:nvSpPr>
        <p:spPr>
          <a:xfrm>
            <a:off x="8382000" y="3978435"/>
            <a:ext cx="3429000" cy="2123658"/>
          </a:xfrm>
          <a:prstGeom prst="rect">
            <a:avLst/>
          </a:prstGeom>
          <a:ln>
            <a:solidFill>
              <a:srgbClr val="5C307D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(</a:t>
            </a:r>
            <a:r>
              <a:rPr lang="en-US" altLang="zh-CN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== </a:t>
            </a:r>
            <a:r>
              <a:rPr lang="en-US" altLang="zh-CN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nullptr</a:t>
            </a:r>
            <a:r>
              <a:rPr lang="en-US" altLang="zh-C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 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return;  </a:t>
            </a:r>
            <a:endParaRPr lang="zh-CN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else 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zh-CN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sz="2200" dirty="0" smtClean="0">
                <a:solidFill>
                  <a:srgbClr val="285A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①</a:t>
            </a:r>
            <a:r>
              <a:rPr lang="zh-CN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</a:t>
            </a:r>
            <a:r>
              <a:rPr lang="en-US" altLang="zh-CN" sz="22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dirty="0" err="1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200" dirty="0" err="1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2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2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2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data;    </a:t>
            </a:r>
            <a:endParaRPr lang="zh-CN" altLang="zh-CN" sz="2200" dirty="0">
              <a:solidFill>
                <a:srgbClr val="B42D2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sz="2200" dirty="0" smtClean="0">
                <a:solidFill>
                  <a:srgbClr val="285A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②</a:t>
            </a:r>
            <a:r>
              <a:rPr lang="zh-CN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PreOrder</a:t>
            </a:r>
            <a:r>
              <a:rPr lang="en-US" altLang="zh-C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lchild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    </a:t>
            </a:r>
            <a:endParaRPr lang="zh-CN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sz="2200" dirty="0" smtClean="0">
                <a:solidFill>
                  <a:srgbClr val="285A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③</a:t>
            </a:r>
            <a:r>
              <a:rPr lang="zh-CN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PreOrder</a:t>
            </a:r>
            <a:r>
              <a:rPr lang="en-US" altLang="zh-C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bt</a:t>
            </a:r>
            <a:r>
              <a:rPr lang="en-US" altLang="zh-C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rchild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      </a:t>
            </a:r>
            <a:endParaRPr lang="zh-CN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Rounded Rectangle 10"/>
          <p:cNvSpPr/>
          <p:nvPr/>
        </p:nvSpPr>
        <p:spPr>
          <a:xfrm>
            <a:off x="542923" y="100964"/>
            <a:ext cx="3672000" cy="540000"/>
          </a:xfrm>
          <a:prstGeom prst="roundRect">
            <a:avLst/>
          </a:prstGeom>
          <a:solidFill>
            <a:srgbClr val="5A32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Text Box 2"/>
          <p:cNvSpPr txBox="1">
            <a:spLocks noChangeArrowheads="1"/>
          </p:cNvSpPr>
          <p:nvPr/>
        </p:nvSpPr>
        <p:spPr bwMode="auto">
          <a:xfrm>
            <a:off x="638168" y="61585"/>
            <a:ext cx="355283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二叉树的前序遍历</a:t>
            </a:r>
            <a:endParaRPr lang="zh-CN" altLang="en-US" sz="32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bldLvl="0" animBg="1"/>
      <p:bldP spid="91" grpId="0"/>
      <p:bldP spid="9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9519135" y="785349"/>
            <a:ext cx="2029024" cy="2204532"/>
            <a:chOff x="5203030" y="646360"/>
            <a:chExt cx="2029024" cy="2204532"/>
          </a:xfrm>
          <a:solidFill>
            <a:srgbClr val="B4B4BE"/>
          </a:solidFill>
        </p:grpSpPr>
        <p:sp>
          <p:nvSpPr>
            <p:cNvPr id="10" name="Line 25"/>
            <p:cNvSpPr>
              <a:spLocks noChangeShapeType="1"/>
            </p:cNvSpPr>
            <p:nvPr/>
          </p:nvSpPr>
          <p:spPr bwMode="auto">
            <a:xfrm flipH="1">
              <a:off x="5566884" y="982910"/>
              <a:ext cx="511175" cy="540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11" name="Line 26"/>
            <p:cNvSpPr>
              <a:spLocks noChangeShapeType="1"/>
            </p:cNvSpPr>
            <p:nvPr/>
          </p:nvSpPr>
          <p:spPr bwMode="auto">
            <a:xfrm>
              <a:off x="6451122" y="982909"/>
              <a:ext cx="432000" cy="540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13" name="Line 28"/>
            <p:cNvSpPr>
              <a:spLocks noChangeShapeType="1"/>
            </p:cNvSpPr>
            <p:nvPr/>
          </p:nvSpPr>
          <p:spPr bwMode="auto">
            <a:xfrm>
              <a:off x="5536404" y="1848930"/>
              <a:ext cx="324000" cy="612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16" name="Oval 37"/>
            <p:cNvSpPr>
              <a:spLocks noChangeArrowheads="1"/>
            </p:cNvSpPr>
            <p:nvPr/>
          </p:nvSpPr>
          <p:spPr bwMode="auto">
            <a:xfrm>
              <a:off x="6058375" y="646360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Oval 37"/>
            <p:cNvSpPr>
              <a:spLocks noChangeArrowheads="1"/>
            </p:cNvSpPr>
            <p:nvPr/>
          </p:nvSpPr>
          <p:spPr bwMode="auto">
            <a:xfrm>
              <a:off x="6800054" y="1462651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Oval 37"/>
            <p:cNvSpPr>
              <a:spLocks noChangeArrowheads="1"/>
            </p:cNvSpPr>
            <p:nvPr/>
          </p:nvSpPr>
          <p:spPr bwMode="auto">
            <a:xfrm>
              <a:off x="5203030" y="1462651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Oval 37"/>
            <p:cNvSpPr>
              <a:spLocks noChangeArrowheads="1"/>
            </p:cNvSpPr>
            <p:nvPr/>
          </p:nvSpPr>
          <p:spPr bwMode="auto">
            <a:xfrm>
              <a:off x="5757005" y="2418892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4" name="矩形 23"/>
          <p:cNvSpPr/>
          <p:nvPr/>
        </p:nvSpPr>
        <p:spPr>
          <a:xfrm>
            <a:off x="523933" y="1887615"/>
            <a:ext cx="2340000" cy="2462213"/>
          </a:xfrm>
          <a:prstGeom prst="rect">
            <a:avLst/>
          </a:prstGeom>
          <a:ln>
            <a:solidFill>
              <a:srgbClr val="5C307D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Pre(</a:t>
            </a:r>
            <a:r>
              <a:rPr lang="zh-CN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A) </a:t>
            </a:r>
            <a:endParaRPr lang="zh-CN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altLang="zh-CN" sz="22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zh-CN" altLang="en-US" sz="22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2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2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22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   </a:t>
            </a:r>
            <a:endParaRPr lang="zh-CN" altLang="zh-CN" sz="2200" dirty="0">
              <a:solidFill>
                <a:srgbClr val="B42D2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Pre(A-&gt;</a:t>
            </a: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lchild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    </a:t>
            </a:r>
            <a:endParaRPr lang="zh-CN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altLang="zh-C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zh-CN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组合 100"/>
          <p:cNvGrpSpPr/>
          <p:nvPr/>
        </p:nvGrpSpPr>
        <p:grpSpPr>
          <a:xfrm>
            <a:off x="2123268" y="1017115"/>
            <a:ext cx="3168228" cy="2185453"/>
            <a:chOff x="2123268" y="1017115"/>
            <a:chExt cx="3168228" cy="2185453"/>
          </a:xfrm>
        </p:grpSpPr>
        <p:sp>
          <p:nvSpPr>
            <p:cNvPr id="25" name="矩形 24"/>
            <p:cNvSpPr/>
            <p:nvPr/>
          </p:nvSpPr>
          <p:spPr>
            <a:xfrm>
              <a:off x="2951496" y="1017115"/>
              <a:ext cx="2340000" cy="1954381"/>
            </a:xfrm>
            <a:prstGeom prst="rect">
              <a:avLst/>
            </a:prstGeom>
            <a:ln>
              <a:solidFill>
                <a:srgbClr val="5C307D"/>
              </a:solidFill>
              <a:prstDash val="dash"/>
            </a:ln>
          </p:spPr>
          <p:txBody>
            <a:bodyPr wrap="square">
              <a:spAutoFit/>
            </a:bodyPr>
            <a:lstStyle/>
            <a:p>
              <a:r>
                <a:rPr lang="en-US" altLang="zh-CN" sz="2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Pre(</a:t>
              </a:r>
              <a:r>
                <a:rPr lang="zh-CN" altLang="en-US" sz="2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r>
                <a:rPr lang="en-US" altLang="zh-CN" sz="2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B) </a:t>
              </a:r>
              <a:endParaRPr lang="zh-CN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2200" dirty="0" smtClean="0">
                  <a:solidFill>
                    <a:srgbClr val="B42D2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</a:t>
              </a:r>
              <a:r>
                <a:rPr lang="zh-CN" altLang="en-US" sz="2200" dirty="0" smtClean="0">
                  <a:solidFill>
                    <a:srgbClr val="B42D2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（</a:t>
              </a:r>
              <a:r>
                <a:rPr lang="en-US" altLang="zh-CN" sz="2200" dirty="0" smtClean="0">
                  <a:solidFill>
                    <a:srgbClr val="B42D2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en-US" sz="2200" dirty="0" smtClean="0">
                  <a:solidFill>
                    <a:srgbClr val="B42D2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）</a:t>
              </a:r>
              <a:r>
                <a:rPr lang="en-US" altLang="zh-CN" sz="2200" dirty="0" smtClean="0">
                  <a:solidFill>
                    <a:srgbClr val="B42D2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    </a:t>
              </a:r>
              <a:endParaRPr lang="zh-CN" altLang="zh-CN" sz="22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en-US" altLang="zh-CN" sz="2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Pre(B-</a:t>
              </a:r>
              <a:r>
                <a:rPr lang="en-US" altLang="zh-CN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&gt;</a:t>
              </a:r>
              <a:r>
                <a:rPr lang="en-US" altLang="zh-CN" sz="2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lchild</a:t>
              </a:r>
              <a:r>
                <a:rPr lang="en-US" altLang="zh-CN" sz="2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);    </a:t>
              </a:r>
              <a:endParaRPr lang="zh-CN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2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  <a:endParaRPr lang="zh-CN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" name="直接箭头连接符 4"/>
            <p:cNvCxnSpPr/>
            <p:nvPr/>
          </p:nvCxnSpPr>
          <p:spPr>
            <a:xfrm flipV="1">
              <a:off x="2123268" y="1281653"/>
              <a:ext cx="900000" cy="1920915"/>
            </a:xfrm>
            <a:prstGeom prst="straightConnector1">
              <a:avLst/>
            </a:prstGeom>
            <a:ln w="25400">
              <a:solidFill>
                <a:srgbClr val="B42D2D"/>
              </a:solidFill>
              <a:tailEnd type="stealth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91"/>
          <p:cNvGrpSpPr/>
          <p:nvPr/>
        </p:nvGrpSpPr>
        <p:grpSpPr>
          <a:xfrm>
            <a:off x="4624656" y="734025"/>
            <a:ext cx="2024548" cy="1321096"/>
            <a:chOff x="4624656" y="734025"/>
            <a:chExt cx="2024548" cy="1321096"/>
          </a:xfrm>
        </p:grpSpPr>
        <p:sp>
          <p:nvSpPr>
            <p:cNvPr id="26" name="矩形 25"/>
            <p:cNvSpPr/>
            <p:nvPr/>
          </p:nvSpPr>
          <p:spPr>
            <a:xfrm>
              <a:off x="5389204" y="734025"/>
              <a:ext cx="1260000" cy="430887"/>
            </a:xfrm>
            <a:prstGeom prst="rect">
              <a:avLst/>
            </a:prstGeom>
            <a:ln>
              <a:solidFill>
                <a:srgbClr val="5C307D"/>
              </a:solidFill>
              <a:prstDash val="dash"/>
            </a:ln>
          </p:spPr>
          <p:txBody>
            <a:bodyPr wrap="square">
              <a:spAutoFit/>
            </a:bodyPr>
            <a:lstStyle/>
            <a:p>
              <a:r>
                <a:rPr lang="en-US" altLang="zh-CN" sz="2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Pre(</a:t>
              </a:r>
              <a:r>
                <a:rPr lang="zh-CN" altLang="en-US" sz="2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∧</a:t>
              </a:r>
              <a:r>
                <a:rPr lang="en-US" altLang="zh-CN" sz="2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 </a:t>
              </a:r>
              <a:endParaRPr lang="zh-CN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4" name="直接箭头连接符 33"/>
            <p:cNvCxnSpPr>
              <a:endCxn id="26" idx="1"/>
            </p:cNvCxnSpPr>
            <p:nvPr/>
          </p:nvCxnSpPr>
          <p:spPr>
            <a:xfrm flipV="1">
              <a:off x="4624656" y="949469"/>
              <a:ext cx="828000" cy="1105652"/>
            </a:xfrm>
            <a:prstGeom prst="straightConnector1">
              <a:avLst/>
            </a:prstGeom>
            <a:ln w="25400">
              <a:solidFill>
                <a:srgbClr val="B42D2D"/>
              </a:solidFill>
              <a:tailEnd type="stealth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组合 94"/>
          <p:cNvGrpSpPr/>
          <p:nvPr/>
        </p:nvGrpSpPr>
        <p:grpSpPr>
          <a:xfrm>
            <a:off x="4742495" y="1597334"/>
            <a:ext cx="3017705" cy="1954381"/>
            <a:chOff x="4742495" y="1597334"/>
            <a:chExt cx="3017705" cy="1954381"/>
          </a:xfrm>
        </p:grpSpPr>
        <p:sp>
          <p:nvSpPr>
            <p:cNvPr id="27" name="矩形 26"/>
            <p:cNvSpPr/>
            <p:nvPr/>
          </p:nvSpPr>
          <p:spPr>
            <a:xfrm>
              <a:off x="5420200" y="1597334"/>
              <a:ext cx="2340000" cy="1954381"/>
            </a:xfrm>
            <a:prstGeom prst="rect">
              <a:avLst/>
            </a:prstGeom>
            <a:ln>
              <a:solidFill>
                <a:srgbClr val="5C307D"/>
              </a:solidFill>
              <a:prstDash val="dash"/>
            </a:ln>
          </p:spPr>
          <p:txBody>
            <a:bodyPr wrap="square">
              <a:spAutoFit/>
            </a:bodyPr>
            <a:lstStyle/>
            <a:p>
              <a:r>
                <a:rPr lang="en-US" altLang="zh-CN" sz="2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Pre(</a:t>
              </a:r>
              <a:r>
                <a:rPr lang="zh-CN" altLang="en-US" sz="2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r>
                <a:rPr lang="en-US" altLang="zh-CN" sz="2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D) </a:t>
              </a:r>
              <a:endParaRPr lang="zh-CN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2200" dirty="0" smtClean="0">
                  <a:solidFill>
                    <a:srgbClr val="B42D2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</a:t>
              </a:r>
              <a:r>
                <a:rPr lang="zh-CN" altLang="en-US" sz="2200" dirty="0" smtClean="0">
                  <a:solidFill>
                    <a:srgbClr val="B42D2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（</a:t>
              </a:r>
              <a:r>
                <a:rPr lang="en-US" altLang="zh-CN" sz="2200" dirty="0" smtClean="0">
                  <a:solidFill>
                    <a:srgbClr val="B42D2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en-US" sz="2200" dirty="0" smtClean="0">
                  <a:solidFill>
                    <a:srgbClr val="B42D2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）</a:t>
              </a:r>
              <a:r>
                <a:rPr lang="en-US" altLang="zh-CN" sz="2200" dirty="0" smtClean="0">
                  <a:solidFill>
                    <a:srgbClr val="B42D2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    </a:t>
              </a:r>
              <a:endParaRPr lang="zh-CN" altLang="zh-CN" sz="22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en-US" altLang="zh-CN" sz="2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Pre(D-</a:t>
              </a:r>
              <a:r>
                <a:rPr lang="en-US" altLang="zh-CN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&gt;</a:t>
              </a:r>
              <a:r>
                <a:rPr lang="en-US" altLang="zh-CN" sz="2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lchild</a:t>
              </a:r>
              <a:r>
                <a:rPr lang="en-US" altLang="zh-CN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); </a:t>
              </a:r>
              <a:endParaRPr lang="zh-CN" altLang="zh-CN" sz="2200" dirty="0" smtClean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2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  <a:endParaRPr lang="zh-CN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1" name="直接箭头连接符 40"/>
            <p:cNvCxnSpPr/>
            <p:nvPr/>
          </p:nvCxnSpPr>
          <p:spPr>
            <a:xfrm flipV="1">
              <a:off x="4742495" y="1826654"/>
              <a:ext cx="773391" cy="756000"/>
            </a:xfrm>
            <a:prstGeom prst="straightConnector1">
              <a:avLst/>
            </a:prstGeom>
            <a:ln w="25400">
              <a:solidFill>
                <a:srgbClr val="B42D2D"/>
              </a:solidFill>
              <a:tailEnd type="stealth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9" name="直接箭头连接符 38"/>
          <p:cNvCxnSpPr/>
          <p:nvPr/>
        </p:nvCxnSpPr>
        <p:spPr>
          <a:xfrm flipH="1">
            <a:off x="4968240" y="1164912"/>
            <a:ext cx="796109" cy="1072981"/>
          </a:xfrm>
          <a:prstGeom prst="straightConnector1">
            <a:avLst/>
          </a:prstGeom>
          <a:ln w="25400">
            <a:solidFill>
              <a:srgbClr val="285A3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95"/>
          <p:cNvGrpSpPr/>
          <p:nvPr/>
        </p:nvGrpSpPr>
        <p:grpSpPr>
          <a:xfrm>
            <a:off x="7315212" y="2027913"/>
            <a:ext cx="1799619" cy="595951"/>
            <a:chOff x="7315212" y="2027913"/>
            <a:chExt cx="1799619" cy="595951"/>
          </a:xfrm>
        </p:grpSpPr>
        <p:sp>
          <p:nvSpPr>
            <p:cNvPr id="28" name="矩形 27"/>
            <p:cNvSpPr/>
            <p:nvPr/>
          </p:nvSpPr>
          <p:spPr>
            <a:xfrm>
              <a:off x="7854831" y="2027913"/>
              <a:ext cx="1260000" cy="430887"/>
            </a:xfrm>
            <a:prstGeom prst="rect">
              <a:avLst/>
            </a:prstGeom>
            <a:ln>
              <a:solidFill>
                <a:srgbClr val="5C307D"/>
              </a:solidFill>
              <a:prstDash val="dash"/>
            </a:ln>
          </p:spPr>
          <p:txBody>
            <a:bodyPr wrap="square">
              <a:spAutoFit/>
            </a:bodyPr>
            <a:lstStyle/>
            <a:p>
              <a:r>
                <a:rPr lang="en-US" altLang="zh-CN" sz="2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Pre(</a:t>
              </a:r>
              <a:r>
                <a:rPr lang="zh-CN" altLang="en-US" sz="2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∧</a:t>
              </a:r>
              <a:r>
                <a:rPr lang="en-US" altLang="zh-CN" sz="2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 </a:t>
              </a:r>
              <a:endParaRPr lang="zh-CN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5" name="直接箭头连接符 44"/>
            <p:cNvCxnSpPr/>
            <p:nvPr/>
          </p:nvCxnSpPr>
          <p:spPr>
            <a:xfrm flipV="1">
              <a:off x="7315212" y="2245864"/>
              <a:ext cx="641007" cy="378000"/>
            </a:xfrm>
            <a:prstGeom prst="straightConnector1">
              <a:avLst/>
            </a:prstGeom>
            <a:ln w="25400">
              <a:solidFill>
                <a:srgbClr val="B42D2D"/>
              </a:solidFill>
              <a:tailEnd type="stealth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组合 98"/>
          <p:cNvGrpSpPr/>
          <p:nvPr/>
        </p:nvGrpSpPr>
        <p:grpSpPr>
          <a:xfrm>
            <a:off x="7213823" y="2621726"/>
            <a:ext cx="1901008" cy="490874"/>
            <a:chOff x="7213823" y="2621726"/>
            <a:chExt cx="1901008" cy="490874"/>
          </a:xfrm>
        </p:grpSpPr>
        <p:sp>
          <p:nvSpPr>
            <p:cNvPr id="29" name="矩形 28"/>
            <p:cNvSpPr/>
            <p:nvPr/>
          </p:nvSpPr>
          <p:spPr>
            <a:xfrm>
              <a:off x="7854831" y="2621726"/>
              <a:ext cx="1260000" cy="430887"/>
            </a:xfrm>
            <a:prstGeom prst="rect">
              <a:avLst/>
            </a:prstGeom>
            <a:ln>
              <a:solidFill>
                <a:srgbClr val="5C307D"/>
              </a:solidFill>
              <a:prstDash val="dash"/>
            </a:ln>
          </p:spPr>
          <p:txBody>
            <a:bodyPr wrap="square">
              <a:spAutoFit/>
            </a:bodyPr>
            <a:lstStyle/>
            <a:p>
              <a:r>
                <a:rPr lang="en-US" altLang="zh-CN" sz="2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Pre(</a:t>
              </a:r>
              <a:r>
                <a:rPr lang="zh-CN" altLang="en-US" sz="2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∧</a:t>
              </a:r>
              <a:r>
                <a:rPr lang="en-US" altLang="zh-CN" sz="2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 </a:t>
              </a:r>
              <a:endParaRPr lang="zh-CN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6" name="直接箭头连接符 45"/>
            <p:cNvCxnSpPr>
              <a:endCxn id="29" idx="1"/>
            </p:cNvCxnSpPr>
            <p:nvPr/>
          </p:nvCxnSpPr>
          <p:spPr>
            <a:xfrm flipV="1">
              <a:off x="7213823" y="2837170"/>
              <a:ext cx="641008" cy="275430"/>
            </a:xfrm>
            <a:prstGeom prst="straightConnector1">
              <a:avLst/>
            </a:prstGeom>
            <a:ln w="25400">
              <a:solidFill>
                <a:srgbClr val="B42D2D"/>
              </a:solidFill>
              <a:tailEnd type="stealth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7" name="直接箭头连接符 46"/>
          <p:cNvCxnSpPr/>
          <p:nvPr/>
        </p:nvCxnSpPr>
        <p:spPr>
          <a:xfrm flipH="1">
            <a:off x="7488349" y="2458799"/>
            <a:ext cx="792000" cy="396000"/>
          </a:xfrm>
          <a:prstGeom prst="straightConnector1">
            <a:avLst/>
          </a:prstGeom>
          <a:ln w="25400">
            <a:solidFill>
              <a:srgbClr val="285A3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/>
          <p:cNvCxnSpPr/>
          <p:nvPr/>
        </p:nvCxnSpPr>
        <p:spPr>
          <a:xfrm flipH="1">
            <a:off x="7488349" y="3067853"/>
            <a:ext cx="792000" cy="180000"/>
          </a:xfrm>
          <a:prstGeom prst="straightConnector1">
            <a:avLst/>
          </a:prstGeom>
          <a:ln w="25400">
            <a:solidFill>
              <a:srgbClr val="285A3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/>
          <p:cNvCxnSpPr/>
          <p:nvPr/>
        </p:nvCxnSpPr>
        <p:spPr>
          <a:xfrm flipH="1" flipV="1">
            <a:off x="4970923" y="2647984"/>
            <a:ext cx="1174271" cy="929232"/>
          </a:xfrm>
          <a:prstGeom prst="straightConnector1">
            <a:avLst/>
          </a:prstGeom>
          <a:ln w="25400">
            <a:solidFill>
              <a:srgbClr val="285A3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/>
          <p:cNvCxnSpPr/>
          <p:nvPr/>
        </p:nvCxnSpPr>
        <p:spPr>
          <a:xfrm flipH="1">
            <a:off x="2562750" y="2986690"/>
            <a:ext cx="1172342" cy="369163"/>
          </a:xfrm>
          <a:prstGeom prst="straightConnector1">
            <a:avLst/>
          </a:prstGeom>
          <a:ln w="25400">
            <a:solidFill>
              <a:srgbClr val="285A3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矩形 90"/>
          <p:cNvSpPr/>
          <p:nvPr/>
        </p:nvSpPr>
        <p:spPr>
          <a:xfrm>
            <a:off x="3209221" y="2424852"/>
            <a:ext cx="1919969" cy="430887"/>
          </a:xfrm>
          <a:prstGeom prst="rect">
            <a:avLst/>
          </a:prstGeom>
          <a:ln>
            <a:noFill/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Pre(B-&gt;</a:t>
            </a: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rchild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</a:t>
            </a:r>
            <a:r>
              <a:rPr lang="en-US" altLang="zh-C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5703978" y="2968428"/>
            <a:ext cx="1962217" cy="430887"/>
          </a:xfrm>
          <a:prstGeom prst="rect">
            <a:avLst/>
          </a:prstGeom>
          <a:ln>
            <a:noFill/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Pre(D-&gt;</a:t>
            </a:r>
            <a:r>
              <a:rPr lang="en-US" altLang="zh-CN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rchild</a:t>
            </a:r>
            <a:r>
              <a:rPr lang="en-US" altLang="zh-C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);   </a:t>
            </a:r>
            <a:endParaRPr lang="zh-CN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组合 6"/>
          <p:cNvGrpSpPr/>
          <p:nvPr/>
        </p:nvGrpSpPr>
        <p:grpSpPr>
          <a:xfrm>
            <a:off x="4783439" y="3673046"/>
            <a:ext cx="1891059" cy="580453"/>
            <a:chOff x="4783439" y="3673046"/>
            <a:chExt cx="1891059" cy="580453"/>
          </a:xfrm>
        </p:grpSpPr>
        <p:sp>
          <p:nvSpPr>
            <p:cNvPr id="42" name="矩形 41"/>
            <p:cNvSpPr/>
            <p:nvPr/>
          </p:nvSpPr>
          <p:spPr>
            <a:xfrm>
              <a:off x="5414498" y="3673046"/>
              <a:ext cx="1260000" cy="430887"/>
            </a:xfrm>
            <a:prstGeom prst="rect">
              <a:avLst/>
            </a:prstGeom>
            <a:ln>
              <a:solidFill>
                <a:srgbClr val="5C307D"/>
              </a:solidFill>
              <a:prstDash val="dash"/>
            </a:ln>
          </p:spPr>
          <p:txBody>
            <a:bodyPr wrap="square">
              <a:spAutoFit/>
            </a:bodyPr>
            <a:lstStyle/>
            <a:p>
              <a:r>
                <a:rPr lang="en-US" altLang="zh-CN" sz="2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Pre(</a:t>
              </a:r>
              <a:r>
                <a:rPr lang="zh-CN" altLang="en-US" sz="2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∧</a:t>
              </a:r>
              <a:r>
                <a:rPr lang="en-US" altLang="zh-CN" sz="2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 </a:t>
              </a:r>
              <a:endParaRPr lang="zh-CN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4" name="直接箭头连接符 43"/>
            <p:cNvCxnSpPr/>
            <p:nvPr/>
          </p:nvCxnSpPr>
          <p:spPr>
            <a:xfrm flipV="1">
              <a:off x="4783439" y="3875499"/>
              <a:ext cx="641007" cy="378000"/>
            </a:xfrm>
            <a:prstGeom prst="straightConnector1">
              <a:avLst/>
            </a:prstGeom>
            <a:ln w="25400">
              <a:solidFill>
                <a:srgbClr val="B42D2D"/>
              </a:solidFill>
              <a:tailEnd type="stealth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组合 11"/>
          <p:cNvGrpSpPr/>
          <p:nvPr/>
        </p:nvGrpSpPr>
        <p:grpSpPr>
          <a:xfrm>
            <a:off x="4742495" y="4251361"/>
            <a:ext cx="1916505" cy="467443"/>
            <a:chOff x="4742495" y="4251361"/>
            <a:chExt cx="1916505" cy="467443"/>
          </a:xfrm>
        </p:grpSpPr>
        <p:sp>
          <p:nvSpPr>
            <p:cNvPr id="43" name="矩形 42"/>
            <p:cNvSpPr/>
            <p:nvPr/>
          </p:nvSpPr>
          <p:spPr>
            <a:xfrm>
              <a:off x="5399000" y="4251361"/>
              <a:ext cx="1260000" cy="430887"/>
            </a:xfrm>
            <a:prstGeom prst="rect">
              <a:avLst/>
            </a:prstGeom>
            <a:ln>
              <a:solidFill>
                <a:srgbClr val="5C307D"/>
              </a:solidFill>
              <a:prstDash val="dash"/>
            </a:ln>
          </p:spPr>
          <p:txBody>
            <a:bodyPr wrap="square">
              <a:spAutoFit/>
            </a:bodyPr>
            <a:lstStyle/>
            <a:p>
              <a:r>
                <a:rPr lang="en-US" altLang="zh-CN" sz="2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Pre(</a:t>
              </a:r>
              <a:r>
                <a:rPr lang="zh-CN" altLang="en-US" sz="2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∧</a:t>
              </a:r>
              <a:r>
                <a:rPr lang="en-US" altLang="zh-CN" sz="2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 </a:t>
              </a:r>
              <a:endParaRPr lang="zh-CN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8" name="直接箭头连接符 47"/>
            <p:cNvCxnSpPr>
              <a:endCxn id="43" idx="1"/>
            </p:cNvCxnSpPr>
            <p:nvPr/>
          </p:nvCxnSpPr>
          <p:spPr>
            <a:xfrm flipV="1">
              <a:off x="4742495" y="4466804"/>
              <a:ext cx="656505" cy="252000"/>
            </a:xfrm>
            <a:prstGeom prst="straightConnector1">
              <a:avLst/>
            </a:prstGeom>
            <a:ln w="25400">
              <a:solidFill>
                <a:srgbClr val="B42D2D"/>
              </a:solidFill>
              <a:tailEnd type="stealth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0" name="直接箭头连接符 49"/>
          <p:cNvCxnSpPr/>
          <p:nvPr/>
        </p:nvCxnSpPr>
        <p:spPr>
          <a:xfrm flipH="1">
            <a:off x="4977696" y="4088435"/>
            <a:ext cx="828000" cy="378369"/>
          </a:xfrm>
          <a:prstGeom prst="straightConnector1">
            <a:avLst/>
          </a:prstGeom>
          <a:ln w="25400">
            <a:solidFill>
              <a:srgbClr val="285A3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/>
          <p:cNvCxnSpPr/>
          <p:nvPr/>
        </p:nvCxnSpPr>
        <p:spPr>
          <a:xfrm flipH="1">
            <a:off x="4962456" y="4682248"/>
            <a:ext cx="864000" cy="252000"/>
          </a:xfrm>
          <a:prstGeom prst="straightConnector1">
            <a:avLst/>
          </a:prstGeom>
          <a:ln w="25400">
            <a:solidFill>
              <a:srgbClr val="285A3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/>
          <p:nvPr/>
        </p:nvCxnSpPr>
        <p:spPr>
          <a:xfrm flipH="1" flipV="1">
            <a:off x="2562750" y="4093306"/>
            <a:ext cx="1082196" cy="1063643"/>
          </a:xfrm>
          <a:prstGeom prst="straightConnector1">
            <a:avLst/>
          </a:prstGeom>
          <a:ln w="25400">
            <a:solidFill>
              <a:srgbClr val="285A3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5"/>
          <p:cNvGrpSpPr/>
          <p:nvPr/>
        </p:nvGrpSpPr>
        <p:grpSpPr>
          <a:xfrm>
            <a:off x="2183688" y="3202568"/>
            <a:ext cx="3112050" cy="1954381"/>
            <a:chOff x="2183688" y="3202568"/>
            <a:chExt cx="3112050" cy="1954381"/>
          </a:xfrm>
        </p:grpSpPr>
        <p:sp>
          <p:nvSpPr>
            <p:cNvPr id="40" name="矩形 39"/>
            <p:cNvSpPr/>
            <p:nvPr/>
          </p:nvSpPr>
          <p:spPr>
            <a:xfrm>
              <a:off x="2955738" y="3202568"/>
              <a:ext cx="2340000" cy="1954381"/>
            </a:xfrm>
            <a:prstGeom prst="rect">
              <a:avLst/>
            </a:prstGeom>
            <a:ln>
              <a:solidFill>
                <a:srgbClr val="5C307D"/>
              </a:solidFill>
              <a:prstDash val="dash"/>
            </a:ln>
          </p:spPr>
          <p:txBody>
            <a:bodyPr wrap="square">
              <a:spAutoFit/>
            </a:bodyPr>
            <a:lstStyle/>
            <a:p>
              <a:r>
                <a:rPr lang="en-US" altLang="zh-CN" sz="2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Pre(</a:t>
              </a:r>
              <a:r>
                <a:rPr lang="zh-CN" altLang="en-US" sz="2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r>
                <a:rPr lang="en-US" altLang="zh-CN" sz="2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C) </a:t>
              </a:r>
              <a:endParaRPr lang="zh-CN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2200" dirty="0" smtClean="0">
                  <a:solidFill>
                    <a:srgbClr val="B42D2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</a:t>
              </a:r>
              <a:r>
                <a:rPr lang="zh-CN" altLang="en-US" sz="2200" dirty="0" smtClean="0">
                  <a:solidFill>
                    <a:srgbClr val="B42D2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（</a:t>
              </a:r>
              <a:r>
                <a:rPr lang="en-US" altLang="zh-CN" sz="2200" dirty="0" smtClean="0">
                  <a:solidFill>
                    <a:srgbClr val="B42D2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zh-CN" altLang="en-US" sz="2200" dirty="0" smtClean="0">
                  <a:solidFill>
                    <a:srgbClr val="B42D2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）</a:t>
              </a:r>
              <a:r>
                <a:rPr lang="en-US" altLang="zh-CN" sz="2200" dirty="0" smtClean="0">
                  <a:solidFill>
                    <a:srgbClr val="B42D2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    </a:t>
              </a:r>
              <a:endParaRPr lang="zh-CN" altLang="zh-CN" sz="22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en-US" altLang="zh-CN" sz="2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Pre(C-</a:t>
              </a:r>
              <a:r>
                <a:rPr lang="en-US" altLang="zh-CN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&gt;</a:t>
              </a:r>
              <a:r>
                <a:rPr lang="en-US" altLang="zh-CN" sz="2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lchild</a:t>
              </a:r>
              <a:r>
                <a:rPr lang="en-US" altLang="zh-CN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); </a:t>
              </a:r>
              <a:endParaRPr lang="zh-CN" altLang="zh-CN" sz="2200" dirty="0" smtClean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2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  <a:endParaRPr lang="zh-CN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4" name="直接箭头连接符 53"/>
            <p:cNvCxnSpPr/>
            <p:nvPr/>
          </p:nvCxnSpPr>
          <p:spPr>
            <a:xfrm flipV="1">
              <a:off x="2183688" y="3431235"/>
              <a:ext cx="864000" cy="396000"/>
            </a:xfrm>
            <a:prstGeom prst="straightConnector1">
              <a:avLst/>
            </a:prstGeom>
            <a:ln w="25400">
              <a:solidFill>
                <a:srgbClr val="B42D2D"/>
              </a:solidFill>
              <a:tailEnd type="stealth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" name="矩形 55"/>
          <p:cNvSpPr/>
          <p:nvPr/>
        </p:nvSpPr>
        <p:spPr>
          <a:xfrm>
            <a:off x="777185" y="3698475"/>
            <a:ext cx="1898996" cy="430887"/>
          </a:xfrm>
          <a:prstGeom prst="rect">
            <a:avLst/>
          </a:prstGeom>
          <a:ln>
            <a:noFill/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Pre(A-&gt;</a:t>
            </a: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rchild</a:t>
            </a:r>
            <a:r>
              <a:rPr lang="en-US" altLang="zh-C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);   </a:t>
            </a:r>
            <a:endParaRPr lang="zh-CN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3211918" y="4596815"/>
            <a:ext cx="1917272" cy="430887"/>
          </a:xfrm>
          <a:prstGeom prst="rect">
            <a:avLst/>
          </a:prstGeom>
          <a:ln>
            <a:noFill/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Pre(C-&gt;</a:t>
            </a:r>
            <a:r>
              <a:rPr lang="en-US" altLang="zh-CN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rchild</a:t>
            </a:r>
            <a:r>
              <a:rPr lang="en-US" altLang="zh-C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);   </a:t>
            </a:r>
            <a:endParaRPr lang="zh-CN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5" name="组合 2"/>
          <p:cNvGrpSpPr/>
          <p:nvPr/>
        </p:nvGrpSpPr>
        <p:grpSpPr>
          <a:xfrm>
            <a:off x="693534" y="5380902"/>
            <a:ext cx="6507832" cy="523220"/>
            <a:chOff x="693534" y="5380902"/>
            <a:chExt cx="6507832" cy="523220"/>
          </a:xfrm>
        </p:grpSpPr>
        <p:sp>
          <p:nvSpPr>
            <p:cNvPr id="62" name="TextBox 61"/>
            <p:cNvSpPr txBox="1"/>
            <p:nvPr/>
          </p:nvSpPr>
          <p:spPr>
            <a:xfrm>
              <a:off x="1041625" y="5380902"/>
              <a:ext cx="615974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 smtClean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得到前序序列：</a:t>
              </a:r>
              <a:r>
                <a:rPr lang="en-US" altLang="zh-CN" sz="2800" dirty="0" smtClean="0">
                  <a:solidFill>
                    <a:srgbClr val="40404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 B D C</a:t>
              </a:r>
              <a:endParaRPr lang="zh-CN" altLang="en-US" sz="28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19" name="Group 82"/>
            <p:cNvGrpSpPr/>
            <p:nvPr/>
          </p:nvGrpSpPr>
          <p:grpSpPr>
            <a:xfrm>
              <a:off x="693534" y="5456882"/>
              <a:ext cx="360000" cy="432000"/>
              <a:chOff x="1743075" y="3159126"/>
              <a:chExt cx="454025" cy="546100"/>
            </a:xfrm>
            <a:solidFill>
              <a:srgbClr val="5A327D"/>
            </a:solidFill>
          </p:grpSpPr>
          <p:sp>
            <p:nvSpPr>
              <p:cNvPr id="64" name="Freeform 69"/>
              <p:cNvSpPr/>
              <p:nvPr/>
            </p:nvSpPr>
            <p:spPr bwMode="auto">
              <a:xfrm>
                <a:off x="1952625" y="3159126"/>
                <a:ext cx="111125" cy="101600"/>
              </a:xfrm>
              <a:custGeom>
                <a:avLst/>
                <a:gdLst>
                  <a:gd name="T0" fmla="*/ 26 w 39"/>
                  <a:gd name="T1" fmla="*/ 36 h 36"/>
                  <a:gd name="T2" fmla="*/ 27 w 39"/>
                  <a:gd name="T3" fmla="*/ 36 h 36"/>
                  <a:gd name="T4" fmla="*/ 28 w 39"/>
                  <a:gd name="T5" fmla="*/ 36 h 36"/>
                  <a:gd name="T6" fmla="*/ 39 w 39"/>
                  <a:gd name="T7" fmla="*/ 17 h 36"/>
                  <a:gd name="T8" fmla="*/ 39 w 39"/>
                  <a:gd name="T9" fmla="*/ 16 h 36"/>
                  <a:gd name="T10" fmla="*/ 39 w 39"/>
                  <a:gd name="T11" fmla="*/ 15 h 36"/>
                  <a:gd name="T12" fmla="*/ 13 w 39"/>
                  <a:gd name="T13" fmla="*/ 0 h 36"/>
                  <a:gd name="T14" fmla="*/ 12 w 39"/>
                  <a:gd name="T15" fmla="*/ 0 h 36"/>
                  <a:gd name="T16" fmla="*/ 12 w 39"/>
                  <a:gd name="T17" fmla="*/ 0 h 36"/>
                  <a:gd name="T18" fmla="*/ 0 w 39"/>
                  <a:gd name="T19" fmla="*/ 20 h 36"/>
                  <a:gd name="T20" fmla="*/ 1 w 39"/>
                  <a:gd name="T21" fmla="*/ 21 h 36"/>
                  <a:gd name="T22" fmla="*/ 26 w 39"/>
                  <a:gd name="T23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9" h="36">
                    <a:moveTo>
                      <a:pt x="26" y="36"/>
                    </a:moveTo>
                    <a:cubicBezTo>
                      <a:pt x="26" y="36"/>
                      <a:pt x="27" y="36"/>
                      <a:pt x="27" y="36"/>
                    </a:cubicBezTo>
                    <a:cubicBezTo>
                      <a:pt x="27" y="36"/>
                      <a:pt x="27" y="36"/>
                      <a:pt x="28" y="36"/>
                    </a:cubicBezTo>
                    <a:cubicBezTo>
                      <a:pt x="39" y="17"/>
                      <a:pt x="39" y="17"/>
                      <a:pt x="39" y="17"/>
                    </a:cubicBezTo>
                    <a:cubicBezTo>
                      <a:pt x="39" y="16"/>
                      <a:pt x="39" y="16"/>
                      <a:pt x="39" y="16"/>
                    </a:cubicBezTo>
                    <a:cubicBezTo>
                      <a:pt x="39" y="16"/>
                      <a:pt x="39" y="15"/>
                      <a:pt x="39" y="15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3" y="0"/>
                      <a:pt x="13" y="0"/>
                      <a:pt x="12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20"/>
                      <a:pt x="0" y="21"/>
                      <a:pt x="1" y="21"/>
                    </a:cubicBezTo>
                    <a:lnTo>
                      <a:pt x="26" y="3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5" name="Freeform 70"/>
              <p:cNvSpPr/>
              <p:nvPr/>
            </p:nvSpPr>
            <p:spPr bwMode="auto">
              <a:xfrm>
                <a:off x="1743075" y="3557588"/>
                <a:ext cx="79375" cy="98425"/>
              </a:xfrm>
              <a:custGeom>
                <a:avLst/>
                <a:gdLst>
                  <a:gd name="T0" fmla="*/ 27 w 28"/>
                  <a:gd name="T1" fmla="*/ 17 h 35"/>
                  <a:gd name="T2" fmla="*/ 7 w 28"/>
                  <a:gd name="T3" fmla="*/ 3 h 35"/>
                  <a:gd name="T4" fmla="*/ 4 w 28"/>
                  <a:gd name="T5" fmla="*/ 3 h 35"/>
                  <a:gd name="T6" fmla="*/ 0 w 28"/>
                  <a:gd name="T7" fmla="*/ 34 h 35"/>
                  <a:gd name="T8" fmla="*/ 1 w 28"/>
                  <a:gd name="T9" fmla="*/ 35 h 35"/>
                  <a:gd name="T10" fmla="*/ 1 w 28"/>
                  <a:gd name="T11" fmla="*/ 35 h 35"/>
                  <a:gd name="T12" fmla="*/ 2 w 28"/>
                  <a:gd name="T13" fmla="*/ 35 h 35"/>
                  <a:gd name="T14" fmla="*/ 28 w 28"/>
                  <a:gd name="T15" fmla="*/ 17 h 35"/>
                  <a:gd name="T16" fmla="*/ 27 w 28"/>
                  <a:gd name="T17" fmla="*/ 17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8" h="35">
                    <a:moveTo>
                      <a:pt x="27" y="17"/>
                    </a:moveTo>
                    <a:cubicBezTo>
                      <a:pt x="16" y="0"/>
                      <a:pt x="7" y="3"/>
                      <a:pt x="7" y="3"/>
                    </a:cubicBezTo>
                    <a:cubicBezTo>
                      <a:pt x="6" y="3"/>
                      <a:pt x="5" y="3"/>
                      <a:pt x="4" y="3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0" y="34"/>
                      <a:pt x="1" y="34"/>
                      <a:pt x="1" y="35"/>
                    </a:cubicBezTo>
                    <a:cubicBezTo>
                      <a:pt x="1" y="35"/>
                      <a:pt x="1" y="35"/>
                      <a:pt x="1" y="35"/>
                    </a:cubicBezTo>
                    <a:cubicBezTo>
                      <a:pt x="2" y="35"/>
                      <a:pt x="2" y="35"/>
                      <a:pt x="2" y="35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8" y="17"/>
                      <a:pt x="28" y="17"/>
                      <a:pt x="27" y="1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6" name="Freeform 71"/>
              <p:cNvSpPr>
                <a:spLocks noEditPoints="1"/>
              </p:cNvSpPr>
              <p:nvPr/>
            </p:nvSpPr>
            <p:spPr bwMode="auto">
              <a:xfrm>
                <a:off x="1762125" y="3252788"/>
                <a:ext cx="247650" cy="338138"/>
              </a:xfrm>
              <a:custGeom>
                <a:avLst/>
                <a:gdLst>
                  <a:gd name="T0" fmla="*/ 27 w 87"/>
                  <a:gd name="T1" fmla="*/ 119 h 119"/>
                  <a:gd name="T2" fmla="*/ 87 w 87"/>
                  <a:gd name="T3" fmla="*/ 16 h 119"/>
                  <a:gd name="T4" fmla="*/ 87 w 87"/>
                  <a:gd name="T5" fmla="*/ 16 h 119"/>
                  <a:gd name="T6" fmla="*/ 87 w 87"/>
                  <a:gd name="T7" fmla="*/ 15 h 119"/>
                  <a:gd name="T8" fmla="*/ 61 w 87"/>
                  <a:gd name="T9" fmla="*/ 0 h 119"/>
                  <a:gd name="T10" fmla="*/ 60 w 87"/>
                  <a:gd name="T11" fmla="*/ 0 h 119"/>
                  <a:gd name="T12" fmla="*/ 0 w 87"/>
                  <a:gd name="T13" fmla="*/ 102 h 119"/>
                  <a:gd name="T14" fmla="*/ 27 w 87"/>
                  <a:gd name="T15" fmla="*/ 119 h 119"/>
                  <a:gd name="T16" fmla="*/ 40 w 87"/>
                  <a:gd name="T17" fmla="*/ 57 h 119"/>
                  <a:gd name="T18" fmla="*/ 66 w 87"/>
                  <a:gd name="T19" fmla="*/ 13 h 119"/>
                  <a:gd name="T20" fmla="*/ 72 w 87"/>
                  <a:gd name="T21" fmla="*/ 11 h 119"/>
                  <a:gd name="T22" fmla="*/ 73 w 87"/>
                  <a:gd name="T23" fmla="*/ 17 h 119"/>
                  <a:gd name="T24" fmla="*/ 47 w 87"/>
                  <a:gd name="T25" fmla="*/ 61 h 119"/>
                  <a:gd name="T26" fmla="*/ 43 w 87"/>
                  <a:gd name="T27" fmla="*/ 63 h 119"/>
                  <a:gd name="T28" fmla="*/ 41 w 87"/>
                  <a:gd name="T29" fmla="*/ 63 h 119"/>
                  <a:gd name="T30" fmla="*/ 40 w 87"/>
                  <a:gd name="T31" fmla="*/ 57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87" h="119">
                    <a:moveTo>
                      <a:pt x="27" y="119"/>
                    </a:moveTo>
                    <a:cubicBezTo>
                      <a:pt x="87" y="16"/>
                      <a:pt x="87" y="16"/>
                      <a:pt x="87" y="16"/>
                    </a:cubicBezTo>
                    <a:cubicBezTo>
                      <a:pt x="87" y="16"/>
                      <a:pt x="87" y="16"/>
                      <a:pt x="87" y="16"/>
                    </a:cubicBezTo>
                    <a:cubicBezTo>
                      <a:pt x="87" y="15"/>
                      <a:pt x="87" y="15"/>
                      <a:pt x="87" y="15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61" y="0"/>
                      <a:pt x="60" y="0"/>
                      <a:pt x="60" y="0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4" y="102"/>
                      <a:pt x="15" y="103"/>
                      <a:pt x="27" y="119"/>
                    </a:cubicBezTo>
                    <a:close/>
                    <a:moveTo>
                      <a:pt x="40" y="57"/>
                    </a:moveTo>
                    <a:cubicBezTo>
                      <a:pt x="66" y="13"/>
                      <a:pt x="66" y="13"/>
                      <a:pt x="66" y="13"/>
                    </a:cubicBezTo>
                    <a:cubicBezTo>
                      <a:pt x="67" y="11"/>
                      <a:pt x="70" y="10"/>
                      <a:pt x="72" y="11"/>
                    </a:cubicBezTo>
                    <a:cubicBezTo>
                      <a:pt x="73" y="13"/>
                      <a:pt x="74" y="15"/>
                      <a:pt x="73" y="17"/>
                    </a:cubicBezTo>
                    <a:cubicBezTo>
                      <a:pt x="47" y="61"/>
                      <a:pt x="47" y="61"/>
                      <a:pt x="47" y="61"/>
                    </a:cubicBezTo>
                    <a:cubicBezTo>
                      <a:pt x="46" y="63"/>
                      <a:pt x="45" y="63"/>
                      <a:pt x="43" y="63"/>
                    </a:cubicBezTo>
                    <a:cubicBezTo>
                      <a:pt x="43" y="63"/>
                      <a:pt x="42" y="63"/>
                      <a:pt x="41" y="63"/>
                    </a:cubicBezTo>
                    <a:cubicBezTo>
                      <a:pt x="39" y="62"/>
                      <a:pt x="39" y="59"/>
                      <a:pt x="40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7" name="Freeform 72"/>
              <p:cNvSpPr/>
              <p:nvPr/>
            </p:nvSpPr>
            <p:spPr bwMode="auto">
              <a:xfrm>
                <a:off x="1758950" y="3468688"/>
                <a:ext cx="438150" cy="236538"/>
              </a:xfrm>
              <a:custGeom>
                <a:avLst/>
                <a:gdLst>
                  <a:gd name="T0" fmla="*/ 153 w 154"/>
                  <a:gd name="T1" fmla="*/ 2 h 83"/>
                  <a:gd name="T2" fmla="*/ 148 w 154"/>
                  <a:gd name="T3" fmla="*/ 1 h 83"/>
                  <a:gd name="T4" fmla="*/ 141 w 154"/>
                  <a:gd name="T5" fmla="*/ 5 h 83"/>
                  <a:gd name="T6" fmla="*/ 121 w 154"/>
                  <a:gd name="T7" fmla="*/ 20 h 83"/>
                  <a:gd name="T8" fmla="*/ 122 w 154"/>
                  <a:gd name="T9" fmla="*/ 38 h 83"/>
                  <a:gd name="T10" fmla="*/ 122 w 154"/>
                  <a:gd name="T11" fmla="*/ 38 h 83"/>
                  <a:gd name="T12" fmla="*/ 88 w 154"/>
                  <a:gd name="T13" fmla="*/ 44 h 83"/>
                  <a:gd name="T14" fmla="*/ 43 w 154"/>
                  <a:gd name="T15" fmla="*/ 53 h 83"/>
                  <a:gd name="T16" fmla="*/ 41 w 154"/>
                  <a:gd name="T17" fmla="*/ 56 h 83"/>
                  <a:gd name="T18" fmla="*/ 54 w 154"/>
                  <a:gd name="T19" fmla="*/ 70 h 83"/>
                  <a:gd name="T20" fmla="*/ 62 w 154"/>
                  <a:gd name="T21" fmla="*/ 74 h 83"/>
                  <a:gd name="T22" fmla="*/ 62 w 154"/>
                  <a:gd name="T23" fmla="*/ 75 h 83"/>
                  <a:gd name="T24" fmla="*/ 57 w 154"/>
                  <a:gd name="T25" fmla="*/ 75 h 83"/>
                  <a:gd name="T26" fmla="*/ 53 w 154"/>
                  <a:gd name="T27" fmla="*/ 75 h 83"/>
                  <a:gd name="T28" fmla="*/ 29 w 154"/>
                  <a:gd name="T29" fmla="*/ 73 h 83"/>
                  <a:gd name="T30" fmla="*/ 4 w 154"/>
                  <a:gd name="T31" fmla="*/ 70 h 83"/>
                  <a:gd name="T32" fmla="*/ 0 w 154"/>
                  <a:gd name="T33" fmla="*/ 74 h 83"/>
                  <a:gd name="T34" fmla="*/ 4 w 154"/>
                  <a:gd name="T35" fmla="*/ 78 h 83"/>
                  <a:gd name="T36" fmla="*/ 28 w 154"/>
                  <a:gd name="T37" fmla="*/ 80 h 83"/>
                  <a:gd name="T38" fmla="*/ 53 w 154"/>
                  <a:gd name="T39" fmla="*/ 83 h 83"/>
                  <a:gd name="T40" fmla="*/ 56 w 154"/>
                  <a:gd name="T41" fmla="*/ 83 h 83"/>
                  <a:gd name="T42" fmla="*/ 60 w 154"/>
                  <a:gd name="T43" fmla="*/ 83 h 83"/>
                  <a:gd name="T44" fmla="*/ 70 w 154"/>
                  <a:gd name="T45" fmla="*/ 79 h 83"/>
                  <a:gd name="T46" fmla="*/ 69 w 154"/>
                  <a:gd name="T47" fmla="*/ 70 h 83"/>
                  <a:gd name="T48" fmla="*/ 57 w 154"/>
                  <a:gd name="T49" fmla="*/ 62 h 83"/>
                  <a:gd name="T50" fmla="*/ 49 w 154"/>
                  <a:gd name="T51" fmla="*/ 59 h 83"/>
                  <a:gd name="T52" fmla="*/ 89 w 154"/>
                  <a:gd name="T53" fmla="*/ 52 h 83"/>
                  <a:gd name="T54" fmla="*/ 130 w 154"/>
                  <a:gd name="T55" fmla="*/ 44 h 83"/>
                  <a:gd name="T56" fmla="*/ 133 w 154"/>
                  <a:gd name="T57" fmla="*/ 42 h 83"/>
                  <a:gd name="T58" fmla="*/ 133 w 154"/>
                  <a:gd name="T59" fmla="*/ 38 h 83"/>
                  <a:gd name="T60" fmla="*/ 128 w 154"/>
                  <a:gd name="T61" fmla="*/ 33 h 83"/>
                  <a:gd name="T62" fmla="*/ 127 w 154"/>
                  <a:gd name="T63" fmla="*/ 25 h 83"/>
                  <a:gd name="T64" fmla="*/ 145 w 154"/>
                  <a:gd name="T65" fmla="*/ 12 h 83"/>
                  <a:gd name="T66" fmla="*/ 152 w 154"/>
                  <a:gd name="T67" fmla="*/ 8 h 83"/>
                  <a:gd name="T68" fmla="*/ 153 w 154"/>
                  <a:gd name="T69" fmla="*/ 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54" h="83">
                    <a:moveTo>
                      <a:pt x="153" y="2"/>
                    </a:moveTo>
                    <a:cubicBezTo>
                      <a:pt x="152" y="0"/>
                      <a:pt x="149" y="0"/>
                      <a:pt x="148" y="1"/>
                    </a:cubicBezTo>
                    <a:cubicBezTo>
                      <a:pt x="146" y="2"/>
                      <a:pt x="143" y="4"/>
                      <a:pt x="141" y="5"/>
                    </a:cubicBezTo>
                    <a:cubicBezTo>
                      <a:pt x="134" y="9"/>
                      <a:pt x="126" y="14"/>
                      <a:pt x="121" y="20"/>
                    </a:cubicBezTo>
                    <a:cubicBezTo>
                      <a:pt x="113" y="28"/>
                      <a:pt x="119" y="35"/>
                      <a:pt x="122" y="38"/>
                    </a:cubicBezTo>
                    <a:cubicBezTo>
                      <a:pt x="122" y="38"/>
                      <a:pt x="122" y="38"/>
                      <a:pt x="122" y="38"/>
                    </a:cubicBezTo>
                    <a:cubicBezTo>
                      <a:pt x="112" y="42"/>
                      <a:pt x="100" y="43"/>
                      <a:pt x="88" y="44"/>
                    </a:cubicBezTo>
                    <a:cubicBezTo>
                      <a:pt x="73" y="45"/>
                      <a:pt x="57" y="46"/>
                      <a:pt x="43" y="53"/>
                    </a:cubicBezTo>
                    <a:cubicBezTo>
                      <a:pt x="42" y="53"/>
                      <a:pt x="41" y="54"/>
                      <a:pt x="41" y="56"/>
                    </a:cubicBezTo>
                    <a:cubicBezTo>
                      <a:pt x="39" y="64"/>
                      <a:pt x="47" y="67"/>
                      <a:pt x="54" y="70"/>
                    </a:cubicBezTo>
                    <a:cubicBezTo>
                      <a:pt x="57" y="71"/>
                      <a:pt x="61" y="73"/>
                      <a:pt x="62" y="74"/>
                    </a:cubicBezTo>
                    <a:cubicBezTo>
                      <a:pt x="62" y="74"/>
                      <a:pt x="62" y="75"/>
                      <a:pt x="62" y="75"/>
                    </a:cubicBezTo>
                    <a:cubicBezTo>
                      <a:pt x="61" y="75"/>
                      <a:pt x="58" y="75"/>
                      <a:pt x="57" y="75"/>
                    </a:cubicBezTo>
                    <a:cubicBezTo>
                      <a:pt x="55" y="75"/>
                      <a:pt x="54" y="75"/>
                      <a:pt x="53" y="75"/>
                    </a:cubicBezTo>
                    <a:cubicBezTo>
                      <a:pt x="45" y="75"/>
                      <a:pt x="37" y="74"/>
                      <a:pt x="29" y="73"/>
                    </a:cubicBezTo>
                    <a:cubicBezTo>
                      <a:pt x="21" y="71"/>
                      <a:pt x="12" y="70"/>
                      <a:pt x="4" y="70"/>
                    </a:cubicBezTo>
                    <a:cubicBezTo>
                      <a:pt x="2" y="70"/>
                      <a:pt x="0" y="72"/>
                      <a:pt x="0" y="74"/>
                    </a:cubicBezTo>
                    <a:cubicBezTo>
                      <a:pt x="0" y="76"/>
                      <a:pt x="2" y="78"/>
                      <a:pt x="4" y="78"/>
                    </a:cubicBezTo>
                    <a:cubicBezTo>
                      <a:pt x="12" y="78"/>
                      <a:pt x="19" y="79"/>
                      <a:pt x="28" y="80"/>
                    </a:cubicBezTo>
                    <a:cubicBezTo>
                      <a:pt x="36" y="82"/>
                      <a:pt x="45" y="83"/>
                      <a:pt x="53" y="83"/>
                    </a:cubicBezTo>
                    <a:cubicBezTo>
                      <a:pt x="54" y="83"/>
                      <a:pt x="55" y="83"/>
                      <a:pt x="56" y="83"/>
                    </a:cubicBezTo>
                    <a:cubicBezTo>
                      <a:pt x="58" y="83"/>
                      <a:pt x="59" y="83"/>
                      <a:pt x="60" y="83"/>
                    </a:cubicBezTo>
                    <a:cubicBezTo>
                      <a:pt x="64" y="83"/>
                      <a:pt x="68" y="82"/>
                      <a:pt x="70" y="79"/>
                    </a:cubicBezTo>
                    <a:cubicBezTo>
                      <a:pt x="72" y="75"/>
                      <a:pt x="69" y="71"/>
                      <a:pt x="69" y="70"/>
                    </a:cubicBezTo>
                    <a:cubicBezTo>
                      <a:pt x="66" y="66"/>
                      <a:pt x="62" y="64"/>
                      <a:pt x="57" y="62"/>
                    </a:cubicBezTo>
                    <a:cubicBezTo>
                      <a:pt x="55" y="62"/>
                      <a:pt x="51" y="60"/>
                      <a:pt x="49" y="59"/>
                    </a:cubicBezTo>
                    <a:cubicBezTo>
                      <a:pt x="62" y="54"/>
                      <a:pt x="75" y="53"/>
                      <a:pt x="89" y="52"/>
                    </a:cubicBezTo>
                    <a:cubicBezTo>
                      <a:pt x="103" y="50"/>
                      <a:pt x="117" y="49"/>
                      <a:pt x="130" y="44"/>
                    </a:cubicBezTo>
                    <a:cubicBezTo>
                      <a:pt x="132" y="44"/>
                      <a:pt x="132" y="43"/>
                      <a:pt x="133" y="42"/>
                    </a:cubicBezTo>
                    <a:cubicBezTo>
                      <a:pt x="133" y="41"/>
                      <a:pt x="133" y="39"/>
                      <a:pt x="133" y="38"/>
                    </a:cubicBezTo>
                    <a:cubicBezTo>
                      <a:pt x="131" y="36"/>
                      <a:pt x="130" y="34"/>
                      <a:pt x="128" y="33"/>
                    </a:cubicBezTo>
                    <a:cubicBezTo>
                      <a:pt x="124" y="28"/>
                      <a:pt x="124" y="28"/>
                      <a:pt x="127" y="25"/>
                    </a:cubicBezTo>
                    <a:cubicBezTo>
                      <a:pt x="131" y="20"/>
                      <a:pt x="139" y="16"/>
                      <a:pt x="145" y="12"/>
                    </a:cubicBezTo>
                    <a:cubicBezTo>
                      <a:pt x="148" y="10"/>
                      <a:pt x="150" y="9"/>
                      <a:pt x="152" y="8"/>
                    </a:cubicBezTo>
                    <a:cubicBezTo>
                      <a:pt x="154" y="6"/>
                      <a:pt x="154" y="4"/>
                      <a:pt x="153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63" name="矩形 62"/>
          <p:cNvSpPr/>
          <p:nvPr/>
        </p:nvSpPr>
        <p:spPr>
          <a:xfrm>
            <a:off x="8382000" y="3978435"/>
            <a:ext cx="3429000" cy="2123658"/>
          </a:xfrm>
          <a:prstGeom prst="rect">
            <a:avLst/>
          </a:prstGeom>
          <a:ln>
            <a:solidFill>
              <a:srgbClr val="5C307D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(</a:t>
            </a:r>
            <a:r>
              <a:rPr lang="en-US" altLang="zh-CN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== </a:t>
            </a:r>
            <a:r>
              <a:rPr lang="en-US" altLang="zh-CN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nullptr</a:t>
            </a:r>
            <a:r>
              <a:rPr lang="en-US" altLang="zh-C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 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return;  </a:t>
            </a:r>
            <a:endParaRPr lang="zh-CN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else 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zh-CN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sz="2200" dirty="0" smtClean="0">
                <a:solidFill>
                  <a:srgbClr val="285A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①</a:t>
            </a:r>
            <a:r>
              <a:rPr lang="zh-CN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</a:t>
            </a:r>
            <a:r>
              <a:rPr lang="en-US" altLang="zh-CN" sz="22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dirty="0" err="1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200" dirty="0" err="1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2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200" dirty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2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data;    </a:t>
            </a:r>
            <a:endParaRPr lang="zh-CN" altLang="zh-CN" sz="2200" dirty="0">
              <a:solidFill>
                <a:srgbClr val="B42D2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sz="2200" dirty="0" smtClean="0">
                <a:solidFill>
                  <a:srgbClr val="285A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②</a:t>
            </a:r>
            <a:r>
              <a:rPr lang="zh-CN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PreOrder</a:t>
            </a:r>
            <a:r>
              <a:rPr lang="en-US" altLang="zh-C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lchild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    </a:t>
            </a:r>
            <a:endParaRPr lang="zh-CN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sz="2200" dirty="0" smtClean="0">
                <a:solidFill>
                  <a:srgbClr val="285A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③</a:t>
            </a:r>
            <a:r>
              <a:rPr lang="zh-CN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PreOrder</a:t>
            </a:r>
            <a:r>
              <a:rPr lang="en-US" altLang="zh-C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bt</a:t>
            </a:r>
            <a:r>
              <a:rPr lang="en-US" altLang="zh-C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rchild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      </a:t>
            </a:r>
            <a:endParaRPr lang="zh-CN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Rounded Rectangle 10"/>
          <p:cNvSpPr/>
          <p:nvPr/>
        </p:nvSpPr>
        <p:spPr>
          <a:xfrm>
            <a:off x="542923" y="100964"/>
            <a:ext cx="3672000" cy="540000"/>
          </a:xfrm>
          <a:prstGeom prst="roundRect">
            <a:avLst/>
          </a:prstGeom>
          <a:solidFill>
            <a:srgbClr val="5A32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Text Box 2"/>
          <p:cNvSpPr txBox="1">
            <a:spLocks noChangeArrowheads="1"/>
          </p:cNvSpPr>
          <p:nvPr/>
        </p:nvSpPr>
        <p:spPr bwMode="auto">
          <a:xfrm>
            <a:off x="638168" y="61585"/>
            <a:ext cx="355283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二叉树的前序遍历</a:t>
            </a:r>
            <a:endParaRPr lang="zh-CN" altLang="en-US" sz="32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5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40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5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5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5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5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5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" fill="hold">
                      <p:stCondLst>
                        <p:cond delay="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5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5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60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" fill="hold">
                      <p:stCondLst>
                        <p:cond delay="0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5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65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" fill="hold">
                      <p:stCondLst>
                        <p:cond delay="0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5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</p:childTnLst>
        </p:cTn>
      </p:par>
    </p:tnLst>
    <p:bldLst>
      <p:bldP spid="5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27"/>
          <p:cNvSpPr txBox="1">
            <a:spLocks noChangeArrowheads="1"/>
          </p:cNvSpPr>
          <p:nvPr/>
        </p:nvSpPr>
        <p:spPr bwMode="auto">
          <a:xfrm>
            <a:off x="7167245" y="4588959"/>
            <a:ext cx="4079875" cy="6413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en-US" sz="3600"/>
          </a:p>
        </p:txBody>
      </p:sp>
      <p:sp>
        <p:nvSpPr>
          <p:cNvPr id="12" name="Text Box 30"/>
          <p:cNvSpPr txBox="1">
            <a:spLocks noChangeArrowheads="1"/>
          </p:cNvSpPr>
          <p:nvPr/>
        </p:nvSpPr>
        <p:spPr bwMode="auto">
          <a:xfrm>
            <a:off x="6408736" y="5432838"/>
            <a:ext cx="4513263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遍历序列：</a:t>
            </a:r>
            <a:endParaRPr lang="zh-CN" altLang="en-US" sz="28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" name="Text Box 31"/>
          <p:cNvSpPr txBox="1">
            <a:spLocks noChangeArrowheads="1"/>
          </p:cNvSpPr>
          <p:nvPr/>
        </p:nvSpPr>
        <p:spPr bwMode="auto">
          <a:xfrm>
            <a:off x="7421245" y="4646109"/>
            <a:ext cx="471487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endParaRPr lang="en-US" altLang="zh-CN" sz="28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" name="Text Box 32"/>
          <p:cNvSpPr txBox="1">
            <a:spLocks noChangeArrowheads="1"/>
          </p:cNvSpPr>
          <p:nvPr/>
        </p:nvSpPr>
        <p:spPr bwMode="auto">
          <a:xfrm>
            <a:off x="8223408" y="5462683"/>
            <a:ext cx="471488" cy="51911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endParaRPr lang="en-US" altLang="zh-CN" sz="2800" b="1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" name="Text Box 33"/>
          <p:cNvSpPr txBox="1">
            <a:spLocks noChangeArrowheads="1"/>
          </p:cNvSpPr>
          <p:nvPr/>
        </p:nvSpPr>
        <p:spPr bwMode="auto">
          <a:xfrm>
            <a:off x="7915751" y="4646109"/>
            <a:ext cx="471487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endParaRPr lang="en-US" altLang="zh-CN" sz="2800" b="1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" name="Text Box 34"/>
          <p:cNvSpPr txBox="1">
            <a:spLocks noChangeArrowheads="1"/>
          </p:cNvSpPr>
          <p:nvPr/>
        </p:nvSpPr>
        <p:spPr bwMode="auto">
          <a:xfrm>
            <a:off x="8410257" y="4646109"/>
            <a:ext cx="471487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endParaRPr lang="en-US" altLang="zh-CN" sz="28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" name="Text Box 35"/>
          <p:cNvSpPr txBox="1">
            <a:spLocks noChangeArrowheads="1"/>
          </p:cNvSpPr>
          <p:nvPr/>
        </p:nvSpPr>
        <p:spPr bwMode="auto">
          <a:xfrm>
            <a:off x="8642244" y="5462683"/>
            <a:ext cx="471488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endParaRPr lang="en-US" altLang="zh-CN" sz="28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" name="Text Box 36"/>
          <p:cNvSpPr txBox="1">
            <a:spLocks noChangeArrowheads="1"/>
          </p:cNvSpPr>
          <p:nvPr/>
        </p:nvSpPr>
        <p:spPr bwMode="auto">
          <a:xfrm>
            <a:off x="8904763" y="4646109"/>
            <a:ext cx="471488" cy="51911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endParaRPr lang="en-US" altLang="zh-CN" sz="2800" b="1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" name="Text Box 37"/>
          <p:cNvSpPr txBox="1">
            <a:spLocks noChangeArrowheads="1"/>
          </p:cNvSpPr>
          <p:nvPr/>
        </p:nvSpPr>
        <p:spPr bwMode="auto">
          <a:xfrm>
            <a:off x="9061080" y="5462683"/>
            <a:ext cx="471488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endParaRPr lang="en-US" altLang="zh-CN" sz="2800" b="1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" name="Text Box 38"/>
          <p:cNvSpPr txBox="1">
            <a:spLocks noChangeArrowheads="1"/>
          </p:cNvSpPr>
          <p:nvPr/>
        </p:nvSpPr>
        <p:spPr bwMode="auto">
          <a:xfrm>
            <a:off x="9399270" y="4646109"/>
            <a:ext cx="471487" cy="51911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endParaRPr lang="en-US" altLang="zh-CN" sz="2800" b="1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" name="Text Box 39"/>
          <p:cNvSpPr txBox="1">
            <a:spLocks noChangeArrowheads="1"/>
          </p:cNvSpPr>
          <p:nvPr/>
        </p:nvSpPr>
        <p:spPr bwMode="auto">
          <a:xfrm>
            <a:off x="9893776" y="4646109"/>
            <a:ext cx="471488" cy="51911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endParaRPr lang="en-US" altLang="zh-CN" sz="2800" b="1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" name="Text Box 40"/>
          <p:cNvSpPr txBox="1">
            <a:spLocks noChangeArrowheads="1"/>
          </p:cNvSpPr>
          <p:nvPr/>
        </p:nvSpPr>
        <p:spPr bwMode="auto">
          <a:xfrm>
            <a:off x="10388282" y="4646109"/>
            <a:ext cx="471488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endParaRPr lang="en-US" altLang="zh-CN" sz="2800" b="1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" name="Text Box 41"/>
          <p:cNvSpPr txBox="1">
            <a:spLocks noChangeArrowheads="1"/>
          </p:cNvSpPr>
          <p:nvPr/>
        </p:nvSpPr>
        <p:spPr bwMode="auto">
          <a:xfrm>
            <a:off x="9479916" y="5462683"/>
            <a:ext cx="471487" cy="51911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endParaRPr lang="en-US" altLang="zh-CN" sz="2800" b="1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" name="Text Box 42"/>
          <p:cNvSpPr txBox="1">
            <a:spLocks noChangeArrowheads="1"/>
          </p:cNvSpPr>
          <p:nvPr/>
        </p:nvSpPr>
        <p:spPr bwMode="auto">
          <a:xfrm>
            <a:off x="9898751" y="5462683"/>
            <a:ext cx="471488" cy="51911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endParaRPr lang="en-US" altLang="zh-CN" sz="2800" b="1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" name="Text Box 43"/>
          <p:cNvSpPr txBox="1">
            <a:spLocks noChangeArrowheads="1"/>
          </p:cNvSpPr>
          <p:nvPr/>
        </p:nvSpPr>
        <p:spPr bwMode="auto">
          <a:xfrm>
            <a:off x="10317587" y="5462683"/>
            <a:ext cx="471487" cy="51911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endParaRPr lang="en-US" altLang="zh-CN" sz="2800" b="1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" name="Text Box 44"/>
          <p:cNvSpPr txBox="1">
            <a:spLocks noChangeArrowheads="1"/>
          </p:cNvSpPr>
          <p:nvPr/>
        </p:nvSpPr>
        <p:spPr bwMode="auto">
          <a:xfrm>
            <a:off x="10736421" y="5462683"/>
            <a:ext cx="471487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endParaRPr lang="en-US" altLang="zh-CN" sz="2800" b="1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组合 26"/>
          <p:cNvGrpSpPr/>
          <p:nvPr/>
        </p:nvGrpSpPr>
        <p:grpSpPr>
          <a:xfrm>
            <a:off x="8413749" y="581555"/>
            <a:ext cx="3005177" cy="3274895"/>
            <a:chOff x="8138952" y="2616992"/>
            <a:chExt cx="3005177" cy="3274895"/>
          </a:xfrm>
          <a:solidFill>
            <a:srgbClr val="B4B4BE"/>
          </a:solidFill>
        </p:grpSpPr>
        <p:sp>
          <p:nvSpPr>
            <p:cNvPr id="28" name="Line 25"/>
            <p:cNvSpPr>
              <a:spLocks noChangeShapeType="1"/>
            </p:cNvSpPr>
            <p:nvPr/>
          </p:nvSpPr>
          <p:spPr bwMode="auto">
            <a:xfrm flipH="1">
              <a:off x="8995407" y="2953542"/>
              <a:ext cx="511175" cy="540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29" name="Line 26"/>
            <p:cNvSpPr>
              <a:spLocks noChangeShapeType="1"/>
            </p:cNvSpPr>
            <p:nvPr/>
          </p:nvSpPr>
          <p:spPr bwMode="auto">
            <a:xfrm>
              <a:off x="9879645" y="2953541"/>
              <a:ext cx="432000" cy="540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30" name="Line 27"/>
            <p:cNvSpPr>
              <a:spLocks noChangeShapeType="1"/>
            </p:cNvSpPr>
            <p:nvPr/>
          </p:nvSpPr>
          <p:spPr bwMode="auto">
            <a:xfrm flipH="1">
              <a:off x="8373108" y="3834286"/>
              <a:ext cx="360000" cy="648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31" name="Line 28"/>
            <p:cNvSpPr>
              <a:spLocks noChangeShapeType="1"/>
            </p:cNvSpPr>
            <p:nvPr/>
          </p:nvSpPr>
          <p:spPr bwMode="auto">
            <a:xfrm>
              <a:off x="8417876" y="4899182"/>
              <a:ext cx="396875" cy="606425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32" name="Line 29"/>
            <p:cNvSpPr>
              <a:spLocks noChangeShapeType="1"/>
            </p:cNvSpPr>
            <p:nvPr/>
          </p:nvSpPr>
          <p:spPr bwMode="auto">
            <a:xfrm flipH="1">
              <a:off x="10043475" y="3829524"/>
              <a:ext cx="288000" cy="648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34" name="Line 30"/>
            <p:cNvSpPr>
              <a:spLocks noChangeShapeType="1"/>
            </p:cNvSpPr>
            <p:nvPr/>
          </p:nvSpPr>
          <p:spPr bwMode="auto">
            <a:xfrm>
              <a:off x="10561325" y="3841246"/>
              <a:ext cx="288000" cy="6258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35" name="Oval 37"/>
            <p:cNvSpPr>
              <a:spLocks noChangeArrowheads="1"/>
            </p:cNvSpPr>
            <p:nvPr/>
          </p:nvSpPr>
          <p:spPr bwMode="auto">
            <a:xfrm>
              <a:off x="9486898" y="2616992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Oval 37"/>
            <p:cNvSpPr>
              <a:spLocks noChangeArrowheads="1"/>
            </p:cNvSpPr>
            <p:nvPr/>
          </p:nvSpPr>
          <p:spPr bwMode="auto">
            <a:xfrm>
              <a:off x="10228577" y="3433283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Oval 37"/>
            <p:cNvSpPr>
              <a:spLocks noChangeArrowheads="1"/>
            </p:cNvSpPr>
            <p:nvPr/>
          </p:nvSpPr>
          <p:spPr bwMode="auto">
            <a:xfrm>
              <a:off x="8631553" y="3433283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Oval 37"/>
            <p:cNvSpPr>
              <a:spLocks noChangeArrowheads="1"/>
            </p:cNvSpPr>
            <p:nvPr/>
          </p:nvSpPr>
          <p:spPr bwMode="auto">
            <a:xfrm>
              <a:off x="8138952" y="4473574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Oval 37"/>
            <p:cNvSpPr>
              <a:spLocks noChangeArrowheads="1"/>
            </p:cNvSpPr>
            <p:nvPr/>
          </p:nvSpPr>
          <p:spPr bwMode="auto">
            <a:xfrm>
              <a:off x="9775505" y="4473574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Oval 37"/>
            <p:cNvSpPr>
              <a:spLocks noChangeArrowheads="1"/>
            </p:cNvSpPr>
            <p:nvPr/>
          </p:nvSpPr>
          <p:spPr bwMode="auto">
            <a:xfrm>
              <a:off x="10712129" y="4473574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Oval 37"/>
            <p:cNvSpPr>
              <a:spLocks noChangeArrowheads="1"/>
            </p:cNvSpPr>
            <p:nvPr/>
          </p:nvSpPr>
          <p:spPr bwMode="auto">
            <a:xfrm>
              <a:off x="8714420" y="5459887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4" name="Text Box 8"/>
          <p:cNvSpPr txBox="1">
            <a:spLocks noChangeArrowheads="1"/>
          </p:cNvSpPr>
          <p:nvPr/>
        </p:nvSpPr>
        <p:spPr bwMode="auto">
          <a:xfrm>
            <a:off x="638168" y="1188105"/>
            <a:ext cx="7254564" cy="3194721"/>
          </a:xfrm>
          <a:prstGeom prst="rect">
            <a:avLst/>
          </a:prstGeom>
          <a:noFill/>
          <a:ln w="9525">
            <a:solidFill>
              <a:srgbClr val="5C307D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hangingPunct="0">
              <a:lnSpc>
                <a:spcPct val="120000"/>
              </a:lnSpc>
              <a:buFontTx/>
              <a:buAutoNum type="arabicPeriod"/>
            </a:pPr>
            <a:r>
              <a:rPr lang="zh-CN" altLang="en-US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队列 </a:t>
            </a:r>
            <a:r>
              <a:rPr lang="en-US" altLang="zh-CN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 </a:t>
            </a:r>
            <a:r>
              <a:rPr lang="zh-CN" altLang="en-US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初始化</a:t>
            </a:r>
            <a:r>
              <a:rPr lang="zh-CN" altLang="en-US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；</a:t>
            </a:r>
            <a:endParaRPr lang="zh-CN" altLang="en-US" sz="2400" dirty="0">
              <a:solidFill>
                <a:srgbClr val="40404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0" hangingPunct="0">
              <a:lnSpc>
                <a:spcPct val="120000"/>
              </a:lnSpc>
            </a:pPr>
            <a:r>
              <a:rPr lang="zh-CN" altLang="en-US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 如果二叉树非空，将根指针入队</a:t>
            </a:r>
            <a:r>
              <a:rPr lang="zh-CN" altLang="en-US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；</a:t>
            </a:r>
            <a:endParaRPr lang="en-US" altLang="zh-CN" sz="2400" dirty="0" smtClean="0">
              <a:solidFill>
                <a:srgbClr val="40404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0" hangingPunct="0">
              <a:lnSpc>
                <a:spcPct val="120000"/>
              </a:lnSpc>
            </a:pPr>
            <a:endParaRPr lang="en-US" altLang="zh-CN" sz="2400" dirty="0">
              <a:solidFill>
                <a:srgbClr val="40404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0" hangingPunct="0">
              <a:lnSpc>
                <a:spcPct val="120000"/>
              </a:lnSpc>
            </a:pPr>
            <a:endParaRPr lang="en-US" altLang="zh-CN" sz="2400" dirty="0" smtClean="0">
              <a:solidFill>
                <a:srgbClr val="40404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0" hangingPunct="0">
              <a:lnSpc>
                <a:spcPct val="120000"/>
              </a:lnSpc>
            </a:pPr>
            <a:endParaRPr lang="en-US" altLang="zh-CN" sz="2400" dirty="0">
              <a:solidFill>
                <a:srgbClr val="40404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0" hangingPunct="0">
              <a:lnSpc>
                <a:spcPct val="120000"/>
              </a:lnSpc>
            </a:pPr>
            <a:endParaRPr lang="en-US" altLang="zh-CN" sz="2400" dirty="0" smtClean="0">
              <a:solidFill>
                <a:srgbClr val="40404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0" hangingPunct="0">
              <a:lnSpc>
                <a:spcPct val="120000"/>
              </a:lnSpc>
            </a:pPr>
            <a:endParaRPr lang="zh-CN" altLang="en-US" sz="2400" dirty="0">
              <a:solidFill>
                <a:srgbClr val="40404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3" name="组合 1"/>
          <p:cNvGrpSpPr/>
          <p:nvPr/>
        </p:nvGrpSpPr>
        <p:grpSpPr>
          <a:xfrm>
            <a:off x="6363841" y="4415744"/>
            <a:ext cx="5623921" cy="814565"/>
            <a:chOff x="6363841" y="4415744"/>
            <a:chExt cx="5623921" cy="814565"/>
          </a:xfrm>
        </p:grpSpPr>
        <p:sp>
          <p:nvSpPr>
            <p:cNvPr id="10" name="Line 28"/>
            <p:cNvSpPr>
              <a:spLocks noChangeShapeType="1"/>
            </p:cNvSpPr>
            <p:nvPr/>
          </p:nvSpPr>
          <p:spPr bwMode="auto">
            <a:xfrm flipV="1">
              <a:off x="7319645" y="4573084"/>
              <a:ext cx="3636000" cy="1588"/>
            </a:xfrm>
            <a:prstGeom prst="line">
              <a:avLst/>
            </a:prstGeom>
            <a:noFill/>
            <a:ln w="38100">
              <a:solidFill>
                <a:srgbClr val="507D7D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" name="Line 29"/>
            <p:cNvSpPr>
              <a:spLocks noChangeShapeType="1"/>
            </p:cNvSpPr>
            <p:nvPr/>
          </p:nvSpPr>
          <p:spPr bwMode="auto">
            <a:xfrm flipV="1">
              <a:off x="7334885" y="5228722"/>
              <a:ext cx="3636000" cy="1587"/>
            </a:xfrm>
            <a:prstGeom prst="line">
              <a:avLst/>
            </a:prstGeom>
            <a:noFill/>
            <a:ln w="38100">
              <a:solidFill>
                <a:srgbClr val="507D7D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4" name="组合 44"/>
            <p:cNvGrpSpPr/>
            <p:nvPr/>
          </p:nvGrpSpPr>
          <p:grpSpPr>
            <a:xfrm>
              <a:off x="10931891" y="4415744"/>
              <a:ext cx="1055871" cy="517681"/>
              <a:chOff x="7655291" y="4645547"/>
              <a:chExt cx="1055871" cy="517681"/>
            </a:xfrm>
          </p:grpSpPr>
          <p:cxnSp>
            <p:nvCxnSpPr>
              <p:cNvPr id="46" name="直接箭头连接符 45"/>
              <p:cNvCxnSpPr/>
              <p:nvPr/>
            </p:nvCxnSpPr>
            <p:spPr>
              <a:xfrm flipV="1">
                <a:off x="7655291" y="5163228"/>
                <a:ext cx="900000" cy="0"/>
              </a:xfrm>
              <a:prstGeom prst="straightConnector1">
                <a:avLst/>
              </a:prstGeom>
              <a:noFill/>
              <a:ln w="38100">
                <a:solidFill>
                  <a:srgbClr val="5A327D"/>
                </a:solidFill>
                <a:round/>
                <a:headEnd type="stealth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47" name="TextBox 46"/>
              <p:cNvSpPr txBox="1"/>
              <p:nvPr/>
            </p:nvSpPr>
            <p:spPr>
              <a:xfrm>
                <a:off x="7764804" y="4645547"/>
                <a:ext cx="94635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 smtClean="0">
                    <a:solidFill>
                      <a:srgbClr val="40404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入队</a:t>
                </a:r>
                <a:endParaRPr lang="zh-CN" altLang="en-US" sz="2400" b="1" dirty="0">
                  <a:solidFill>
                    <a:srgbClr val="40404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5" name="组合 47"/>
            <p:cNvGrpSpPr/>
            <p:nvPr/>
          </p:nvGrpSpPr>
          <p:grpSpPr>
            <a:xfrm>
              <a:off x="6363841" y="4425456"/>
              <a:ext cx="1113360" cy="502265"/>
              <a:chOff x="2423024" y="4556527"/>
              <a:chExt cx="1113360" cy="502265"/>
            </a:xfrm>
          </p:grpSpPr>
          <p:cxnSp>
            <p:nvCxnSpPr>
              <p:cNvPr id="49" name="直接箭头连接符 48"/>
              <p:cNvCxnSpPr/>
              <p:nvPr/>
            </p:nvCxnSpPr>
            <p:spPr>
              <a:xfrm flipV="1">
                <a:off x="2423024" y="5058792"/>
                <a:ext cx="900000" cy="0"/>
              </a:xfrm>
              <a:prstGeom prst="straightConnector1">
                <a:avLst/>
              </a:prstGeom>
              <a:noFill/>
              <a:ln w="38100">
                <a:solidFill>
                  <a:srgbClr val="5A327D"/>
                </a:solidFill>
                <a:round/>
                <a:headEnd type="stealth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50" name="TextBox 49"/>
              <p:cNvSpPr txBox="1"/>
              <p:nvPr/>
            </p:nvSpPr>
            <p:spPr>
              <a:xfrm>
                <a:off x="2590026" y="4556527"/>
                <a:ext cx="94635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>
                    <a:solidFill>
                      <a:srgbClr val="40404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出</a:t>
                </a:r>
                <a:r>
                  <a:rPr lang="zh-CN" altLang="en-US" sz="2400" b="1" dirty="0" smtClean="0">
                    <a:solidFill>
                      <a:srgbClr val="40404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队</a:t>
                </a:r>
                <a:endParaRPr lang="zh-CN" altLang="en-US" sz="2400" b="1" dirty="0">
                  <a:solidFill>
                    <a:srgbClr val="40404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51" name="Text Box 8"/>
          <p:cNvSpPr txBox="1">
            <a:spLocks noChangeArrowheads="1"/>
          </p:cNvSpPr>
          <p:nvPr/>
        </p:nvSpPr>
        <p:spPr bwMode="auto">
          <a:xfrm>
            <a:off x="661187" y="3397565"/>
            <a:ext cx="7254564" cy="978729"/>
          </a:xfrm>
          <a:prstGeom prst="rect">
            <a:avLst/>
          </a:prstGeom>
          <a:noFill/>
          <a:ln w="9525">
            <a:noFill/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0" hangingPunct="0">
              <a:lnSpc>
                <a:spcPct val="120000"/>
              </a:lnSpc>
            </a:pPr>
            <a:r>
              <a:rPr lang="zh-CN" altLang="en-US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3</a:t>
            </a:r>
            <a:r>
              <a:rPr lang="zh-CN" altLang="en-US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.3 若</a:t>
            </a:r>
            <a:r>
              <a:rPr lang="zh-CN" altLang="en-US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结点 </a:t>
            </a:r>
            <a:r>
              <a:rPr lang="en-US" altLang="zh-CN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 </a:t>
            </a:r>
            <a:r>
              <a:rPr lang="zh-CN" altLang="en-US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存在</a:t>
            </a:r>
            <a:r>
              <a:rPr lang="zh-CN" altLang="en-US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左孩子，则将左孩子指针入队；</a:t>
            </a:r>
            <a:endParaRPr lang="zh-CN" altLang="en-US" sz="2400" dirty="0">
              <a:solidFill>
                <a:srgbClr val="40404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 eaLnBrk="0" hangingPunct="0">
              <a:lnSpc>
                <a:spcPct val="120000"/>
              </a:lnSpc>
            </a:pPr>
            <a:r>
              <a:rPr lang="zh-CN" altLang="en-US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zh-CN" altLang="en-US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.4 若</a:t>
            </a:r>
            <a:r>
              <a:rPr lang="zh-CN" altLang="en-US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结点 </a:t>
            </a:r>
            <a:r>
              <a:rPr lang="en-US" altLang="zh-CN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 </a:t>
            </a:r>
            <a:r>
              <a:rPr lang="zh-CN" altLang="en-US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存在</a:t>
            </a:r>
            <a:r>
              <a:rPr lang="zh-CN" altLang="en-US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右孩子，则将右孩子指针入队；</a:t>
            </a:r>
            <a:endParaRPr lang="zh-CN" altLang="en-US" sz="2400" dirty="0">
              <a:solidFill>
                <a:srgbClr val="40404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3" name="Text Box 8"/>
          <p:cNvSpPr txBox="1">
            <a:spLocks noChangeArrowheads="1"/>
          </p:cNvSpPr>
          <p:nvPr/>
        </p:nvSpPr>
        <p:spPr bwMode="auto">
          <a:xfrm>
            <a:off x="661187" y="2043306"/>
            <a:ext cx="7254564" cy="1865126"/>
          </a:xfrm>
          <a:prstGeom prst="rect">
            <a:avLst/>
          </a:prstGeom>
          <a:noFill/>
          <a:ln w="9525">
            <a:noFill/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0" hangingPunct="0">
              <a:lnSpc>
                <a:spcPct val="120000"/>
              </a:lnSpc>
            </a:pPr>
            <a:r>
              <a:rPr lang="zh-CN" altLang="en-US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 </a:t>
            </a:r>
            <a:r>
              <a:rPr lang="zh-CN" altLang="en-US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循环</a:t>
            </a:r>
            <a:r>
              <a:rPr lang="zh-CN" altLang="en-US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直到</a:t>
            </a:r>
            <a:r>
              <a:rPr lang="zh-CN" altLang="en-US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队列 </a:t>
            </a:r>
            <a:r>
              <a:rPr lang="en-US" altLang="zh-CN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 </a:t>
            </a:r>
            <a:r>
              <a:rPr lang="zh-CN" altLang="en-US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</a:t>
            </a:r>
            <a:r>
              <a:rPr lang="zh-CN" altLang="en-US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空</a:t>
            </a:r>
            <a:endParaRPr lang="zh-CN" altLang="en-US" sz="2400" dirty="0">
              <a:solidFill>
                <a:srgbClr val="40404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 eaLnBrk="0" hangingPunct="0">
              <a:lnSpc>
                <a:spcPct val="120000"/>
              </a:lnSpc>
            </a:pPr>
            <a:r>
              <a:rPr lang="zh-CN" altLang="en-US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zh-CN" altLang="en-US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.1 </a:t>
            </a:r>
            <a:r>
              <a:rPr lang="en-US" altLang="zh-CN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 = </a:t>
            </a:r>
            <a:r>
              <a:rPr lang="zh-CN" altLang="en-US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队列 </a:t>
            </a:r>
            <a:r>
              <a:rPr lang="en-US" altLang="zh-CN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 </a:t>
            </a:r>
            <a:r>
              <a:rPr lang="zh-CN" altLang="en-US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zh-CN" altLang="en-US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队头元素出队；</a:t>
            </a:r>
            <a:endParaRPr lang="zh-CN" altLang="en-US" sz="2400" dirty="0">
              <a:solidFill>
                <a:srgbClr val="40404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 eaLnBrk="0" hangingPunct="0">
              <a:lnSpc>
                <a:spcPct val="120000"/>
              </a:lnSpc>
            </a:pPr>
            <a:r>
              <a:rPr lang="zh-CN" altLang="en-US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zh-CN" altLang="en-US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.2 访问</a:t>
            </a:r>
            <a:r>
              <a:rPr lang="zh-CN" altLang="en-US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结点 </a:t>
            </a:r>
            <a:r>
              <a:rPr lang="en-US" altLang="zh-CN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 </a:t>
            </a:r>
            <a:r>
              <a:rPr lang="zh-CN" altLang="en-US" sz="2400" dirty="0" smtClean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zh-CN" altLang="en-US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数据域；</a:t>
            </a:r>
            <a:endParaRPr lang="zh-CN" altLang="en-US" sz="2400" dirty="0">
              <a:solidFill>
                <a:srgbClr val="40404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 eaLnBrk="0" hangingPunct="0">
              <a:lnSpc>
                <a:spcPct val="120000"/>
              </a:lnSpc>
            </a:pPr>
            <a:r>
              <a:rPr lang="zh-CN" altLang="en-US" sz="2400" dirty="0">
                <a:solidFill>
                  <a:srgbClr val="40404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endParaRPr lang="zh-CN" altLang="en-US" sz="2400" dirty="0">
              <a:solidFill>
                <a:srgbClr val="40404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8" name="Rounded Rectangle 10"/>
          <p:cNvSpPr/>
          <p:nvPr/>
        </p:nvSpPr>
        <p:spPr>
          <a:xfrm>
            <a:off x="542923" y="100964"/>
            <a:ext cx="3672000" cy="540000"/>
          </a:xfrm>
          <a:prstGeom prst="roundRect">
            <a:avLst/>
          </a:prstGeom>
          <a:solidFill>
            <a:srgbClr val="5A32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Text Box 2"/>
          <p:cNvSpPr txBox="1">
            <a:spLocks noChangeArrowheads="1"/>
          </p:cNvSpPr>
          <p:nvPr/>
        </p:nvSpPr>
        <p:spPr bwMode="auto">
          <a:xfrm>
            <a:off x="638168" y="61585"/>
            <a:ext cx="355283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二叉树的层序遍历</a:t>
            </a:r>
            <a:endParaRPr lang="zh-CN" altLang="en-US" sz="32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0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2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8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8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8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 animBg="1"/>
      <p:bldP spid="13" grpId="0" bldLvl="0" animBg="1"/>
      <p:bldP spid="13" grpId="1" bldLvl="0" animBg="1"/>
      <p:bldP spid="14" grpId="0" bldLvl="0" animBg="1"/>
      <p:bldP spid="15" grpId="0" bldLvl="0" animBg="1"/>
      <p:bldP spid="15" grpId="1" bldLvl="0" animBg="1"/>
      <p:bldP spid="16" grpId="0" bldLvl="0" animBg="1"/>
      <p:bldP spid="16" grpId="1" bldLvl="0" animBg="1"/>
      <p:bldP spid="17" grpId="0" bldLvl="0" animBg="1"/>
      <p:bldP spid="18" grpId="0" bldLvl="0" animBg="1"/>
      <p:bldP spid="18" grpId="1" bldLvl="0" animBg="1"/>
      <p:bldP spid="19" grpId="0" bldLvl="0" animBg="1"/>
      <p:bldP spid="20" grpId="0" bldLvl="0" animBg="1"/>
      <p:bldP spid="20" grpId="1" bldLvl="0" animBg="1"/>
      <p:bldP spid="21" grpId="0" bldLvl="0" animBg="1"/>
      <p:bldP spid="21" grpId="1" bldLvl="0" animBg="1"/>
      <p:bldP spid="22" grpId="0" bldLvl="0" animBg="1"/>
      <p:bldP spid="22" grpId="1" bldLvl="0" animBg="1"/>
      <p:bldP spid="23" grpId="0" bldLvl="0" animBg="1"/>
      <p:bldP spid="24" grpId="0" bldLvl="0" animBg="1"/>
      <p:bldP spid="25" grpId="0" bldLvl="0" animBg="1"/>
      <p:bldP spid="26" grpId="0" bldLvl="0" animBg="1"/>
      <p:bldP spid="44" grpId="0" bldLvl="0" animBg="1"/>
      <p:bldP spid="51" grpId="0" bldLvl="0" animBg="1"/>
      <p:bldP spid="53" grpId="0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082040" y="758041"/>
            <a:ext cx="10268936" cy="5262979"/>
          </a:xfrm>
          <a:prstGeom prst="rect">
            <a:avLst/>
          </a:prstGeom>
          <a:ln>
            <a:solidFill>
              <a:srgbClr val="5C307D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template 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typename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DataType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zh-CN" altLang="zh-C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BiTree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DataType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 :: </a:t>
            </a: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LeverOrder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 )</a:t>
            </a:r>
            <a:endParaRPr lang="zh-CN" altLang="zh-C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zh-CN" altLang="zh-C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BiNode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DataType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 *Q[100], *q = </a:t>
            </a: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nullptr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 </a:t>
            </a:r>
            <a:endParaRPr lang="zh-CN" altLang="zh-C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front = -1, rear = -1;               </a:t>
            </a:r>
            <a:endParaRPr lang="zh-CN" altLang="zh-C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4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24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altLang="zh-CN" sz="24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(root == </a:t>
            </a:r>
            <a:r>
              <a:rPr lang="en-US" altLang="zh-CN" sz="2400" dirty="0" err="1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nullptr</a:t>
            </a:r>
            <a:r>
              <a:rPr lang="en-US" altLang="zh-CN" sz="24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return; </a:t>
            </a:r>
            <a:endParaRPr lang="zh-CN" altLang="zh-CN" sz="2400" dirty="0" smtClean="0">
              <a:solidFill>
                <a:srgbClr val="B42D2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[++rear] = root;                        </a:t>
            </a:r>
            <a:endParaRPr lang="zh-CN" altLang="zh-C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400" dirty="0" smtClean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2400" dirty="0" smtClean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 </a:t>
            </a:r>
            <a:r>
              <a:rPr lang="en-US" altLang="zh-CN" sz="2400" dirty="0" smtClean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(front != rear</a:t>
            </a:r>
            <a:r>
              <a:rPr lang="en-US" altLang="zh-CN" sz="2400" dirty="0" smtClean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400" dirty="0" smtClean="0">
              <a:solidFill>
                <a:srgbClr val="5C307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zh-CN" altLang="zh-C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 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 Q[++front];      </a:t>
            </a: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&lt;&lt; q-&gt;data;   </a:t>
            </a:r>
            <a:endParaRPr lang="zh-CN" altLang="zh-C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4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altLang="zh-CN" sz="24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altLang="zh-CN" sz="24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(q-&gt;</a:t>
            </a:r>
            <a:r>
              <a:rPr lang="en-US" altLang="zh-CN" sz="2400" dirty="0" err="1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lchild</a:t>
            </a:r>
            <a:r>
              <a:rPr lang="en-US" altLang="zh-CN" sz="24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!= </a:t>
            </a:r>
            <a:r>
              <a:rPr lang="en-US" altLang="zh-CN" sz="2400" dirty="0" err="1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nullptr</a:t>
            </a:r>
            <a:r>
              <a:rPr lang="en-US" altLang="zh-CN" sz="24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 Q[++rear] = q-&gt;</a:t>
            </a:r>
            <a:r>
              <a:rPr lang="en-US" altLang="zh-CN" sz="2400" dirty="0" err="1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lchild</a:t>
            </a:r>
            <a:r>
              <a:rPr lang="en-US" altLang="zh-CN" sz="24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400" dirty="0" smtClean="0">
              <a:solidFill>
                <a:srgbClr val="B42D2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4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altLang="zh-CN" sz="24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altLang="zh-CN" sz="24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(q-&gt;</a:t>
            </a:r>
            <a:r>
              <a:rPr lang="en-US" altLang="zh-CN" sz="2400" dirty="0" err="1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rchild</a:t>
            </a:r>
            <a:r>
              <a:rPr lang="en-US" altLang="zh-CN" sz="24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!= </a:t>
            </a:r>
            <a:r>
              <a:rPr lang="en-US" altLang="zh-CN" sz="2400" dirty="0" err="1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nullptr</a:t>
            </a:r>
            <a:r>
              <a:rPr lang="en-US" altLang="zh-CN" sz="24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 Q[++rear] = q-&gt;</a:t>
            </a:r>
            <a:r>
              <a:rPr lang="en-US" altLang="zh-CN" sz="2400" dirty="0" err="1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rchild</a:t>
            </a:r>
            <a:r>
              <a:rPr lang="en-US" altLang="zh-CN" sz="24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400" dirty="0" smtClean="0">
              <a:solidFill>
                <a:srgbClr val="B42D2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zh-C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组合 8"/>
          <p:cNvGrpSpPr/>
          <p:nvPr/>
        </p:nvGrpSpPr>
        <p:grpSpPr>
          <a:xfrm>
            <a:off x="1856764" y="5510604"/>
            <a:ext cx="3080996" cy="523220"/>
            <a:chOff x="638167" y="1013457"/>
            <a:chExt cx="3080996" cy="523220"/>
          </a:xfrm>
        </p:grpSpPr>
        <p:grpSp>
          <p:nvGrpSpPr>
            <p:cNvPr id="4" name="Group 31"/>
            <p:cNvGrpSpPr/>
            <p:nvPr/>
          </p:nvGrpSpPr>
          <p:grpSpPr>
            <a:xfrm>
              <a:off x="638167" y="1075450"/>
              <a:ext cx="432000" cy="432000"/>
              <a:chOff x="8686801" y="2019300"/>
              <a:chExt cx="528638" cy="565150"/>
            </a:xfrm>
            <a:solidFill>
              <a:srgbClr val="5A327D"/>
            </a:solidFill>
          </p:grpSpPr>
          <p:sp>
            <p:nvSpPr>
              <p:cNvPr id="12" name="Freeform 32"/>
              <p:cNvSpPr/>
              <p:nvPr/>
            </p:nvSpPr>
            <p:spPr bwMode="auto">
              <a:xfrm>
                <a:off x="8785226" y="2501900"/>
                <a:ext cx="331788" cy="82550"/>
              </a:xfrm>
              <a:custGeom>
                <a:avLst/>
                <a:gdLst>
                  <a:gd name="T0" fmla="*/ 121 w 122"/>
                  <a:gd name="T1" fmla="*/ 24 h 30"/>
                  <a:gd name="T2" fmla="*/ 107 w 122"/>
                  <a:gd name="T3" fmla="*/ 2 h 30"/>
                  <a:gd name="T4" fmla="*/ 104 w 122"/>
                  <a:gd name="T5" fmla="*/ 0 h 30"/>
                  <a:gd name="T6" fmla="*/ 62 w 122"/>
                  <a:gd name="T7" fmla="*/ 0 h 30"/>
                  <a:gd name="T8" fmla="*/ 60 w 122"/>
                  <a:gd name="T9" fmla="*/ 0 h 30"/>
                  <a:gd name="T10" fmla="*/ 18 w 122"/>
                  <a:gd name="T11" fmla="*/ 0 h 30"/>
                  <a:gd name="T12" fmla="*/ 15 w 122"/>
                  <a:gd name="T13" fmla="*/ 2 h 30"/>
                  <a:gd name="T14" fmla="*/ 1 w 122"/>
                  <a:gd name="T15" fmla="*/ 24 h 30"/>
                  <a:gd name="T16" fmla="*/ 2 w 122"/>
                  <a:gd name="T17" fmla="*/ 29 h 30"/>
                  <a:gd name="T18" fmla="*/ 4 w 122"/>
                  <a:gd name="T19" fmla="*/ 30 h 30"/>
                  <a:gd name="T20" fmla="*/ 8 w 122"/>
                  <a:gd name="T21" fmla="*/ 28 h 30"/>
                  <a:gd name="T22" fmla="*/ 20 w 122"/>
                  <a:gd name="T23" fmla="*/ 8 h 30"/>
                  <a:gd name="T24" fmla="*/ 60 w 122"/>
                  <a:gd name="T25" fmla="*/ 8 h 30"/>
                  <a:gd name="T26" fmla="*/ 62 w 122"/>
                  <a:gd name="T27" fmla="*/ 8 h 30"/>
                  <a:gd name="T28" fmla="*/ 102 w 122"/>
                  <a:gd name="T29" fmla="*/ 8 h 30"/>
                  <a:gd name="T30" fmla="*/ 114 w 122"/>
                  <a:gd name="T31" fmla="*/ 28 h 30"/>
                  <a:gd name="T32" fmla="*/ 118 w 122"/>
                  <a:gd name="T33" fmla="*/ 30 h 30"/>
                  <a:gd name="T34" fmla="*/ 120 w 122"/>
                  <a:gd name="T35" fmla="*/ 29 h 30"/>
                  <a:gd name="T36" fmla="*/ 121 w 122"/>
                  <a:gd name="T37" fmla="*/ 24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2" h="30">
                    <a:moveTo>
                      <a:pt x="121" y="24"/>
                    </a:moveTo>
                    <a:cubicBezTo>
                      <a:pt x="107" y="2"/>
                      <a:pt x="107" y="2"/>
                      <a:pt x="107" y="2"/>
                    </a:cubicBezTo>
                    <a:cubicBezTo>
                      <a:pt x="106" y="1"/>
                      <a:pt x="105" y="0"/>
                      <a:pt x="104" y="0"/>
                    </a:cubicBezTo>
                    <a:cubicBezTo>
                      <a:pt x="62" y="0"/>
                      <a:pt x="62" y="0"/>
                      <a:pt x="62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7" y="0"/>
                      <a:pt x="15" y="1"/>
                      <a:pt x="15" y="2"/>
                    </a:cubicBezTo>
                    <a:cubicBezTo>
                      <a:pt x="1" y="24"/>
                      <a:pt x="1" y="24"/>
                      <a:pt x="1" y="24"/>
                    </a:cubicBezTo>
                    <a:cubicBezTo>
                      <a:pt x="0" y="26"/>
                      <a:pt x="0" y="28"/>
                      <a:pt x="2" y="29"/>
                    </a:cubicBezTo>
                    <a:cubicBezTo>
                      <a:pt x="3" y="30"/>
                      <a:pt x="3" y="30"/>
                      <a:pt x="4" y="30"/>
                    </a:cubicBezTo>
                    <a:cubicBezTo>
                      <a:pt x="6" y="30"/>
                      <a:pt x="7" y="29"/>
                      <a:pt x="8" y="28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60" y="8"/>
                      <a:pt x="60" y="8"/>
                      <a:pt x="60" y="8"/>
                    </a:cubicBezTo>
                    <a:cubicBezTo>
                      <a:pt x="62" y="8"/>
                      <a:pt x="62" y="8"/>
                      <a:pt x="62" y="8"/>
                    </a:cubicBezTo>
                    <a:cubicBezTo>
                      <a:pt x="102" y="8"/>
                      <a:pt x="102" y="8"/>
                      <a:pt x="102" y="8"/>
                    </a:cubicBezTo>
                    <a:cubicBezTo>
                      <a:pt x="114" y="28"/>
                      <a:pt x="114" y="28"/>
                      <a:pt x="114" y="28"/>
                    </a:cubicBezTo>
                    <a:cubicBezTo>
                      <a:pt x="115" y="29"/>
                      <a:pt x="116" y="30"/>
                      <a:pt x="118" y="30"/>
                    </a:cubicBezTo>
                    <a:cubicBezTo>
                      <a:pt x="118" y="30"/>
                      <a:pt x="119" y="30"/>
                      <a:pt x="120" y="29"/>
                    </a:cubicBezTo>
                    <a:cubicBezTo>
                      <a:pt x="122" y="28"/>
                      <a:pt x="122" y="26"/>
                      <a:pt x="121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" name="Freeform 33"/>
              <p:cNvSpPr/>
              <p:nvPr/>
            </p:nvSpPr>
            <p:spPr bwMode="auto">
              <a:xfrm>
                <a:off x="8686801" y="2019300"/>
                <a:ext cx="165100" cy="149225"/>
              </a:xfrm>
              <a:custGeom>
                <a:avLst/>
                <a:gdLst>
                  <a:gd name="T0" fmla="*/ 33 w 61"/>
                  <a:gd name="T1" fmla="*/ 0 h 55"/>
                  <a:gd name="T2" fmla="*/ 0 w 61"/>
                  <a:gd name="T3" fmla="*/ 33 h 55"/>
                  <a:gd name="T4" fmla="*/ 7 w 61"/>
                  <a:gd name="T5" fmla="*/ 54 h 55"/>
                  <a:gd name="T6" fmla="*/ 10 w 61"/>
                  <a:gd name="T7" fmla="*/ 55 h 55"/>
                  <a:gd name="T8" fmla="*/ 13 w 61"/>
                  <a:gd name="T9" fmla="*/ 55 h 55"/>
                  <a:gd name="T10" fmla="*/ 59 w 61"/>
                  <a:gd name="T11" fmla="*/ 19 h 55"/>
                  <a:gd name="T12" fmla="*/ 60 w 61"/>
                  <a:gd name="T13" fmla="*/ 13 h 55"/>
                  <a:gd name="T14" fmla="*/ 33 w 61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55">
                    <a:moveTo>
                      <a:pt x="33" y="0"/>
                    </a:moveTo>
                    <a:cubicBezTo>
                      <a:pt x="15" y="0"/>
                      <a:pt x="0" y="15"/>
                      <a:pt x="0" y="33"/>
                    </a:cubicBezTo>
                    <a:cubicBezTo>
                      <a:pt x="0" y="41"/>
                      <a:pt x="2" y="48"/>
                      <a:pt x="7" y="54"/>
                    </a:cubicBezTo>
                    <a:cubicBezTo>
                      <a:pt x="8" y="55"/>
                      <a:pt x="9" y="55"/>
                      <a:pt x="10" y="55"/>
                    </a:cubicBezTo>
                    <a:cubicBezTo>
                      <a:pt x="11" y="55"/>
                      <a:pt x="12" y="55"/>
                      <a:pt x="13" y="55"/>
                    </a:cubicBezTo>
                    <a:cubicBezTo>
                      <a:pt x="59" y="19"/>
                      <a:pt x="59" y="19"/>
                      <a:pt x="59" y="19"/>
                    </a:cubicBezTo>
                    <a:cubicBezTo>
                      <a:pt x="61" y="17"/>
                      <a:pt x="61" y="15"/>
                      <a:pt x="60" y="13"/>
                    </a:cubicBezTo>
                    <a:cubicBezTo>
                      <a:pt x="54" y="5"/>
                      <a:pt x="44" y="0"/>
                      <a:pt x="3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" name="Freeform 34"/>
              <p:cNvSpPr/>
              <p:nvPr/>
            </p:nvSpPr>
            <p:spPr bwMode="auto">
              <a:xfrm>
                <a:off x="9048751" y="2019300"/>
                <a:ext cx="166688" cy="149225"/>
              </a:xfrm>
              <a:custGeom>
                <a:avLst/>
                <a:gdLst>
                  <a:gd name="T0" fmla="*/ 28 w 61"/>
                  <a:gd name="T1" fmla="*/ 0 h 55"/>
                  <a:gd name="T2" fmla="*/ 1 w 61"/>
                  <a:gd name="T3" fmla="*/ 13 h 55"/>
                  <a:gd name="T4" fmla="*/ 2 w 61"/>
                  <a:gd name="T5" fmla="*/ 19 h 55"/>
                  <a:gd name="T6" fmla="*/ 48 w 61"/>
                  <a:gd name="T7" fmla="*/ 55 h 55"/>
                  <a:gd name="T8" fmla="*/ 51 w 61"/>
                  <a:gd name="T9" fmla="*/ 55 h 55"/>
                  <a:gd name="T10" fmla="*/ 54 w 61"/>
                  <a:gd name="T11" fmla="*/ 54 h 55"/>
                  <a:gd name="T12" fmla="*/ 61 w 61"/>
                  <a:gd name="T13" fmla="*/ 33 h 55"/>
                  <a:gd name="T14" fmla="*/ 28 w 61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55">
                    <a:moveTo>
                      <a:pt x="28" y="0"/>
                    </a:moveTo>
                    <a:cubicBezTo>
                      <a:pt x="17" y="0"/>
                      <a:pt x="7" y="5"/>
                      <a:pt x="1" y="13"/>
                    </a:cubicBezTo>
                    <a:cubicBezTo>
                      <a:pt x="0" y="15"/>
                      <a:pt x="0" y="17"/>
                      <a:pt x="2" y="19"/>
                    </a:cubicBezTo>
                    <a:cubicBezTo>
                      <a:pt x="48" y="55"/>
                      <a:pt x="48" y="55"/>
                      <a:pt x="48" y="55"/>
                    </a:cubicBezTo>
                    <a:cubicBezTo>
                      <a:pt x="49" y="55"/>
                      <a:pt x="50" y="55"/>
                      <a:pt x="51" y="55"/>
                    </a:cubicBezTo>
                    <a:cubicBezTo>
                      <a:pt x="52" y="55"/>
                      <a:pt x="53" y="55"/>
                      <a:pt x="54" y="54"/>
                    </a:cubicBezTo>
                    <a:cubicBezTo>
                      <a:pt x="58" y="48"/>
                      <a:pt x="61" y="41"/>
                      <a:pt x="61" y="33"/>
                    </a:cubicBezTo>
                    <a:cubicBezTo>
                      <a:pt x="61" y="15"/>
                      <a:pt x="46" y="0"/>
                      <a:pt x="2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" name="Freeform 223"/>
              <p:cNvSpPr>
                <a:spLocks noEditPoints="1"/>
              </p:cNvSpPr>
              <p:nvPr/>
            </p:nvSpPr>
            <p:spPr bwMode="auto">
              <a:xfrm>
                <a:off x="8743951" y="2073275"/>
                <a:ext cx="411163" cy="414338"/>
              </a:xfrm>
              <a:custGeom>
                <a:avLst/>
                <a:gdLst>
                  <a:gd name="T0" fmla="*/ 76 w 151"/>
                  <a:gd name="T1" fmla="*/ 0 h 152"/>
                  <a:gd name="T2" fmla="*/ 0 w 151"/>
                  <a:gd name="T3" fmla="*/ 76 h 152"/>
                  <a:gd name="T4" fmla="*/ 76 w 151"/>
                  <a:gd name="T5" fmla="*/ 152 h 152"/>
                  <a:gd name="T6" fmla="*/ 151 w 151"/>
                  <a:gd name="T7" fmla="*/ 76 h 152"/>
                  <a:gd name="T8" fmla="*/ 76 w 151"/>
                  <a:gd name="T9" fmla="*/ 0 h 152"/>
                  <a:gd name="T10" fmla="*/ 104 w 151"/>
                  <a:gd name="T11" fmla="*/ 82 h 152"/>
                  <a:gd name="T12" fmla="*/ 77 w 151"/>
                  <a:gd name="T13" fmla="*/ 82 h 152"/>
                  <a:gd name="T14" fmla="*/ 71 w 151"/>
                  <a:gd name="T15" fmla="*/ 76 h 152"/>
                  <a:gd name="T16" fmla="*/ 71 w 151"/>
                  <a:gd name="T17" fmla="*/ 24 h 152"/>
                  <a:gd name="T18" fmla="*/ 77 w 151"/>
                  <a:gd name="T19" fmla="*/ 18 h 152"/>
                  <a:gd name="T20" fmla="*/ 83 w 151"/>
                  <a:gd name="T21" fmla="*/ 24 h 152"/>
                  <a:gd name="T22" fmla="*/ 83 w 151"/>
                  <a:gd name="T23" fmla="*/ 70 h 152"/>
                  <a:gd name="T24" fmla="*/ 104 w 151"/>
                  <a:gd name="T25" fmla="*/ 70 h 152"/>
                  <a:gd name="T26" fmla="*/ 110 w 151"/>
                  <a:gd name="T27" fmla="*/ 76 h 152"/>
                  <a:gd name="T28" fmla="*/ 104 w 151"/>
                  <a:gd name="T29" fmla="*/ 82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51" h="152">
                    <a:moveTo>
                      <a:pt x="76" y="0"/>
                    </a:moveTo>
                    <a:cubicBezTo>
                      <a:pt x="34" y="0"/>
                      <a:pt x="0" y="34"/>
                      <a:pt x="0" y="76"/>
                    </a:cubicBezTo>
                    <a:cubicBezTo>
                      <a:pt x="0" y="118"/>
                      <a:pt x="34" y="152"/>
                      <a:pt x="76" y="152"/>
                    </a:cubicBezTo>
                    <a:cubicBezTo>
                      <a:pt x="118" y="152"/>
                      <a:pt x="151" y="118"/>
                      <a:pt x="151" y="76"/>
                    </a:cubicBezTo>
                    <a:cubicBezTo>
                      <a:pt x="151" y="34"/>
                      <a:pt x="118" y="0"/>
                      <a:pt x="76" y="0"/>
                    </a:cubicBezTo>
                    <a:close/>
                    <a:moveTo>
                      <a:pt x="104" y="82"/>
                    </a:moveTo>
                    <a:cubicBezTo>
                      <a:pt x="77" y="82"/>
                      <a:pt x="77" y="82"/>
                      <a:pt x="77" y="82"/>
                    </a:cubicBezTo>
                    <a:cubicBezTo>
                      <a:pt x="73" y="82"/>
                      <a:pt x="71" y="79"/>
                      <a:pt x="71" y="76"/>
                    </a:cubicBezTo>
                    <a:cubicBezTo>
                      <a:pt x="71" y="24"/>
                      <a:pt x="71" y="24"/>
                      <a:pt x="71" y="24"/>
                    </a:cubicBezTo>
                    <a:cubicBezTo>
                      <a:pt x="71" y="21"/>
                      <a:pt x="73" y="18"/>
                      <a:pt x="77" y="18"/>
                    </a:cubicBezTo>
                    <a:cubicBezTo>
                      <a:pt x="80" y="18"/>
                      <a:pt x="83" y="21"/>
                      <a:pt x="83" y="24"/>
                    </a:cubicBezTo>
                    <a:cubicBezTo>
                      <a:pt x="83" y="70"/>
                      <a:pt x="83" y="70"/>
                      <a:pt x="83" y="70"/>
                    </a:cubicBezTo>
                    <a:cubicBezTo>
                      <a:pt x="104" y="70"/>
                      <a:pt x="104" y="70"/>
                      <a:pt x="104" y="70"/>
                    </a:cubicBezTo>
                    <a:cubicBezTo>
                      <a:pt x="107" y="70"/>
                      <a:pt x="110" y="72"/>
                      <a:pt x="110" y="76"/>
                    </a:cubicBezTo>
                    <a:cubicBezTo>
                      <a:pt x="110" y="79"/>
                      <a:pt x="107" y="82"/>
                      <a:pt x="104" y="8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sp>
          <p:nvSpPr>
            <p:cNvPr id="11" name="Text Box 2"/>
            <p:cNvSpPr txBox="1">
              <a:spLocks noChangeArrowheads="1"/>
            </p:cNvSpPr>
            <p:nvPr/>
          </p:nvSpPr>
          <p:spPr bwMode="auto">
            <a:xfrm>
              <a:off x="1222566" y="1013457"/>
              <a:ext cx="2496597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zh-CN" altLang="en-US" sz="2800" dirty="0" smtClean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时间复杂度？</a:t>
              </a:r>
              <a:endPara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" name="组合 15"/>
          <p:cNvGrpSpPr/>
          <p:nvPr/>
        </p:nvGrpSpPr>
        <p:grpSpPr>
          <a:xfrm>
            <a:off x="4937760" y="5525844"/>
            <a:ext cx="4901581" cy="523220"/>
            <a:chOff x="5440680" y="5525844"/>
            <a:chExt cx="4901581" cy="523220"/>
          </a:xfrm>
        </p:grpSpPr>
        <p:sp>
          <p:nvSpPr>
            <p:cNvPr id="17" name="Text Box 15"/>
            <p:cNvSpPr txBox="1">
              <a:spLocks noChangeArrowheads="1"/>
            </p:cNvSpPr>
            <p:nvPr/>
          </p:nvSpPr>
          <p:spPr bwMode="auto">
            <a:xfrm>
              <a:off x="6157824" y="5525844"/>
              <a:ext cx="4184437" cy="523220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zh-CN" altLang="en-US" sz="2800" dirty="0" smtClean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每个结点进</a:t>
              </a:r>
              <a:r>
                <a:rPr lang="zh-CN" altLang="en-US" sz="28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队出队一次</a:t>
              </a:r>
              <a:endParaRPr lang="en-US" altLang="zh-CN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右箭头 17"/>
            <p:cNvSpPr/>
            <p:nvPr/>
          </p:nvSpPr>
          <p:spPr>
            <a:xfrm>
              <a:off x="5440680" y="5629630"/>
              <a:ext cx="576000" cy="324000"/>
            </a:xfrm>
            <a:prstGeom prst="rightArrow">
              <a:avLst/>
            </a:prstGeom>
            <a:noFill/>
            <a:ln w="28575">
              <a:solidFill>
                <a:srgbClr val="B42D2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" name="Group 16"/>
          <p:cNvGrpSpPr/>
          <p:nvPr/>
        </p:nvGrpSpPr>
        <p:grpSpPr bwMode="auto">
          <a:xfrm>
            <a:off x="10414350" y="3221317"/>
            <a:ext cx="936626" cy="2232042"/>
            <a:chOff x="5090" y="2206"/>
            <a:chExt cx="590" cy="1406"/>
          </a:xfrm>
        </p:grpSpPr>
        <p:sp>
          <p:nvSpPr>
            <p:cNvPr id="20" name="AutoShape 9"/>
            <p:cNvSpPr/>
            <p:nvPr/>
          </p:nvSpPr>
          <p:spPr bwMode="auto">
            <a:xfrm>
              <a:off x="5090" y="2206"/>
              <a:ext cx="159" cy="1406"/>
            </a:xfrm>
            <a:prstGeom prst="rightBrace">
              <a:avLst>
                <a:gd name="adj1" fmla="val 38375"/>
                <a:gd name="adj2" fmla="val 50000"/>
              </a:avLst>
            </a:prstGeom>
            <a:noFill/>
            <a:ln w="28575">
              <a:solidFill>
                <a:srgbClr val="5C307D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1" name="Text Box 10"/>
            <p:cNvSpPr txBox="1">
              <a:spLocks noChangeArrowheads="1"/>
            </p:cNvSpPr>
            <p:nvPr/>
          </p:nvSpPr>
          <p:spPr bwMode="auto">
            <a:xfrm>
              <a:off x="5225" y="2784"/>
              <a:ext cx="45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400" i="1" dirty="0" smtClean="0">
                  <a:latin typeface="Times New Roman" panose="02020603050405020304" pitchFamily="18" charset="0"/>
                </a:rPr>
                <a:t>O</a:t>
              </a:r>
              <a:r>
                <a:rPr lang="en-US" altLang="zh-CN" sz="2400" dirty="0" smtClean="0">
                  <a:latin typeface="Times New Roman" panose="02020603050405020304" pitchFamily="18" charset="0"/>
                </a:rPr>
                <a:t>(</a:t>
              </a:r>
              <a:r>
                <a:rPr lang="en-US" altLang="zh-CN" sz="2400" i="1" dirty="0" smtClean="0">
                  <a:latin typeface="Times New Roman" panose="02020603050405020304" pitchFamily="18" charset="0"/>
                </a:rPr>
                <a:t>n</a:t>
              </a:r>
              <a:r>
                <a:rPr lang="en-US" altLang="zh-CN" sz="2400" dirty="0" smtClean="0">
                  <a:latin typeface="Times New Roman" panose="02020603050405020304" pitchFamily="18" charset="0"/>
                </a:rPr>
                <a:t>)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" name="组合 34"/>
          <p:cNvGrpSpPr/>
          <p:nvPr/>
        </p:nvGrpSpPr>
        <p:grpSpPr>
          <a:xfrm>
            <a:off x="9446234" y="5513040"/>
            <a:ext cx="1738343" cy="523220"/>
            <a:chOff x="5440680" y="5495364"/>
            <a:chExt cx="1738343" cy="523220"/>
          </a:xfrm>
        </p:grpSpPr>
        <p:sp>
          <p:nvSpPr>
            <p:cNvPr id="36" name="Text Box 15"/>
            <p:cNvSpPr txBox="1">
              <a:spLocks noChangeArrowheads="1"/>
            </p:cNvSpPr>
            <p:nvPr/>
          </p:nvSpPr>
          <p:spPr bwMode="auto">
            <a:xfrm>
              <a:off x="6279744" y="5495364"/>
              <a:ext cx="899279" cy="523220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800" i="1" dirty="0" smtClean="0">
                  <a:latin typeface="Times New Roman" panose="02020603050405020304" pitchFamily="18" charset="0"/>
                </a:rPr>
                <a:t>O</a:t>
              </a:r>
              <a:r>
                <a:rPr lang="en-US" altLang="zh-CN" sz="2800" dirty="0" smtClean="0">
                  <a:latin typeface="Times New Roman" panose="02020603050405020304" pitchFamily="18" charset="0"/>
                </a:rPr>
                <a:t>(</a:t>
              </a:r>
              <a:r>
                <a:rPr lang="en-US" altLang="zh-CN" sz="2800" i="1" dirty="0" smtClean="0">
                  <a:latin typeface="Times New Roman" panose="02020603050405020304" pitchFamily="18" charset="0"/>
                </a:rPr>
                <a:t>n</a:t>
              </a:r>
              <a:r>
                <a:rPr lang="en-US" altLang="zh-CN" sz="2800" dirty="0" smtClean="0">
                  <a:latin typeface="Times New Roman" panose="02020603050405020304" pitchFamily="18" charset="0"/>
                </a:rPr>
                <a:t>)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39" name="右箭头 38"/>
            <p:cNvSpPr/>
            <p:nvPr/>
          </p:nvSpPr>
          <p:spPr>
            <a:xfrm>
              <a:off x="5440680" y="5629630"/>
              <a:ext cx="576000" cy="324000"/>
            </a:xfrm>
            <a:prstGeom prst="rightArrow">
              <a:avLst/>
            </a:prstGeom>
            <a:noFill/>
            <a:ln w="28575">
              <a:solidFill>
                <a:srgbClr val="B42D2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6" name="Rounded Rectangle 10"/>
          <p:cNvSpPr/>
          <p:nvPr/>
        </p:nvSpPr>
        <p:spPr>
          <a:xfrm>
            <a:off x="542923" y="100964"/>
            <a:ext cx="3672000" cy="540000"/>
          </a:xfrm>
          <a:prstGeom prst="roundRect">
            <a:avLst/>
          </a:prstGeom>
          <a:solidFill>
            <a:srgbClr val="5A32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Text Box 2"/>
          <p:cNvSpPr txBox="1">
            <a:spLocks noChangeArrowheads="1"/>
          </p:cNvSpPr>
          <p:nvPr/>
        </p:nvSpPr>
        <p:spPr bwMode="auto">
          <a:xfrm>
            <a:off x="638168" y="61585"/>
            <a:ext cx="355283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二叉树的层序遍历</a:t>
            </a:r>
            <a:endParaRPr lang="zh-CN" altLang="en-US" sz="32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 Box 8"/>
          <p:cNvSpPr txBox="1">
            <a:spLocks noChangeArrowheads="1"/>
          </p:cNvSpPr>
          <p:nvPr/>
        </p:nvSpPr>
        <p:spPr bwMode="auto">
          <a:xfrm>
            <a:off x="1447881" y="1525227"/>
            <a:ext cx="10256520" cy="1118255"/>
          </a:xfrm>
          <a:prstGeom prst="rect">
            <a:avLst/>
          </a:prstGeom>
          <a:noFill/>
          <a:ln w="38100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rIns="0">
            <a:spAutoFit/>
          </a:bodyPr>
          <a:lstStyle/>
          <a:p>
            <a:pPr eaLnBrk="0" hangingPunct="0">
              <a:lnSpc>
                <a:spcPts val="4000"/>
              </a:lnSpc>
            </a:pPr>
            <a:r>
              <a:rPr lang="zh-CN" altLang="en-US" sz="24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遍历将</a:t>
            </a:r>
            <a:r>
              <a:rPr lang="zh-CN" altLang="en-US" sz="2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二叉树审视</a:t>
            </a:r>
            <a:r>
              <a:rPr lang="zh-CN" altLang="en-US" sz="24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一遍，</a:t>
            </a:r>
            <a:r>
              <a:rPr lang="zh-CN" altLang="en-US" sz="2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将非线性结构转换为</a:t>
            </a:r>
            <a:r>
              <a:rPr lang="zh-CN" altLang="en-US" sz="2400" dirty="0">
                <a:solidFill>
                  <a:srgbClr val="B42D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线性结构</a:t>
            </a:r>
            <a:endParaRPr lang="en-US" altLang="zh-CN" sz="2400" dirty="0">
              <a:solidFill>
                <a:srgbClr val="B42D2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lnSpc>
                <a:spcPts val="4000"/>
              </a:lnSpc>
            </a:pPr>
            <a:r>
              <a:rPr lang="zh-CN" altLang="en-US" sz="2400" dirty="0">
                <a:solidFill>
                  <a:srgbClr val="B42D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遍历是二叉树各种操作的基础</a:t>
            </a:r>
            <a:r>
              <a:rPr lang="zh-CN" altLang="en-US" sz="2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，可以在遍历的过程</a:t>
            </a:r>
            <a:r>
              <a:rPr lang="zh-CN" altLang="en-US" sz="2400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中建立</a:t>
            </a:r>
            <a:r>
              <a:rPr lang="zh-CN" altLang="en-US" sz="2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一棵二叉树</a:t>
            </a:r>
            <a:endParaRPr lang="zh-CN" altLang="en-US" sz="24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梯形 1"/>
          <p:cNvSpPr/>
          <p:nvPr/>
        </p:nvSpPr>
        <p:spPr>
          <a:xfrm>
            <a:off x="4369961" y="3524136"/>
            <a:ext cx="2052000" cy="1728000"/>
          </a:xfrm>
          <a:prstGeom prst="trapezoid">
            <a:avLst/>
          </a:prstGeom>
          <a:noFill/>
          <a:ln w="28575">
            <a:solidFill>
              <a:srgbClr val="6E6E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Oval 37"/>
          <p:cNvSpPr>
            <a:spLocks noChangeArrowheads="1"/>
          </p:cNvSpPr>
          <p:nvPr/>
        </p:nvSpPr>
        <p:spPr bwMode="auto">
          <a:xfrm>
            <a:off x="5173001" y="3684507"/>
            <a:ext cx="432000" cy="432000"/>
          </a:xfrm>
          <a:prstGeom prst="ellipse">
            <a:avLst/>
          </a:prstGeom>
          <a:solidFill>
            <a:srgbClr val="B4B4BE"/>
          </a:solidFill>
          <a:ln w="28575">
            <a:solidFill>
              <a:srgbClr val="507D7D"/>
            </a:solidFill>
            <a:round/>
          </a:ln>
          <a:effectLst/>
        </p:spPr>
        <p:txBody>
          <a:bodyPr lIns="0" tIns="0" rIns="0" bIns="0"/>
          <a:lstStyle/>
          <a:p>
            <a:pPr algn="ctr">
              <a:lnSpc>
                <a:spcPts val="2500"/>
              </a:lnSpc>
            </a:pPr>
            <a:endParaRPr lang="zh-CN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605324" y="4060606"/>
            <a:ext cx="720000" cy="1071540"/>
            <a:chOff x="8480203" y="4848347"/>
            <a:chExt cx="720000" cy="1071540"/>
          </a:xfrm>
        </p:grpSpPr>
        <p:sp>
          <p:nvSpPr>
            <p:cNvPr id="11" name="梯形 10"/>
            <p:cNvSpPr/>
            <p:nvPr/>
          </p:nvSpPr>
          <p:spPr>
            <a:xfrm>
              <a:off x="8480203" y="5199887"/>
              <a:ext cx="720000" cy="720000"/>
            </a:xfrm>
            <a:prstGeom prst="trapezoid">
              <a:avLst/>
            </a:prstGeom>
            <a:noFill/>
            <a:ln w="28575">
              <a:solidFill>
                <a:srgbClr val="6E6EA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3000"/>
                </a:lnSpc>
              </a:pPr>
              <a:r>
                <a:rPr lang="en-US" altLang="zh-CN" sz="2800" dirty="0" smtClean="0">
                  <a:solidFill>
                    <a:srgbClr val="40404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endParaRPr lang="zh-CN" altLang="en-US" sz="28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Line 25"/>
            <p:cNvSpPr>
              <a:spLocks noChangeShapeType="1"/>
            </p:cNvSpPr>
            <p:nvPr/>
          </p:nvSpPr>
          <p:spPr bwMode="auto">
            <a:xfrm flipH="1">
              <a:off x="8840201" y="4848347"/>
              <a:ext cx="255588" cy="336300"/>
            </a:xfrm>
            <a:prstGeom prst="line">
              <a:avLst/>
            </a:prstGeom>
            <a:noFill/>
            <a:ln w="38100">
              <a:solidFill>
                <a:srgbClr val="285A3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5469924" y="4063143"/>
            <a:ext cx="720000" cy="1069003"/>
            <a:chOff x="9344803" y="4850884"/>
            <a:chExt cx="720000" cy="1069003"/>
          </a:xfrm>
        </p:grpSpPr>
        <p:sp>
          <p:nvSpPr>
            <p:cNvPr id="14" name="Line 25"/>
            <p:cNvSpPr>
              <a:spLocks noChangeShapeType="1"/>
            </p:cNvSpPr>
            <p:nvPr/>
          </p:nvSpPr>
          <p:spPr bwMode="auto">
            <a:xfrm>
              <a:off x="9419520" y="4850884"/>
              <a:ext cx="255588" cy="336300"/>
            </a:xfrm>
            <a:prstGeom prst="line">
              <a:avLst/>
            </a:prstGeom>
            <a:noFill/>
            <a:ln w="38100">
              <a:solidFill>
                <a:srgbClr val="285A3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15" name="梯形 14"/>
            <p:cNvSpPr/>
            <p:nvPr/>
          </p:nvSpPr>
          <p:spPr>
            <a:xfrm>
              <a:off x="9344803" y="5199887"/>
              <a:ext cx="720000" cy="720000"/>
            </a:xfrm>
            <a:prstGeom prst="trapezoid">
              <a:avLst/>
            </a:prstGeom>
            <a:noFill/>
            <a:ln w="28575">
              <a:solidFill>
                <a:srgbClr val="6E6EA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3000"/>
                </a:lnSpc>
              </a:pPr>
              <a:r>
                <a:rPr lang="en-US" altLang="zh-CN" sz="2800" dirty="0" smtClean="0">
                  <a:solidFill>
                    <a:srgbClr val="40404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lang="zh-CN" altLang="en-US" sz="28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" name="组合 16"/>
          <p:cNvGrpSpPr/>
          <p:nvPr/>
        </p:nvGrpSpPr>
        <p:grpSpPr>
          <a:xfrm>
            <a:off x="850350" y="952588"/>
            <a:ext cx="9482370" cy="523220"/>
            <a:chOff x="1826091" y="4148024"/>
            <a:chExt cx="9482370" cy="523220"/>
          </a:xfrm>
        </p:grpSpPr>
        <p:sp>
          <p:nvSpPr>
            <p:cNvPr id="18" name="Text Box 11"/>
            <p:cNvSpPr txBox="1">
              <a:spLocks noChangeArrowheads="1"/>
            </p:cNvSpPr>
            <p:nvPr/>
          </p:nvSpPr>
          <p:spPr bwMode="auto">
            <a:xfrm>
              <a:off x="2385059" y="4148024"/>
              <a:ext cx="892340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 smtClean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在内存中建立一棵二叉链表，如何输入二叉树的信息？</a:t>
              </a:r>
              <a:endPara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7" name="Group 31"/>
            <p:cNvGrpSpPr/>
            <p:nvPr/>
          </p:nvGrpSpPr>
          <p:grpSpPr>
            <a:xfrm>
              <a:off x="1826091" y="4213620"/>
              <a:ext cx="465732" cy="432000"/>
              <a:chOff x="8686801" y="2019300"/>
              <a:chExt cx="528638" cy="565150"/>
            </a:xfrm>
            <a:solidFill>
              <a:srgbClr val="5A327D"/>
            </a:solidFill>
          </p:grpSpPr>
          <p:sp>
            <p:nvSpPr>
              <p:cNvPr id="20" name="Freeform 32"/>
              <p:cNvSpPr/>
              <p:nvPr/>
            </p:nvSpPr>
            <p:spPr bwMode="auto">
              <a:xfrm>
                <a:off x="8785226" y="2501900"/>
                <a:ext cx="331788" cy="82550"/>
              </a:xfrm>
              <a:custGeom>
                <a:avLst/>
                <a:gdLst>
                  <a:gd name="T0" fmla="*/ 121 w 122"/>
                  <a:gd name="T1" fmla="*/ 24 h 30"/>
                  <a:gd name="T2" fmla="*/ 107 w 122"/>
                  <a:gd name="T3" fmla="*/ 2 h 30"/>
                  <a:gd name="T4" fmla="*/ 104 w 122"/>
                  <a:gd name="T5" fmla="*/ 0 h 30"/>
                  <a:gd name="T6" fmla="*/ 62 w 122"/>
                  <a:gd name="T7" fmla="*/ 0 h 30"/>
                  <a:gd name="T8" fmla="*/ 60 w 122"/>
                  <a:gd name="T9" fmla="*/ 0 h 30"/>
                  <a:gd name="T10" fmla="*/ 18 w 122"/>
                  <a:gd name="T11" fmla="*/ 0 h 30"/>
                  <a:gd name="T12" fmla="*/ 15 w 122"/>
                  <a:gd name="T13" fmla="*/ 2 h 30"/>
                  <a:gd name="T14" fmla="*/ 1 w 122"/>
                  <a:gd name="T15" fmla="*/ 24 h 30"/>
                  <a:gd name="T16" fmla="*/ 2 w 122"/>
                  <a:gd name="T17" fmla="*/ 29 h 30"/>
                  <a:gd name="T18" fmla="*/ 4 w 122"/>
                  <a:gd name="T19" fmla="*/ 30 h 30"/>
                  <a:gd name="T20" fmla="*/ 8 w 122"/>
                  <a:gd name="T21" fmla="*/ 28 h 30"/>
                  <a:gd name="T22" fmla="*/ 20 w 122"/>
                  <a:gd name="T23" fmla="*/ 8 h 30"/>
                  <a:gd name="T24" fmla="*/ 60 w 122"/>
                  <a:gd name="T25" fmla="*/ 8 h 30"/>
                  <a:gd name="T26" fmla="*/ 62 w 122"/>
                  <a:gd name="T27" fmla="*/ 8 h 30"/>
                  <a:gd name="T28" fmla="*/ 102 w 122"/>
                  <a:gd name="T29" fmla="*/ 8 h 30"/>
                  <a:gd name="T30" fmla="*/ 114 w 122"/>
                  <a:gd name="T31" fmla="*/ 28 h 30"/>
                  <a:gd name="T32" fmla="*/ 118 w 122"/>
                  <a:gd name="T33" fmla="*/ 30 h 30"/>
                  <a:gd name="T34" fmla="*/ 120 w 122"/>
                  <a:gd name="T35" fmla="*/ 29 h 30"/>
                  <a:gd name="T36" fmla="*/ 121 w 122"/>
                  <a:gd name="T37" fmla="*/ 24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2" h="30">
                    <a:moveTo>
                      <a:pt x="121" y="24"/>
                    </a:moveTo>
                    <a:cubicBezTo>
                      <a:pt x="107" y="2"/>
                      <a:pt x="107" y="2"/>
                      <a:pt x="107" y="2"/>
                    </a:cubicBezTo>
                    <a:cubicBezTo>
                      <a:pt x="106" y="1"/>
                      <a:pt x="105" y="0"/>
                      <a:pt x="104" y="0"/>
                    </a:cubicBezTo>
                    <a:cubicBezTo>
                      <a:pt x="62" y="0"/>
                      <a:pt x="62" y="0"/>
                      <a:pt x="62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7" y="0"/>
                      <a:pt x="15" y="1"/>
                      <a:pt x="15" y="2"/>
                    </a:cubicBezTo>
                    <a:cubicBezTo>
                      <a:pt x="1" y="24"/>
                      <a:pt x="1" y="24"/>
                      <a:pt x="1" y="24"/>
                    </a:cubicBezTo>
                    <a:cubicBezTo>
                      <a:pt x="0" y="26"/>
                      <a:pt x="0" y="28"/>
                      <a:pt x="2" y="29"/>
                    </a:cubicBezTo>
                    <a:cubicBezTo>
                      <a:pt x="3" y="30"/>
                      <a:pt x="3" y="30"/>
                      <a:pt x="4" y="30"/>
                    </a:cubicBezTo>
                    <a:cubicBezTo>
                      <a:pt x="6" y="30"/>
                      <a:pt x="7" y="29"/>
                      <a:pt x="8" y="28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60" y="8"/>
                      <a:pt x="60" y="8"/>
                      <a:pt x="60" y="8"/>
                    </a:cubicBezTo>
                    <a:cubicBezTo>
                      <a:pt x="62" y="8"/>
                      <a:pt x="62" y="8"/>
                      <a:pt x="62" y="8"/>
                    </a:cubicBezTo>
                    <a:cubicBezTo>
                      <a:pt x="102" y="8"/>
                      <a:pt x="102" y="8"/>
                      <a:pt x="102" y="8"/>
                    </a:cubicBezTo>
                    <a:cubicBezTo>
                      <a:pt x="114" y="28"/>
                      <a:pt x="114" y="28"/>
                      <a:pt x="114" y="28"/>
                    </a:cubicBezTo>
                    <a:cubicBezTo>
                      <a:pt x="115" y="29"/>
                      <a:pt x="116" y="30"/>
                      <a:pt x="118" y="30"/>
                    </a:cubicBezTo>
                    <a:cubicBezTo>
                      <a:pt x="118" y="30"/>
                      <a:pt x="119" y="30"/>
                      <a:pt x="120" y="29"/>
                    </a:cubicBezTo>
                    <a:cubicBezTo>
                      <a:pt x="122" y="28"/>
                      <a:pt x="122" y="26"/>
                      <a:pt x="121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" name="Freeform 33"/>
              <p:cNvSpPr/>
              <p:nvPr/>
            </p:nvSpPr>
            <p:spPr bwMode="auto">
              <a:xfrm>
                <a:off x="8686801" y="2019300"/>
                <a:ext cx="165100" cy="149225"/>
              </a:xfrm>
              <a:custGeom>
                <a:avLst/>
                <a:gdLst>
                  <a:gd name="T0" fmla="*/ 33 w 61"/>
                  <a:gd name="T1" fmla="*/ 0 h 55"/>
                  <a:gd name="T2" fmla="*/ 0 w 61"/>
                  <a:gd name="T3" fmla="*/ 33 h 55"/>
                  <a:gd name="T4" fmla="*/ 7 w 61"/>
                  <a:gd name="T5" fmla="*/ 54 h 55"/>
                  <a:gd name="T6" fmla="*/ 10 w 61"/>
                  <a:gd name="T7" fmla="*/ 55 h 55"/>
                  <a:gd name="T8" fmla="*/ 13 w 61"/>
                  <a:gd name="T9" fmla="*/ 55 h 55"/>
                  <a:gd name="T10" fmla="*/ 59 w 61"/>
                  <a:gd name="T11" fmla="*/ 19 h 55"/>
                  <a:gd name="T12" fmla="*/ 60 w 61"/>
                  <a:gd name="T13" fmla="*/ 13 h 55"/>
                  <a:gd name="T14" fmla="*/ 33 w 61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55">
                    <a:moveTo>
                      <a:pt x="33" y="0"/>
                    </a:moveTo>
                    <a:cubicBezTo>
                      <a:pt x="15" y="0"/>
                      <a:pt x="0" y="15"/>
                      <a:pt x="0" y="33"/>
                    </a:cubicBezTo>
                    <a:cubicBezTo>
                      <a:pt x="0" y="41"/>
                      <a:pt x="2" y="48"/>
                      <a:pt x="7" y="54"/>
                    </a:cubicBezTo>
                    <a:cubicBezTo>
                      <a:pt x="8" y="55"/>
                      <a:pt x="9" y="55"/>
                      <a:pt x="10" y="55"/>
                    </a:cubicBezTo>
                    <a:cubicBezTo>
                      <a:pt x="11" y="55"/>
                      <a:pt x="12" y="55"/>
                      <a:pt x="13" y="55"/>
                    </a:cubicBezTo>
                    <a:cubicBezTo>
                      <a:pt x="59" y="19"/>
                      <a:pt x="59" y="19"/>
                      <a:pt x="59" y="19"/>
                    </a:cubicBezTo>
                    <a:cubicBezTo>
                      <a:pt x="61" y="17"/>
                      <a:pt x="61" y="15"/>
                      <a:pt x="60" y="13"/>
                    </a:cubicBezTo>
                    <a:cubicBezTo>
                      <a:pt x="54" y="5"/>
                      <a:pt x="44" y="0"/>
                      <a:pt x="3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" name="Freeform 34"/>
              <p:cNvSpPr/>
              <p:nvPr/>
            </p:nvSpPr>
            <p:spPr bwMode="auto">
              <a:xfrm>
                <a:off x="9048751" y="2019300"/>
                <a:ext cx="166688" cy="149225"/>
              </a:xfrm>
              <a:custGeom>
                <a:avLst/>
                <a:gdLst>
                  <a:gd name="T0" fmla="*/ 28 w 61"/>
                  <a:gd name="T1" fmla="*/ 0 h 55"/>
                  <a:gd name="T2" fmla="*/ 1 w 61"/>
                  <a:gd name="T3" fmla="*/ 13 h 55"/>
                  <a:gd name="T4" fmla="*/ 2 w 61"/>
                  <a:gd name="T5" fmla="*/ 19 h 55"/>
                  <a:gd name="T6" fmla="*/ 48 w 61"/>
                  <a:gd name="T7" fmla="*/ 55 h 55"/>
                  <a:gd name="T8" fmla="*/ 51 w 61"/>
                  <a:gd name="T9" fmla="*/ 55 h 55"/>
                  <a:gd name="T10" fmla="*/ 54 w 61"/>
                  <a:gd name="T11" fmla="*/ 54 h 55"/>
                  <a:gd name="T12" fmla="*/ 61 w 61"/>
                  <a:gd name="T13" fmla="*/ 33 h 55"/>
                  <a:gd name="T14" fmla="*/ 28 w 61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55">
                    <a:moveTo>
                      <a:pt x="28" y="0"/>
                    </a:moveTo>
                    <a:cubicBezTo>
                      <a:pt x="17" y="0"/>
                      <a:pt x="7" y="5"/>
                      <a:pt x="1" y="13"/>
                    </a:cubicBezTo>
                    <a:cubicBezTo>
                      <a:pt x="0" y="15"/>
                      <a:pt x="0" y="17"/>
                      <a:pt x="2" y="19"/>
                    </a:cubicBezTo>
                    <a:cubicBezTo>
                      <a:pt x="48" y="55"/>
                      <a:pt x="48" y="55"/>
                      <a:pt x="48" y="55"/>
                    </a:cubicBezTo>
                    <a:cubicBezTo>
                      <a:pt x="49" y="55"/>
                      <a:pt x="50" y="55"/>
                      <a:pt x="51" y="55"/>
                    </a:cubicBezTo>
                    <a:cubicBezTo>
                      <a:pt x="52" y="55"/>
                      <a:pt x="53" y="55"/>
                      <a:pt x="54" y="54"/>
                    </a:cubicBezTo>
                    <a:cubicBezTo>
                      <a:pt x="58" y="48"/>
                      <a:pt x="61" y="41"/>
                      <a:pt x="61" y="33"/>
                    </a:cubicBezTo>
                    <a:cubicBezTo>
                      <a:pt x="61" y="15"/>
                      <a:pt x="46" y="0"/>
                      <a:pt x="2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" name="Freeform 223"/>
              <p:cNvSpPr>
                <a:spLocks noEditPoints="1"/>
              </p:cNvSpPr>
              <p:nvPr/>
            </p:nvSpPr>
            <p:spPr bwMode="auto">
              <a:xfrm>
                <a:off x="8743951" y="2073275"/>
                <a:ext cx="411163" cy="414338"/>
              </a:xfrm>
              <a:custGeom>
                <a:avLst/>
                <a:gdLst>
                  <a:gd name="T0" fmla="*/ 76 w 151"/>
                  <a:gd name="T1" fmla="*/ 0 h 152"/>
                  <a:gd name="T2" fmla="*/ 0 w 151"/>
                  <a:gd name="T3" fmla="*/ 76 h 152"/>
                  <a:gd name="T4" fmla="*/ 76 w 151"/>
                  <a:gd name="T5" fmla="*/ 152 h 152"/>
                  <a:gd name="T6" fmla="*/ 151 w 151"/>
                  <a:gd name="T7" fmla="*/ 76 h 152"/>
                  <a:gd name="T8" fmla="*/ 76 w 151"/>
                  <a:gd name="T9" fmla="*/ 0 h 152"/>
                  <a:gd name="T10" fmla="*/ 104 w 151"/>
                  <a:gd name="T11" fmla="*/ 82 h 152"/>
                  <a:gd name="T12" fmla="*/ 77 w 151"/>
                  <a:gd name="T13" fmla="*/ 82 h 152"/>
                  <a:gd name="T14" fmla="*/ 71 w 151"/>
                  <a:gd name="T15" fmla="*/ 76 h 152"/>
                  <a:gd name="T16" fmla="*/ 71 w 151"/>
                  <a:gd name="T17" fmla="*/ 24 h 152"/>
                  <a:gd name="T18" fmla="*/ 77 w 151"/>
                  <a:gd name="T19" fmla="*/ 18 h 152"/>
                  <a:gd name="T20" fmla="*/ 83 w 151"/>
                  <a:gd name="T21" fmla="*/ 24 h 152"/>
                  <a:gd name="T22" fmla="*/ 83 w 151"/>
                  <a:gd name="T23" fmla="*/ 70 h 152"/>
                  <a:gd name="T24" fmla="*/ 104 w 151"/>
                  <a:gd name="T25" fmla="*/ 70 h 152"/>
                  <a:gd name="T26" fmla="*/ 110 w 151"/>
                  <a:gd name="T27" fmla="*/ 76 h 152"/>
                  <a:gd name="T28" fmla="*/ 104 w 151"/>
                  <a:gd name="T29" fmla="*/ 82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51" h="152">
                    <a:moveTo>
                      <a:pt x="76" y="0"/>
                    </a:moveTo>
                    <a:cubicBezTo>
                      <a:pt x="34" y="0"/>
                      <a:pt x="0" y="34"/>
                      <a:pt x="0" y="76"/>
                    </a:cubicBezTo>
                    <a:cubicBezTo>
                      <a:pt x="0" y="118"/>
                      <a:pt x="34" y="152"/>
                      <a:pt x="76" y="152"/>
                    </a:cubicBezTo>
                    <a:cubicBezTo>
                      <a:pt x="118" y="152"/>
                      <a:pt x="151" y="118"/>
                      <a:pt x="151" y="76"/>
                    </a:cubicBezTo>
                    <a:cubicBezTo>
                      <a:pt x="151" y="34"/>
                      <a:pt x="118" y="0"/>
                      <a:pt x="76" y="0"/>
                    </a:cubicBezTo>
                    <a:close/>
                    <a:moveTo>
                      <a:pt x="104" y="82"/>
                    </a:moveTo>
                    <a:cubicBezTo>
                      <a:pt x="77" y="82"/>
                      <a:pt x="77" y="82"/>
                      <a:pt x="77" y="82"/>
                    </a:cubicBezTo>
                    <a:cubicBezTo>
                      <a:pt x="73" y="82"/>
                      <a:pt x="71" y="79"/>
                      <a:pt x="71" y="76"/>
                    </a:cubicBezTo>
                    <a:cubicBezTo>
                      <a:pt x="71" y="24"/>
                      <a:pt x="71" y="24"/>
                      <a:pt x="71" y="24"/>
                    </a:cubicBezTo>
                    <a:cubicBezTo>
                      <a:pt x="71" y="21"/>
                      <a:pt x="73" y="18"/>
                      <a:pt x="77" y="18"/>
                    </a:cubicBezTo>
                    <a:cubicBezTo>
                      <a:pt x="80" y="18"/>
                      <a:pt x="83" y="21"/>
                      <a:pt x="83" y="24"/>
                    </a:cubicBezTo>
                    <a:cubicBezTo>
                      <a:pt x="83" y="70"/>
                      <a:pt x="83" y="70"/>
                      <a:pt x="83" y="70"/>
                    </a:cubicBezTo>
                    <a:cubicBezTo>
                      <a:pt x="104" y="70"/>
                      <a:pt x="104" y="70"/>
                      <a:pt x="104" y="70"/>
                    </a:cubicBezTo>
                    <a:cubicBezTo>
                      <a:pt x="107" y="70"/>
                      <a:pt x="110" y="72"/>
                      <a:pt x="110" y="76"/>
                    </a:cubicBezTo>
                    <a:cubicBezTo>
                      <a:pt x="110" y="79"/>
                      <a:pt x="107" y="82"/>
                      <a:pt x="104" y="8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25" name="Rounded Rectangle 10"/>
          <p:cNvSpPr/>
          <p:nvPr/>
        </p:nvSpPr>
        <p:spPr>
          <a:xfrm>
            <a:off x="542923" y="100964"/>
            <a:ext cx="3240000" cy="540000"/>
          </a:xfrm>
          <a:prstGeom prst="roundRect">
            <a:avLst/>
          </a:prstGeom>
          <a:solidFill>
            <a:srgbClr val="5A32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Text Box 2"/>
          <p:cNvSpPr txBox="1">
            <a:spLocks noChangeArrowheads="1"/>
          </p:cNvSpPr>
          <p:nvPr/>
        </p:nvSpPr>
        <p:spPr bwMode="auto">
          <a:xfrm>
            <a:off x="638168" y="61585"/>
            <a:ext cx="323279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</a:t>
            </a:r>
            <a:r>
              <a:rPr lang="zh-CN" altLang="en-US" sz="3200" b="1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叉</a:t>
            </a:r>
            <a:r>
              <a:rPr lang="zh-CN" altLang="en-US" sz="3200" b="1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链表的建立</a:t>
            </a:r>
            <a:endParaRPr lang="zh-CN" altLang="en-US" sz="32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5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5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5" presetClass="emph" presetSubtype="0" repeatCount="2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5" presetClass="emph" presetSubtype="0" repeatCount="2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  <p:bldLst>
      <p:bldP spid="70" grpId="0" bldLvl="0" animBg="1"/>
      <p:bldP spid="2" grpId="0" bldLvl="0" animBg="1"/>
      <p:bldP spid="10" grpId="0" bldLvl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6"/>
          <p:cNvGrpSpPr/>
          <p:nvPr/>
        </p:nvGrpSpPr>
        <p:grpSpPr>
          <a:xfrm>
            <a:off x="850350" y="952588"/>
            <a:ext cx="9482370" cy="523220"/>
            <a:chOff x="1826091" y="4148024"/>
            <a:chExt cx="9482370" cy="523220"/>
          </a:xfrm>
        </p:grpSpPr>
        <p:sp>
          <p:nvSpPr>
            <p:cNvPr id="18" name="Text Box 11"/>
            <p:cNvSpPr txBox="1">
              <a:spLocks noChangeArrowheads="1"/>
            </p:cNvSpPr>
            <p:nvPr/>
          </p:nvSpPr>
          <p:spPr bwMode="auto">
            <a:xfrm>
              <a:off x="2385059" y="4148024"/>
              <a:ext cx="892340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如何由一种遍历序列生成该</a:t>
              </a:r>
              <a:r>
                <a:rPr lang="zh-CN" altLang="en-US" sz="2800" dirty="0" smtClean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二叉树？</a:t>
              </a:r>
              <a:endPara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" name="Group 31"/>
            <p:cNvGrpSpPr/>
            <p:nvPr/>
          </p:nvGrpSpPr>
          <p:grpSpPr>
            <a:xfrm>
              <a:off x="1826091" y="4213620"/>
              <a:ext cx="465732" cy="432000"/>
              <a:chOff x="8686801" y="2019300"/>
              <a:chExt cx="528638" cy="565150"/>
            </a:xfrm>
            <a:solidFill>
              <a:srgbClr val="5A327D"/>
            </a:solidFill>
          </p:grpSpPr>
          <p:sp>
            <p:nvSpPr>
              <p:cNvPr id="20" name="Freeform 32"/>
              <p:cNvSpPr/>
              <p:nvPr/>
            </p:nvSpPr>
            <p:spPr bwMode="auto">
              <a:xfrm>
                <a:off x="8785226" y="2501900"/>
                <a:ext cx="331788" cy="82550"/>
              </a:xfrm>
              <a:custGeom>
                <a:avLst/>
                <a:gdLst>
                  <a:gd name="T0" fmla="*/ 121 w 122"/>
                  <a:gd name="T1" fmla="*/ 24 h 30"/>
                  <a:gd name="T2" fmla="*/ 107 w 122"/>
                  <a:gd name="T3" fmla="*/ 2 h 30"/>
                  <a:gd name="T4" fmla="*/ 104 w 122"/>
                  <a:gd name="T5" fmla="*/ 0 h 30"/>
                  <a:gd name="T6" fmla="*/ 62 w 122"/>
                  <a:gd name="T7" fmla="*/ 0 h 30"/>
                  <a:gd name="T8" fmla="*/ 60 w 122"/>
                  <a:gd name="T9" fmla="*/ 0 h 30"/>
                  <a:gd name="T10" fmla="*/ 18 w 122"/>
                  <a:gd name="T11" fmla="*/ 0 h 30"/>
                  <a:gd name="T12" fmla="*/ 15 w 122"/>
                  <a:gd name="T13" fmla="*/ 2 h 30"/>
                  <a:gd name="T14" fmla="*/ 1 w 122"/>
                  <a:gd name="T15" fmla="*/ 24 h 30"/>
                  <a:gd name="T16" fmla="*/ 2 w 122"/>
                  <a:gd name="T17" fmla="*/ 29 h 30"/>
                  <a:gd name="T18" fmla="*/ 4 w 122"/>
                  <a:gd name="T19" fmla="*/ 30 h 30"/>
                  <a:gd name="T20" fmla="*/ 8 w 122"/>
                  <a:gd name="T21" fmla="*/ 28 h 30"/>
                  <a:gd name="T22" fmla="*/ 20 w 122"/>
                  <a:gd name="T23" fmla="*/ 8 h 30"/>
                  <a:gd name="T24" fmla="*/ 60 w 122"/>
                  <a:gd name="T25" fmla="*/ 8 h 30"/>
                  <a:gd name="T26" fmla="*/ 62 w 122"/>
                  <a:gd name="T27" fmla="*/ 8 h 30"/>
                  <a:gd name="T28" fmla="*/ 102 w 122"/>
                  <a:gd name="T29" fmla="*/ 8 h 30"/>
                  <a:gd name="T30" fmla="*/ 114 w 122"/>
                  <a:gd name="T31" fmla="*/ 28 h 30"/>
                  <a:gd name="T32" fmla="*/ 118 w 122"/>
                  <a:gd name="T33" fmla="*/ 30 h 30"/>
                  <a:gd name="T34" fmla="*/ 120 w 122"/>
                  <a:gd name="T35" fmla="*/ 29 h 30"/>
                  <a:gd name="T36" fmla="*/ 121 w 122"/>
                  <a:gd name="T37" fmla="*/ 24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2" h="30">
                    <a:moveTo>
                      <a:pt x="121" y="24"/>
                    </a:moveTo>
                    <a:cubicBezTo>
                      <a:pt x="107" y="2"/>
                      <a:pt x="107" y="2"/>
                      <a:pt x="107" y="2"/>
                    </a:cubicBezTo>
                    <a:cubicBezTo>
                      <a:pt x="106" y="1"/>
                      <a:pt x="105" y="0"/>
                      <a:pt x="104" y="0"/>
                    </a:cubicBezTo>
                    <a:cubicBezTo>
                      <a:pt x="62" y="0"/>
                      <a:pt x="62" y="0"/>
                      <a:pt x="62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7" y="0"/>
                      <a:pt x="15" y="1"/>
                      <a:pt x="15" y="2"/>
                    </a:cubicBezTo>
                    <a:cubicBezTo>
                      <a:pt x="1" y="24"/>
                      <a:pt x="1" y="24"/>
                      <a:pt x="1" y="24"/>
                    </a:cubicBezTo>
                    <a:cubicBezTo>
                      <a:pt x="0" y="26"/>
                      <a:pt x="0" y="28"/>
                      <a:pt x="2" y="29"/>
                    </a:cubicBezTo>
                    <a:cubicBezTo>
                      <a:pt x="3" y="30"/>
                      <a:pt x="3" y="30"/>
                      <a:pt x="4" y="30"/>
                    </a:cubicBezTo>
                    <a:cubicBezTo>
                      <a:pt x="6" y="30"/>
                      <a:pt x="7" y="29"/>
                      <a:pt x="8" y="28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60" y="8"/>
                      <a:pt x="60" y="8"/>
                      <a:pt x="60" y="8"/>
                    </a:cubicBezTo>
                    <a:cubicBezTo>
                      <a:pt x="62" y="8"/>
                      <a:pt x="62" y="8"/>
                      <a:pt x="62" y="8"/>
                    </a:cubicBezTo>
                    <a:cubicBezTo>
                      <a:pt x="102" y="8"/>
                      <a:pt x="102" y="8"/>
                      <a:pt x="102" y="8"/>
                    </a:cubicBezTo>
                    <a:cubicBezTo>
                      <a:pt x="114" y="28"/>
                      <a:pt x="114" y="28"/>
                      <a:pt x="114" y="28"/>
                    </a:cubicBezTo>
                    <a:cubicBezTo>
                      <a:pt x="115" y="29"/>
                      <a:pt x="116" y="30"/>
                      <a:pt x="118" y="30"/>
                    </a:cubicBezTo>
                    <a:cubicBezTo>
                      <a:pt x="118" y="30"/>
                      <a:pt x="119" y="30"/>
                      <a:pt x="120" y="29"/>
                    </a:cubicBezTo>
                    <a:cubicBezTo>
                      <a:pt x="122" y="28"/>
                      <a:pt x="122" y="26"/>
                      <a:pt x="121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" name="Freeform 33"/>
              <p:cNvSpPr/>
              <p:nvPr/>
            </p:nvSpPr>
            <p:spPr bwMode="auto">
              <a:xfrm>
                <a:off x="8686801" y="2019300"/>
                <a:ext cx="165100" cy="149225"/>
              </a:xfrm>
              <a:custGeom>
                <a:avLst/>
                <a:gdLst>
                  <a:gd name="T0" fmla="*/ 33 w 61"/>
                  <a:gd name="T1" fmla="*/ 0 h 55"/>
                  <a:gd name="T2" fmla="*/ 0 w 61"/>
                  <a:gd name="T3" fmla="*/ 33 h 55"/>
                  <a:gd name="T4" fmla="*/ 7 w 61"/>
                  <a:gd name="T5" fmla="*/ 54 h 55"/>
                  <a:gd name="T6" fmla="*/ 10 w 61"/>
                  <a:gd name="T7" fmla="*/ 55 h 55"/>
                  <a:gd name="T8" fmla="*/ 13 w 61"/>
                  <a:gd name="T9" fmla="*/ 55 h 55"/>
                  <a:gd name="T10" fmla="*/ 59 w 61"/>
                  <a:gd name="T11" fmla="*/ 19 h 55"/>
                  <a:gd name="T12" fmla="*/ 60 w 61"/>
                  <a:gd name="T13" fmla="*/ 13 h 55"/>
                  <a:gd name="T14" fmla="*/ 33 w 61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55">
                    <a:moveTo>
                      <a:pt x="33" y="0"/>
                    </a:moveTo>
                    <a:cubicBezTo>
                      <a:pt x="15" y="0"/>
                      <a:pt x="0" y="15"/>
                      <a:pt x="0" y="33"/>
                    </a:cubicBezTo>
                    <a:cubicBezTo>
                      <a:pt x="0" y="41"/>
                      <a:pt x="2" y="48"/>
                      <a:pt x="7" y="54"/>
                    </a:cubicBezTo>
                    <a:cubicBezTo>
                      <a:pt x="8" y="55"/>
                      <a:pt x="9" y="55"/>
                      <a:pt x="10" y="55"/>
                    </a:cubicBezTo>
                    <a:cubicBezTo>
                      <a:pt x="11" y="55"/>
                      <a:pt x="12" y="55"/>
                      <a:pt x="13" y="55"/>
                    </a:cubicBezTo>
                    <a:cubicBezTo>
                      <a:pt x="59" y="19"/>
                      <a:pt x="59" y="19"/>
                      <a:pt x="59" y="19"/>
                    </a:cubicBezTo>
                    <a:cubicBezTo>
                      <a:pt x="61" y="17"/>
                      <a:pt x="61" y="15"/>
                      <a:pt x="60" y="13"/>
                    </a:cubicBezTo>
                    <a:cubicBezTo>
                      <a:pt x="54" y="5"/>
                      <a:pt x="44" y="0"/>
                      <a:pt x="3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" name="Freeform 34"/>
              <p:cNvSpPr/>
              <p:nvPr/>
            </p:nvSpPr>
            <p:spPr bwMode="auto">
              <a:xfrm>
                <a:off x="9048751" y="2019300"/>
                <a:ext cx="166688" cy="149225"/>
              </a:xfrm>
              <a:custGeom>
                <a:avLst/>
                <a:gdLst>
                  <a:gd name="T0" fmla="*/ 28 w 61"/>
                  <a:gd name="T1" fmla="*/ 0 h 55"/>
                  <a:gd name="T2" fmla="*/ 1 w 61"/>
                  <a:gd name="T3" fmla="*/ 13 h 55"/>
                  <a:gd name="T4" fmla="*/ 2 w 61"/>
                  <a:gd name="T5" fmla="*/ 19 h 55"/>
                  <a:gd name="T6" fmla="*/ 48 w 61"/>
                  <a:gd name="T7" fmla="*/ 55 h 55"/>
                  <a:gd name="T8" fmla="*/ 51 w 61"/>
                  <a:gd name="T9" fmla="*/ 55 h 55"/>
                  <a:gd name="T10" fmla="*/ 54 w 61"/>
                  <a:gd name="T11" fmla="*/ 54 h 55"/>
                  <a:gd name="T12" fmla="*/ 61 w 61"/>
                  <a:gd name="T13" fmla="*/ 33 h 55"/>
                  <a:gd name="T14" fmla="*/ 28 w 61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55">
                    <a:moveTo>
                      <a:pt x="28" y="0"/>
                    </a:moveTo>
                    <a:cubicBezTo>
                      <a:pt x="17" y="0"/>
                      <a:pt x="7" y="5"/>
                      <a:pt x="1" y="13"/>
                    </a:cubicBezTo>
                    <a:cubicBezTo>
                      <a:pt x="0" y="15"/>
                      <a:pt x="0" y="17"/>
                      <a:pt x="2" y="19"/>
                    </a:cubicBezTo>
                    <a:cubicBezTo>
                      <a:pt x="48" y="55"/>
                      <a:pt x="48" y="55"/>
                      <a:pt x="48" y="55"/>
                    </a:cubicBezTo>
                    <a:cubicBezTo>
                      <a:pt x="49" y="55"/>
                      <a:pt x="50" y="55"/>
                      <a:pt x="51" y="55"/>
                    </a:cubicBezTo>
                    <a:cubicBezTo>
                      <a:pt x="52" y="55"/>
                      <a:pt x="53" y="55"/>
                      <a:pt x="54" y="54"/>
                    </a:cubicBezTo>
                    <a:cubicBezTo>
                      <a:pt x="58" y="48"/>
                      <a:pt x="61" y="41"/>
                      <a:pt x="61" y="33"/>
                    </a:cubicBezTo>
                    <a:cubicBezTo>
                      <a:pt x="61" y="15"/>
                      <a:pt x="46" y="0"/>
                      <a:pt x="2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" name="Freeform 223"/>
              <p:cNvSpPr>
                <a:spLocks noEditPoints="1"/>
              </p:cNvSpPr>
              <p:nvPr/>
            </p:nvSpPr>
            <p:spPr bwMode="auto">
              <a:xfrm>
                <a:off x="8743951" y="2073275"/>
                <a:ext cx="411163" cy="414338"/>
              </a:xfrm>
              <a:custGeom>
                <a:avLst/>
                <a:gdLst>
                  <a:gd name="T0" fmla="*/ 76 w 151"/>
                  <a:gd name="T1" fmla="*/ 0 h 152"/>
                  <a:gd name="T2" fmla="*/ 0 w 151"/>
                  <a:gd name="T3" fmla="*/ 76 h 152"/>
                  <a:gd name="T4" fmla="*/ 76 w 151"/>
                  <a:gd name="T5" fmla="*/ 152 h 152"/>
                  <a:gd name="T6" fmla="*/ 151 w 151"/>
                  <a:gd name="T7" fmla="*/ 76 h 152"/>
                  <a:gd name="T8" fmla="*/ 76 w 151"/>
                  <a:gd name="T9" fmla="*/ 0 h 152"/>
                  <a:gd name="T10" fmla="*/ 104 w 151"/>
                  <a:gd name="T11" fmla="*/ 82 h 152"/>
                  <a:gd name="T12" fmla="*/ 77 w 151"/>
                  <a:gd name="T13" fmla="*/ 82 h 152"/>
                  <a:gd name="T14" fmla="*/ 71 w 151"/>
                  <a:gd name="T15" fmla="*/ 76 h 152"/>
                  <a:gd name="T16" fmla="*/ 71 w 151"/>
                  <a:gd name="T17" fmla="*/ 24 h 152"/>
                  <a:gd name="T18" fmla="*/ 77 w 151"/>
                  <a:gd name="T19" fmla="*/ 18 h 152"/>
                  <a:gd name="T20" fmla="*/ 83 w 151"/>
                  <a:gd name="T21" fmla="*/ 24 h 152"/>
                  <a:gd name="T22" fmla="*/ 83 w 151"/>
                  <a:gd name="T23" fmla="*/ 70 h 152"/>
                  <a:gd name="T24" fmla="*/ 104 w 151"/>
                  <a:gd name="T25" fmla="*/ 70 h 152"/>
                  <a:gd name="T26" fmla="*/ 110 w 151"/>
                  <a:gd name="T27" fmla="*/ 76 h 152"/>
                  <a:gd name="T28" fmla="*/ 104 w 151"/>
                  <a:gd name="T29" fmla="*/ 82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51" h="152">
                    <a:moveTo>
                      <a:pt x="76" y="0"/>
                    </a:moveTo>
                    <a:cubicBezTo>
                      <a:pt x="34" y="0"/>
                      <a:pt x="0" y="34"/>
                      <a:pt x="0" y="76"/>
                    </a:cubicBezTo>
                    <a:cubicBezTo>
                      <a:pt x="0" y="118"/>
                      <a:pt x="34" y="152"/>
                      <a:pt x="76" y="152"/>
                    </a:cubicBezTo>
                    <a:cubicBezTo>
                      <a:pt x="118" y="152"/>
                      <a:pt x="151" y="118"/>
                      <a:pt x="151" y="76"/>
                    </a:cubicBezTo>
                    <a:cubicBezTo>
                      <a:pt x="151" y="34"/>
                      <a:pt x="118" y="0"/>
                      <a:pt x="76" y="0"/>
                    </a:cubicBezTo>
                    <a:close/>
                    <a:moveTo>
                      <a:pt x="104" y="82"/>
                    </a:moveTo>
                    <a:cubicBezTo>
                      <a:pt x="77" y="82"/>
                      <a:pt x="77" y="82"/>
                      <a:pt x="77" y="82"/>
                    </a:cubicBezTo>
                    <a:cubicBezTo>
                      <a:pt x="73" y="82"/>
                      <a:pt x="71" y="79"/>
                      <a:pt x="71" y="76"/>
                    </a:cubicBezTo>
                    <a:cubicBezTo>
                      <a:pt x="71" y="24"/>
                      <a:pt x="71" y="24"/>
                      <a:pt x="71" y="24"/>
                    </a:cubicBezTo>
                    <a:cubicBezTo>
                      <a:pt x="71" y="21"/>
                      <a:pt x="73" y="18"/>
                      <a:pt x="77" y="18"/>
                    </a:cubicBezTo>
                    <a:cubicBezTo>
                      <a:pt x="80" y="18"/>
                      <a:pt x="83" y="21"/>
                      <a:pt x="83" y="24"/>
                    </a:cubicBezTo>
                    <a:cubicBezTo>
                      <a:pt x="83" y="70"/>
                      <a:pt x="83" y="70"/>
                      <a:pt x="83" y="70"/>
                    </a:cubicBezTo>
                    <a:cubicBezTo>
                      <a:pt x="104" y="70"/>
                      <a:pt x="104" y="70"/>
                      <a:pt x="104" y="70"/>
                    </a:cubicBezTo>
                    <a:cubicBezTo>
                      <a:pt x="107" y="70"/>
                      <a:pt x="110" y="72"/>
                      <a:pt x="110" y="76"/>
                    </a:cubicBezTo>
                    <a:cubicBezTo>
                      <a:pt x="110" y="79"/>
                      <a:pt x="107" y="82"/>
                      <a:pt x="104" y="8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grpSp>
        <p:nvGrpSpPr>
          <p:cNvPr id="4" name="组合 26"/>
          <p:cNvGrpSpPr/>
          <p:nvPr/>
        </p:nvGrpSpPr>
        <p:grpSpPr>
          <a:xfrm>
            <a:off x="1672708" y="2867949"/>
            <a:ext cx="2029024" cy="2204532"/>
            <a:chOff x="5203030" y="646360"/>
            <a:chExt cx="2029024" cy="2204532"/>
          </a:xfrm>
          <a:solidFill>
            <a:srgbClr val="B4B4BE"/>
          </a:solidFill>
        </p:grpSpPr>
        <p:sp>
          <p:nvSpPr>
            <p:cNvPr id="28" name="Line 25"/>
            <p:cNvSpPr>
              <a:spLocks noChangeShapeType="1"/>
            </p:cNvSpPr>
            <p:nvPr/>
          </p:nvSpPr>
          <p:spPr bwMode="auto">
            <a:xfrm flipH="1">
              <a:off x="5566884" y="982910"/>
              <a:ext cx="511175" cy="540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29" name="Line 26"/>
            <p:cNvSpPr>
              <a:spLocks noChangeShapeType="1"/>
            </p:cNvSpPr>
            <p:nvPr/>
          </p:nvSpPr>
          <p:spPr bwMode="auto">
            <a:xfrm>
              <a:off x="6451122" y="982909"/>
              <a:ext cx="432000" cy="540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30" name="Line 28"/>
            <p:cNvSpPr>
              <a:spLocks noChangeShapeType="1"/>
            </p:cNvSpPr>
            <p:nvPr/>
          </p:nvSpPr>
          <p:spPr bwMode="auto">
            <a:xfrm>
              <a:off x="5536404" y="1848930"/>
              <a:ext cx="324000" cy="612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31" name="Oval 37"/>
            <p:cNvSpPr>
              <a:spLocks noChangeArrowheads="1"/>
            </p:cNvSpPr>
            <p:nvPr/>
          </p:nvSpPr>
          <p:spPr bwMode="auto">
            <a:xfrm>
              <a:off x="6058375" y="646360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Oval 37"/>
            <p:cNvSpPr>
              <a:spLocks noChangeArrowheads="1"/>
            </p:cNvSpPr>
            <p:nvPr/>
          </p:nvSpPr>
          <p:spPr bwMode="auto">
            <a:xfrm>
              <a:off x="6800054" y="1462651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203030" y="1462651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Oval 37"/>
            <p:cNvSpPr>
              <a:spLocks noChangeArrowheads="1"/>
            </p:cNvSpPr>
            <p:nvPr/>
          </p:nvSpPr>
          <p:spPr bwMode="auto">
            <a:xfrm>
              <a:off x="5757005" y="2418892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6" name="Text Box 45"/>
          <p:cNvSpPr txBox="1">
            <a:spLocks noChangeArrowheads="1"/>
          </p:cNvSpPr>
          <p:nvPr/>
        </p:nvSpPr>
        <p:spPr bwMode="auto">
          <a:xfrm>
            <a:off x="2104708" y="5555461"/>
            <a:ext cx="7823200" cy="5780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/>
          <a:lstStyle/>
          <a:p>
            <a:pPr algn="just" eaLnBrk="0" hangingPunct="0"/>
            <a:r>
              <a: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扩展二叉树的前序遍历序列：</a:t>
            </a:r>
            <a:r>
              <a:rPr lang="en-US" altLang="zh-CN" sz="2800" b="1" i="1" dirty="0" smtClean="0">
                <a:solidFill>
                  <a:srgbClr val="40404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 </a:t>
            </a:r>
            <a:r>
              <a:rPr lang="en-US" altLang="zh-CN" sz="2800" b="1" i="1" dirty="0">
                <a:solidFill>
                  <a:srgbClr val="40404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 </a:t>
            </a:r>
            <a:r>
              <a:rPr lang="en-US" altLang="zh-CN" sz="2800" b="1" dirty="0">
                <a:solidFill>
                  <a:srgbClr val="40404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# </a:t>
            </a:r>
            <a:r>
              <a:rPr lang="en-US" altLang="zh-CN" sz="2800" b="1" i="1" dirty="0">
                <a:solidFill>
                  <a:srgbClr val="40404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 </a:t>
            </a:r>
            <a:r>
              <a:rPr lang="en-US" altLang="zh-CN" sz="2800" b="1" dirty="0">
                <a:solidFill>
                  <a:srgbClr val="40404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# # </a:t>
            </a:r>
            <a:r>
              <a:rPr lang="en-US" altLang="zh-CN" sz="2800" b="1" i="1" dirty="0">
                <a:solidFill>
                  <a:srgbClr val="40404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 </a:t>
            </a:r>
            <a:r>
              <a:rPr lang="en-US" altLang="zh-CN" sz="2800" b="1" dirty="0">
                <a:solidFill>
                  <a:srgbClr val="40404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# #</a:t>
            </a:r>
            <a:endParaRPr lang="en-US" altLang="zh-CN" sz="2800" b="1" dirty="0">
              <a:solidFill>
                <a:srgbClr val="40404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5" name="组合 6"/>
          <p:cNvGrpSpPr/>
          <p:nvPr/>
        </p:nvGrpSpPr>
        <p:grpSpPr>
          <a:xfrm>
            <a:off x="858329" y="1592668"/>
            <a:ext cx="10541190" cy="1118255"/>
            <a:chOff x="858329" y="1729828"/>
            <a:chExt cx="10541190" cy="1118255"/>
          </a:xfrm>
        </p:grpSpPr>
        <p:sp>
          <p:nvSpPr>
            <p:cNvPr id="40" name="Text Box 11"/>
            <p:cNvSpPr txBox="1">
              <a:spLocks noChangeArrowheads="1"/>
            </p:cNvSpPr>
            <p:nvPr/>
          </p:nvSpPr>
          <p:spPr bwMode="auto">
            <a:xfrm>
              <a:off x="1377800" y="1729828"/>
              <a:ext cx="10021719" cy="11182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lnSpc>
                  <a:spcPts val="4000"/>
                </a:lnSpc>
              </a:pPr>
              <a:r>
                <a:rPr lang="zh-CN" altLang="zh-CN" sz="2800" dirty="0">
                  <a:solidFill>
                    <a:srgbClr val="285A3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扩展二叉树</a:t>
              </a:r>
              <a:r>
                <a:rPr lang="zh-CN" altLang="en-US" sz="28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  <a:r>
                <a:rPr lang="zh-CN" altLang="zh-CN" sz="28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将二叉树中每个结点的</a:t>
              </a:r>
              <a:r>
                <a:rPr lang="zh-CN" altLang="zh-CN" sz="2800" dirty="0">
                  <a:solidFill>
                    <a:srgbClr val="B42D2D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空指针</a:t>
              </a:r>
              <a:r>
                <a:rPr lang="zh-CN" altLang="zh-CN" sz="28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引出一个虚结点，其值为一特定</a:t>
              </a:r>
              <a:r>
                <a:rPr lang="zh-CN" altLang="zh-CN" sz="2800" dirty="0" smtClean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值如</a:t>
              </a:r>
              <a:r>
                <a:rPr lang="en-US" altLang="zh-CN" sz="2800" dirty="0" smtClean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'#'</a:t>
              </a:r>
              <a:endPara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6" name="Group 67"/>
            <p:cNvGrpSpPr/>
            <p:nvPr/>
          </p:nvGrpSpPr>
          <p:grpSpPr>
            <a:xfrm>
              <a:off x="858329" y="1779647"/>
              <a:ext cx="432000" cy="432000"/>
              <a:chOff x="10115551" y="5634038"/>
              <a:chExt cx="577850" cy="576263"/>
            </a:xfrm>
            <a:solidFill>
              <a:srgbClr val="5A327D"/>
            </a:solidFill>
          </p:grpSpPr>
          <p:sp>
            <p:nvSpPr>
              <p:cNvPr id="47" name="Freeform 13"/>
              <p:cNvSpPr/>
              <p:nvPr/>
            </p:nvSpPr>
            <p:spPr bwMode="auto">
              <a:xfrm>
                <a:off x="10177463" y="5634038"/>
                <a:ext cx="515938" cy="517525"/>
              </a:xfrm>
              <a:custGeom>
                <a:avLst/>
                <a:gdLst>
                  <a:gd name="T0" fmla="*/ 174 w 176"/>
                  <a:gd name="T1" fmla="*/ 61 h 176"/>
                  <a:gd name="T2" fmla="*/ 115 w 176"/>
                  <a:gd name="T3" fmla="*/ 2 h 176"/>
                  <a:gd name="T4" fmla="*/ 110 w 176"/>
                  <a:gd name="T5" fmla="*/ 2 h 176"/>
                  <a:gd name="T6" fmla="*/ 91 w 176"/>
                  <a:gd name="T7" fmla="*/ 20 h 176"/>
                  <a:gd name="T8" fmla="*/ 90 w 176"/>
                  <a:gd name="T9" fmla="*/ 23 h 176"/>
                  <a:gd name="T10" fmla="*/ 91 w 176"/>
                  <a:gd name="T11" fmla="*/ 26 h 176"/>
                  <a:gd name="T12" fmla="*/ 96 w 176"/>
                  <a:gd name="T13" fmla="*/ 31 h 176"/>
                  <a:gd name="T14" fmla="*/ 69 w 176"/>
                  <a:gd name="T15" fmla="*/ 58 h 176"/>
                  <a:gd name="T16" fmla="*/ 50 w 176"/>
                  <a:gd name="T17" fmla="*/ 56 h 176"/>
                  <a:gd name="T18" fmla="*/ 1 w 176"/>
                  <a:gd name="T19" fmla="*/ 76 h 176"/>
                  <a:gd name="T20" fmla="*/ 1 w 176"/>
                  <a:gd name="T21" fmla="*/ 82 h 176"/>
                  <a:gd name="T22" fmla="*/ 94 w 176"/>
                  <a:gd name="T23" fmla="*/ 175 h 176"/>
                  <a:gd name="T24" fmla="*/ 97 w 176"/>
                  <a:gd name="T25" fmla="*/ 176 h 176"/>
                  <a:gd name="T26" fmla="*/ 100 w 176"/>
                  <a:gd name="T27" fmla="*/ 175 h 176"/>
                  <a:gd name="T28" fmla="*/ 118 w 176"/>
                  <a:gd name="T29" fmla="*/ 107 h 176"/>
                  <a:gd name="T30" fmla="*/ 145 w 176"/>
                  <a:gd name="T31" fmla="*/ 80 h 176"/>
                  <a:gd name="T32" fmla="*/ 150 w 176"/>
                  <a:gd name="T33" fmla="*/ 85 h 176"/>
                  <a:gd name="T34" fmla="*/ 156 w 176"/>
                  <a:gd name="T35" fmla="*/ 85 h 176"/>
                  <a:gd name="T36" fmla="*/ 174 w 176"/>
                  <a:gd name="T37" fmla="*/ 66 h 176"/>
                  <a:gd name="T38" fmla="*/ 176 w 176"/>
                  <a:gd name="T39" fmla="*/ 63 h 176"/>
                  <a:gd name="T40" fmla="*/ 174 w 176"/>
                  <a:gd name="T41" fmla="*/ 61 h 1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76" h="176">
                    <a:moveTo>
                      <a:pt x="174" y="61"/>
                    </a:moveTo>
                    <a:cubicBezTo>
                      <a:pt x="115" y="2"/>
                      <a:pt x="115" y="2"/>
                      <a:pt x="115" y="2"/>
                    </a:cubicBezTo>
                    <a:cubicBezTo>
                      <a:pt x="114" y="0"/>
                      <a:pt x="111" y="0"/>
                      <a:pt x="110" y="2"/>
                    </a:cubicBezTo>
                    <a:cubicBezTo>
                      <a:pt x="91" y="20"/>
                      <a:pt x="91" y="20"/>
                      <a:pt x="91" y="20"/>
                    </a:cubicBezTo>
                    <a:cubicBezTo>
                      <a:pt x="90" y="21"/>
                      <a:pt x="90" y="22"/>
                      <a:pt x="90" y="23"/>
                    </a:cubicBezTo>
                    <a:cubicBezTo>
                      <a:pt x="90" y="24"/>
                      <a:pt x="90" y="25"/>
                      <a:pt x="91" y="26"/>
                    </a:cubicBezTo>
                    <a:cubicBezTo>
                      <a:pt x="96" y="31"/>
                      <a:pt x="96" y="31"/>
                      <a:pt x="96" y="31"/>
                    </a:cubicBezTo>
                    <a:cubicBezTo>
                      <a:pt x="69" y="58"/>
                      <a:pt x="69" y="58"/>
                      <a:pt x="69" y="58"/>
                    </a:cubicBezTo>
                    <a:cubicBezTo>
                      <a:pt x="63" y="57"/>
                      <a:pt x="57" y="56"/>
                      <a:pt x="50" y="56"/>
                    </a:cubicBezTo>
                    <a:cubicBezTo>
                      <a:pt x="32" y="56"/>
                      <a:pt x="14" y="63"/>
                      <a:pt x="1" y="76"/>
                    </a:cubicBezTo>
                    <a:cubicBezTo>
                      <a:pt x="0" y="78"/>
                      <a:pt x="0" y="80"/>
                      <a:pt x="1" y="82"/>
                    </a:cubicBezTo>
                    <a:cubicBezTo>
                      <a:pt x="94" y="175"/>
                      <a:pt x="94" y="175"/>
                      <a:pt x="94" y="175"/>
                    </a:cubicBezTo>
                    <a:cubicBezTo>
                      <a:pt x="95" y="175"/>
                      <a:pt x="96" y="176"/>
                      <a:pt x="97" y="176"/>
                    </a:cubicBezTo>
                    <a:cubicBezTo>
                      <a:pt x="98" y="176"/>
                      <a:pt x="99" y="175"/>
                      <a:pt x="100" y="175"/>
                    </a:cubicBezTo>
                    <a:cubicBezTo>
                      <a:pt x="117" y="157"/>
                      <a:pt x="124" y="131"/>
                      <a:pt x="118" y="107"/>
                    </a:cubicBezTo>
                    <a:cubicBezTo>
                      <a:pt x="145" y="80"/>
                      <a:pt x="145" y="80"/>
                      <a:pt x="145" y="80"/>
                    </a:cubicBezTo>
                    <a:cubicBezTo>
                      <a:pt x="150" y="85"/>
                      <a:pt x="150" y="85"/>
                      <a:pt x="150" y="85"/>
                    </a:cubicBezTo>
                    <a:cubicBezTo>
                      <a:pt x="152" y="86"/>
                      <a:pt x="154" y="86"/>
                      <a:pt x="156" y="85"/>
                    </a:cubicBezTo>
                    <a:cubicBezTo>
                      <a:pt x="174" y="66"/>
                      <a:pt x="174" y="66"/>
                      <a:pt x="174" y="66"/>
                    </a:cubicBezTo>
                    <a:cubicBezTo>
                      <a:pt x="175" y="65"/>
                      <a:pt x="176" y="64"/>
                      <a:pt x="176" y="63"/>
                    </a:cubicBezTo>
                    <a:cubicBezTo>
                      <a:pt x="176" y="62"/>
                      <a:pt x="175" y="61"/>
                      <a:pt x="174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8" name="Freeform 14"/>
              <p:cNvSpPr/>
              <p:nvPr/>
            </p:nvSpPr>
            <p:spPr bwMode="auto">
              <a:xfrm>
                <a:off x="10115551" y="5983288"/>
                <a:ext cx="228600" cy="227013"/>
              </a:xfrm>
              <a:custGeom>
                <a:avLst/>
                <a:gdLst>
                  <a:gd name="T0" fmla="*/ 7 w 78"/>
                  <a:gd name="T1" fmla="*/ 77 h 77"/>
                  <a:gd name="T2" fmla="*/ 2 w 78"/>
                  <a:gd name="T3" fmla="*/ 76 h 77"/>
                  <a:gd name="T4" fmla="*/ 2 w 78"/>
                  <a:gd name="T5" fmla="*/ 67 h 77"/>
                  <a:gd name="T6" fmla="*/ 67 w 78"/>
                  <a:gd name="T7" fmla="*/ 2 h 77"/>
                  <a:gd name="T8" fmla="*/ 76 w 78"/>
                  <a:gd name="T9" fmla="*/ 2 h 77"/>
                  <a:gd name="T10" fmla="*/ 76 w 78"/>
                  <a:gd name="T11" fmla="*/ 11 h 77"/>
                  <a:gd name="T12" fmla="*/ 11 w 78"/>
                  <a:gd name="T13" fmla="*/ 76 h 77"/>
                  <a:gd name="T14" fmla="*/ 7 w 78"/>
                  <a:gd name="T15" fmla="*/ 7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8" h="77">
                    <a:moveTo>
                      <a:pt x="7" y="77"/>
                    </a:moveTo>
                    <a:cubicBezTo>
                      <a:pt x="5" y="77"/>
                      <a:pt x="3" y="77"/>
                      <a:pt x="2" y="76"/>
                    </a:cubicBezTo>
                    <a:cubicBezTo>
                      <a:pt x="0" y="73"/>
                      <a:pt x="0" y="70"/>
                      <a:pt x="2" y="67"/>
                    </a:cubicBezTo>
                    <a:cubicBezTo>
                      <a:pt x="67" y="2"/>
                      <a:pt x="67" y="2"/>
                      <a:pt x="67" y="2"/>
                    </a:cubicBezTo>
                    <a:cubicBezTo>
                      <a:pt x="70" y="0"/>
                      <a:pt x="73" y="0"/>
                      <a:pt x="76" y="2"/>
                    </a:cubicBezTo>
                    <a:cubicBezTo>
                      <a:pt x="78" y="5"/>
                      <a:pt x="78" y="8"/>
                      <a:pt x="76" y="11"/>
                    </a:cubicBezTo>
                    <a:cubicBezTo>
                      <a:pt x="11" y="76"/>
                      <a:pt x="11" y="76"/>
                      <a:pt x="11" y="76"/>
                    </a:cubicBezTo>
                    <a:cubicBezTo>
                      <a:pt x="10" y="77"/>
                      <a:pt x="8" y="77"/>
                      <a:pt x="7" y="7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grpSp>
        <p:nvGrpSpPr>
          <p:cNvPr id="7" name="组合 8"/>
          <p:cNvGrpSpPr/>
          <p:nvPr/>
        </p:nvGrpSpPr>
        <p:grpSpPr>
          <a:xfrm>
            <a:off x="7707748" y="2319603"/>
            <a:ext cx="2029024" cy="2204532"/>
            <a:chOff x="7707748" y="2319603"/>
            <a:chExt cx="2029024" cy="2204532"/>
          </a:xfrm>
          <a:solidFill>
            <a:srgbClr val="B4B4BE"/>
          </a:solidFill>
        </p:grpSpPr>
        <p:sp>
          <p:nvSpPr>
            <p:cNvPr id="50" name="Line 25"/>
            <p:cNvSpPr>
              <a:spLocks noChangeShapeType="1"/>
            </p:cNvSpPr>
            <p:nvPr/>
          </p:nvSpPr>
          <p:spPr bwMode="auto">
            <a:xfrm flipH="1">
              <a:off x="8071602" y="2656153"/>
              <a:ext cx="511175" cy="540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51" name="Line 26"/>
            <p:cNvSpPr>
              <a:spLocks noChangeShapeType="1"/>
            </p:cNvSpPr>
            <p:nvPr/>
          </p:nvSpPr>
          <p:spPr bwMode="auto">
            <a:xfrm>
              <a:off x="8955840" y="2656152"/>
              <a:ext cx="432000" cy="540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52" name="Line 28"/>
            <p:cNvSpPr>
              <a:spLocks noChangeShapeType="1"/>
            </p:cNvSpPr>
            <p:nvPr/>
          </p:nvSpPr>
          <p:spPr bwMode="auto">
            <a:xfrm>
              <a:off x="8041122" y="3522173"/>
              <a:ext cx="324000" cy="612000"/>
            </a:xfrm>
            <a:prstGeom prst="line">
              <a:avLst/>
            </a:prstGeom>
            <a:grpFill/>
            <a:ln w="38100">
              <a:solidFill>
                <a:srgbClr val="285A32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53" name="Oval 37"/>
            <p:cNvSpPr>
              <a:spLocks noChangeArrowheads="1"/>
            </p:cNvSpPr>
            <p:nvPr/>
          </p:nvSpPr>
          <p:spPr bwMode="auto">
            <a:xfrm>
              <a:off x="8563093" y="2319603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Oval 37"/>
            <p:cNvSpPr>
              <a:spLocks noChangeArrowheads="1"/>
            </p:cNvSpPr>
            <p:nvPr/>
          </p:nvSpPr>
          <p:spPr bwMode="auto">
            <a:xfrm>
              <a:off x="9304772" y="3135894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Oval 37"/>
            <p:cNvSpPr>
              <a:spLocks noChangeArrowheads="1"/>
            </p:cNvSpPr>
            <p:nvPr/>
          </p:nvSpPr>
          <p:spPr bwMode="auto">
            <a:xfrm>
              <a:off x="7707748" y="3135894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Oval 37"/>
            <p:cNvSpPr>
              <a:spLocks noChangeArrowheads="1"/>
            </p:cNvSpPr>
            <p:nvPr/>
          </p:nvSpPr>
          <p:spPr bwMode="auto">
            <a:xfrm>
              <a:off x="8261723" y="4092135"/>
              <a:ext cx="432000" cy="432000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7143668" y="3525002"/>
            <a:ext cx="3162264" cy="1932322"/>
            <a:chOff x="7143668" y="3403082"/>
            <a:chExt cx="3162264" cy="1932322"/>
          </a:xfrm>
        </p:grpSpPr>
        <p:sp>
          <p:nvSpPr>
            <p:cNvPr id="57" name="Line 25"/>
            <p:cNvSpPr>
              <a:spLocks noChangeShapeType="1"/>
            </p:cNvSpPr>
            <p:nvPr/>
          </p:nvSpPr>
          <p:spPr bwMode="auto">
            <a:xfrm flipH="1">
              <a:off x="7468986" y="3403082"/>
              <a:ext cx="324000" cy="576000"/>
            </a:xfrm>
            <a:prstGeom prst="line">
              <a:avLst/>
            </a:prstGeom>
            <a:noFill/>
            <a:ln w="38100">
              <a:solidFill>
                <a:srgbClr val="5A327D"/>
              </a:solidFill>
              <a:prstDash val="sys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58" name="Oval 37"/>
            <p:cNvSpPr>
              <a:spLocks noChangeArrowheads="1"/>
            </p:cNvSpPr>
            <p:nvPr/>
          </p:nvSpPr>
          <p:spPr bwMode="auto">
            <a:xfrm>
              <a:off x="7143668" y="3943784"/>
              <a:ext cx="432000" cy="432000"/>
            </a:xfrm>
            <a:prstGeom prst="ellipse">
              <a:avLst/>
            </a:prstGeom>
            <a:noFill/>
            <a:ln w="28575">
              <a:solidFill>
                <a:srgbClr val="5A32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#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Line 25"/>
            <p:cNvSpPr>
              <a:spLocks noChangeShapeType="1"/>
            </p:cNvSpPr>
            <p:nvPr/>
          </p:nvSpPr>
          <p:spPr bwMode="auto">
            <a:xfrm flipH="1">
              <a:off x="8049694" y="4356738"/>
              <a:ext cx="324000" cy="576000"/>
            </a:xfrm>
            <a:prstGeom prst="line">
              <a:avLst/>
            </a:prstGeom>
            <a:noFill/>
            <a:ln w="38100">
              <a:solidFill>
                <a:srgbClr val="5A327D"/>
              </a:solidFill>
              <a:prstDash val="sys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60" name="Oval 37"/>
            <p:cNvSpPr>
              <a:spLocks noChangeArrowheads="1"/>
            </p:cNvSpPr>
            <p:nvPr/>
          </p:nvSpPr>
          <p:spPr bwMode="auto">
            <a:xfrm>
              <a:off x="7724376" y="4897440"/>
              <a:ext cx="432000" cy="432000"/>
            </a:xfrm>
            <a:prstGeom prst="ellipse">
              <a:avLst/>
            </a:prstGeom>
            <a:noFill/>
            <a:ln w="28575">
              <a:solidFill>
                <a:srgbClr val="5A32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#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Line 25"/>
            <p:cNvSpPr>
              <a:spLocks noChangeShapeType="1"/>
            </p:cNvSpPr>
            <p:nvPr/>
          </p:nvSpPr>
          <p:spPr bwMode="auto">
            <a:xfrm flipH="1">
              <a:off x="9105999" y="3432617"/>
              <a:ext cx="324000" cy="576000"/>
            </a:xfrm>
            <a:prstGeom prst="line">
              <a:avLst/>
            </a:prstGeom>
            <a:noFill/>
            <a:ln w="38100">
              <a:solidFill>
                <a:srgbClr val="5A327D"/>
              </a:solidFill>
              <a:prstDash val="sys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62" name="Oval 37"/>
            <p:cNvSpPr>
              <a:spLocks noChangeArrowheads="1"/>
            </p:cNvSpPr>
            <p:nvPr/>
          </p:nvSpPr>
          <p:spPr bwMode="auto">
            <a:xfrm>
              <a:off x="8780681" y="3973319"/>
              <a:ext cx="432000" cy="432000"/>
            </a:xfrm>
            <a:prstGeom prst="ellipse">
              <a:avLst/>
            </a:prstGeom>
            <a:noFill/>
            <a:ln w="28575">
              <a:solidFill>
                <a:srgbClr val="5A32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#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Oval 37"/>
            <p:cNvSpPr>
              <a:spLocks noChangeArrowheads="1"/>
            </p:cNvSpPr>
            <p:nvPr/>
          </p:nvSpPr>
          <p:spPr bwMode="auto">
            <a:xfrm>
              <a:off x="9873932" y="3994319"/>
              <a:ext cx="432000" cy="432000"/>
            </a:xfrm>
            <a:prstGeom prst="ellipse">
              <a:avLst/>
            </a:prstGeom>
            <a:noFill/>
            <a:ln w="28575">
              <a:solidFill>
                <a:srgbClr val="5A32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#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Line 25"/>
            <p:cNvSpPr>
              <a:spLocks noChangeShapeType="1"/>
            </p:cNvSpPr>
            <p:nvPr/>
          </p:nvSpPr>
          <p:spPr bwMode="auto">
            <a:xfrm flipH="1" flipV="1">
              <a:off x="9639784" y="3447653"/>
              <a:ext cx="324000" cy="576000"/>
            </a:xfrm>
            <a:prstGeom prst="line">
              <a:avLst/>
            </a:prstGeom>
            <a:noFill/>
            <a:ln w="38100">
              <a:solidFill>
                <a:srgbClr val="5A327D"/>
              </a:solidFill>
              <a:prstDash val="sys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66" name="Oval 37"/>
            <p:cNvSpPr>
              <a:spLocks noChangeArrowheads="1"/>
            </p:cNvSpPr>
            <p:nvPr/>
          </p:nvSpPr>
          <p:spPr bwMode="auto">
            <a:xfrm>
              <a:off x="8810224" y="4903404"/>
              <a:ext cx="432000" cy="432000"/>
            </a:xfrm>
            <a:prstGeom prst="ellipse">
              <a:avLst/>
            </a:prstGeom>
            <a:noFill/>
            <a:ln w="28575">
              <a:solidFill>
                <a:srgbClr val="5A32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#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Line 25"/>
            <p:cNvSpPr>
              <a:spLocks noChangeShapeType="1"/>
            </p:cNvSpPr>
            <p:nvPr/>
          </p:nvSpPr>
          <p:spPr bwMode="auto">
            <a:xfrm flipH="1" flipV="1">
              <a:off x="8576076" y="4356738"/>
              <a:ext cx="324000" cy="576000"/>
            </a:xfrm>
            <a:prstGeom prst="line">
              <a:avLst/>
            </a:prstGeom>
            <a:noFill/>
            <a:ln w="38100">
              <a:solidFill>
                <a:srgbClr val="5A327D"/>
              </a:solidFill>
              <a:prstDash val="sys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</p:grpSp>
      <p:sp>
        <p:nvSpPr>
          <p:cNvPr id="46" name="Rounded Rectangle 10"/>
          <p:cNvSpPr/>
          <p:nvPr/>
        </p:nvSpPr>
        <p:spPr>
          <a:xfrm>
            <a:off x="542923" y="100964"/>
            <a:ext cx="3240000" cy="540000"/>
          </a:xfrm>
          <a:prstGeom prst="roundRect">
            <a:avLst/>
          </a:prstGeom>
          <a:solidFill>
            <a:srgbClr val="5A32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Text Box 2"/>
          <p:cNvSpPr txBox="1">
            <a:spLocks noChangeArrowheads="1"/>
          </p:cNvSpPr>
          <p:nvPr/>
        </p:nvSpPr>
        <p:spPr bwMode="auto">
          <a:xfrm>
            <a:off x="638168" y="61585"/>
            <a:ext cx="323279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</a:t>
            </a:r>
            <a:r>
              <a:rPr lang="zh-CN" altLang="en-US" sz="3200" b="1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叉</a:t>
            </a:r>
            <a:r>
              <a:rPr lang="zh-CN" altLang="en-US" sz="3200" b="1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链表的建立</a:t>
            </a:r>
            <a:endParaRPr lang="zh-CN" altLang="en-US" sz="32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ounded Rectangle 10"/>
          <p:cNvSpPr/>
          <p:nvPr/>
        </p:nvSpPr>
        <p:spPr>
          <a:xfrm>
            <a:off x="542923" y="100964"/>
            <a:ext cx="3240000" cy="540000"/>
          </a:xfrm>
          <a:prstGeom prst="roundRect">
            <a:avLst/>
          </a:prstGeom>
          <a:solidFill>
            <a:srgbClr val="5A32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Text Box 2"/>
          <p:cNvSpPr txBox="1">
            <a:spLocks noChangeArrowheads="1"/>
          </p:cNvSpPr>
          <p:nvPr/>
        </p:nvSpPr>
        <p:spPr bwMode="auto">
          <a:xfrm>
            <a:off x="638168" y="61585"/>
            <a:ext cx="323279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</a:t>
            </a:r>
            <a:r>
              <a:rPr lang="zh-CN" altLang="en-US" sz="3200" b="1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叉</a:t>
            </a:r>
            <a:r>
              <a:rPr lang="zh-CN" altLang="en-US" sz="3200" b="1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链表的建立</a:t>
            </a:r>
            <a:endParaRPr lang="zh-CN" altLang="en-US" sz="32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49" name="Rectangle 1"/>
          <p:cNvSpPr>
            <a:spLocks noChangeArrowheads="1"/>
          </p:cNvSpPr>
          <p:nvPr/>
        </p:nvSpPr>
        <p:spPr bwMode="auto">
          <a:xfrm>
            <a:off x="792480" y="860256"/>
            <a:ext cx="10424160" cy="4893647"/>
          </a:xfrm>
          <a:prstGeom prst="rect">
            <a:avLst/>
          </a:prstGeom>
          <a:noFill/>
          <a:ln w="9525">
            <a:solidFill>
              <a:srgbClr val="285A32"/>
            </a:solidFill>
            <a:prstDash val="dash"/>
            <a:miter lim="800000"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template &lt;</a:t>
            </a:r>
            <a:r>
              <a:rPr kumimoji="0" lang="en-US" altLang="zh-CN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typename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DataType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endParaRPr kumimoji="0" lang="en-US" altLang="zh-CN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BiNode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kumimoji="0" lang="en-US" altLang="zh-CN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DataType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 *</a:t>
            </a:r>
            <a:r>
              <a:rPr kumimoji="0" lang="en-US" altLang="zh-CN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BiTree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kumimoji="0" lang="en-US" altLang="zh-CN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DataType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 :: </a:t>
            </a:r>
            <a:r>
              <a:rPr kumimoji="0" lang="en-US" altLang="zh-CN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Creat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BiNode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kumimoji="0" lang="en-US" altLang="zh-CN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DataType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 *</a:t>
            </a:r>
            <a:r>
              <a:rPr kumimoji="0" lang="en-US" altLang="zh-CN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bt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kumimoji="0" lang="en-US" altLang="zh-CN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endParaRPr kumimoji="0" lang="en-US" altLang="zh-CN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char </a:t>
            </a:r>
            <a:r>
              <a:rPr kumimoji="0" lang="en-US" altLang="zh-CN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ch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kumimoji="0" lang="en-US" altLang="zh-CN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kumimoji="0" lang="en-US" altLang="zh-CN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cin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&gt;&gt; </a:t>
            </a:r>
            <a:r>
              <a:rPr kumimoji="0" lang="en-US" altLang="zh-CN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ch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                 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    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//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输入结点的数据信息，假设为字符</a:t>
            </a:r>
            <a:endParaRPr kumimoji="0" lang="zh-CN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rgbClr val="B42D2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rgbClr val="B42D2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if (</a:t>
            </a:r>
            <a:r>
              <a:rPr kumimoji="0" lang="en-US" altLang="zh-CN" sz="2400" b="0" i="0" u="none" strike="noStrike" cap="none" normalizeH="0" baseline="0" dirty="0" err="1" smtClean="0">
                <a:ln>
                  <a:noFill/>
                </a:ln>
                <a:solidFill>
                  <a:srgbClr val="B42D2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ch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rgbClr val="B42D2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== ‘#’) </a:t>
            </a:r>
            <a:r>
              <a:rPr kumimoji="0" lang="en-US" altLang="zh-CN" sz="2400" b="0" i="0" u="none" strike="noStrike" cap="none" normalizeH="0" baseline="0" dirty="0" err="1" smtClean="0">
                <a:ln>
                  <a:noFill/>
                </a:ln>
                <a:solidFill>
                  <a:srgbClr val="B42D2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bt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rgbClr val="B42D2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kumimoji="0" lang="en-US" altLang="zh-CN" sz="2400" b="0" i="0" u="none" strike="noStrike" cap="none" normalizeH="0" baseline="0" dirty="0" err="1" smtClean="0">
                <a:ln>
                  <a:noFill/>
                </a:ln>
                <a:solidFill>
                  <a:srgbClr val="B42D2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nullptr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rgbClr val="B42D2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         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rgbClr val="B42D2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rgbClr val="B42D2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rgbClr val="B42D2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rgbClr val="B42D2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//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rgbClr val="B42D2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建立一棵空树</a:t>
            </a:r>
            <a:endParaRPr kumimoji="0" lang="zh-CN" altLang="en-US" sz="2400" b="0" i="0" u="none" strike="noStrike" cap="none" normalizeH="0" baseline="0" dirty="0" smtClean="0">
              <a:ln>
                <a:noFill/>
              </a:ln>
              <a:solidFill>
                <a:srgbClr val="B42D2D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else {</a:t>
            </a:r>
            <a:endParaRPr kumimoji="0" lang="en-US" altLang="zh-CN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</a:t>
            </a:r>
            <a:r>
              <a:rPr kumimoji="0" lang="en-US" altLang="zh-CN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bt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new </a:t>
            </a:r>
            <a:r>
              <a:rPr kumimoji="0" lang="en-US" altLang="zh-CN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BiNode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kumimoji="0" lang="en-US" altLang="zh-CN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DataType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&gt;;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bt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-&gt;data = </a:t>
            </a:r>
            <a:r>
              <a:rPr kumimoji="0" lang="en-US" altLang="zh-CN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ch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        </a:t>
            </a:r>
            <a:endParaRPr kumimoji="0" lang="en-US" altLang="zh-CN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rgbClr val="B42D2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</a:t>
            </a:r>
            <a:r>
              <a:rPr kumimoji="0" lang="en-US" altLang="zh-CN" sz="2400" b="0" i="0" u="none" strike="noStrike" cap="none" normalizeH="0" baseline="0" dirty="0" err="1" smtClean="0">
                <a:ln>
                  <a:noFill/>
                </a:ln>
                <a:solidFill>
                  <a:srgbClr val="B42D2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bt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rgbClr val="B42D2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-&gt;</a:t>
            </a:r>
            <a:r>
              <a:rPr kumimoji="0" lang="en-US" altLang="zh-CN" sz="2400" b="0" i="0" u="none" strike="noStrike" cap="none" normalizeH="0" baseline="0" dirty="0" err="1" smtClean="0">
                <a:ln>
                  <a:noFill/>
                </a:ln>
                <a:solidFill>
                  <a:srgbClr val="B42D2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lchild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rgbClr val="B42D2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kumimoji="0" lang="en-US" altLang="zh-CN" sz="2400" b="0" i="0" u="none" strike="noStrike" cap="none" normalizeH="0" baseline="0" dirty="0" err="1" smtClean="0">
                <a:ln>
                  <a:noFill/>
                </a:ln>
                <a:solidFill>
                  <a:srgbClr val="B42D2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Creat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rgbClr val="B42D2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400" b="0" i="0" u="none" strike="noStrike" cap="none" normalizeH="0" baseline="0" dirty="0" err="1" smtClean="0">
                <a:ln>
                  <a:noFill/>
                </a:ln>
                <a:solidFill>
                  <a:srgbClr val="B42D2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bt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rgbClr val="B42D2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-&gt;</a:t>
            </a:r>
            <a:r>
              <a:rPr kumimoji="0" lang="en-US" altLang="zh-CN" sz="2400" b="0" i="0" u="none" strike="noStrike" cap="none" normalizeH="0" baseline="0" dirty="0" err="1" smtClean="0">
                <a:ln>
                  <a:noFill/>
                </a:ln>
                <a:solidFill>
                  <a:srgbClr val="B42D2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lchild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rgbClr val="B42D2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);          //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rgbClr val="B42D2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递归建立左子树</a:t>
            </a:r>
            <a:endParaRPr kumimoji="0" lang="zh-CN" altLang="en-US" sz="2400" b="0" i="0" u="none" strike="noStrike" cap="none" normalizeH="0" baseline="0" dirty="0" smtClean="0">
              <a:ln>
                <a:noFill/>
              </a:ln>
              <a:solidFill>
                <a:srgbClr val="B42D2D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rgbClr val="B42D2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</a:t>
            </a:r>
            <a:r>
              <a:rPr kumimoji="0" lang="en-US" altLang="zh-CN" sz="2400" b="0" i="0" u="none" strike="noStrike" cap="none" normalizeH="0" baseline="0" dirty="0" err="1" smtClean="0">
                <a:ln>
                  <a:noFill/>
                </a:ln>
                <a:solidFill>
                  <a:srgbClr val="B42D2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bt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rgbClr val="B42D2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-&gt;</a:t>
            </a:r>
            <a:r>
              <a:rPr kumimoji="0" lang="en-US" altLang="zh-CN" sz="2400" b="0" i="0" u="none" strike="noStrike" cap="none" normalizeH="0" baseline="0" dirty="0" err="1" smtClean="0">
                <a:ln>
                  <a:noFill/>
                </a:ln>
                <a:solidFill>
                  <a:srgbClr val="B42D2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rchild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rgbClr val="B42D2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kumimoji="0" lang="en-US" altLang="zh-CN" sz="2400" b="0" i="0" u="none" strike="noStrike" cap="none" normalizeH="0" baseline="0" dirty="0" err="1" smtClean="0">
                <a:ln>
                  <a:noFill/>
                </a:ln>
                <a:solidFill>
                  <a:srgbClr val="B42D2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Creat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rgbClr val="B42D2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400" b="0" i="0" u="none" strike="noStrike" cap="none" normalizeH="0" baseline="0" dirty="0" err="1" smtClean="0">
                <a:ln>
                  <a:noFill/>
                </a:ln>
                <a:solidFill>
                  <a:srgbClr val="B42D2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bt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rgbClr val="B42D2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-&gt;</a:t>
            </a:r>
            <a:r>
              <a:rPr kumimoji="0" lang="en-US" altLang="zh-CN" sz="2400" b="0" i="0" u="none" strike="noStrike" cap="none" normalizeH="0" baseline="0" dirty="0" err="1" smtClean="0">
                <a:ln>
                  <a:noFill/>
                </a:ln>
                <a:solidFill>
                  <a:srgbClr val="B42D2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rchild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rgbClr val="B42D2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);          //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rgbClr val="B42D2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递归建立右子树</a:t>
            </a:r>
            <a:endParaRPr kumimoji="0" lang="zh-CN" altLang="en-US" sz="2400" b="0" i="0" u="none" strike="noStrike" cap="none" normalizeH="0" baseline="0" dirty="0" smtClean="0">
              <a:ln>
                <a:noFill/>
              </a:ln>
              <a:solidFill>
                <a:srgbClr val="B42D2D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kumimoji="0" lang="en-US" altLang="zh-CN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return </a:t>
            </a:r>
            <a:r>
              <a:rPr kumimoji="0" lang="en-US" altLang="zh-CN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bt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kumimoji="0" lang="en-US" altLang="zh-CN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kumimoji="0" lang="en-US" altLang="zh-CN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ounded Rectangle 10"/>
          <p:cNvSpPr/>
          <p:nvPr/>
        </p:nvSpPr>
        <p:spPr>
          <a:xfrm>
            <a:off x="542923" y="100964"/>
            <a:ext cx="3240000" cy="540000"/>
          </a:xfrm>
          <a:prstGeom prst="roundRect">
            <a:avLst/>
          </a:prstGeom>
          <a:solidFill>
            <a:srgbClr val="5A32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Text Box 2"/>
          <p:cNvSpPr txBox="1">
            <a:spLocks noChangeArrowheads="1"/>
          </p:cNvSpPr>
          <p:nvPr/>
        </p:nvSpPr>
        <p:spPr bwMode="auto">
          <a:xfrm>
            <a:off x="638168" y="61585"/>
            <a:ext cx="311087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</a:t>
            </a:r>
            <a:r>
              <a:rPr lang="zh-CN" altLang="en-US" sz="3200" b="1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叉</a:t>
            </a:r>
            <a:r>
              <a:rPr lang="zh-CN" altLang="en-US" sz="3200" b="1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链表的销毁</a:t>
            </a:r>
            <a:endParaRPr lang="zh-CN" altLang="en-US" sz="32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" name="组合 6"/>
          <p:cNvGrpSpPr/>
          <p:nvPr/>
        </p:nvGrpSpPr>
        <p:grpSpPr>
          <a:xfrm>
            <a:off x="850350" y="952588"/>
            <a:ext cx="9482370" cy="523220"/>
            <a:chOff x="1826091" y="4148024"/>
            <a:chExt cx="9482370" cy="523220"/>
          </a:xfrm>
        </p:grpSpPr>
        <p:sp>
          <p:nvSpPr>
            <p:cNvPr id="8" name="Text Box 11"/>
            <p:cNvSpPr txBox="1">
              <a:spLocks noChangeArrowheads="1"/>
            </p:cNvSpPr>
            <p:nvPr/>
          </p:nvSpPr>
          <p:spPr bwMode="auto">
            <a:xfrm>
              <a:off x="2385059" y="4148024"/>
              <a:ext cx="892340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 smtClean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为什么要销毁内存中的二叉链表？</a:t>
              </a:r>
              <a:endParaRPr lang="zh-CN" altLang="en-US"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5" name="Group 31"/>
            <p:cNvGrpSpPr/>
            <p:nvPr/>
          </p:nvGrpSpPr>
          <p:grpSpPr>
            <a:xfrm>
              <a:off x="1826091" y="4213620"/>
              <a:ext cx="465732" cy="432000"/>
              <a:chOff x="8686801" y="2019300"/>
              <a:chExt cx="528638" cy="565150"/>
            </a:xfrm>
            <a:solidFill>
              <a:srgbClr val="5A327D"/>
            </a:solidFill>
          </p:grpSpPr>
          <p:sp>
            <p:nvSpPr>
              <p:cNvPr id="10" name="Freeform 32"/>
              <p:cNvSpPr/>
              <p:nvPr/>
            </p:nvSpPr>
            <p:spPr bwMode="auto">
              <a:xfrm>
                <a:off x="8785226" y="2501900"/>
                <a:ext cx="331788" cy="82550"/>
              </a:xfrm>
              <a:custGeom>
                <a:avLst/>
                <a:gdLst>
                  <a:gd name="T0" fmla="*/ 121 w 122"/>
                  <a:gd name="T1" fmla="*/ 24 h 30"/>
                  <a:gd name="T2" fmla="*/ 107 w 122"/>
                  <a:gd name="T3" fmla="*/ 2 h 30"/>
                  <a:gd name="T4" fmla="*/ 104 w 122"/>
                  <a:gd name="T5" fmla="*/ 0 h 30"/>
                  <a:gd name="T6" fmla="*/ 62 w 122"/>
                  <a:gd name="T7" fmla="*/ 0 h 30"/>
                  <a:gd name="T8" fmla="*/ 60 w 122"/>
                  <a:gd name="T9" fmla="*/ 0 h 30"/>
                  <a:gd name="T10" fmla="*/ 18 w 122"/>
                  <a:gd name="T11" fmla="*/ 0 h 30"/>
                  <a:gd name="T12" fmla="*/ 15 w 122"/>
                  <a:gd name="T13" fmla="*/ 2 h 30"/>
                  <a:gd name="T14" fmla="*/ 1 w 122"/>
                  <a:gd name="T15" fmla="*/ 24 h 30"/>
                  <a:gd name="T16" fmla="*/ 2 w 122"/>
                  <a:gd name="T17" fmla="*/ 29 h 30"/>
                  <a:gd name="T18" fmla="*/ 4 w 122"/>
                  <a:gd name="T19" fmla="*/ 30 h 30"/>
                  <a:gd name="T20" fmla="*/ 8 w 122"/>
                  <a:gd name="T21" fmla="*/ 28 h 30"/>
                  <a:gd name="T22" fmla="*/ 20 w 122"/>
                  <a:gd name="T23" fmla="*/ 8 h 30"/>
                  <a:gd name="T24" fmla="*/ 60 w 122"/>
                  <a:gd name="T25" fmla="*/ 8 h 30"/>
                  <a:gd name="T26" fmla="*/ 62 w 122"/>
                  <a:gd name="T27" fmla="*/ 8 h 30"/>
                  <a:gd name="T28" fmla="*/ 102 w 122"/>
                  <a:gd name="T29" fmla="*/ 8 h 30"/>
                  <a:gd name="T30" fmla="*/ 114 w 122"/>
                  <a:gd name="T31" fmla="*/ 28 h 30"/>
                  <a:gd name="T32" fmla="*/ 118 w 122"/>
                  <a:gd name="T33" fmla="*/ 30 h 30"/>
                  <a:gd name="T34" fmla="*/ 120 w 122"/>
                  <a:gd name="T35" fmla="*/ 29 h 30"/>
                  <a:gd name="T36" fmla="*/ 121 w 122"/>
                  <a:gd name="T37" fmla="*/ 24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2" h="30">
                    <a:moveTo>
                      <a:pt x="121" y="24"/>
                    </a:moveTo>
                    <a:cubicBezTo>
                      <a:pt x="107" y="2"/>
                      <a:pt x="107" y="2"/>
                      <a:pt x="107" y="2"/>
                    </a:cubicBezTo>
                    <a:cubicBezTo>
                      <a:pt x="106" y="1"/>
                      <a:pt x="105" y="0"/>
                      <a:pt x="104" y="0"/>
                    </a:cubicBezTo>
                    <a:cubicBezTo>
                      <a:pt x="62" y="0"/>
                      <a:pt x="62" y="0"/>
                      <a:pt x="62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7" y="0"/>
                      <a:pt x="15" y="1"/>
                      <a:pt x="15" y="2"/>
                    </a:cubicBezTo>
                    <a:cubicBezTo>
                      <a:pt x="1" y="24"/>
                      <a:pt x="1" y="24"/>
                      <a:pt x="1" y="24"/>
                    </a:cubicBezTo>
                    <a:cubicBezTo>
                      <a:pt x="0" y="26"/>
                      <a:pt x="0" y="28"/>
                      <a:pt x="2" y="29"/>
                    </a:cubicBezTo>
                    <a:cubicBezTo>
                      <a:pt x="3" y="30"/>
                      <a:pt x="3" y="30"/>
                      <a:pt x="4" y="30"/>
                    </a:cubicBezTo>
                    <a:cubicBezTo>
                      <a:pt x="6" y="30"/>
                      <a:pt x="7" y="29"/>
                      <a:pt x="8" y="28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60" y="8"/>
                      <a:pt x="60" y="8"/>
                      <a:pt x="60" y="8"/>
                    </a:cubicBezTo>
                    <a:cubicBezTo>
                      <a:pt x="62" y="8"/>
                      <a:pt x="62" y="8"/>
                      <a:pt x="62" y="8"/>
                    </a:cubicBezTo>
                    <a:cubicBezTo>
                      <a:pt x="102" y="8"/>
                      <a:pt x="102" y="8"/>
                      <a:pt x="102" y="8"/>
                    </a:cubicBezTo>
                    <a:cubicBezTo>
                      <a:pt x="114" y="28"/>
                      <a:pt x="114" y="28"/>
                      <a:pt x="114" y="28"/>
                    </a:cubicBezTo>
                    <a:cubicBezTo>
                      <a:pt x="115" y="29"/>
                      <a:pt x="116" y="30"/>
                      <a:pt x="118" y="30"/>
                    </a:cubicBezTo>
                    <a:cubicBezTo>
                      <a:pt x="118" y="30"/>
                      <a:pt x="119" y="30"/>
                      <a:pt x="120" y="29"/>
                    </a:cubicBezTo>
                    <a:cubicBezTo>
                      <a:pt x="122" y="28"/>
                      <a:pt x="122" y="26"/>
                      <a:pt x="121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" name="Freeform 33"/>
              <p:cNvSpPr/>
              <p:nvPr/>
            </p:nvSpPr>
            <p:spPr bwMode="auto">
              <a:xfrm>
                <a:off x="8686801" y="2019300"/>
                <a:ext cx="165100" cy="149225"/>
              </a:xfrm>
              <a:custGeom>
                <a:avLst/>
                <a:gdLst>
                  <a:gd name="T0" fmla="*/ 33 w 61"/>
                  <a:gd name="T1" fmla="*/ 0 h 55"/>
                  <a:gd name="T2" fmla="*/ 0 w 61"/>
                  <a:gd name="T3" fmla="*/ 33 h 55"/>
                  <a:gd name="T4" fmla="*/ 7 w 61"/>
                  <a:gd name="T5" fmla="*/ 54 h 55"/>
                  <a:gd name="T6" fmla="*/ 10 w 61"/>
                  <a:gd name="T7" fmla="*/ 55 h 55"/>
                  <a:gd name="T8" fmla="*/ 13 w 61"/>
                  <a:gd name="T9" fmla="*/ 55 h 55"/>
                  <a:gd name="T10" fmla="*/ 59 w 61"/>
                  <a:gd name="T11" fmla="*/ 19 h 55"/>
                  <a:gd name="T12" fmla="*/ 60 w 61"/>
                  <a:gd name="T13" fmla="*/ 13 h 55"/>
                  <a:gd name="T14" fmla="*/ 33 w 61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55">
                    <a:moveTo>
                      <a:pt x="33" y="0"/>
                    </a:moveTo>
                    <a:cubicBezTo>
                      <a:pt x="15" y="0"/>
                      <a:pt x="0" y="15"/>
                      <a:pt x="0" y="33"/>
                    </a:cubicBezTo>
                    <a:cubicBezTo>
                      <a:pt x="0" y="41"/>
                      <a:pt x="2" y="48"/>
                      <a:pt x="7" y="54"/>
                    </a:cubicBezTo>
                    <a:cubicBezTo>
                      <a:pt x="8" y="55"/>
                      <a:pt x="9" y="55"/>
                      <a:pt x="10" y="55"/>
                    </a:cubicBezTo>
                    <a:cubicBezTo>
                      <a:pt x="11" y="55"/>
                      <a:pt x="12" y="55"/>
                      <a:pt x="13" y="55"/>
                    </a:cubicBezTo>
                    <a:cubicBezTo>
                      <a:pt x="59" y="19"/>
                      <a:pt x="59" y="19"/>
                      <a:pt x="59" y="19"/>
                    </a:cubicBezTo>
                    <a:cubicBezTo>
                      <a:pt x="61" y="17"/>
                      <a:pt x="61" y="15"/>
                      <a:pt x="60" y="13"/>
                    </a:cubicBezTo>
                    <a:cubicBezTo>
                      <a:pt x="54" y="5"/>
                      <a:pt x="44" y="0"/>
                      <a:pt x="3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" name="Freeform 34"/>
              <p:cNvSpPr/>
              <p:nvPr/>
            </p:nvSpPr>
            <p:spPr bwMode="auto">
              <a:xfrm>
                <a:off x="9048751" y="2019300"/>
                <a:ext cx="166688" cy="149225"/>
              </a:xfrm>
              <a:custGeom>
                <a:avLst/>
                <a:gdLst>
                  <a:gd name="T0" fmla="*/ 28 w 61"/>
                  <a:gd name="T1" fmla="*/ 0 h 55"/>
                  <a:gd name="T2" fmla="*/ 1 w 61"/>
                  <a:gd name="T3" fmla="*/ 13 h 55"/>
                  <a:gd name="T4" fmla="*/ 2 w 61"/>
                  <a:gd name="T5" fmla="*/ 19 h 55"/>
                  <a:gd name="T6" fmla="*/ 48 w 61"/>
                  <a:gd name="T7" fmla="*/ 55 h 55"/>
                  <a:gd name="T8" fmla="*/ 51 w 61"/>
                  <a:gd name="T9" fmla="*/ 55 h 55"/>
                  <a:gd name="T10" fmla="*/ 54 w 61"/>
                  <a:gd name="T11" fmla="*/ 54 h 55"/>
                  <a:gd name="T12" fmla="*/ 61 w 61"/>
                  <a:gd name="T13" fmla="*/ 33 h 55"/>
                  <a:gd name="T14" fmla="*/ 28 w 61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1" h="55">
                    <a:moveTo>
                      <a:pt x="28" y="0"/>
                    </a:moveTo>
                    <a:cubicBezTo>
                      <a:pt x="17" y="0"/>
                      <a:pt x="7" y="5"/>
                      <a:pt x="1" y="13"/>
                    </a:cubicBezTo>
                    <a:cubicBezTo>
                      <a:pt x="0" y="15"/>
                      <a:pt x="0" y="17"/>
                      <a:pt x="2" y="19"/>
                    </a:cubicBezTo>
                    <a:cubicBezTo>
                      <a:pt x="48" y="55"/>
                      <a:pt x="48" y="55"/>
                      <a:pt x="48" y="55"/>
                    </a:cubicBezTo>
                    <a:cubicBezTo>
                      <a:pt x="49" y="55"/>
                      <a:pt x="50" y="55"/>
                      <a:pt x="51" y="55"/>
                    </a:cubicBezTo>
                    <a:cubicBezTo>
                      <a:pt x="52" y="55"/>
                      <a:pt x="53" y="55"/>
                      <a:pt x="54" y="54"/>
                    </a:cubicBezTo>
                    <a:cubicBezTo>
                      <a:pt x="58" y="48"/>
                      <a:pt x="61" y="41"/>
                      <a:pt x="61" y="33"/>
                    </a:cubicBezTo>
                    <a:cubicBezTo>
                      <a:pt x="61" y="15"/>
                      <a:pt x="46" y="0"/>
                      <a:pt x="2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" name="Freeform 223"/>
              <p:cNvSpPr>
                <a:spLocks noEditPoints="1"/>
              </p:cNvSpPr>
              <p:nvPr/>
            </p:nvSpPr>
            <p:spPr bwMode="auto">
              <a:xfrm>
                <a:off x="8743951" y="2073275"/>
                <a:ext cx="411163" cy="414338"/>
              </a:xfrm>
              <a:custGeom>
                <a:avLst/>
                <a:gdLst>
                  <a:gd name="T0" fmla="*/ 76 w 151"/>
                  <a:gd name="T1" fmla="*/ 0 h 152"/>
                  <a:gd name="T2" fmla="*/ 0 w 151"/>
                  <a:gd name="T3" fmla="*/ 76 h 152"/>
                  <a:gd name="T4" fmla="*/ 76 w 151"/>
                  <a:gd name="T5" fmla="*/ 152 h 152"/>
                  <a:gd name="T6" fmla="*/ 151 w 151"/>
                  <a:gd name="T7" fmla="*/ 76 h 152"/>
                  <a:gd name="T8" fmla="*/ 76 w 151"/>
                  <a:gd name="T9" fmla="*/ 0 h 152"/>
                  <a:gd name="T10" fmla="*/ 104 w 151"/>
                  <a:gd name="T11" fmla="*/ 82 h 152"/>
                  <a:gd name="T12" fmla="*/ 77 w 151"/>
                  <a:gd name="T13" fmla="*/ 82 h 152"/>
                  <a:gd name="T14" fmla="*/ 71 w 151"/>
                  <a:gd name="T15" fmla="*/ 76 h 152"/>
                  <a:gd name="T16" fmla="*/ 71 w 151"/>
                  <a:gd name="T17" fmla="*/ 24 h 152"/>
                  <a:gd name="T18" fmla="*/ 77 w 151"/>
                  <a:gd name="T19" fmla="*/ 18 h 152"/>
                  <a:gd name="T20" fmla="*/ 83 w 151"/>
                  <a:gd name="T21" fmla="*/ 24 h 152"/>
                  <a:gd name="T22" fmla="*/ 83 w 151"/>
                  <a:gd name="T23" fmla="*/ 70 h 152"/>
                  <a:gd name="T24" fmla="*/ 104 w 151"/>
                  <a:gd name="T25" fmla="*/ 70 h 152"/>
                  <a:gd name="T26" fmla="*/ 110 w 151"/>
                  <a:gd name="T27" fmla="*/ 76 h 152"/>
                  <a:gd name="T28" fmla="*/ 104 w 151"/>
                  <a:gd name="T29" fmla="*/ 82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51" h="152">
                    <a:moveTo>
                      <a:pt x="76" y="0"/>
                    </a:moveTo>
                    <a:cubicBezTo>
                      <a:pt x="34" y="0"/>
                      <a:pt x="0" y="34"/>
                      <a:pt x="0" y="76"/>
                    </a:cubicBezTo>
                    <a:cubicBezTo>
                      <a:pt x="0" y="118"/>
                      <a:pt x="34" y="152"/>
                      <a:pt x="76" y="152"/>
                    </a:cubicBezTo>
                    <a:cubicBezTo>
                      <a:pt x="118" y="152"/>
                      <a:pt x="151" y="118"/>
                      <a:pt x="151" y="76"/>
                    </a:cubicBezTo>
                    <a:cubicBezTo>
                      <a:pt x="151" y="34"/>
                      <a:pt x="118" y="0"/>
                      <a:pt x="76" y="0"/>
                    </a:cubicBezTo>
                    <a:close/>
                    <a:moveTo>
                      <a:pt x="104" y="82"/>
                    </a:moveTo>
                    <a:cubicBezTo>
                      <a:pt x="77" y="82"/>
                      <a:pt x="77" y="82"/>
                      <a:pt x="77" y="82"/>
                    </a:cubicBezTo>
                    <a:cubicBezTo>
                      <a:pt x="73" y="82"/>
                      <a:pt x="71" y="79"/>
                      <a:pt x="71" y="76"/>
                    </a:cubicBezTo>
                    <a:cubicBezTo>
                      <a:pt x="71" y="24"/>
                      <a:pt x="71" y="24"/>
                      <a:pt x="71" y="24"/>
                    </a:cubicBezTo>
                    <a:cubicBezTo>
                      <a:pt x="71" y="21"/>
                      <a:pt x="73" y="18"/>
                      <a:pt x="77" y="18"/>
                    </a:cubicBezTo>
                    <a:cubicBezTo>
                      <a:pt x="80" y="18"/>
                      <a:pt x="83" y="21"/>
                      <a:pt x="83" y="24"/>
                    </a:cubicBezTo>
                    <a:cubicBezTo>
                      <a:pt x="83" y="70"/>
                      <a:pt x="83" y="70"/>
                      <a:pt x="83" y="70"/>
                    </a:cubicBezTo>
                    <a:cubicBezTo>
                      <a:pt x="104" y="70"/>
                      <a:pt x="104" y="70"/>
                      <a:pt x="104" y="70"/>
                    </a:cubicBezTo>
                    <a:cubicBezTo>
                      <a:pt x="107" y="70"/>
                      <a:pt x="110" y="72"/>
                      <a:pt x="110" y="76"/>
                    </a:cubicBezTo>
                    <a:cubicBezTo>
                      <a:pt x="110" y="79"/>
                      <a:pt x="107" y="82"/>
                      <a:pt x="104" y="8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3" name="矩形 2"/>
          <p:cNvSpPr/>
          <p:nvPr/>
        </p:nvSpPr>
        <p:spPr>
          <a:xfrm>
            <a:off x="1163444" y="1565255"/>
            <a:ext cx="10388476" cy="9510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500"/>
              </a:lnSpc>
            </a:pPr>
            <a:r>
              <a:rPr lang="zh-CN" altLang="zh-CN" sz="2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二叉链表是</a:t>
            </a:r>
            <a:r>
              <a:rPr lang="zh-CN" altLang="zh-CN" sz="2400" dirty="0">
                <a:solidFill>
                  <a:srgbClr val="B42D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动态存储分配</a:t>
            </a:r>
            <a:r>
              <a:rPr lang="zh-CN" altLang="zh-CN" sz="2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，二叉链表的结点是在程序运行过程中动态申请的，在二叉链表变量退出作用域前，要释放二叉链表的存储空间</a:t>
            </a:r>
            <a:endParaRPr lang="zh-CN" altLang="en-US" sz="24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084082" y="2642056"/>
            <a:ext cx="8507718" cy="3426579"/>
          </a:xfrm>
          <a:prstGeom prst="rect">
            <a:avLst/>
          </a:prstGeom>
          <a:ln>
            <a:solidFill>
              <a:srgbClr val="5A327D"/>
            </a:solidFill>
            <a:prstDash val="dash"/>
          </a:ln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</a:pP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template &lt;</a:t>
            </a: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typename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DataType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zh-CN" altLang="zh-C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600"/>
              </a:lnSpc>
            </a:pP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BiTree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DataType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 :: Release(</a:t>
            </a: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BiNode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DataType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 *</a:t>
            </a: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bt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600"/>
              </a:lnSpc>
            </a:pP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zh-CN" altLang="zh-C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600"/>
              </a:lnSpc>
            </a:pPr>
            <a:r>
              <a:rPr lang="zh-CN" altLang="en-US" sz="2400" dirty="0" smtClean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2400" dirty="0" smtClean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altLang="zh-CN" sz="2400" dirty="0" smtClean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dirty="0" err="1" smtClean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bt</a:t>
            </a:r>
            <a:r>
              <a:rPr lang="en-US" altLang="zh-CN" sz="2400" dirty="0" smtClean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== </a:t>
            </a:r>
            <a:r>
              <a:rPr lang="en-US" altLang="zh-CN" sz="2400" dirty="0" err="1" smtClean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nullptr</a:t>
            </a:r>
            <a:r>
              <a:rPr lang="en-US" altLang="zh-CN" sz="2400" dirty="0" smtClean="0">
                <a:solidFill>
                  <a:srgbClr val="5C3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return;</a:t>
            </a:r>
            <a:endParaRPr lang="zh-CN" altLang="zh-CN" sz="2400" dirty="0" smtClean="0">
              <a:solidFill>
                <a:srgbClr val="5C307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600"/>
              </a:lnSpc>
            </a:pP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zh-CN" altLang="zh-C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600"/>
              </a:lnSpc>
            </a:pP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altLang="zh-CN" sz="24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Release(</a:t>
            </a:r>
            <a:r>
              <a:rPr lang="en-US" altLang="zh-CN" sz="2400" dirty="0" err="1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bt</a:t>
            </a:r>
            <a:r>
              <a:rPr lang="en-US" altLang="zh-CN" sz="24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4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400" dirty="0" err="1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lchild</a:t>
            </a:r>
            <a:r>
              <a:rPr lang="en-US" altLang="zh-CN" sz="24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            </a:t>
            </a:r>
            <a:r>
              <a:rPr lang="zh-CN" altLang="en-US" sz="24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zh-CN" sz="24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zh-CN" altLang="zh-CN" sz="24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释放左子树</a:t>
            </a:r>
            <a:endParaRPr lang="zh-CN" altLang="zh-CN" sz="2400" dirty="0" smtClean="0">
              <a:solidFill>
                <a:srgbClr val="B42D2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600"/>
              </a:lnSpc>
            </a:pPr>
            <a:r>
              <a:rPr lang="zh-CN" altLang="en-US" sz="24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altLang="zh-CN" sz="24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Release(</a:t>
            </a:r>
            <a:r>
              <a:rPr lang="en-US" altLang="zh-CN" sz="2400" dirty="0" err="1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bt</a:t>
            </a:r>
            <a:r>
              <a:rPr lang="en-US" altLang="zh-CN" sz="24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4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400" dirty="0" err="1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rchild</a:t>
            </a:r>
            <a:r>
              <a:rPr lang="en-US" altLang="zh-CN" sz="24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              </a:t>
            </a:r>
            <a:r>
              <a:rPr lang="zh-CN" altLang="en-US" sz="24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24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zh-CN" altLang="zh-CN" sz="24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释放右子树</a:t>
            </a:r>
            <a:endParaRPr lang="zh-CN" altLang="zh-CN" sz="2400" dirty="0" smtClean="0">
              <a:solidFill>
                <a:srgbClr val="B42D2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600"/>
              </a:lnSpc>
            </a:pPr>
            <a:r>
              <a:rPr lang="zh-CN" altLang="en-US" sz="24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altLang="zh-CN" sz="24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delete </a:t>
            </a:r>
            <a:r>
              <a:rPr lang="en-US" altLang="zh-CN" sz="2400" dirty="0" err="1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bt</a:t>
            </a:r>
            <a:r>
              <a:rPr lang="en-US" altLang="zh-CN" sz="24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                      </a:t>
            </a:r>
            <a:r>
              <a:rPr lang="zh-CN" altLang="en-US" sz="24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altLang="zh-CN" sz="24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24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zh-CN" altLang="zh-CN" sz="2400" dirty="0" smtClean="0">
                <a:solidFill>
                  <a:srgbClr val="B42D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释放根结点</a:t>
            </a:r>
            <a:endParaRPr lang="zh-CN" altLang="zh-CN" sz="2400" dirty="0" smtClean="0">
              <a:solidFill>
                <a:srgbClr val="B42D2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600"/>
              </a:lnSpc>
            </a:pP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zh-C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600"/>
              </a:lnSpc>
            </a:pPr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5133</Words>
  <Application>WPS 演示</Application>
  <PresentationFormat>自定义</PresentationFormat>
  <Paragraphs>790</Paragraphs>
  <Slides>23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4" baseType="lpstr">
      <vt:lpstr>Arial</vt:lpstr>
      <vt:lpstr>宋体</vt:lpstr>
      <vt:lpstr>Wingdings</vt:lpstr>
      <vt:lpstr>微软雅黑</vt:lpstr>
      <vt:lpstr>Microsoft YaHei UI</vt:lpstr>
      <vt:lpstr>黑体</vt:lpstr>
      <vt:lpstr>Times New Roman</vt:lpstr>
      <vt:lpstr>Calibri</vt:lpstr>
      <vt:lpstr>Arial Unicode MS</vt:lpstr>
      <vt:lpstr>Angsana New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Sky123.Org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AutoBVT</dc:creator>
  <cp:lastModifiedBy>红梅花儿开</cp:lastModifiedBy>
  <cp:revision>185</cp:revision>
  <dcterms:created xsi:type="dcterms:W3CDTF">2016-09-14T00:58:00Z</dcterms:created>
  <dcterms:modified xsi:type="dcterms:W3CDTF">2019-06-13T12:52:05Z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2052-11.1.0.8696</vt:lpwstr>
  </property>
</Properties>
</file>
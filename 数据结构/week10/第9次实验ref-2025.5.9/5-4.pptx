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3"/>
    <p:sldId id="266" r:id="rId4"/>
    <p:sldId id="278" r:id="rId5"/>
    <p:sldId id="280" r:id="rId6"/>
    <p:sldId id="279" r:id="rId7"/>
    <p:sldId id="281" r:id="rId8"/>
    <p:sldId id="282" r:id="rId9"/>
    <p:sldId id="283" r:id="rId10"/>
    <p:sldId id="284" r:id="rId11"/>
    <p:sldId id="286" r:id="rId12"/>
    <p:sldId id="287" r:id="rId13"/>
    <p:sldId id="288" r:id="rId14"/>
    <p:sldId id="289" r:id="rId15"/>
    <p:sldId id="290" r:id="rId16"/>
    <p:sldId id="291" r:id="rId17"/>
    <p:sldId id="302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B4BE"/>
    <a:srgbClr val="B42D2D"/>
    <a:srgbClr val="404040"/>
    <a:srgbClr val="507D7D"/>
    <a:srgbClr val="285A32"/>
    <a:srgbClr val="5C307D"/>
    <a:srgbClr val="6E6EAA"/>
    <a:srgbClr val="37B4C3"/>
    <a:srgbClr val="5A327D"/>
    <a:srgbClr val="4196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65" autoAdjust="0"/>
  </p:normalViewPr>
  <p:slideViewPr>
    <p:cSldViewPr snapToGrid="0" showGuides="1">
      <p:cViewPr varScale="1">
        <p:scale>
          <a:sx n="63" d="100"/>
          <a:sy n="63" d="100"/>
        </p:scale>
        <p:origin x="-912" y="-96"/>
      </p:cViewPr>
      <p:guideLst>
        <p:guide orient="horz" pos="2160"/>
        <p:guide pos="38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FB564-F609-4D6A-B7A1-3D4272BF8A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BF65F-D44F-4528-A462-40F60C357A5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" y="0"/>
            <a:ext cx="12190954" cy="6858588"/>
          </a:xfrm>
          <a:prstGeom prst="rect">
            <a:avLst/>
          </a:prstGeom>
        </p:spPr>
      </p:pic>
      <p:sp>
        <p:nvSpPr>
          <p:cNvPr id="8" name="Rectangle 4"/>
          <p:cNvSpPr/>
          <p:nvPr userDrawn="1"/>
        </p:nvSpPr>
        <p:spPr>
          <a:xfrm>
            <a:off x="319020" y="368489"/>
            <a:ext cx="11520000" cy="5760000"/>
          </a:xfrm>
          <a:prstGeom prst="rect">
            <a:avLst/>
          </a:prstGeom>
          <a:noFill/>
          <a:ln w="28575">
            <a:solidFill>
              <a:srgbClr val="5A32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11697188" y="1948934"/>
            <a:ext cx="252000" cy="2639889"/>
            <a:chOff x="11697188" y="1703270"/>
            <a:chExt cx="252000" cy="2639889"/>
          </a:xfrm>
        </p:grpSpPr>
        <p:sp>
          <p:nvSpPr>
            <p:cNvPr id="9" name="Rounded Rectangle 7"/>
            <p:cNvSpPr/>
            <p:nvPr userDrawn="1"/>
          </p:nvSpPr>
          <p:spPr>
            <a:xfrm>
              <a:off x="11697188" y="1703270"/>
              <a:ext cx="252000" cy="2639889"/>
            </a:xfrm>
            <a:prstGeom prst="roundRect">
              <a:avLst/>
            </a:prstGeom>
            <a:solidFill>
              <a:srgbClr val="5A32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11765891" y="1776592"/>
              <a:ext cx="153888" cy="2566567"/>
            </a:xfrm>
            <a:prstGeom prst="rect">
              <a:avLst/>
            </a:prstGeom>
            <a:noFill/>
          </p:spPr>
          <p:txBody>
            <a:bodyPr vert="eaVert" wrap="square" lIns="0" tIns="0" rIns="0" bIns="0" rtlCol="0">
              <a:spAutoFit/>
            </a:bodyPr>
            <a:lstStyle/>
            <a:p>
              <a:r>
                <a:rPr lang="zh-CN" altLang="en-US" sz="1000" kern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数据结构（从概念到实现）  清华大学出版社</a:t>
              </a:r>
              <a:endParaRPr lang="zh-CN" altLang="en-US" sz="100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nip Diagonal Corner Rectangle 12"/>
          <p:cNvSpPr/>
          <p:nvPr/>
        </p:nvSpPr>
        <p:spPr>
          <a:xfrm>
            <a:off x="2931171" y="3899819"/>
            <a:ext cx="6568845" cy="725672"/>
          </a:xfrm>
          <a:prstGeom prst="snip2Diag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81156" y="4011812"/>
            <a:ext cx="565785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5-4-1    </a:t>
            </a:r>
            <a:r>
              <a:rPr lang="zh-CN" altLang="en-US" dirty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二叉树的定义</a:t>
            </a:r>
            <a:endParaRPr lang="zh-CN" alt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40433" y="1998397"/>
            <a:ext cx="7670342" cy="13452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v</a:t>
            </a:r>
            <a:endParaRPr lang="zh-CN" altLang="en-US" dirty="0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862818" y="2403766"/>
            <a:ext cx="67536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5C307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第五章     树和二叉树</a:t>
            </a:r>
            <a:endParaRPr lang="zh-CN" altLang="en-US" sz="3200" b="1" dirty="0">
              <a:solidFill>
                <a:srgbClr val="5C307D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40"/>
          <p:cNvGrpSpPr/>
          <p:nvPr/>
        </p:nvGrpSpPr>
        <p:grpSpPr>
          <a:xfrm>
            <a:off x="1964746" y="1794855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23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6" name="Group 40"/>
          <p:cNvGrpSpPr/>
          <p:nvPr/>
        </p:nvGrpSpPr>
        <p:grpSpPr>
          <a:xfrm>
            <a:off x="1964746" y="2769079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27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0" name="Group 40"/>
          <p:cNvGrpSpPr/>
          <p:nvPr/>
        </p:nvGrpSpPr>
        <p:grpSpPr>
          <a:xfrm>
            <a:off x="1964746" y="3747413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31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709863" y="1729542"/>
            <a:ext cx="381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二叉树的定义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Box 19"/>
          <p:cNvSpPr txBox="1">
            <a:spLocks noChangeArrowheads="1"/>
          </p:cNvSpPr>
          <p:nvPr/>
        </p:nvSpPr>
        <p:spPr bwMode="auto">
          <a:xfrm>
            <a:off x="2709863" y="2703766"/>
            <a:ext cx="381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800" b="1">
                <a:solidFill>
                  <a:srgbClr val="40404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二叉树的特点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2709862" y="3677990"/>
            <a:ext cx="52758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几种特殊的二叉树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ounded Rectangle 10"/>
          <p:cNvSpPr/>
          <p:nvPr/>
        </p:nvSpPr>
        <p:spPr>
          <a:xfrm>
            <a:off x="542924" y="100964"/>
            <a:ext cx="1997075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744849" y="46345"/>
            <a:ext cx="17392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讲什么？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73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2714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二叉树的定义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44848" y="848932"/>
            <a:ext cx="10807383" cy="1631216"/>
            <a:chOff x="834181" y="2739233"/>
            <a:chExt cx="10807383" cy="1631216"/>
          </a:xfrm>
        </p:grpSpPr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1482566" y="2739233"/>
              <a:ext cx="10158998" cy="1631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ts val="4000"/>
                </a:lnSpc>
              </a:pPr>
              <a:r>
                <a:rPr lang="zh-CN" altLang="en-US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二叉树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 </a:t>
              </a:r>
              <a:r>
                <a:rPr lang="en-US" altLang="zh-CN" sz="2800" i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800" i="1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≥0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）个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结点的有限集合，该集合或者为空集（称为空二叉树），或者由一个根结点和两棵互不相交的、分别称为根结点的</a:t>
              </a:r>
              <a:r>
                <a:rPr lang="zh-CN" altLang="en-US" sz="2800" dirty="0">
                  <a:solidFill>
                    <a:srgbClr val="B42D2D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左子树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和</a:t>
              </a:r>
              <a:r>
                <a:rPr lang="zh-CN" altLang="en-US" sz="2800" dirty="0">
                  <a:solidFill>
                    <a:srgbClr val="B42D2D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右子树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的二叉树组成</a:t>
              </a:r>
              <a:r>
                <a:rPr lang="zh-CN" alt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。</a:t>
              </a:r>
              <a:endPara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67"/>
            <p:cNvGrpSpPr/>
            <p:nvPr/>
          </p:nvGrpSpPr>
          <p:grpSpPr>
            <a:xfrm>
              <a:off x="834181" y="2855815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48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723618" y="2673444"/>
            <a:ext cx="5353169" cy="523220"/>
            <a:chOff x="1826091" y="4148024"/>
            <a:chExt cx="5353169" cy="523220"/>
          </a:xfrm>
        </p:grpSpPr>
        <p:sp>
          <p:nvSpPr>
            <p:cNvPr id="23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47942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二叉树是度为 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 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的树吗？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4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25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1534678" y="4535908"/>
            <a:ext cx="1272105" cy="1187331"/>
            <a:chOff x="1306078" y="4535908"/>
            <a:chExt cx="1272105" cy="1187331"/>
          </a:xfrm>
          <a:solidFill>
            <a:srgbClr val="B4B4BE"/>
          </a:solidFill>
        </p:grpSpPr>
        <p:sp>
          <p:nvSpPr>
            <p:cNvPr id="29" name="Line 25"/>
            <p:cNvSpPr>
              <a:spLocks noChangeShapeType="1"/>
            </p:cNvSpPr>
            <p:nvPr/>
          </p:nvSpPr>
          <p:spPr bwMode="auto">
            <a:xfrm flipH="1">
              <a:off x="1669932" y="4857218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0" name="Oval 37"/>
            <p:cNvSpPr>
              <a:spLocks noChangeArrowheads="1"/>
            </p:cNvSpPr>
            <p:nvPr/>
          </p:nvSpPr>
          <p:spPr bwMode="auto">
            <a:xfrm>
              <a:off x="2146183" y="453590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val 37"/>
            <p:cNvSpPr>
              <a:spLocks noChangeArrowheads="1"/>
            </p:cNvSpPr>
            <p:nvPr/>
          </p:nvSpPr>
          <p:spPr bwMode="auto">
            <a:xfrm>
              <a:off x="1306078" y="529123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728247" y="3549156"/>
            <a:ext cx="5992593" cy="523220"/>
            <a:chOff x="1826091" y="4148024"/>
            <a:chExt cx="5992593" cy="523220"/>
          </a:xfrm>
        </p:grpSpPr>
        <p:sp>
          <p:nvSpPr>
            <p:cNvPr id="33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543362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二叉树是度小于等于 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 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的树吗？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4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35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4179032" y="4535908"/>
            <a:ext cx="1237815" cy="1187331"/>
            <a:chOff x="4179032" y="4562632"/>
            <a:chExt cx="1237815" cy="1187331"/>
          </a:xfrm>
          <a:solidFill>
            <a:srgbClr val="B4B4BE"/>
          </a:solidFill>
        </p:grpSpPr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4586383" y="4911406"/>
              <a:ext cx="495459" cy="470572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9" name="Oval 37"/>
            <p:cNvSpPr>
              <a:spLocks noChangeArrowheads="1"/>
            </p:cNvSpPr>
            <p:nvPr/>
          </p:nvSpPr>
          <p:spPr bwMode="auto">
            <a:xfrm>
              <a:off x="4179032" y="4562632"/>
              <a:ext cx="468312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Oval 37"/>
            <p:cNvSpPr>
              <a:spLocks noChangeArrowheads="1"/>
            </p:cNvSpPr>
            <p:nvPr/>
          </p:nvSpPr>
          <p:spPr bwMode="auto">
            <a:xfrm>
              <a:off x="4984847" y="531796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Line 25"/>
          <p:cNvSpPr>
            <a:spLocks noChangeShapeType="1"/>
          </p:cNvSpPr>
          <p:nvPr/>
        </p:nvSpPr>
        <p:spPr bwMode="auto">
          <a:xfrm flipH="1">
            <a:off x="8995407" y="2953542"/>
            <a:ext cx="511175" cy="540000"/>
          </a:xfrm>
          <a:prstGeom prst="line">
            <a:avLst/>
          </a:prstGeom>
          <a:noFill/>
          <a:ln w="38100">
            <a:solidFill>
              <a:srgbClr val="285A3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62" name="Line 26"/>
          <p:cNvSpPr>
            <a:spLocks noChangeShapeType="1"/>
          </p:cNvSpPr>
          <p:nvPr/>
        </p:nvSpPr>
        <p:spPr bwMode="auto">
          <a:xfrm>
            <a:off x="9879645" y="2953541"/>
            <a:ext cx="432000" cy="540000"/>
          </a:xfrm>
          <a:prstGeom prst="line">
            <a:avLst/>
          </a:prstGeom>
          <a:noFill/>
          <a:ln w="38100">
            <a:solidFill>
              <a:srgbClr val="285A3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63" name="Line 27"/>
          <p:cNvSpPr>
            <a:spLocks noChangeShapeType="1"/>
          </p:cNvSpPr>
          <p:nvPr/>
        </p:nvSpPr>
        <p:spPr bwMode="auto">
          <a:xfrm flipH="1">
            <a:off x="8373108" y="3834286"/>
            <a:ext cx="360000" cy="648000"/>
          </a:xfrm>
          <a:prstGeom prst="line">
            <a:avLst/>
          </a:prstGeom>
          <a:noFill/>
          <a:ln w="38100">
            <a:solidFill>
              <a:srgbClr val="285A3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64" name="Line 28"/>
          <p:cNvSpPr>
            <a:spLocks noChangeShapeType="1"/>
          </p:cNvSpPr>
          <p:nvPr/>
        </p:nvSpPr>
        <p:spPr bwMode="auto">
          <a:xfrm>
            <a:off x="8417876" y="4899182"/>
            <a:ext cx="396875" cy="606425"/>
          </a:xfrm>
          <a:prstGeom prst="line">
            <a:avLst/>
          </a:prstGeom>
          <a:noFill/>
          <a:ln w="38100">
            <a:solidFill>
              <a:srgbClr val="285A3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65" name="Line 29"/>
          <p:cNvSpPr>
            <a:spLocks noChangeShapeType="1"/>
          </p:cNvSpPr>
          <p:nvPr/>
        </p:nvSpPr>
        <p:spPr bwMode="auto">
          <a:xfrm flipH="1">
            <a:off x="10043475" y="3829524"/>
            <a:ext cx="288000" cy="648000"/>
          </a:xfrm>
          <a:prstGeom prst="line">
            <a:avLst/>
          </a:prstGeom>
          <a:noFill/>
          <a:ln w="38100">
            <a:solidFill>
              <a:srgbClr val="285A3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66" name="Line 30"/>
          <p:cNvSpPr>
            <a:spLocks noChangeShapeType="1"/>
          </p:cNvSpPr>
          <p:nvPr/>
        </p:nvSpPr>
        <p:spPr bwMode="auto">
          <a:xfrm>
            <a:off x="10561325" y="3841246"/>
            <a:ext cx="288000" cy="625800"/>
          </a:xfrm>
          <a:prstGeom prst="line">
            <a:avLst/>
          </a:prstGeom>
          <a:noFill/>
          <a:ln w="38100">
            <a:solidFill>
              <a:srgbClr val="285A3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67" name="Oval 37"/>
          <p:cNvSpPr>
            <a:spLocks noChangeArrowheads="1"/>
          </p:cNvSpPr>
          <p:nvPr/>
        </p:nvSpPr>
        <p:spPr bwMode="auto">
          <a:xfrm>
            <a:off x="9486898" y="2616992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37"/>
          <p:cNvSpPr>
            <a:spLocks noChangeArrowheads="1"/>
          </p:cNvSpPr>
          <p:nvPr/>
        </p:nvSpPr>
        <p:spPr bwMode="auto">
          <a:xfrm>
            <a:off x="10228577" y="3433283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Oval 37"/>
          <p:cNvSpPr>
            <a:spLocks noChangeArrowheads="1"/>
          </p:cNvSpPr>
          <p:nvPr/>
        </p:nvSpPr>
        <p:spPr bwMode="auto">
          <a:xfrm>
            <a:off x="8631553" y="3433283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37"/>
          <p:cNvSpPr>
            <a:spLocks noChangeArrowheads="1"/>
          </p:cNvSpPr>
          <p:nvPr/>
        </p:nvSpPr>
        <p:spPr bwMode="auto">
          <a:xfrm>
            <a:off x="8138952" y="4473574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Oval 37"/>
          <p:cNvSpPr>
            <a:spLocks noChangeArrowheads="1"/>
          </p:cNvSpPr>
          <p:nvPr/>
        </p:nvSpPr>
        <p:spPr bwMode="auto">
          <a:xfrm>
            <a:off x="9775505" y="4473574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Oval 37"/>
          <p:cNvSpPr>
            <a:spLocks noChangeArrowheads="1"/>
          </p:cNvSpPr>
          <p:nvPr/>
        </p:nvSpPr>
        <p:spPr bwMode="auto">
          <a:xfrm>
            <a:off x="10712129" y="4473574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Oval 37"/>
          <p:cNvSpPr>
            <a:spLocks noChangeArrowheads="1"/>
          </p:cNvSpPr>
          <p:nvPr/>
        </p:nvSpPr>
        <p:spPr bwMode="auto">
          <a:xfrm>
            <a:off x="8714420" y="5459887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73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2714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二叉树的特点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Line 25"/>
          <p:cNvSpPr>
            <a:spLocks noChangeShapeType="1"/>
          </p:cNvSpPr>
          <p:nvPr/>
        </p:nvSpPr>
        <p:spPr bwMode="auto">
          <a:xfrm flipH="1">
            <a:off x="8995407" y="2953542"/>
            <a:ext cx="511175" cy="540000"/>
          </a:xfrm>
          <a:prstGeom prst="line">
            <a:avLst/>
          </a:prstGeom>
          <a:noFill/>
          <a:ln w="38100">
            <a:solidFill>
              <a:srgbClr val="285A3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52" name="Line 26"/>
          <p:cNvSpPr>
            <a:spLocks noChangeShapeType="1"/>
          </p:cNvSpPr>
          <p:nvPr/>
        </p:nvSpPr>
        <p:spPr bwMode="auto">
          <a:xfrm>
            <a:off x="9879645" y="2953541"/>
            <a:ext cx="432000" cy="540000"/>
          </a:xfrm>
          <a:prstGeom prst="line">
            <a:avLst/>
          </a:prstGeom>
          <a:noFill/>
          <a:ln w="38100">
            <a:solidFill>
              <a:srgbClr val="285A3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53" name="Line 27"/>
          <p:cNvSpPr>
            <a:spLocks noChangeShapeType="1"/>
          </p:cNvSpPr>
          <p:nvPr/>
        </p:nvSpPr>
        <p:spPr bwMode="auto">
          <a:xfrm flipH="1">
            <a:off x="8373108" y="3834286"/>
            <a:ext cx="360000" cy="648000"/>
          </a:xfrm>
          <a:prstGeom prst="line">
            <a:avLst/>
          </a:prstGeom>
          <a:noFill/>
          <a:ln w="38100">
            <a:solidFill>
              <a:srgbClr val="285A3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>
            <a:off x="8417876" y="4899182"/>
            <a:ext cx="396875" cy="606425"/>
          </a:xfrm>
          <a:prstGeom prst="line">
            <a:avLst/>
          </a:prstGeom>
          <a:noFill/>
          <a:ln w="38100">
            <a:solidFill>
              <a:srgbClr val="285A3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55" name="Line 29"/>
          <p:cNvSpPr>
            <a:spLocks noChangeShapeType="1"/>
          </p:cNvSpPr>
          <p:nvPr/>
        </p:nvSpPr>
        <p:spPr bwMode="auto">
          <a:xfrm flipH="1">
            <a:off x="10043475" y="3829524"/>
            <a:ext cx="288000" cy="648000"/>
          </a:xfrm>
          <a:prstGeom prst="line">
            <a:avLst/>
          </a:prstGeom>
          <a:noFill/>
          <a:ln w="38100">
            <a:solidFill>
              <a:srgbClr val="285A3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56" name="Line 30"/>
          <p:cNvSpPr>
            <a:spLocks noChangeShapeType="1"/>
          </p:cNvSpPr>
          <p:nvPr/>
        </p:nvSpPr>
        <p:spPr bwMode="auto">
          <a:xfrm>
            <a:off x="10561325" y="3841246"/>
            <a:ext cx="288000" cy="625800"/>
          </a:xfrm>
          <a:prstGeom prst="line">
            <a:avLst/>
          </a:prstGeom>
          <a:noFill/>
          <a:ln w="38100">
            <a:solidFill>
              <a:srgbClr val="285A3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57" name="Oval 37"/>
          <p:cNvSpPr>
            <a:spLocks noChangeArrowheads="1"/>
          </p:cNvSpPr>
          <p:nvPr/>
        </p:nvSpPr>
        <p:spPr bwMode="auto">
          <a:xfrm>
            <a:off x="9486898" y="2616992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10228577" y="3433283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37"/>
          <p:cNvSpPr>
            <a:spLocks noChangeArrowheads="1"/>
          </p:cNvSpPr>
          <p:nvPr/>
        </p:nvSpPr>
        <p:spPr bwMode="auto">
          <a:xfrm>
            <a:off x="8631553" y="3433283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37"/>
          <p:cNvSpPr>
            <a:spLocks noChangeArrowheads="1"/>
          </p:cNvSpPr>
          <p:nvPr/>
        </p:nvSpPr>
        <p:spPr bwMode="auto">
          <a:xfrm>
            <a:off x="8138952" y="4473574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37"/>
          <p:cNvSpPr>
            <a:spLocks noChangeArrowheads="1"/>
          </p:cNvSpPr>
          <p:nvPr/>
        </p:nvSpPr>
        <p:spPr bwMode="auto">
          <a:xfrm>
            <a:off x="9775505" y="4473574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37"/>
          <p:cNvSpPr>
            <a:spLocks noChangeArrowheads="1"/>
          </p:cNvSpPr>
          <p:nvPr/>
        </p:nvSpPr>
        <p:spPr bwMode="auto">
          <a:xfrm>
            <a:off x="10712129" y="4473574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Oval 37"/>
          <p:cNvSpPr>
            <a:spLocks noChangeArrowheads="1"/>
          </p:cNvSpPr>
          <p:nvPr/>
        </p:nvSpPr>
        <p:spPr bwMode="auto">
          <a:xfrm>
            <a:off x="8714420" y="5459887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47313" y="1027524"/>
            <a:ext cx="5353169" cy="523220"/>
            <a:chOff x="1826091" y="4148024"/>
            <a:chExt cx="5353169" cy="523220"/>
          </a:xfrm>
        </p:grpSpPr>
        <p:sp>
          <p:nvSpPr>
            <p:cNvPr id="23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47942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二叉树有什么特点？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25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61" name="Text Box 32"/>
          <p:cNvSpPr txBox="1">
            <a:spLocks noChangeArrowheads="1"/>
          </p:cNvSpPr>
          <p:nvPr/>
        </p:nvSpPr>
        <p:spPr bwMode="auto">
          <a:xfrm>
            <a:off x="1242472" y="1550744"/>
            <a:ext cx="714216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结点最多有两棵子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zh-CN" alt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0" hangingPunct="0">
              <a:spcBef>
                <a:spcPct val="20000"/>
              </a:spcBef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是有序的，其次序不能任意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颠倒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721462" y="2737335"/>
            <a:ext cx="5353169" cy="523220"/>
            <a:chOff x="1826091" y="4148024"/>
            <a:chExt cx="5353169" cy="523220"/>
          </a:xfrm>
        </p:grpSpPr>
        <p:sp>
          <p:nvSpPr>
            <p:cNvPr id="63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47942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为什么要研究二叉树？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4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5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69" name="Text Box 60"/>
          <p:cNvSpPr txBox="1">
            <a:spLocks noChangeArrowheads="1"/>
          </p:cNvSpPr>
          <p:nvPr/>
        </p:nvSpPr>
        <p:spPr bwMode="auto">
          <a:xfrm>
            <a:off x="1242472" y="3402795"/>
            <a:ext cx="5981288" cy="1438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8398" dir="1593903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lnSpc>
                <a:spcPts val="35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二叉树是最简单的树结构</a:t>
            </a:r>
            <a:endParaRPr lang="en-US" altLang="zh-CN" sz="2400" dirty="0" smtClean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0" hangingPunct="0">
              <a:lnSpc>
                <a:spcPts val="35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树转换为二叉树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400" dirty="0" smtClean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0" hangingPunct="0">
              <a:lnSpc>
                <a:spcPts val="3500"/>
              </a:lnSpc>
            </a:pPr>
            <a:r>
              <a: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从而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利用二叉树解决树的有关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118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108395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斜树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75328" y="2323900"/>
            <a:ext cx="5727884" cy="605294"/>
            <a:chOff x="744848" y="2476300"/>
            <a:chExt cx="5727884" cy="605294"/>
          </a:xfrm>
        </p:grpSpPr>
        <p:sp>
          <p:nvSpPr>
            <p:cNvPr id="81" name="Text Box 10"/>
            <p:cNvSpPr txBox="1">
              <a:spLocks noChangeArrowheads="1"/>
            </p:cNvSpPr>
            <p:nvPr/>
          </p:nvSpPr>
          <p:spPr bwMode="auto">
            <a:xfrm>
              <a:off x="1393233" y="2476300"/>
              <a:ext cx="5079499" cy="605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ts val="4000"/>
                </a:lnSpc>
              </a:pPr>
              <a:r>
                <a:rPr lang="zh-CN" altLang="en-US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斜树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左斜树和右斜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树的统称</a:t>
              </a:r>
              <a:endPara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82" name="Group 67"/>
            <p:cNvGrpSpPr/>
            <p:nvPr/>
          </p:nvGrpSpPr>
          <p:grpSpPr>
            <a:xfrm>
              <a:off x="744848" y="2592882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83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775328" y="848932"/>
            <a:ext cx="7225672" cy="605294"/>
            <a:chOff x="744848" y="848932"/>
            <a:chExt cx="7225672" cy="605294"/>
          </a:xfrm>
        </p:grpSpPr>
        <p:sp>
          <p:nvSpPr>
            <p:cNvPr id="73" name="Text Box 10"/>
            <p:cNvSpPr txBox="1">
              <a:spLocks noChangeArrowheads="1"/>
            </p:cNvSpPr>
            <p:nvPr/>
          </p:nvSpPr>
          <p:spPr bwMode="auto">
            <a:xfrm>
              <a:off x="1393233" y="848932"/>
              <a:ext cx="6577287" cy="605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左斜</a:t>
              </a:r>
              <a:r>
                <a:rPr lang="zh-CN" altLang="en-US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树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：所有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结点都只有左子树的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二叉树</a:t>
              </a:r>
              <a:endPara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4" name="Group 67"/>
            <p:cNvGrpSpPr/>
            <p:nvPr/>
          </p:nvGrpSpPr>
          <p:grpSpPr>
            <a:xfrm>
              <a:off x="744848" y="965514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75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7575425" y="987791"/>
            <a:ext cx="1764706" cy="2227622"/>
            <a:chOff x="7876653" y="958176"/>
            <a:chExt cx="1764706" cy="2227622"/>
          </a:xfrm>
          <a:solidFill>
            <a:srgbClr val="B4B4BE"/>
          </a:solidFill>
        </p:grpSpPr>
        <p:sp>
          <p:nvSpPr>
            <p:cNvPr id="87" name="Oval 37"/>
            <p:cNvSpPr>
              <a:spLocks noChangeArrowheads="1"/>
            </p:cNvSpPr>
            <p:nvPr/>
          </p:nvSpPr>
          <p:spPr bwMode="auto">
            <a:xfrm>
              <a:off x="9209359" y="958176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Oval 37"/>
            <p:cNvSpPr>
              <a:spLocks noChangeArrowheads="1"/>
            </p:cNvSpPr>
            <p:nvPr/>
          </p:nvSpPr>
          <p:spPr bwMode="auto">
            <a:xfrm>
              <a:off x="8475934" y="180494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Oval 37"/>
            <p:cNvSpPr>
              <a:spLocks noChangeArrowheads="1"/>
            </p:cNvSpPr>
            <p:nvPr/>
          </p:nvSpPr>
          <p:spPr bwMode="auto">
            <a:xfrm>
              <a:off x="7876653" y="275379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Line 25"/>
            <p:cNvSpPr>
              <a:spLocks noChangeShapeType="1"/>
            </p:cNvSpPr>
            <p:nvPr/>
          </p:nvSpPr>
          <p:spPr bwMode="auto">
            <a:xfrm flipH="1">
              <a:off x="8846497" y="1349049"/>
              <a:ext cx="432000" cy="504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98" name="Line 25"/>
            <p:cNvSpPr>
              <a:spLocks noChangeShapeType="1"/>
            </p:cNvSpPr>
            <p:nvPr/>
          </p:nvSpPr>
          <p:spPr bwMode="auto">
            <a:xfrm flipH="1">
              <a:off x="8191408" y="2230234"/>
              <a:ext cx="396000" cy="55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75328" y="1586416"/>
            <a:ext cx="7225672" cy="605294"/>
            <a:chOff x="729608" y="1595692"/>
            <a:chExt cx="7225672" cy="605294"/>
          </a:xfrm>
        </p:grpSpPr>
        <p:sp>
          <p:nvSpPr>
            <p:cNvPr id="77" name="Text Box 10"/>
            <p:cNvSpPr txBox="1">
              <a:spLocks noChangeArrowheads="1"/>
            </p:cNvSpPr>
            <p:nvPr/>
          </p:nvSpPr>
          <p:spPr bwMode="auto">
            <a:xfrm>
              <a:off x="1377993" y="1595692"/>
              <a:ext cx="6577287" cy="605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ts val="4000"/>
                </a:lnSpc>
              </a:pPr>
              <a:r>
                <a:rPr lang="zh-CN" altLang="en-US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右斜树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：所有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结点都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只有右子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树的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二叉树</a:t>
              </a:r>
              <a:endPara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8" name="Group 67"/>
            <p:cNvGrpSpPr/>
            <p:nvPr/>
          </p:nvGrpSpPr>
          <p:grpSpPr>
            <a:xfrm>
              <a:off x="729608" y="1712274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79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9672035" y="987791"/>
            <a:ext cx="1690887" cy="2242862"/>
            <a:chOff x="10125108" y="958176"/>
            <a:chExt cx="1690887" cy="2242862"/>
          </a:xfrm>
          <a:solidFill>
            <a:srgbClr val="B4B4BE"/>
          </a:solidFill>
        </p:grpSpPr>
        <p:sp>
          <p:nvSpPr>
            <p:cNvPr id="93" name="Oval 37"/>
            <p:cNvSpPr>
              <a:spLocks noChangeArrowheads="1"/>
            </p:cNvSpPr>
            <p:nvPr/>
          </p:nvSpPr>
          <p:spPr bwMode="auto">
            <a:xfrm>
              <a:off x="10125108" y="958176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Oval 37"/>
            <p:cNvSpPr>
              <a:spLocks noChangeArrowheads="1"/>
            </p:cNvSpPr>
            <p:nvPr/>
          </p:nvSpPr>
          <p:spPr bwMode="auto">
            <a:xfrm>
              <a:off x="10809003" y="18201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Oval 37"/>
            <p:cNvSpPr>
              <a:spLocks noChangeArrowheads="1"/>
            </p:cNvSpPr>
            <p:nvPr/>
          </p:nvSpPr>
          <p:spPr bwMode="auto">
            <a:xfrm>
              <a:off x="11383995" y="276903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Line 25"/>
            <p:cNvSpPr>
              <a:spLocks noChangeShapeType="1"/>
            </p:cNvSpPr>
            <p:nvPr/>
          </p:nvSpPr>
          <p:spPr bwMode="auto">
            <a:xfrm flipH="1" flipV="1">
              <a:off x="10484100" y="1334359"/>
              <a:ext cx="432000" cy="504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0" name="Line 25"/>
            <p:cNvSpPr>
              <a:spLocks noChangeShapeType="1"/>
            </p:cNvSpPr>
            <p:nvPr/>
          </p:nvSpPr>
          <p:spPr bwMode="auto">
            <a:xfrm flipH="1" flipV="1">
              <a:off x="11155515" y="2216911"/>
              <a:ext cx="396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797662" y="3277697"/>
            <a:ext cx="5353169" cy="523220"/>
            <a:chOff x="1826091" y="4148024"/>
            <a:chExt cx="5353169" cy="523220"/>
          </a:xfrm>
        </p:grpSpPr>
        <p:sp>
          <p:nvSpPr>
            <p:cNvPr id="102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47942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斜树有什么特点呢？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3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104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08" name="Text Box 34"/>
          <p:cNvSpPr txBox="1">
            <a:spLocks noChangeArrowheads="1"/>
          </p:cNvSpPr>
          <p:nvPr/>
        </p:nvSpPr>
        <p:spPr bwMode="auto">
          <a:xfrm>
            <a:off x="1333465" y="3877117"/>
            <a:ext cx="4533935" cy="9900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ts val="35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一层只有一个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endParaRPr lang="zh-CN" alt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0" hangingPunct="0">
              <a:lnSpc>
                <a:spcPts val="35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个数与其深度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" name="Text Box 34"/>
          <p:cNvSpPr txBox="1">
            <a:spLocks noChangeArrowheads="1"/>
          </p:cNvSpPr>
          <p:nvPr/>
        </p:nvSpPr>
        <p:spPr bwMode="auto">
          <a:xfrm>
            <a:off x="1356630" y="5136381"/>
            <a:ext cx="9118564" cy="662554"/>
          </a:xfrm>
          <a:prstGeom prst="rect">
            <a:avLst/>
          </a:prstGeom>
          <a:noFill/>
          <a:ln w="38100">
            <a:solidFill>
              <a:srgbClr val="5C307D"/>
            </a:solidFill>
          </a:ln>
          <a:effectLst/>
        </p:spPr>
        <p:txBody>
          <a:bodyPr wrap="square" anchor="ctr" anchorCtr="0">
            <a:sp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树是树结构的特例，是从树结构</a:t>
            </a:r>
            <a:r>
              <a:rPr lang="zh-CN" altLang="en-US" sz="2800" dirty="0" smtClean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退化成了线性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2800" dirty="0">
              <a:solidFill>
                <a:srgbClr val="B4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01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22879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满二叉树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75328" y="848932"/>
            <a:ext cx="10807072" cy="1118255"/>
            <a:chOff x="744848" y="848932"/>
            <a:chExt cx="10807072" cy="1118255"/>
          </a:xfrm>
        </p:grpSpPr>
        <p:sp>
          <p:nvSpPr>
            <p:cNvPr id="73" name="Text Box 10"/>
            <p:cNvSpPr txBox="1">
              <a:spLocks noChangeArrowheads="1"/>
            </p:cNvSpPr>
            <p:nvPr/>
          </p:nvSpPr>
          <p:spPr bwMode="auto">
            <a:xfrm>
              <a:off x="1393233" y="848932"/>
              <a:ext cx="10158687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ts val="4000"/>
                </a:lnSpc>
              </a:pPr>
              <a:r>
                <a:rPr lang="zh-CN" altLang="en-US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满二叉树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所有分支结点都存在左子树和右子树，并且所有叶子都在同一层上的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二叉树</a:t>
              </a:r>
              <a:endPara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4" name="Group 67"/>
            <p:cNvGrpSpPr/>
            <p:nvPr/>
          </p:nvGrpSpPr>
          <p:grpSpPr>
            <a:xfrm>
              <a:off x="744848" y="965514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75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6672131" y="2885597"/>
            <a:ext cx="4414277" cy="2675615"/>
            <a:chOff x="6672131" y="2885597"/>
            <a:chExt cx="4414277" cy="2675615"/>
          </a:xfrm>
          <a:solidFill>
            <a:srgbClr val="B4B4BE"/>
          </a:solidFill>
        </p:grpSpPr>
        <p:sp>
          <p:nvSpPr>
            <p:cNvPr id="138" name="Freeform 65"/>
            <p:cNvSpPr/>
            <p:nvPr/>
          </p:nvSpPr>
          <p:spPr bwMode="auto">
            <a:xfrm>
              <a:off x="7915300" y="4734082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9" name="Line 66"/>
            <p:cNvSpPr>
              <a:spLocks noChangeShapeType="1"/>
            </p:cNvSpPr>
            <p:nvPr/>
          </p:nvSpPr>
          <p:spPr bwMode="auto">
            <a:xfrm>
              <a:off x="8240738" y="4782343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40" name="Freeform 65"/>
            <p:cNvSpPr/>
            <p:nvPr/>
          </p:nvSpPr>
          <p:spPr bwMode="auto">
            <a:xfrm>
              <a:off x="9410761" y="4736086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41" name="Line 66"/>
            <p:cNvSpPr>
              <a:spLocks noChangeShapeType="1"/>
            </p:cNvSpPr>
            <p:nvPr/>
          </p:nvSpPr>
          <p:spPr bwMode="auto">
            <a:xfrm>
              <a:off x="9736199" y="4799587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42" name="Freeform 65"/>
            <p:cNvSpPr/>
            <p:nvPr/>
          </p:nvSpPr>
          <p:spPr bwMode="auto">
            <a:xfrm>
              <a:off x="10344210" y="4726084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43" name="Line 66"/>
            <p:cNvSpPr>
              <a:spLocks noChangeShapeType="1"/>
            </p:cNvSpPr>
            <p:nvPr/>
          </p:nvSpPr>
          <p:spPr bwMode="auto">
            <a:xfrm>
              <a:off x="10669648" y="4789585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5" name="Freeform 45"/>
            <p:cNvSpPr/>
            <p:nvPr/>
          </p:nvSpPr>
          <p:spPr bwMode="auto">
            <a:xfrm>
              <a:off x="10247692" y="4039116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4" name="Freeform 44"/>
            <p:cNvSpPr/>
            <p:nvPr/>
          </p:nvSpPr>
          <p:spPr bwMode="auto">
            <a:xfrm>
              <a:off x="9691749" y="4008636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4" name="Line 42"/>
            <p:cNvSpPr>
              <a:spLocks noChangeShapeType="1"/>
            </p:cNvSpPr>
            <p:nvPr/>
          </p:nvSpPr>
          <p:spPr bwMode="auto">
            <a:xfrm flipH="1">
              <a:off x="7771767" y="3230721"/>
              <a:ext cx="995363" cy="493713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5" name="Freeform 43"/>
            <p:cNvSpPr/>
            <p:nvPr/>
          </p:nvSpPr>
          <p:spPr bwMode="auto">
            <a:xfrm>
              <a:off x="9102092" y="3184683"/>
              <a:ext cx="928688" cy="568325"/>
            </a:xfrm>
            <a:custGeom>
              <a:avLst/>
              <a:gdLst>
                <a:gd name="T0" fmla="*/ 0 w 767"/>
                <a:gd name="T1" fmla="*/ 0 h 488"/>
                <a:gd name="T2" fmla="*/ 767 w 767"/>
                <a:gd name="T3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7" h="488">
                  <a:moveTo>
                    <a:pt x="0" y="0"/>
                  </a:moveTo>
                  <a:lnTo>
                    <a:pt x="767" y="488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6" name="Freeform 44"/>
            <p:cNvSpPr/>
            <p:nvPr/>
          </p:nvSpPr>
          <p:spPr bwMode="auto">
            <a:xfrm>
              <a:off x="7255829" y="3945096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7" name="Freeform 45"/>
            <p:cNvSpPr/>
            <p:nvPr/>
          </p:nvSpPr>
          <p:spPr bwMode="auto">
            <a:xfrm>
              <a:off x="7811772" y="3975576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1" name="Freeform 65"/>
            <p:cNvSpPr/>
            <p:nvPr/>
          </p:nvSpPr>
          <p:spPr bwMode="auto">
            <a:xfrm>
              <a:off x="6965316" y="4734082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2" name="Line 66"/>
            <p:cNvSpPr>
              <a:spLocks noChangeShapeType="1"/>
            </p:cNvSpPr>
            <p:nvPr/>
          </p:nvSpPr>
          <p:spPr bwMode="auto">
            <a:xfrm>
              <a:off x="7290754" y="4797583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8" name="Oval 37"/>
            <p:cNvSpPr>
              <a:spLocks noChangeArrowheads="1"/>
            </p:cNvSpPr>
            <p:nvPr/>
          </p:nvSpPr>
          <p:spPr bwMode="auto">
            <a:xfrm>
              <a:off x="8736650" y="288559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Oval 37"/>
            <p:cNvSpPr>
              <a:spLocks noChangeArrowheads="1"/>
            </p:cNvSpPr>
            <p:nvPr/>
          </p:nvSpPr>
          <p:spPr bwMode="auto">
            <a:xfrm>
              <a:off x="7465382" y="363823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Oval 37"/>
            <p:cNvSpPr>
              <a:spLocks noChangeArrowheads="1"/>
            </p:cNvSpPr>
            <p:nvPr/>
          </p:nvSpPr>
          <p:spPr bwMode="auto">
            <a:xfrm>
              <a:off x="9921242" y="363823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Oval 37"/>
            <p:cNvSpPr>
              <a:spLocks noChangeArrowheads="1"/>
            </p:cNvSpPr>
            <p:nvPr/>
          </p:nvSpPr>
          <p:spPr bwMode="auto">
            <a:xfrm>
              <a:off x="7000361" y="43675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Oval 37"/>
            <p:cNvSpPr>
              <a:spLocks noChangeArrowheads="1"/>
            </p:cNvSpPr>
            <p:nvPr/>
          </p:nvSpPr>
          <p:spPr bwMode="auto">
            <a:xfrm>
              <a:off x="7942701" y="43675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Oval 37"/>
            <p:cNvSpPr>
              <a:spLocks noChangeArrowheads="1"/>
            </p:cNvSpPr>
            <p:nvPr/>
          </p:nvSpPr>
          <p:spPr bwMode="auto">
            <a:xfrm>
              <a:off x="9437848" y="43675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Oval 37"/>
            <p:cNvSpPr>
              <a:spLocks noChangeArrowheads="1"/>
            </p:cNvSpPr>
            <p:nvPr/>
          </p:nvSpPr>
          <p:spPr bwMode="auto">
            <a:xfrm>
              <a:off x="6672131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Oval 37"/>
            <p:cNvSpPr>
              <a:spLocks noChangeArrowheads="1"/>
            </p:cNvSpPr>
            <p:nvPr/>
          </p:nvSpPr>
          <p:spPr bwMode="auto">
            <a:xfrm>
              <a:off x="7188422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Oval 37"/>
            <p:cNvSpPr>
              <a:spLocks noChangeArrowheads="1"/>
            </p:cNvSpPr>
            <p:nvPr/>
          </p:nvSpPr>
          <p:spPr bwMode="auto">
            <a:xfrm>
              <a:off x="7705309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Oval 37"/>
            <p:cNvSpPr>
              <a:spLocks noChangeArrowheads="1"/>
            </p:cNvSpPr>
            <p:nvPr/>
          </p:nvSpPr>
          <p:spPr bwMode="auto">
            <a:xfrm>
              <a:off x="8219025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Oval 37"/>
            <p:cNvSpPr>
              <a:spLocks noChangeArrowheads="1"/>
            </p:cNvSpPr>
            <p:nvPr/>
          </p:nvSpPr>
          <p:spPr bwMode="auto">
            <a:xfrm>
              <a:off x="9102092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Oval 37"/>
            <p:cNvSpPr>
              <a:spLocks noChangeArrowheads="1"/>
            </p:cNvSpPr>
            <p:nvPr/>
          </p:nvSpPr>
          <p:spPr bwMode="auto">
            <a:xfrm>
              <a:off x="9627774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Oval 37"/>
            <p:cNvSpPr>
              <a:spLocks noChangeArrowheads="1"/>
            </p:cNvSpPr>
            <p:nvPr/>
          </p:nvSpPr>
          <p:spPr bwMode="auto">
            <a:xfrm>
              <a:off x="10150596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Oval 37"/>
            <p:cNvSpPr>
              <a:spLocks noChangeArrowheads="1"/>
            </p:cNvSpPr>
            <p:nvPr/>
          </p:nvSpPr>
          <p:spPr bwMode="auto">
            <a:xfrm>
              <a:off x="10654408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Oval 37"/>
            <p:cNvSpPr>
              <a:spLocks noChangeArrowheads="1"/>
            </p:cNvSpPr>
            <p:nvPr/>
          </p:nvSpPr>
          <p:spPr bwMode="auto">
            <a:xfrm>
              <a:off x="10361297" y="43675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427254" y="2839559"/>
            <a:ext cx="3792936" cy="2675615"/>
            <a:chOff x="1869214" y="2839559"/>
            <a:chExt cx="3792936" cy="2675615"/>
          </a:xfrm>
          <a:solidFill>
            <a:srgbClr val="B4B4BE"/>
          </a:solidFill>
        </p:grpSpPr>
        <p:sp>
          <p:nvSpPr>
            <p:cNvPr id="146" name="Freeform 65"/>
            <p:cNvSpPr/>
            <p:nvPr/>
          </p:nvSpPr>
          <p:spPr bwMode="auto">
            <a:xfrm>
              <a:off x="4279614" y="4690048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47" name="Line 66"/>
            <p:cNvSpPr>
              <a:spLocks noChangeShapeType="1"/>
            </p:cNvSpPr>
            <p:nvPr/>
          </p:nvSpPr>
          <p:spPr bwMode="auto">
            <a:xfrm>
              <a:off x="4605052" y="4753549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0" name="Freeform 45"/>
            <p:cNvSpPr/>
            <p:nvPr/>
          </p:nvSpPr>
          <p:spPr bwMode="auto">
            <a:xfrm>
              <a:off x="5116545" y="3993078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1" name="Freeform 44"/>
            <p:cNvSpPr/>
            <p:nvPr/>
          </p:nvSpPr>
          <p:spPr bwMode="auto">
            <a:xfrm>
              <a:off x="4560602" y="3962598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2" name="Line 42"/>
            <p:cNvSpPr>
              <a:spLocks noChangeShapeType="1"/>
            </p:cNvSpPr>
            <p:nvPr/>
          </p:nvSpPr>
          <p:spPr bwMode="auto">
            <a:xfrm flipH="1">
              <a:off x="2640620" y="3184683"/>
              <a:ext cx="995363" cy="493713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3" name="Freeform 43"/>
            <p:cNvSpPr/>
            <p:nvPr/>
          </p:nvSpPr>
          <p:spPr bwMode="auto">
            <a:xfrm>
              <a:off x="3970945" y="3138645"/>
              <a:ext cx="928688" cy="568325"/>
            </a:xfrm>
            <a:custGeom>
              <a:avLst/>
              <a:gdLst>
                <a:gd name="T0" fmla="*/ 0 w 767"/>
                <a:gd name="T1" fmla="*/ 0 h 488"/>
                <a:gd name="T2" fmla="*/ 767 w 767"/>
                <a:gd name="T3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7" h="488">
                  <a:moveTo>
                    <a:pt x="0" y="0"/>
                  </a:moveTo>
                  <a:lnTo>
                    <a:pt x="767" y="488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4" name="Freeform 44"/>
            <p:cNvSpPr/>
            <p:nvPr/>
          </p:nvSpPr>
          <p:spPr bwMode="auto">
            <a:xfrm>
              <a:off x="2124682" y="3899058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5" name="Freeform 45"/>
            <p:cNvSpPr/>
            <p:nvPr/>
          </p:nvSpPr>
          <p:spPr bwMode="auto">
            <a:xfrm>
              <a:off x="2680625" y="3929538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8" name="Oval 37"/>
            <p:cNvSpPr>
              <a:spLocks noChangeArrowheads="1"/>
            </p:cNvSpPr>
            <p:nvPr/>
          </p:nvSpPr>
          <p:spPr bwMode="auto">
            <a:xfrm>
              <a:off x="3605503" y="283955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Oval 37"/>
            <p:cNvSpPr>
              <a:spLocks noChangeArrowheads="1"/>
            </p:cNvSpPr>
            <p:nvPr/>
          </p:nvSpPr>
          <p:spPr bwMode="auto">
            <a:xfrm>
              <a:off x="2334235" y="359219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Oval 37"/>
            <p:cNvSpPr>
              <a:spLocks noChangeArrowheads="1"/>
            </p:cNvSpPr>
            <p:nvPr/>
          </p:nvSpPr>
          <p:spPr bwMode="auto">
            <a:xfrm>
              <a:off x="4790095" y="359219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Oval 37"/>
            <p:cNvSpPr>
              <a:spLocks noChangeArrowheads="1"/>
            </p:cNvSpPr>
            <p:nvPr/>
          </p:nvSpPr>
          <p:spPr bwMode="auto">
            <a:xfrm>
              <a:off x="1869214" y="432154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Oval 37"/>
            <p:cNvSpPr>
              <a:spLocks noChangeArrowheads="1"/>
            </p:cNvSpPr>
            <p:nvPr/>
          </p:nvSpPr>
          <p:spPr bwMode="auto">
            <a:xfrm>
              <a:off x="2811554" y="432154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Oval 37"/>
            <p:cNvSpPr>
              <a:spLocks noChangeArrowheads="1"/>
            </p:cNvSpPr>
            <p:nvPr/>
          </p:nvSpPr>
          <p:spPr bwMode="auto">
            <a:xfrm>
              <a:off x="4306701" y="432154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Oval 37"/>
            <p:cNvSpPr>
              <a:spLocks noChangeArrowheads="1"/>
            </p:cNvSpPr>
            <p:nvPr/>
          </p:nvSpPr>
          <p:spPr bwMode="auto">
            <a:xfrm>
              <a:off x="3970945" y="50831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Oval 37"/>
            <p:cNvSpPr>
              <a:spLocks noChangeArrowheads="1"/>
            </p:cNvSpPr>
            <p:nvPr/>
          </p:nvSpPr>
          <p:spPr bwMode="auto">
            <a:xfrm>
              <a:off x="4496627" y="50831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Oval 37"/>
            <p:cNvSpPr>
              <a:spLocks noChangeArrowheads="1"/>
            </p:cNvSpPr>
            <p:nvPr/>
          </p:nvSpPr>
          <p:spPr bwMode="auto">
            <a:xfrm>
              <a:off x="5230150" y="432154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3" name="AutoShape 133"/>
          <p:cNvSpPr>
            <a:spLocks noChangeArrowheads="1"/>
          </p:cNvSpPr>
          <p:nvPr/>
        </p:nvSpPr>
        <p:spPr bwMode="auto">
          <a:xfrm>
            <a:off x="4763294" y="2130858"/>
            <a:ext cx="2847342" cy="1099863"/>
          </a:xfrm>
          <a:prstGeom prst="wedgeRoundRectCallout">
            <a:avLst>
              <a:gd name="adj1" fmla="val -66774"/>
              <a:gd name="adj2" fmla="val 75322"/>
              <a:gd name="adj3" fmla="val 16667"/>
            </a:avLst>
          </a:prstGeom>
          <a:noFill/>
          <a:ln w="28575">
            <a:solidFill>
              <a:srgbClr val="507D7D"/>
            </a:solidFill>
            <a:miter lim="800000"/>
          </a:ln>
          <a:effectLst/>
        </p:spPr>
        <p:txBody>
          <a:bodyPr anchor="ctr"/>
          <a:lstStyle/>
          <a:p>
            <a:pPr algn="ctr"/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分支结点都有左右子树，但叶子不在同一层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endParaRPr lang="zh-CN" alt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01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22879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满二叉树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75328" y="848932"/>
            <a:ext cx="10807072" cy="1118255"/>
            <a:chOff x="744848" y="848932"/>
            <a:chExt cx="10807072" cy="1118255"/>
          </a:xfrm>
        </p:grpSpPr>
        <p:sp>
          <p:nvSpPr>
            <p:cNvPr id="73" name="Text Box 10"/>
            <p:cNvSpPr txBox="1">
              <a:spLocks noChangeArrowheads="1"/>
            </p:cNvSpPr>
            <p:nvPr/>
          </p:nvSpPr>
          <p:spPr bwMode="auto">
            <a:xfrm>
              <a:off x="1393233" y="848932"/>
              <a:ext cx="10158687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ts val="4000"/>
                </a:lnSpc>
              </a:pPr>
              <a:r>
                <a:rPr lang="zh-CN" altLang="en-US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满二叉树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所有分支结点都存在左子树和右子树，并且所有叶子都在同一层上的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二叉树</a:t>
              </a:r>
              <a:endPara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4" name="Group 67"/>
            <p:cNvGrpSpPr/>
            <p:nvPr/>
          </p:nvGrpSpPr>
          <p:grpSpPr>
            <a:xfrm>
              <a:off x="744848" y="965514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75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01" name="组合 100"/>
          <p:cNvGrpSpPr/>
          <p:nvPr/>
        </p:nvGrpSpPr>
        <p:grpSpPr>
          <a:xfrm>
            <a:off x="824669" y="2120414"/>
            <a:ext cx="5353169" cy="523220"/>
            <a:chOff x="1826091" y="4148024"/>
            <a:chExt cx="5353169" cy="523220"/>
          </a:xfrm>
        </p:grpSpPr>
        <p:sp>
          <p:nvSpPr>
            <p:cNvPr id="102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47942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满二叉树有什么特点呢？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3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104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08" name="Text Box 34"/>
          <p:cNvSpPr txBox="1">
            <a:spLocks noChangeArrowheads="1"/>
          </p:cNvSpPr>
          <p:nvPr/>
        </p:nvSpPr>
        <p:spPr bwMode="auto">
          <a:xfrm>
            <a:off x="989633" y="2719834"/>
            <a:ext cx="6935589" cy="60529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叶子只能出现在最下一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en-US" altLang="zh-CN" sz="2400" dirty="0" smtClean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Text Box 34"/>
          <p:cNvSpPr txBox="1">
            <a:spLocks noChangeArrowheads="1"/>
          </p:cNvSpPr>
          <p:nvPr/>
        </p:nvSpPr>
        <p:spPr bwMode="auto">
          <a:xfrm>
            <a:off x="1356630" y="5098326"/>
            <a:ext cx="9118564" cy="738664"/>
          </a:xfrm>
          <a:prstGeom prst="rect">
            <a:avLst/>
          </a:prstGeom>
          <a:noFill/>
          <a:ln w="38100">
            <a:solidFill>
              <a:srgbClr val="5C307D"/>
            </a:solidFill>
          </a:ln>
          <a:effectLst/>
        </p:spPr>
        <p:txBody>
          <a:bodyPr wrap="square" anchor="ctr" anchorCtr="0">
            <a:sp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满二叉树是树结构的特例，是最</a:t>
            </a:r>
            <a:r>
              <a:rPr lang="zh-CN" altLang="en-US" sz="2800" b="1" dirty="0" smtClean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丰满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的二叉树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7192931" y="1589829"/>
            <a:ext cx="4414277" cy="2675615"/>
            <a:chOff x="6672131" y="2885597"/>
            <a:chExt cx="4414277" cy="2675615"/>
          </a:xfrm>
          <a:solidFill>
            <a:srgbClr val="B4B4BE"/>
          </a:solidFill>
        </p:grpSpPr>
        <p:sp>
          <p:nvSpPr>
            <p:cNvPr id="25" name="Freeform 65"/>
            <p:cNvSpPr/>
            <p:nvPr/>
          </p:nvSpPr>
          <p:spPr bwMode="auto">
            <a:xfrm>
              <a:off x="7915300" y="4734082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26" name="Line 66"/>
            <p:cNvSpPr>
              <a:spLocks noChangeShapeType="1"/>
            </p:cNvSpPr>
            <p:nvPr/>
          </p:nvSpPr>
          <p:spPr bwMode="auto">
            <a:xfrm>
              <a:off x="8240738" y="4782343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27" name="Freeform 65"/>
            <p:cNvSpPr/>
            <p:nvPr/>
          </p:nvSpPr>
          <p:spPr bwMode="auto">
            <a:xfrm>
              <a:off x="9410761" y="4736086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28" name="Line 66"/>
            <p:cNvSpPr>
              <a:spLocks noChangeShapeType="1"/>
            </p:cNvSpPr>
            <p:nvPr/>
          </p:nvSpPr>
          <p:spPr bwMode="auto">
            <a:xfrm>
              <a:off x="9736199" y="4799587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29" name="Freeform 65"/>
            <p:cNvSpPr/>
            <p:nvPr/>
          </p:nvSpPr>
          <p:spPr bwMode="auto">
            <a:xfrm>
              <a:off x="10344210" y="4726084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0" name="Line 66"/>
            <p:cNvSpPr>
              <a:spLocks noChangeShapeType="1"/>
            </p:cNvSpPr>
            <p:nvPr/>
          </p:nvSpPr>
          <p:spPr bwMode="auto">
            <a:xfrm>
              <a:off x="10669648" y="4789585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1" name="Freeform 45"/>
            <p:cNvSpPr/>
            <p:nvPr/>
          </p:nvSpPr>
          <p:spPr bwMode="auto">
            <a:xfrm>
              <a:off x="10247692" y="4039116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2" name="Freeform 44"/>
            <p:cNvSpPr/>
            <p:nvPr/>
          </p:nvSpPr>
          <p:spPr bwMode="auto">
            <a:xfrm>
              <a:off x="9691749" y="4008636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 flipH="1">
              <a:off x="7771767" y="3230721"/>
              <a:ext cx="995363" cy="493713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Freeform 43"/>
            <p:cNvSpPr/>
            <p:nvPr/>
          </p:nvSpPr>
          <p:spPr bwMode="auto">
            <a:xfrm>
              <a:off x="9102092" y="3184683"/>
              <a:ext cx="928688" cy="568325"/>
            </a:xfrm>
            <a:custGeom>
              <a:avLst/>
              <a:gdLst>
                <a:gd name="T0" fmla="*/ 0 w 767"/>
                <a:gd name="T1" fmla="*/ 0 h 488"/>
                <a:gd name="T2" fmla="*/ 767 w 767"/>
                <a:gd name="T3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7" h="488">
                  <a:moveTo>
                    <a:pt x="0" y="0"/>
                  </a:moveTo>
                  <a:lnTo>
                    <a:pt x="767" y="488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Freeform 44"/>
            <p:cNvSpPr/>
            <p:nvPr/>
          </p:nvSpPr>
          <p:spPr bwMode="auto">
            <a:xfrm>
              <a:off x="7255829" y="3945096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6" name="Freeform 45"/>
            <p:cNvSpPr/>
            <p:nvPr/>
          </p:nvSpPr>
          <p:spPr bwMode="auto">
            <a:xfrm>
              <a:off x="7811772" y="3975576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Freeform 65"/>
            <p:cNvSpPr/>
            <p:nvPr/>
          </p:nvSpPr>
          <p:spPr bwMode="auto">
            <a:xfrm>
              <a:off x="6965316" y="4734082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66"/>
            <p:cNvSpPr>
              <a:spLocks noChangeShapeType="1"/>
            </p:cNvSpPr>
            <p:nvPr/>
          </p:nvSpPr>
          <p:spPr bwMode="auto">
            <a:xfrm>
              <a:off x="7290754" y="4797583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8736650" y="288559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7465382" y="363823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9921242" y="363823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7000361" y="43675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7942701" y="43675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9437848" y="43675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6672131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val 37"/>
            <p:cNvSpPr>
              <a:spLocks noChangeArrowheads="1"/>
            </p:cNvSpPr>
            <p:nvPr/>
          </p:nvSpPr>
          <p:spPr bwMode="auto">
            <a:xfrm>
              <a:off x="7188422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7705309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37"/>
            <p:cNvSpPr>
              <a:spLocks noChangeArrowheads="1"/>
            </p:cNvSpPr>
            <p:nvPr/>
          </p:nvSpPr>
          <p:spPr bwMode="auto">
            <a:xfrm>
              <a:off x="8219025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val 37"/>
            <p:cNvSpPr>
              <a:spLocks noChangeArrowheads="1"/>
            </p:cNvSpPr>
            <p:nvPr/>
          </p:nvSpPr>
          <p:spPr bwMode="auto">
            <a:xfrm>
              <a:off x="9102092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Oval 37"/>
            <p:cNvSpPr>
              <a:spLocks noChangeArrowheads="1"/>
            </p:cNvSpPr>
            <p:nvPr/>
          </p:nvSpPr>
          <p:spPr bwMode="auto">
            <a:xfrm>
              <a:off x="9627774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Oval 37"/>
            <p:cNvSpPr>
              <a:spLocks noChangeArrowheads="1"/>
            </p:cNvSpPr>
            <p:nvPr/>
          </p:nvSpPr>
          <p:spPr bwMode="auto">
            <a:xfrm>
              <a:off x="10150596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Oval 37"/>
            <p:cNvSpPr>
              <a:spLocks noChangeArrowheads="1"/>
            </p:cNvSpPr>
            <p:nvPr/>
          </p:nvSpPr>
          <p:spPr bwMode="auto">
            <a:xfrm>
              <a:off x="10654408" y="512921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Oval 37"/>
            <p:cNvSpPr>
              <a:spLocks noChangeArrowheads="1"/>
            </p:cNvSpPr>
            <p:nvPr/>
          </p:nvSpPr>
          <p:spPr bwMode="auto">
            <a:xfrm>
              <a:off x="10361297" y="43675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Text Box 34"/>
          <p:cNvSpPr txBox="1">
            <a:spLocks noChangeArrowheads="1"/>
          </p:cNvSpPr>
          <p:nvPr/>
        </p:nvSpPr>
        <p:spPr bwMode="auto">
          <a:xfrm>
            <a:off x="989633" y="4296137"/>
            <a:ext cx="6935589" cy="60529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同样深度的二叉树中</a:t>
            </a: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叶子结点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最多</a:t>
            </a:r>
            <a:endParaRPr lang="zh-CN" alt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 Box 34"/>
          <p:cNvSpPr txBox="1">
            <a:spLocks noChangeArrowheads="1"/>
          </p:cNvSpPr>
          <p:nvPr/>
        </p:nvSpPr>
        <p:spPr bwMode="auto">
          <a:xfrm>
            <a:off x="989633" y="3245268"/>
            <a:ext cx="6935589" cy="60529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）只有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度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0 和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度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2 的结点</a:t>
            </a:r>
            <a:endParaRPr lang="en-US" altLang="zh-CN" sz="2400" dirty="0" smtClean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9" name="Text Box 34"/>
          <p:cNvSpPr txBox="1">
            <a:spLocks noChangeArrowheads="1"/>
          </p:cNvSpPr>
          <p:nvPr/>
        </p:nvSpPr>
        <p:spPr bwMode="auto">
          <a:xfrm>
            <a:off x="989633" y="3770702"/>
            <a:ext cx="6935589" cy="60529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同样深度的二叉树中</a:t>
            </a: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最多</a:t>
            </a:r>
            <a:endParaRPr lang="zh-CN" alt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 animBg="1"/>
      <p:bldP spid="57" grpId="0"/>
      <p:bldP spid="58" grpId="0"/>
      <p:bldP spid="5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115730" y="4350755"/>
            <a:ext cx="488669" cy="825126"/>
            <a:chOff x="9146210" y="4130093"/>
            <a:chExt cx="488669" cy="825126"/>
          </a:xfrm>
          <a:solidFill>
            <a:srgbClr val="B4B4BE"/>
          </a:solidFill>
        </p:grpSpPr>
        <p:sp>
          <p:nvSpPr>
            <p:cNvPr id="27" name="Freeform 65"/>
            <p:cNvSpPr/>
            <p:nvPr/>
          </p:nvSpPr>
          <p:spPr bwMode="auto">
            <a:xfrm>
              <a:off x="9454879" y="4130093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1" name="Oval 37"/>
            <p:cNvSpPr>
              <a:spLocks noChangeArrowheads="1"/>
            </p:cNvSpPr>
            <p:nvPr/>
          </p:nvSpPr>
          <p:spPr bwMode="auto">
            <a:xfrm>
              <a:off x="9146210" y="45232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Rounded Rectangle 10"/>
          <p:cNvSpPr/>
          <p:nvPr/>
        </p:nvSpPr>
        <p:spPr>
          <a:xfrm>
            <a:off x="542923" y="100964"/>
            <a:ext cx="237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22879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完全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75328" y="848932"/>
            <a:ext cx="10807072" cy="1118255"/>
            <a:chOff x="744848" y="848932"/>
            <a:chExt cx="10807072" cy="1118255"/>
          </a:xfrm>
        </p:grpSpPr>
        <p:sp>
          <p:nvSpPr>
            <p:cNvPr id="73" name="Text Box 10"/>
            <p:cNvSpPr txBox="1">
              <a:spLocks noChangeArrowheads="1"/>
            </p:cNvSpPr>
            <p:nvPr/>
          </p:nvSpPr>
          <p:spPr bwMode="auto">
            <a:xfrm>
              <a:off x="1393233" y="848932"/>
              <a:ext cx="10158687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完全</a:t>
              </a:r>
              <a:r>
                <a:rPr lang="zh-CN" altLang="en-US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二叉树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在满二叉树中，从最后一个结点开始，</a:t>
              </a:r>
              <a:r>
                <a:rPr lang="zh-CN" altLang="en-US" sz="2800" dirty="0">
                  <a:solidFill>
                    <a:srgbClr val="B42D2D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连续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去掉</a:t>
              </a:r>
              <a:r>
                <a:rPr lang="zh-CN" altLang="en-US" sz="2800" dirty="0">
                  <a:solidFill>
                    <a:srgbClr val="B42D2D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任意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个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结点得到的二叉树</a:t>
              </a:r>
              <a:endPara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4" name="Group 67"/>
            <p:cNvGrpSpPr/>
            <p:nvPr/>
          </p:nvGrpSpPr>
          <p:grpSpPr>
            <a:xfrm>
              <a:off x="744848" y="965514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75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25" name="Freeform 65"/>
          <p:cNvSpPr/>
          <p:nvPr/>
        </p:nvSpPr>
        <p:spPr bwMode="auto">
          <a:xfrm>
            <a:off x="7928938" y="4348751"/>
            <a:ext cx="180000" cy="396000"/>
          </a:xfrm>
          <a:custGeom>
            <a:avLst/>
            <a:gdLst>
              <a:gd name="T0" fmla="*/ 119 w 119"/>
              <a:gd name="T1" fmla="*/ 0 h 356"/>
              <a:gd name="T2" fmla="*/ 0 w 119"/>
              <a:gd name="T3" fmla="*/ 356 h 3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9" h="356">
                <a:moveTo>
                  <a:pt x="119" y="0"/>
                </a:moveTo>
                <a:lnTo>
                  <a:pt x="0" y="356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26" name="Line 66"/>
          <p:cNvSpPr>
            <a:spLocks noChangeShapeType="1"/>
          </p:cNvSpPr>
          <p:nvPr/>
        </p:nvSpPr>
        <p:spPr bwMode="auto">
          <a:xfrm>
            <a:off x="8254376" y="4397012"/>
            <a:ext cx="111125" cy="412750"/>
          </a:xfrm>
          <a:prstGeom prst="line">
            <a:avLst/>
          </a:prstGeom>
          <a:noFill/>
          <a:ln w="28575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1" name="Freeform 45"/>
          <p:cNvSpPr/>
          <p:nvPr/>
        </p:nvSpPr>
        <p:spPr bwMode="auto">
          <a:xfrm>
            <a:off x="10261330" y="3653785"/>
            <a:ext cx="268288" cy="490538"/>
          </a:xfrm>
          <a:custGeom>
            <a:avLst/>
            <a:gdLst>
              <a:gd name="T0" fmla="*/ 0 w 222"/>
              <a:gd name="T1" fmla="*/ 0 h 421"/>
              <a:gd name="T2" fmla="*/ 222 w 222"/>
              <a:gd name="T3" fmla="*/ 421 h 4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421">
                <a:moveTo>
                  <a:pt x="0" y="0"/>
                </a:moveTo>
                <a:lnTo>
                  <a:pt x="222" y="421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2" name="Freeform 44"/>
          <p:cNvSpPr/>
          <p:nvPr/>
        </p:nvSpPr>
        <p:spPr bwMode="auto">
          <a:xfrm>
            <a:off x="9705387" y="3623305"/>
            <a:ext cx="311150" cy="490538"/>
          </a:xfrm>
          <a:custGeom>
            <a:avLst/>
            <a:gdLst>
              <a:gd name="T0" fmla="*/ 259 w 259"/>
              <a:gd name="T1" fmla="*/ 0 h 421"/>
              <a:gd name="T2" fmla="*/ 0 w 259"/>
              <a:gd name="T3" fmla="*/ 421 h 4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59" h="421">
                <a:moveTo>
                  <a:pt x="259" y="0"/>
                </a:moveTo>
                <a:lnTo>
                  <a:pt x="0" y="421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3" name="Line 42"/>
          <p:cNvSpPr>
            <a:spLocks noChangeShapeType="1"/>
          </p:cNvSpPr>
          <p:nvPr/>
        </p:nvSpPr>
        <p:spPr bwMode="auto">
          <a:xfrm flipH="1">
            <a:off x="7785405" y="2845390"/>
            <a:ext cx="995363" cy="493713"/>
          </a:xfrm>
          <a:prstGeom prst="line">
            <a:avLst/>
          </a:prstGeom>
          <a:noFill/>
          <a:ln w="28575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4" name="Freeform 43"/>
          <p:cNvSpPr/>
          <p:nvPr/>
        </p:nvSpPr>
        <p:spPr bwMode="auto">
          <a:xfrm>
            <a:off x="9115730" y="2799352"/>
            <a:ext cx="928688" cy="568325"/>
          </a:xfrm>
          <a:custGeom>
            <a:avLst/>
            <a:gdLst>
              <a:gd name="T0" fmla="*/ 0 w 767"/>
              <a:gd name="T1" fmla="*/ 0 h 488"/>
              <a:gd name="T2" fmla="*/ 767 w 767"/>
              <a:gd name="T3" fmla="*/ 488 h 4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67" h="488">
                <a:moveTo>
                  <a:pt x="0" y="0"/>
                </a:moveTo>
                <a:lnTo>
                  <a:pt x="767" y="488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5" name="Freeform 44"/>
          <p:cNvSpPr/>
          <p:nvPr/>
        </p:nvSpPr>
        <p:spPr bwMode="auto">
          <a:xfrm>
            <a:off x="7269467" y="3559765"/>
            <a:ext cx="311150" cy="490538"/>
          </a:xfrm>
          <a:custGeom>
            <a:avLst/>
            <a:gdLst>
              <a:gd name="T0" fmla="*/ 259 w 259"/>
              <a:gd name="T1" fmla="*/ 0 h 421"/>
              <a:gd name="T2" fmla="*/ 0 w 259"/>
              <a:gd name="T3" fmla="*/ 421 h 4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59" h="421">
                <a:moveTo>
                  <a:pt x="259" y="0"/>
                </a:moveTo>
                <a:lnTo>
                  <a:pt x="0" y="421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6" name="Freeform 45"/>
          <p:cNvSpPr/>
          <p:nvPr/>
        </p:nvSpPr>
        <p:spPr bwMode="auto">
          <a:xfrm>
            <a:off x="7825410" y="3590245"/>
            <a:ext cx="268288" cy="490538"/>
          </a:xfrm>
          <a:custGeom>
            <a:avLst/>
            <a:gdLst>
              <a:gd name="T0" fmla="*/ 0 w 222"/>
              <a:gd name="T1" fmla="*/ 0 h 421"/>
              <a:gd name="T2" fmla="*/ 222 w 222"/>
              <a:gd name="T3" fmla="*/ 421 h 4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421">
                <a:moveTo>
                  <a:pt x="0" y="0"/>
                </a:moveTo>
                <a:lnTo>
                  <a:pt x="222" y="421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9" name="Freeform 65"/>
          <p:cNvSpPr/>
          <p:nvPr/>
        </p:nvSpPr>
        <p:spPr bwMode="auto">
          <a:xfrm>
            <a:off x="6978954" y="4348751"/>
            <a:ext cx="180000" cy="396000"/>
          </a:xfrm>
          <a:custGeom>
            <a:avLst/>
            <a:gdLst>
              <a:gd name="T0" fmla="*/ 119 w 119"/>
              <a:gd name="T1" fmla="*/ 0 h 356"/>
              <a:gd name="T2" fmla="*/ 0 w 119"/>
              <a:gd name="T3" fmla="*/ 356 h 3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9" h="356">
                <a:moveTo>
                  <a:pt x="119" y="0"/>
                </a:moveTo>
                <a:lnTo>
                  <a:pt x="0" y="356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40" name="Line 66"/>
          <p:cNvSpPr>
            <a:spLocks noChangeShapeType="1"/>
          </p:cNvSpPr>
          <p:nvPr/>
        </p:nvSpPr>
        <p:spPr bwMode="auto">
          <a:xfrm>
            <a:off x="7304392" y="4412252"/>
            <a:ext cx="111125" cy="412750"/>
          </a:xfrm>
          <a:prstGeom prst="line">
            <a:avLst/>
          </a:prstGeom>
          <a:noFill/>
          <a:ln w="28575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41" name="Oval 37"/>
          <p:cNvSpPr>
            <a:spLocks noChangeArrowheads="1"/>
          </p:cNvSpPr>
          <p:nvPr/>
        </p:nvSpPr>
        <p:spPr bwMode="auto">
          <a:xfrm>
            <a:off x="8750288" y="2500266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37"/>
          <p:cNvSpPr>
            <a:spLocks noChangeArrowheads="1"/>
          </p:cNvSpPr>
          <p:nvPr/>
        </p:nvSpPr>
        <p:spPr bwMode="auto">
          <a:xfrm>
            <a:off x="7479020" y="3252900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val 37"/>
          <p:cNvSpPr>
            <a:spLocks noChangeArrowheads="1"/>
          </p:cNvSpPr>
          <p:nvPr/>
        </p:nvSpPr>
        <p:spPr bwMode="auto">
          <a:xfrm>
            <a:off x="9934880" y="3252900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val 37"/>
          <p:cNvSpPr>
            <a:spLocks noChangeArrowheads="1"/>
          </p:cNvSpPr>
          <p:nvPr/>
        </p:nvSpPr>
        <p:spPr bwMode="auto">
          <a:xfrm>
            <a:off x="7013999" y="3982256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37"/>
          <p:cNvSpPr>
            <a:spLocks noChangeArrowheads="1"/>
          </p:cNvSpPr>
          <p:nvPr/>
        </p:nvSpPr>
        <p:spPr bwMode="auto">
          <a:xfrm>
            <a:off x="7956339" y="3982256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Oval 37"/>
          <p:cNvSpPr>
            <a:spLocks noChangeArrowheads="1"/>
          </p:cNvSpPr>
          <p:nvPr/>
        </p:nvSpPr>
        <p:spPr bwMode="auto">
          <a:xfrm>
            <a:off x="9451486" y="3982256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Oval 37"/>
          <p:cNvSpPr>
            <a:spLocks noChangeArrowheads="1"/>
          </p:cNvSpPr>
          <p:nvPr/>
        </p:nvSpPr>
        <p:spPr bwMode="auto">
          <a:xfrm>
            <a:off x="6685769" y="4743881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Oval 37"/>
          <p:cNvSpPr>
            <a:spLocks noChangeArrowheads="1"/>
          </p:cNvSpPr>
          <p:nvPr/>
        </p:nvSpPr>
        <p:spPr bwMode="auto">
          <a:xfrm>
            <a:off x="7202060" y="4743881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Oval 37"/>
          <p:cNvSpPr>
            <a:spLocks noChangeArrowheads="1"/>
          </p:cNvSpPr>
          <p:nvPr/>
        </p:nvSpPr>
        <p:spPr bwMode="auto">
          <a:xfrm>
            <a:off x="7718947" y="4743881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Oval 37"/>
          <p:cNvSpPr>
            <a:spLocks noChangeArrowheads="1"/>
          </p:cNvSpPr>
          <p:nvPr/>
        </p:nvSpPr>
        <p:spPr bwMode="auto">
          <a:xfrm>
            <a:off x="8232663" y="4743881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641412" y="4414256"/>
            <a:ext cx="432000" cy="761625"/>
            <a:chOff x="9671892" y="4193594"/>
            <a:chExt cx="432000" cy="761625"/>
          </a:xfrm>
          <a:solidFill>
            <a:srgbClr val="B4B4BE"/>
          </a:solidFill>
        </p:grpSpPr>
        <p:sp>
          <p:nvSpPr>
            <p:cNvPr id="28" name="Line 66"/>
            <p:cNvSpPr>
              <a:spLocks noChangeShapeType="1"/>
            </p:cNvSpPr>
            <p:nvPr/>
          </p:nvSpPr>
          <p:spPr bwMode="auto">
            <a:xfrm>
              <a:off x="9780317" y="4193594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2" name="Oval 37"/>
            <p:cNvSpPr>
              <a:spLocks noChangeArrowheads="1"/>
            </p:cNvSpPr>
            <p:nvPr/>
          </p:nvSpPr>
          <p:spPr bwMode="auto">
            <a:xfrm>
              <a:off x="9671892" y="45232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164234" y="4340753"/>
            <a:ext cx="432000" cy="835128"/>
            <a:chOff x="10194714" y="4120091"/>
            <a:chExt cx="432000" cy="835128"/>
          </a:xfrm>
          <a:solidFill>
            <a:srgbClr val="B4B4BE"/>
          </a:solidFill>
        </p:grpSpPr>
        <p:sp>
          <p:nvSpPr>
            <p:cNvPr id="29" name="Freeform 65"/>
            <p:cNvSpPr/>
            <p:nvPr/>
          </p:nvSpPr>
          <p:spPr bwMode="auto">
            <a:xfrm>
              <a:off x="10388328" y="4120091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3" name="Oval 37"/>
            <p:cNvSpPr>
              <a:spLocks noChangeArrowheads="1"/>
            </p:cNvSpPr>
            <p:nvPr/>
          </p:nvSpPr>
          <p:spPr bwMode="auto">
            <a:xfrm>
              <a:off x="10194714" y="45232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0668046" y="4404254"/>
            <a:ext cx="432000" cy="771627"/>
            <a:chOff x="10698526" y="4183592"/>
            <a:chExt cx="432000" cy="771627"/>
          </a:xfrm>
          <a:solidFill>
            <a:srgbClr val="B4B4BE"/>
          </a:solidFill>
        </p:grpSpPr>
        <p:sp>
          <p:nvSpPr>
            <p:cNvPr id="30" name="Line 66"/>
            <p:cNvSpPr>
              <a:spLocks noChangeShapeType="1"/>
            </p:cNvSpPr>
            <p:nvPr/>
          </p:nvSpPr>
          <p:spPr bwMode="auto">
            <a:xfrm>
              <a:off x="10713766" y="4183592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4" name="Oval 37"/>
            <p:cNvSpPr>
              <a:spLocks noChangeArrowheads="1"/>
            </p:cNvSpPr>
            <p:nvPr/>
          </p:nvSpPr>
          <p:spPr bwMode="auto">
            <a:xfrm>
              <a:off x="10698526" y="45232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5" name="Oval 37"/>
          <p:cNvSpPr>
            <a:spLocks noChangeArrowheads="1"/>
          </p:cNvSpPr>
          <p:nvPr/>
        </p:nvSpPr>
        <p:spPr bwMode="auto">
          <a:xfrm>
            <a:off x="10374935" y="3982256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826444" y="2454228"/>
            <a:ext cx="4121166" cy="2675615"/>
            <a:chOff x="1826444" y="2454228"/>
            <a:chExt cx="4121166" cy="2675615"/>
          </a:xfrm>
          <a:solidFill>
            <a:srgbClr val="B4B4BE"/>
          </a:solidFill>
        </p:grpSpPr>
        <p:sp>
          <p:nvSpPr>
            <p:cNvPr id="56" name="Freeform 65"/>
            <p:cNvSpPr/>
            <p:nvPr/>
          </p:nvSpPr>
          <p:spPr bwMode="auto">
            <a:xfrm>
              <a:off x="3069613" y="4302713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7" name="Line 66"/>
            <p:cNvSpPr>
              <a:spLocks noChangeShapeType="1"/>
            </p:cNvSpPr>
            <p:nvPr/>
          </p:nvSpPr>
          <p:spPr bwMode="auto">
            <a:xfrm>
              <a:off x="3395051" y="4350974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8" name="Freeform 45"/>
            <p:cNvSpPr/>
            <p:nvPr/>
          </p:nvSpPr>
          <p:spPr bwMode="auto">
            <a:xfrm>
              <a:off x="5402005" y="3607747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9" name="Freeform 44"/>
            <p:cNvSpPr/>
            <p:nvPr/>
          </p:nvSpPr>
          <p:spPr bwMode="auto">
            <a:xfrm>
              <a:off x="4846062" y="3577267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0" name="Line 42"/>
            <p:cNvSpPr>
              <a:spLocks noChangeShapeType="1"/>
            </p:cNvSpPr>
            <p:nvPr/>
          </p:nvSpPr>
          <p:spPr bwMode="auto">
            <a:xfrm flipH="1">
              <a:off x="2926080" y="2799352"/>
              <a:ext cx="995363" cy="493713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1" name="Freeform 43"/>
            <p:cNvSpPr/>
            <p:nvPr/>
          </p:nvSpPr>
          <p:spPr bwMode="auto">
            <a:xfrm>
              <a:off x="4256405" y="2753314"/>
              <a:ext cx="928688" cy="568325"/>
            </a:xfrm>
            <a:custGeom>
              <a:avLst/>
              <a:gdLst>
                <a:gd name="T0" fmla="*/ 0 w 767"/>
                <a:gd name="T1" fmla="*/ 0 h 488"/>
                <a:gd name="T2" fmla="*/ 767 w 767"/>
                <a:gd name="T3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7" h="488">
                  <a:moveTo>
                    <a:pt x="0" y="0"/>
                  </a:moveTo>
                  <a:lnTo>
                    <a:pt x="767" y="488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2" name="Freeform 44"/>
            <p:cNvSpPr/>
            <p:nvPr/>
          </p:nvSpPr>
          <p:spPr bwMode="auto">
            <a:xfrm>
              <a:off x="2410142" y="3513727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3" name="Freeform 45"/>
            <p:cNvSpPr/>
            <p:nvPr/>
          </p:nvSpPr>
          <p:spPr bwMode="auto">
            <a:xfrm>
              <a:off x="2966085" y="3544207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4" name="Freeform 65"/>
            <p:cNvSpPr/>
            <p:nvPr/>
          </p:nvSpPr>
          <p:spPr bwMode="auto">
            <a:xfrm>
              <a:off x="2119629" y="4302713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2445067" y="4366214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6" name="Oval 37"/>
            <p:cNvSpPr>
              <a:spLocks noChangeArrowheads="1"/>
            </p:cNvSpPr>
            <p:nvPr/>
          </p:nvSpPr>
          <p:spPr bwMode="auto">
            <a:xfrm>
              <a:off x="3890963" y="245422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Oval 37"/>
            <p:cNvSpPr>
              <a:spLocks noChangeArrowheads="1"/>
            </p:cNvSpPr>
            <p:nvPr/>
          </p:nvSpPr>
          <p:spPr bwMode="auto">
            <a:xfrm>
              <a:off x="2619695" y="320686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Oval 37"/>
            <p:cNvSpPr>
              <a:spLocks noChangeArrowheads="1"/>
            </p:cNvSpPr>
            <p:nvPr/>
          </p:nvSpPr>
          <p:spPr bwMode="auto">
            <a:xfrm>
              <a:off x="5075555" y="320686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Oval 37"/>
            <p:cNvSpPr>
              <a:spLocks noChangeArrowheads="1"/>
            </p:cNvSpPr>
            <p:nvPr/>
          </p:nvSpPr>
          <p:spPr bwMode="auto">
            <a:xfrm>
              <a:off x="2154674" y="393621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Oval 37"/>
            <p:cNvSpPr>
              <a:spLocks noChangeArrowheads="1"/>
            </p:cNvSpPr>
            <p:nvPr/>
          </p:nvSpPr>
          <p:spPr bwMode="auto">
            <a:xfrm>
              <a:off x="3097014" y="393621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Oval 37"/>
            <p:cNvSpPr>
              <a:spLocks noChangeArrowheads="1"/>
            </p:cNvSpPr>
            <p:nvPr/>
          </p:nvSpPr>
          <p:spPr bwMode="auto">
            <a:xfrm>
              <a:off x="4592161" y="393621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Oval 37"/>
            <p:cNvSpPr>
              <a:spLocks noChangeArrowheads="1"/>
            </p:cNvSpPr>
            <p:nvPr/>
          </p:nvSpPr>
          <p:spPr bwMode="auto">
            <a:xfrm>
              <a:off x="1826444" y="469784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Oval 37"/>
            <p:cNvSpPr>
              <a:spLocks noChangeArrowheads="1"/>
            </p:cNvSpPr>
            <p:nvPr/>
          </p:nvSpPr>
          <p:spPr bwMode="auto">
            <a:xfrm>
              <a:off x="2342735" y="469784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Oval 37"/>
            <p:cNvSpPr>
              <a:spLocks noChangeArrowheads="1"/>
            </p:cNvSpPr>
            <p:nvPr/>
          </p:nvSpPr>
          <p:spPr bwMode="auto">
            <a:xfrm>
              <a:off x="2859622" y="469784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Oval 37"/>
            <p:cNvSpPr>
              <a:spLocks noChangeArrowheads="1"/>
            </p:cNvSpPr>
            <p:nvPr/>
          </p:nvSpPr>
          <p:spPr bwMode="auto">
            <a:xfrm>
              <a:off x="3373338" y="469784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4782087" y="4368218"/>
              <a:ext cx="432000" cy="761625"/>
              <a:chOff x="9671892" y="4193594"/>
              <a:chExt cx="432000" cy="761625"/>
            </a:xfrm>
            <a:grpFill/>
          </p:grpSpPr>
          <p:sp>
            <p:nvSpPr>
              <p:cNvPr id="84" name="Line 66"/>
              <p:cNvSpPr>
                <a:spLocks noChangeShapeType="1"/>
              </p:cNvSpPr>
              <p:nvPr/>
            </p:nvSpPr>
            <p:spPr bwMode="auto">
              <a:xfrm>
                <a:off x="9780317" y="4193594"/>
                <a:ext cx="111125" cy="412750"/>
              </a:xfrm>
              <a:prstGeom prst="line">
                <a:avLst/>
              </a:prstGeom>
              <a:grpFill/>
              <a:ln w="28575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/>
              </a:p>
            </p:txBody>
          </p:sp>
          <p:sp>
            <p:nvSpPr>
              <p:cNvPr id="85" name="Oval 37"/>
              <p:cNvSpPr>
                <a:spLocks noChangeArrowheads="1"/>
              </p:cNvSpPr>
              <p:nvPr/>
            </p:nvSpPr>
            <p:spPr bwMode="auto">
              <a:xfrm>
                <a:off x="9671892" y="4523219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2" name="Oval 37"/>
            <p:cNvSpPr>
              <a:spLocks noChangeArrowheads="1"/>
            </p:cNvSpPr>
            <p:nvPr/>
          </p:nvSpPr>
          <p:spPr bwMode="auto">
            <a:xfrm>
              <a:off x="5515610" y="393621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37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22879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完全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75328" y="848932"/>
            <a:ext cx="10807072" cy="1118255"/>
            <a:chOff x="744848" y="848932"/>
            <a:chExt cx="10807072" cy="1118255"/>
          </a:xfrm>
        </p:grpSpPr>
        <p:sp>
          <p:nvSpPr>
            <p:cNvPr id="73" name="Text Box 10"/>
            <p:cNvSpPr txBox="1">
              <a:spLocks noChangeArrowheads="1"/>
            </p:cNvSpPr>
            <p:nvPr/>
          </p:nvSpPr>
          <p:spPr bwMode="auto">
            <a:xfrm>
              <a:off x="1393233" y="848932"/>
              <a:ext cx="10158687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完全</a:t>
              </a:r>
              <a:r>
                <a:rPr lang="zh-CN" altLang="en-US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二叉树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在满二叉树中，从最后一个结点开始，连续去掉任意个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结点得到的二叉树</a:t>
              </a:r>
              <a:endPara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4" name="Group 67"/>
            <p:cNvGrpSpPr/>
            <p:nvPr/>
          </p:nvGrpSpPr>
          <p:grpSpPr>
            <a:xfrm>
              <a:off x="744848" y="965514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75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01" name="组合 100"/>
          <p:cNvGrpSpPr/>
          <p:nvPr/>
        </p:nvGrpSpPr>
        <p:grpSpPr>
          <a:xfrm>
            <a:off x="824669" y="2120414"/>
            <a:ext cx="5353169" cy="523220"/>
            <a:chOff x="1826091" y="4148024"/>
            <a:chExt cx="5353169" cy="523220"/>
          </a:xfrm>
        </p:grpSpPr>
        <p:sp>
          <p:nvSpPr>
            <p:cNvPr id="102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47942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完全二叉树有什么特点呢？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3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104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08" name="Text Box 34"/>
          <p:cNvSpPr txBox="1">
            <a:spLocks noChangeArrowheads="1"/>
          </p:cNvSpPr>
          <p:nvPr/>
        </p:nvSpPr>
        <p:spPr bwMode="auto">
          <a:xfrm>
            <a:off x="970123" y="2811996"/>
            <a:ext cx="595286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）叶子结点只能出现在</a:t>
            </a:r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最下两层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且最下层的叶子结点都集中在二叉树的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左面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443347" y="2382024"/>
            <a:ext cx="4121166" cy="2675615"/>
            <a:chOff x="7192931" y="1589829"/>
            <a:chExt cx="4121166" cy="2675615"/>
          </a:xfrm>
          <a:solidFill>
            <a:srgbClr val="B4B4BE"/>
          </a:solidFill>
        </p:grpSpPr>
        <p:sp>
          <p:nvSpPr>
            <p:cNvPr id="25" name="Freeform 65"/>
            <p:cNvSpPr/>
            <p:nvPr/>
          </p:nvSpPr>
          <p:spPr bwMode="auto">
            <a:xfrm>
              <a:off x="8436100" y="3438314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1" name="Freeform 45"/>
            <p:cNvSpPr/>
            <p:nvPr/>
          </p:nvSpPr>
          <p:spPr bwMode="auto">
            <a:xfrm>
              <a:off x="10768492" y="2743348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2" name="Freeform 44"/>
            <p:cNvSpPr/>
            <p:nvPr/>
          </p:nvSpPr>
          <p:spPr bwMode="auto">
            <a:xfrm>
              <a:off x="10212549" y="2712868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 flipH="1">
              <a:off x="8292567" y="1934953"/>
              <a:ext cx="995363" cy="493713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Freeform 43"/>
            <p:cNvSpPr/>
            <p:nvPr/>
          </p:nvSpPr>
          <p:spPr bwMode="auto">
            <a:xfrm>
              <a:off x="9622892" y="1888915"/>
              <a:ext cx="928688" cy="568325"/>
            </a:xfrm>
            <a:custGeom>
              <a:avLst/>
              <a:gdLst>
                <a:gd name="T0" fmla="*/ 0 w 767"/>
                <a:gd name="T1" fmla="*/ 0 h 488"/>
                <a:gd name="T2" fmla="*/ 767 w 767"/>
                <a:gd name="T3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7" h="488">
                  <a:moveTo>
                    <a:pt x="0" y="0"/>
                  </a:moveTo>
                  <a:lnTo>
                    <a:pt x="767" y="488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Freeform 44"/>
            <p:cNvSpPr/>
            <p:nvPr/>
          </p:nvSpPr>
          <p:spPr bwMode="auto">
            <a:xfrm>
              <a:off x="7776629" y="2649328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6" name="Freeform 45"/>
            <p:cNvSpPr/>
            <p:nvPr/>
          </p:nvSpPr>
          <p:spPr bwMode="auto">
            <a:xfrm>
              <a:off x="8332572" y="2679808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Freeform 65"/>
            <p:cNvSpPr/>
            <p:nvPr/>
          </p:nvSpPr>
          <p:spPr bwMode="auto">
            <a:xfrm>
              <a:off x="7486116" y="3438314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66"/>
            <p:cNvSpPr>
              <a:spLocks noChangeShapeType="1"/>
            </p:cNvSpPr>
            <p:nvPr/>
          </p:nvSpPr>
          <p:spPr bwMode="auto">
            <a:xfrm>
              <a:off x="7811554" y="3501815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257450" y="158982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7986182" y="234246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10442042" y="234246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7521161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8463501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9958648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7192931" y="383344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val 37"/>
            <p:cNvSpPr>
              <a:spLocks noChangeArrowheads="1"/>
            </p:cNvSpPr>
            <p:nvPr/>
          </p:nvSpPr>
          <p:spPr bwMode="auto">
            <a:xfrm>
              <a:off x="7709222" y="383344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8226109" y="383344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Oval 37"/>
            <p:cNvSpPr>
              <a:spLocks noChangeArrowheads="1"/>
            </p:cNvSpPr>
            <p:nvPr/>
          </p:nvSpPr>
          <p:spPr bwMode="auto">
            <a:xfrm>
              <a:off x="10882097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Text Box 34"/>
          <p:cNvSpPr txBox="1">
            <a:spLocks noChangeArrowheads="1"/>
          </p:cNvSpPr>
          <p:nvPr/>
        </p:nvSpPr>
        <p:spPr bwMode="auto">
          <a:xfrm>
            <a:off x="970123" y="4380920"/>
            <a:ext cx="595286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）深度为 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完全二叉树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 smtClean="0">
                <a:solidFill>
                  <a:srgbClr val="B42D2D"/>
                </a:solidFill>
                <a:latin typeface="+mn-ea"/>
                <a:cs typeface="Times New Roman" panose="02020603050405020304" pitchFamily="18" charset="0"/>
              </a:rPr>
              <a:t>-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上一定是</a:t>
            </a:r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满</a:t>
            </a:r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</a:t>
            </a:r>
            <a:endParaRPr lang="zh-CN" altLang="en-US" sz="2400" dirty="0">
              <a:solidFill>
                <a:srgbClr val="B42D2D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Text Box 34"/>
          <p:cNvSpPr txBox="1">
            <a:spLocks noChangeArrowheads="1"/>
          </p:cNvSpPr>
          <p:nvPr/>
        </p:nvSpPr>
        <p:spPr bwMode="auto">
          <a:xfrm>
            <a:off x="970123" y="3596458"/>
            <a:ext cx="595286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）完全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二叉树中如果有度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1 的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结点，只可能有一个，且该结点只有</a:t>
            </a:r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左</a:t>
            </a:r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孩子</a:t>
            </a:r>
            <a:endParaRPr lang="zh-CN" altLang="en-US" sz="2400" dirty="0">
              <a:solidFill>
                <a:srgbClr val="B42D2D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" name="Text Box 34"/>
          <p:cNvSpPr txBox="1">
            <a:spLocks noChangeArrowheads="1"/>
          </p:cNvSpPr>
          <p:nvPr/>
        </p:nvSpPr>
        <p:spPr bwMode="auto">
          <a:xfrm>
            <a:off x="970123" y="5165382"/>
            <a:ext cx="595286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）在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同样结点个数的二叉树中，完全二叉树的</a:t>
            </a:r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深度</a:t>
            </a:r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最小</a:t>
            </a:r>
            <a:endParaRPr lang="zh-CN" altLang="en-US" sz="2400" dirty="0">
              <a:solidFill>
                <a:srgbClr val="B42D2D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50" grpId="0"/>
      <p:bldP spid="51" grpId="0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nip Diagonal Corner Rectangle 12"/>
          <p:cNvSpPr/>
          <p:nvPr/>
        </p:nvSpPr>
        <p:spPr>
          <a:xfrm>
            <a:off x="2931171" y="3899819"/>
            <a:ext cx="6568845" cy="725672"/>
          </a:xfrm>
          <a:prstGeom prst="snip2Diag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81156" y="4011812"/>
            <a:ext cx="565785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5-4-2    </a:t>
            </a:r>
            <a:r>
              <a:rPr lang="zh-CN" altLang="en-US" dirty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二叉树的基本性质</a:t>
            </a:r>
            <a:endParaRPr lang="zh-CN" alt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40433" y="1998397"/>
            <a:ext cx="7670342" cy="13452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v</a:t>
            </a:r>
            <a:endParaRPr lang="zh-CN" altLang="en-US" dirty="0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862818" y="2403766"/>
            <a:ext cx="67536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5C307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第五章     树和二叉树</a:t>
            </a:r>
            <a:endParaRPr lang="zh-CN" altLang="en-US" sz="3200" b="1" dirty="0">
              <a:solidFill>
                <a:srgbClr val="5C307D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73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2714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</a:t>
            </a:r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44848" y="848932"/>
            <a:ext cx="10807383" cy="1118255"/>
            <a:chOff x="834181" y="2739233"/>
            <a:chExt cx="10807383" cy="1118255"/>
          </a:xfrm>
        </p:grpSpPr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1482566" y="2739233"/>
              <a:ext cx="10158998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ts val="4000"/>
                </a:lnSpc>
              </a:pPr>
              <a:r>
                <a:rPr lang="zh-CN" altLang="en-US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性质 </a:t>
              </a:r>
              <a:r>
                <a:rPr lang="en-US" altLang="zh-CN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5-1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：在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一棵二叉树中，如果叶子结点数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为 </a:t>
              </a:r>
              <a:r>
                <a:rPr lang="en-US" altLang="zh-CN" sz="2800" b="1" i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 baseline="-300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28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度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为 2 的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结点数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为 </a:t>
              </a:r>
              <a:r>
                <a:rPr lang="en-US" altLang="zh-CN" sz="2800" b="1" i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 baseline="-300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则有: </a:t>
              </a:r>
              <a:r>
                <a:rPr lang="en-US" altLang="zh-CN" sz="2800" b="1" i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 baseline="-30000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28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lang="en-US" altLang="zh-CN" sz="2800" b="1" i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 baseline="-30000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lang="en-US" altLang="zh-CN" sz="2800" b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67"/>
            <p:cNvGrpSpPr/>
            <p:nvPr/>
          </p:nvGrpSpPr>
          <p:grpSpPr>
            <a:xfrm>
              <a:off x="834181" y="2855815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48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9052883" y="2382687"/>
            <a:ext cx="2029024" cy="2288582"/>
            <a:chOff x="8910791" y="1914129"/>
            <a:chExt cx="2029024" cy="2288582"/>
          </a:xfrm>
          <a:solidFill>
            <a:srgbClr val="B4B4BE"/>
          </a:solidFill>
        </p:grpSpPr>
        <p:sp>
          <p:nvSpPr>
            <p:cNvPr id="61" name="Line 25"/>
            <p:cNvSpPr>
              <a:spLocks noChangeShapeType="1"/>
            </p:cNvSpPr>
            <p:nvPr/>
          </p:nvSpPr>
          <p:spPr bwMode="auto">
            <a:xfrm flipH="1">
              <a:off x="9274645" y="2250679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62" name="Line 26"/>
            <p:cNvSpPr>
              <a:spLocks noChangeShapeType="1"/>
            </p:cNvSpPr>
            <p:nvPr/>
          </p:nvSpPr>
          <p:spPr bwMode="auto">
            <a:xfrm>
              <a:off x="10158883" y="2250678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65" name="Line 29"/>
            <p:cNvSpPr>
              <a:spLocks noChangeShapeType="1"/>
            </p:cNvSpPr>
            <p:nvPr/>
          </p:nvSpPr>
          <p:spPr bwMode="auto">
            <a:xfrm flipH="1">
              <a:off x="10322713" y="3126661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67" name="Oval 37"/>
            <p:cNvSpPr>
              <a:spLocks noChangeArrowheads="1"/>
            </p:cNvSpPr>
            <p:nvPr/>
          </p:nvSpPr>
          <p:spPr bwMode="auto">
            <a:xfrm>
              <a:off x="9766136" y="191412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Oval 37"/>
            <p:cNvSpPr>
              <a:spLocks noChangeArrowheads="1"/>
            </p:cNvSpPr>
            <p:nvPr/>
          </p:nvSpPr>
          <p:spPr bwMode="auto">
            <a:xfrm>
              <a:off x="10507815" y="2730420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Oval 37"/>
            <p:cNvSpPr>
              <a:spLocks noChangeArrowheads="1"/>
            </p:cNvSpPr>
            <p:nvPr/>
          </p:nvSpPr>
          <p:spPr bwMode="auto">
            <a:xfrm>
              <a:off x="8910791" y="2730420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Oval 37"/>
            <p:cNvSpPr>
              <a:spLocks noChangeArrowheads="1"/>
            </p:cNvSpPr>
            <p:nvPr/>
          </p:nvSpPr>
          <p:spPr bwMode="auto">
            <a:xfrm>
              <a:off x="10054743" y="377071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Text Box 9" descr="水滴"/>
          <p:cNvSpPr txBox="1">
            <a:spLocks noChangeArrowheads="1"/>
          </p:cNvSpPr>
          <p:nvPr/>
        </p:nvSpPr>
        <p:spPr bwMode="auto">
          <a:xfrm>
            <a:off x="1390208" y="1996845"/>
            <a:ext cx="737279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l" eaLnBrk="0" hangingPunct="0">
              <a:lnSpc>
                <a:spcPts val="3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证明: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 </a:t>
            </a:r>
            <a:r>
              <a:rPr lang="en-US" altLang="zh-CN" sz="2400" b="1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二叉树的结点总数，</a:t>
            </a:r>
            <a:r>
              <a:rPr lang="en-US" altLang="zh-CN" sz="2400" b="1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baseline="-30000" dirty="0" smtClean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二叉树中度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1 的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结点数，则有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eaLnBrk="0" hangingPunct="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baseline="-30000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baseline="-30000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baseline="-30000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B42D2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Text Box 9" descr="水滴"/>
          <p:cNvSpPr txBox="1">
            <a:spLocks noChangeArrowheads="1"/>
          </p:cNvSpPr>
          <p:nvPr/>
        </p:nvSpPr>
        <p:spPr bwMode="auto">
          <a:xfrm>
            <a:off x="1390208" y="3359221"/>
            <a:ext cx="7055170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l" eaLnBrk="0" hangingPunct="0">
              <a:lnSpc>
                <a:spcPts val="30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二叉树中，除了根结点外，其余结点都有唯一的一个分枝进入，一个度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1 的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结点射出一个分枝，一个度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2 的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结点射出两个分枝，所以有：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eaLnBrk="0" hangingPunct="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baseline="-30000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＋2</a:t>
            </a: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baseline="-30000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sz="2400" b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b="1" dirty="0">
              <a:solidFill>
                <a:srgbClr val="B42D2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Text Box 9" descr="水滴"/>
          <p:cNvSpPr txBox="1">
            <a:spLocks noChangeArrowheads="1"/>
          </p:cNvSpPr>
          <p:nvPr/>
        </p:nvSpPr>
        <p:spPr bwMode="auto">
          <a:xfrm>
            <a:off x="1390208" y="5106352"/>
            <a:ext cx="7055170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l" eaLnBrk="0" hangingPunct="0">
              <a:lnSpc>
                <a:spcPts val="30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因此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可以得到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zh-CN" altLang="en-US" sz="2400" dirty="0" smtClean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eaLnBrk="0" hangingPunct="0">
              <a:lnSpc>
                <a:spcPts val="3000"/>
              </a:lnSpc>
            </a:pP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n</a:t>
            </a:r>
            <a:r>
              <a:rPr lang="en-US" altLang="zh-CN" sz="2400" b="1" baseline="-30000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＋</a:t>
            </a: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sz="2400" b="1" baseline="-30000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＋</a:t>
            </a: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sz="2400" b="1" baseline="-30000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 </a:t>
            </a:r>
            <a:r>
              <a:rPr lang="en-US" altLang="zh-CN" sz="2400" b="1" baseline="-30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sz="2400" b="1" baseline="-30000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＋2</a:t>
            </a: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sz="2400" b="1" baseline="-30000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＋</a:t>
            </a:r>
            <a:r>
              <a:rPr lang="en-US" altLang="zh-CN" sz="2400" b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   </a:t>
            </a:r>
            <a:r>
              <a:rPr lang="zh-CN" altLang="en-US" sz="2400" b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400" b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</a:t>
            </a:r>
            <a:r>
              <a:rPr lang="en-US" altLang="zh-CN" sz="2400" b="1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baseline="-30000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4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baseline="-30000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＋1 </a:t>
            </a:r>
            <a:endParaRPr lang="en-US" altLang="zh-CN" sz="2400" b="1" dirty="0">
              <a:solidFill>
                <a:srgbClr val="B42D2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25" grpId="0" bldLvl="0" animBg="1"/>
      <p:bldP spid="26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73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2714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</a:t>
            </a:r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44848" y="848932"/>
            <a:ext cx="10807383" cy="605294"/>
            <a:chOff x="834181" y="2739233"/>
            <a:chExt cx="10807383" cy="605294"/>
          </a:xfrm>
        </p:grpSpPr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1482566" y="2739233"/>
              <a:ext cx="10158998" cy="605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ts val="4000"/>
                </a:lnSpc>
              </a:pPr>
              <a:r>
                <a:rPr lang="zh-CN" altLang="en-US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性质 </a:t>
              </a:r>
              <a:r>
                <a:rPr lang="en-US" altLang="zh-CN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5-2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二叉树的</a:t>
              </a:r>
              <a:r>
                <a:rPr lang="zh-CN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第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 err="1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层</a:t>
              </a:r>
              <a:r>
                <a:rPr lang="zh-CN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上最多有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300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800" baseline="300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-1</a:t>
              </a:r>
              <a:r>
                <a:rPr lang="zh-CN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个结点（</a:t>
              </a:r>
              <a:r>
                <a:rPr lang="en-US" altLang="zh-CN" sz="2800" i="1" dirty="0" err="1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zh-CN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</a:t>
              </a:r>
              <a:endParaRPr lang="zh-CN" altLang="en-US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67"/>
            <p:cNvGrpSpPr/>
            <p:nvPr/>
          </p:nvGrpSpPr>
          <p:grpSpPr>
            <a:xfrm>
              <a:off x="834181" y="2855815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48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45" name="Text Box 9" descr="水滴"/>
          <p:cNvSpPr txBox="1">
            <a:spLocks noChangeArrowheads="1"/>
          </p:cNvSpPr>
          <p:nvPr/>
        </p:nvSpPr>
        <p:spPr bwMode="auto">
          <a:xfrm>
            <a:off x="1438953" y="1509165"/>
            <a:ext cx="7674614" cy="98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证明：采用归纳法证明。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zh-CN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1 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时，只有一个根结点，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2</a:t>
            </a:r>
            <a:r>
              <a:rPr lang="en-US" altLang="zh-CN" sz="2400" i="1" baseline="300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300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 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2</a:t>
            </a:r>
            <a:r>
              <a:rPr lang="en-US" altLang="zh-CN" sz="2400" baseline="300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结论成立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9" descr="水滴"/>
          <p:cNvSpPr txBox="1">
            <a:spLocks noChangeArrowheads="1"/>
          </p:cNvSpPr>
          <p:nvPr/>
        </p:nvSpPr>
        <p:spPr bwMode="auto">
          <a:xfrm>
            <a:off x="1438953" y="2432999"/>
            <a:ext cx="7674614" cy="541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假设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400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结论成立，即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上最多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2</a:t>
            </a:r>
            <a:r>
              <a:rPr lang="en-US" altLang="zh-CN" sz="2400" i="1" baseline="300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en-US" altLang="zh-CN" sz="2400" baseline="30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aseline="300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9" descr="水滴"/>
          <p:cNvSpPr txBox="1">
            <a:spLocks noChangeArrowheads="1"/>
          </p:cNvSpPr>
          <p:nvPr/>
        </p:nvSpPr>
        <p:spPr bwMode="auto">
          <a:xfrm>
            <a:off x="1423713" y="2960504"/>
            <a:ext cx="10128518" cy="1437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考虑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400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 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的情形。由于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 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上的结点是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上结点的孩子，而二叉树中每个结点最多有两个孩子，故在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 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个数有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i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lang="en-US" altLang="zh-CN" sz="24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结点，则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时结论也成立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9" descr="水滴"/>
          <p:cNvSpPr txBox="1">
            <a:spLocks noChangeArrowheads="1"/>
          </p:cNvSpPr>
          <p:nvPr/>
        </p:nvSpPr>
        <p:spPr bwMode="auto">
          <a:xfrm>
            <a:off x="1438953" y="4383441"/>
            <a:ext cx="2675847" cy="541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由此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，结论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成立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20" grpId="0" bldLvl="0" animBg="1"/>
      <p:bldP spid="22" grpId="0" bldLvl="0" animBg="1"/>
      <p:bldP spid="2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73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2714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</a:t>
            </a:r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44848" y="848932"/>
            <a:ext cx="10807383" cy="603885"/>
            <a:chOff x="834181" y="2739233"/>
            <a:chExt cx="10807383" cy="603885"/>
          </a:xfrm>
        </p:grpSpPr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1482566" y="2739233"/>
              <a:ext cx="10158998" cy="6038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ts val="4000"/>
                </a:lnSpc>
              </a:pPr>
              <a:r>
                <a:rPr lang="zh-CN" altLang="en-US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性质 </a:t>
              </a:r>
              <a:r>
                <a:rPr lang="en-US" altLang="zh-CN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5-3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一棵深度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为 </a:t>
              </a:r>
              <a:r>
                <a:rPr lang="en-US" altLang="zh-CN" sz="2800" i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二叉树中，最多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有 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300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-1  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个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结点</a:t>
              </a:r>
              <a:endParaRPr lang="zh-CN" altLang="en-US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67"/>
            <p:cNvGrpSpPr/>
            <p:nvPr/>
          </p:nvGrpSpPr>
          <p:grpSpPr>
            <a:xfrm>
              <a:off x="834181" y="2855815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48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5" name="Text Box 10" descr="水滴"/>
          <p:cNvSpPr txBox="1">
            <a:spLocks noChangeArrowheads="1"/>
          </p:cNvSpPr>
          <p:nvPr/>
        </p:nvSpPr>
        <p:spPr bwMode="auto">
          <a:xfrm>
            <a:off x="1317033" y="1596390"/>
            <a:ext cx="8609013" cy="497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深度为 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二叉树中结点个数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最多为 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，则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1393233" y="4525960"/>
            <a:ext cx="8893767" cy="737235"/>
          </a:xfrm>
          <a:prstGeom prst="rect">
            <a:avLst/>
          </a:prstGeom>
          <a:noFill/>
          <a:ln w="38100">
            <a:solidFill>
              <a:srgbClr val="5C307D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Ins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深度</a:t>
            </a:r>
            <a:r>
              <a:rPr lang="zh-CN" alt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</a:t>
            </a:r>
            <a:r>
              <a:rPr lang="en-US" altLang="zh-CN" sz="28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且具有 </a:t>
            </a:r>
            <a:r>
              <a:rPr lang="en-US" altLang="zh-CN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 </a:t>
            </a:r>
            <a:r>
              <a: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个结点的二叉树一定是</a:t>
            </a:r>
            <a:r>
              <a:rPr lang="zh-CN" altLang="en-US" sz="28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满</a:t>
            </a:r>
            <a:r>
              <a:rPr lang="zh-CN" altLang="en-US" sz="28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</a:t>
            </a:r>
            <a:endParaRPr lang="zh-CN" altLang="en-US" sz="2800" b="1" dirty="0">
              <a:solidFill>
                <a:srgbClr val="B42D2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617345" y="2289492"/>
          <a:ext cx="7084695" cy="1032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公式" r:id="rId2" imgW="64008000" imgH="9448800" progId="">
                  <p:embed/>
                </p:oleObj>
              </mc:Choice>
              <mc:Fallback>
                <p:oleObj name="公式" r:id="rId2" imgW="64008000" imgH="9448800" progId="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17345" y="2289492"/>
                        <a:ext cx="7084695" cy="10328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73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2714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</a:t>
            </a:r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44848" y="848932"/>
            <a:ext cx="10807383" cy="605294"/>
            <a:chOff x="744848" y="848932"/>
            <a:chExt cx="10807383" cy="605294"/>
          </a:xfrm>
        </p:grpSpPr>
        <p:grpSp>
          <p:nvGrpSpPr>
            <p:cNvPr id="2" name="组合 1"/>
            <p:cNvGrpSpPr/>
            <p:nvPr/>
          </p:nvGrpSpPr>
          <p:grpSpPr>
            <a:xfrm>
              <a:off x="744848" y="848932"/>
              <a:ext cx="10807383" cy="605294"/>
              <a:chOff x="834181" y="2739233"/>
              <a:chExt cx="10807383" cy="605294"/>
            </a:xfrm>
          </p:grpSpPr>
          <p:sp>
            <p:nvSpPr>
              <p:cNvPr id="36" name="Text Box 10"/>
              <p:cNvSpPr txBox="1">
                <a:spLocks noChangeArrowheads="1"/>
              </p:cNvSpPr>
              <p:nvPr/>
            </p:nvSpPr>
            <p:spPr bwMode="auto">
              <a:xfrm>
                <a:off x="1482566" y="2739233"/>
                <a:ext cx="10158998" cy="605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>
                <a:spAutoFit/>
              </a:bodyPr>
              <a:lstStyle/>
              <a:p>
                <a:pPr eaLnBrk="0" hangingPunct="0">
                  <a:lnSpc>
                    <a:spcPts val="4000"/>
                  </a:lnSpc>
                </a:pPr>
                <a:r>
                  <a:rPr lang="zh-CN" altLang="en-US" sz="2800" dirty="0" smtClean="0">
                    <a:solidFill>
                      <a:srgbClr val="285A3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性质 </a:t>
                </a:r>
                <a:r>
                  <a:rPr lang="en-US" altLang="zh-CN" sz="2800" dirty="0" smtClean="0">
                    <a:solidFill>
                      <a:srgbClr val="285A3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5-4</a:t>
                </a:r>
                <a:r>
                  <a:rPr lang="zh-CN" altLang="en-US" sz="28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：具有 </a:t>
                </a:r>
                <a:r>
                  <a:rPr lang="en-US" altLang="zh-CN" sz="2800" b="1" i="1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 </a:t>
                </a:r>
                <a:r>
                  <a:rPr lang="zh-CN" altLang="en-US" sz="28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28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结点的</a:t>
                </a:r>
                <a:r>
                  <a:rPr lang="zh-CN" altLang="en-US" sz="2800" dirty="0">
                    <a:solidFill>
                      <a:srgbClr val="B42D2D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完全二叉树</a:t>
                </a:r>
                <a:r>
                  <a:rPr lang="zh-CN" altLang="en-US" sz="28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的深度为 </a:t>
                </a:r>
                <a:r>
                  <a:rPr lang="en-US" altLang="zh-CN" sz="2800" b="1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log</a:t>
                </a:r>
                <a:r>
                  <a:rPr lang="en-US" altLang="zh-CN" sz="2800" b="1" baseline="-250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2800" b="1" i="1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  </a:t>
                </a:r>
                <a:r>
                  <a:rPr lang="en-US" altLang="zh-CN" sz="2800" b="1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r>
                  <a:rPr lang="en-US" altLang="zh-CN" sz="2800" b="1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zh-CN" altLang="en-US" sz="28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4" name="Group 67"/>
              <p:cNvGrpSpPr/>
              <p:nvPr/>
            </p:nvGrpSpPr>
            <p:grpSpPr>
              <a:xfrm>
                <a:off x="834181" y="2855815"/>
                <a:ext cx="432000" cy="432000"/>
                <a:chOff x="10115551" y="5634038"/>
                <a:chExt cx="577850" cy="576263"/>
              </a:xfrm>
              <a:solidFill>
                <a:srgbClr val="5A327D"/>
              </a:solidFill>
            </p:grpSpPr>
            <p:sp>
              <p:nvSpPr>
                <p:cNvPr id="48" name="Freeform 13"/>
                <p:cNvSpPr/>
                <p:nvPr/>
              </p:nvSpPr>
              <p:spPr bwMode="auto">
                <a:xfrm>
                  <a:off x="10177463" y="5634038"/>
                  <a:ext cx="515938" cy="517525"/>
                </a:xfrm>
                <a:custGeom>
                  <a:avLst/>
                  <a:gdLst>
                    <a:gd name="T0" fmla="*/ 174 w 176"/>
                    <a:gd name="T1" fmla="*/ 61 h 176"/>
                    <a:gd name="T2" fmla="*/ 115 w 176"/>
                    <a:gd name="T3" fmla="*/ 2 h 176"/>
                    <a:gd name="T4" fmla="*/ 110 w 176"/>
                    <a:gd name="T5" fmla="*/ 2 h 176"/>
                    <a:gd name="T6" fmla="*/ 91 w 176"/>
                    <a:gd name="T7" fmla="*/ 20 h 176"/>
                    <a:gd name="T8" fmla="*/ 90 w 176"/>
                    <a:gd name="T9" fmla="*/ 23 h 176"/>
                    <a:gd name="T10" fmla="*/ 91 w 176"/>
                    <a:gd name="T11" fmla="*/ 26 h 176"/>
                    <a:gd name="T12" fmla="*/ 96 w 176"/>
                    <a:gd name="T13" fmla="*/ 31 h 176"/>
                    <a:gd name="T14" fmla="*/ 69 w 176"/>
                    <a:gd name="T15" fmla="*/ 58 h 176"/>
                    <a:gd name="T16" fmla="*/ 50 w 176"/>
                    <a:gd name="T17" fmla="*/ 56 h 176"/>
                    <a:gd name="T18" fmla="*/ 1 w 176"/>
                    <a:gd name="T19" fmla="*/ 76 h 176"/>
                    <a:gd name="T20" fmla="*/ 1 w 176"/>
                    <a:gd name="T21" fmla="*/ 82 h 176"/>
                    <a:gd name="T22" fmla="*/ 94 w 176"/>
                    <a:gd name="T23" fmla="*/ 175 h 176"/>
                    <a:gd name="T24" fmla="*/ 97 w 176"/>
                    <a:gd name="T25" fmla="*/ 176 h 176"/>
                    <a:gd name="T26" fmla="*/ 100 w 176"/>
                    <a:gd name="T27" fmla="*/ 175 h 176"/>
                    <a:gd name="T28" fmla="*/ 118 w 176"/>
                    <a:gd name="T29" fmla="*/ 107 h 176"/>
                    <a:gd name="T30" fmla="*/ 145 w 176"/>
                    <a:gd name="T31" fmla="*/ 80 h 176"/>
                    <a:gd name="T32" fmla="*/ 150 w 176"/>
                    <a:gd name="T33" fmla="*/ 85 h 176"/>
                    <a:gd name="T34" fmla="*/ 156 w 176"/>
                    <a:gd name="T35" fmla="*/ 85 h 176"/>
                    <a:gd name="T36" fmla="*/ 174 w 176"/>
                    <a:gd name="T37" fmla="*/ 66 h 176"/>
                    <a:gd name="T38" fmla="*/ 176 w 176"/>
                    <a:gd name="T39" fmla="*/ 63 h 176"/>
                    <a:gd name="T40" fmla="*/ 174 w 176"/>
                    <a:gd name="T41" fmla="*/ 61 h 1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76" h="176">
                      <a:moveTo>
                        <a:pt x="174" y="61"/>
                      </a:moveTo>
                      <a:cubicBezTo>
                        <a:pt x="115" y="2"/>
                        <a:pt x="115" y="2"/>
                        <a:pt x="115" y="2"/>
                      </a:cubicBezTo>
                      <a:cubicBezTo>
                        <a:pt x="114" y="0"/>
                        <a:pt x="111" y="0"/>
                        <a:pt x="110" y="2"/>
                      </a:cubicBezTo>
                      <a:cubicBezTo>
                        <a:pt x="91" y="20"/>
                        <a:pt x="91" y="20"/>
                        <a:pt x="91" y="20"/>
                      </a:cubicBezTo>
                      <a:cubicBezTo>
                        <a:pt x="90" y="21"/>
                        <a:pt x="90" y="22"/>
                        <a:pt x="90" y="23"/>
                      </a:cubicBezTo>
                      <a:cubicBezTo>
                        <a:pt x="90" y="24"/>
                        <a:pt x="90" y="25"/>
                        <a:pt x="91" y="26"/>
                      </a:cubicBezTo>
                      <a:cubicBezTo>
                        <a:pt x="96" y="31"/>
                        <a:pt x="96" y="31"/>
                        <a:pt x="96" y="31"/>
                      </a:cubicBezTo>
                      <a:cubicBezTo>
                        <a:pt x="69" y="58"/>
                        <a:pt x="69" y="58"/>
                        <a:pt x="69" y="58"/>
                      </a:cubicBezTo>
                      <a:cubicBezTo>
                        <a:pt x="63" y="57"/>
                        <a:pt x="57" y="56"/>
                        <a:pt x="50" y="56"/>
                      </a:cubicBezTo>
                      <a:cubicBezTo>
                        <a:pt x="32" y="56"/>
                        <a:pt x="14" y="63"/>
                        <a:pt x="1" y="76"/>
                      </a:cubicBezTo>
                      <a:cubicBezTo>
                        <a:pt x="0" y="78"/>
                        <a:pt x="0" y="80"/>
                        <a:pt x="1" y="82"/>
                      </a:cubicBezTo>
                      <a:cubicBezTo>
                        <a:pt x="94" y="175"/>
                        <a:pt x="94" y="175"/>
                        <a:pt x="94" y="175"/>
                      </a:cubicBezTo>
                      <a:cubicBezTo>
                        <a:pt x="95" y="175"/>
                        <a:pt x="96" y="176"/>
                        <a:pt x="97" y="176"/>
                      </a:cubicBezTo>
                      <a:cubicBezTo>
                        <a:pt x="98" y="176"/>
                        <a:pt x="99" y="175"/>
                        <a:pt x="100" y="175"/>
                      </a:cubicBezTo>
                      <a:cubicBezTo>
                        <a:pt x="117" y="157"/>
                        <a:pt x="124" y="131"/>
                        <a:pt x="118" y="107"/>
                      </a:cubicBezTo>
                      <a:cubicBezTo>
                        <a:pt x="145" y="80"/>
                        <a:pt x="145" y="80"/>
                        <a:pt x="145" y="80"/>
                      </a:cubicBezTo>
                      <a:cubicBezTo>
                        <a:pt x="150" y="85"/>
                        <a:pt x="150" y="85"/>
                        <a:pt x="150" y="85"/>
                      </a:cubicBezTo>
                      <a:cubicBezTo>
                        <a:pt x="152" y="86"/>
                        <a:pt x="154" y="86"/>
                        <a:pt x="156" y="85"/>
                      </a:cubicBezTo>
                      <a:cubicBezTo>
                        <a:pt x="174" y="66"/>
                        <a:pt x="174" y="66"/>
                        <a:pt x="174" y="66"/>
                      </a:cubicBezTo>
                      <a:cubicBezTo>
                        <a:pt x="175" y="65"/>
                        <a:pt x="176" y="64"/>
                        <a:pt x="176" y="63"/>
                      </a:cubicBezTo>
                      <a:cubicBezTo>
                        <a:pt x="176" y="62"/>
                        <a:pt x="175" y="61"/>
                        <a:pt x="174" y="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4"/>
                <p:cNvSpPr/>
                <p:nvPr/>
              </p:nvSpPr>
              <p:spPr bwMode="auto">
                <a:xfrm>
                  <a:off x="10115551" y="5983288"/>
                  <a:ext cx="228600" cy="227013"/>
                </a:xfrm>
                <a:custGeom>
                  <a:avLst/>
                  <a:gdLst>
                    <a:gd name="T0" fmla="*/ 7 w 78"/>
                    <a:gd name="T1" fmla="*/ 77 h 77"/>
                    <a:gd name="T2" fmla="*/ 2 w 78"/>
                    <a:gd name="T3" fmla="*/ 76 h 77"/>
                    <a:gd name="T4" fmla="*/ 2 w 78"/>
                    <a:gd name="T5" fmla="*/ 67 h 77"/>
                    <a:gd name="T6" fmla="*/ 67 w 78"/>
                    <a:gd name="T7" fmla="*/ 2 h 77"/>
                    <a:gd name="T8" fmla="*/ 76 w 78"/>
                    <a:gd name="T9" fmla="*/ 2 h 77"/>
                    <a:gd name="T10" fmla="*/ 76 w 78"/>
                    <a:gd name="T11" fmla="*/ 11 h 77"/>
                    <a:gd name="T12" fmla="*/ 11 w 78"/>
                    <a:gd name="T13" fmla="*/ 76 h 77"/>
                    <a:gd name="T14" fmla="*/ 7 w 78"/>
                    <a:gd name="T15" fmla="*/ 77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8" h="77">
                      <a:moveTo>
                        <a:pt x="7" y="77"/>
                      </a:moveTo>
                      <a:cubicBezTo>
                        <a:pt x="5" y="77"/>
                        <a:pt x="3" y="77"/>
                        <a:pt x="2" y="76"/>
                      </a:cubicBezTo>
                      <a:cubicBezTo>
                        <a:pt x="0" y="73"/>
                        <a:pt x="0" y="70"/>
                        <a:pt x="2" y="67"/>
                      </a:cubicBezTo>
                      <a:cubicBezTo>
                        <a:pt x="67" y="2"/>
                        <a:pt x="67" y="2"/>
                        <a:pt x="67" y="2"/>
                      </a:cubicBezTo>
                      <a:cubicBezTo>
                        <a:pt x="70" y="0"/>
                        <a:pt x="73" y="0"/>
                        <a:pt x="76" y="2"/>
                      </a:cubicBezTo>
                      <a:cubicBezTo>
                        <a:pt x="78" y="5"/>
                        <a:pt x="78" y="8"/>
                        <a:pt x="76" y="11"/>
                      </a:cubicBezTo>
                      <a:cubicBezTo>
                        <a:pt x="11" y="76"/>
                        <a:pt x="11" y="76"/>
                        <a:pt x="11" y="76"/>
                      </a:cubicBezTo>
                      <a:cubicBezTo>
                        <a:pt x="10" y="77"/>
                        <a:pt x="8" y="77"/>
                        <a:pt x="7" y="7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" name="Group 11"/>
            <p:cNvGrpSpPr/>
            <p:nvPr/>
          </p:nvGrpSpPr>
          <p:grpSpPr bwMode="auto">
            <a:xfrm>
              <a:off x="8731065" y="995241"/>
              <a:ext cx="144000" cy="360000"/>
              <a:chOff x="764" y="1968"/>
              <a:chExt cx="96" cy="336"/>
            </a:xfrm>
          </p:grpSpPr>
          <p:sp>
            <p:nvSpPr>
              <p:cNvPr id="17" name="Line 9"/>
              <p:cNvSpPr>
                <a:spLocks noChangeShapeType="1"/>
              </p:cNvSpPr>
              <p:nvPr/>
            </p:nvSpPr>
            <p:spPr bwMode="auto">
              <a:xfrm>
                <a:off x="764" y="196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0"/>
              <p:cNvSpPr>
                <a:spLocks noChangeShapeType="1"/>
              </p:cNvSpPr>
              <p:nvPr/>
            </p:nvSpPr>
            <p:spPr bwMode="auto">
              <a:xfrm>
                <a:off x="764" y="230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" name="Group 15"/>
            <p:cNvGrpSpPr/>
            <p:nvPr/>
          </p:nvGrpSpPr>
          <p:grpSpPr bwMode="auto">
            <a:xfrm>
              <a:off x="9495590" y="999051"/>
              <a:ext cx="142875" cy="360000"/>
              <a:chOff x="1330" y="1776"/>
              <a:chExt cx="96" cy="336"/>
            </a:xfrm>
          </p:grpSpPr>
          <p:sp>
            <p:nvSpPr>
              <p:cNvPr id="20" name="Line 13"/>
              <p:cNvSpPr>
                <a:spLocks noChangeShapeType="1"/>
              </p:cNvSpPr>
              <p:nvPr/>
            </p:nvSpPr>
            <p:spPr bwMode="auto">
              <a:xfrm>
                <a:off x="1426" y="1776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14"/>
              <p:cNvSpPr>
                <a:spLocks noChangeShapeType="1"/>
              </p:cNvSpPr>
              <p:nvPr/>
            </p:nvSpPr>
            <p:spPr bwMode="auto">
              <a:xfrm flipH="1">
                <a:off x="1330" y="2112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1301232" y="1564958"/>
            <a:ext cx="83772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证明：设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具有 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结点的完全二叉树的深度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，则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Text Box 66"/>
          <p:cNvSpPr txBox="1">
            <a:spLocks noChangeArrowheads="1"/>
          </p:cNvSpPr>
          <p:nvPr/>
        </p:nvSpPr>
        <p:spPr bwMode="auto">
          <a:xfrm>
            <a:off x="8362916" y="2596219"/>
            <a:ext cx="7920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72000" rIns="0" bIns="0"/>
          <a:lstStyle/>
          <a:p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rPr>
              <a:t>2</a:t>
            </a:r>
            <a:r>
              <a:rPr lang="en-US" altLang="zh-CN" sz="2000" b="1" i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rPr>
              <a:t>k</a:t>
            </a:r>
            <a:r>
              <a:rPr lang="en-US" altLang="zh-CN" sz="20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rPr>
              <a:t>-1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rPr>
              <a:t>-1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Angsana New" panose="02020603050405020304" pitchFamily="18" charset="-34"/>
            </a:endParaRPr>
          </a:p>
        </p:txBody>
      </p:sp>
      <p:sp>
        <p:nvSpPr>
          <p:cNvPr id="32" name="Text Box 71"/>
          <p:cNvSpPr txBox="1">
            <a:spLocks noChangeArrowheads="1"/>
          </p:cNvSpPr>
          <p:nvPr/>
        </p:nvSpPr>
        <p:spPr bwMode="auto">
          <a:xfrm>
            <a:off x="6357622" y="3718247"/>
            <a:ext cx="52070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72000" rIns="0" bIns="0"/>
          <a:lstStyle/>
          <a:p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rPr>
              <a:t>2</a:t>
            </a:r>
            <a:r>
              <a:rPr lang="en-US" altLang="zh-CN" sz="2000" b="1" i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rPr>
              <a:t>k</a:t>
            </a:r>
            <a:r>
              <a:rPr lang="en-US" altLang="zh-CN" sz="20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rPr>
              <a:t>-1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Angsana New" panose="02020603050405020304" pitchFamily="18" charset="-34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7542216" y="3034032"/>
            <a:ext cx="2072575" cy="1139825"/>
            <a:chOff x="7542216" y="3034032"/>
            <a:chExt cx="2072575" cy="1139825"/>
          </a:xfrm>
        </p:grpSpPr>
        <p:grpSp>
          <p:nvGrpSpPr>
            <p:cNvPr id="7" name="组合 6"/>
            <p:cNvGrpSpPr/>
            <p:nvPr/>
          </p:nvGrpSpPr>
          <p:grpSpPr>
            <a:xfrm>
              <a:off x="8737603" y="3034032"/>
              <a:ext cx="877188" cy="1139825"/>
              <a:chOff x="8737603" y="3034032"/>
              <a:chExt cx="877188" cy="1139825"/>
            </a:xfrm>
          </p:grpSpPr>
          <p:sp>
            <p:nvSpPr>
              <p:cNvPr id="29" name="Freeform 68"/>
              <p:cNvSpPr/>
              <p:nvPr/>
            </p:nvSpPr>
            <p:spPr bwMode="auto">
              <a:xfrm>
                <a:off x="8737603" y="3034032"/>
                <a:ext cx="385763" cy="655638"/>
              </a:xfrm>
              <a:custGeom>
                <a:avLst/>
                <a:gdLst>
                  <a:gd name="T0" fmla="*/ 0 w 316"/>
                  <a:gd name="T1" fmla="*/ 0 h 456"/>
                  <a:gd name="T2" fmla="*/ 316 w 316"/>
                  <a:gd name="T3" fmla="*/ 456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16" h="456">
                    <a:moveTo>
                      <a:pt x="0" y="0"/>
                    </a:moveTo>
                    <a:lnTo>
                      <a:pt x="316" y="456"/>
                    </a:lnTo>
                  </a:path>
                </a:pathLst>
              </a:custGeom>
              <a:noFill/>
              <a:ln w="25400">
                <a:solidFill>
                  <a:srgbClr val="285A3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72000"/>
              <a:lstStyle/>
              <a:p>
                <a:endParaRPr lang="zh-CN" altLang="en-US"/>
              </a:p>
            </p:txBody>
          </p:sp>
          <p:sp>
            <p:nvSpPr>
              <p:cNvPr id="35" name="Oval 74"/>
              <p:cNvSpPr>
                <a:spLocks noChangeArrowheads="1"/>
              </p:cNvSpPr>
              <p:nvPr/>
            </p:nvSpPr>
            <p:spPr bwMode="auto">
              <a:xfrm>
                <a:off x="8840791" y="3669032"/>
                <a:ext cx="774000" cy="504825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72000"/>
              <a:lstStyle/>
              <a:p>
                <a:endParaRPr lang="en-US" altLang="zh-CN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endParaRPr lang="zh-CN" alt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1" name="Text Box 77"/>
            <p:cNvSpPr txBox="1">
              <a:spLocks noChangeArrowheads="1"/>
            </p:cNvSpPr>
            <p:nvPr/>
          </p:nvSpPr>
          <p:spPr bwMode="auto">
            <a:xfrm>
              <a:off x="7542216" y="3656650"/>
              <a:ext cx="658813" cy="322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72000" bIns="0"/>
            <a:lstStyle/>
            <a:p>
              <a:pPr algn="just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…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</p:grp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92363" y="2184090"/>
          <a:ext cx="1474787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公式" r:id="rId1" imgW="11582400" imgH="4876800" progId="">
                  <p:embed/>
                </p:oleObj>
              </mc:Choice>
              <mc:Fallback>
                <p:oleObj name="公式" r:id="rId1" imgW="11582400" imgH="4876800" progId="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92363" y="2184090"/>
                        <a:ext cx="1474787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71"/>
          <p:cNvSpPr txBox="1">
            <a:spLocks noChangeArrowheads="1"/>
          </p:cNvSpPr>
          <p:nvPr/>
        </p:nvSpPr>
        <p:spPr bwMode="auto">
          <a:xfrm>
            <a:off x="9035850" y="3718882"/>
            <a:ext cx="52070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72000" rIns="0" bIns="0"/>
          <a:lstStyle/>
          <a:p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rPr>
              <a:t>2</a:t>
            </a:r>
            <a:r>
              <a:rPr lang="en-US" altLang="zh-CN" sz="2000" b="1" i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rPr>
              <a:t>k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rPr>
              <a:t>-1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Angsana New" panose="02020603050405020304" pitchFamily="18" charset="-34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6137278" y="3053883"/>
            <a:ext cx="5490506" cy="1119661"/>
            <a:chOff x="6137278" y="3053883"/>
            <a:chExt cx="5490506" cy="1119661"/>
          </a:xfrm>
        </p:grpSpPr>
        <p:grpSp>
          <p:nvGrpSpPr>
            <p:cNvPr id="6" name="组合 5"/>
            <p:cNvGrpSpPr/>
            <p:nvPr/>
          </p:nvGrpSpPr>
          <p:grpSpPr>
            <a:xfrm>
              <a:off x="6137278" y="3053883"/>
              <a:ext cx="801687" cy="1109819"/>
              <a:chOff x="6137278" y="3053883"/>
              <a:chExt cx="801687" cy="1109819"/>
            </a:xfrm>
          </p:grpSpPr>
          <p:sp>
            <p:nvSpPr>
              <p:cNvPr id="26" name="Freeform 64"/>
              <p:cNvSpPr/>
              <p:nvPr/>
            </p:nvSpPr>
            <p:spPr bwMode="auto">
              <a:xfrm>
                <a:off x="6572252" y="3053883"/>
                <a:ext cx="366713" cy="668338"/>
              </a:xfrm>
              <a:custGeom>
                <a:avLst/>
                <a:gdLst>
                  <a:gd name="T0" fmla="*/ 300 w 300"/>
                  <a:gd name="T1" fmla="*/ 0 h 465"/>
                  <a:gd name="T2" fmla="*/ 0 w 300"/>
                  <a:gd name="T3" fmla="*/ 465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00" h="465">
                    <a:moveTo>
                      <a:pt x="300" y="0"/>
                    </a:moveTo>
                    <a:lnTo>
                      <a:pt x="0" y="465"/>
                    </a:lnTo>
                  </a:path>
                </a:pathLst>
              </a:custGeom>
              <a:noFill/>
              <a:ln w="25400">
                <a:solidFill>
                  <a:srgbClr val="285A3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72000"/>
              <a:lstStyle/>
              <a:p>
                <a:endParaRPr lang="zh-CN" altLang="en-US"/>
              </a:p>
            </p:txBody>
          </p:sp>
          <p:sp>
            <p:nvSpPr>
              <p:cNvPr id="33" name="Oval 72"/>
              <p:cNvSpPr>
                <a:spLocks noChangeArrowheads="1"/>
              </p:cNvSpPr>
              <p:nvPr/>
            </p:nvSpPr>
            <p:spPr bwMode="auto">
              <a:xfrm>
                <a:off x="6137278" y="3695702"/>
                <a:ext cx="774000" cy="468000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72000"/>
              <a:lstStyle/>
              <a:p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9649505" y="3708725"/>
              <a:ext cx="1978279" cy="464819"/>
              <a:chOff x="9649505" y="3708725"/>
              <a:chExt cx="1978279" cy="464819"/>
            </a:xfrm>
          </p:grpSpPr>
          <p:sp>
            <p:nvSpPr>
              <p:cNvPr id="40" name="Text Box 76"/>
              <p:cNvSpPr txBox="1">
                <a:spLocks noChangeArrowheads="1"/>
              </p:cNvSpPr>
              <p:nvPr/>
            </p:nvSpPr>
            <p:spPr bwMode="auto">
              <a:xfrm>
                <a:off x="10543755" y="3708725"/>
                <a:ext cx="1084029" cy="4648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72000" rIns="0" bIns="0"/>
              <a:lstStyle/>
              <a:p>
                <a:pPr algn="just">
                  <a:lnSpc>
                    <a:spcPct val="80000"/>
                  </a:lnSpc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第</a:t>
                </a:r>
                <a:r>
                  <a:rPr lang="en-US" altLang="zh-CN" sz="2000" b="1" i="1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Angsana New" panose="02020603050405020304" pitchFamily="18" charset="-34"/>
                  </a:rPr>
                  <a:t>k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层</a:t>
                </a:r>
                <a:endParaRPr lang="zh-CN" altLang="en-US" sz="24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9649505" y="3915256"/>
                <a:ext cx="792000" cy="0"/>
              </a:xfrm>
              <a:prstGeom prst="line">
                <a:avLst/>
              </a:prstGeom>
              <a:ln w="28575">
                <a:solidFill>
                  <a:srgbClr val="285A3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组合 49"/>
          <p:cNvGrpSpPr/>
          <p:nvPr/>
        </p:nvGrpSpPr>
        <p:grpSpPr>
          <a:xfrm>
            <a:off x="6583365" y="2495870"/>
            <a:ext cx="5162804" cy="563250"/>
            <a:chOff x="6583365" y="2495870"/>
            <a:chExt cx="5162804" cy="563250"/>
          </a:xfrm>
        </p:grpSpPr>
        <p:sp>
          <p:nvSpPr>
            <p:cNvPr id="28" name="Oval 67"/>
            <p:cNvSpPr>
              <a:spLocks noChangeArrowheads="1"/>
            </p:cNvSpPr>
            <p:nvPr/>
          </p:nvSpPr>
          <p:spPr bwMode="auto">
            <a:xfrm>
              <a:off x="8291516" y="2576832"/>
              <a:ext cx="772950" cy="468000"/>
            </a:xfrm>
            <a:prstGeom prst="ellips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tIns="72000"/>
            <a:lstStyle/>
            <a:p>
              <a:endParaRPr lang="zh-CN" altLang="en-US"/>
            </a:p>
          </p:txBody>
        </p:sp>
        <p:sp>
          <p:nvSpPr>
            <p:cNvPr id="30" name="Text Box 69"/>
            <p:cNvSpPr txBox="1">
              <a:spLocks noChangeArrowheads="1"/>
            </p:cNvSpPr>
            <p:nvPr/>
          </p:nvSpPr>
          <p:spPr bwMode="auto">
            <a:xfrm>
              <a:off x="7505703" y="2495870"/>
              <a:ext cx="658813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72000" bIns="0"/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…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31" name="Oval 70"/>
            <p:cNvSpPr>
              <a:spLocks noChangeArrowheads="1"/>
            </p:cNvSpPr>
            <p:nvPr/>
          </p:nvSpPr>
          <p:spPr bwMode="auto">
            <a:xfrm>
              <a:off x="6583365" y="2591120"/>
              <a:ext cx="774000" cy="468000"/>
            </a:xfrm>
            <a:prstGeom prst="ellips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tIns="72000"/>
            <a:lstStyle/>
            <a:p>
              <a:endParaRPr lang="zh-CN" altLang="en-US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9274265" y="2570484"/>
              <a:ext cx="2471904" cy="429892"/>
              <a:chOff x="9274265" y="2570484"/>
              <a:chExt cx="2471904" cy="429892"/>
            </a:xfrm>
          </p:grpSpPr>
          <p:sp>
            <p:nvSpPr>
              <p:cNvPr id="39" name="Text Box 75"/>
              <p:cNvSpPr txBox="1">
                <a:spLocks noChangeArrowheads="1"/>
              </p:cNvSpPr>
              <p:nvPr/>
            </p:nvSpPr>
            <p:spPr bwMode="auto">
              <a:xfrm>
                <a:off x="10543755" y="2570484"/>
                <a:ext cx="1202414" cy="4298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72000" rIns="0" bIns="0"/>
              <a:lstStyle/>
              <a:p>
                <a:pPr algn="just">
                  <a:lnSpc>
                    <a:spcPct val="80000"/>
                  </a:lnSpc>
                </a:pP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第</a:t>
                </a:r>
                <a:r>
                  <a:rPr lang="en-US" altLang="zh-CN" sz="2000" b="1" i="1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Angsana New" panose="02020603050405020304" pitchFamily="18" charset="-34"/>
                  </a:rPr>
                  <a:t>k</a:t>
                </a:r>
                <a:r>
                  <a:rPr lang="en-US" altLang="zh-CN" sz="2000" b="1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Angsana New" panose="02020603050405020304" pitchFamily="18" charset="-34"/>
                  </a:rPr>
                  <a:t>-1</a:t>
                </a:r>
                <a:r>
                  <a:rPr lang="zh-CN" altLang="en-US" sz="2000" b="1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Angsana New" panose="02020603050405020304" pitchFamily="18" charset="-34"/>
                  </a:rPr>
                  <a:t>层</a:t>
                </a:r>
                <a:endParaRPr lang="zh-CN" altLang="en-US" sz="20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9274265" y="2778928"/>
                <a:ext cx="1152000" cy="0"/>
              </a:xfrm>
              <a:prstGeom prst="line">
                <a:avLst/>
              </a:prstGeom>
              <a:ln w="28575">
                <a:solidFill>
                  <a:srgbClr val="285A3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53" name="对象 52"/>
          <p:cNvGraphicFramePr>
            <a:graphicFrameLocks noChangeAspect="1"/>
          </p:cNvGraphicFramePr>
          <p:nvPr/>
        </p:nvGraphicFramePr>
        <p:xfrm>
          <a:off x="3851275" y="2161154"/>
          <a:ext cx="85407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公式" r:id="rId3" imgW="6705600" imgH="4572000" progId="">
                  <p:embed/>
                </p:oleObj>
              </mc:Choice>
              <mc:Fallback>
                <p:oleObj name="公式" r:id="rId3" imgW="6705600" imgH="4572000" progId="">
                  <p:embed/>
                  <p:pic>
                    <p:nvPicPr>
                      <p:cNvPr id="0" name="图片 206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1275" y="2161154"/>
                        <a:ext cx="854075" cy="582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14"/>
          <p:cNvSpPr txBox="1">
            <a:spLocks noChangeArrowheads="1"/>
          </p:cNvSpPr>
          <p:nvPr/>
        </p:nvSpPr>
        <p:spPr bwMode="auto">
          <a:xfrm>
            <a:off x="1317978" y="2919053"/>
            <a:ext cx="4675388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/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对不等式取对数，有：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0" hangingPunct="0">
              <a:spcBef>
                <a:spcPts val="6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800" b="1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 ≤ log</a:t>
            </a:r>
            <a:r>
              <a:rPr lang="en-US" altLang="zh-CN" sz="2800" b="1" baseline="-25000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B42D2D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＜</a:t>
            </a:r>
            <a:r>
              <a:rPr lang="en-US" altLang="zh-CN" sz="2800" b="1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endParaRPr lang="en-US" altLang="zh-CN" sz="2800" b="1" i="1" dirty="0">
              <a:solidFill>
                <a:srgbClr val="B42D2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Text Box 14"/>
          <p:cNvSpPr txBox="1">
            <a:spLocks noChangeArrowheads="1"/>
          </p:cNvSpPr>
          <p:nvPr/>
        </p:nvSpPr>
        <p:spPr bwMode="auto">
          <a:xfrm>
            <a:off x="1317978" y="3958782"/>
            <a:ext cx="8377238" cy="89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0" hangingPunct="0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lang="en-US" altLang="zh-CN" sz="2800" b="1" baseline="-25000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＜</a:t>
            </a:r>
            <a:r>
              <a:rPr lang="en-US" altLang="zh-CN" sz="2800" b="1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lang="en-US" altLang="zh-CN" sz="2800" b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≤ log</a:t>
            </a:r>
            <a:r>
              <a:rPr lang="en-US" altLang="zh-CN" sz="2800" b="1" baseline="-25000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endParaRPr lang="en-US" altLang="zh-CN" sz="2800" b="1" dirty="0">
              <a:solidFill>
                <a:srgbClr val="B42D2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1317978" y="4942397"/>
            <a:ext cx="8377238" cy="1107996"/>
            <a:chOff x="830298" y="5308157"/>
            <a:chExt cx="8377238" cy="1107996"/>
          </a:xfrm>
        </p:grpSpPr>
        <p:grpSp>
          <p:nvGrpSpPr>
            <p:cNvPr id="66" name="Group 43"/>
            <p:cNvGrpSpPr/>
            <p:nvPr/>
          </p:nvGrpSpPr>
          <p:grpSpPr bwMode="auto">
            <a:xfrm>
              <a:off x="2691765" y="5971274"/>
              <a:ext cx="152400" cy="381000"/>
              <a:chOff x="624" y="1968"/>
              <a:chExt cx="96" cy="336"/>
            </a:xfrm>
          </p:grpSpPr>
          <p:sp>
            <p:nvSpPr>
              <p:cNvPr id="70" name="Line 44"/>
              <p:cNvSpPr>
                <a:spLocks noChangeShapeType="1"/>
              </p:cNvSpPr>
              <p:nvPr/>
            </p:nvSpPr>
            <p:spPr bwMode="auto">
              <a:xfrm>
                <a:off x="624" y="1968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B4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Line 45"/>
              <p:cNvSpPr>
                <a:spLocks noChangeShapeType="1"/>
              </p:cNvSpPr>
              <p:nvPr/>
            </p:nvSpPr>
            <p:spPr bwMode="auto">
              <a:xfrm>
                <a:off x="624" y="2304"/>
                <a:ext cx="96" cy="0"/>
              </a:xfrm>
              <a:prstGeom prst="line">
                <a:avLst/>
              </a:prstGeom>
              <a:noFill/>
              <a:ln w="28575">
                <a:solidFill>
                  <a:srgbClr val="B4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7" name="Group 46"/>
            <p:cNvGrpSpPr/>
            <p:nvPr/>
          </p:nvGrpSpPr>
          <p:grpSpPr bwMode="auto">
            <a:xfrm>
              <a:off x="3444240" y="5974449"/>
              <a:ext cx="142875" cy="381000"/>
              <a:chOff x="1200" y="1776"/>
              <a:chExt cx="96" cy="336"/>
            </a:xfrm>
          </p:grpSpPr>
          <p:sp>
            <p:nvSpPr>
              <p:cNvPr id="68" name="Line 47"/>
              <p:cNvSpPr>
                <a:spLocks noChangeShapeType="1"/>
              </p:cNvSpPr>
              <p:nvPr/>
            </p:nvSpPr>
            <p:spPr bwMode="auto">
              <a:xfrm>
                <a:off x="1296" y="1776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B4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48"/>
              <p:cNvSpPr>
                <a:spLocks noChangeShapeType="1"/>
              </p:cNvSpPr>
              <p:nvPr/>
            </p:nvSpPr>
            <p:spPr bwMode="auto">
              <a:xfrm flipH="1">
                <a:off x="1200" y="2112"/>
                <a:ext cx="96" cy="0"/>
              </a:xfrm>
              <a:prstGeom prst="line">
                <a:avLst/>
              </a:prstGeom>
              <a:noFill/>
              <a:ln w="28575">
                <a:solidFill>
                  <a:srgbClr val="B4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2" name="Text Box 14"/>
            <p:cNvSpPr txBox="1">
              <a:spLocks noChangeArrowheads="1"/>
            </p:cNvSpPr>
            <p:nvPr/>
          </p:nvSpPr>
          <p:spPr bwMode="auto">
            <a:xfrm>
              <a:off x="830298" y="5308157"/>
              <a:ext cx="8377238" cy="1107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lang="zh-CN" altLang="en-US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由于 </a:t>
              </a:r>
              <a:r>
                <a:rPr lang="en-US" altLang="zh-CN" sz="2400" i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是</a:t>
              </a:r>
              <a:r>
                <a:rPr lang="zh-CN" altLang="en-US" sz="24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整数，故必</a:t>
              </a:r>
              <a:r>
                <a:rPr lang="zh-CN" altLang="en-US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有</a:t>
              </a:r>
              <a:endPara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 eaLnBrk="0" hangingPunct="0"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rgbClr val="B42D2D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 smtClean="0">
                  <a:solidFill>
                    <a:srgbClr val="B42D2D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   </a:t>
              </a:r>
              <a:r>
                <a:rPr lang="en-US" altLang="zh-CN" sz="2800" b="1" i="1" dirty="0" smtClean="0">
                  <a:solidFill>
                    <a:srgbClr val="B42D2D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zh-CN" altLang="en-US" sz="2800" b="1" dirty="0">
                  <a:solidFill>
                    <a:srgbClr val="B42D2D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＝ </a:t>
              </a:r>
              <a:r>
                <a:rPr lang="en-US" altLang="zh-CN" sz="2800" b="1" dirty="0">
                  <a:solidFill>
                    <a:srgbClr val="B42D2D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log</a:t>
              </a:r>
              <a:r>
                <a:rPr lang="en-US" altLang="zh-CN" sz="2800" b="1" baseline="-25000" dirty="0">
                  <a:solidFill>
                    <a:srgbClr val="B42D2D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1" i="1" dirty="0">
                  <a:solidFill>
                    <a:srgbClr val="B42D2D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b="1" dirty="0">
                  <a:solidFill>
                    <a:srgbClr val="B42D2D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800" b="1" dirty="0" smtClean="0">
                  <a:solidFill>
                    <a:srgbClr val="B42D2D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+1</a:t>
              </a:r>
              <a:endParaRPr lang="zh-CN" altLang="en-US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7" grpId="0" bldLvl="0" animBg="1"/>
      <p:bldP spid="32" grpId="0" bldLvl="0" animBg="1"/>
      <p:bldP spid="46" grpId="0" bldLvl="0" animBg="1"/>
      <p:bldP spid="57" grpId="0" bldLvl="0" animBg="1"/>
      <p:bldP spid="6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73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2714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</a:t>
            </a:r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44848" y="848932"/>
            <a:ext cx="10807383" cy="1082412"/>
            <a:chOff x="744848" y="848932"/>
            <a:chExt cx="10807383" cy="1082412"/>
          </a:xfrm>
        </p:grpSpPr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1393233" y="848932"/>
              <a:ext cx="10158998" cy="10824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r>
                <a:rPr lang="zh-CN" altLang="en-US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性质 </a:t>
              </a:r>
              <a:r>
                <a:rPr lang="en-US" altLang="zh-CN" sz="2800" dirty="0" smtClean="0">
                  <a:solidFill>
                    <a:srgbClr val="285A3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5-5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对一棵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具有 </a:t>
              </a:r>
              <a:r>
                <a:rPr lang="en-US" altLang="zh-CN" sz="2800" i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个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结点的</a:t>
              </a:r>
              <a:r>
                <a:rPr lang="zh-CN" altLang="en-US" sz="2800" dirty="0">
                  <a:solidFill>
                    <a:srgbClr val="B42D2D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完全二叉树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中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从 1 开始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按层序编号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，对于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任意的序号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为 </a:t>
              </a:r>
              <a:r>
                <a:rPr lang="en-US" altLang="zh-CN" sz="2800" i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（1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的结点（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简称结点 </a:t>
              </a:r>
              <a:r>
                <a:rPr lang="en-US" altLang="zh-CN" sz="2800" i="1" dirty="0" err="1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），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有： 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67"/>
            <p:cNvGrpSpPr/>
            <p:nvPr/>
          </p:nvGrpSpPr>
          <p:grpSpPr>
            <a:xfrm>
              <a:off x="744848" y="965514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48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 Box 10"/>
              <p:cNvSpPr txBox="1">
                <a:spLocks noChangeArrowheads="1"/>
              </p:cNvSpPr>
              <p:nvPr/>
            </p:nvSpPr>
            <p:spPr bwMode="auto">
              <a:xfrm>
                <a:off x="542925" y="1921510"/>
                <a:ext cx="10901045" cy="18427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>
                <a:noAutofit/>
              </a:bodyPr>
              <a:lstStyle/>
              <a:p>
                <a:pPr eaLnBrk="0" hangingPunct="0">
                  <a:lnSpc>
                    <a:spcPct val="120000"/>
                  </a:lnSpc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1）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如果 </a:t>
                </a: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＞1，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则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结点 </a:t>
                </a:r>
                <a:r>
                  <a:rPr lang="en-US" altLang="zh-CN" sz="2400" i="1" dirty="0" err="1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400" dirty="0">
                    <a:solidFill>
                      <a:srgbClr val="B42D2D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双亲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结点的序号为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"/>
                        <m:ctrlPr>
                          <a:rPr lang="en-US" altLang="zh-CN" sz="2400" i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𝑖</m:t>
                        </m:r>
                      </m:e>
                    </m:d>
                    <m:d>
                      <m:dPr>
                        <m:begChr m:val=""/>
                        <m:endChr m:val="⌋"/>
                        <m:ctrlPr>
                          <a:rPr lang="en-US" altLang="zh-CN" sz="2400" i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/</m:t>
                        </m:r>
                        <m:r>
                          <a:rPr lang="en-US" altLang="zh-CN" sz="2400" i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400" b="1" dirty="0">
                    <a:solidFill>
                      <a:srgbClr val="B42D2D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+mn-ea"/>
                  </a:rPr>
                  <a:t> 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，否则结点 </a:t>
                </a:r>
                <a:r>
                  <a:rPr lang="en-US" altLang="zh-CN" sz="2400" i="1" dirty="0" err="1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无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双亲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结点</a:t>
                </a:r>
                <a:endParaRPr lang="zh-CN" altLang="en-US" sz="24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0" hangingPunct="0">
                  <a:lnSpc>
                    <a:spcPct val="120000"/>
                  </a:lnSpc>
                </a:pP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如果 2</a:t>
                </a:r>
                <a:r>
                  <a:rPr lang="en-US" altLang="zh-CN" sz="2400" i="1" dirty="0" err="1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dirty="0" err="1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400" i="1" dirty="0" err="1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则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结点 </a:t>
                </a:r>
                <a:r>
                  <a:rPr lang="en-US" altLang="zh-CN" sz="2400" i="1" dirty="0" err="1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400" dirty="0">
                    <a:solidFill>
                      <a:srgbClr val="B42D2D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左孩子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的序号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 </a:t>
                </a:r>
                <a:r>
                  <a:rPr lang="zh-CN" altLang="en-US" sz="2400" dirty="0" smtClean="0">
                    <a:solidFill>
                      <a:srgbClr val="B42D2D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i="1" dirty="0" err="1" smtClean="0">
                    <a:solidFill>
                      <a:srgbClr val="B42D2D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，否则结点 </a:t>
                </a:r>
                <a:r>
                  <a:rPr lang="en-US" altLang="zh-CN" sz="2400" i="1" dirty="0" err="1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无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左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孩子</a:t>
                </a:r>
                <a:endParaRPr lang="zh-CN" altLang="en-US" sz="24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0" hangingPunct="0">
                  <a:lnSpc>
                    <a:spcPct val="120000"/>
                  </a:lnSpc>
                </a:pP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如果 2</a:t>
                </a:r>
                <a:r>
                  <a:rPr lang="en-US" altLang="zh-CN" sz="2400" i="1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+1≤</a:t>
                </a:r>
                <a:r>
                  <a:rPr lang="en-US" altLang="zh-CN" sz="2400" i="1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则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结点 </a:t>
                </a:r>
                <a:r>
                  <a:rPr lang="en-US" altLang="zh-CN" sz="2400" i="1" dirty="0" err="1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400" dirty="0">
                    <a:solidFill>
                      <a:srgbClr val="B42D2D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右孩子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的序号为</a:t>
                </a:r>
                <a:r>
                  <a:rPr lang="zh-CN" altLang="en-US" sz="2400" dirty="0" smtClean="0">
                    <a:solidFill>
                      <a:srgbClr val="B42D2D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i="1" dirty="0" smtClean="0">
                    <a:solidFill>
                      <a:srgbClr val="B42D2D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dirty="0" smtClean="0">
                    <a:solidFill>
                      <a:srgbClr val="B42D2D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+1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，否则结点 </a:t>
                </a:r>
                <a:r>
                  <a:rPr lang="en-US" altLang="zh-CN" sz="2400" i="1" dirty="0" err="1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无</a:t>
                </a:r>
                <a:r>
                  <a:rPr lang="zh-CN" alt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右</a:t>
                </a:r>
                <a:r>
                  <a:rPr lang="zh-CN" altLang="en-US" sz="2400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孩子</a:t>
                </a:r>
                <a:endParaRPr lang="en-US" altLang="zh-CN" sz="24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6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925" y="1921510"/>
                <a:ext cx="10901045" cy="184277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组合 55"/>
          <p:cNvGrpSpPr/>
          <p:nvPr/>
        </p:nvGrpSpPr>
        <p:grpSpPr>
          <a:xfrm>
            <a:off x="3583901" y="3414831"/>
            <a:ext cx="4121166" cy="2675615"/>
            <a:chOff x="7192931" y="1589829"/>
            <a:chExt cx="4121166" cy="2675615"/>
          </a:xfrm>
          <a:solidFill>
            <a:srgbClr val="B4B4BE"/>
          </a:solidFill>
        </p:grpSpPr>
        <p:sp>
          <p:nvSpPr>
            <p:cNvPr id="58" name="Freeform 65"/>
            <p:cNvSpPr/>
            <p:nvPr/>
          </p:nvSpPr>
          <p:spPr bwMode="auto">
            <a:xfrm>
              <a:off x="8436100" y="3438314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59" name="Freeform 45"/>
            <p:cNvSpPr/>
            <p:nvPr/>
          </p:nvSpPr>
          <p:spPr bwMode="auto">
            <a:xfrm>
              <a:off x="10768492" y="2743348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60" name="Freeform 44"/>
            <p:cNvSpPr/>
            <p:nvPr/>
          </p:nvSpPr>
          <p:spPr bwMode="auto">
            <a:xfrm>
              <a:off x="10212549" y="2712868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61" name="Line 42"/>
            <p:cNvSpPr>
              <a:spLocks noChangeShapeType="1"/>
            </p:cNvSpPr>
            <p:nvPr/>
          </p:nvSpPr>
          <p:spPr bwMode="auto">
            <a:xfrm flipH="1">
              <a:off x="8292567" y="1934953"/>
              <a:ext cx="995363" cy="493713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62" name="Freeform 43"/>
            <p:cNvSpPr/>
            <p:nvPr/>
          </p:nvSpPr>
          <p:spPr bwMode="auto">
            <a:xfrm>
              <a:off x="9622892" y="1888915"/>
              <a:ext cx="928688" cy="568325"/>
            </a:xfrm>
            <a:custGeom>
              <a:avLst/>
              <a:gdLst>
                <a:gd name="T0" fmla="*/ 0 w 767"/>
                <a:gd name="T1" fmla="*/ 0 h 488"/>
                <a:gd name="T2" fmla="*/ 767 w 767"/>
                <a:gd name="T3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7" h="488">
                  <a:moveTo>
                    <a:pt x="0" y="0"/>
                  </a:moveTo>
                  <a:lnTo>
                    <a:pt x="767" y="488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63" name="Freeform 44"/>
            <p:cNvSpPr/>
            <p:nvPr/>
          </p:nvSpPr>
          <p:spPr bwMode="auto">
            <a:xfrm>
              <a:off x="7776629" y="2649328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64" name="Freeform 45"/>
            <p:cNvSpPr/>
            <p:nvPr/>
          </p:nvSpPr>
          <p:spPr bwMode="auto">
            <a:xfrm>
              <a:off x="8332572" y="2679808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73" name="Freeform 65"/>
            <p:cNvSpPr/>
            <p:nvPr/>
          </p:nvSpPr>
          <p:spPr bwMode="auto">
            <a:xfrm>
              <a:off x="7486116" y="3438314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75" name="Line 66"/>
            <p:cNvSpPr>
              <a:spLocks noChangeShapeType="1"/>
            </p:cNvSpPr>
            <p:nvPr/>
          </p:nvSpPr>
          <p:spPr bwMode="auto">
            <a:xfrm>
              <a:off x="7811554" y="3501815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>
                <a:solidFill>
                  <a:srgbClr val="404040"/>
                </a:solidFill>
              </a:endParaRPr>
            </a:p>
          </p:txBody>
        </p:sp>
        <p:sp>
          <p:nvSpPr>
            <p:cNvPr id="76" name="Oval 37"/>
            <p:cNvSpPr>
              <a:spLocks noChangeArrowheads="1"/>
            </p:cNvSpPr>
            <p:nvPr/>
          </p:nvSpPr>
          <p:spPr bwMode="auto">
            <a:xfrm>
              <a:off x="9257450" y="158982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Oval 37"/>
            <p:cNvSpPr>
              <a:spLocks noChangeArrowheads="1"/>
            </p:cNvSpPr>
            <p:nvPr/>
          </p:nvSpPr>
          <p:spPr bwMode="auto">
            <a:xfrm>
              <a:off x="7986182" y="234246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Oval 37"/>
            <p:cNvSpPr>
              <a:spLocks noChangeArrowheads="1"/>
            </p:cNvSpPr>
            <p:nvPr/>
          </p:nvSpPr>
          <p:spPr bwMode="auto">
            <a:xfrm>
              <a:off x="10442042" y="234246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Oval 37"/>
            <p:cNvSpPr>
              <a:spLocks noChangeArrowheads="1"/>
            </p:cNvSpPr>
            <p:nvPr/>
          </p:nvSpPr>
          <p:spPr bwMode="auto">
            <a:xfrm>
              <a:off x="7521161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Oval 37"/>
            <p:cNvSpPr>
              <a:spLocks noChangeArrowheads="1"/>
            </p:cNvSpPr>
            <p:nvPr/>
          </p:nvSpPr>
          <p:spPr bwMode="auto">
            <a:xfrm>
              <a:off x="8463501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Oval 37"/>
            <p:cNvSpPr>
              <a:spLocks noChangeArrowheads="1"/>
            </p:cNvSpPr>
            <p:nvPr/>
          </p:nvSpPr>
          <p:spPr bwMode="auto">
            <a:xfrm>
              <a:off x="9958648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Oval 37"/>
            <p:cNvSpPr>
              <a:spLocks noChangeArrowheads="1"/>
            </p:cNvSpPr>
            <p:nvPr/>
          </p:nvSpPr>
          <p:spPr bwMode="auto">
            <a:xfrm>
              <a:off x="7192931" y="383344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Oval 37"/>
            <p:cNvSpPr>
              <a:spLocks noChangeArrowheads="1"/>
            </p:cNvSpPr>
            <p:nvPr/>
          </p:nvSpPr>
          <p:spPr bwMode="auto">
            <a:xfrm>
              <a:off x="7709222" y="383344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Oval 37"/>
            <p:cNvSpPr>
              <a:spLocks noChangeArrowheads="1"/>
            </p:cNvSpPr>
            <p:nvPr/>
          </p:nvSpPr>
          <p:spPr bwMode="auto">
            <a:xfrm>
              <a:off x="8226109" y="383344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Oval 37"/>
            <p:cNvSpPr>
              <a:spLocks noChangeArrowheads="1"/>
            </p:cNvSpPr>
            <p:nvPr/>
          </p:nvSpPr>
          <p:spPr bwMode="auto">
            <a:xfrm>
              <a:off x="10882097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114300" imgH="215900" progId="Equation.KSEE3">
                  <p:embed/>
                </p:oleObj>
              </mc:Choice>
              <mc:Fallback>
                <p:oleObj name="" r:id="rId2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73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2714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</a:t>
            </a:r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44848" y="848932"/>
            <a:ext cx="10807383" cy="607695"/>
            <a:chOff x="744848" y="848932"/>
            <a:chExt cx="10807383" cy="607695"/>
          </a:xfrm>
        </p:grpSpPr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1393233" y="848932"/>
              <a:ext cx="10158998" cy="6076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eaLnBrk="0" hangingPunct="0">
                <a:lnSpc>
                  <a:spcPct val="120000"/>
                </a:lnSpc>
              </a:pP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67"/>
            <p:cNvGrpSpPr/>
            <p:nvPr/>
          </p:nvGrpSpPr>
          <p:grpSpPr>
            <a:xfrm>
              <a:off x="744848" y="965514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48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86" name="Text Box 10"/>
          <p:cNvSpPr txBox="1">
            <a:spLocks noChangeArrowheads="1"/>
          </p:cNvSpPr>
          <p:nvPr/>
        </p:nvSpPr>
        <p:spPr bwMode="auto">
          <a:xfrm>
            <a:off x="542925" y="1921510"/>
            <a:ext cx="10901045" cy="1842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noAutofit/>
          </a:bodyPr>
          <a:lstStyle/>
          <a:p>
            <a:pPr eaLnBrk="0" hangingPunct="0">
              <a:lnSpc>
                <a:spcPct val="120000"/>
              </a:lnSpc>
            </a:pPr>
            <a:endParaRPr lang="en-US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4300" imgH="215900" progId="Equation.KSEE3">
                  <p:embed/>
                </p:oleObj>
              </mc:Choice>
              <mc:Fallback>
                <p:oleObj name="" r:id="rId1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" y="1548765"/>
            <a:ext cx="11290300" cy="33204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nip Diagonal Corner Rectangle 12"/>
          <p:cNvSpPr/>
          <p:nvPr/>
        </p:nvSpPr>
        <p:spPr>
          <a:xfrm>
            <a:off x="2931171" y="3899819"/>
            <a:ext cx="6568845" cy="725672"/>
          </a:xfrm>
          <a:prstGeom prst="snip2Diag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81156" y="4011812"/>
            <a:ext cx="5657850" cy="45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5-4-3   </a:t>
            </a:r>
            <a:r>
              <a:rPr lang="zh-CN" altLang="en-US" dirty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二叉树的抽象数据类型定义</a:t>
            </a:r>
            <a:endParaRPr lang="zh-CN" alt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40433" y="1998397"/>
            <a:ext cx="7670342" cy="13452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v</a:t>
            </a:r>
            <a:endParaRPr lang="zh-CN" altLang="en-US" dirty="0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862818" y="2403766"/>
            <a:ext cx="67536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5C307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第五章     树和二叉树</a:t>
            </a:r>
            <a:endParaRPr lang="zh-CN" altLang="en-US" sz="3200" b="1" dirty="0">
              <a:solidFill>
                <a:srgbClr val="5C307D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522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52597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二叉树的抽象数据类型定义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83920" y="685532"/>
            <a:ext cx="10424160" cy="5438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BiTree</a:t>
            </a:r>
            <a:endParaRPr lang="zh-CN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DataModel</a:t>
            </a:r>
            <a:endParaRPr lang="zh-CN" altLang="zh-CN" sz="2400" dirty="0">
              <a:solidFill>
                <a:srgbClr val="285A32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二叉树由一个根结点和两棵互不相交的左右子树构成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，结点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具有层次关系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Operation</a:t>
            </a:r>
            <a:endParaRPr lang="zh-CN" altLang="zh-CN" sz="2400" dirty="0">
              <a:solidFill>
                <a:srgbClr val="285A32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InitBiTree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初始化一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棵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空的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CreatBiTree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建立一棵二叉树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DestroyBiTree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销毁一棵二叉树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PreOrder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前序遍历二叉树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InOrder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中序遍历二叉树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PostOrder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后序遍历二叉树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LeverOrder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层序遍历二叉树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 err="1" smtClean="0">
                <a:solidFill>
                  <a:srgbClr val="285A3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endADT</a:t>
            </a:r>
            <a:endParaRPr lang="zh-CN" altLang="zh-CN" sz="2400" dirty="0">
              <a:solidFill>
                <a:srgbClr val="285A32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349240" y="4079476"/>
            <a:ext cx="5318759" cy="1406924"/>
            <a:chOff x="4873075" y="4532927"/>
            <a:chExt cx="5318759" cy="1406924"/>
          </a:xfrm>
        </p:grpSpPr>
        <p:sp>
          <p:nvSpPr>
            <p:cNvPr id="24" name="Rectangle 16"/>
            <p:cNvSpPr>
              <a:spLocks noChangeArrowheads="1"/>
            </p:cNvSpPr>
            <p:nvPr/>
          </p:nvSpPr>
          <p:spPr bwMode="auto">
            <a:xfrm>
              <a:off x="5333999" y="5014623"/>
              <a:ext cx="4857835" cy="461665"/>
            </a:xfrm>
            <a:prstGeom prst="rect">
              <a:avLst/>
            </a:prstGeom>
            <a:noFill/>
            <a:ln w="19050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zh-CN" altLang="en-US" sz="24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简单</a:t>
              </a: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起见</a:t>
              </a:r>
              <a:r>
                <a:rPr lang="zh-CN" altLang="en-US" sz="24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，只讨论二叉树</a:t>
              </a: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24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遍历</a:t>
              </a:r>
              <a:endPara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右大括号 26"/>
            <p:cNvSpPr/>
            <p:nvPr/>
          </p:nvSpPr>
          <p:spPr>
            <a:xfrm>
              <a:off x="4873075" y="4532927"/>
              <a:ext cx="243840" cy="1406924"/>
            </a:xfrm>
            <a:prstGeom prst="rightBrace">
              <a:avLst>
                <a:gd name="adj1" fmla="val 16840"/>
                <a:gd name="adj2" fmla="val 50000"/>
              </a:avLst>
            </a:prstGeom>
            <a:ln w="25400">
              <a:solidFill>
                <a:srgbClr val="507D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80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300419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</a:t>
            </a:r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24634" y="964653"/>
            <a:ext cx="10994926" cy="1118255"/>
            <a:chOff x="724634" y="2924810"/>
            <a:chExt cx="10994926" cy="1118255"/>
          </a:xfrm>
        </p:grpSpPr>
        <p:sp>
          <p:nvSpPr>
            <p:cNvPr id="10" name="Text Box 20"/>
            <p:cNvSpPr txBox="1">
              <a:spLocks noChangeArrowheads="1"/>
            </p:cNvSpPr>
            <p:nvPr/>
          </p:nvSpPr>
          <p:spPr bwMode="auto">
            <a:xfrm>
              <a:off x="1330187" y="2924810"/>
              <a:ext cx="10389373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l" eaLnBrk="0" hangingPunct="0">
                <a:lnSpc>
                  <a:spcPts val="4000"/>
                </a:lnSpc>
              </a:pPr>
              <a:r>
                <a:rPr lang="zh-CN" altLang="en-US" sz="2800" dirty="0" smtClean="0">
                  <a:solidFill>
                    <a:srgbClr val="285A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二叉树的</a:t>
              </a:r>
              <a:r>
                <a:rPr lang="zh-CN" altLang="en-US" sz="2800" dirty="0">
                  <a:solidFill>
                    <a:srgbClr val="285A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遍历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：从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结点出发，按照某种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次序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访问树中所有结点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，并且每个结点仅被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访问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 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2" name="Group 67"/>
            <p:cNvGrpSpPr/>
            <p:nvPr/>
          </p:nvGrpSpPr>
          <p:grpSpPr>
            <a:xfrm>
              <a:off x="724634" y="3020091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53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854752" y="2078358"/>
            <a:ext cx="9804716" cy="1192219"/>
            <a:chOff x="-157796" y="3712541"/>
            <a:chExt cx="9804716" cy="1192219"/>
          </a:xfrm>
        </p:grpSpPr>
        <p:sp>
          <p:nvSpPr>
            <p:cNvPr id="55" name="Text Box 16"/>
            <p:cNvSpPr txBox="1">
              <a:spLocks noChangeArrowheads="1"/>
            </p:cNvSpPr>
            <p:nvPr/>
          </p:nvSpPr>
          <p:spPr bwMode="auto">
            <a:xfrm>
              <a:off x="-157796" y="4443095"/>
              <a:ext cx="9804716" cy="4616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抽象</a:t>
              </a: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操作，可以是对结点进行的各种处理，这里简化为输出结点的</a:t>
              </a:r>
              <a:r>
                <a:rPr lang="zh-CN" altLang="en-US" sz="24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kumimoji="1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右箭头 55"/>
            <p:cNvSpPr/>
            <p:nvPr/>
          </p:nvSpPr>
          <p:spPr>
            <a:xfrm rot="5400000">
              <a:off x="3149305" y="3892541"/>
              <a:ext cx="684000" cy="324000"/>
            </a:xfrm>
            <a:prstGeom prst="rightArrow">
              <a:avLst/>
            </a:prstGeom>
            <a:noFill/>
            <a:ln w="28575">
              <a:solidFill>
                <a:srgbClr val="B4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5929246" y="1574368"/>
            <a:ext cx="4891154" cy="1111633"/>
            <a:chOff x="1719543" y="3976007"/>
            <a:chExt cx="4891154" cy="1111633"/>
          </a:xfrm>
        </p:grpSpPr>
        <p:sp>
          <p:nvSpPr>
            <p:cNvPr id="58" name="Text Box 16"/>
            <p:cNvSpPr txBox="1">
              <a:spLocks noChangeArrowheads="1"/>
            </p:cNvSpPr>
            <p:nvPr/>
          </p:nvSpPr>
          <p:spPr bwMode="auto">
            <a:xfrm>
              <a:off x="1719543" y="4625975"/>
              <a:ext cx="4891154" cy="4616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限定</a:t>
              </a:r>
              <a:r>
                <a:rPr lang="zh-CN" altLang="en-US" sz="2400" dirty="0" smtClean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先左后右</a:t>
              </a:r>
              <a:r>
                <a:rPr lang="zh-CN" altLang="en-US" sz="24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：前序、中序、后序</a:t>
              </a:r>
              <a:endParaRPr lang="en-US" altLang="zh-CN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右箭头 58"/>
            <p:cNvSpPr/>
            <p:nvPr/>
          </p:nvSpPr>
          <p:spPr>
            <a:xfrm rot="5400000">
              <a:off x="3508105" y="4102007"/>
              <a:ext cx="576000" cy="324000"/>
            </a:xfrm>
            <a:prstGeom prst="rightArrow">
              <a:avLst/>
            </a:prstGeom>
            <a:noFill/>
            <a:ln w="28575">
              <a:solidFill>
                <a:srgbClr val="B4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105957" y="4038847"/>
            <a:ext cx="2856444" cy="1348061"/>
            <a:chOff x="821047" y="1717993"/>
            <a:chExt cx="2856444" cy="1348061"/>
          </a:xfrm>
        </p:grpSpPr>
        <p:sp>
          <p:nvSpPr>
            <p:cNvPr id="63" name="AutoShape 13"/>
            <p:cNvSpPr/>
            <p:nvPr/>
          </p:nvSpPr>
          <p:spPr bwMode="auto">
            <a:xfrm>
              <a:off x="1946923" y="1932306"/>
              <a:ext cx="329720" cy="936000"/>
            </a:xfrm>
            <a:prstGeom prst="leftBrace">
              <a:avLst>
                <a:gd name="adj1" fmla="val 22070"/>
                <a:gd name="adj2" fmla="val 50000"/>
              </a:avLst>
            </a:prstGeom>
            <a:noFill/>
            <a:ln w="38100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6600">
                <a:ea typeface="宋体" panose="02010600030101010101" pitchFamily="2" charset="-122"/>
              </a:endParaRPr>
            </a:p>
          </p:txBody>
        </p:sp>
        <p:sp>
          <p:nvSpPr>
            <p:cNvPr id="64" name="Text Box 14"/>
            <p:cNvSpPr txBox="1">
              <a:spLocks noChangeArrowheads="1"/>
            </p:cNvSpPr>
            <p:nvPr/>
          </p:nvSpPr>
          <p:spPr bwMode="auto">
            <a:xfrm>
              <a:off x="2310131" y="1717993"/>
              <a:ext cx="1367360" cy="13480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20000"/>
                </a:spcBef>
              </a:pP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根结点</a:t>
              </a:r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spcBef>
                  <a:spcPct val="20000"/>
                </a:spcBef>
              </a:pP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左子树</a:t>
              </a:r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endPara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spcBef>
                  <a:spcPct val="20000"/>
                </a:spcBef>
              </a:pP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右子树</a:t>
              </a:r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 Box 16"/>
            <p:cNvSpPr txBox="1">
              <a:spLocks noChangeArrowheads="1"/>
            </p:cNvSpPr>
            <p:nvPr/>
          </p:nvSpPr>
          <p:spPr bwMode="auto">
            <a:xfrm>
              <a:off x="821047" y="2160291"/>
              <a:ext cx="12171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二叉树</a:t>
              </a:r>
              <a:endPara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77623" y="3375748"/>
            <a:ext cx="7197526" cy="523220"/>
            <a:chOff x="1826091" y="4148024"/>
            <a:chExt cx="7197526" cy="523220"/>
          </a:xfrm>
        </p:grpSpPr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66385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按照什么次序对二叉树进行遍历呢？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8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9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4361053" y="4097019"/>
            <a:ext cx="6633695" cy="1015663"/>
            <a:chOff x="4202429" y="1903851"/>
            <a:chExt cx="6633695" cy="1015663"/>
          </a:xfrm>
        </p:grpSpPr>
        <p:sp>
          <p:nvSpPr>
            <p:cNvPr id="74" name="Text Box 7" descr="水滴"/>
            <p:cNvSpPr txBox="1">
              <a:spLocks noChangeArrowheads="1"/>
            </p:cNvSpPr>
            <p:nvPr/>
          </p:nvSpPr>
          <p:spPr bwMode="auto">
            <a:xfrm>
              <a:off x="5215890" y="1903851"/>
              <a:ext cx="5620234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二叉树的遍历方式：</a:t>
              </a:r>
              <a:endPara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sz="2400" b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DLR</a:t>
              </a:r>
              <a:r>
                <a:rPr lang="en-US" altLang="zh-CN" sz="2400" b="1" dirty="0" smtClean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2400" b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LDR</a:t>
              </a:r>
              <a:r>
                <a:rPr lang="en-US" altLang="zh-CN" sz="2400" b="1" dirty="0" smtClean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2400" b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LRD</a:t>
              </a:r>
              <a:r>
                <a:rPr lang="en-US" altLang="zh-CN" sz="2400" b="1" dirty="0" smtClean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2400" b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DRL</a:t>
              </a:r>
              <a:r>
                <a:rPr lang="en-US" altLang="zh-CN" sz="2400" b="1" dirty="0" smtClean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2400" b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RDL</a:t>
              </a:r>
              <a:r>
                <a:rPr lang="zh-CN" altLang="en-US" sz="2400" b="1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RLD</a:t>
              </a:r>
              <a:r>
                <a:rPr lang="en-US" altLang="zh-CN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endParaRPr lang="en-US" altLang="zh-CN" sz="2400" b="1" dirty="0">
                <a:solidFill>
                  <a:srgbClr val="40404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5" name="AutoShape 17"/>
            <p:cNvSpPr>
              <a:spLocks noChangeArrowheads="1"/>
            </p:cNvSpPr>
            <p:nvPr/>
          </p:nvSpPr>
          <p:spPr bwMode="auto">
            <a:xfrm>
              <a:off x="4202429" y="2272031"/>
              <a:ext cx="792000" cy="457200"/>
            </a:xfrm>
            <a:prstGeom prst="rightArrow">
              <a:avLst>
                <a:gd name="adj1" fmla="val 50000"/>
                <a:gd name="adj2" fmla="val 48438"/>
              </a:avLst>
            </a:prstGeom>
            <a:noFill/>
            <a:ln w="28575">
              <a:solidFill>
                <a:srgbClr val="507D7D"/>
              </a:solidFill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6" name="Text Box 9" descr="水滴"/>
          <p:cNvSpPr txBox="1">
            <a:spLocks noChangeArrowheads="1"/>
          </p:cNvSpPr>
          <p:nvPr/>
        </p:nvSpPr>
        <p:spPr bwMode="auto">
          <a:xfrm>
            <a:off x="1009090" y="5565551"/>
            <a:ext cx="843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层序遍历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：按二叉树的层序编号的次序访问各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 </a:t>
            </a:r>
            <a:endParaRPr lang="zh-CN" alt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01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19373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前序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Box 4" descr="水滴"/>
          <p:cNvSpPr txBox="1">
            <a:spLocks noChangeArrowheads="1"/>
          </p:cNvSpPr>
          <p:nvPr/>
        </p:nvSpPr>
        <p:spPr bwMode="auto">
          <a:xfrm>
            <a:off x="638167" y="1572833"/>
            <a:ext cx="6584632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二叉树为空，则空操作返回；否则：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）访问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 smtClean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左子树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 smtClean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结点的右子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200309" y="1192151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33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 Box 38"/>
          <p:cNvSpPr txBox="1">
            <a:spLocks noChangeArrowheads="1"/>
          </p:cNvSpPr>
          <p:nvPr/>
        </p:nvSpPr>
        <p:spPr bwMode="auto">
          <a:xfrm>
            <a:off x="1372227" y="4697095"/>
            <a:ext cx="51165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前序遍历序列：</a:t>
            </a:r>
            <a:r>
              <a:rPr lang="en-US" altLang="zh-CN" sz="28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5C30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D G </a:t>
            </a:r>
            <a:r>
              <a:rPr lang="en-US" altLang="zh-CN" sz="2800" b="1" i="1" dirty="0">
                <a:solidFill>
                  <a:srgbClr val="507D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E F</a:t>
            </a:r>
            <a:endParaRPr lang="en-US" altLang="zh-CN" sz="2800" b="1" i="1" dirty="0">
              <a:solidFill>
                <a:srgbClr val="507D7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01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19373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中序遍历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Box 4" descr="水滴"/>
          <p:cNvSpPr txBox="1">
            <a:spLocks noChangeArrowheads="1"/>
          </p:cNvSpPr>
          <p:nvPr/>
        </p:nvSpPr>
        <p:spPr bwMode="auto">
          <a:xfrm>
            <a:off x="638167" y="1572833"/>
            <a:ext cx="6584632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二叉树为空，则空操作返回；否则：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 smtClean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结点的左子树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 smtClean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结点的右子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200309" y="1192151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33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 Box 38"/>
          <p:cNvSpPr txBox="1">
            <a:spLocks noChangeArrowheads="1"/>
          </p:cNvSpPr>
          <p:nvPr/>
        </p:nvSpPr>
        <p:spPr bwMode="auto">
          <a:xfrm>
            <a:off x="1372227" y="4697095"/>
            <a:ext cx="51165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遍历序列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1" i="1" dirty="0">
                <a:solidFill>
                  <a:srgbClr val="5C30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 G B </a:t>
            </a:r>
            <a:r>
              <a:rPr lang="en-US" altLang="zh-CN" sz="28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507D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C </a:t>
            </a:r>
            <a:r>
              <a:rPr lang="en-US" altLang="zh-CN" sz="2800" b="1" i="1" dirty="0" smtClean="0">
                <a:solidFill>
                  <a:srgbClr val="507D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800" b="1" i="1" dirty="0">
              <a:solidFill>
                <a:srgbClr val="507D7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01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19373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后序遍历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Box 4" descr="水滴"/>
          <p:cNvSpPr txBox="1">
            <a:spLocks noChangeArrowheads="1"/>
          </p:cNvSpPr>
          <p:nvPr/>
        </p:nvSpPr>
        <p:spPr bwMode="auto">
          <a:xfrm>
            <a:off x="638167" y="1572833"/>
            <a:ext cx="658463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二叉树为空，则空操作返回；否则：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 smtClean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左子树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zh-CN" altLang="en-US" sz="2800" dirty="0" smtClean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结点的右子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en-US" altLang="zh-CN" sz="2800" dirty="0" smtClean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spcBef>
                <a:spcPct val="50000"/>
              </a:spcBef>
            </a:pP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200309" y="1192151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33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 Box 38"/>
          <p:cNvSpPr txBox="1">
            <a:spLocks noChangeArrowheads="1"/>
          </p:cNvSpPr>
          <p:nvPr/>
        </p:nvSpPr>
        <p:spPr bwMode="auto">
          <a:xfrm>
            <a:off x="1372227" y="4697095"/>
            <a:ext cx="51165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遍历序列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1" i="1" dirty="0">
                <a:solidFill>
                  <a:srgbClr val="5C30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 D B </a:t>
            </a:r>
            <a:r>
              <a:rPr lang="en-US" altLang="zh-CN" sz="2800" b="1" i="1" dirty="0">
                <a:solidFill>
                  <a:srgbClr val="507D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F C </a:t>
            </a:r>
            <a:r>
              <a:rPr lang="en-US" altLang="zh-CN" sz="2800" b="1" i="1" dirty="0" smtClean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800" b="1" i="1" dirty="0">
              <a:solidFill>
                <a:srgbClr val="B42D2D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01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19373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序遍历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Box 4" descr="水滴"/>
          <p:cNvSpPr txBox="1">
            <a:spLocks noChangeArrowheads="1"/>
          </p:cNvSpPr>
          <p:nvPr/>
        </p:nvSpPr>
        <p:spPr bwMode="auto">
          <a:xfrm>
            <a:off x="638167" y="1572833"/>
            <a:ext cx="5640714" cy="1588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just" eaLnBrk="0" hangingPunct="0">
              <a:lnSpc>
                <a:spcPts val="4000"/>
              </a:lnSpc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的根结点开始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，从上至下逐层遍历，在同一层中，则按从左到右的顺序对结点逐个访问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200309" y="1192151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33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 Box 38"/>
          <p:cNvSpPr txBox="1">
            <a:spLocks noChangeArrowheads="1"/>
          </p:cNvSpPr>
          <p:nvPr/>
        </p:nvSpPr>
        <p:spPr bwMode="auto">
          <a:xfrm>
            <a:off x="1372227" y="4697095"/>
            <a:ext cx="51165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遍历序列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5C30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C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507D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 E F </a:t>
            </a:r>
            <a:r>
              <a:rPr lang="en-US" altLang="zh-CN" sz="2800" b="1" i="1" dirty="0">
                <a:solidFill>
                  <a:srgbClr val="285A3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2800" b="1" i="1" dirty="0">
              <a:solidFill>
                <a:srgbClr val="285A3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80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27127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</a:t>
            </a:r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850350" y="922108"/>
            <a:ext cx="10488210" cy="1075487"/>
            <a:chOff x="1826091" y="4087064"/>
            <a:chExt cx="10488210" cy="1075487"/>
          </a:xfrm>
        </p:grpSpPr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2385059" y="4087064"/>
              <a:ext cx="9929242" cy="10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若已知一棵二叉树的前序（或中序，或后序，或层序）序列，能否唯一确定这棵二叉树呢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8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9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446298" y="3649314"/>
            <a:ext cx="1779946" cy="2288582"/>
            <a:chOff x="1446298" y="2780634"/>
            <a:chExt cx="1779946" cy="2288582"/>
          </a:xfrm>
          <a:solidFill>
            <a:srgbClr val="B4B4BE"/>
          </a:solidFill>
        </p:grpSpPr>
        <p:sp>
          <p:nvSpPr>
            <p:cNvPr id="32" name="Line 25"/>
            <p:cNvSpPr>
              <a:spLocks noChangeShapeType="1"/>
            </p:cNvSpPr>
            <p:nvPr/>
          </p:nvSpPr>
          <p:spPr bwMode="auto">
            <a:xfrm flipH="1">
              <a:off x="2302753" y="3117184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 flipH="1">
              <a:off x="1680454" y="3997928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2794244" y="278063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938899" y="3596925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1446298" y="4637216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720699" y="3649314"/>
            <a:ext cx="1287345" cy="2288582"/>
            <a:chOff x="8720699" y="2780634"/>
            <a:chExt cx="1287345" cy="2288582"/>
          </a:xfrm>
          <a:solidFill>
            <a:srgbClr val="B4B4BE"/>
          </a:solidFill>
        </p:grpSpPr>
        <p:sp>
          <p:nvSpPr>
            <p:cNvPr id="47" name="Line 25"/>
            <p:cNvSpPr>
              <a:spLocks noChangeShapeType="1"/>
            </p:cNvSpPr>
            <p:nvPr/>
          </p:nvSpPr>
          <p:spPr bwMode="auto">
            <a:xfrm flipH="1">
              <a:off x="9084553" y="3117184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8" name="Line 27"/>
            <p:cNvSpPr>
              <a:spLocks noChangeShapeType="1"/>
            </p:cNvSpPr>
            <p:nvPr/>
          </p:nvSpPr>
          <p:spPr bwMode="auto">
            <a:xfrm flipH="1" flipV="1">
              <a:off x="9042274" y="4013685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9576044" y="278063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37"/>
            <p:cNvSpPr>
              <a:spLocks noChangeArrowheads="1"/>
            </p:cNvSpPr>
            <p:nvPr/>
          </p:nvSpPr>
          <p:spPr bwMode="auto">
            <a:xfrm>
              <a:off x="8720699" y="3596925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val 37"/>
            <p:cNvSpPr>
              <a:spLocks noChangeArrowheads="1"/>
            </p:cNvSpPr>
            <p:nvPr/>
          </p:nvSpPr>
          <p:spPr bwMode="auto">
            <a:xfrm>
              <a:off x="9294898" y="4637216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Text Box 38"/>
          <p:cNvSpPr txBox="1">
            <a:spLocks noChangeArrowheads="1"/>
          </p:cNvSpPr>
          <p:nvPr/>
        </p:nvSpPr>
        <p:spPr bwMode="auto">
          <a:xfrm>
            <a:off x="3934831" y="4374385"/>
            <a:ext cx="38528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遍历序列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1" i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 B </a:t>
            </a:r>
            <a:r>
              <a:rPr lang="en-US" altLang="zh-CN" sz="2800" b="1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 b="1" i="1" dirty="0">
              <a:solidFill>
                <a:srgbClr val="40404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850350" y="2217508"/>
            <a:ext cx="10488210" cy="1118255"/>
            <a:chOff x="1826091" y="4087064"/>
            <a:chExt cx="10488210" cy="1118255"/>
          </a:xfrm>
        </p:grpSpPr>
        <p:sp>
          <p:nvSpPr>
            <p:cNvPr id="78" name="Text Box 11"/>
            <p:cNvSpPr txBox="1">
              <a:spLocks noChangeArrowheads="1"/>
            </p:cNvSpPr>
            <p:nvPr/>
          </p:nvSpPr>
          <p:spPr bwMode="auto">
            <a:xfrm>
              <a:off x="2385059" y="4087064"/>
              <a:ext cx="9929242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若已知一棵二叉树的前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序序列和后序序列，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能否唯一确定这棵二叉树呢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9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80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84" name="Text Box 38"/>
          <p:cNvSpPr txBox="1">
            <a:spLocks noChangeArrowheads="1"/>
          </p:cNvSpPr>
          <p:nvPr/>
        </p:nvSpPr>
        <p:spPr bwMode="auto">
          <a:xfrm>
            <a:off x="3934831" y="4983181"/>
            <a:ext cx="38528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遍历序列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1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B A</a:t>
            </a:r>
            <a:endParaRPr lang="en-US" altLang="zh-CN" sz="2800" b="1" i="1" dirty="0">
              <a:solidFill>
                <a:srgbClr val="40404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ldLvl="0" animBg="1"/>
      <p:bldP spid="8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/>
          <p:cNvGrpSpPr/>
          <p:nvPr/>
        </p:nvGrpSpPr>
        <p:grpSpPr>
          <a:xfrm>
            <a:off x="850350" y="922108"/>
            <a:ext cx="10488210" cy="1118255"/>
            <a:chOff x="1826091" y="4087064"/>
            <a:chExt cx="10488210" cy="1118255"/>
          </a:xfrm>
        </p:grpSpPr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2385059" y="4087064"/>
              <a:ext cx="9929242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若已知一棵二叉树的前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序序列和中序序列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，能否唯一确定这棵二叉树呢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8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9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6979920" y="1709420"/>
            <a:ext cx="4343400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前序：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 C D E F G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 I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中序：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C 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D G H F I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Line 38"/>
          <p:cNvSpPr>
            <a:spLocks noChangeShapeType="1"/>
          </p:cNvSpPr>
          <p:nvPr/>
        </p:nvSpPr>
        <p:spPr bwMode="auto">
          <a:xfrm>
            <a:off x="8465820" y="2197417"/>
            <a:ext cx="533400" cy="0"/>
          </a:xfrm>
          <a:prstGeom prst="line">
            <a:avLst/>
          </a:prstGeom>
          <a:noFill/>
          <a:ln w="38100">
            <a:solidFill>
              <a:srgbClr val="5C30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9"/>
          <p:cNvSpPr>
            <a:spLocks noChangeShapeType="1"/>
          </p:cNvSpPr>
          <p:nvPr/>
        </p:nvSpPr>
        <p:spPr bwMode="auto">
          <a:xfrm>
            <a:off x="9151620" y="2197417"/>
            <a:ext cx="1828800" cy="0"/>
          </a:xfrm>
          <a:prstGeom prst="line">
            <a:avLst/>
          </a:prstGeom>
          <a:noFill/>
          <a:ln w="38100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40"/>
          <p:cNvSpPr>
            <a:spLocks noChangeShapeType="1"/>
          </p:cNvSpPr>
          <p:nvPr/>
        </p:nvSpPr>
        <p:spPr bwMode="auto">
          <a:xfrm>
            <a:off x="8145780" y="2625090"/>
            <a:ext cx="533400" cy="0"/>
          </a:xfrm>
          <a:prstGeom prst="line">
            <a:avLst/>
          </a:prstGeom>
          <a:noFill/>
          <a:ln w="38100">
            <a:solidFill>
              <a:srgbClr val="5C30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>
            <a:off x="9136380" y="2625090"/>
            <a:ext cx="1828800" cy="0"/>
          </a:xfrm>
          <a:prstGeom prst="line">
            <a:avLst/>
          </a:prstGeom>
          <a:noFill/>
          <a:ln w="38100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108144" y="1591819"/>
            <a:ext cx="2688065" cy="1716290"/>
            <a:chOff x="4025805" y="1761887"/>
            <a:chExt cx="2688065" cy="1716290"/>
          </a:xfrm>
          <a:solidFill>
            <a:srgbClr val="B4B4BE"/>
          </a:solidFill>
        </p:grpSpPr>
        <p:sp>
          <p:nvSpPr>
            <p:cNvPr id="45" name="Line 25"/>
            <p:cNvSpPr>
              <a:spLocks noChangeShapeType="1"/>
            </p:cNvSpPr>
            <p:nvPr/>
          </p:nvSpPr>
          <p:spPr bwMode="auto">
            <a:xfrm flipH="1">
              <a:off x="4511581" y="2098437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6" name="Line 26"/>
            <p:cNvSpPr>
              <a:spLocks noChangeShapeType="1"/>
            </p:cNvSpPr>
            <p:nvPr/>
          </p:nvSpPr>
          <p:spPr bwMode="auto">
            <a:xfrm>
              <a:off x="5395819" y="2098436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6" name="Oval 37"/>
            <p:cNvSpPr>
              <a:spLocks noChangeArrowheads="1"/>
            </p:cNvSpPr>
            <p:nvPr/>
          </p:nvSpPr>
          <p:spPr bwMode="auto">
            <a:xfrm>
              <a:off x="5003072" y="1761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Oval 37"/>
            <p:cNvSpPr>
              <a:spLocks noChangeArrowheads="1"/>
            </p:cNvSpPr>
            <p:nvPr/>
          </p:nvSpPr>
          <p:spPr bwMode="auto">
            <a:xfrm>
              <a:off x="5561870" y="2578177"/>
              <a:ext cx="1152000" cy="900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 E F </a:t>
              </a:r>
              <a:endParaRPr lang="en-US" altLang="zh-CN" sz="2400" i="1" dirty="0" smtClean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 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Oval 37"/>
            <p:cNvSpPr>
              <a:spLocks noChangeArrowheads="1"/>
            </p:cNvSpPr>
            <p:nvPr/>
          </p:nvSpPr>
          <p:spPr bwMode="auto">
            <a:xfrm>
              <a:off x="4025805" y="2578177"/>
              <a:ext cx="1152000" cy="900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 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Text Box 18"/>
          <p:cNvSpPr txBox="1">
            <a:spLocks noChangeArrowheads="1"/>
          </p:cNvSpPr>
          <p:nvPr/>
        </p:nvSpPr>
        <p:spPr bwMode="auto">
          <a:xfrm>
            <a:off x="1409318" y="3911283"/>
            <a:ext cx="2171700" cy="1031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前序：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eaLnBrk="0" hangingPunct="0"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中序：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Line 45"/>
          <p:cNvSpPr>
            <a:spLocks noChangeShapeType="1"/>
          </p:cNvSpPr>
          <p:nvPr/>
        </p:nvSpPr>
        <p:spPr bwMode="auto">
          <a:xfrm flipV="1">
            <a:off x="2899981" y="4890453"/>
            <a:ext cx="298450" cy="0"/>
          </a:xfrm>
          <a:prstGeom prst="line">
            <a:avLst/>
          </a:prstGeom>
          <a:noFill/>
          <a:ln w="38100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Text Box 55"/>
          <p:cNvSpPr txBox="1">
            <a:spLocks noChangeArrowheads="1"/>
          </p:cNvSpPr>
          <p:nvPr/>
        </p:nvSpPr>
        <p:spPr bwMode="auto">
          <a:xfrm>
            <a:off x="6934201" y="3911283"/>
            <a:ext cx="3596639" cy="1031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前序： 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E F G H I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eaLnBrk="0" hangingPunct="0"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中序：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G H F I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Line 47"/>
          <p:cNvSpPr>
            <a:spLocks noChangeShapeType="1"/>
          </p:cNvSpPr>
          <p:nvPr/>
        </p:nvSpPr>
        <p:spPr bwMode="auto">
          <a:xfrm>
            <a:off x="8855076" y="4421188"/>
            <a:ext cx="1195388" cy="0"/>
          </a:xfrm>
          <a:prstGeom prst="line">
            <a:avLst/>
          </a:prstGeom>
          <a:noFill/>
          <a:ln w="28575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Line 48"/>
          <p:cNvSpPr>
            <a:spLocks noChangeShapeType="1"/>
          </p:cNvSpPr>
          <p:nvPr/>
        </p:nvSpPr>
        <p:spPr bwMode="auto">
          <a:xfrm>
            <a:off x="8839201" y="4922203"/>
            <a:ext cx="1195388" cy="0"/>
          </a:xfrm>
          <a:prstGeom prst="line">
            <a:avLst/>
          </a:prstGeom>
          <a:noFill/>
          <a:ln w="28575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Line 51"/>
          <p:cNvSpPr>
            <a:spLocks noChangeShapeType="1"/>
          </p:cNvSpPr>
          <p:nvPr/>
        </p:nvSpPr>
        <p:spPr bwMode="auto">
          <a:xfrm flipV="1">
            <a:off x="8497889" y="4423093"/>
            <a:ext cx="298450" cy="0"/>
          </a:xfrm>
          <a:prstGeom prst="line">
            <a:avLst/>
          </a:prstGeom>
          <a:noFill/>
          <a:ln w="28575">
            <a:solidFill>
              <a:srgbClr val="5C30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Line 52"/>
          <p:cNvSpPr>
            <a:spLocks noChangeShapeType="1"/>
          </p:cNvSpPr>
          <p:nvPr/>
        </p:nvSpPr>
        <p:spPr bwMode="auto">
          <a:xfrm flipV="1">
            <a:off x="8136890" y="4916206"/>
            <a:ext cx="298450" cy="0"/>
          </a:xfrm>
          <a:prstGeom prst="line">
            <a:avLst/>
          </a:prstGeom>
          <a:noFill/>
          <a:ln w="28575">
            <a:solidFill>
              <a:srgbClr val="5C30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5374018" y="4270768"/>
            <a:ext cx="1685544" cy="1832291"/>
            <a:chOff x="5374018" y="4270768"/>
            <a:chExt cx="1685544" cy="1832291"/>
          </a:xfrm>
        </p:grpSpPr>
        <p:sp>
          <p:nvSpPr>
            <p:cNvPr id="49" name="Line 29"/>
            <p:cNvSpPr>
              <a:spLocks noChangeShapeType="1"/>
            </p:cNvSpPr>
            <p:nvPr/>
          </p:nvSpPr>
          <p:spPr bwMode="auto">
            <a:xfrm flipH="1">
              <a:off x="5641988" y="4667009"/>
              <a:ext cx="288000" cy="648000"/>
            </a:xfrm>
            <a:prstGeom prst="line">
              <a:avLst/>
            </a:prstGeom>
            <a:solidFill>
              <a:srgbClr val="B4B4BE"/>
            </a:solidFill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0" name="Line 30"/>
            <p:cNvSpPr>
              <a:spLocks noChangeShapeType="1"/>
            </p:cNvSpPr>
            <p:nvPr/>
          </p:nvSpPr>
          <p:spPr bwMode="auto">
            <a:xfrm>
              <a:off x="6144598" y="4663491"/>
              <a:ext cx="288000" cy="666000"/>
            </a:xfrm>
            <a:prstGeom prst="line">
              <a:avLst/>
            </a:prstGeom>
            <a:solidFill>
              <a:srgbClr val="B4B4BE"/>
            </a:solidFill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2" name="Oval 37"/>
            <p:cNvSpPr>
              <a:spLocks noChangeArrowheads="1"/>
            </p:cNvSpPr>
            <p:nvPr/>
          </p:nvSpPr>
          <p:spPr bwMode="auto">
            <a:xfrm>
              <a:off x="5827090" y="4270768"/>
              <a:ext cx="432000" cy="432000"/>
            </a:xfrm>
            <a:prstGeom prst="ellipse">
              <a:avLst/>
            </a:prstGeom>
            <a:solidFill>
              <a:srgbClr val="B4B4BE"/>
            </a:solidFill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Oval 37"/>
            <p:cNvSpPr>
              <a:spLocks noChangeArrowheads="1"/>
            </p:cNvSpPr>
            <p:nvPr/>
          </p:nvSpPr>
          <p:spPr bwMode="auto">
            <a:xfrm>
              <a:off x="5374018" y="5311059"/>
              <a:ext cx="432000" cy="432000"/>
            </a:xfrm>
            <a:prstGeom prst="ellipse">
              <a:avLst/>
            </a:prstGeom>
            <a:solidFill>
              <a:srgbClr val="B4B4BE"/>
            </a:solidFill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Oval 37"/>
            <p:cNvSpPr>
              <a:spLocks noChangeArrowheads="1"/>
            </p:cNvSpPr>
            <p:nvPr/>
          </p:nvSpPr>
          <p:spPr bwMode="auto">
            <a:xfrm>
              <a:off x="6051562" y="5311059"/>
              <a:ext cx="1008000" cy="792000"/>
            </a:xfrm>
            <a:prstGeom prst="ellipse">
              <a:avLst/>
            </a:prstGeom>
            <a:solidFill>
              <a:srgbClr val="B4B4BE"/>
            </a:solidFill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G</a:t>
              </a:r>
              <a:endPara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 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614660" y="3454477"/>
            <a:ext cx="1295498" cy="884103"/>
            <a:chOff x="4614660" y="3454477"/>
            <a:chExt cx="1295498" cy="884103"/>
          </a:xfrm>
        </p:grpSpPr>
        <p:sp>
          <p:nvSpPr>
            <p:cNvPr id="51" name="Oval 37"/>
            <p:cNvSpPr>
              <a:spLocks noChangeArrowheads="1"/>
            </p:cNvSpPr>
            <p:nvPr/>
          </p:nvSpPr>
          <p:spPr bwMode="auto">
            <a:xfrm>
              <a:off x="5085411" y="3454477"/>
              <a:ext cx="432000" cy="432000"/>
            </a:xfrm>
            <a:prstGeom prst="ellipse">
              <a:avLst/>
            </a:prstGeom>
            <a:solidFill>
              <a:srgbClr val="B4B4BE"/>
            </a:solidFill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Line 26"/>
            <p:cNvSpPr>
              <a:spLocks noChangeShapeType="1"/>
            </p:cNvSpPr>
            <p:nvPr/>
          </p:nvSpPr>
          <p:spPr bwMode="auto">
            <a:xfrm>
              <a:off x="5478158" y="3791026"/>
              <a:ext cx="432000" cy="540000"/>
            </a:xfrm>
            <a:prstGeom prst="line">
              <a:avLst/>
            </a:prstGeom>
            <a:solidFill>
              <a:srgbClr val="B4B4BE"/>
            </a:solidFill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9" name="Line 25"/>
            <p:cNvSpPr>
              <a:spLocks noChangeShapeType="1"/>
            </p:cNvSpPr>
            <p:nvPr/>
          </p:nvSpPr>
          <p:spPr bwMode="auto">
            <a:xfrm flipH="1">
              <a:off x="4614660" y="3798580"/>
              <a:ext cx="511175" cy="540000"/>
            </a:xfrm>
            <a:prstGeom prst="line">
              <a:avLst/>
            </a:prstGeom>
            <a:solidFill>
              <a:srgbClr val="B4B4BE"/>
            </a:solidFill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66046" y="4263081"/>
            <a:ext cx="1006199" cy="1472291"/>
            <a:chOff x="4266046" y="4263081"/>
            <a:chExt cx="1006199" cy="1472291"/>
          </a:xfrm>
        </p:grpSpPr>
        <p:sp>
          <p:nvSpPr>
            <p:cNvPr id="61" name="Line 27"/>
            <p:cNvSpPr>
              <a:spLocks noChangeShapeType="1"/>
            </p:cNvSpPr>
            <p:nvPr/>
          </p:nvSpPr>
          <p:spPr bwMode="auto">
            <a:xfrm flipH="1" flipV="1">
              <a:off x="4587621" y="4679841"/>
              <a:ext cx="360000" cy="648000"/>
            </a:xfrm>
            <a:prstGeom prst="line">
              <a:avLst/>
            </a:prstGeom>
            <a:solidFill>
              <a:srgbClr val="B4B4BE"/>
            </a:solidFill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2" name="Oval 37"/>
            <p:cNvSpPr>
              <a:spLocks noChangeArrowheads="1"/>
            </p:cNvSpPr>
            <p:nvPr/>
          </p:nvSpPr>
          <p:spPr bwMode="auto">
            <a:xfrm>
              <a:off x="4266046" y="4263081"/>
              <a:ext cx="432000" cy="432000"/>
            </a:xfrm>
            <a:prstGeom prst="ellipse">
              <a:avLst/>
            </a:prstGeom>
            <a:solidFill>
              <a:srgbClr val="B4B4BE"/>
            </a:solidFill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Oval 37"/>
            <p:cNvSpPr>
              <a:spLocks noChangeArrowheads="1"/>
            </p:cNvSpPr>
            <p:nvPr/>
          </p:nvSpPr>
          <p:spPr bwMode="auto">
            <a:xfrm>
              <a:off x="4840245" y="5303372"/>
              <a:ext cx="432000" cy="432000"/>
            </a:xfrm>
            <a:prstGeom prst="ellipse">
              <a:avLst/>
            </a:prstGeom>
            <a:solidFill>
              <a:srgbClr val="B4B4BE"/>
            </a:solidFill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Line 45"/>
          <p:cNvSpPr>
            <a:spLocks noChangeShapeType="1"/>
          </p:cNvSpPr>
          <p:nvPr/>
        </p:nvSpPr>
        <p:spPr bwMode="auto">
          <a:xfrm flipV="1">
            <a:off x="2901187" y="4381500"/>
            <a:ext cx="298450" cy="0"/>
          </a:xfrm>
          <a:prstGeom prst="line">
            <a:avLst/>
          </a:prstGeom>
          <a:noFill/>
          <a:ln w="38100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Rounded Rectangle 10"/>
          <p:cNvSpPr/>
          <p:nvPr/>
        </p:nvSpPr>
        <p:spPr>
          <a:xfrm>
            <a:off x="542923" y="100964"/>
            <a:ext cx="280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27127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</a:t>
            </a:r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5" grpId="0" bldLvl="0" animBg="1"/>
      <p:bldP spid="36" grpId="0" bldLvl="0" animBg="1"/>
      <p:bldP spid="39" grpId="0" bldLvl="0" animBg="1"/>
      <p:bldP spid="41" grpId="0" bldLvl="0" animBg="1"/>
      <p:bldP spid="65" grpId="0" bldLvl="0" animBg="1"/>
      <p:bldP spid="73" grpId="0" bldLvl="0" animBg="1"/>
      <p:bldP spid="74" grpId="0" bldLvl="0" animBg="1"/>
      <p:bldP spid="76" grpId="0" bldLvl="0" animBg="1"/>
      <p:bldP spid="85" grpId="0" bldLvl="0" animBg="1"/>
      <p:bldP spid="86" grpId="0" bldLvl="0" animBg="1"/>
      <p:bldP spid="87" grpId="0" bldLvl="0" animBg="1"/>
      <p:bldP spid="44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/>
          <p:cNvGrpSpPr/>
          <p:nvPr/>
        </p:nvGrpSpPr>
        <p:grpSpPr>
          <a:xfrm>
            <a:off x="850350" y="922108"/>
            <a:ext cx="10488210" cy="1118255"/>
            <a:chOff x="1826091" y="4087064"/>
            <a:chExt cx="10488210" cy="1118255"/>
          </a:xfrm>
        </p:grpSpPr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2385059" y="4087064"/>
              <a:ext cx="9929242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若已知一棵二叉树的前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序序列和中序序列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，能否唯一确定这棵二叉树呢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8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9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1946923" y="2313687"/>
            <a:ext cx="1974151" cy="2648582"/>
            <a:chOff x="5827819" y="3425737"/>
            <a:chExt cx="1974151" cy="2648582"/>
          </a:xfrm>
          <a:solidFill>
            <a:srgbClr val="B4B4BE"/>
          </a:solidFill>
        </p:grpSpPr>
        <p:sp>
          <p:nvSpPr>
            <p:cNvPr id="96" name="Line 26"/>
            <p:cNvSpPr>
              <a:spLocks noChangeShapeType="1"/>
            </p:cNvSpPr>
            <p:nvPr/>
          </p:nvSpPr>
          <p:spPr bwMode="auto">
            <a:xfrm>
              <a:off x="6220566" y="3762286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99" name="Line 29"/>
            <p:cNvSpPr>
              <a:spLocks noChangeShapeType="1"/>
            </p:cNvSpPr>
            <p:nvPr/>
          </p:nvSpPr>
          <p:spPr bwMode="auto">
            <a:xfrm flipH="1">
              <a:off x="6384396" y="4638269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0" name="Line 30"/>
            <p:cNvSpPr>
              <a:spLocks noChangeShapeType="1"/>
            </p:cNvSpPr>
            <p:nvPr/>
          </p:nvSpPr>
          <p:spPr bwMode="auto">
            <a:xfrm>
              <a:off x="6902246" y="4649991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1" name="Oval 37"/>
            <p:cNvSpPr>
              <a:spLocks noChangeArrowheads="1"/>
            </p:cNvSpPr>
            <p:nvPr/>
          </p:nvSpPr>
          <p:spPr bwMode="auto">
            <a:xfrm>
              <a:off x="5827819" y="342573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Oval 37"/>
            <p:cNvSpPr>
              <a:spLocks noChangeArrowheads="1"/>
            </p:cNvSpPr>
            <p:nvPr/>
          </p:nvSpPr>
          <p:spPr bwMode="auto">
            <a:xfrm>
              <a:off x="6569498" y="424202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Oval 37"/>
            <p:cNvSpPr>
              <a:spLocks noChangeArrowheads="1"/>
            </p:cNvSpPr>
            <p:nvPr/>
          </p:nvSpPr>
          <p:spPr bwMode="auto">
            <a:xfrm>
              <a:off x="6116426" y="52823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Oval 37"/>
            <p:cNvSpPr>
              <a:spLocks noChangeArrowheads="1"/>
            </p:cNvSpPr>
            <p:nvPr/>
          </p:nvSpPr>
          <p:spPr bwMode="auto">
            <a:xfrm>
              <a:off x="6793970" y="5282319"/>
              <a:ext cx="1008000" cy="79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G</a:t>
              </a:r>
              <a:endPara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 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4267200" y="1968500"/>
            <a:ext cx="4343400" cy="1031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前序：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G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 I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eaLnBrk="0" hangingPunct="0"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中序：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 H 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Line 6"/>
          <p:cNvSpPr>
            <a:spLocks noChangeShapeType="1"/>
          </p:cNvSpPr>
          <p:nvPr/>
        </p:nvSpPr>
        <p:spPr bwMode="auto">
          <a:xfrm>
            <a:off x="5791200" y="2428875"/>
            <a:ext cx="533400" cy="0"/>
          </a:xfrm>
          <a:prstGeom prst="line">
            <a:avLst/>
          </a:prstGeom>
          <a:noFill/>
          <a:ln w="28575">
            <a:solidFill>
              <a:srgbClr val="5C30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7"/>
          <p:cNvSpPr>
            <a:spLocks noChangeShapeType="1"/>
          </p:cNvSpPr>
          <p:nvPr/>
        </p:nvSpPr>
        <p:spPr bwMode="auto">
          <a:xfrm flipV="1">
            <a:off x="6419850" y="2429828"/>
            <a:ext cx="287338" cy="0"/>
          </a:xfrm>
          <a:prstGeom prst="line">
            <a:avLst/>
          </a:prstGeom>
          <a:noFill/>
          <a:ln w="28575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8"/>
          <p:cNvSpPr>
            <a:spLocks noChangeShapeType="1"/>
          </p:cNvSpPr>
          <p:nvPr/>
        </p:nvSpPr>
        <p:spPr bwMode="auto">
          <a:xfrm>
            <a:off x="5486400" y="2914650"/>
            <a:ext cx="533400" cy="0"/>
          </a:xfrm>
          <a:prstGeom prst="line">
            <a:avLst/>
          </a:prstGeom>
          <a:noFill/>
          <a:ln w="28575">
            <a:solidFill>
              <a:srgbClr val="5C30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38"/>
          <p:cNvSpPr>
            <a:spLocks noChangeShapeType="1"/>
          </p:cNvSpPr>
          <p:nvPr/>
        </p:nvSpPr>
        <p:spPr bwMode="auto">
          <a:xfrm flipV="1">
            <a:off x="6419850" y="2901950"/>
            <a:ext cx="287338" cy="0"/>
          </a:xfrm>
          <a:prstGeom prst="line">
            <a:avLst/>
          </a:prstGeom>
          <a:noFill/>
          <a:ln w="28575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1" name="组合 110"/>
          <p:cNvGrpSpPr/>
          <p:nvPr/>
        </p:nvGrpSpPr>
        <p:grpSpPr>
          <a:xfrm>
            <a:off x="1127558" y="2642550"/>
            <a:ext cx="1006199" cy="1952032"/>
            <a:chOff x="8720699" y="3117184"/>
            <a:chExt cx="1006199" cy="1952032"/>
          </a:xfrm>
          <a:solidFill>
            <a:srgbClr val="B4B4BE"/>
          </a:solidFill>
        </p:grpSpPr>
        <p:sp>
          <p:nvSpPr>
            <p:cNvPr id="112" name="Line 25"/>
            <p:cNvSpPr>
              <a:spLocks noChangeShapeType="1"/>
            </p:cNvSpPr>
            <p:nvPr/>
          </p:nvSpPr>
          <p:spPr bwMode="auto">
            <a:xfrm flipH="1">
              <a:off x="9084553" y="3117184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3" name="Line 27"/>
            <p:cNvSpPr>
              <a:spLocks noChangeShapeType="1"/>
            </p:cNvSpPr>
            <p:nvPr/>
          </p:nvSpPr>
          <p:spPr bwMode="auto">
            <a:xfrm flipH="1" flipV="1">
              <a:off x="9042274" y="4013685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5" name="Oval 37"/>
            <p:cNvSpPr>
              <a:spLocks noChangeArrowheads="1"/>
            </p:cNvSpPr>
            <p:nvPr/>
          </p:nvSpPr>
          <p:spPr bwMode="auto">
            <a:xfrm>
              <a:off x="8720699" y="3596925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Oval 37"/>
            <p:cNvSpPr>
              <a:spLocks noChangeArrowheads="1"/>
            </p:cNvSpPr>
            <p:nvPr/>
          </p:nvSpPr>
          <p:spPr bwMode="auto">
            <a:xfrm>
              <a:off x="9294898" y="4637216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771888" y="1622721"/>
            <a:ext cx="2875259" cy="4375176"/>
            <a:chOff x="7421678" y="1917687"/>
            <a:chExt cx="2875259" cy="4375176"/>
          </a:xfrm>
          <a:solidFill>
            <a:srgbClr val="B4B4BE"/>
          </a:solidFill>
        </p:grpSpPr>
        <p:sp>
          <p:nvSpPr>
            <p:cNvPr id="118" name="Line 26"/>
            <p:cNvSpPr>
              <a:spLocks noChangeShapeType="1"/>
            </p:cNvSpPr>
            <p:nvPr/>
          </p:nvSpPr>
          <p:spPr bwMode="auto">
            <a:xfrm>
              <a:off x="8633790" y="2254236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9" name="Line 29"/>
            <p:cNvSpPr>
              <a:spLocks noChangeShapeType="1"/>
            </p:cNvSpPr>
            <p:nvPr/>
          </p:nvSpPr>
          <p:spPr bwMode="auto">
            <a:xfrm flipH="1">
              <a:off x="8797620" y="3130219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20" name="Line 30"/>
            <p:cNvSpPr>
              <a:spLocks noChangeShapeType="1"/>
            </p:cNvSpPr>
            <p:nvPr/>
          </p:nvSpPr>
          <p:spPr bwMode="auto">
            <a:xfrm>
              <a:off x="9315470" y="3141941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21" name="Oval 37"/>
            <p:cNvSpPr>
              <a:spLocks noChangeArrowheads="1"/>
            </p:cNvSpPr>
            <p:nvPr/>
          </p:nvSpPr>
          <p:spPr bwMode="auto">
            <a:xfrm>
              <a:off x="8241043" y="19176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Oval 37"/>
            <p:cNvSpPr>
              <a:spLocks noChangeArrowheads="1"/>
            </p:cNvSpPr>
            <p:nvPr/>
          </p:nvSpPr>
          <p:spPr bwMode="auto">
            <a:xfrm>
              <a:off x="8982722" y="273397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Oval 37"/>
            <p:cNvSpPr>
              <a:spLocks noChangeArrowheads="1"/>
            </p:cNvSpPr>
            <p:nvPr/>
          </p:nvSpPr>
          <p:spPr bwMode="auto">
            <a:xfrm>
              <a:off x="8529650" y="377426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Line 25"/>
            <p:cNvSpPr>
              <a:spLocks noChangeShapeType="1"/>
            </p:cNvSpPr>
            <p:nvPr/>
          </p:nvSpPr>
          <p:spPr bwMode="auto">
            <a:xfrm flipH="1">
              <a:off x="7785532" y="2246550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27" name="Line 27"/>
            <p:cNvSpPr>
              <a:spLocks noChangeShapeType="1"/>
            </p:cNvSpPr>
            <p:nvPr/>
          </p:nvSpPr>
          <p:spPr bwMode="auto">
            <a:xfrm flipH="1" flipV="1">
              <a:off x="7743253" y="3143051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28" name="Oval 37"/>
            <p:cNvSpPr>
              <a:spLocks noChangeArrowheads="1"/>
            </p:cNvSpPr>
            <p:nvPr/>
          </p:nvSpPr>
          <p:spPr bwMode="auto">
            <a:xfrm>
              <a:off x="7421678" y="272629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Oval 37"/>
            <p:cNvSpPr>
              <a:spLocks noChangeArrowheads="1"/>
            </p:cNvSpPr>
            <p:nvPr/>
          </p:nvSpPr>
          <p:spPr bwMode="auto">
            <a:xfrm>
              <a:off x="7995877" y="376658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Line 29"/>
            <p:cNvSpPr>
              <a:spLocks noChangeShapeType="1"/>
            </p:cNvSpPr>
            <p:nvPr/>
          </p:nvSpPr>
          <p:spPr bwMode="auto">
            <a:xfrm flipH="1">
              <a:off x="9244216" y="4167586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1" name="Line 30"/>
            <p:cNvSpPr>
              <a:spLocks noChangeShapeType="1"/>
            </p:cNvSpPr>
            <p:nvPr/>
          </p:nvSpPr>
          <p:spPr bwMode="auto">
            <a:xfrm>
              <a:off x="9762066" y="4179308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2" name="Oval 37"/>
            <p:cNvSpPr>
              <a:spLocks noChangeArrowheads="1"/>
            </p:cNvSpPr>
            <p:nvPr/>
          </p:nvSpPr>
          <p:spPr bwMode="auto">
            <a:xfrm>
              <a:off x="9429318" y="377426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Oval 37"/>
            <p:cNvSpPr>
              <a:spLocks noChangeArrowheads="1"/>
            </p:cNvSpPr>
            <p:nvPr/>
          </p:nvSpPr>
          <p:spPr bwMode="auto">
            <a:xfrm>
              <a:off x="8976246" y="4811636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 flipH="1" flipV="1">
              <a:off x="9249318" y="5237332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5" name="Oval 37"/>
            <p:cNvSpPr>
              <a:spLocks noChangeArrowheads="1"/>
            </p:cNvSpPr>
            <p:nvPr/>
          </p:nvSpPr>
          <p:spPr bwMode="auto">
            <a:xfrm>
              <a:off x="9864937" y="4811636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Oval 37"/>
            <p:cNvSpPr>
              <a:spLocks noChangeArrowheads="1"/>
            </p:cNvSpPr>
            <p:nvPr/>
          </p:nvSpPr>
          <p:spPr bwMode="auto">
            <a:xfrm>
              <a:off x="9501942" y="586086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Rounded Rectangle 10"/>
          <p:cNvSpPr/>
          <p:nvPr/>
        </p:nvSpPr>
        <p:spPr>
          <a:xfrm>
            <a:off x="542923" y="100964"/>
            <a:ext cx="280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27127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</a:t>
            </a:r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ldLvl="0" animBg="1"/>
      <p:bldP spid="48" grpId="0" bldLvl="0" animBg="1"/>
      <p:bldP spid="49" grpId="0" bldLvl="0" animBg="1"/>
      <p:bldP spid="50" grpId="0" bldLvl="0" animBg="1"/>
      <p:bldP spid="51" grpId="0" bldLvl="0" animBg="1"/>
    </p:bldLst>
  </p:timing>
</p:sld>
</file>

<file path=ppt/tags/tag1.xml><?xml version="1.0" encoding="utf-8"?>
<p:tagLst xmlns:p="http://schemas.openxmlformats.org/presentationml/2006/main">
  <p:tag name="KSO_WPP_MARK_KEY" val="d1d0d3bf-37ed-4698-9aa3-476f36cecf53"/>
  <p:tag name="COMMONDATA" val="eyJoZGlkIjoiYWZhM2E2MGQyYjlmNTM5MmQwMzg5ZjVkMWRmZTEzZmE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3087</Words>
  <Application>WPS 演示</Application>
  <PresentationFormat>自定义</PresentationFormat>
  <Paragraphs>625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Microsoft YaHei UI</vt:lpstr>
      <vt:lpstr>黑体</vt:lpstr>
      <vt:lpstr>Times New Roman</vt:lpstr>
      <vt:lpstr>Calibri</vt:lpstr>
      <vt:lpstr>Arial Unicode MS</vt:lpstr>
      <vt:lpstr>Angsana New</vt:lpstr>
      <vt:lpstr>Microsoft Sans Serif</vt:lpstr>
      <vt:lpstr>等线 Light</vt:lpstr>
      <vt:lpstr>隶书</vt:lpstr>
      <vt:lpstr>Cambria Math</vt:lpstr>
      <vt:lpstr>Office Theme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AutoBVT</dc:creator>
  <cp:lastModifiedBy>吴红</cp:lastModifiedBy>
  <cp:revision>171</cp:revision>
  <dcterms:created xsi:type="dcterms:W3CDTF">2016-09-14T00:58:00Z</dcterms:created>
  <dcterms:modified xsi:type="dcterms:W3CDTF">2025-05-06T10:57:43Z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571D431607244BD98A14505FA8C92BE6_12</vt:lpwstr>
  </property>
</Properties>
</file>
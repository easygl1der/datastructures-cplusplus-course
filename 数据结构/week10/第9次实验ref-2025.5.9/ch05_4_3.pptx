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3"/>
  </p:notesMasterIdLst>
  <p:handoutMasterIdLst>
    <p:handoutMasterId r:id="rId74"/>
  </p:handoutMasterIdLst>
  <p:sldIdLst>
    <p:sldId id="331" r:id="rId2"/>
    <p:sldId id="332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51" r:id="rId22"/>
    <p:sldId id="352" r:id="rId23"/>
    <p:sldId id="353" r:id="rId24"/>
    <p:sldId id="354" r:id="rId25"/>
    <p:sldId id="355" r:id="rId26"/>
    <p:sldId id="356" r:id="rId27"/>
    <p:sldId id="357" r:id="rId28"/>
    <p:sldId id="358" r:id="rId29"/>
    <p:sldId id="359" r:id="rId30"/>
    <p:sldId id="360" r:id="rId31"/>
    <p:sldId id="361" r:id="rId32"/>
    <p:sldId id="362" r:id="rId33"/>
    <p:sldId id="363" r:id="rId34"/>
    <p:sldId id="400" r:id="rId35"/>
    <p:sldId id="401" r:id="rId36"/>
    <p:sldId id="402" r:id="rId37"/>
    <p:sldId id="403" r:id="rId38"/>
    <p:sldId id="366" r:id="rId39"/>
    <p:sldId id="367" r:id="rId40"/>
    <p:sldId id="368" r:id="rId41"/>
    <p:sldId id="369" r:id="rId42"/>
    <p:sldId id="370" r:id="rId43"/>
    <p:sldId id="371" r:id="rId44"/>
    <p:sldId id="372" r:id="rId45"/>
    <p:sldId id="373" r:id="rId46"/>
    <p:sldId id="374" r:id="rId47"/>
    <p:sldId id="375" r:id="rId48"/>
    <p:sldId id="376" r:id="rId49"/>
    <p:sldId id="377" r:id="rId50"/>
    <p:sldId id="378" r:id="rId51"/>
    <p:sldId id="379" r:id="rId52"/>
    <p:sldId id="380" r:id="rId53"/>
    <p:sldId id="381" r:id="rId54"/>
    <p:sldId id="382" r:id="rId55"/>
    <p:sldId id="383" r:id="rId56"/>
    <p:sldId id="384" r:id="rId57"/>
    <p:sldId id="385" r:id="rId58"/>
    <p:sldId id="386" r:id="rId59"/>
    <p:sldId id="387" r:id="rId60"/>
    <p:sldId id="388" r:id="rId61"/>
    <p:sldId id="389" r:id="rId62"/>
    <p:sldId id="390" r:id="rId63"/>
    <p:sldId id="391" r:id="rId64"/>
    <p:sldId id="392" r:id="rId65"/>
    <p:sldId id="393" r:id="rId66"/>
    <p:sldId id="394" r:id="rId67"/>
    <p:sldId id="395" r:id="rId68"/>
    <p:sldId id="396" r:id="rId69"/>
    <p:sldId id="397" r:id="rId70"/>
    <p:sldId id="398" r:id="rId71"/>
    <p:sldId id="399" r:id="rId72"/>
  </p:sldIdLst>
  <p:sldSz cx="12192000" cy="6858000"/>
  <p:notesSz cx="6858000" cy="9144000"/>
  <p:custDataLst>
    <p:tags r:id="rId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307D"/>
    <a:srgbClr val="FF00FF"/>
    <a:srgbClr val="285A32"/>
    <a:srgbClr val="B42D2D"/>
    <a:srgbClr val="507D7D"/>
    <a:srgbClr val="404040"/>
    <a:srgbClr val="5A327D"/>
    <a:srgbClr val="6E6EAA"/>
    <a:srgbClr val="4196BE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865" autoAdjust="0"/>
  </p:normalViewPr>
  <p:slideViewPr>
    <p:cSldViewPr snapToGrid="0">
      <p:cViewPr varScale="1">
        <p:scale>
          <a:sx n="118" d="100"/>
          <a:sy n="118" d="100"/>
        </p:scale>
        <p:origin x="61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handoutMaster" Target="handoutMasters/handoutMaster1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EB276E-97BE-4626-B856-66863D54E8F4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51C689-2A23-4049-A45D-A2441FC9F7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1979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CFB564-F609-4D6A-B7A1-3D4272BF8A56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9BF65F-D44F-4528-A462-40F60C357A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9BF65F-D44F-4528-A462-40F60C357A5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1354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9BF65F-D44F-4528-A462-40F60C357A5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18771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9BF65F-D44F-4528-A462-40F60C357A5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87899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BF65F-D44F-4528-A462-40F60C357A5F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03109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BF65F-D44F-4528-A462-40F60C357A5F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1328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" y="0"/>
            <a:ext cx="12190954" cy="6858588"/>
          </a:xfrm>
          <a:prstGeom prst="rect">
            <a:avLst/>
          </a:prstGeom>
        </p:spPr>
      </p:pic>
      <p:sp>
        <p:nvSpPr>
          <p:cNvPr id="8" name="Rectangle 4"/>
          <p:cNvSpPr/>
          <p:nvPr userDrawn="1"/>
        </p:nvSpPr>
        <p:spPr>
          <a:xfrm>
            <a:off x="319020" y="368489"/>
            <a:ext cx="11520000" cy="5760000"/>
          </a:xfrm>
          <a:prstGeom prst="rect">
            <a:avLst/>
          </a:prstGeom>
          <a:noFill/>
          <a:ln w="28575">
            <a:solidFill>
              <a:srgbClr val="5A32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11697188" y="1948934"/>
            <a:ext cx="252000" cy="2639889"/>
            <a:chOff x="11697188" y="1703270"/>
            <a:chExt cx="252000" cy="2639889"/>
          </a:xfrm>
        </p:grpSpPr>
        <p:sp>
          <p:nvSpPr>
            <p:cNvPr id="9" name="Rounded Rectangle 7"/>
            <p:cNvSpPr/>
            <p:nvPr userDrawn="1"/>
          </p:nvSpPr>
          <p:spPr>
            <a:xfrm>
              <a:off x="11697188" y="1703270"/>
              <a:ext cx="252000" cy="2639889"/>
            </a:xfrm>
            <a:prstGeom prst="roundRect">
              <a:avLst/>
            </a:prstGeom>
            <a:solidFill>
              <a:srgbClr val="5A32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extBox 10"/>
            <p:cNvSpPr txBox="1"/>
            <p:nvPr userDrawn="1"/>
          </p:nvSpPr>
          <p:spPr>
            <a:xfrm>
              <a:off x="11765891" y="1776592"/>
              <a:ext cx="153888" cy="2566567"/>
            </a:xfrm>
            <a:prstGeom prst="rect">
              <a:avLst/>
            </a:prstGeom>
            <a:noFill/>
          </p:spPr>
          <p:txBody>
            <a:bodyPr vert="eaVert" wrap="square" lIns="0" tIns="0" rIns="0" bIns="0" rtlCol="0">
              <a:spAutoFit/>
            </a:bodyPr>
            <a:lstStyle/>
            <a:p>
              <a:r>
                <a:rPr lang="zh-CN" altLang="en-US" sz="1000" kern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数据结构（从概念到实现）  清华大学出版社</a:t>
              </a: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B96C3F-8C63-432F-9AD1-2207182A8732}" type="datetimeFigureOut">
              <a:rPr lang="zh-CN" altLang="en-US" smtClean="0"/>
              <a:t>2024/5/10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6F9FB9-CEB1-457A-B993-A1A76D83EC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w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nip Diagonal Corner Rectangle 12"/>
          <p:cNvSpPr/>
          <p:nvPr/>
        </p:nvSpPr>
        <p:spPr>
          <a:xfrm>
            <a:off x="2931171" y="3899819"/>
            <a:ext cx="6568845" cy="725672"/>
          </a:xfrm>
          <a:prstGeom prst="snip2Diag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spcBef>
                <a:spcPct val="50000"/>
              </a:spcBef>
            </a:pP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381156" y="4011812"/>
            <a:ext cx="5657850" cy="459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50000"/>
              </a:spcBef>
            </a:pPr>
            <a:r>
              <a:rPr lang="en-US" altLang="zh-CN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5-4-3   </a:t>
            </a:r>
            <a:r>
              <a:rPr lang="zh-CN" altLang="en-US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二叉树的抽象数据类型定义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40433" y="1998397"/>
            <a:ext cx="7670342" cy="134525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v</a:t>
            </a:r>
            <a:endParaRPr lang="zh-CN" altLang="en-US" dirty="0"/>
          </a:p>
        </p:txBody>
      </p:sp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2862818" y="2403766"/>
            <a:ext cx="675362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5C307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第五章     树和二叉树</a:t>
            </a:r>
          </a:p>
        </p:txBody>
      </p:sp>
    </p:spTree>
    <p:extLst>
      <p:ext uri="{BB962C8B-B14F-4D97-AF65-F5344CB8AC3E}">
        <p14:creationId xmlns:p14="http://schemas.microsoft.com/office/powerpoint/2010/main" val="1363647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5220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525971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二叉树的抽象数据类型定义</a:t>
            </a:r>
          </a:p>
        </p:txBody>
      </p:sp>
      <p:sp>
        <p:nvSpPr>
          <p:cNvPr id="4" name="矩形 3"/>
          <p:cNvSpPr/>
          <p:nvPr/>
        </p:nvSpPr>
        <p:spPr>
          <a:xfrm>
            <a:off x="883920" y="685532"/>
            <a:ext cx="10424160" cy="5438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285A3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ADT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BiTree</a:t>
            </a:r>
            <a:endParaRPr lang="zh-CN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</a:pPr>
            <a:r>
              <a:rPr lang="en-US" altLang="zh-CN" sz="2400" dirty="0" err="1">
                <a:solidFill>
                  <a:srgbClr val="285A3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DataModel</a:t>
            </a:r>
            <a:endParaRPr lang="zh-CN" altLang="zh-CN" sz="2400" dirty="0">
              <a:solidFill>
                <a:srgbClr val="285A32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二叉树由一个根结点和两棵互不相交的左右子树构成，结点具有层次关系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285A3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Operation</a:t>
            </a:r>
            <a:endParaRPr lang="zh-CN" altLang="zh-CN" sz="2400" dirty="0">
              <a:solidFill>
                <a:srgbClr val="285A32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2400" dirty="0" err="1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InitBiTree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初始化一棵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空的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二叉树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zh-CN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2400" dirty="0" err="1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CreatBiTree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建立一棵二叉树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zh-CN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2400" dirty="0" err="1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DestroyBiTree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销毁一棵二叉树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2400" dirty="0" err="1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PreOrder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前序遍历二叉树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2400" dirty="0" err="1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InOrder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中序遍历二叉树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2400" dirty="0" err="1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PostOrder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后序遍历二叉树</a:t>
            </a:r>
          </a:p>
          <a:p>
            <a:pPr>
              <a:lnSpc>
                <a:spcPts val="3500"/>
              </a:lnSpc>
            </a:pPr>
            <a:r>
              <a:rPr lang="en-US" altLang="zh-CN" sz="2400" dirty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2400" dirty="0" err="1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LevelOrder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层序遍历二叉树</a:t>
            </a:r>
          </a:p>
          <a:p>
            <a:pPr>
              <a:lnSpc>
                <a:spcPts val="3500"/>
              </a:lnSpc>
            </a:pPr>
            <a:r>
              <a:rPr lang="en-US" altLang="zh-CN" sz="2400" dirty="0" err="1">
                <a:solidFill>
                  <a:srgbClr val="285A3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endADT</a:t>
            </a:r>
            <a:endParaRPr lang="zh-CN" altLang="zh-CN" sz="2400" dirty="0">
              <a:solidFill>
                <a:srgbClr val="285A32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5349240" y="4079476"/>
            <a:ext cx="5318759" cy="1406924"/>
            <a:chOff x="4873075" y="4532927"/>
            <a:chExt cx="5318759" cy="1406924"/>
          </a:xfrm>
        </p:grpSpPr>
        <p:sp>
          <p:nvSpPr>
            <p:cNvPr id="24" name="Rectangle 16"/>
            <p:cNvSpPr>
              <a:spLocks noChangeArrowheads="1"/>
            </p:cNvSpPr>
            <p:nvPr/>
          </p:nvSpPr>
          <p:spPr bwMode="auto">
            <a:xfrm>
              <a:off x="5333999" y="5014623"/>
              <a:ext cx="4857835" cy="461665"/>
            </a:xfrm>
            <a:prstGeom prst="rect">
              <a:avLst/>
            </a:prstGeom>
            <a:noFill/>
            <a:ln w="19050">
              <a:solidFill>
                <a:srgbClr val="507D7D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r>
                <a:rPr lang="zh-CN" altLang="en-US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简单起见，只讨论二叉树的遍历</a:t>
              </a:r>
            </a:p>
          </p:txBody>
        </p:sp>
        <p:sp>
          <p:nvSpPr>
            <p:cNvPr id="27" name="右大括号 26"/>
            <p:cNvSpPr/>
            <p:nvPr/>
          </p:nvSpPr>
          <p:spPr>
            <a:xfrm>
              <a:off x="4873075" y="4532927"/>
              <a:ext cx="243840" cy="1406924"/>
            </a:xfrm>
            <a:prstGeom prst="rightBrace">
              <a:avLst>
                <a:gd name="adj1" fmla="val 16840"/>
                <a:gd name="adj2" fmla="val 50000"/>
              </a:avLst>
            </a:prstGeom>
            <a:ln w="25400">
              <a:solidFill>
                <a:srgbClr val="507D7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77575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2808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7" y="61585"/>
            <a:ext cx="300419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二叉树的遍历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724634" y="964653"/>
            <a:ext cx="10994926" cy="1118255"/>
            <a:chOff x="724634" y="2924810"/>
            <a:chExt cx="10994926" cy="1118255"/>
          </a:xfrm>
        </p:grpSpPr>
        <p:sp>
          <p:nvSpPr>
            <p:cNvPr id="10" name="Text Box 20"/>
            <p:cNvSpPr txBox="1">
              <a:spLocks noChangeArrowheads="1"/>
            </p:cNvSpPr>
            <p:nvPr/>
          </p:nvSpPr>
          <p:spPr bwMode="auto">
            <a:xfrm>
              <a:off x="1330187" y="2924810"/>
              <a:ext cx="10389373" cy="1118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/>
            <a:p>
              <a:pPr algn="l" eaLnBrk="0" hangingPunct="0">
                <a:lnSpc>
                  <a:spcPts val="4000"/>
                </a:lnSpc>
              </a:pPr>
              <a:r>
                <a:rPr lang="zh-CN" altLang="en-US" sz="2800" dirty="0">
                  <a:solidFill>
                    <a:srgbClr val="285A3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二叉树的遍历</a:t>
              </a: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：从</a:t>
              </a:r>
              <a:r>
                <a:rPr lang="zh-CN" altLang="en-US" sz="2800" dirty="0">
                  <a:solidFill>
                    <a:srgbClr val="B42D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根</a:t>
              </a: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结点出发，按照某种</a:t>
              </a:r>
              <a:r>
                <a:rPr lang="zh-CN" altLang="en-US" sz="2800" dirty="0">
                  <a:solidFill>
                    <a:srgbClr val="B42D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次序</a:t>
              </a: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访问树中所有结点，并且每个结点仅被</a:t>
              </a:r>
              <a:r>
                <a:rPr lang="zh-CN" altLang="en-US" sz="2800" dirty="0">
                  <a:solidFill>
                    <a:srgbClr val="B42D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访问</a:t>
              </a: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一次 </a:t>
              </a:r>
            </a:p>
          </p:txBody>
        </p:sp>
        <p:grpSp>
          <p:nvGrpSpPr>
            <p:cNvPr id="52" name="Group 67"/>
            <p:cNvGrpSpPr/>
            <p:nvPr/>
          </p:nvGrpSpPr>
          <p:grpSpPr>
            <a:xfrm>
              <a:off x="724634" y="3020091"/>
              <a:ext cx="432000" cy="432000"/>
              <a:chOff x="10115551" y="5634038"/>
              <a:chExt cx="577850" cy="576263"/>
            </a:xfrm>
            <a:solidFill>
              <a:srgbClr val="5A327D"/>
            </a:solidFill>
          </p:grpSpPr>
          <p:sp>
            <p:nvSpPr>
              <p:cNvPr id="53" name="Freeform 13"/>
              <p:cNvSpPr/>
              <p:nvPr/>
            </p:nvSpPr>
            <p:spPr bwMode="auto">
              <a:xfrm>
                <a:off x="10177463" y="5634038"/>
                <a:ext cx="515938" cy="517525"/>
              </a:xfrm>
              <a:custGeom>
                <a:avLst/>
                <a:gdLst>
                  <a:gd name="T0" fmla="*/ 174 w 176"/>
                  <a:gd name="T1" fmla="*/ 61 h 176"/>
                  <a:gd name="T2" fmla="*/ 115 w 176"/>
                  <a:gd name="T3" fmla="*/ 2 h 176"/>
                  <a:gd name="T4" fmla="*/ 110 w 176"/>
                  <a:gd name="T5" fmla="*/ 2 h 176"/>
                  <a:gd name="T6" fmla="*/ 91 w 176"/>
                  <a:gd name="T7" fmla="*/ 20 h 176"/>
                  <a:gd name="T8" fmla="*/ 90 w 176"/>
                  <a:gd name="T9" fmla="*/ 23 h 176"/>
                  <a:gd name="T10" fmla="*/ 91 w 176"/>
                  <a:gd name="T11" fmla="*/ 26 h 176"/>
                  <a:gd name="T12" fmla="*/ 96 w 176"/>
                  <a:gd name="T13" fmla="*/ 31 h 176"/>
                  <a:gd name="T14" fmla="*/ 69 w 176"/>
                  <a:gd name="T15" fmla="*/ 58 h 176"/>
                  <a:gd name="T16" fmla="*/ 50 w 176"/>
                  <a:gd name="T17" fmla="*/ 56 h 176"/>
                  <a:gd name="T18" fmla="*/ 1 w 176"/>
                  <a:gd name="T19" fmla="*/ 76 h 176"/>
                  <a:gd name="T20" fmla="*/ 1 w 176"/>
                  <a:gd name="T21" fmla="*/ 82 h 176"/>
                  <a:gd name="T22" fmla="*/ 94 w 176"/>
                  <a:gd name="T23" fmla="*/ 175 h 176"/>
                  <a:gd name="T24" fmla="*/ 97 w 176"/>
                  <a:gd name="T25" fmla="*/ 176 h 176"/>
                  <a:gd name="T26" fmla="*/ 100 w 176"/>
                  <a:gd name="T27" fmla="*/ 175 h 176"/>
                  <a:gd name="T28" fmla="*/ 118 w 176"/>
                  <a:gd name="T29" fmla="*/ 107 h 176"/>
                  <a:gd name="T30" fmla="*/ 145 w 176"/>
                  <a:gd name="T31" fmla="*/ 80 h 176"/>
                  <a:gd name="T32" fmla="*/ 150 w 176"/>
                  <a:gd name="T33" fmla="*/ 85 h 176"/>
                  <a:gd name="T34" fmla="*/ 156 w 176"/>
                  <a:gd name="T35" fmla="*/ 85 h 176"/>
                  <a:gd name="T36" fmla="*/ 174 w 176"/>
                  <a:gd name="T37" fmla="*/ 66 h 176"/>
                  <a:gd name="T38" fmla="*/ 176 w 176"/>
                  <a:gd name="T39" fmla="*/ 63 h 176"/>
                  <a:gd name="T40" fmla="*/ 174 w 176"/>
                  <a:gd name="T41" fmla="*/ 61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76" h="176">
                    <a:moveTo>
                      <a:pt x="174" y="61"/>
                    </a:moveTo>
                    <a:cubicBezTo>
                      <a:pt x="115" y="2"/>
                      <a:pt x="115" y="2"/>
                      <a:pt x="115" y="2"/>
                    </a:cubicBezTo>
                    <a:cubicBezTo>
                      <a:pt x="114" y="0"/>
                      <a:pt x="111" y="0"/>
                      <a:pt x="110" y="2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0" y="21"/>
                      <a:pt x="90" y="22"/>
                      <a:pt x="90" y="23"/>
                    </a:cubicBezTo>
                    <a:cubicBezTo>
                      <a:pt x="90" y="24"/>
                      <a:pt x="90" y="25"/>
                      <a:pt x="91" y="26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69" y="58"/>
                      <a:pt x="69" y="58"/>
                      <a:pt x="69" y="58"/>
                    </a:cubicBezTo>
                    <a:cubicBezTo>
                      <a:pt x="63" y="57"/>
                      <a:pt x="57" y="56"/>
                      <a:pt x="50" y="56"/>
                    </a:cubicBezTo>
                    <a:cubicBezTo>
                      <a:pt x="32" y="56"/>
                      <a:pt x="14" y="63"/>
                      <a:pt x="1" y="76"/>
                    </a:cubicBezTo>
                    <a:cubicBezTo>
                      <a:pt x="0" y="78"/>
                      <a:pt x="0" y="80"/>
                      <a:pt x="1" y="82"/>
                    </a:cubicBezTo>
                    <a:cubicBezTo>
                      <a:pt x="94" y="175"/>
                      <a:pt x="94" y="175"/>
                      <a:pt x="94" y="175"/>
                    </a:cubicBezTo>
                    <a:cubicBezTo>
                      <a:pt x="95" y="175"/>
                      <a:pt x="96" y="176"/>
                      <a:pt x="97" y="176"/>
                    </a:cubicBezTo>
                    <a:cubicBezTo>
                      <a:pt x="98" y="176"/>
                      <a:pt x="99" y="175"/>
                      <a:pt x="100" y="175"/>
                    </a:cubicBezTo>
                    <a:cubicBezTo>
                      <a:pt x="117" y="157"/>
                      <a:pt x="124" y="131"/>
                      <a:pt x="118" y="107"/>
                    </a:cubicBezTo>
                    <a:cubicBezTo>
                      <a:pt x="145" y="80"/>
                      <a:pt x="145" y="80"/>
                      <a:pt x="145" y="80"/>
                    </a:cubicBezTo>
                    <a:cubicBezTo>
                      <a:pt x="150" y="85"/>
                      <a:pt x="150" y="85"/>
                      <a:pt x="150" y="85"/>
                    </a:cubicBezTo>
                    <a:cubicBezTo>
                      <a:pt x="152" y="86"/>
                      <a:pt x="154" y="86"/>
                      <a:pt x="156" y="85"/>
                    </a:cubicBezTo>
                    <a:cubicBezTo>
                      <a:pt x="174" y="66"/>
                      <a:pt x="174" y="66"/>
                      <a:pt x="174" y="66"/>
                    </a:cubicBezTo>
                    <a:cubicBezTo>
                      <a:pt x="175" y="65"/>
                      <a:pt x="176" y="64"/>
                      <a:pt x="176" y="63"/>
                    </a:cubicBezTo>
                    <a:cubicBezTo>
                      <a:pt x="176" y="62"/>
                      <a:pt x="175" y="61"/>
                      <a:pt x="174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4" name="Freeform 14"/>
              <p:cNvSpPr/>
              <p:nvPr/>
            </p:nvSpPr>
            <p:spPr bwMode="auto">
              <a:xfrm>
                <a:off x="10115551" y="5983288"/>
                <a:ext cx="228600" cy="227013"/>
              </a:xfrm>
              <a:custGeom>
                <a:avLst/>
                <a:gdLst>
                  <a:gd name="T0" fmla="*/ 7 w 78"/>
                  <a:gd name="T1" fmla="*/ 77 h 77"/>
                  <a:gd name="T2" fmla="*/ 2 w 78"/>
                  <a:gd name="T3" fmla="*/ 76 h 77"/>
                  <a:gd name="T4" fmla="*/ 2 w 78"/>
                  <a:gd name="T5" fmla="*/ 67 h 77"/>
                  <a:gd name="T6" fmla="*/ 67 w 78"/>
                  <a:gd name="T7" fmla="*/ 2 h 77"/>
                  <a:gd name="T8" fmla="*/ 76 w 78"/>
                  <a:gd name="T9" fmla="*/ 2 h 77"/>
                  <a:gd name="T10" fmla="*/ 76 w 78"/>
                  <a:gd name="T11" fmla="*/ 11 h 77"/>
                  <a:gd name="T12" fmla="*/ 11 w 78"/>
                  <a:gd name="T13" fmla="*/ 76 h 77"/>
                  <a:gd name="T14" fmla="*/ 7 w 78"/>
                  <a:gd name="T15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8" h="77">
                    <a:moveTo>
                      <a:pt x="7" y="77"/>
                    </a:moveTo>
                    <a:cubicBezTo>
                      <a:pt x="5" y="77"/>
                      <a:pt x="3" y="77"/>
                      <a:pt x="2" y="76"/>
                    </a:cubicBezTo>
                    <a:cubicBezTo>
                      <a:pt x="0" y="73"/>
                      <a:pt x="0" y="70"/>
                      <a:pt x="2" y="67"/>
                    </a:cubicBezTo>
                    <a:cubicBezTo>
                      <a:pt x="67" y="2"/>
                      <a:pt x="67" y="2"/>
                      <a:pt x="67" y="2"/>
                    </a:cubicBezTo>
                    <a:cubicBezTo>
                      <a:pt x="70" y="0"/>
                      <a:pt x="73" y="0"/>
                      <a:pt x="76" y="2"/>
                    </a:cubicBezTo>
                    <a:cubicBezTo>
                      <a:pt x="78" y="5"/>
                      <a:pt x="78" y="8"/>
                      <a:pt x="76" y="11"/>
                    </a:cubicBezTo>
                    <a:cubicBezTo>
                      <a:pt x="11" y="76"/>
                      <a:pt x="11" y="76"/>
                      <a:pt x="11" y="76"/>
                    </a:cubicBezTo>
                    <a:cubicBezTo>
                      <a:pt x="10" y="77"/>
                      <a:pt x="8" y="77"/>
                      <a:pt x="7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/>
          <p:cNvGrpSpPr/>
          <p:nvPr/>
        </p:nvGrpSpPr>
        <p:grpSpPr>
          <a:xfrm>
            <a:off x="854752" y="2078358"/>
            <a:ext cx="9804716" cy="1192219"/>
            <a:chOff x="-157796" y="3712541"/>
            <a:chExt cx="9804716" cy="1192219"/>
          </a:xfrm>
        </p:grpSpPr>
        <p:sp>
          <p:nvSpPr>
            <p:cNvPr id="55" name="Text Box 16"/>
            <p:cNvSpPr txBox="1">
              <a:spLocks noChangeArrowheads="1"/>
            </p:cNvSpPr>
            <p:nvPr/>
          </p:nvSpPr>
          <p:spPr bwMode="auto">
            <a:xfrm>
              <a:off x="-157796" y="4443095"/>
              <a:ext cx="9804716" cy="4616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B42D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抽象</a:t>
              </a:r>
              <a:r>
                <a:rPr lang="zh-CN" altLang="en-US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操作，可以是对结点进行的各种处理，这里简化为输出结点的数据</a:t>
              </a:r>
              <a:endParaRPr kumimoji="1"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" name="右箭头 55"/>
            <p:cNvSpPr/>
            <p:nvPr/>
          </p:nvSpPr>
          <p:spPr>
            <a:xfrm rot="5400000">
              <a:off x="3149305" y="3892541"/>
              <a:ext cx="684000" cy="324000"/>
            </a:xfrm>
            <a:prstGeom prst="rightArrow">
              <a:avLst/>
            </a:prstGeom>
            <a:noFill/>
            <a:ln w="28575">
              <a:solidFill>
                <a:srgbClr val="B42D2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5929246" y="1574368"/>
            <a:ext cx="4891154" cy="1111633"/>
            <a:chOff x="1719543" y="3976007"/>
            <a:chExt cx="4891154" cy="1111633"/>
          </a:xfrm>
        </p:grpSpPr>
        <p:sp>
          <p:nvSpPr>
            <p:cNvPr id="58" name="Text Box 16"/>
            <p:cNvSpPr txBox="1">
              <a:spLocks noChangeArrowheads="1"/>
            </p:cNvSpPr>
            <p:nvPr/>
          </p:nvSpPr>
          <p:spPr bwMode="auto">
            <a:xfrm>
              <a:off x="1719543" y="4625975"/>
              <a:ext cx="4891154" cy="4616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限定</a:t>
              </a:r>
              <a:r>
                <a:rPr lang="zh-CN" altLang="en-US" sz="2400" dirty="0">
                  <a:solidFill>
                    <a:srgbClr val="B42D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先左后右</a:t>
              </a:r>
              <a:r>
                <a:rPr lang="zh-CN" altLang="en-US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：前序、中序、后序</a:t>
              </a:r>
              <a:endParaRPr lang="en-US" altLang="zh-CN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右箭头 58"/>
            <p:cNvSpPr/>
            <p:nvPr/>
          </p:nvSpPr>
          <p:spPr>
            <a:xfrm rot="5400000">
              <a:off x="3508105" y="4102007"/>
              <a:ext cx="576000" cy="324000"/>
            </a:xfrm>
            <a:prstGeom prst="rightArrow">
              <a:avLst/>
            </a:prstGeom>
            <a:noFill/>
            <a:ln w="28575">
              <a:solidFill>
                <a:srgbClr val="B42D2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1105957" y="4038847"/>
            <a:ext cx="2856444" cy="1348061"/>
            <a:chOff x="821047" y="1717993"/>
            <a:chExt cx="2856444" cy="1348061"/>
          </a:xfrm>
        </p:grpSpPr>
        <p:sp>
          <p:nvSpPr>
            <p:cNvPr id="63" name="AutoShape 13"/>
            <p:cNvSpPr/>
            <p:nvPr/>
          </p:nvSpPr>
          <p:spPr bwMode="auto">
            <a:xfrm>
              <a:off x="1946923" y="1932306"/>
              <a:ext cx="329720" cy="936000"/>
            </a:xfrm>
            <a:prstGeom prst="leftBrace">
              <a:avLst>
                <a:gd name="adj1" fmla="val 22070"/>
                <a:gd name="adj2" fmla="val 50000"/>
              </a:avLst>
            </a:prstGeom>
            <a:noFill/>
            <a:ln w="38100">
              <a:solidFill>
                <a:srgbClr val="507D7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 sz="6600">
                <a:ea typeface="宋体" panose="02010600030101010101" pitchFamily="2" charset="-122"/>
              </a:endParaRPr>
            </a:p>
          </p:txBody>
        </p:sp>
        <p:sp>
          <p:nvSpPr>
            <p:cNvPr id="64" name="Text Box 14"/>
            <p:cNvSpPr txBox="1">
              <a:spLocks noChangeArrowheads="1"/>
            </p:cNvSpPr>
            <p:nvPr/>
          </p:nvSpPr>
          <p:spPr bwMode="auto">
            <a:xfrm>
              <a:off x="2310131" y="1717993"/>
              <a:ext cx="1367360" cy="13480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>
                <a:spcBef>
                  <a:spcPct val="20000"/>
                </a:spcBef>
              </a:pPr>
              <a:r>
                <a:rPr lang="zh-CN" altLang="en-US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根结点</a:t>
              </a:r>
              <a:r>
                <a:rPr lang="en-US" altLang="zh-CN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</a:p>
            <a:p>
              <a:pPr algn="l">
                <a:spcBef>
                  <a:spcPct val="20000"/>
                </a:spcBef>
              </a:pPr>
              <a:r>
                <a:rPr lang="zh-CN" altLang="en-US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左子树</a:t>
              </a:r>
              <a:r>
                <a:rPr lang="en-US" altLang="zh-CN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</a:t>
              </a:r>
            </a:p>
            <a:p>
              <a:pPr algn="l">
                <a:spcBef>
                  <a:spcPct val="20000"/>
                </a:spcBef>
              </a:pPr>
              <a:r>
                <a:rPr lang="zh-CN" altLang="en-US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右子树</a:t>
              </a:r>
              <a:r>
                <a:rPr lang="en-US" altLang="zh-CN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</a:p>
          </p:txBody>
        </p:sp>
        <p:sp>
          <p:nvSpPr>
            <p:cNvPr id="65" name="Text Box 16"/>
            <p:cNvSpPr txBox="1">
              <a:spLocks noChangeArrowheads="1"/>
            </p:cNvSpPr>
            <p:nvPr/>
          </p:nvSpPr>
          <p:spPr bwMode="auto">
            <a:xfrm>
              <a:off x="821047" y="2160291"/>
              <a:ext cx="121718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二叉树</a:t>
              </a: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777623" y="3375748"/>
            <a:ext cx="7197526" cy="523220"/>
            <a:chOff x="1826091" y="4148024"/>
            <a:chExt cx="7197526" cy="523220"/>
          </a:xfrm>
        </p:grpSpPr>
        <p:sp>
          <p:nvSpPr>
            <p:cNvPr id="67" name="Text Box 11"/>
            <p:cNvSpPr txBox="1">
              <a:spLocks noChangeArrowheads="1"/>
            </p:cNvSpPr>
            <p:nvPr/>
          </p:nvSpPr>
          <p:spPr bwMode="auto">
            <a:xfrm>
              <a:off x="2385059" y="4148024"/>
              <a:ext cx="6638558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按照什么次序对二叉树进行遍历呢？</a:t>
              </a:r>
            </a:p>
          </p:txBody>
        </p:sp>
        <p:grpSp>
          <p:nvGrpSpPr>
            <p:cNvPr id="68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69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0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1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2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73" name="组合 72"/>
          <p:cNvGrpSpPr/>
          <p:nvPr/>
        </p:nvGrpSpPr>
        <p:grpSpPr>
          <a:xfrm>
            <a:off x="4361053" y="4097019"/>
            <a:ext cx="6633695" cy="1015663"/>
            <a:chOff x="4202429" y="1903851"/>
            <a:chExt cx="6633695" cy="1015663"/>
          </a:xfrm>
        </p:grpSpPr>
        <p:sp>
          <p:nvSpPr>
            <p:cNvPr id="74" name="Text Box 7" descr="水滴"/>
            <p:cNvSpPr txBox="1">
              <a:spLocks noChangeArrowheads="1"/>
            </p:cNvSpPr>
            <p:nvPr/>
          </p:nvSpPr>
          <p:spPr bwMode="auto">
            <a:xfrm>
              <a:off x="5215890" y="1903851"/>
              <a:ext cx="5620234" cy="101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2"/>
                    <a:srcRect/>
                    <a:tile tx="0" ty="0" sx="100000" sy="100000" flip="none" algn="tl"/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二叉树的遍历方式：</a:t>
              </a:r>
            </a:p>
            <a:p>
              <a:pPr algn="l" eaLnBrk="0" hangingPunct="0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DLR</a:t>
              </a:r>
              <a:r>
                <a:rPr lang="en-US" altLang="zh-CN" sz="2400" b="1" dirty="0">
                  <a:solidFill>
                    <a:srgbClr val="40404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、</a:t>
              </a:r>
              <a:r>
                <a:rPr lang="en-US" altLang="zh-CN" sz="24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LDR</a:t>
              </a:r>
              <a:r>
                <a:rPr lang="en-US" altLang="zh-CN" sz="2400" b="1" dirty="0">
                  <a:solidFill>
                    <a:srgbClr val="40404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、</a:t>
              </a:r>
              <a:r>
                <a:rPr lang="en-US" altLang="zh-CN" sz="24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LRD</a:t>
              </a:r>
              <a:r>
                <a:rPr lang="en-US" altLang="zh-CN" sz="2400" b="1" dirty="0">
                  <a:solidFill>
                    <a:srgbClr val="40404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、</a:t>
              </a:r>
              <a:r>
                <a:rPr lang="en-US" altLang="zh-CN" sz="24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DRL</a:t>
              </a:r>
              <a:r>
                <a:rPr lang="en-US" altLang="zh-CN" sz="2400" b="1" dirty="0">
                  <a:solidFill>
                    <a:srgbClr val="40404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、</a:t>
              </a:r>
              <a:r>
                <a:rPr lang="en-US" altLang="zh-CN" sz="24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RDL</a:t>
              </a:r>
              <a:r>
                <a:rPr lang="zh-CN" altLang="en-US" sz="2400" b="1" dirty="0">
                  <a:solidFill>
                    <a:srgbClr val="40404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、</a:t>
              </a:r>
              <a:r>
                <a:rPr lang="en-US" altLang="zh-CN" sz="24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RLD</a:t>
              </a:r>
              <a:r>
                <a:rPr lang="en-US" altLang="zh-CN" sz="24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</a:t>
              </a:r>
            </a:p>
          </p:txBody>
        </p:sp>
        <p:sp>
          <p:nvSpPr>
            <p:cNvPr id="75" name="AutoShape 17"/>
            <p:cNvSpPr>
              <a:spLocks noChangeArrowheads="1"/>
            </p:cNvSpPr>
            <p:nvPr/>
          </p:nvSpPr>
          <p:spPr bwMode="auto">
            <a:xfrm>
              <a:off x="4202429" y="2272031"/>
              <a:ext cx="792000" cy="457200"/>
            </a:xfrm>
            <a:prstGeom prst="rightArrow">
              <a:avLst>
                <a:gd name="adj1" fmla="val 50000"/>
                <a:gd name="adj2" fmla="val 48438"/>
              </a:avLst>
            </a:prstGeom>
            <a:noFill/>
            <a:ln w="28575">
              <a:solidFill>
                <a:srgbClr val="507D7D"/>
              </a:solidFill>
              <a:miter lim="800000"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76" name="Text Box 9" descr="水滴"/>
          <p:cNvSpPr txBox="1">
            <a:spLocks noChangeArrowheads="1"/>
          </p:cNvSpPr>
          <p:nvPr/>
        </p:nvSpPr>
        <p:spPr bwMode="auto">
          <a:xfrm>
            <a:off x="1009090" y="5565551"/>
            <a:ext cx="8432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 sz="24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层序遍历</a:t>
            </a:r>
            <a:r>
              <a: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：按二叉树的层序编号的次序访问各结点 </a:t>
            </a:r>
          </a:p>
        </p:txBody>
      </p:sp>
    </p:spTree>
    <p:extLst>
      <p:ext uri="{BB962C8B-B14F-4D97-AF65-F5344CB8AC3E}">
        <p14:creationId xmlns:p14="http://schemas.microsoft.com/office/powerpoint/2010/main" val="2801738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2016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7" y="61585"/>
            <a:ext cx="193739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前序遍历</a:t>
            </a:r>
          </a:p>
        </p:txBody>
      </p:sp>
      <p:sp>
        <p:nvSpPr>
          <p:cNvPr id="31" name="Text Box 4" descr="水滴"/>
          <p:cNvSpPr txBox="1">
            <a:spLocks noChangeArrowheads="1"/>
          </p:cNvSpPr>
          <p:nvPr/>
        </p:nvSpPr>
        <p:spPr bwMode="auto">
          <a:xfrm>
            <a:off x="638167" y="1572833"/>
            <a:ext cx="6584632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/>
          <a:p>
            <a:pPr algn="just" eaLnBrk="0" hangingPunct="0">
              <a:spcBef>
                <a:spcPct val="50000"/>
              </a:spcBef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若二叉树为空，则空操作返回；否则：</a:t>
            </a:r>
          </a:p>
          <a:p>
            <a:pPr algn="just" eaLnBrk="0" hangingPunct="0">
              <a:spcBef>
                <a:spcPct val="50000"/>
              </a:spcBef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）访问</a:t>
            </a:r>
            <a:r>
              <a:rPr lang="zh-CN" altLang="en-US" sz="28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结点</a:t>
            </a:r>
          </a:p>
          <a:p>
            <a:pPr algn="just" eaLnBrk="0" hangingPunct="0">
              <a:spcBef>
                <a:spcPct val="50000"/>
              </a:spcBef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8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前序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</a:t>
            </a:r>
            <a:r>
              <a:rPr lang="zh-CN" altLang="en-US" sz="28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结点的左子树</a:t>
            </a:r>
          </a:p>
          <a:p>
            <a:pPr algn="just" eaLnBrk="0" hangingPunct="0">
              <a:spcBef>
                <a:spcPct val="50000"/>
              </a:spcBef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8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前序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</a:t>
            </a:r>
            <a:r>
              <a:rPr lang="zh-CN" altLang="en-US" sz="28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结点的右子树</a:t>
            </a:r>
          </a:p>
        </p:txBody>
      </p:sp>
      <p:grpSp>
        <p:nvGrpSpPr>
          <p:cNvPr id="32" name="组合 31"/>
          <p:cNvGrpSpPr/>
          <p:nvPr/>
        </p:nvGrpSpPr>
        <p:grpSpPr>
          <a:xfrm>
            <a:off x="8200309" y="1192151"/>
            <a:ext cx="3005177" cy="3274895"/>
            <a:chOff x="8138952" y="2616992"/>
            <a:chExt cx="3005177" cy="3274895"/>
          </a:xfrm>
          <a:solidFill>
            <a:srgbClr val="B4B4BE"/>
          </a:solidFill>
        </p:grpSpPr>
        <p:sp>
          <p:nvSpPr>
            <p:cNvPr id="33" name="Line 25"/>
            <p:cNvSpPr>
              <a:spLocks noChangeShapeType="1"/>
            </p:cNvSpPr>
            <p:nvPr/>
          </p:nvSpPr>
          <p:spPr bwMode="auto">
            <a:xfrm flipH="1">
              <a:off x="8995407" y="2953542"/>
              <a:ext cx="511175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4" name="Line 26"/>
            <p:cNvSpPr>
              <a:spLocks noChangeShapeType="1"/>
            </p:cNvSpPr>
            <p:nvPr/>
          </p:nvSpPr>
          <p:spPr bwMode="auto">
            <a:xfrm>
              <a:off x="9879645" y="2953541"/>
              <a:ext cx="432000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5" name="Line 27"/>
            <p:cNvSpPr>
              <a:spLocks noChangeShapeType="1"/>
            </p:cNvSpPr>
            <p:nvPr/>
          </p:nvSpPr>
          <p:spPr bwMode="auto">
            <a:xfrm flipH="1">
              <a:off x="8373108" y="3834286"/>
              <a:ext cx="360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6" name="Line 28"/>
            <p:cNvSpPr>
              <a:spLocks noChangeShapeType="1"/>
            </p:cNvSpPr>
            <p:nvPr/>
          </p:nvSpPr>
          <p:spPr bwMode="auto">
            <a:xfrm>
              <a:off x="8417876" y="4899182"/>
              <a:ext cx="396875" cy="606425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9" name="Line 29"/>
            <p:cNvSpPr>
              <a:spLocks noChangeShapeType="1"/>
            </p:cNvSpPr>
            <p:nvPr/>
          </p:nvSpPr>
          <p:spPr bwMode="auto">
            <a:xfrm flipH="1">
              <a:off x="10043475" y="3829524"/>
              <a:ext cx="288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0" name="Line 30"/>
            <p:cNvSpPr>
              <a:spLocks noChangeShapeType="1"/>
            </p:cNvSpPr>
            <p:nvPr/>
          </p:nvSpPr>
          <p:spPr bwMode="auto">
            <a:xfrm>
              <a:off x="10561325" y="3841246"/>
              <a:ext cx="288000" cy="6258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1" name="Oval 37"/>
            <p:cNvSpPr>
              <a:spLocks noChangeArrowheads="1"/>
            </p:cNvSpPr>
            <p:nvPr/>
          </p:nvSpPr>
          <p:spPr bwMode="auto">
            <a:xfrm>
              <a:off x="9486898" y="261699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Oval 37"/>
            <p:cNvSpPr>
              <a:spLocks noChangeArrowheads="1"/>
            </p:cNvSpPr>
            <p:nvPr/>
          </p:nvSpPr>
          <p:spPr bwMode="auto">
            <a:xfrm>
              <a:off x="10228577" y="343328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Oval 37"/>
            <p:cNvSpPr>
              <a:spLocks noChangeArrowheads="1"/>
            </p:cNvSpPr>
            <p:nvPr/>
          </p:nvSpPr>
          <p:spPr bwMode="auto">
            <a:xfrm>
              <a:off x="8631553" y="343328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Oval 37"/>
            <p:cNvSpPr>
              <a:spLocks noChangeArrowheads="1"/>
            </p:cNvSpPr>
            <p:nvPr/>
          </p:nvSpPr>
          <p:spPr bwMode="auto">
            <a:xfrm>
              <a:off x="8138952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Oval 37"/>
            <p:cNvSpPr>
              <a:spLocks noChangeArrowheads="1"/>
            </p:cNvSpPr>
            <p:nvPr/>
          </p:nvSpPr>
          <p:spPr bwMode="auto">
            <a:xfrm>
              <a:off x="9775505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Oval 37"/>
            <p:cNvSpPr>
              <a:spLocks noChangeArrowheads="1"/>
            </p:cNvSpPr>
            <p:nvPr/>
          </p:nvSpPr>
          <p:spPr bwMode="auto">
            <a:xfrm>
              <a:off x="10712129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Oval 37"/>
            <p:cNvSpPr>
              <a:spLocks noChangeArrowheads="1"/>
            </p:cNvSpPr>
            <p:nvPr/>
          </p:nvSpPr>
          <p:spPr bwMode="auto">
            <a:xfrm>
              <a:off x="8714420" y="5459887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8" name="Text Box 38"/>
          <p:cNvSpPr txBox="1">
            <a:spLocks noChangeArrowheads="1"/>
          </p:cNvSpPr>
          <p:nvPr/>
        </p:nvSpPr>
        <p:spPr bwMode="auto">
          <a:xfrm>
            <a:off x="1372227" y="4697095"/>
            <a:ext cx="51165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spcBef>
                <a:spcPct val="50000"/>
              </a:spcBef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前序遍历序列：</a:t>
            </a:r>
            <a:r>
              <a:rPr lang="en-US" altLang="zh-CN" sz="2800" b="1" i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1" i="1" dirty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i="1" dirty="0">
                <a:solidFill>
                  <a:srgbClr val="5C307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 D G </a:t>
            </a:r>
            <a:r>
              <a:rPr lang="en-US" altLang="zh-CN" sz="2800" b="1" i="1" dirty="0">
                <a:solidFill>
                  <a:srgbClr val="507D7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 E F</a:t>
            </a:r>
          </a:p>
        </p:txBody>
      </p:sp>
    </p:spTree>
    <p:extLst>
      <p:ext uri="{BB962C8B-B14F-4D97-AF65-F5344CB8AC3E}">
        <p14:creationId xmlns:p14="http://schemas.microsoft.com/office/powerpoint/2010/main" val="75628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2016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7" y="61585"/>
            <a:ext cx="193739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中序遍历</a:t>
            </a:r>
          </a:p>
        </p:txBody>
      </p:sp>
      <p:sp>
        <p:nvSpPr>
          <p:cNvPr id="31" name="Text Box 4" descr="水滴"/>
          <p:cNvSpPr txBox="1">
            <a:spLocks noChangeArrowheads="1"/>
          </p:cNvSpPr>
          <p:nvPr/>
        </p:nvSpPr>
        <p:spPr bwMode="auto">
          <a:xfrm>
            <a:off x="638167" y="1572833"/>
            <a:ext cx="6584632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/>
          <a:p>
            <a:pPr algn="just" eaLnBrk="0" hangingPunct="0">
              <a:spcBef>
                <a:spcPct val="50000"/>
              </a:spcBef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若二叉树为空，则空操作返回；否则：</a:t>
            </a:r>
          </a:p>
          <a:p>
            <a:pPr algn="just" eaLnBrk="0" hangingPunct="0">
              <a:spcBef>
                <a:spcPct val="50000"/>
              </a:spcBef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8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中序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</a:t>
            </a:r>
            <a:r>
              <a:rPr lang="zh-CN" altLang="en-US" sz="28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结点的左子树</a:t>
            </a:r>
          </a:p>
          <a:p>
            <a:pPr algn="just" eaLnBrk="0" hangingPunct="0">
              <a:spcBef>
                <a:spcPct val="50000"/>
              </a:spcBef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）访问</a:t>
            </a:r>
            <a:r>
              <a:rPr lang="zh-CN" altLang="en-US" sz="28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结点</a:t>
            </a:r>
          </a:p>
          <a:p>
            <a:pPr algn="just" eaLnBrk="0" hangingPunct="0">
              <a:spcBef>
                <a:spcPct val="50000"/>
              </a:spcBef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8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中序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</a:t>
            </a:r>
            <a:r>
              <a:rPr lang="zh-CN" altLang="en-US" sz="28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结点的右子树</a:t>
            </a:r>
          </a:p>
        </p:txBody>
      </p:sp>
      <p:grpSp>
        <p:nvGrpSpPr>
          <p:cNvPr id="32" name="组合 31"/>
          <p:cNvGrpSpPr/>
          <p:nvPr/>
        </p:nvGrpSpPr>
        <p:grpSpPr>
          <a:xfrm>
            <a:off x="8200309" y="1192151"/>
            <a:ext cx="3005177" cy="3274895"/>
            <a:chOff x="8138952" y="2616992"/>
            <a:chExt cx="3005177" cy="3274895"/>
          </a:xfrm>
          <a:solidFill>
            <a:srgbClr val="B4B4BE"/>
          </a:solidFill>
        </p:grpSpPr>
        <p:sp>
          <p:nvSpPr>
            <p:cNvPr id="33" name="Line 25"/>
            <p:cNvSpPr>
              <a:spLocks noChangeShapeType="1"/>
            </p:cNvSpPr>
            <p:nvPr/>
          </p:nvSpPr>
          <p:spPr bwMode="auto">
            <a:xfrm flipH="1">
              <a:off x="8995407" y="2953542"/>
              <a:ext cx="511175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4" name="Line 26"/>
            <p:cNvSpPr>
              <a:spLocks noChangeShapeType="1"/>
            </p:cNvSpPr>
            <p:nvPr/>
          </p:nvSpPr>
          <p:spPr bwMode="auto">
            <a:xfrm>
              <a:off x="9879645" y="2953541"/>
              <a:ext cx="432000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5" name="Line 27"/>
            <p:cNvSpPr>
              <a:spLocks noChangeShapeType="1"/>
            </p:cNvSpPr>
            <p:nvPr/>
          </p:nvSpPr>
          <p:spPr bwMode="auto">
            <a:xfrm flipH="1">
              <a:off x="8373108" y="3834286"/>
              <a:ext cx="360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6" name="Line 28"/>
            <p:cNvSpPr>
              <a:spLocks noChangeShapeType="1"/>
            </p:cNvSpPr>
            <p:nvPr/>
          </p:nvSpPr>
          <p:spPr bwMode="auto">
            <a:xfrm>
              <a:off x="8417876" y="4899182"/>
              <a:ext cx="396875" cy="606425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9" name="Line 29"/>
            <p:cNvSpPr>
              <a:spLocks noChangeShapeType="1"/>
            </p:cNvSpPr>
            <p:nvPr/>
          </p:nvSpPr>
          <p:spPr bwMode="auto">
            <a:xfrm flipH="1">
              <a:off x="10043475" y="3829524"/>
              <a:ext cx="288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0" name="Line 30"/>
            <p:cNvSpPr>
              <a:spLocks noChangeShapeType="1"/>
            </p:cNvSpPr>
            <p:nvPr/>
          </p:nvSpPr>
          <p:spPr bwMode="auto">
            <a:xfrm>
              <a:off x="10561325" y="3841246"/>
              <a:ext cx="288000" cy="6258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1" name="Oval 37"/>
            <p:cNvSpPr>
              <a:spLocks noChangeArrowheads="1"/>
            </p:cNvSpPr>
            <p:nvPr/>
          </p:nvSpPr>
          <p:spPr bwMode="auto">
            <a:xfrm>
              <a:off x="9486898" y="261699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Oval 37"/>
            <p:cNvSpPr>
              <a:spLocks noChangeArrowheads="1"/>
            </p:cNvSpPr>
            <p:nvPr/>
          </p:nvSpPr>
          <p:spPr bwMode="auto">
            <a:xfrm>
              <a:off x="10228577" y="343328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Oval 37"/>
            <p:cNvSpPr>
              <a:spLocks noChangeArrowheads="1"/>
            </p:cNvSpPr>
            <p:nvPr/>
          </p:nvSpPr>
          <p:spPr bwMode="auto">
            <a:xfrm>
              <a:off x="8631553" y="343328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Oval 37"/>
            <p:cNvSpPr>
              <a:spLocks noChangeArrowheads="1"/>
            </p:cNvSpPr>
            <p:nvPr/>
          </p:nvSpPr>
          <p:spPr bwMode="auto">
            <a:xfrm>
              <a:off x="8138952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Oval 37"/>
            <p:cNvSpPr>
              <a:spLocks noChangeArrowheads="1"/>
            </p:cNvSpPr>
            <p:nvPr/>
          </p:nvSpPr>
          <p:spPr bwMode="auto">
            <a:xfrm>
              <a:off x="9775505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Oval 37"/>
            <p:cNvSpPr>
              <a:spLocks noChangeArrowheads="1"/>
            </p:cNvSpPr>
            <p:nvPr/>
          </p:nvSpPr>
          <p:spPr bwMode="auto">
            <a:xfrm>
              <a:off x="10712129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Oval 37"/>
            <p:cNvSpPr>
              <a:spLocks noChangeArrowheads="1"/>
            </p:cNvSpPr>
            <p:nvPr/>
          </p:nvSpPr>
          <p:spPr bwMode="auto">
            <a:xfrm>
              <a:off x="8714420" y="5459887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8" name="Text Box 38"/>
          <p:cNvSpPr txBox="1">
            <a:spLocks noChangeArrowheads="1"/>
          </p:cNvSpPr>
          <p:nvPr/>
        </p:nvSpPr>
        <p:spPr bwMode="auto">
          <a:xfrm>
            <a:off x="1372227" y="4697095"/>
            <a:ext cx="51165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spcBef>
                <a:spcPct val="50000"/>
              </a:spcBef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中序遍历序列：</a:t>
            </a:r>
            <a:r>
              <a:rPr lang="en-US" altLang="zh-CN" sz="2800" b="1" i="1" dirty="0">
                <a:solidFill>
                  <a:srgbClr val="5C307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 G B </a:t>
            </a:r>
            <a:r>
              <a:rPr lang="en-US" altLang="zh-CN" sz="2800" b="1" i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i="1" dirty="0">
                <a:solidFill>
                  <a:srgbClr val="507D7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 C F</a:t>
            </a:r>
          </a:p>
        </p:txBody>
      </p:sp>
    </p:spTree>
    <p:extLst>
      <p:ext uri="{BB962C8B-B14F-4D97-AF65-F5344CB8AC3E}">
        <p14:creationId xmlns:p14="http://schemas.microsoft.com/office/powerpoint/2010/main" val="2176153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2016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7" y="61585"/>
            <a:ext cx="193739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后序遍历</a:t>
            </a:r>
          </a:p>
        </p:txBody>
      </p:sp>
      <p:sp>
        <p:nvSpPr>
          <p:cNvPr id="31" name="Text Box 4" descr="水滴"/>
          <p:cNvSpPr txBox="1">
            <a:spLocks noChangeArrowheads="1"/>
          </p:cNvSpPr>
          <p:nvPr/>
        </p:nvSpPr>
        <p:spPr bwMode="auto">
          <a:xfrm>
            <a:off x="638167" y="1572833"/>
            <a:ext cx="6584632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/>
          <a:p>
            <a:pPr algn="just" eaLnBrk="0" hangingPunct="0">
              <a:spcBef>
                <a:spcPct val="50000"/>
              </a:spcBef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若二叉树为空，则空操作返回；否则：</a:t>
            </a:r>
          </a:p>
          <a:p>
            <a:pPr algn="just" eaLnBrk="0" hangingPunct="0">
              <a:spcBef>
                <a:spcPct val="50000"/>
              </a:spcBef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8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后序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</a:t>
            </a:r>
            <a:r>
              <a:rPr lang="zh-CN" altLang="en-US" sz="28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结点的左子树</a:t>
            </a:r>
          </a:p>
          <a:p>
            <a:pPr algn="just" eaLnBrk="0" hangingPunct="0">
              <a:spcBef>
                <a:spcPct val="50000"/>
              </a:spcBef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8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后序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</a:t>
            </a:r>
            <a:r>
              <a:rPr lang="zh-CN" altLang="en-US" sz="28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结点的右子树</a:t>
            </a:r>
            <a:endParaRPr lang="en-US" altLang="zh-CN" sz="28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0" hangingPunct="0">
              <a:spcBef>
                <a:spcPct val="50000"/>
              </a:spcBef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）访问</a:t>
            </a:r>
            <a:r>
              <a:rPr lang="zh-CN" altLang="en-US" sz="28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结点</a:t>
            </a:r>
          </a:p>
          <a:p>
            <a:pPr algn="just" eaLnBrk="0" hangingPunct="0">
              <a:spcBef>
                <a:spcPct val="50000"/>
              </a:spcBef>
            </a:pPr>
            <a:endParaRPr lang="zh-CN" altLang="en-US" sz="28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8200309" y="1192151"/>
            <a:ext cx="3005177" cy="3274895"/>
            <a:chOff x="8138952" y="2616992"/>
            <a:chExt cx="3005177" cy="3274895"/>
          </a:xfrm>
          <a:solidFill>
            <a:srgbClr val="B4B4BE"/>
          </a:solidFill>
        </p:grpSpPr>
        <p:sp>
          <p:nvSpPr>
            <p:cNvPr id="33" name="Line 25"/>
            <p:cNvSpPr>
              <a:spLocks noChangeShapeType="1"/>
            </p:cNvSpPr>
            <p:nvPr/>
          </p:nvSpPr>
          <p:spPr bwMode="auto">
            <a:xfrm flipH="1">
              <a:off x="8995407" y="2953542"/>
              <a:ext cx="511175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4" name="Line 26"/>
            <p:cNvSpPr>
              <a:spLocks noChangeShapeType="1"/>
            </p:cNvSpPr>
            <p:nvPr/>
          </p:nvSpPr>
          <p:spPr bwMode="auto">
            <a:xfrm>
              <a:off x="9879645" y="2953541"/>
              <a:ext cx="432000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5" name="Line 27"/>
            <p:cNvSpPr>
              <a:spLocks noChangeShapeType="1"/>
            </p:cNvSpPr>
            <p:nvPr/>
          </p:nvSpPr>
          <p:spPr bwMode="auto">
            <a:xfrm flipH="1">
              <a:off x="8373108" y="3834286"/>
              <a:ext cx="360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6" name="Line 28"/>
            <p:cNvSpPr>
              <a:spLocks noChangeShapeType="1"/>
            </p:cNvSpPr>
            <p:nvPr/>
          </p:nvSpPr>
          <p:spPr bwMode="auto">
            <a:xfrm>
              <a:off x="8417876" y="4899182"/>
              <a:ext cx="396875" cy="606425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9" name="Line 29"/>
            <p:cNvSpPr>
              <a:spLocks noChangeShapeType="1"/>
            </p:cNvSpPr>
            <p:nvPr/>
          </p:nvSpPr>
          <p:spPr bwMode="auto">
            <a:xfrm flipH="1">
              <a:off x="10043475" y="3829524"/>
              <a:ext cx="288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0" name="Line 30"/>
            <p:cNvSpPr>
              <a:spLocks noChangeShapeType="1"/>
            </p:cNvSpPr>
            <p:nvPr/>
          </p:nvSpPr>
          <p:spPr bwMode="auto">
            <a:xfrm>
              <a:off x="10561325" y="3841246"/>
              <a:ext cx="288000" cy="6258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1" name="Oval 37"/>
            <p:cNvSpPr>
              <a:spLocks noChangeArrowheads="1"/>
            </p:cNvSpPr>
            <p:nvPr/>
          </p:nvSpPr>
          <p:spPr bwMode="auto">
            <a:xfrm>
              <a:off x="9486898" y="261699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Oval 37"/>
            <p:cNvSpPr>
              <a:spLocks noChangeArrowheads="1"/>
            </p:cNvSpPr>
            <p:nvPr/>
          </p:nvSpPr>
          <p:spPr bwMode="auto">
            <a:xfrm>
              <a:off x="10228577" y="343328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Oval 37"/>
            <p:cNvSpPr>
              <a:spLocks noChangeArrowheads="1"/>
            </p:cNvSpPr>
            <p:nvPr/>
          </p:nvSpPr>
          <p:spPr bwMode="auto">
            <a:xfrm>
              <a:off x="8631553" y="343328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Oval 37"/>
            <p:cNvSpPr>
              <a:spLocks noChangeArrowheads="1"/>
            </p:cNvSpPr>
            <p:nvPr/>
          </p:nvSpPr>
          <p:spPr bwMode="auto">
            <a:xfrm>
              <a:off x="8138952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Oval 37"/>
            <p:cNvSpPr>
              <a:spLocks noChangeArrowheads="1"/>
            </p:cNvSpPr>
            <p:nvPr/>
          </p:nvSpPr>
          <p:spPr bwMode="auto">
            <a:xfrm>
              <a:off x="9775505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Oval 37"/>
            <p:cNvSpPr>
              <a:spLocks noChangeArrowheads="1"/>
            </p:cNvSpPr>
            <p:nvPr/>
          </p:nvSpPr>
          <p:spPr bwMode="auto">
            <a:xfrm>
              <a:off x="10712129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Oval 37"/>
            <p:cNvSpPr>
              <a:spLocks noChangeArrowheads="1"/>
            </p:cNvSpPr>
            <p:nvPr/>
          </p:nvSpPr>
          <p:spPr bwMode="auto">
            <a:xfrm>
              <a:off x="8714420" y="5459887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8" name="Text Box 38"/>
          <p:cNvSpPr txBox="1">
            <a:spLocks noChangeArrowheads="1"/>
          </p:cNvSpPr>
          <p:nvPr/>
        </p:nvSpPr>
        <p:spPr bwMode="auto">
          <a:xfrm>
            <a:off x="1372227" y="4697095"/>
            <a:ext cx="51165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spcBef>
                <a:spcPct val="50000"/>
              </a:spcBef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后序遍历序列：</a:t>
            </a:r>
            <a:r>
              <a:rPr lang="en-US" altLang="zh-CN" sz="2800" b="1" i="1" dirty="0">
                <a:solidFill>
                  <a:srgbClr val="5C307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 D B </a:t>
            </a:r>
            <a:r>
              <a:rPr lang="en-US" altLang="zh-CN" sz="2800" b="1" i="1" dirty="0">
                <a:solidFill>
                  <a:srgbClr val="507D7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 F C </a:t>
            </a:r>
            <a:r>
              <a:rPr lang="en-US" altLang="zh-CN" sz="2800" b="1" i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103420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2016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7" y="61585"/>
            <a:ext cx="193739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层序遍历</a:t>
            </a:r>
          </a:p>
        </p:txBody>
      </p:sp>
      <p:sp>
        <p:nvSpPr>
          <p:cNvPr id="31" name="Text Box 4" descr="水滴"/>
          <p:cNvSpPr txBox="1">
            <a:spLocks noChangeArrowheads="1"/>
          </p:cNvSpPr>
          <p:nvPr/>
        </p:nvSpPr>
        <p:spPr bwMode="auto">
          <a:xfrm>
            <a:off x="638167" y="1572833"/>
            <a:ext cx="5640714" cy="1588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/>
          <a:p>
            <a:pPr algn="just" eaLnBrk="0" hangingPunct="0">
              <a:lnSpc>
                <a:spcPts val="4000"/>
              </a:lnSpc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从二叉树的根结点开始，从上至下逐层遍历，在同一层中，则按从左到右的顺序对结点逐个访问</a:t>
            </a:r>
          </a:p>
        </p:txBody>
      </p:sp>
      <p:grpSp>
        <p:nvGrpSpPr>
          <p:cNvPr id="32" name="组合 31"/>
          <p:cNvGrpSpPr/>
          <p:nvPr/>
        </p:nvGrpSpPr>
        <p:grpSpPr>
          <a:xfrm>
            <a:off x="8200309" y="1192151"/>
            <a:ext cx="3005177" cy="3274895"/>
            <a:chOff x="8138952" y="2616992"/>
            <a:chExt cx="3005177" cy="3274895"/>
          </a:xfrm>
          <a:solidFill>
            <a:srgbClr val="B4B4BE"/>
          </a:solidFill>
        </p:grpSpPr>
        <p:sp>
          <p:nvSpPr>
            <p:cNvPr id="33" name="Line 25"/>
            <p:cNvSpPr>
              <a:spLocks noChangeShapeType="1"/>
            </p:cNvSpPr>
            <p:nvPr/>
          </p:nvSpPr>
          <p:spPr bwMode="auto">
            <a:xfrm flipH="1">
              <a:off x="8995407" y="2953542"/>
              <a:ext cx="511175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4" name="Line 26"/>
            <p:cNvSpPr>
              <a:spLocks noChangeShapeType="1"/>
            </p:cNvSpPr>
            <p:nvPr/>
          </p:nvSpPr>
          <p:spPr bwMode="auto">
            <a:xfrm>
              <a:off x="9879645" y="2953541"/>
              <a:ext cx="432000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5" name="Line 27"/>
            <p:cNvSpPr>
              <a:spLocks noChangeShapeType="1"/>
            </p:cNvSpPr>
            <p:nvPr/>
          </p:nvSpPr>
          <p:spPr bwMode="auto">
            <a:xfrm flipH="1">
              <a:off x="8373108" y="3834286"/>
              <a:ext cx="360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6" name="Line 28"/>
            <p:cNvSpPr>
              <a:spLocks noChangeShapeType="1"/>
            </p:cNvSpPr>
            <p:nvPr/>
          </p:nvSpPr>
          <p:spPr bwMode="auto">
            <a:xfrm>
              <a:off x="8417876" y="4899182"/>
              <a:ext cx="396875" cy="606425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9" name="Line 29"/>
            <p:cNvSpPr>
              <a:spLocks noChangeShapeType="1"/>
            </p:cNvSpPr>
            <p:nvPr/>
          </p:nvSpPr>
          <p:spPr bwMode="auto">
            <a:xfrm flipH="1">
              <a:off x="10043475" y="3829524"/>
              <a:ext cx="288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0" name="Line 30"/>
            <p:cNvSpPr>
              <a:spLocks noChangeShapeType="1"/>
            </p:cNvSpPr>
            <p:nvPr/>
          </p:nvSpPr>
          <p:spPr bwMode="auto">
            <a:xfrm>
              <a:off x="10561325" y="3841246"/>
              <a:ext cx="288000" cy="6258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1" name="Oval 37"/>
            <p:cNvSpPr>
              <a:spLocks noChangeArrowheads="1"/>
            </p:cNvSpPr>
            <p:nvPr/>
          </p:nvSpPr>
          <p:spPr bwMode="auto">
            <a:xfrm>
              <a:off x="9486898" y="261699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Oval 37"/>
            <p:cNvSpPr>
              <a:spLocks noChangeArrowheads="1"/>
            </p:cNvSpPr>
            <p:nvPr/>
          </p:nvSpPr>
          <p:spPr bwMode="auto">
            <a:xfrm>
              <a:off x="10228577" y="343328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Oval 37"/>
            <p:cNvSpPr>
              <a:spLocks noChangeArrowheads="1"/>
            </p:cNvSpPr>
            <p:nvPr/>
          </p:nvSpPr>
          <p:spPr bwMode="auto">
            <a:xfrm>
              <a:off x="8631553" y="343328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Oval 37"/>
            <p:cNvSpPr>
              <a:spLocks noChangeArrowheads="1"/>
            </p:cNvSpPr>
            <p:nvPr/>
          </p:nvSpPr>
          <p:spPr bwMode="auto">
            <a:xfrm>
              <a:off x="8138952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Oval 37"/>
            <p:cNvSpPr>
              <a:spLocks noChangeArrowheads="1"/>
            </p:cNvSpPr>
            <p:nvPr/>
          </p:nvSpPr>
          <p:spPr bwMode="auto">
            <a:xfrm>
              <a:off x="9775505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Oval 37"/>
            <p:cNvSpPr>
              <a:spLocks noChangeArrowheads="1"/>
            </p:cNvSpPr>
            <p:nvPr/>
          </p:nvSpPr>
          <p:spPr bwMode="auto">
            <a:xfrm>
              <a:off x="10712129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Oval 37"/>
            <p:cNvSpPr>
              <a:spLocks noChangeArrowheads="1"/>
            </p:cNvSpPr>
            <p:nvPr/>
          </p:nvSpPr>
          <p:spPr bwMode="auto">
            <a:xfrm>
              <a:off x="8714420" y="5459887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8" name="Text Box 38"/>
          <p:cNvSpPr txBox="1">
            <a:spLocks noChangeArrowheads="1"/>
          </p:cNvSpPr>
          <p:nvPr/>
        </p:nvSpPr>
        <p:spPr bwMode="auto">
          <a:xfrm>
            <a:off x="1372227" y="4697095"/>
            <a:ext cx="51165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spcBef>
                <a:spcPct val="50000"/>
              </a:spcBef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层序遍历序列：</a:t>
            </a:r>
            <a:r>
              <a:rPr lang="en-US" altLang="zh-CN" sz="2800" b="1" i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i="1" dirty="0">
                <a:solidFill>
                  <a:srgbClr val="5C307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 C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i="1" dirty="0">
                <a:solidFill>
                  <a:srgbClr val="507D7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 E F </a:t>
            </a:r>
            <a:r>
              <a:rPr lang="en-US" altLang="zh-CN" sz="2800" b="1" i="1" dirty="0">
                <a:solidFill>
                  <a:srgbClr val="285A3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832553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2808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7" y="61585"/>
            <a:ext cx="271275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遍历与二叉树</a:t>
            </a:r>
          </a:p>
        </p:txBody>
      </p:sp>
      <p:grpSp>
        <p:nvGrpSpPr>
          <p:cNvPr id="66" name="组合 65"/>
          <p:cNvGrpSpPr/>
          <p:nvPr/>
        </p:nvGrpSpPr>
        <p:grpSpPr>
          <a:xfrm>
            <a:off x="850350" y="922108"/>
            <a:ext cx="10488210" cy="1075487"/>
            <a:chOff x="1826091" y="4087064"/>
            <a:chExt cx="10488210" cy="1075487"/>
          </a:xfrm>
        </p:grpSpPr>
        <p:sp>
          <p:nvSpPr>
            <p:cNvPr id="67" name="Text Box 11"/>
            <p:cNvSpPr txBox="1">
              <a:spLocks noChangeArrowheads="1"/>
            </p:cNvSpPr>
            <p:nvPr/>
          </p:nvSpPr>
          <p:spPr bwMode="auto">
            <a:xfrm>
              <a:off x="2385059" y="4087064"/>
              <a:ext cx="9929242" cy="107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ts val="4000"/>
                </a:lnSpc>
              </a:pP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若已知一棵二叉树的前序（或中序，或后序，或层序）序列，能否唯一确定这棵二叉树呢？</a:t>
              </a:r>
            </a:p>
          </p:txBody>
        </p:sp>
        <p:grpSp>
          <p:nvGrpSpPr>
            <p:cNvPr id="68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69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0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1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2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1446298" y="3649314"/>
            <a:ext cx="1779946" cy="2288582"/>
            <a:chOff x="1446298" y="2780634"/>
            <a:chExt cx="1779946" cy="2288582"/>
          </a:xfrm>
          <a:solidFill>
            <a:srgbClr val="B4B4BE"/>
          </a:solidFill>
        </p:grpSpPr>
        <p:sp>
          <p:nvSpPr>
            <p:cNvPr id="32" name="Line 25"/>
            <p:cNvSpPr>
              <a:spLocks noChangeShapeType="1"/>
            </p:cNvSpPr>
            <p:nvPr/>
          </p:nvSpPr>
          <p:spPr bwMode="auto">
            <a:xfrm flipH="1">
              <a:off x="2302753" y="3117184"/>
              <a:ext cx="511175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4" name="Line 27"/>
            <p:cNvSpPr>
              <a:spLocks noChangeShapeType="1"/>
            </p:cNvSpPr>
            <p:nvPr/>
          </p:nvSpPr>
          <p:spPr bwMode="auto">
            <a:xfrm flipH="1">
              <a:off x="1680454" y="3997928"/>
              <a:ext cx="360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0" name="Oval 37"/>
            <p:cNvSpPr>
              <a:spLocks noChangeArrowheads="1"/>
            </p:cNvSpPr>
            <p:nvPr/>
          </p:nvSpPr>
          <p:spPr bwMode="auto">
            <a:xfrm>
              <a:off x="2794244" y="278063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Oval 37"/>
            <p:cNvSpPr>
              <a:spLocks noChangeArrowheads="1"/>
            </p:cNvSpPr>
            <p:nvPr/>
          </p:nvSpPr>
          <p:spPr bwMode="auto">
            <a:xfrm>
              <a:off x="1938899" y="3596925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Oval 37"/>
            <p:cNvSpPr>
              <a:spLocks noChangeArrowheads="1"/>
            </p:cNvSpPr>
            <p:nvPr/>
          </p:nvSpPr>
          <p:spPr bwMode="auto">
            <a:xfrm>
              <a:off x="1446298" y="4637216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8720699" y="3649314"/>
            <a:ext cx="1287345" cy="2288582"/>
            <a:chOff x="8720699" y="2780634"/>
            <a:chExt cx="1287345" cy="2288582"/>
          </a:xfrm>
          <a:solidFill>
            <a:srgbClr val="B4B4BE"/>
          </a:solidFill>
        </p:grpSpPr>
        <p:sp>
          <p:nvSpPr>
            <p:cNvPr id="47" name="Line 25"/>
            <p:cNvSpPr>
              <a:spLocks noChangeShapeType="1"/>
            </p:cNvSpPr>
            <p:nvPr/>
          </p:nvSpPr>
          <p:spPr bwMode="auto">
            <a:xfrm flipH="1">
              <a:off x="9084553" y="3117184"/>
              <a:ext cx="511175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8" name="Line 27"/>
            <p:cNvSpPr>
              <a:spLocks noChangeShapeType="1"/>
            </p:cNvSpPr>
            <p:nvPr/>
          </p:nvSpPr>
          <p:spPr bwMode="auto">
            <a:xfrm flipH="1" flipV="1">
              <a:off x="9042274" y="4013685"/>
              <a:ext cx="360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9" name="Oval 37"/>
            <p:cNvSpPr>
              <a:spLocks noChangeArrowheads="1"/>
            </p:cNvSpPr>
            <p:nvPr/>
          </p:nvSpPr>
          <p:spPr bwMode="auto">
            <a:xfrm>
              <a:off x="9576044" y="278063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Oval 37"/>
            <p:cNvSpPr>
              <a:spLocks noChangeArrowheads="1"/>
            </p:cNvSpPr>
            <p:nvPr/>
          </p:nvSpPr>
          <p:spPr bwMode="auto">
            <a:xfrm>
              <a:off x="8720699" y="3596925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Oval 37"/>
            <p:cNvSpPr>
              <a:spLocks noChangeArrowheads="1"/>
            </p:cNvSpPr>
            <p:nvPr/>
          </p:nvSpPr>
          <p:spPr bwMode="auto">
            <a:xfrm>
              <a:off x="9294898" y="4637216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1" name="Text Box 38"/>
          <p:cNvSpPr txBox="1">
            <a:spLocks noChangeArrowheads="1"/>
          </p:cNvSpPr>
          <p:nvPr/>
        </p:nvSpPr>
        <p:spPr bwMode="auto">
          <a:xfrm>
            <a:off x="3934831" y="4374385"/>
            <a:ext cx="385280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0" hangingPunct="0">
              <a:spcBef>
                <a:spcPct val="50000"/>
              </a:spcBef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前序遍历序列：</a:t>
            </a:r>
            <a:r>
              <a:rPr lang="en-US" altLang="zh-CN" sz="2800" b="1" i="1" dirty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 B C</a:t>
            </a:r>
          </a:p>
        </p:txBody>
      </p:sp>
      <p:grpSp>
        <p:nvGrpSpPr>
          <p:cNvPr id="77" name="组合 76"/>
          <p:cNvGrpSpPr/>
          <p:nvPr/>
        </p:nvGrpSpPr>
        <p:grpSpPr>
          <a:xfrm>
            <a:off x="850350" y="2217508"/>
            <a:ext cx="10488210" cy="1118255"/>
            <a:chOff x="1826091" y="4087064"/>
            <a:chExt cx="10488210" cy="1118255"/>
          </a:xfrm>
        </p:grpSpPr>
        <p:sp>
          <p:nvSpPr>
            <p:cNvPr id="78" name="Text Box 11"/>
            <p:cNvSpPr txBox="1">
              <a:spLocks noChangeArrowheads="1"/>
            </p:cNvSpPr>
            <p:nvPr/>
          </p:nvSpPr>
          <p:spPr bwMode="auto">
            <a:xfrm>
              <a:off x="2385059" y="4087064"/>
              <a:ext cx="9929242" cy="1118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ts val="4000"/>
                </a:lnSpc>
              </a:pP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若已知一棵二叉树的前序序列和后序序列，能否唯一确定这棵二叉树呢？</a:t>
              </a:r>
            </a:p>
          </p:txBody>
        </p:sp>
        <p:grpSp>
          <p:nvGrpSpPr>
            <p:cNvPr id="79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80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1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2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3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84" name="Text Box 38"/>
          <p:cNvSpPr txBox="1">
            <a:spLocks noChangeArrowheads="1"/>
          </p:cNvSpPr>
          <p:nvPr/>
        </p:nvSpPr>
        <p:spPr bwMode="auto">
          <a:xfrm>
            <a:off x="3934831" y="4983181"/>
            <a:ext cx="385280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0" hangingPunct="0">
              <a:spcBef>
                <a:spcPct val="50000"/>
              </a:spcBef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后序遍历序列：</a:t>
            </a:r>
            <a:r>
              <a:rPr lang="en-US" altLang="zh-CN" sz="2800" b="1" i="1" dirty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 B A</a:t>
            </a:r>
          </a:p>
        </p:txBody>
      </p:sp>
    </p:spTree>
    <p:extLst>
      <p:ext uri="{BB962C8B-B14F-4D97-AF65-F5344CB8AC3E}">
        <p14:creationId xmlns:p14="http://schemas.microsoft.com/office/powerpoint/2010/main" val="2189545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bldLvl="0" animBg="1"/>
      <p:bldP spid="84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组合 65"/>
          <p:cNvGrpSpPr/>
          <p:nvPr/>
        </p:nvGrpSpPr>
        <p:grpSpPr>
          <a:xfrm>
            <a:off x="850350" y="922108"/>
            <a:ext cx="10488210" cy="1118255"/>
            <a:chOff x="1826091" y="4087064"/>
            <a:chExt cx="10488210" cy="1118255"/>
          </a:xfrm>
        </p:grpSpPr>
        <p:sp>
          <p:nvSpPr>
            <p:cNvPr id="67" name="Text Box 11"/>
            <p:cNvSpPr txBox="1">
              <a:spLocks noChangeArrowheads="1"/>
            </p:cNvSpPr>
            <p:nvPr/>
          </p:nvSpPr>
          <p:spPr bwMode="auto">
            <a:xfrm>
              <a:off x="2385059" y="4087064"/>
              <a:ext cx="9929242" cy="1118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ts val="4000"/>
                </a:lnSpc>
              </a:pP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若已知一棵二叉树的前序序列和中序序列，能否唯一确定这棵二叉树呢？</a:t>
              </a:r>
            </a:p>
          </p:txBody>
        </p:sp>
        <p:grpSp>
          <p:nvGrpSpPr>
            <p:cNvPr id="68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69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0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1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2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33" name="Text Box 7"/>
          <p:cNvSpPr txBox="1">
            <a:spLocks noChangeArrowheads="1"/>
          </p:cNvSpPr>
          <p:nvPr/>
        </p:nvSpPr>
        <p:spPr bwMode="auto">
          <a:xfrm>
            <a:off x="6979920" y="1709420"/>
            <a:ext cx="4343400" cy="9461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前序：</a:t>
            </a:r>
            <a:r>
              <a:rPr lang="en-US" altLang="zh-CN" sz="2800" b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B C D E F G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 I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中序：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 C </a:t>
            </a:r>
            <a:r>
              <a:rPr lang="en-US" altLang="zh-CN" sz="2800" b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 D G H F I</a:t>
            </a:r>
          </a:p>
        </p:txBody>
      </p:sp>
      <p:sp>
        <p:nvSpPr>
          <p:cNvPr id="35" name="Line 38"/>
          <p:cNvSpPr>
            <a:spLocks noChangeShapeType="1"/>
          </p:cNvSpPr>
          <p:nvPr/>
        </p:nvSpPr>
        <p:spPr bwMode="auto">
          <a:xfrm>
            <a:off x="8465820" y="2197417"/>
            <a:ext cx="533400" cy="0"/>
          </a:xfrm>
          <a:prstGeom prst="line">
            <a:avLst/>
          </a:prstGeom>
          <a:noFill/>
          <a:ln w="38100">
            <a:solidFill>
              <a:srgbClr val="5C307D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Line 39"/>
          <p:cNvSpPr>
            <a:spLocks noChangeShapeType="1"/>
          </p:cNvSpPr>
          <p:nvPr/>
        </p:nvSpPr>
        <p:spPr bwMode="auto">
          <a:xfrm>
            <a:off x="9151620" y="2197417"/>
            <a:ext cx="1828800" cy="0"/>
          </a:xfrm>
          <a:prstGeom prst="line">
            <a:avLst/>
          </a:prstGeom>
          <a:noFill/>
          <a:ln w="38100">
            <a:solidFill>
              <a:srgbClr val="507D7D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Line 40"/>
          <p:cNvSpPr>
            <a:spLocks noChangeShapeType="1"/>
          </p:cNvSpPr>
          <p:nvPr/>
        </p:nvSpPr>
        <p:spPr bwMode="auto">
          <a:xfrm>
            <a:off x="8145780" y="2625090"/>
            <a:ext cx="533400" cy="0"/>
          </a:xfrm>
          <a:prstGeom prst="line">
            <a:avLst/>
          </a:prstGeom>
          <a:noFill/>
          <a:ln w="38100">
            <a:solidFill>
              <a:srgbClr val="5C307D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Line 41"/>
          <p:cNvSpPr>
            <a:spLocks noChangeShapeType="1"/>
          </p:cNvSpPr>
          <p:nvPr/>
        </p:nvSpPr>
        <p:spPr bwMode="auto">
          <a:xfrm>
            <a:off x="9136380" y="2625090"/>
            <a:ext cx="1828800" cy="0"/>
          </a:xfrm>
          <a:prstGeom prst="line">
            <a:avLst/>
          </a:prstGeom>
          <a:noFill/>
          <a:ln w="38100">
            <a:solidFill>
              <a:srgbClr val="507D7D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4108144" y="1591819"/>
            <a:ext cx="2688065" cy="1716290"/>
            <a:chOff x="4025805" y="1761887"/>
            <a:chExt cx="2688065" cy="1716290"/>
          </a:xfrm>
          <a:solidFill>
            <a:srgbClr val="B4B4BE"/>
          </a:solidFill>
        </p:grpSpPr>
        <p:sp>
          <p:nvSpPr>
            <p:cNvPr id="45" name="Line 25"/>
            <p:cNvSpPr>
              <a:spLocks noChangeShapeType="1"/>
            </p:cNvSpPr>
            <p:nvPr/>
          </p:nvSpPr>
          <p:spPr bwMode="auto">
            <a:xfrm flipH="1">
              <a:off x="4511581" y="2098437"/>
              <a:ext cx="511175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6" name="Line 26"/>
            <p:cNvSpPr>
              <a:spLocks noChangeShapeType="1"/>
            </p:cNvSpPr>
            <p:nvPr/>
          </p:nvSpPr>
          <p:spPr bwMode="auto">
            <a:xfrm>
              <a:off x="5395819" y="2098436"/>
              <a:ext cx="432000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56" name="Oval 37"/>
            <p:cNvSpPr>
              <a:spLocks noChangeArrowheads="1"/>
            </p:cNvSpPr>
            <p:nvPr/>
          </p:nvSpPr>
          <p:spPr bwMode="auto">
            <a:xfrm>
              <a:off x="5003072" y="1761887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Oval 37"/>
            <p:cNvSpPr>
              <a:spLocks noChangeArrowheads="1"/>
            </p:cNvSpPr>
            <p:nvPr/>
          </p:nvSpPr>
          <p:spPr bwMode="auto">
            <a:xfrm>
              <a:off x="5561870" y="2578177"/>
              <a:ext cx="1152000" cy="900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 E F </a:t>
              </a:r>
            </a:p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r>
                <a:rPr lang="en-US" altLang="zh-CN" sz="2400" i="1" dirty="0">
                  <a:latin typeface="Times New Roman" panose="02020603050405020304" pitchFamily="18" charset="0"/>
                  <a:ea typeface="隶书" panose="02010509060101010101" pitchFamily="49" charset="-122"/>
                </a:rPr>
                <a:t> 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H I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Oval 37"/>
            <p:cNvSpPr>
              <a:spLocks noChangeArrowheads="1"/>
            </p:cNvSpPr>
            <p:nvPr/>
          </p:nvSpPr>
          <p:spPr bwMode="auto">
            <a:xfrm>
              <a:off x="4025805" y="2578177"/>
              <a:ext cx="1152000" cy="900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 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5" name="Text Box 18"/>
          <p:cNvSpPr txBox="1">
            <a:spLocks noChangeArrowheads="1"/>
          </p:cNvSpPr>
          <p:nvPr/>
        </p:nvSpPr>
        <p:spPr bwMode="auto">
          <a:xfrm>
            <a:off x="1409318" y="3911283"/>
            <a:ext cx="2171700" cy="10318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spcBef>
                <a:spcPct val="2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前序：</a:t>
            </a:r>
            <a:r>
              <a:rPr lang="en-US" altLang="zh-CN" sz="2800" b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C</a:t>
            </a:r>
          </a:p>
          <a:p>
            <a:pPr algn="l" eaLnBrk="0" hangingPunct="0">
              <a:spcBef>
                <a:spcPct val="2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中序：</a:t>
            </a:r>
            <a:r>
              <a:rPr lang="en-US" altLang="zh-CN" sz="2800" b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C</a:t>
            </a:r>
          </a:p>
        </p:txBody>
      </p:sp>
      <p:sp>
        <p:nvSpPr>
          <p:cNvPr id="73" name="Line 45"/>
          <p:cNvSpPr>
            <a:spLocks noChangeShapeType="1"/>
          </p:cNvSpPr>
          <p:nvPr/>
        </p:nvSpPr>
        <p:spPr bwMode="auto">
          <a:xfrm flipV="1">
            <a:off x="2899981" y="4890453"/>
            <a:ext cx="298450" cy="0"/>
          </a:xfrm>
          <a:prstGeom prst="line">
            <a:avLst/>
          </a:prstGeom>
          <a:noFill/>
          <a:ln w="38100">
            <a:solidFill>
              <a:srgbClr val="507D7D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Text Box 55"/>
          <p:cNvSpPr txBox="1">
            <a:spLocks noChangeArrowheads="1"/>
          </p:cNvSpPr>
          <p:nvPr/>
        </p:nvSpPr>
        <p:spPr bwMode="auto">
          <a:xfrm>
            <a:off x="6934201" y="3911283"/>
            <a:ext cx="3596639" cy="10318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l" eaLnBrk="0" hangingPunct="0">
              <a:spcBef>
                <a:spcPct val="2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前序： </a:t>
            </a:r>
            <a:r>
              <a:rPr lang="en-US" altLang="zh-CN" sz="2800" b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E F G H I</a:t>
            </a:r>
          </a:p>
          <a:p>
            <a:pPr algn="l" eaLnBrk="0" hangingPunct="0">
              <a:spcBef>
                <a:spcPct val="2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中序：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 </a:t>
            </a:r>
            <a:r>
              <a:rPr lang="en-US" altLang="zh-CN" sz="2800" b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G H F I</a:t>
            </a:r>
          </a:p>
        </p:txBody>
      </p:sp>
      <p:sp>
        <p:nvSpPr>
          <p:cNvPr id="76" name="Line 47"/>
          <p:cNvSpPr>
            <a:spLocks noChangeShapeType="1"/>
          </p:cNvSpPr>
          <p:nvPr/>
        </p:nvSpPr>
        <p:spPr bwMode="auto">
          <a:xfrm>
            <a:off x="8855076" y="4421188"/>
            <a:ext cx="1195388" cy="0"/>
          </a:xfrm>
          <a:prstGeom prst="line">
            <a:avLst/>
          </a:prstGeom>
          <a:noFill/>
          <a:ln w="28575">
            <a:solidFill>
              <a:srgbClr val="507D7D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Line 48"/>
          <p:cNvSpPr>
            <a:spLocks noChangeShapeType="1"/>
          </p:cNvSpPr>
          <p:nvPr/>
        </p:nvSpPr>
        <p:spPr bwMode="auto">
          <a:xfrm>
            <a:off x="8839201" y="4922203"/>
            <a:ext cx="1195388" cy="0"/>
          </a:xfrm>
          <a:prstGeom prst="line">
            <a:avLst/>
          </a:prstGeom>
          <a:noFill/>
          <a:ln w="28575">
            <a:solidFill>
              <a:srgbClr val="507D7D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Line 51"/>
          <p:cNvSpPr>
            <a:spLocks noChangeShapeType="1"/>
          </p:cNvSpPr>
          <p:nvPr/>
        </p:nvSpPr>
        <p:spPr bwMode="auto">
          <a:xfrm flipV="1">
            <a:off x="8497889" y="4423093"/>
            <a:ext cx="298450" cy="0"/>
          </a:xfrm>
          <a:prstGeom prst="line">
            <a:avLst/>
          </a:prstGeom>
          <a:noFill/>
          <a:ln w="28575">
            <a:solidFill>
              <a:srgbClr val="5C307D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Line 52"/>
          <p:cNvSpPr>
            <a:spLocks noChangeShapeType="1"/>
          </p:cNvSpPr>
          <p:nvPr/>
        </p:nvSpPr>
        <p:spPr bwMode="auto">
          <a:xfrm flipV="1">
            <a:off x="8136890" y="4916206"/>
            <a:ext cx="298450" cy="0"/>
          </a:xfrm>
          <a:prstGeom prst="line">
            <a:avLst/>
          </a:prstGeom>
          <a:noFill/>
          <a:ln w="28575">
            <a:solidFill>
              <a:srgbClr val="5C307D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5374018" y="4270768"/>
            <a:ext cx="1685544" cy="1832291"/>
            <a:chOff x="5374018" y="4270768"/>
            <a:chExt cx="1685544" cy="1832291"/>
          </a:xfrm>
        </p:grpSpPr>
        <p:sp>
          <p:nvSpPr>
            <p:cNvPr id="49" name="Line 29"/>
            <p:cNvSpPr>
              <a:spLocks noChangeShapeType="1"/>
            </p:cNvSpPr>
            <p:nvPr/>
          </p:nvSpPr>
          <p:spPr bwMode="auto">
            <a:xfrm flipH="1">
              <a:off x="5641988" y="4667009"/>
              <a:ext cx="288000" cy="648000"/>
            </a:xfrm>
            <a:prstGeom prst="line">
              <a:avLst/>
            </a:prstGeom>
            <a:solidFill>
              <a:srgbClr val="B4B4BE"/>
            </a:solidFill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50" name="Line 30"/>
            <p:cNvSpPr>
              <a:spLocks noChangeShapeType="1"/>
            </p:cNvSpPr>
            <p:nvPr/>
          </p:nvSpPr>
          <p:spPr bwMode="auto">
            <a:xfrm>
              <a:off x="6144598" y="4663491"/>
              <a:ext cx="288000" cy="666000"/>
            </a:xfrm>
            <a:prstGeom prst="line">
              <a:avLst/>
            </a:prstGeom>
            <a:solidFill>
              <a:srgbClr val="B4B4BE"/>
            </a:solidFill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52" name="Oval 37"/>
            <p:cNvSpPr>
              <a:spLocks noChangeArrowheads="1"/>
            </p:cNvSpPr>
            <p:nvPr/>
          </p:nvSpPr>
          <p:spPr bwMode="auto">
            <a:xfrm>
              <a:off x="5827090" y="4270768"/>
              <a:ext cx="432000" cy="432000"/>
            </a:xfrm>
            <a:prstGeom prst="ellipse">
              <a:avLst/>
            </a:prstGeom>
            <a:solidFill>
              <a:srgbClr val="B4B4BE"/>
            </a:solidFill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Oval 37"/>
            <p:cNvSpPr>
              <a:spLocks noChangeArrowheads="1"/>
            </p:cNvSpPr>
            <p:nvPr/>
          </p:nvSpPr>
          <p:spPr bwMode="auto">
            <a:xfrm>
              <a:off x="5374018" y="5311059"/>
              <a:ext cx="432000" cy="432000"/>
            </a:xfrm>
            <a:prstGeom prst="ellipse">
              <a:avLst/>
            </a:prstGeom>
            <a:solidFill>
              <a:srgbClr val="B4B4BE"/>
            </a:solidFill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Oval 37"/>
            <p:cNvSpPr>
              <a:spLocks noChangeArrowheads="1"/>
            </p:cNvSpPr>
            <p:nvPr/>
          </p:nvSpPr>
          <p:spPr bwMode="auto">
            <a:xfrm>
              <a:off x="6051562" y="5311059"/>
              <a:ext cx="1008000" cy="792000"/>
            </a:xfrm>
            <a:prstGeom prst="ellipse">
              <a:avLst/>
            </a:prstGeom>
            <a:solidFill>
              <a:srgbClr val="B4B4BE"/>
            </a:solidFill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 G</a:t>
              </a:r>
            </a:p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 I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4614660" y="3454477"/>
            <a:ext cx="1295498" cy="884103"/>
            <a:chOff x="4614660" y="3454477"/>
            <a:chExt cx="1295498" cy="884103"/>
          </a:xfrm>
        </p:grpSpPr>
        <p:sp>
          <p:nvSpPr>
            <p:cNvPr id="51" name="Oval 37"/>
            <p:cNvSpPr>
              <a:spLocks noChangeArrowheads="1"/>
            </p:cNvSpPr>
            <p:nvPr/>
          </p:nvSpPr>
          <p:spPr bwMode="auto">
            <a:xfrm>
              <a:off x="5085411" y="3454477"/>
              <a:ext cx="432000" cy="432000"/>
            </a:xfrm>
            <a:prstGeom prst="ellipse">
              <a:avLst/>
            </a:prstGeom>
            <a:solidFill>
              <a:srgbClr val="B4B4BE"/>
            </a:solidFill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Line 26"/>
            <p:cNvSpPr>
              <a:spLocks noChangeShapeType="1"/>
            </p:cNvSpPr>
            <p:nvPr/>
          </p:nvSpPr>
          <p:spPr bwMode="auto">
            <a:xfrm>
              <a:off x="5478158" y="3791026"/>
              <a:ext cx="432000" cy="540000"/>
            </a:xfrm>
            <a:prstGeom prst="line">
              <a:avLst/>
            </a:prstGeom>
            <a:solidFill>
              <a:srgbClr val="B4B4BE"/>
            </a:solidFill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59" name="Line 25"/>
            <p:cNvSpPr>
              <a:spLocks noChangeShapeType="1"/>
            </p:cNvSpPr>
            <p:nvPr/>
          </p:nvSpPr>
          <p:spPr bwMode="auto">
            <a:xfrm flipH="1">
              <a:off x="4614660" y="3798580"/>
              <a:ext cx="511175" cy="540000"/>
            </a:xfrm>
            <a:prstGeom prst="line">
              <a:avLst/>
            </a:prstGeom>
            <a:solidFill>
              <a:srgbClr val="B4B4BE"/>
            </a:solidFill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266046" y="4263081"/>
            <a:ext cx="1006199" cy="1472291"/>
            <a:chOff x="4266046" y="4263081"/>
            <a:chExt cx="1006199" cy="1472291"/>
          </a:xfrm>
        </p:grpSpPr>
        <p:sp>
          <p:nvSpPr>
            <p:cNvPr id="61" name="Line 27"/>
            <p:cNvSpPr>
              <a:spLocks noChangeShapeType="1"/>
            </p:cNvSpPr>
            <p:nvPr/>
          </p:nvSpPr>
          <p:spPr bwMode="auto">
            <a:xfrm flipH="1" flipV="1">
              <a:off x="4587621" y="4679841"/>
              <a:ext cx="360000" cy="648000"/>
            </a:xfrm>
            <a:prstGeom prst="line">
              <a:avLst/>
            </a:prstGeom>
            <a:solidFill>
              <a:srgbClr val="B4B4BE"/>
            </a:solidFill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62" name="Oval 37"/>
            <p:cNvSpPr>
              <a:spLocks noChangeArrowheads="1"/>
            </p:cNvSpPr>
            <p:nvPr/>
          </p:nvSpPr>
          <p:spPr bwMode="auto">
            <a:xfrm>
              <a:off x="4266046" y="4263081"/>
              <a:ext cx="432000" cy="432000"/>
            </a:xfrm>
            <a:prstGeom prst="ellipse">
              <a:avLst/>
            </a:prstGeom>
            <a:solidFill>
              <a:srgbClr val="B4B4BE"/>
            </a:solidFill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Oval 37"/>
            <p:cNvSpPr>
              <a:spLocks noChangeArrowheads="1"/>
            </p:cNvSpPr>
            <p:nvPr/>
          </p:nvSpPr>
          <p:spPr bwMode="auto">
            <a:xfrm>
              <a:off x="4840245" y="5303372"/>
              <a:ext cx="432000" cy="432000"/>
            </a:xfrm>
            <a:prstGeom prst="ellipse">
              <a:avLst/>
            </a:prstGeom>
            <a:solidFill>
              <a:srgbClr val="B4B4BE"/>
            </a:solidFill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4" name="Line 45"/>
          <p:cNvSpPr>
            <a:spLocks noChangeShapeType="1"/>
          </p:cNvSpPr>
          <p:nvPr/>
        </p:nvSpPr>
        <p:spPr bwMode="auto">
          <a:xfrm flipV="1">
            <a:off x="2901187" y="4381500"/>
            <a:ext cx="298450" cy="0"/>
          </a:xfrm>
          <a:prstGeom prst="line">
            <a:avLst/>
          </a:prstGeom>
          <a:noFill/>
          <a:ln w="38100">
            <a:solidFill>
              <a:srgbClr val="507D7D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" name="Rounded Rectangle 10"/>
          <p:cNvSpPr/>
          <p:nvPr/>
        </p:nvSpPr>
        <p:spPr>
          <a:xfrm>
            <a:off x="542923" y="100964"/>
            <a:ext cx="2808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Text Box 2"/>
          <p:cNvSpPr txBox="1">
            <a:spLocks noChangeArrowheads="1"/>
          </p:cNvSpPr>
          <p:nvPr/>
        </p:nvSpPr>
        <p:spPr bwMode="auto">
          <a:xfrm>
            <a:off x="638167" y="61585"/>
            <a:ext cx="271275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遍历与二叉树</a:t>
            </a:r>
          </a:p>
        </p:txBody>
      </p:sp>
    </p:spTree>
    <p:extLst>
      <p:ext uri="{BB962C8B-B14F-4D97-AF65-F5344CB8AC3E}">
        <p14:creationId xmlns:p14="http://schemas.microsoft.com/office/powerpoint/2010/main" val="3607641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ldLvl="0" animBg="1"/>
      <p:bldP spid="35" grpId="0" bldLvl="0" animBg="1"/>
      <p:bldP spid="36" grpId="0" bldLvl="0" animBg="1"/>
      <p:bldP spid="39" grpId="0" bldLvl="0" animBg="1"/>
      <p:bldP spid="41" grpId="0" bldLvl="0" animBg="1"/>
      <p:bldP spid="65" grpId="0" bldLvl="0" animBg="1"/>
      <p:bldP spid="73" grpId="0" bldLvl="0" animBg="1"/>
      <p:bldP spid="74" grpId="0" bldLvl="0" animBg="1"/>
      <p:bldP spid="76" grpId="0" bldLvl="0" animBg="1"/>
      <p:bldP spid="85" grpId="0" bldLvl="0" animBg="1"/>
      <p:bldP spid="86" grpId="0" bldLvl="0" animBg="1"/>
      <p:bldP spid="87" grpId="0" bldLvl="0" animBg="1"/>
      <p:bldP spid="44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组合 65"/>
          <p:cNvGrpSpPr/>
          <p:nvPr/>
        </p:nvGrpSpPr>
        <p:grpSpPr>
          <a:xfrm>
            <a:off x="850350" y="922108"/>
            <a:ext cx="10488210" cy="1118255"/>
            <a:chOff x="1826091" y="4087064"/>
            <a:chExt cx="10488210" cy="1118255"/>
          </a:xfrm>
        </p:grpSpPr>
        <p:sp>
          <p:nvSpPr>
            <p:cNvPr id="67" name="Text Box 11"/>
            <p:cNvSpPr txBox="1">
              <a:spLocks noChangeArrowheads="1"/>
            </p:cNvSpPr>
            <p:nvPr/>
          </p:nvSpPr>
          <p:spPr bwMode="auto">
            <a:xfrm>
              <a:off x="2385059" y="4087064"/>
              <a:ext cx="9929242" cy="1118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ts val="4000"/>
                </a:lnSpc>
              </a:pP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若已知一棵二叉树的前序序列和中序序列，能否唯一确定这棵二叉树呢？</a:t>
              </a:r>
            </a:p>
          </p:txBody>
        </p:sp>
        <p:grpSp>
          <p:nvGrpSpPr>
            <p:cNvPr id="68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69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0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1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2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7" name="组合 6"/>
          <p:cNvGrpSpPr/>
          <p:nvPr/>
        </p:nvGrpSpPr>
        <p:grpSpPr>
          <a:xfrm>
            <a:off x="1946923" y="2313687"/>
            <a:ext cx="1974151" cy="2648582"/>
            <a:chOff x="5827819" y="3425737"/>
            <a:chExt cx="1974151" cy="2648582"/>
          </a:xfrm>
          <a:solidFill>
            <a:srgbClr val="B4B4BE"/>
          </a:solidFill>
        </p:grpSpPr>
        <p:sp>
          <p:nvSpPr>
            <p:cNvPr id="96" name="Line 26"/>
            <p:cNvSpPr>
              <a:spLocks noChangeShapeType="1"/>
            </p:cNvSpPr>
            <p:nvPr/>
          </p:nvSpPr>
          <p:spPr bwMode="auto">
            <a:xfrm>
              <a:off x="6220566" y="3762286"/>
              <a:ext cx="432000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99" name="Line 29"/>
            <p:cNvSpPr>
              <a:spLocks noChangeShapeType="1"/>
            </p:cNvSpPr>
            <p:nvPr/>
          </p:nvSpPr>
          <p:spPr bwMode="auto">
            <a:xfrm flipH="1">
              <a:off x="6384396" y="4638269"/>
              <a:ext cx="288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00" name="Line 30"/>
            <p:cNvSpPr>
              <a:spLocks noChangeShapeType="1"/>
            </p:cNvSpPr>
            <p:nvPr/>
          </p:nvSpPr>
          <p:spPr bwMode="auto">
            <a:xfrm>
              <a:off x="6902246" y="4649991"/>
              <a:ext cx="288000" cy="6258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01" name="Oval 37"/>
            <p:cNvSpPr>
              <a:spLocks noChangeArrowheads="1"/>
            </p:cNvSpPr>
            <p:nvPr/>
          </p:nvSpPr>
          <p:spPr bwMode="auto">
            <a:xfrm>
              <a:off x="5827819" y="3425737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Oval 37"/>
            <p:cNvSpPr>
              <a:spLocks noChangeArrowheads="1"/>
            </p:cNvSpPr>
            <p:nvPr/>
          </p:nvSpPr>
          <p:spPr bwMode="auto">
            <a:xfrm>
              <a:off x="6569498" y="4242028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5" name="Oval 37"/>
            <p:cNvSpPr>
              <a:spLocks noChangeArrowheads="1"/>
            </p:cNvSpPr>
            <p:nvPr/>
          </p:nvSpPr>
          <p:spPr bwMode="auto">
            <a:xfrm>
              <a:off x="6116426" y="528231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Oval 37"/>
            <p:cNvSpPr>
              <a:spLocks noChangeArrowheads="1"/>
            </p:cNvSpPr>
            <p:nvPr/>
          </p:nvSpPr>
          <p:spPr bwMode="auto">
            <a:xfrm>
              <a:off x="6793970" y="5282319"/>
              <a:ext cx="1008000" cy="79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 G</a:t>
              </a:r>
            </a:p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 I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7" name="Text Box 4"/>
          <p:cNvSpPr txBox="1">
            <a:spLocks noChangeArrowheads="1"/>
          </p:cNvSpPr>
          <p:nvPr/>
        </p:nvSpPr>
        <p:spPr bwMode="auto">
          <a:xfrm>
            <a:off x="4267200" y="1968500"/>
            <a:ext cx="4343400" cy="1031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l" eaLnBrk="0" hangingPunct="0">
              <a:spcBef>
                <a:spcPct val="2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前序：</a:t>
            </a:r>
            <a:r>
              <a:rPr lang="en-US" altLang="zh-CN" sz="2800" b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G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 I</a:t>
            </a:r>
          </a:p>
          <a:p>
            <a:pPr algn="l" eaLnBrk="0" hangingPunct="0">
              <a:spcBef>
                <a:spcPct val="2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中序：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 H </a:t>
            </a:r>
            <a:r>
              <a:rPr lang="en-US" altLang="zh-CN" sz="2800" b="1" dirty="0">
                <a:solidFill>
                  <a:srgbClr val="B42D2D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I</a:t>
            </a:r>
          </a:p>
        </p:txBody>
      </p:sp>
      <p:sp>
        <p:nvSpPr>
          <p:cNvPr id="48" name="Line 6"/>
          <p:cNvSpPr>
            <a:spLocks noChangeShapeType="1"/>
          </p:cNvSpPr>
          <p:nvPr/>
        </p:nvSpPr>
        <p:spPr bwMode="auto">
          <a:xfrm>
            <a:off x="5791200" y="2428875"/>
            <a:ext cx="533400" cy="0"/>
          </a:xfrm>
          <a:prstGeom prst="line">
            <a:avLst/>
          </a:prstGeom>
          <a:noFill/>
          <a:ln w="28575">
            <a:solidFill>
              <a:srgbClr val="5C307D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Line 7"/>
          <p:cNvSpPr>
            <a:spLocks noChangeShapeType="1"/>
          </p:cNvSpPr>
          <p:nvPr/>
        </p:nvSpPr>
        <p:spPr bwMode="auto">
          <a:xfrm flipV="1">
            <a:off x="6419850" y="2429828"/>
            <a:ext cx="287338" cy="0"/>
          </a:xfrm>
          <a:prstGeom prst="line">
            <a:avLst/>
          </a:prstGeom>
          <a:noFill/>
          <a:ln w="28575">
            <a:solidFill>
              <a:srgbClr val="507D7D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Line 8"/>
          <p:cNvSpPr>
            <a:spLocks noChangeShapeType="1"/>
          </p:cNvSpPr>
          <p:nvPr/>
        </p:nvSpPr>
        <p:spPr bwMode="auto">
          <a:xfrm>
            <a:off x="5486400" y="2914650"/>
            <a:ext cx="533400" cy="0"/>
          </a:xfrm>
          <a:prstGeom prst="line">
            <a:avLst/>
          </a:prstGeom>
          <a:noFill/>
          <a:ln w="28575">
            <a:solidFill>
              <a:srgbClr val="5C307D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Line 38"/>
          <p:cNvSpPr>
            <a:spLocks noChangeShapeType="1"/>
          </p:cNvSpPr>
          <p:nvPr/>
        </p:nvSpPr>
        <p:spPr bwMode="auto">
          <a:xfrm flipV="1">
            <a:off x="6419850" y="2901950"/>
            <a:ext cx="287338" cy="0"/>
          </a:xfrm>
          <a:prstGeom prst="line">
            <a:avLst/>
          </a:prstGeom>
          <a:noFill/>
          <a:ln w="28575">
            <a:solidFill>
              <a:srgbClr val="507D7D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11" name="组合 110"/>
          <p:cNvGrpSpPr/>
          <p:nvPr/>
        </p:nvGrpSpPr>
        <p:grpSpPr>
          <a:xfrm>
            <a:off x="1127558" y="2642550"/>
            <a:ext cx="1006199" cy="1952032"/>
            <a:chOff x="8720699" y="3117184"/>
            <a:chExt cx="1006199" cy="1952032"/>
          </a:xfrm>
          <a:solidFill>
            <a:srgbClr val="B4B4BE"/>
          </a:solidFill>
        </p:grpSpPr>
        <p:sp>
          <p:nvSpPr>
            <p:cNvPr id="112" name="Line 25"/>
            <p:cNvSpPr>
              <a:spLocks noChangeShapeType="1"/>
            </p:cNvSpPr>
            <p:nvPr/>
          </p:nvSpPr>
          <p:spPr bwMode="auto">
            <a:xfrm flipH="1">
              <a:off x="9084553" y="3117184"/>
              <a:ext cx="511175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13" name="Line 27"/>
            <p:cNvSpPr>
              <a:spLocks noChangeShapeType="1"/>
            </p:cNvSpPr>
            <p:nvPr/>
          </p:nvSpPr>
          <p:spPr bwMode="auto">
            <a:xfrm flipH="1" flipV="1">
              <a:off x="9042274" y="4013685"/>
              <a:ext cx="360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15" name="Oval 37"/>
            <p:cNvSpPr>
              <a:spLocks noChangeArrowheads="1"/>
            </p:cNvSpPr>
            <p:nvPr/>
          </p:nvSpPr>
          <p:spPr bwMode="auto">
            <a:xfrm>
              <a:off x="8720699" y="3596925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6" name="Oval 37"/>
            <p:cNvSpPr>
              <a:spLocks noChangeArrowheads="1"/>
            </p:cNvSpPr>
            <p:nvPr/>
          </p:nvSpPr>
          <p:spPr bwMode="auto">
            <a:xfrm>
              <a:off x="9294898" y="4637216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7771888" y="1622721"/>
            <a:ext cx="2875259" cy="4375176"/>
            <a:chOff x="7421678" y="1917687"/>
            <a:chExt cx="2875259" cy="4375176"/>
          </a:xfrm>
          <a:solidFill>
            <a:srgbClr val="B4B4BE"/>
          </a:solidFill>
        </p:grpSpPr>
        <p:sp>
          <p:nvSpPr>
            <p:cNvPr id="118" name="Line 26"/>
            <p:cNvSpPr>
              <a:spLocks noChangeShapeType="1"/>
            </p:cNvSpPr>
            <p:nvPr/>
          </p:nvSpPr>
          <p:spPr bwMode="auto">
            <a:xfrm>
              <a:off x="8633790" y="2254236"/>
              <a:ext cx="432000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19" name="Line 29"/>
            <p:cNvSpPr>
              <a:spLocks noChangeShapeType="1"/>
            </p:cNvSpPr>
            <p:nvPr/>
          </p:nvSpPr>
          <p:spPr bwMode="auto">
            <a:xfrm flipH="1">
              <a:off x="8797620" y="3130219"/>
              <a:ext cx="288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20" name="Line 30"/>
            <p:cNvSpPr>
              <a:spLocks noChangeShapeType="1"/>
            </p:cNvSpPr>
            <p:nvPr/>
          </p:nvSpPr>
          <p:spPr bwMode="auto">
            <a:xfrm>
              <a:off x="9315470" y="3141941"/>
              <a:ext cx="288000" cy="6258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21" name="Oval 37"/>
            <p:cNvSpPr>
              <a:spLocks noChangeArrowheads="1"/>
            </p:cNvSpPr>
            <p:nvPr/>
          </p:nvSpPr>
          <p:spPr bwMode="auto">
            <a:xfrm>
              <a:off x="8241043" y="1917687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2" name="Oval 37"/>
            <p:cNvSpPr>
              <a:spLocks noChangeArrowheads="1"/>
            </p:cNvSpPr>
            <p:nvPr/>
          </p:nvSpPr>
          <p:spPr bwMode="auto">
            <a:xfrm>
              <a:off x="8982722" y="2733978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" name="Oval 37"/>
            <p:cNvSpPr>
              <a:spLocks noChangeArrowheads="1"/>
            </p:cNvSpPr>
            <p:nvPr/>
          </p:nvSpPr>
          <p:spPr bwMode="auto">
            <a:xfrm>
              <a:off x="8529650" y="377426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6" name="Line 25"/>
            <p:cNvSpPr>
              <a:spLocks noChangeShapeType="1"/>
            </p:cNvSpPr>
            <p:nvPr/>
          </p:nvSpPr>
          <p:spPr bwMode="auto">
            <a:xfrm flipH="1">
              <a:off x="7785532" y="2246550"/>
              <a:ext cx="511175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27" name="Line 27"/>
            <p:cNvSpPr>
              <a:spLocks noChangeShapeType="1"/>
            </p:cNvSpPr>
            <p:nvPr/>
          </p:nvSpPr>
          <p:spPr bwMode="auto">
            <a:xfrm flipH="1" flipV="1">
              <a:off x="7743253" y="3143051"/>
              <a:ext cx="360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28" name="Oval 37"/>
            <p:cNvSpPr>
              <a:spLocks noChangeArrowheads="1"/>
            </p:cNvSpPr>
            <p:nvPr/>
          </p:nvSpPr>
          <p:spPr bwMode="auto">
            <a:xfrm>
              <a:off x="7421678" y="2726291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9" name="Oval 37"/>
            <p:cNvSpPr>
              <a:spLocks noChangeArrowheads="1"/>
            </p:cNvSpPr>
            <p:nvPr/>
          </p:nvSpPr>
          <p:spPr bwMode="auto">
            <a:xfrm>
              <a:off x="7995877" y="376658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0" name="Line 29"/>
            <p:cNvSpPr>
              <a:spLocks noChangeShapeType="1"/>
            </p:cNvSpPr>
            <p:nvPr/>
          </p:nvSpPr>
          <p:spPr bwMode="auto">
            <a:xfrm flipH="1">
              <a:off x="9244216" y="4167586"/>
              <a:ext cx="288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31" name="Line 30"/>
            <p:cNvSpPr>
              <a:spLocks noChangeShapeType="1"/>
            </p:cNvSpPr>
            <p:nvPr/>
          </p:nvSpPr>
          <p:spPr bwMode="auto">
            <a:xfrm>
              <a:off x="9762066" y="4179308"/>
              <a:ext cx="288000" cy="6258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32" name="Oval 37"/>
            <p:cNvSpPr>
              <a:spLocks noChangeArrowheads="1"/>
            </p:cNvSpPr>
            <p:nvPr/>
          </p:nvSpPr>
          <p:spPr bwMode="auto">
            <a:xfrm>
              <a:off x="9429318" y="377426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" name="Oval 37"/>
            <p:cNvSpPr>
              <a:spLocks noChangeArrowheads="1"/>
            </p:cNvSpPr>
            <p:nvPr/>
          </p:nvSpPr>
          <p:spPr bwMode="auto">
            <a:xfrm>
              <a:off x="8976246" y="4811636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Line 27"/>
            <p:cNvSpPr>
              <a:spLocks noChangeShapeType="1"/>
            </p:cNvSpPr>
            <p:nvPr/>
          </p:nvSpPr>
          <p:spPr bwMode="auto">
            <a:xfrm flipH="1" flipV="1">
              <a:off x="9249318" y="5237332"/>
              <a:ext cx="360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35" name="Oval 37"/>
            <p:cNvSpPr>
              <a:spLocks noChangeArrowheads="1"/>
            </p:cNvSpPr>
            <p:nvPr/>
          </p:nvSpPr>
          <p:spPr bwMode="auto">
            <a:xfrm>
              <a:off x="9864937" y="4811636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6" name="Oval 37"/>
            <p:cNvSpPr>
              <a:spLocks noChangeArrowheads="1"/>
            </p:cNvSpPr>
            <p:nvPr/>
          </p:nvSpPr>
          <p:spPr bwMode="auto">
            <a:xfrm>
              <a:off x="9501942" y="586086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3" name="Rounded Rectangle 10"/>
          <p:cNvSpPr/>
          <p:nvPr/>
        </p:nvSpPr>
        <p:spPr>
          <a:xfrm>
            <a:off x="542923" y="100964"/>
            <a:ext cx="2808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Text Box 2"/>
          <p:cNvSpPr txBox="1">
            <a:spLocks noChangeArrowheads="1"/>
          </p:cNvSpPr>
          <p:nvPr/>
        </p:nvSpPr>
        <p:spPr bwMode="auto">
          <a:xfrm>
            <a:off x="638167" y="61585"/>
            <a:ext cx="271275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遍历与二叉树</a:t>
            </a:r>
          </a:p>
        </p:txBody>
      </p:sp>
    </p:spTree>
    <p:extLst>
      <p:ext uri="{BB962C8B-B14F-4D97-AF65-F5344CB8AC3E}">
        <p14:creationId xmlns:p14="http://schemas.microsoft.com/office/powerpoint/2010/main" val="3060394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bldLvl="0" animBg="1"/>
      <p:bldP spid="48" grpId="0" bldLvl="0" animBg="1"/>
      <p:bldP spid="49" grpId="0" bldLvl="0" animBg="1"/>
      <p:bldP spid="50" grpId="0" bldLvl="0" animBg="1"/>
      <p:bldP spid="51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nip Diagonal Corner Rectangle 12"/>
          <p:cNvSpPr/>
          <p:nvPr/>
        </p:nvSpPr>
        <p:spPr>
          <a:xfrm>
            <a:off x="2931171" y="3899819"/>
            <a:ext cx="6568845" cy="725672"/>
          </a:xfrm>
          <a:prstGeom prst="snip2Diag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spcBef>
                <a:spcPct val="50000"/>
              </a:spcBef>
            </a:pP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381156" y="4011812"/>
            <a:ext cx="565785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50000"/>
              </a:spcBef>
            </a:pPr>
            <a:r>
              <a:rPr lang="en-US" altLang="zh-CN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5-5-1   </a:t>
            </a:r>
            <a:r>
              <a:rPr lang="zh-CN" altLang="en-US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二叉树的顺序存储结构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40433" y="1998397"/>
            <a:ext cx="7670342" cy="134525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v</a:t>
            </a:r>
            <a:endParaRPr lang="zh-CN" altLang="en-US" dirty="0"/>
          </a:p>
        </p:txBody>
      </p:sp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2862818" y="2403766"/>
            <a:ext cx="675362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5C307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第五章     树和二叉树</a:t>
            </a:r>
          </a:p>
        </p:txBody>
      </p:sp>
    </p:spTree>
    <p:extLst>
      <p:ext uri="{BB962C8B-B14F-4D97-AF65-F5344CB8AC3E}">
        <p14:creationId xmlns:p14="http://schemas.microsoft.com/office/powerpoint/2010/main" val="3528649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4500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433007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二叉树的顺序存储结构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850350" y="952588"/>
            <a:ext cx="7197526" cy="523220"/>
            <a:chOff x="1826091" y="4148024"/>
            <a:chExt cx="7197526" cy="523220"/>
          </a:xfrm>
        </p:grpSpPr>
        <p:sp>
          <p:nvSpPr>
            <p:cNvPr id="10" name="Text Box 11"/>
            <p:cNvSpPr txBox="1">
              <a:spLocks noChangeArrowheads="1"/>
            </p:cNvSpPr>
            <p:nvPr/>
          </p:nvSpPr>
          <p:spPr bwMode="auto">
            <a:xfrm>
              <a:off x="2385059" y="4148024"/>
              <a:ext cx="6638558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顺序存储结构的要求是什么？</a:t>
              </a:r>
            </a:p>
          </p:txBody>
        </p:sp>
        <p:grpSp>
          <p:nvGrpSpPr>
            <p:cNvPr id="11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12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6" name="Rectangle 2"/>
          <p:cNvSpPr txBox="1">
            <a:spLocks noChangeArrowheads="1"/>
          </p:cNvSpPr>
          <p:nvPr/>
        </p:nvSpPr>
        <p:spPr>
          <a:xfrm>
            <a:off x="744848" y="1719262"/>
            <a:ext cx="11081392" cy="517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用一组</a:t>
            </a:r>
            <a:r>
              <a:rPr lang="zh-CN" altLang="en-US" sz="24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</a:t>
            </a:r>
            <a:r>
              <a: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的存储单元</a:t>
            </a:r>
            <a:r>
              <a:rPr lang="zh-CN" altLang="en-US" sz="24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依次</a:t>
            </a:r>
            <a:r>
              <a: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存储数据元素，由</a:t>
            </a:r>
            <a:r>
              <a:rPr lang="zh-CN" altLang="en-US" sz="24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存储位置</a:t>
            </a:r>
            <a:r>
              <a: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表示元素之间的逻辑关系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850350" y="3779519"/>
            <a:ext cx="10076730" cy="523220"/>
            <a:chOff x="1826091" y="4148024"/>
            <a:chExt cx="10076730" cy="523220"/>
          </a:xfrm>
        </p:grpSpPr>
        <p:sp>
          <p:nvSpPr>
            <p:cNvPr id="21" name="Text Box 11"/>
            <p:cNvSpPr txBox="1">
              <a:spLocks noChangeArrowheads="1"/>
            </p:cNvSpPr>
            <p:nvPr/>
          </p:nvSpPr>
          <p:spPr bwMode="auto">
            <a:xfrm>
              <a:off x="2385059" y="4148024"/>
              <a:ext cx="951776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如何利用数组下标来反映结点之间的逻辑关系?</a:t>
              </a:r>
            </a:p>
          </p:txBody>
        </p:sp>
        <p:grpSp>
          <p:nvGrpSpPr>
            <p:cNvPr id="22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25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32" name="Text Box 14" descr="水滴"/>
          <p:cNvSpPr txBox="1">
            <a:spLocks noChangeArrowheads="1"/>
          </p:cNvSpPr>
          <p:nvPr/>
        </p:nvSpPr>
        <p:spPr bwMode="auto">
          <a:xfrm>
            <a:off x="840508" y="4470400"/>
            <a:ext cx="1029049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 sz="28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完全二叉树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中结点的编号可以唯一地反映结点之间的逻辑关系 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867216" y="2433594"/>
            <a:ext cx="10562784" cy="1118255"/>
            <a:chOff x="867216" y="2433594"/>
            <a:chExt cx="10562784" cy="1118255"/>
          </a:xfrm>
        </p:grpSpPr>
        <p:sp>
          <p:nvSpPr>
            <p:cNvPr id="31" name="Text Box 9"/>
            <p:cNvSpPr txBox="1">
              <a:spLocks noChangeArrowheads="1"/>
            </p:cNvSpPr>
            <p:nvPr/>
          </p:nvSpPr>
          <p:spPr bwMode="auto">
            <a:xfrm>
              <a:off x="1450108" y="2433594"/>
              <a:ext cx="9979892" cy="1118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/>
            <a:p>
              <a:pPr algn="l" eaLnBrk="0" hangingPunct="0">
                <a:lnSpc>
                  <a:spcPts val="4000"/>
                </a:lnSpc>
              </a:pP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二叉树的顺序存储结构是用一维数组存储二叉树的结点，结点的</a:t>
              </a:r>
              <a:r>
                <a:rPr lang="zh-CN" altLang="en-US" sz="2800" dirty="0">
                  <a:solidFill>
                    <a:srgbClr val="B42D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存储位置（下标）</a:t>
              </a: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应能体现结点之间的</a:t>
              </a:r>
              <a:r>
                <a:rPr lang="zh-CN" altLang="en-US" sz="2800" dirty="0">
                  <a:solidFill>
                    <a:srgbClr val="B42D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逻辑关系——父子关系 </a:t>
              </a:r>
            </a:p>
          </p:txBody>
        </p:sp>
        <p:grpSp>
          <p:nvGrpSpPr>
            <p:cNvPr id="34" name="Group 67"/>
            <p:cNvGrpSpPr/>
            <p:nvPr/>
          </p:nvGrpSpPr>
          <p:grpSpPr>
            <a:xfrm>
              <a:off x="867216" y="2560721"/>
              <a:ext cx="432000" cy="432000"/>
              <a:chOff x="10115551" y="5634038"/>
              <a:chExt cx="577850" cy="576263"/>
            </a:xfrm>
            <a:solidFill>
              <a:srgbClr val="5A327D"/>
            </a:solidFill>
          </p:grpSpPr>
          <p:sp>
            <p:nvSpPr>
              <p:cNvPr id="35" name="Freeform 13"/>
              <p:cNvSpPr/>
              <p:nvPr/>
            </p:nvSpPr>
            <p:spPr bwMode="auto">
              <a:xfrm>
                <a:off x="10177463" y="5634038"/>
                <a:ext cx="515938" cy="517525"/>
              </a:xfrm>
              <a:custGeom>
                <a:avLst/>
                <a:gdLst>
                  <a:gd name="T0" fmla="*/ 174 w 176"/>
                  <a:gd name="T1" fmla="*/ 61 h 176"/>
                  <a:gd name="T2" fmla="*/ 115 w 176"/>
                  <a:gd name="T3" fmla="*/ 2 h 176"/>
                  <a:gd name="T4" fmla="*/ 110 w 176"/>
                  <a:gd name="T5" fmla="*/ 2 h 176"/>
                  <a:gd name="T6" fmla="*/ 91 w 176"/>
                  <a:gd name="T7" fmla="*/ 20 h 176"/>
                  <a:gd name="T8" fmla="*/ 90 w 176"/>
                  <a:gd name="T9" fmla="*/ 23 h 176"/>
                  <a:gd name="T10" fmla="*/ 91 w 176"/>
                  <a:gd name="T11" fmla="*/ 26 h 176"/>
                  <a:gd name="T12" fmla="*/ 96 w 176"/>
                  <a:gd name="T13" fmla="*/ 31 h 176"/>
                  <a:gd name="T14" fmla="*/ 69 w 176"/>
                  <a:gd name="T15" fmla="*/ 58 h 176"/>
                  <a:gd name="T16" fmla="*/ 50 w 176"/>
                  <a:gd name="T17" fmla="*/ 56 h 176"/>
                  <a:gd name="T18" fmla="*/ 1 w 176"/>
                  <a:gd name="T19" fmla="*/ 76 h 176"/>
                  <a:gd name="T20" fmla="*/ 1 w 176"/>
                  <a:gd name="T21" fmla="*/ 82 h 176"/>
                  <a:gd name="T22" fmla="*/ 94 w 176"/>
                  <a:gd name="T23" fmla="*/ 175 h 176"/>
                  <a:gd name="T24" fmla="*/ 97 w 176"/>
                  <a:gd name="T25" fmla="*/ 176 h 176"/>
                  <a:gd name="T26" fmla="*/ 100 w 176"/>
                  <a:gd name="T27" fmla="*/ 175 h 176"/>
                  <a:gd name="T28" fmla="*/ 118 w 176"/>
                  <a:gd name="T29" fmla="*/ 107 h 176"/>
                  <a:gd name="T30" fmla="*/ 145 w 176"/>
                  <a:gd name="T31" fmla="*/ 80 h 176"/>
                  <a:gd name="T32" fmla="*/ 150 w 176"/>
                  <a:gd name="T33" fmla="*/ 85 h 176"/>
                  <a:gd name="T34" fmla="*/ 156 w 176"/>
                  <a:gd name="T35" fmla="*/ 85 h 176"/>
                  <a:gd name="T36" fmla="*/ 174 w 176"/>
                  <a:gd name="T37" fmla="*/ 66 h 176"/>
                  <a:gd name="T38" fmla="*/ 176 w 176"/>
                  <a:gd name="T39" fmla="*/ 63 h 176"/>
                  <a:gd name="T40" fmla="*/ 174 w 176"/>
                  <a:gd name="T41" fmla="*/ 61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76" h="176">
                    <a:moveTo>
                      <a:pt x="174" y="61"/>
                    </a:moveTo>
                    <a:cubicBezTo>
                      <a:pt x="115" y="2"/>
                      <a:pt x="115" y="2"/>
                      <a:pt x="115" y="2"/>
                    </a:cubicBezTo>
                    <a:cubicBezTo>
                      <a:pt x="114" y="0"/>
                      <a:pt x="111" y="0"/>
                      <a:pt x="110" y="2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0" y="21"/>
                      <a:pt x="90" y="22"/>
                      <a:pt x="90" y="23"/>
                    </a:cubicBezTo>
                    <a:cubicBezTo>
                      <a:pt x="90" y="24"/>
                      <a:pt x="90" y="25"/>
                      <a:pt x="91" y="26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69" y="58"/>
                      <a:pt x="69" y="58"/>
                      <a:pt x="69" y="58"/>
                    </a:cubicBezTo>
                    <a:cubicBezTo>
                      <a:pt x="63" y="57"/>
                      <a:pt x="57" y="56"/>
                      <a:pt x="50" y="56"/>
                    </a:cubicBezTo>
                    <a:cubicBezTo>
                      <a:pt x="32" y="56"/>
                      <a:pt x="14" y="63"/>
                      <a:pt x="1" y="76"/>
                    </a:cubicBezTo>
                    <a:cubicBezTo>
                      <a:pt x="0" y="78"/>
                      <a:pt x="0" y="80"/>
                      <a:pt x="1" y="82"/>
                    </a:cubicBezTo>
                    <a:cubicBezTo>
                      <a:pt x="94" y="175"/>
                      <a:pt x="94" y="175"/>
                      <a:pt x="94" y="175"/>
                    </a:cubicBezTo>
                    <a:cubicBezTo>
                      <a:pt x="95" y="175"/>
                      <a:pt x="96" y="176"/>
                      <a:pt x="97" y="176"/>
                    </a:cubicBezTo>
                    <a:cubicBezTo>
                      <a:pt x="98" y="176"/>
                      <a:pt x="99" y="175"/>
                      <a:pt x="100" y="175"/>
                    </a:cubicBezTo>
                    <a:cubicBezTo>
                      <a:pt x="117" y="157"/>
                      <a:pt x="124" y="131"/>
                      <a:pt x="118" y="107"/>
                    </a:cubicBezTo>
                    <a:cubicBezTo>
                      <a:pt x="145" y="80"/>
                      <a:pt x="145" y="80"/>
                      <a:pt x="145" y="80"/>
                    </a:cubicBezTo>
                    <a:cubicBezTo>
                      <a:pt x="150" y="85"/>
                      <a:pt x="150" y="85"/>
                      <a:pt x="150" y="85"/>
                    </a:cubicBezTo>
                    <a:cubicBezTo>
                      <a:pt x="152" y="86"/>
                      <a:pt x="154" y="86"/>
                      <a:pt x="156" y="85"/>
                    </a:cubicBezTo>
                    <a:cubicBezTo>
                      <a:pt x="174" y="66"/>
                      <a:pt x="174" y="66"/>
                      <a:pt x="174" y="66"/>
                    </a:cubicBezTo>
                    <a:cubicBezTo>
                      <a:pt x="175" y="65"/>
                      <a:pt x="176" y="64"/>
                      <a:pt x="176" y="63"/>
                    </a:cubicBezTo>
                    <a:cubicBezTo>
                      <a:pt x="176" y="62"/>
                      <a:pt x="175" y="61"/>
                      <a:pt x="174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6" name="Freeform 14"/>
              <p:cNvSpPr/>
              <p:nvPr/>
            </p:nvSpPr>
            <p:spPr bwMode="auto">
              <a:xfrm>
                <a:off x="10115551" y="5983288"/>
                <a:ext cx="228600" cy="227013"/>
              </a:xfrm>
              <a:custGeom>
                <a:avLst/>
                <a:gdLst>
                  <a:gd name="T0" fmla="*/ 7 w 78"/>
                  <a:gd name="T1" fmla="*/ 77 h 77"/>
                  <a:gd name="T2" fmla="*/ 2 w 78"/>
                  <a:gd name="T3" fmla="*/ 76 h 77"/>
                  <a:gd name="T4" fmla="*/ 2 w 78"/>
                  <a:gd name="T5" fmla="*/ 67 h 77"/>
                  <a:gd name="T6" fmla="*/ 67 w 78"/>
                  <a:gd name="T7" fmla="*/ 2 h 77"/>
                  <a:gd name="T8" fmla="*/ 76 w 78"/>
                  <a:gd name="T9" fmla="*/ 2 h 77"/>
                  <a:gd name="T10" fmla="*/ 76 w 78"/>
                  <a:gd name="T11" fmla="*/ 11 h 77"/>
                  <a:gd name="T12" fmla="*/ 11 w 78"/>
                  <a:gd name="T13" fmla="*/ 76 h 77"/>
                  <a:gd name="T14" fmla="*/ 7 w 78"/>
                  <a:gd name="T15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8" h="77">
                    <a:moveTo>
                      <a:pt x="7" y="77"/>
                    </a:moveTo>
                    <a:cubicBezTo>
                      <a:pt x="5" y="77"/>
                      <a:pt x="3" y="77"/>
                      <a:pt x="2" y="76"/>
                    </a:cubicBezTo>
                    <a:cubicBezTo>
                      <a:pt x="0" y="73"/>
                      <a:pt x="0" y="70"/>
                      <a:pt x="2" y="67"/>
                    </a:cubicBezTo>
                    <a:cubicBezTo>
                      <a:pt x="67" y="2"/>
                      <a:pt x="67" y="2"/>
                      <a:pt x="67" y="2"/>
                    </a:cubicBezTo>
                    <a:cubicBezTo>
                      <a:pt x="70" y="0"/>
                      <a:pt x="73" y="0"/>
                      <a:pt x="76" y="2"/>
                    </a:cubicBezTo>
                    <a:cubicBezTo>
                      <a:pt x="78" y="5"/>
                      <a:pt x="78" y="8"/>
                      <a:pt x="76" y="11"/>
                    </a:cubicBezTo>
                    <a:cubicBezTo>
                      <a:pt x="11" y="76"/>
                      <a:pt x="11" y="76"/>
                      <a:pt x="11" y="76"/>
                    </a:cubicBezTo>
                    <a:cubicBezTo>
                      <a:pt x="10" y="77"/>
                      <a:pt x="8" y="77"/>
                      <a:pt x="7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0761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4500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433007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二叉树的顺序存储结构</a:t>
            </a:r>
          </a:p>
        </p:txBody>
      </p:sp>
      <p:grpSp>
        <p:nvGrpSpPr>
          <p:cNvPr id="23" name="组合 22"/>
          <p:cNvGrpSpPr/>
          <p:nvPr/>
        </p:nvGrpSpPr>
        <p:grpSpPr>
          <a:xfrm>
            <a:off x="6101031" y="1018199"/>
            <a:ext cx="4121166" cy="2675615"/>
            <a:chOff x="7192931" y="1589829"/>
            <a:chExt cx="4121166" cy="2675615"/>
          </a:xfrm>
          <a:solidFill>
            <a:srgbClr val="B4B4BE"/>
          </a:solidFill>
        </p:grpSpPr>
        <p:sp>
          <p:nvSpPr>
            <p:cNvPr id="24" name="Freeform 65"/>
            <p:cNvSpPr/>
            <p:nvPr/>
          </p:nvSpPr>
          <p:spPr bwMode="auto">
            <a:xfrm>
              <a:off x="8436100" y="3438314"/>
              <a:ext cx="180000" cy="396000"/>
            </a:xfrm>
            <a:custGeom>
              <a:avLst/>
              <a:gdLst>
                <a:gd name="T0" fmla="*/ 119 w 119"/>
                <a:gd name="T1" fmla="*/ 0 h 356"/>
                <a:gd name="T2" fmla="*/ 0 w 119"/>
                <a:gd name="T3" fmla="*/ 356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9" h="356">
                  <a:moveTo>
                    <a:pt x="119" y="0"/>
                  </a:moveTo>
                  <a:lnTo>
                    <a:pt x="0" y="356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27" name="Freeform 45"/>
            <p:cNvSpPr/>
            <p:nvPr/>
          </p:nvSpPr>
          <p:spPr bwMode="auto">
            <a:xfrm>
              <a:off x="10768492" y="2743348"/>
              <a:ext cx="268288" cy="490538"/>
            </a:xfrm>
            <a:custGeom>
              <a:avLst/>
              <a:gdLst>
                <a:gd name="T0" fmla="*/ 0 w 222"/>
                <a:gd name="T1" fmla="*/ 0 h 421"/>
                <a:gd name="T2" fmla="*/ 222 w 222"/>
                <a:gd name="T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421">
                  <a:moveTo>
                    <a:pt x="0" y="0"/>
                  </a:moveTo>
                  <a:lnTo>
                    <a:pt x="222" y="421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28" name="Freeform 44"/>
            <p:cNvSpPr/>
            <p:nvPr/>
          </p:nvSpPr>
          <p:spPr bwMode="auto">
            <a:xfrm>
              <a:off x="10212549" y="2712868"/>
              <a:ext cx="311150" cy="490538"/>
            </a:xfrm>
            <a:custGeom>
              <a:avLst/>
              <a:gdLst>
                <a:gd name="T0" fmla="*/ 259 w 259"/>
                <a:gd name="T1" fmla="*/ 0 h 421"/>
                <a:gd name="T2" fmla="*/ 0 w 259"/>
                <a:gd name="T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9" h="421">
                  <a:moveTo>
                    <a:pt x="259" y="0"/>
                  </a:moveTo>
                  <a:lnTo>
                    <a:pt x="0" y="421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3" name="Line 42"/>
            <p:cNvSpPr>
              <a:spLocks noChangeShapeType="1"/>
            </p:cNvSpPr>
            <p:nvPr/>
          </p:nvSpPr>
          <p:spPr bwMode="auto">
            <a:xfrm flipH="1">
              <a:off x="8292567" y="1934953"/>
              <a:ext cx="995363" cy="493713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4" name="Freeform 43"/>
            <p:cNvSpPr/>
            <p:nvPr/>
          </p:nvSpPr>
          <p:spPr bwMode="auto">
            <a:xfrm>
              <a:off x="9622892" y="1888915"/>
              <a:ext cx="928688" cy="568325"/>
            </a:xfrm>
            <a:custGeom>
              <a:avLst/>
              <a:gdLst>
                <a:gd name="T0" fmla="*/ 0 w 767"/>
                <a:gd name="T1" fmla="*/ 0 h 488"/>
                <a:gd name="T2" fmla="*/ 767 w 767"/>
                <a:gd name="T3" fmla="*/ 488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7" h="488">
                  <a:moveTo>
                    <a:pt x="0" y="0"/>
                  </a:moveTo>
                  <a:lnTo>
                    <a:pt x="767" y="488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5" name="Freeform 44"/>
            <p:cNvSpPr/>
            <p:nvPr/>
          </p:nvSpPr>
          <p:spPr bwMode="auto">
            <a:xfrm>
              <a:off x="7776629" y="2649328"/>
              <a:ext cx="311150" cy="490538"/>
            </a:xfrm>
            <a:custGeom>
              <a:avLst/>
              <a:gdLst>
                <a:gd name="T0" fmla="*/ 259 w 259"/>
                <a:gd name="T1" fmla="*/ 0 h 421"/>
                <a:gd name="T2" fmla="*/ 0 w 259"/>
                <a:gd name="T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9" h="421">
                  <a:moveTo>
                    <a:pt x="259" y="0"/>
                  </a:moveTo>
                  <a:lnTo>
                    <a:pt x="0" y="421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6" name="Freeform 45"/>
            <p:cNvSpPr/>
            <p:nvPr/>
          </p:nvSpPr>
          <p:spPr bwMode="auto">
            <a:xfrm>
              <a:off x="8332572" y="2679808"/>
              <a:ext cx="268288" cy="490538"/>
            </a:xfrm>
            <a:custGeom>
              <a:avLst/>
              <a:gdLst>
                <a:gd name="T0" fmla="*/ 0 w 222"/>
                <a:gd name="T1" fmla="*/ 0 h 421"/>
                <a:gd name="T2" fmla="*/ 222 w 222"/>
                <a:gd name="T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421">
                  <a:moveTo>
                    <a:pt x="0" y="0"/>
                  </a:moveTo>
                  <a:lnTo>
                    <a:pt x="222" y="421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9" name="Freeform 65"/>
            <p:cNvSpPr/>
            <p:nvPr/>
          </p:nvSpPr>
          <p:spPr bwMode="auto">
            <a:xfrm>
              <a:off x="7486116" y="3438314"/>
              <a:ext cx="180000" cy="396000"/>
            </a:xfrm>
            <a:custGeom>
              <a:avLst/>
              <a:gdLst>
                <a:gd name="T0" fmla="*/ 119 w 119"/>
                <a:gd name="T1" fmla="*/ 0 h 356"/>
                <a:gd name="T2" fmla="*/ 0 w 119"/>
                <a:gd name="T3" fmla="*/ 356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9" h="356">
                  <a:moveTo>
                    <a:pt x="119" y="0"/>
                  </a:moveTo>
                  <a:lnTo>
                    <a:pt x="0" y="356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0" name="Line 66"/>
            <p:cNvSpPr>
              <a:spLocks noChangeShapeType="1"/>
            </p:cNvSpPr>
            <p:nvPr/>
          </p:nvSpPr>
          <p:spPr bwMode="auto">
            <a:xfrm>
              <a:off x="7811554" y="3501815"/>
              <a:ext cx="111125" cy="412750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1" name="Oval 37"/>
            <p:cNvSpPr>
              <a:spLocks noChangeArrowheads="1"/>
            </p:cNvSpPr>
            <p:nvPr/>
          </p:nvSpPr>
          <p:spPr bwMode="auto">
            <a:xfrm>
              <a:off x="9257450" y="158982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Oval 37"/>
            <p:cNvSpPr>
              <a:spLocks noChangeArrowheads="1"/>
            </p:cNvSpPr>
            <p:nvPr/>
          </p:nvSpPr>
          <p:spPr bwMode="auto">
            <a:xfrm>
              <a:off x="7986182" y="234246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Oval 37"/>
            <p:cNvSpPr>
              <a:spLocks noChangeArrowheads="1"/>
            </p:cNvSpPr>
            <p:nvPr/>
          </p:nvSpPr>
          <p:spPr bwMode="auto">
            <a:xfrm>
              <a:off x="10442042" y="234246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Oval 37"/>
            <p:cNvSpPr>
              <a:spLocks noChangeArrowheads="1"/>
            </p:cNvSpPr>
            <p:nvPr/>
          </p:nvSpPr>
          <p:spPr bwMode="auto">
            <a:xfrm>
              <a:off x="7521161" y="307181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Oval 37"/>
            <p:cNvSpPr>
              <a:spLocks noChangeArrowheads="1"/>
            </p:cNvSpPr>
            <p:nvPr/>
          </p:nvSpPr>
          <p:spPr bwMode="auto">
            <a:xfrm>
              <a:off x="8463501" y="307181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Oval 37"/>
            <p:cNvSpPr>
              <a:spLocks noChangeArrowheads="1"/>
            </p:cNvSpPr>
            <p:nvPr/>
          </p:nvSpPr>
          <p:spPr bwMode="auto">
            <a:xfrm>
              <a:off x="9958648" y="307181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Oval 37"/>
            <p:cNvSpPr>
              <a:spLocks noChangeArrowheads="1"/>
            </p:cNvSpPr>
            <p:nvPr/>
          </p:nvSpPr>
          <p:spPr bwMode="auto">
            <a:xfrm>
              <a:off x="7192931" y="383344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Oval 37"/>
            <p:cNvSpPr>
              <a:spLocks noChangeArrowheads="1"/>
            </p:cNvSpPr>
            <p:nvPr/>
          </p:nvSpPr>
          <p:spPr bwMode="auto">
            <a:xfrm>
              <a:off x="7709222" y="383344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Oval 37"/>
            <p:cNvSpPr>
              <a:spLocks noChangeArrowheads="1"/>
            </p:cNvSpPr>
            <p:nvPr/>
          </p:nvSpPr>
          <p:spPr bwMode="auto">
            <a:xfrm>
              <a:off x="8226109" y="383344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Oval 37"/>
            <p:cNvSpPr>
              <a:spLocks noChangeArrowheads="1"/>
            </p:cNvSpPr>
            <p:nvPr/>
          </p:nvSpPr>
          <p:spPr bwMode="auto">
            <a:xfrm>
              <a:off x="10882097" y="307181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6484328" y="891558"/>
            <a:ext cx="4038917" cy="2419033"/>
            <a:chOff x="1700164" y="1061758"/>
            <a:chExt cx="4038917" cy="2419033"/>
          </a:xfrm>
        </p:grpSpPr>
        <p:sp>
          <p:nvSpPr>
            <p:cNvPr id="51" name="Text Box 107"/>
            <p:cNvSpPr txBox="1">
              <a:spLocks noChangeArrowheads="1"/>
            </p:cNvSpPr>
            <p:nvPr/>
          </p:nvSpPr>
          <p:spPr bwMode="auto">
            <a:xfrm>
              <a:off x="3819476" y="1061758"/>
              <a:ext cx="244475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just" eaLnBrk="0" hangingPunct="0"/>
              <a:r>
                <a:rPr lang="zh-CN" altLang="en-US" sz="24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2" name="Text Box 108"/>
            <p:cNvSpPr txBox="1">
              <a:spLocks noChangeArrowheads="1"/>
            </p:cNvSpPr>
            <p:nvPr/>
          </p:nvSpPr>
          <p:spPr bwMode="auto">
            <a:xfrm>
              <a:off x="3082876" y="2509558"/>
              <a:ext cx="247650" cy="361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just" eaLnBrk="0" hangingPunct="0"/>
              <a:r>
                <a:rPr lang="zh-CN" altLang="en-US" sz="2400" b="1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3" name="Text Box 109"/>
            <p:cNvSpPr txBox="1">
              <a:spLocks noChangeArrowheads="1"/>
            </p:cNvSpPr>
            <p:nvPr/>
          </p:nvSpPr>
          <p:spPr bwMode="auto">
            <a:xfrm>
              <a:off x="2622819" y="1787246"/>
              <a:ext cx="244475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just" eaLnBrk="0" hangingPunct="0"/>
              <a:r>
                <a:rPr lang="zh-CN" altLang="en-US" sz="24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4" name="Text Box 110"/>
            <p:cNvSpPr txBox="1">
              <a:spLocks noChangeArrowheads="1"/>
            </p:cNvSpPr>
            <p:nvPr/>
          </p:nvSpPr>
          <p:spPr bwMode="auto">
            <a:xfrm>
              <a:off x="5046614" y="1787246"/>
              <a:ext cx="246063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just" eaLnBrk="0" hangingPunct="0"/>
              <a:r>
                <a:rPr lang="zh-CN" altLang="en-US" sz="24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5" name="Text Box 111"/>
            <p:cNvSpPr txBox="1">
              <a:spLocks noChangeArrowheads="1"/>
            </p:cNvSpPr>
            <p:nvPr/>
          </p:nvSpPr>
          <p:spPr bwMode="auto">
            <a:xfrm>
              <a:off x="2103389" y="2509558"/>
              <a:ext cx="244475" cy="361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just" eaLnBrk="0" hangingPunct="0"/>
              <a:r>
                <a:rPr lang="zh-CN" altLang="en-US" sz="2400" b="1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56" name="Text Box 112"/>
            <p:cNvSpPr txBox="1">
              <a:spLocks noChangeArrowheads="1"/>
            </p:cNvSpPr>
            <p:nvPr/>
          </p:nvSpPr>
          <p:spPr bwMode="auto">
            <a:xfrm>
              <a:off x="4557664" y="2509558"/>
              <a:ext cx="244475" cy="361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just" eaLnBrk="0" hangingPunct="0"/>
              <a:r>
                <a:rPr lang="zh-CN" altLang="en-US" sz="24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57" name="Text Box 113"/>
            <p:cNvSpPr txBox="1">
              <a:spLocks noChangeArrowheads="1"/>
            </p:cNvSpPr>
            <p:nvPr/>
          </p:nvSpPr>
          <p:spPr bwMode="auto">
            <a:xfrm>
              <a:off x="5491431" y="2509558"/>
              <a:ext cx="247650" cy="361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just" eaLnBrk="0" hangingPunct="0"/>
              <a:r>
                <a:rPr lang="zh-CN" altLang="en-US" sz="24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58" name="Text Box 114"/>
            <p:cNvSpPr txBox="1">
              <a:spLocks noChangeArrowheads="1"/>
            </p:cNvSpPr>
            <p:nvPr/>
          </p:nvSpPr>
          <p:spPr bwMode="auto">
            <a:xfrm>
              <a:off x="1700164" y="3120428"/>
              <a:ext cx="244475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just" eaLnBrk="0" hangingPunct="0"/>
              <a:r>
                <a:rPr lang="zh-CN" altLang="en-US" sz="2400" b="1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59" name="Text Box 115"/>
            <p:cNvSpPr txBox="1">
              <a:spLocks noChangeArrowheads="1"/>
            </p:cNvSpPr>
            <p:nvPr/>
          </p:nvSpPr>
          <p:spPr bwMode="auto">
            <a:xfrm>
              <a:off x="2193876" y="3120428"/>
              <a:ext cx="244475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just" eaLnBrk="0" hangingPunct="0"/>
              <a:r>
                <a:rPr lang="zh-CN" altLang="en-US" sz="2400" b="1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60" name="Text Box 116"/>
            <p:cNvSpPr txBox="1">
              <a:spLocks noChangeArrowheads="1"/>
            </p:cNvSpPr>
            <p:nvPr/>
          </p:nvSpPr>
          <p:spPr bwMode="auto">
            <a:xfrm>
              <a:off x="2646314" y="3120428"/>
              <a:ext cx="384175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just" eaLnBrk="0" hangingPunct="0"/>
              <a:r>
                <a:rPr lang="zh-CN" altLang="en-US" sz="2400" b="1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174532" y="3998675"/>
            <a:ext cx="6254272" cy="1946938"/>
            <a:chOff x="314168" y="4031715"/>
            <a:chExt cx="6254272" cy="1946938"/>
          </a:xfrm>
        </p:grpSpPr>
        <p:sp>
          <p:nvSpPr>
            <p:cNvPr id="84" name="AutoShape 135"/>
            <p:cNvSpPr>
              <a:spLocks noChangeArrowheads="1"/>
            </p:cNvSpPr>
            <p:nvPr/>
          </p:nvSpPr>
          <p:spPr bwMode="auto">
            <a:xfrm>
              <a:off x="2590652" y="4031715"/>
              <a:ext cx="1424939" cy="851654"/>
            </a:xfrm>
            <a:prstGeom prst="downArrow">
              <a:avLst>
                <a:gd name="adj1" fmla="val 68716"/>
                <a:gd name="adj2" fmla="val 25000"/>
              </a:avLst>
            </a:prstGeom>
            <a:noFill/>
            <a:ln w="28575">
              <a:solidFill>
                <a:srgbClr val="507D7D"/>
              </a:solidFill>
              <a:miter lim="800000"/>
            </a:ln>
            <a:effectLst/>
          </p:spPr>
          <p:txBody>
            <a:bodyPr wrap="square" anchor="ctr">
              <a:spAutoFit/>
            </a:bodyPr>
            <a:lstStyle/>
            <a:p>
              <a:pPr algn="l"/>
              <a:r>
                <a:rPr lang="zh-CN" altLang="en-US" sz="200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以编号</a:t>
              </a:r>
            </a:p>
            <a:p>
              <a:pPr algn="l"/>
              <a:r>
                <a:rPr lang="zh-CN" altLang="en-US" sz="200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为下标</a:t>
              </a: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314168" y="5015865"/>
              <a:ext cx="6254272" cy="962788"/>
              <a:chOff x="314168" y="5153025"/>
              <a:chExt cx="6254272" cy="962788"/>
            </a:xfrm>
          </p:grpSpPr>
          <p:sp>
            <p:nvSpPr>
              <p:cNvPr id="82" name="Rectangle 57" descr="水滴"/>
              <p:cNvSpPr>
                <a:spLocks noChangeArrowheads="1"/>
              </p:cNvSpPr>
              <p:nvPr/>
            </p:nvSpPr>
            <p:spPr bwMode="auto">
              <a:xfrm>
                <a:off x="314168" y="5611813"/>
                <a:ext cx="612000" cy="504000"/>
              </a:xfrm>
              <a:prstGeom prst="rect">
                <a:avLst/>
              </a:prstGeom>
              <a:noFill/>
              <a:ln w="28575">
                <a:solidFill>
                  <a:srgbClr val="507D7D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blipFill dpi="0" rotWithShape="0">
                      <a:blip r:embed="rId3"/>
                      <a:srcRect/>
                      <a:tile tx="0" ty="0" sx="100000" sy="100000" flip="none" algn="tl"/>
                    </a:blip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r>
                  <a:rPr kumimoji="1" lang="zh-CN" alt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kumimoji="1" lang="en-US" altLang="zh-CN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endPara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1" name="Rectangle 87"/>
              <p:cNvSpPr>
                <a:spLocks noChangeArrowheads="1"/>
              </p:cNvSpPr>
              <p:nvPr/>
            </p:nvSpPr>
            <p:spPr bwMode="auto">
              <a:xfrm>
                <a:off x="477838" y="5153025"/>
                <a:ext cx="6090602" cy="4587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just"/>
                <a:r>
                  <a:rPr kumimoji="1" lang="zh-CN" alt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1      2      3      4      5      6      7      8      9     10</a:t>
                </a:r>
              </a:p>
            </p:txBody>
          </p:sp>
          <p:sp>
            <p:nvSpPr>
              <p:cNvPr id="85" name="Rectangle 57" descr="水滴"/>
              <p:cNvSpPr>
                <a:spLocks noChangeArrowheads="1"/>
              </p:cNvSpPr>
              <p:nvPr/>
            </p:nvSpPr>
            <p:spPr bwMode="auto">
              <a:xfrm>
                <a:off x="931907" y="5611813"/>
                <a:ext cx="612000" cy="504000"/>
              </a:xfrm>
              <a:prstGeom prst="rect">
                <a:avLst/>
              </a:prstGeom>
              <a:noFill/>
              <a:ln w="28575">
                <a:solidFill>
                  <a:srgbClr val="507D7D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blipFill dpi="0" rotWithShape="0">
                      <a:blip r:embed="rId3"/>
                      <a:srcRect/>
                      <a:tile tx="0" ty="0" sx="100000" sy="100000" flip="none" algn="tl"/>
                    </a:blip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r>
                  <a:rPr kumimoji="1" lang="zh-CN" alt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kumimoji="1" lang="en-US" altLang="zh-CN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6" name="Rectangle 57" descr="水滴"/>
              <p:cNvSpPr>
                <a:spLocks noChangeArrowheads="1"/>
              </p:cNvSpPr>
              <p:nvPr/>
            </p:nvSpPr>
            <p:spPr bwMode="auto">
              <a:xfrm>
                <a:off x="1532866" y="5611813"/>
                <a:ext cx="612000" cy="504000"/>
              </a:xfrm>
              <a:prstGeom prst="rect">
                <a:avLst/>
              </a:prstGeom>
              <a:noFill/>
              <a:ln w="28575">
                <a:solidFill>
                  <a:srgbClr val="507D7D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blipFill dpi="0" rotWithShape="0">
                      <a:blip r:embed="rId3"/>
                      <a:srcRect/>
                      <a:tile tx="0" ty="0" sx="100000" sy="100000" flip="none" algn="tl"/>
                    </a:blip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r>
                  <a:rPr kumimoji="1" lang="zh-CN" alt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kumimoji="1" lang="en-US" altLang="zh-CN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7" name="Rectangle 57" descr="水滴"/>
              <p:cNvSpPr>
                <a:spLocks noChangeArrowheads="1"/>
              </p:cNvSpPr>
              <p:nvPr/>
            </p:nvSpPr>
            <p:spPr bwMode="auto">
              <a:xfrm>
                <a:off x="2150605" y="5611813"/>
                <a:ext cx="612000" cy="504000"/>
              </a:xfrm>
              <a:prstGeom prst="rect">
                <a:avLst/>
              </a:prstGeom>
              <a:noFill/>
              <a:ln w="28575">
                <a:solidFill>
                  <a:srgbClr val="507D7D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blipFill dpi="0" rotWithShape="0">
                      <a:blip r:embed="rId3"/>
                      <a:srcRect/>
                      <a:tile tx="0" ty="0" sx="100000" sy="100000" flip="none" algn="tl"/>
                    </a:blip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r>
                  <a:rPr kumimoji="1" lang="zh-CN" alt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kumimoji="1" lang="en-US" altLang="zh-CN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endPara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8" name="Rectangle 57" descr="水滴"/>
              <p:cNvSpPr>
                <a:spLocks noChangeArrowheads="1"/>
              </p:cNvSpPr>
              <p:nvPr/>
            </p:nvSpPr>
            <p:spPr bwMode="auto">
              <a:xfrm>
                <a:off x="2763874" y="5611813"/>
                <a:ext cx="612000" cy="504000"/>
              </a:xfrm>
              <a:prstGeom prst="rect">
                <a:avLst/>
              </a:prstGeom>
              <a:noFill/>
              <a:ln w="28575">
                <a:solidFill>
                  <a:srgbClr val="507D7D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blipFill dpi="0" rotWithShape="0">
                      <a:blip r:embed="rId3"/>
                      <a:srcRect/>
                      <a:tile tx="0" ty="0" sx="100000" sy="100000" flip="none" algn="tl"/>
                    </a:blip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r>
                  <a:rPr kumimoji="1" lang="zh-CN" alt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kumimoji="1" lang="en-US" altLang="zh-CN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endPara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9" name="Rectangle 57" descr="水滴"/>
              <p:cNvSpPr>
                <a:spLocks noChangeArrowheads="1"/>
              </p:cNvSpPr>
              <p:nvPr/>
            </p:nvSpPr>
            <p:spPr bwMode="auto">
              <a:xfrm>
                <a:off x="3381613" y="5611813"/>
                <a:ext cx="612000" cy="504000"/>
              </a:xfrm>
              <a:prstGeom prst="rect">
                <a:avLst/>
              </a:prstGeom>
              <a:noFill/>
              <a:ln w="28575">
                <a:solidFill>
                  <a:srgbClr val="507D7D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blipFill dpi="0" rotWithShape="0">
                      <a:blip r:embed="rId3"/>
                      <a:srcRect/>
                      <a:tile tx="0" ty="0" sx="100000" sy="100000" flip="none" algn="tl"/>
                    </a:blip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r>
                  <a:rPr kumimoji="1" lang="zh-CN" alt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kumimoji="1" lang="en-US" altLang="zh-CN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F</a:t>
                </a:r>
                <a:endPara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0" name="Rectangle 57" descr="水滴"/>
              <p:cNvSpPr>
                <a:spLocks noChangeArrowheads="1"/>
              </p:cNvSpPr>
              <p:nvPr/>
            </p:nvSpPr>
            <p:spPr bwMode="auto">
              <a:xfrm>
                <a:off x="3997812" y="5611813"/>
                <a:ext cx="612000" cy="504000"/>
              </a:xfrm>
              <a:prstGeom prst="rect">
                <a:avLst/>
              </a:prstGeom>
              <a:noFill/>
              <a:ln w="28575">
                <a:solidFill>
                  <a:srgbClr val="507D7D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blipFill dpi="0" rotWithShape="0">
                      <a:blip r:embed="rId3"/>
                      <a:srcRect/>
                      <a:tile tx="0" ty="0" sx="100000" sy="100000" flip="none" algn="tl"/>
                    </a:blip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r>
                  <a:rPr kumimoji="1" lang="zh-CN" alt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kumimoji="1" lang="en-US" altLang="zh-CN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G</a:t>
                </a:r>
                <a:endPara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1" name="Rectangle 57" descr="水滴"/>
              <p:cNvSpPr>
                <a:spLocks noChangeArrowheads="1"/>
              </p:cNvSpPr>
              <p:nvPr/>
            </p:nvSpPr>
            <p:spPr bwMode="auto">
              <a:xfrm>
                <a:off x="4600311" y="5611813"/>
                <a:ext cx="612000" cy="504000"/>
              </a:xfrm>
              <a:prstGeom prst="rect">
                <a:avLst/>
              </a:prstGeom>
              <a:noFill/>
              <a:ln w="28575">
                <a:solidFill>
                  <a:srgbClr val="507D7D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blipFill dpi="0" rotWithShape="0">
                      <a:blip r:embed="rId3"/>
                      <a:srcRect/>
                      <a:tile tx="0" ty="0" sx="100000" sy="100000" flip="none" algn="tl"/>
                    </a:blip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r>
                  <a:rPr kumimoji="1" lang="zh-CN" alt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kumimoji="1" lang="en-US" altLang="zh-CN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H</a:t>
                </a:r>
                <a:endPara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" name="Rectangle 57" descr="水滴"/>
              <p:cNvSpPr>
                <a:spLocks noChangeArrowheads="1"/>
              </p:cNvSpPr>
              <p:nvPr/>
            </p:nvSpPr>
            <p:spPr bwMode="auto">
              <a:xfrm>
                <a:off x="5217831" y="5611813"/>
                <a:ext cx="612000" cy="504000"/>
              </a:xfrm>
              <a:prstGeom prst="rect">
                <a:avLst/>
              </a:prstGeom>
              <a:noFill/>
              <a:ln w="28575">
                <a:solidFill>
                  <a:srgbClr val="507D7D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blipFill dpi="0" rotWithShape="0">
                      <a:blip r:embed="rId3"/>
                      <a:srcRect/>
                      <a:tile tx="0" ty="0" sx="100000" sy="100000" flip="none" algn="tl"/>
                    </a:blip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r>
                  <a:rPr kumimoji="1" lang="zh-CN" alt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kumimoji="1" lang="en-US" altLang="zh-CN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" name="Rectangle 57" descr="水滴"/>
              <p:cNvSpPr>
                <a:spLocks noChangeArrowheads="1"/>
              </p:cNvSpPr>
              <p:nvPr/>
            </p:nvSpPr>
            <p:spPr bwMode="auto">
              <a:xfrm>
                <a:off x="5835570" y="5611813"/>
                <a:ext cx="612000" cy="504000"/>
              </a:xfrm>
              <a:prstGeom prst="rect">
                <a:avLst/>
              </a:prstGeom>
              <a:noFill/>
              <a:ln w="28575">
                <a:solidFill>
                  <a:srgbClr val="507D7D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blipFill dpi="0" rotWithShape="0">
                      <a:blip r:embed="rId3"/>
                      <a:srcRect/>
                      <a:tile tx="0" ty="0" sx="100000" sy="100000" flip="none" algn="tl"/>
                    </a:blip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r>
                  <a:rPr kumimoji="1" lang="zh-CN" alt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kumimoji="1" lang="en-US" altLang="zh-CN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J</a:t>
                </a:r>
                <a:endPara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5" name="矩形 4"/>
          <p:cNvSpPr/>
          <p:nvPr/>
        </p:nvSpPr>
        <p:spPr>
          <a:xfrm>
            <a:off x="1104449" y="2032442"/>
            <a:ext cx="4107631" cy="2677656"/>
          </a:xfrm>
          <a:prstGeom prst="rect">
            <a:avLst/>
          </a:prstGeom>
          <a:ln>
            <a:solidFill>
              <a:srgbClr val="285A32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 </a:t>
            </a:r>
            <a:r>
              <a:rPr lang="en-US" altLang="zh-CN" sz="2400" dirty="0" err="1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MaxSize</a:t>
            </a:r>
            <a:r>
              <a:rPr lang="en-US" altLang="zh-CN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100;</a:t>
            </a:r>
            <a:endParaRPr lang="zh-CN" altLang="zh-CN" sz="2400" dirty="0">
              <a:solidFill>
                <a:srgbClr val="B4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template &lt;</a:t>
            </a:r>
            <a:r>
              <a:rPr lang="en-US" altLang="zh-CN" sz="2400" dirty="0" err="1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typename</a:t>
            </a:r>
            <a:r>
              <a:rPr lang="en-US" altLang="zh-CN" sz="2400" dirty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400" dirty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altLang="zh-CN" sz="2400" dirty="0" err="1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SeqBiTree</a:t>
            </a:r>
            <a:endParaRPr lang="zh-CN" altLang="zh-CN" sz="24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24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dirty="0" err="1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data[</a:t>
            </a:r>
            <a:r>
              <a:rPr lang="en-US" altLang="zh-CN" sz="2400" dirty="0" err="1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MaxSize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  <a:endParaRPr lang="zh-CN" altLang="zh-CN" sz="24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dirty="0" err="1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biTreeNum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   </a:t>
            </a:r>
            <a:endParaRPr lang="zh-CN" altLang="zh-CN" sz="24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endParaRPr lang="zh-CN" altLang="zh-CN" sz="24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850350" y="952588"/>
            <a:ext cx="6466619" cy="523220"/>
            <a:chOff x="1826091" y="4148024"/>
            <a:chExt cx="6466619" cy="523220"/>
          </a:xfrm>
        </p:grpSpPr>
        <p:sp>
          <p:nvSpPr>
            <p:cNvPr id="63" name="Text Box 11"/>
            <p:cNvSpPr txBox="1">
              <a:spLocks noChangeArrowheads="1"/>
            </p:cNvSpPr>
            <p:nvPr/>
          </p:nvSpPr>
          <p:spPr bwMode="auto">
            <a:xfrm>
              <a:off x="2385059" y="4148024"/>
              <a:ext cx="590765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如何定义二叉树的顺序存储结构呢？</a:t>
              </a:r>
            </a:p>
          </p:txBody>
        </p:sp>
        <p:grpSp>
          <p:nvGrpSpPr>
            <p:cNvPr id="64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65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6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7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8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71800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4500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433007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二叉树的顺序存储结构</a:t>
            </a:r>
          </a:p>
        </p:txBody>
      </p:sp>
      <p:sp>
        <p:nvSpPr>
          <p:cNvPr id="24" name="Freeform 65"/>
          <p:cNvSpPr/>
          <p:nvPr/>
        </p:nvSpPr>
        <p:spPr bwMode="auto">
          <a:xfrm>
            <a:off x="8228120" y="2973364"/>
            <a:ext cx="216000" cy="432000"/>
          </a:xfrm>
          <a:custGeom>
            <a:avLst/>
            <a:gdLst>
              <a:gd name="T0" fmla="*/ 119 w 119"/>
              <a:gd name="T1" fmla="*/ 0 h 356"/>
              <a:gd name="T2" fmla="*/ 0 w 119"/>
              <a:gd name="T3" fmla="*/ 356 h 35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19" h="356">
                <a:moveTo>
                  <a:pt x="119" y="0"/>
                </a:moveTo>
                <a:lnTo>
                  <a:pt x="0" y="356"/>
                </a:lnTo>
              </a:path>
            </a:pathLst>
          </a:custGeom>
          <a:noFill/>
          <a:ln w="28575" cmpd="sng">
            <a:solidFill>
              <a:srgbClr val="285A3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18000"/>
          <a:lstStyle/>
          <a:p>
            <a:pPr>
              <a:lnSpc>
                <a:spcPts val="2500"/>
              </a:lnSpc>
            </a:pPr>
            <a:endParaRPr lang="zh-CN" altLang="en-US" sz="2400"/>
          </a:p>
        </p:txBody>
      </p:sp>
      <p:sp>
        <p:nvSpPr>
          <p:cNvPr id="27" name="Freeform 45"/>
          <p:cNvSpPr/>
          <p:nvPr/>
        </p:nvSpPr>
        <p:spPr bwMode="auto">
          <a:xfrm>
            <a:off x="10071720" y="3032696"/>
            <a:ext cx="268288" cy="490538"/>
          </a:xfrm>
          <a:custGeom>
            <a:avLst/>
            <a:gdLst>
              <a:gd name="T0" fmla="*/ 0 w 222"/>
              <a:gd name="T1" fmla="*/ 0 h 421"/>
              <a:gd name="T2" fmla="*/ 222 w 222"/>
              <a:gd name="T3" fmla="*/ 421 h 42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421">
                <a:moveTo>
                  <a:pt x="0" y="0"/>
                </a:moveTo>
                <a:lnTo>
                  <a:pt x="222" y="421"/>
                </a:lnTo>
              </a:path>
            </a:pathLst>
          </a:custGeom>
          <a:noFill/>
          <a:ln w="28575" cmpd="sng">
            <a:solidFill>
              <a:srgbClr val="285A3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18000"/>
          <a:lstStyle/>
          <a:p>
            <a:pPr>
              <a:lnSpc>
                <a:spcPts val="2500"/>
              </a:lnSpc>
            </a:pPr>
            <a:endParaRPr lang="zh-CN" altLang="en-US" sz="2400"/>
          </a:p>
        </p:txBody>
      </p:sp>
      <p:sp>
        <p:nvSpPr>
          <p:cNvPr id="28" name="Freeform 44"/>
          <p:cNvSpPr/>
          <p:nvPr/>
        </p:nvSpPr>
        <p:spPr bwMode="auto">
          <a:xfrm>
            <a:off x="10050289" y="2247918"/>
            <a:ext cx="311150" cy="490538"/>
          </a:xfrm>
          <a:custGeom>
            <a:avLst/>
            <a:gdLst>
              <a:gd name="T0" fmla="*/ 259 w 259"/>
              <a:gd name="T1" fmla="*/ 0 h 421"/>
              <a:gd name="T2" fmla="*/ 0 w 259"/>
              <a:gd name="T3" fmla="*/ 421 h 42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59" h="421">
                <a:moveTo>
                  <a:pt x="259" y="0"/>
                </a:moveTo>
                <a:lnTo>
                  <a:pt x="0" y="421"/>
                </a:lnTo>
              </a:path>
            </a:pathLst>
          </a:custGeom>
          <a:noFill/>
          <a:ln w="28575" cmpd="sng">
            <a:solidFill>
              <a:srgbClr val="285A3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18000"/>
          <a:lstStyle/>
          <a:p>
            <a:pPr>
              <a:lnSpc>
                <a:spcPts val="2500"/>
              </a:lnSpc>
            </a:pPr>
            <a:endParaRPr lang="zh-CN" altLang="en-US" sz="2400"/>
          </a:p>
        </p:txBody>
      </p:sp>
      <p:sp>
        <p:nvSpPr>
          <p:cNvPr id="33" name="Line 42"/>
          <p:cNvSpPr>
            <a:spLocks noChangeShapeType="1"/>
          </p:cNvSpPr>
          <p:nvPr/>
        </p:nvSpPr>
        <p:spPr bwMode="auto">
          <a:xfrm flipH="1">
            <a:off x="8130307" y="1470003"/>
            <a:ext cx="995363" cy="493713"/>
          </a:xfrm>
          <a:prstGeom prst="line">
            <a:avLst/>
          </a:prstGeom>
          <a:noFill/>
          <a:ln w="28575">
            <a:solidFill>
              <a:srgbClr val="285A3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18000"/>
          <a:lstStyle/>
          <a:p>
            <a:pPr>
              <a:lnSpc>
                <a:spcPts val="2500"/>
              </a:lnSpc>
            </a:pPr>
            <a:endParaRPr lang="zh-CN" altLang="en-US" sz="2400"/>
          </a:p>
        </p:txBody>
      </p:sp>
      <p:sp>
        <p:nvSpPr>
          <p:cNvPr id="34" name="Freeform 43"/>
          <p:cNvSpPr/>
          <p:nvPr/>
        </p:nvSpPr>
        <p:spPr bwMode="auto">
          <a:xfrm>
            <a:off x="9460632" y="1423965"/>
            <a:ext cx="928688" cy="568325"/>
          </a:xfrm>
          <a:custGeom>
            <a:avLst/>
            <a:gdLst>
              <a:gd name="T0" fmla="*/ 0 w 767"/>
              <a:gd name="T1" fmla="*/ 0 h 488"/>
              <a:gd name="T2" fmla="*/ 767 w 767"/>
              <a:gd name="T3" fmla="*/ 488 h 48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67" h="488">
                <a:moveTo>
                  <a:pt x="0" y="0"/>
                </a:moveTo>
                <a:lnTo>
                  <a:pt x="767" y="488"/>
                </a:lnTo>
              </a:path>
            </a:pathLst>
          </a:custGeom>
          <a:noFill/>
          <a:ln w="28575" cmpd="sng">
            <a:solidFill>
              <a:srgbClr val="285A3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18000"/>
          <a:lstStyle/>
          <a:p>
            <a:pPr>
              <a:lnSpc>
                <a:spcPts val="2500"/>
              </a:lnSpc>
            </a:pPr>
            <a:endParaRPr lang="zh-CN" altLang="en-US" sz="2400"/>
          </a:p>
        </p:txBody>
      </p:sp>
      <p:sp>
        <p:nvSpPr>
          <p:cNvPr id="36" name="Freeform 45"/>
          <p:cNvSpPr/>
          <p:nvPr/>
        </p:nvSpPr>
        <p:spPr bwMode="auto">
          <a:xfrm>
            <a:off x="8170312" y="2214858"/>
            <a:ext cx="268288" cy="490538"/>
          </a:xfrm>
          <a:custGeom>
            <a:avLst/>
            <a:gdLst>
              <a:gd name="T0" fmla="*/ 0 w 222"/>
              <a:gd name="T1" fmla="*/ 0 h 421"/>
              <a:gd name="T2" fmla="*/ 222 w 222"/>
              <a:gd name="T3" fmla="*/ 421 h 42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421">
                <a:moveTo>
                  <a:pt x="0" y="0"/>
                </a:moveTo>
                <a:lnTo>
                  <a:pt x="222" y="421"/>
                </a:lnTo>
              </a:path>
            </a:pathLst>
          </a:custGeom>
          <a:noFill/>
          <a:ln w="28575" cmpd="sng">
            <a:solidFill>
              <a:srgbClr val="285A3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18000"/>
          <a:lstStyle/>
          <a:p>
            <a:pPr>
              <a:lnSpc>
                <a:spcPts val="2500"/>
              </a:lnSpc>
            </a:pPr>
            <a:endParaRPr lang="zh-CN" altLang="en-US" sz="2400"/>
          </a:p>
        </p:txBody>
      </p:sp>
      <p:sp>
        <p:nvSpPr>
          <p:cNvPr id="41" name="Oval 37"/>
          <p:cNvSpPr>
            <a:spLocks noChangeArrowheads="1"/>
          </p:cNvSpPr>
          <p:nvPr/>
        </p:nvSpPr>
        <p:spPr bwMode="auto">
          <a:xfrm>
            <a:off x="9095190" y="1124879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Oval 37"/>
          <p:cNvSpPr>
            <a:spLocks noChangeArrowheads="1"/>
          </p:cNvSpPr>
          <p:nvPr/>
        </p:nvSpPr>
        <p:spPr bwMode="auto">
          <a:xfrm>
            <a:off x="7823922" y="1877513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Oval 37"/>
          <p:cNvSpPr>
            <a:spLocks noChangeArrowheads="1"/>
          </p:cNvSpPr>
          <p:nvPr/>
        </p:nvSpPr>
        <p:spPr bwMode="auto">
          <a:xfrm>
            <a:off x="10279782" y="1877513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Oval 37"/>
          <p:cNvSpPr>
            <a:spLocks noChangeArrowheads="1"/>
          </p:cNvSpPr>
          <p:nvPr/>
        </p:nvSpPr>
        <p:spPr bwMode="auto">
          <a:xfrm>
            <a:off x="8301241" y="2606869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Oval 37"/>
          <p:cNvSpPr>
            <a:spLocks noChangeArrowheads="1"/>
          </p:cNvSpPr>
          <p:nvPr/>
        </p:nvSpPr>
        <p:spPr bwMode="auto">
          <a:xfrm>
            <a:off x="9796388" y="2606869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Oval 37"/>
          <p:cNvSpPr>
            <a:spLocks noChangeArrowheads="1"/>
          </p:cNvSpPr>
          <p:nvPr/>
        </p:nvSpPr>
        <p:spPr bwMode="auto">
          <a:xfrm>
            <a:off x="7972409" y="3368494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Oval 37"/>
          <p:cNvSpPr>
            <a:spLocks noChangeArrowheads="1"/>
          </p:cNvSpPr>
          <p:nvPr/>
        </p:nvSpPr>
        <p:spPr bwMode="auto">
          <a:xfrm>
            <a:off x="10185325" y="3361167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8336623" y="998238"/>
            <a:ext cx="2671212" cy="2524996"/>
            <a:chOff x="7406983" y="891558"/>
            <a:chExt cx="2671212" cy="2524996"/>
          </a:xfrm>
        </p:grpSpPr>
        <p:sp>
          <p:nvSpPr>
            <p:cNvPr id="51" name="Text Box 107"/>
            <p:cNvSpPr txBox="1">
              <a:spLocks noChangeArrowheads="1"/>
            </p:cNvSpPr>
            <p:nvPr/>
          </p:nvSpPr>
          <p:spPr bwMode="auto">
            <a:xfrm>
              <a:off x="8603640" y="891558"/>
              <a:ext cx="244475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just" eaLnBrk="0" hangingPunct="0"/>
              <a:r>
                <a:rPr lang="zh-CN" altLang="en-US" sz="24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2" name="Text Box 108"/>
            <p:cNvSpPr txBox="1">
              <a:spLocks noChangeArrowheads="1"/>
            </p:cNvSpPr>
            <p:nvPr/>
          </p:nvSpPr>
          <p:spPr bwMode="auto">
            <a:xfrm>
              <a:off x="7867040" y="2339358"/>
              <a:ext cx="247650" cy="361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just" eaLnBrk="0" hangingPunct="0"/>
              <a:r>
                <a:rPr lang="zh-CN" altLang="en-US" sz="2400" b="1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3" name="Text Box 109"/>
            <p:cNvSpPr txBox="1">
              <a:spLocks noChangeArrowheads="1"/>
            </p:cNvSpPr>
            <p:nvPr/>
          </p:nvSpPr>
          <p:spPr bwMode="auto">
            <a:xfrm>
              <a:off x="7406983" y="1617046"/>
              <a:ext cx="244475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just" eaLnBrk="0" hangingPunct="0"/>
              <a:r>
                <a:rPr lang="zh-CN" altLang="en-US" sz="24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4" name="Text Box 110"/>
            <p:cNvSpPr txBox="1">
              <a:spLocks noChangeArrowheads="1"/>
            </p:cNvSpPr>
            <p:nvPr/>
          </p:nvSpPr>
          <p:spPr bwMode="auto">
            <a:xfrm>
              <a:off x="9830778" y="1617046"/>
              <a:ext cx="246063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just" eaLnBrk="0" hangingPunct="0"/>
              <a:r>
                <a:rPr lang="zh-CN" altLang="en-US" sz="24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6" name="Text Box 112"/>
            <p:cNvSpPr txBox="1">
              <a:spLocks noChangeArrowheads="1"/>
            </p:cNvSpPr>
            <p:nvPr/>
          </p:nvSpPr>
          <p:spPr bwMode="auto">
            <a:xfrm>
              <a:off x="9341828" y="2339358"/>
              <a:ext cx="244475" cy="361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just" eaLnBrk="0" hangingPunct="0"/>
              <a:r>
                <a:rPr lang="zh-CN" altLang="en-US" sz="24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57" name="Text Box 113"/>
            <p:cNvSpPr txBox="1">
              <a:spLocks noChangeArrowheads="1"/>
            </p:cNvSpPr>
            <p:nvPr/>
          </p:nvSpPr>
          <p:spPr bwMode="auto">
            <a:xfrm>
              <a:off x="9741083" y="3093656"/>
              <a:ext cx="337112" cy="322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just" eaLnBrk="0" hangingPunct="0"/>
              <a:r>
                <a:rPr lang="en-US" altLang="zh-CN" sz="24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13</a:t>
              </a:r>
              <a:endParaRPr lang="zh-CN" altLang="en-US" sz="2400" b="1" dirty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" name="Text Box 116"/>
            <p:cNvSpPr txBox="1">
              <a:spLocks noChangeArrowheads="1"/>
            </p:cNvSpPr>
            <p:nvPr/>
          </p:nvSpPr>
          <p:spPr bwMode="auto">
            <a:xfrm>
              <a:off x="7506678" y="2950228"/>
              <a:ext cx="384175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just" eaLnBrk="0" hangingPunct="0"/>
              <a:r>
                <a:rPr lang="zh-CN" altLang="en-US" sz="24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620052" y="3998675"/>
            <a:ext cx="8008068" cy="1946938"/>
            <a:chOff x="3620052" y="3998675"/>
            <a:chExt cx="8008068" cy="1946938"/>
          </a:xfrm>
        </p:grpSpPr>
        <p:sp>
          <p:nvSpPr>
            <p:cNvPr id="84" name="AutoShape 135"/>
            <p:cNvSpPr>
              <a:spLocks noChangeArrowheads="1"/>
            </p:cNvSpPr>
            <p:nvPr/>
          </p:nvSpPr>
          <p:spPr bwMode="auto">
            <a:xfrm>
              <a:off x="8609256" y="3998675"/>
              <a:ext cx="1424939" cy="851654"/>
            </a:xfrm>
            <a:prstGeom prst="downArrow">
              <a:avLst>
                <a:gd name="adj1" fmla="val 68716"/>
                <a:gd name="adj2" fmla="val 25000"/>
              </a:avLst>
            </a:prstGeom>
            <a:noFill/>
            <a:ln w="28575">
              <a:solidFill>
                <a:srgbClr val="507D7D"/>
              </a:solidFill>
              <a:miter lim="800000"/>
            </a:ln>
            <a:effectLst/>
          </p:spPr>
          <p:txBody>
            <a:bodyPr wrap="square" anchor="ctr">
              <a:spAutoFit/>
            </a:bodyPr>
            <a:lstStyle/>
            <a:p>
              <a:pPr algn="l"/>
              <a:r>
                <a:rPr lang="zh-CN" altLang="en-US" sz="20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以编号</a:t>
              </a:r>
            </a:p>
            <a:p>
              <a:pPr algn="l"/>
              <a:r>
                <a:rPr lang="zh-CN" altLang="en-US" sz="20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为下标</a:t>
              </a:r>
            </a:p>
          </p:txBody>
        </p:sp>
        <p:sp>
          <p:nvSpPr>
            <p:cNvPr id="82" name="Rectangle 57" descr="水滴"/>
            <p:cNvSpPr>
              <a:spLocks noChangeArrowheads="1"/>
            </p:cNvSpPr>
            <p:nvPr/>
          </p:nvSpPr>
          <p:spPr bwMode="auto">
            <a:xfrm>
              <a:off x="3620052" y="5441613"/>
              <a:ext cx="612000" cy="504000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3"/>
                    <a:srcRect/>
                    <a:tile tx="0" ty="0" sx="100000" sy="100000" flip="none" algn="tl"/>
                  </a:blip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" name="Rectangle 87"/>
            <p:cNvSpPr>
              <a:spLocks noChangeArrowheads="1"/>
            </p:cNvSpPr>
            <p:nvPr/>
          </p:nvSpPr>
          <p:spPr bwMode="auto">
            <a:xfrm>
              <a:off x="3783722" y="4982825"/>
              <a:ext cx="7844398" cy="4587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just"/>
              <a:r>
                <a: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1      2      3      4      5      6      7      8      9     10    </a:t>
              </a:r>
              <a:r>
                <a:rPr kumimoji="1"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11    12    13 </a:t>
              </a:r>
              <a:endPara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" name="Rectangle 57" descr="水滴"/>
            <p:cNvSpPr>
              <a:spLocks noChangeArrowheads="1"/>
            </p:cNvSpPr>
            <p:nvPr/>
          </p:nvSpPr>
          <p:spPr bwMode="auto">
            <a:xfrm>
              <a:off x="4237791" y="5441613"/>
              <a:ext cx="612000" cy="504000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3"/>
                    <a:srcRect/>
                    <a:tile tx="0" ty="0" sx="100000" sy="100000" flip="none" algn="tl"/>
                  </a:blip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6" name="Rectangle 57" descr="水滴"/>
            <p:cNvSpPr>
              <a:spLocks noChangeArrowheads="1"/>
            </p:cNvSpPr>
            <p:nvPr/>
          </p:nvSpPr>
          <p:spPr bwMode="auto">
            <a:xfrm>
              <a:off x="4838750" y="5441613"/>
              <a:ext cx="612000" cy="504000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3"/>
                    <a:srcRect/>
                    <a:tile tx="0" ty="0" sx="100000" sy="100000" flip="none" algn="tl"/>
                  </a:blip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7" name="Rectangle 57" descr="水滴"/>
            <p:cNvSpPr>
              <a:spLocks noChangeArrowheads="1"/>
            </p:cNvSpPr>
            <p:nvPr/>
          </p:nvSpPr>
          <p:spPr bwMode="auto">
            <a:xfrm>
              <a:off x="5456489" y="5441613"/>
              <a:ext cx="612000" cy="504000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3"/>
                    <a:srcRect/>
                    <a:tile tx="0" ty="0" sx="100000" sy="100000" flip="none" algn="tl"/>
                  </a:blip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∧</a:t>
              </a:r>
            </a:p>
          </p:txBody>
        </p:sp>
        <p:sp>
          <p:nvSpPr>
            <p:cNvPr id="88" name="Rectangle 57" descr="水滴"/>
            <p:cNvSpPr>
              <a:spLocks noChangeArrowheads="1"/>
            </p:cNvSpPr>
            <p:nvPr/>
          </p:nvSpPr>
          <p:spPr bwMode="auto">
            <a:xfrm>
              <a:off x="6069758" y="5441613"/>
              <a:ext cx="612000" cy="504000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3"/>
                    <a:srcRect/>
                    <a:tile tx="0" ty="0" sx="100000" sy="100000" flip="none" algn="tl"/>
                  </a:blip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9" name="Rectangle 57" descr="水滴"/>
            <p:cNvSpPr>
              <a:spLocks noChangeArrowheads="1"/>
            </p:cNvSpPr>
            <p:nvPr/>
          </p:nvSpPr>
          <p:spPr bwMode="auto">
            <a:xfrm>
              <a:off x="6687497" y="5441613"/>
              <a:ext cx="612000" cy="504000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3"/>
                    <a:srcRect/>
                    <a:tile tx="0" ty="0" sx="100000" sy="100000" flip="none" algn="tl"/>
                  </a:blip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0" name="Rectangle 57" descr="水滴"/>
            <p:cNvSpPr>
              <a:spLocks noChangeArrowheads="1"/>
            </p:cNvSpPr>
            <p:nvPr/>
          </p:nvSpPr>
          <p:spPr bwMode="auto">
            <a:xfrm>
              <a:off x="7303696" y="5441613"/>
              <a:ext cx="612000" cy="504000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3"/>
                    <a:srcRect/>
                    <a:tile tx="0" ty="0" sx="100000" sy="100000" flip="none" algn="tl"/>
                  </a:blip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kumimoji="1"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" name="Rectangle 57" descr="水滴"/>
            <p:cNvSpPr>
              <a:spLocks noChangeArrowheads="1"/>
            </p:cNvSpPr>
            <p:nvPr/>
          </p:nvSpPr>
          <p:spPr bwMode="auto">
            <a:xfrm>
              <a:off x="7906195" y="5441613"/>
              <a:ext cx="612000" cy="504000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3"/>
                    <a:srcRect/>
                    <a:tile tx="0" ty="0" sx="100000" sy="100000" flip="none" algn="tl"/>
                  </a:blip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" name="Rectangle 57" descr="水滴"/>
            <p:cNvSpPr>
              <a:spLocks noChangeArrowheads="1"/>
            </p:cNvSpPr>
            <p:nvPr/>
          </p:nvSpPr>
          <p:spPr bwMode="auto">
            <a:xfrm>
              <a:off x="8523715" y="5441613"/>
              <a:ext cx="612000" cy="504000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3"/>
                    <a:srcRect/>
                    <a:tile tx="0" ty="0" sx="100000" sy="100000" flip="none" algn="tl"/>
                  </a:blip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3" name="Rectangle 57" descr="水滴"/>
            <p:cNvSpPr>
              <a:spLocks noChangeArrowheads="1"/>
            </p:cNvSpPr>
            <p:nvPr/>
          </p:nvSpPr>
          <p:spPr bwMode="auto">
            <a:xfrm>
              <a:off x="9126214" y="5441613"/>
              <a:ext cx="612000" cy="504000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3"/>
                    <a:srcRect/>
                    <a:tile tx="0" ty="0" sx="100000" sy="100000" flip="none" algn="tl"/>
                  </a:blip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" name="Rectangle 57" descr="水滴"/>
            <p:cNvSpPr>
              <a:spLocks noChangeArrowheads="1"/>
            </p:cNvSpPr>
            <p:nvPr/>
          </p:nvSpPr>
          <p:spPr bwMode="auto">
            <a:xfrm>
              <a:off x="9738214" y="5441613"/>
              <a:ext cx="612000" cy="504000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3"/>
                    <a:srcRect/>
                    <a:tile tx="0" ty="0" sx="100000" sy="100000" flip="none" algn="tl"/>
                  </a:blip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7" name="Rectangle 57" descr="水滴"/>
            <p:cNvSpPr>
              <a:spLocks noChangeArrowheads="1"/>
            </p:cNvSpPr>
            <p:nvPr/>
          </p:nvSpPr>
          <p:spPr bwMode="auto">
            <a:xfrm>
              <a:off x="10350214" y="5441613"/>
              <a:ext cx="612000" cy="504000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3"/>
                    <a:srcRect/>
                    <a:tile tx="0" ty="0" sx="100000" sy="100000" flip="none" algn="tl"/>
                  </a:blip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8" name="Rectangle 57" descr="水滴"/>
            <p:cNvSpPr>
              <a:spLocks noChangeArrowheads="1"/>
            </p:cNvSpPr>
            <p:nvPr/>
          </p:nvSpPr>
          <p:spPr bwMode="auto">
            <a:xfrm>
              <a:off x="10962214" y="5441613"/>
              <a:ext cx="612000" cy="504000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3"/>
                    <a:srcRect/>
                    <a:tile tx="0" ty="0" sx="100000" sy="100000" flip="none" algn="tl"/>
                  </a:blip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1263008" y="1823697"/>
            <a:ext cx="5535292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将二叉树按完全二叉树编号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en-US" altLang="zh-CN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根结点的编号为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1</a:t>
            </a:r>
          </a:p>
          <a:p>
            <a:pPr>
              <a:lnSpc>
                <a:spcPts val="350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若某结点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 err="1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i="1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有左孩子，则其左孩子的编号为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2</a:t>
            </a:r>
            <a:r>
              <a:rPr lang="en-US" altLang="zh-CN" sz="2400" i="1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</a:p>
          <a:p>
            <a:pPr>
              <a:lnSpc>
                <a:spcPts val="350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若某结点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 err="1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i="1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有右孩子，则其右孩子的编号为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2</a:t>
            </a:r>
            <a:r>
              <a:rPr lang="en-US" altLang="zh-CN" sz="2400" i="1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+1</a:t>
            </a:r>
            <a:endParaRPr lang="zh-CN" altLang="zh-CN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850350" y="952588"/>
            <a:ext cx="6855571" cy="523220"/>
            <a:chOff x="1826091" y="4148024"/>
            <a:chExt cx="6855571" cy="523220"/>
          </a:xfrm>
        </p:grpSpPr>
        <p:sp>
          <p:nvSpPr>
            <p:cNvPr id="48" name="Text Box 11"/>
            <p:cNvSpPr txBox="1">
              <a:spLocks noChangeArrowheads="1"/>
            </p:cNvSpPr>
            <p:nvPr/>
          </p:nvSpPr>
          <p:spPr bwMode="auto">
            <a:xfrm>
              <a:off x="2385059" y="4148024"/>
              <a:ext cx="629660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对于普通的二叉树，如何顺序存储呢？</a:t>
              </a:r>
            </a:p>
          </p:txBody>
        </p:sp>
        <p:grpSp>
          <p:nvGrpSpPr>
            <p:cNvPr id="55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58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1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2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82604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4500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433007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二叉树的顺序存储结构</a:t>
            </a:r>
          </a:p>
        </p:txBody>
      </p:sp>
      <p:sp>
        <p:nvSpPr>
          <p:cNvPr id="79" name="Text Box 27" descr="水滴"/>
          <p:cNvSpPr txBox="1">
            <a:spLocks noChangeArrowheads="1"/>
          </p:cNvSpPr>
          <p:nvPr/>
        </p:nvSpPr>
        <p:spPr bwMode="auto">
          <a:xfrm>
            <a:off x="1512822" y="4954949"/>
            <a:ext cx="7740967" cy="738664"/>
          </a:xfrm>
          <a:prstGeom prst="rect">
            <a:avLst/>
          </a:prstGeom>
          <a:noFill/>
          <a:ln w="28575">
            <a:solidFill>
              <a:srgbClr val="5C307D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 anchorCtr="0">
            <a:spAutoFit/>
          </a:bodyPr>
          <a:lstStyle/>
          <a:p>
            <a:pPr algn="ctr" eaLnBrk="0" hangingPunc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二叉树的顺序存储结构一般仅存储</a:t>
            </a:r>
            <a:r>
              <a:rPr lang="zh-CN" altLang="en-US" sz="2800" dirty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完全二叉树</a:t>
            </a:r>
          </a:p>
        </p:txBody>
      </p:sp>
      <p:grpSp>
        <p:nvGrpSpPr>
          <p:cNvPr id="83" name="组合 82"/>
          <p:cNvGrpSpPr/>
          <p:nvPr/>
        </p:nvGrpSpPr>
        <p:grpSpPr>
          <a:xfrm>
            <a:off x="850350" y="952588"/>
            <a:ext cx="7197526" cy="523220"/>
            <a:chOff x="1826091" y="4148024"/>
            <a:chExt cx="7197526" cy="523220"/>
          </a:xfrm>
        </p:grpSpPr>
        <p:sp>
          <p:nvSpPr>
            <p:cNvPr id="94" name="Text Box 11"/>
            <p:cNvSpPr txBox="1">
              <a:spLocks noChangeArrowheads="1"/>
            </p:cNvSpPr>
            <p:nvPr/>
          </p:nvSpPr>
          <p:spPr bwMode="auto">
            <a:xfrm>
              <a:off x="2385059" y="4148024"/>
              <a:ext cx="6638558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顺序存储一棵右斜树会发生什么情况？</a:t>
              </a:r>
            </a:p>
          </p:txBody>
        </p:sp>
        <p:grpSp>
          <p:nvGrpSpPr>
            <p:cNvPr id="95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96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05" name="Freeform 45"/>
          <p:cNvSpPr/>
          <p:nvPr/>
        </p:nvSpPr>
        <p:spPr bwMode="auto">
          <a:xfrm>
            <a:off x="10063633" y="2999943"/>
            <a:ext cx="268288" cy="490538"/>
          </a:xfrm>
          <a:custGeom>
            <a:avLst/>
            <a:gdLst>
              <a:gd name="T0" fmla="*/ 0 w 222"/>
              <a:gd name="T1" fmla="*/ 0 h 421"/>
              <a:gd name="T2" fmla="*/ 222 w 222"/>
              <a:gd name="T3" fmla="*/ 421 h 42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421">
                <a:moveTo>
                  <a:pt x="0" y="0"/>
                </a:moveTo>
                <a:lnTo>
                  <a:pt x="222" y="421"/>
                </a:lnTo>
              </a:path>
            </a:pathLst>
          </a:custGeom>
          <a:noFill/>
          <a:ln w="28575" cmpd="sng">
            <a:solidFill>
              <a:srgbClr val="285A3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18000"/>
          <a:lstStyle/>
          <a:p>
            <a:pPr>
              <a:lnSpc>
                <a:spcPts val="2500"/>
              </a:lnSpc>
            </a:pPr>
            <a:endParaRPr lang="zh-CN" altLang="en-US" sz="2400"/>
          </a:p>
        </p:txBody>
      </p:sp>
      <p:sp>
        <p:nvSpPr>
          <p:cNvPr id="108" name="Freeform 43"/>
          <p:cNvSpPr/>
          <p:nvPr/>
        </p:nvSpPr>
        <p:spPr bwMode="auto">
          <a:xfrm>
            <a:off x="8918033" y="2145510"/>
            <a:ext cx="928688" cy="568325"/>
          </a:xfrm>
          <a:custGeom>
            <a:avLst/>
            <a:gdLst>
              <a:gd name="T0" fmla="*/ 0 w 767"/>
              <a:gd name="T1" fmla="*/ 0 h 488"/>
              <a:gd name="T2" fmla="*/ 767 w 767"/>
              <a:gd name="T3" fmla="*/ 488 h 48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67" h="488">
                <a:moveTo>
                  <a:pt x="0" y="0"/>
                </a:moveTo>
                <a:lnTo>
                  <a:pt x="767" y="488"/>
                </a:lnTo>
              </a:path>
            </a:pathLst>
          </a:custGeom>
          <a:noFill/>
          <a:ln w="28575" cmpd="sng">
            <a:solidFill>
              <a:srgbClr val="285A3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18000"/>
          <a:lstStyle/>
          <a:p>
            <a:pPr>
              <a:lnSpc>
                <a:spcPts val="2500"/>
              </a:lnSpc>
            </a:pPr>
            <a:endParaRPr lang="zh-CN" altLang="en-US" sz="2400"/>
          </a:p>
        </p:txBody>
      </p:sp>
      <p:sp>
        <p:nvSpPr>
          <p:cNvPr id="113" name="Oval 37"/>
          <p:cNvSpPr>
            <a:spLocks noChangeArrowheads="1"/>
          </p:cNvSpPr>
          <p:nvPr/>
        </p:nvSpPr>
        <p:spPr bwMode="auto">
          <a:xfrm>
            <a:off x="8552591" y="1846424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Oval 37"/>
          <p:cNvSpPr>
            <a:spLocks noChangeArrowheads="1"/>
          </p:cNvSpPr>
          <p:nvPr/>
        </p:nvSpPr>
        <p:spPr bwMode="auto">
          <a:xfrm>
            <a:off x="9737183" y="2599058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6488072" y="2191548"/>
            <a:ext cx="3910465" cy="2330491"/>
            <a:chOff x="6488072" y="2191548"/>
            <a:chExt cx="3910465" cy="2330491"/>
          </a:xfrm>
          <a:noFill/>
        </p:grpSpPr>
        <p:grpSp>
          <p:nvGrpSpPr>
            <p:cNvPr id="100" name="组合 99"/>
            <p:cNvGrpSpPr/>
            <p:nvPr/>
          </p:nvGrpSpPr>
          <p:grpSpPr>
            <a:xfrm>
              <a:off x="8918033" y="3727393"/>
              <a:ext cx="458189" cy="794646"/>
              <a:chOff x="9146210" y="4160573"/>
              <a:chExt cx="458189" cy="794646"/>
            </a:xfrm>
            <a:grpFill/>
          </p:grpSpPr>
          <p:sp>
            <p:nvSpPr>
              <p:cNvPr id="101" name="Freeform 65"/>
              <p:cNvSpPr/>
              <p:nvPr/>
            </p:nvSpPr>
            <p:spPr bwMode="auto">
              <a:xfrm>
                <a:off x="9424399" y="4160573"/>
                <a:ext cx="180000" cy="396000"/>
              </a:xfrm>
              <a:custGeom>
                <a:avLst/>
                <a:gdLst>
                  <a:gd name="T0" fmla="*/ 119 w 119"/>
                  <a:gd name="T1" fmla="*/ 0 h 356"/>
                  <a:gd name="T2" fmla="*/ 0 w 119"/>
                  <a:gd name="T3" fmla="*/ 356 h 3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9" h="356">
                    <a:moveTo>
                      <a:pt x="119" y="0"/>
                    </a:moveTo>
                    <a:lnTo>
                      <a:pt x="0" y="356"/>
                    </a:lnTo>
                  </a:path>
                </a:pathLst>
              </a:custGeom>
              <a:grpFill/>
              <a:ln w="28575" cmpd="sng">
                <a:solidFill>
                  <a:srgbClr val="285A32"/>
                </a:solidFill>
                <a:prstDash val="dash"/>
                <a:round/>
              </a:ln>
            </p:spPr>
            <p:txBody>
              <a:bodyPr tIns="18000"/>
              <a:lstStyle/>
              <a:p>
                <a:pPr>
                  <a:lnSpc>
                    <a:spcPts val="2500"/>
                  </a:lnSpc>
                </a:pPr>
                <a:endParaRPr lang="zh-CN" altLang="en-US" sz="2400"/>
              </a:p>
            </p:txBody>
          </p:sp>
          <p:sp>
            <p:nvSpPr>
              <p:cNvPr id="102" name="Oval 37"/>
              <p:cNvSpPr>
                <a:spLocks noChangeArrowheads="1"/>
              </p:cNvSpPr>
              <p:nvPr/>
            </p:nvSpPr>
            <p:spPr bwMode="auto">
              <a:xfrm>
                <a:off x="9146210" y="4523219"/>
                <a:ext cx="432000" cy="432000"/>
              </a:xfrm>
              <a:prstGeom prst="ellipse">
                <a:avLst/>
              </a:prstGeom>
              <a:grpFill/>
              <a:ln w="28575">
                <a:solidFill>
                  <a:srgbClr val="507D7D"/>
                </a:solidFill>
                <a:prstDash val="dash"/>
                <a:round/>
              </a:ln>
              <a:effectLst/>
            </p:spPr>
            <p:txBody>
              <a:bodyPr lIns="0" tIns="0" rIns="0" bIns="0"/>
              <a:lstStyle/>
              <a:p>
                <a:pPr algn="ctr">
                  <a:lnSpc>
                    <a:spcPts val="2500"/>
                  </a:lnSpc>
                </a:pPr>
                <a:endParaRPr lang="zh-CN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03" name="Freeform 65"/>
            <p:cNvSpPr/>
            <p:nvPr/>
          </p:nvSpPr>
          <p:spPr bwMode="auto">
            <a:xfrm>
              <a:off x="7716001" y="3725389"/>
              <a:ext cx="180000" cy="396000"/>
            </a:xfrm>
            <a:custGeom>
              <a:avLst/>
              <a:gdLst>
                <a:gd name="T0" fmla="*/ 119 w 119"/>
                <a:gd name="T1" fmla="*/ 0 h 356"/>
                <a:gd name="T2" fmla="*/ 0 w 119"/>
                <a:gd name="T3" fmla="*/ 356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9" h="356">
                  <a:moveTo>
                    <a:pt x="119" y="0"/>
                  </a:moveTo>
                  <a:lnTo>
                    <a:pt x="0" y="356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prstDash val="dash"/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04" name="Line 66"/>
            <p:cNvSpPr>
              <a:spLocks noChangeShapeType="1"/>
            </p:cNvSpPr>
            <p:nvPr/>
          </p:nvSpPr>
          <p:spPr bwMode="auto">
            <a:xfrm>
              <a:off x="8056679" y="3743170"/>
              <a:ext cx="111125" cy="412750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prstDash val="dash"/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06" name="Freeform 44"/>
            <p:cNvSpPr/>
            <p:nvPr/>
          </p:nvSpPr>
          <p:spPr bwMode="auto">
            <a:xfrm>
              <a:off x="9607702" y="2969463"/>
              <a:ext cx="211138" cy="358951"/>
            </a:xfrm>
            <a:custGeom>
              <a:avLst/>
              <a:gdLst>
                <a:gd name="T0" fmla="*/ 259 w 259"/>
                <a:gd name="T1" fmla="*/ 0 h 421"/>
                <a:gd name="T2" fmla="*/ 0 w 259"/>
                <a:gd name="T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9" h="421">
                  <a:moveTo>
                    <a:pt x="259" y="0"/>
                  </a:moveTo>
                  <a:lnTo>
                    <a:pt x="0" y="421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prstDash val="dash"/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07" name="Line 42"/>
            <p:cNvSpPr>
              <a:spLocks noChangeShapeType="1"/>
            </p:cNvSpPr>
            <p:nvPr/>
          </p:nvSpPr>
          <p:spPr bwMode="auto">
            <a:xfrm flipH="1">
              <a:off x="7587708" y="2191548"/>
              <a:ext cx="995363" cy="493713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prstDash val="dash"/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09" name="Freeform 44"/>
            <p:cNvSpPr/>
            <p:nvPr/>
          </p:nvSpPr>
          <p:spPr bwMode="auto">
            <a:xfrm>
              <a:off x="7041290" y="2936403"/>
              <a:ext cx="311150" cy="392011"/>
            </a:xfrm>
            <a:custGeom>
              <a:avLst/>
              <a:gdLst>
                <a:gd name="T0" fmla="*/ 259 w 259"/>
                <a:gd name="T1" fmla="*/ 0 h 421"/>
                <a:gd name="T2" fmla="*/ 0 w 259"/>
                <a:gd name="T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9" h="421">
                  <a:moveTo>
                    <a:pt x="259" y="0"/>
                  </a:moveTo>
                  <a:lnTo>
                    <a:pt x="0" y="421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prstDash val="dash"/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10" name="Freeform 45"/>
            <p:cNvSpPr/>
            <p:nvPr/>
          </p:nvSpPr>
          <p:spPr bwMode="auto">
            <a:xfrm>
              <a:off x="7627713" y="2936403"/>
              <a:ext cx="268288" cy="392011"/>
            </a:xfrm>
            <a:custGeom>
              <a:avLst/>
              <a:gdLst>
                <a:gd name="T0" fmla="*/ 0 w 222"/>
                <a:gd name="T1" fmla="*/ 0 h 421"/>
                <a:gd name="T2" fmla="*/ 222 w 222"/>
                <a:gd name="T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421">
                  <a:moveTo>
                    <a:pt x="0" y="0"/>
                  </a:moveTo>
                  <a:lnTo>
                    <a:pt x="222" y="421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prstDash val="dash"/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11" name="Freeform 65"/>
            <p:cNvSpPr/>
            <p:nvPr/>
          </p:nvSpPr>
          <p:spPr bwMode="auto">
            <a:xfrm>
              <a:off x="6720297" y="3740629"/>
              <a:ext cx="180000" cy="396000"/>
            </a:xfrm>
            <a:custGeom>
              <a:avLst/>
              <a:gdLst>
                <a:gd name="T0" fmla="*/ 119 w 119"/>
                <a:gd name="T1" fmla="*/ 0 h 356"/>
                <a:gd name="T2" fmla="*/ 0 w 119"/>
                <a:gd name="T3" fmla="*/ 356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9" h="356">
                  <a:moveTo>
                    <a:pt x="119" y="0"/>
                  </a:moveTo>
                  <a:lnTo>
                    <a:pt x="0" y="356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prstDash val="dash"/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12" name="Line 66"/>
            <p:cNvSpPr>
              <a:spLocks noChangeShapeType="1"/>
            </p:cNvSpPr>
            <p:nvPr/>
          </p:nvSpPr>
          <p:spPr bwMode="auto">
            <a:xfrm>
              <a:off x="7106695" y="3758410"/>
              <a:ext cx="111125" cy="412750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prstDash val="dash"/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14" name="Oval 37"/>
            <p:cNvSpPr>
              <a:spLocks noChangeArrowheads="1"/>
            </p:cNvSpPr>
            <p:nvPr/>
          </p:nvSpPr>
          <p:spPr bwMode="auto">
            <a:xfrm>
              <a:off x="7281323" y="2599058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prstDash val="dash"/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6" name="Oval 37"/>
            <p:cNvSpPr>
              <a:spLocks noChangeArrowheads="1"/>
            </p:cNvSpPr>
            <p:nvPr/>
          </p:nvSpPr>
          <p:spPr bwMode="auto">
            <a:xfrm>
              <a:off x="6816302" y="332841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prstDash val="dash"/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7" name="Oval 37"/>
            <p:cNvSpPr>
              <a:spLocks noChangeArrowheads="1"/>
            </p:cNvSpPr>
            <p:nvPr/>
          </p:nvSpPr>
          <p:spPr bwMode="auto">
            <a:xfrm>
              <a:off x="7758642" y="332841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prstDash val="dash"/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8" name="Oval 37"/>
            <p:cNvSpPr>
              <a:spLocks noChangeArrowheads="1"/>
            </p:cNvSpPr>
            <p:nvPr/>
          </p:nvSpPr>
          <p:spPr bwMode="auto">
            <a:xfrm>
              <a:off x="9253789" y="332841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prstDash val="dash"/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Oval 37"/>
            <p:cNvSpPr>
              <a:spLocks noChangeArrowheads="1"/>
            </p:cNvSpPr>
            <p:nvPr/>
          </p:nvSpPr>
          <p:spPr bwMode="auto">
            <a:xfrm>
              <a:off x="6488072" y="409003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prstDash val="dash"/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0" name="Oval 37"/>
            <p:cNvSpPr>
              <a:spLocks noChangeArrowheads="1"/>
            </p:cNvSpPr>
            <p:nvPr/>
          </p:nvSpPr>
          <p:spPr bwMode="auto">
            <a:xfrm>
              <a:off x="7004363" y="409003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prstDash val="dash"/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1" name="Oval 37"/>
            <p:cNvSpPr>
              <a:spLocks noChangeArrowheads="1"/>
            </p:cNvSpPr>
            <p:nvPr/>
          </p:nvSpPr>
          <p:spPr bwMode="auto">
            <a:xfrm>
              <a:off x="7521250" y="409003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prstDash val="dash"/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2" name="Oval 37"/>
            <p:cNvSpPr>
              <a:spLocks noChangeArrowheads="1"/>
            </p:cNvSpPr>
            <p:nvPr/>
          </p:nvSpPr>
          <p:spPr bwMode="auto">
            <a:xfrm>
              <a:off x="8034966" y="409003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prstDash val="dash"/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23" name="组合 122"/>
            <p:cNvGrpSpPr/>
            <p:nvPr/>
          </p:nvGrpSpPr>
          <p:grpSpPr>
            <a:xfrm>
              <a:off x="9443715" y="3760414"/>
              <a:ext cx="432000" cy="761625"/>
              <a:chOff x="9671892" y="4193594"/>
              <a:chExt cx="432000" cy="761625"/>
            </a:xfrm>
            <a:grpFill/>
          </p:grpSpPr>
          <p:sp>
            <p:nvSpPr>
              <p:cNvPr id="124" name="Line 66"/>
              <p:cNvSpPr>
                <a:spLocks noChangeShapeType="1"/>
              </p:cNvSpPr>
              <p:nvPr/>
            </p:nvSpPr>
            <p:spPr bwMode="auto">
              <a:xfrm>
                <a:off x="9780317" y="4193594"/>
                <a:ext cx="111125" cy="412750"/>
              </a:xfrm>
              <a:prstGeom prst="line">
                <a:avLst/>
              </a:prstGeom>
              <a:grpFill/>
              <a:ln w="28575">
                <a:solidFill>
                  <a:srgbClr val="285A32"/>
                </a:solidFill>
                <a:prstDash val="dash"/>
                <a:round/>
              </a:ln>
            </p:spPr>
            <p:txBody>
              <a:bodyPr tIns="18000"/>
              <a:lstStyle/>
              <a:p>
                <a:pPr>
                  <a:lnSpc>
                    <a:spcPts val="2500"/>
                  </a:lnSpc>
                </a:pPr>
                <a:endParaRPr lang="zh-CN" altLang="en-US" sz="2400"/>
              </a:p>
            </p:txBody>
          </p:sp>
          <p:sp>
            <p:nvSpPr>
              <p:cNvPr id="125" name="Oval 37"/>
              <p:cNvSpPr>
                <a:spLocks noChangeArrowheads="1"/>
              </p:cNvSpPr>
              <p:nvPr/>
            </p:nvSpPr>
            <p:spPr bwMode="auto">
              <a:xfrm>
                <a:off x="9671892" y="4523219"/>
                <a:ext cx="432000" cy="432000"/>
              </a:xfrm>
              <a:prstGeom prst="ellipse">
                <a:avLst/>
              </a:prstGeom>
              <a:grpFill/>
              <a:ln w="28575">
                <a:solidFill>
                  <a:srgbClr val="507D7D"/>
                </a:solidFill>
                <a:prstDash val="dash"/>
                <a:round/>
              </a:ln>
              <a:effectLst/>
            </p:spPr>
            <p:txBody>
              <a:bodyPr lIns="0" tIns="0" rIns="0" bIns="0"/>
              <a:lstStyle/>
              <a:p>
                <a:pPr algn="ctr">
                  <a:lnSpc>
                    <a:spcPts val="2500"/>
                  </a:lnSpc>
                </a:pPr>
                <a:endParaRPr lang="zh-CN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6" name="组合 125"/>
            <p:cNvGrpSpPr/>
            <p:nvPr/>
          </p:nvGrpSpPr>
          <p:grpSpPr>
            <a:xfrm>
              <a:off x="9966537" y="3686911"/>
              <a:ext cx="432000" cy="835128"/>
              <a:chOff x="10194714" y="4120091"/>
              <a:chExt cx="432000" cy="835128"/>
            </a:xfrm>
            <a:grpFill/>
          </p:grpSpPr>
          <p:sp>
            <p:nvSpPr>
              <p:cNvPr id="127" name="Freeform 65"/>
              <p:cNvSpPr/>
              <p:nvPr/>
            </p:nvSpPr>
            <p:spPr bwMode="auto">
              <a:xfrm>
                <a:off x="10388328" y="4120091"/>
                <a:ext cx="180000" cy="396000"/>
              </a:xfrm>
              <a:custGeom>
                <a:avLst/>
                <a:gdLst>
                  <a:gd name="T0" fmla="*/ 119 w 119"/>
                  <a:gd name="T1" fmla="*/ 0 h 356"/>
                  <a:gd name="T2" fmla="*/ 0 w 119"/>
                  <a:gd name="T3" fmla="*/ 356 h 3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9" h="356">
                    <a:moveTo>
                      <a:pt x="119" y="0"/>
                    </a:moveTo>
                    <a:lnTo>
                      <a:pt x="0" y="356"/>
                    </a:lnTo>
                  </a:path>
                </a:pathLst>
              </a:custGeom>
              <a:grpFill/>
              <a:ln w="28575" cmpd="sng">
                <a:solidFill>
                  <a:srgbClr val="285A32"/>
                </a:solidFill>
                <a:prstDash val="dash"/>
                <a:round/>
              </a:ln>
            </p:spPr>
            <p:txBody>
              <a:bodyPr tIns="18000"/>
              <a:lstStyle/>
              <a:p>
                <a:pPr>
                  <a:lnSpc>
                    <a:spcPts val="2500"/>
                  </a:lnSpc>
                </a:pPr>
                <a:endParaRPr lang="zh-CN" altLang="en-US" sz="2400"/>
              </a:p>
            </p:txBody>
          </p:sp>
          <p:sp>
            <p:nvSpPr>
              <p:cNvPr id="128" name="Oval 37"/>
              <p:cNvSpPr>
                <a:spLocks noChangeArrowheads="1"/>
              </p:cNvSpPr>
              <p:nvPr/>
            </p:nvSpPr>
            <p:spPr bwMode="auto">
              <a:xfrm>
                <a:off x="10194714" y="4523219"/>
                <a:ext cx="432000" cy="432000"/>
              </a:xfrm>
              <a:prstGeom prst="ellipse">
                <a:avLst/>
              </a:prstGeom>
              <a:grpFill/>
              <a:ln w="28575">
                <a:solidFill>
                  <a:srgbClr val="507D7D"/>
                </a:solidFill>
                <a:prstDash val="dash"/>
                <a:round/>
              </a:ln>
              <a:effectLst/>
            </p:spPr>
            <p:txBody>
              <a:bodyPr lIns="0" tIns="0" rIns="0" bIns="0"/>
              <a:lstStyle/>
              <a:p>
                <a:pPr algn="ctr">
                  <a:lnSpc>
                    <a:spcPts val="2500"/>
                  </a:lnSpc>
                </a:pPr>
                <a:endParaRPr lang="zh-CN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29" name="组合 128"/>
          <p:cNvGrpSpPr/>
          <p:nvPr/>
        </p:nvGrpSpPr>
        <p:grpSpPr>
          <a:xfrm>
            <a:off x="10470349" y="3750412"/>
            <a:ext cx="432000" cy="771627"/>
            <a:chOff x="10698526" y="4183592"/>
            <a:chExt cx="432000" cy="771627"/>
          </a:xfrm>
          <a:solidFill>
            <a:srgbClr val="B4B4BE"/>
          </a:solidFill>
        </p:grpSpPr>
        <p:sp>
          <p:nvSpPr>
            <p:cNvPr id="130" name="Line 66"/>
            <p:cNvSpPr>
              <a:spLocks noChangeShapeType="1"/>
            </p:cNvSpPr>
            <p:nvPr/>
          </p:nvSpPr>
          <p:spPr bwMode="auto">
            <a:xfrm>
              <a:off x="10713766" y="4183592"/>
              <a:ext cx="111125" cy="412750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31" name="Oval 37"/>
            <p:cNvSpPr>
              <a:spLocks noChangeArrowheads="1"/>
            </p:cNvSpPr>
            <p:nvPr/>
          </p:nvSpPr>
          <p:spPr bwMode="auto">
            <a:xfrm>
              <a:off x="10698526" y="452321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2" name="Oval 37"/>
          <p:cNvSpPr>
            <a:spLocks noChangeArrowheads="1"/>
          </p:cNvSpPr>
          <p:nvPr/>
        </p:nvSpPr>
        <p:spPr bwMode="auto">
          <a:xfrm>
            <a:off x="10177238" y="3328414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421382" y="2016814"/>
            <a:ext cx="424651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800" dirty="0">
                <a:solidFill>
                  <a:srgbClr val="285A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缺点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浪费存储空间</a:t>
            </a:r>
            <a:endParaRPr lang="zh-CN" altLang="en-US" sz="28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1805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nip Diagonal Corner Rectangle 12"/>
          <p:cNvSpPr/>
          <p:nvPr/>
        </p:nvSpPr>
        <p:spPr>
          <a:xfrm>
            <a:off x="2931171" y="3899819"/>
            <a:ext cx="6568845" cy="725672"/>
          </a:xfrm>
          <a:prstGeom prst="snip2Diag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spcBef>
                <a:spcPct val="50000"/>
              </a:spcBef>
            </a:pP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381156" y="4011812"/>
            <a:ext cx="5657850" cy="459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50000"/>
              </a:spcBef>
            </a:pPr>
            <a:r>
              <a:rPr lang="en-US" altLang="zh-CN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5-5-2   </a:t>
            </a:r>
            <a:r>
              <a:rPr lang="zh-CN" altLang="en-US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二叉链表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40433" y="1998397"/>
            <a:ext cx="7670342" cy="134525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v</a:t>
            </a:r>
            <a:endParaRPr lang="zh-CN" altLang="en-US" dirty="0"/>
          </a:p>
        </p:txBody>
      </p:sp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2862818" y="2403766"/>
            <a:ext cx="675362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5C307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第五章     树和二叉树</a:t>
            </a:r>
          </a:p>
        </p:txBody>
      </p:sp>
    </p:spTree>
    <p:extLst>
      <p:ext uri="{BB962C8B-B14F-4D97-AF65-F5344CB8AC3E}">
        <p14:creationId xmlns:p14="http://schemas.microsoft.com/office/powerpoint/2010/main" val="26628624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40"/>
          <p:cNvGrpSpPr/>
          <p:nvPr/>
        </p:nvGrpSpPr>
        <p:grpSpPr>
          <a:xfrm>
            <a:off x="1903785" y="1307175"/>
            <a:ext cx="517526" cy="387350"/>
            <a:chOff x="4113213" y="3232150"/>
            <a:chExt cx="517526" cy="387350"/>
          </a:xfrm>
          <a:solidFill>
            <a:srgbClr val="5A327D"/>
          </a:solidFill>
        </p:grpSpPr>
        <p:sp>
          <p:nvSpPr>
            <p:cNvPr id="23" name="Freeform 124"/>
            <p:cNvSpPr/>
            <p:nvPr/>
          </p:nvSpPr>
          <p:spPr bwMode="auto">
            <a:xfrm>
              <a:off x="4292601" y="3394075"/>
              <a:ext cx="338138" cy="225425"/>
            </a:xfrm>
            <a:custGeom>
              <a:avLst/>
              <a:gdLst>
                <a:gd name="T0" fmla="*/ 40 w 124"/>
                <a:gd name="T1" fmla="*/ 83 h 83"/>
                <a:gd name="T2" fmla="*/ 40 w 124"/>
                <a:gd name="T3" fmla="*/ 78 h 83"/>
                <a:gd name="T4" fmla="*/ 41 w 124"/>
                <a:gd name="T5" fmla="*/ 71 h 83"/>
                <a:gd name="T6" fmla="*/ 32 w 124"/>
                <a:gd name="T7" fmla="*/ 75 h 83"/>
                <a:gd name="T8" fmla="*/ 29 w 124"/>
                <a:gd name="T9" fmla="*/ 75 h 83"/>
                <a:gd name="T10" fmla="*/ 23 w 124"/>
                <a:gd name="T11" fmla="*/ 72 h 83"/>
                <a:gd name="T12" fmla="*/ 3 w 124"/>
                <a:gd name="T13" fmla="*/ 41 h 83"/>
                <a:gd name="T14" fmla="*/ 5 w 124"/>
                <a:gd name="T15" fmla="*/ 31 h 83"/>
                <a:gd name="T16" fmla="*/ 9 w 124"/>
                <a:gd name="T17" fmla="*/ 30 h 83"/>
                <a:gd name="T18" fmla="*/ 15 w 124"/>
                <a:gd name="T19" fmla="*/ 33 h 83"/>
                <a:gd name="T20" fmla="*/ 32 w 124"/>
                <a:gd name="T21" fmla="*/ 59 h 83"/>
                <a:gd name="T22" fmla="*/ 55 w 124"/>
                <a:gd name="T23" fmla="*/ 50 h 83"/>
                <a:gd name="T24" fmla="*/ 56 w 124"/>
                <a:gd name="T25" fmla="*/ 50 h 83"/>
                <a:gd name="T26" fmla="*/ 64 w 124"/>
                <a:gd name="T27" fmla="*/ 45 h 83"/>
                <a:gd name="T28" fmla="*/ 69 w 124"/>
                <a:gd name="T29" fmla="*/ 43 h 83"/>
                <a:gd name="T30" fmla="*/ 65 w 124"/>
                <a:gd name="T31" fmla="*/ 39 h 83"/>
                <a:gd name="T32" fmla="*/ 59 w 124"/>
                <a:gd name="T33" fmla="*/ 23 h 83"/>
                <a:gd name="T34" fmla="*/ 82 w 124"/>
                <a:gd name="T35" fmla="*/ 0 h 83"/>
                <a:gd name="T36" fmla="*/ 88 w 124"/>
                <a:gd name="T37" fmla="*/ 1 h 83"/>
                <a:gd name="T38" fmla="*/ 105 w 124"/>
                <a:gd name="T39" fmla="*/ 23 h 83"/>
                <a:gd name="T40" fmla="*/ 99 w 124"/>
                <a:gd name="T41" fmla="*/ 39 h 83"/>
                <a:gd name="T42" fmla="*/ 95 w 124"/>
                <a:gd name="T43" fmla="*/ 43 h 83"/>
                <a:gd name="T44" fmla="*/ 100 w 124"/>
                <a:gd name="T45" fmla="*/ 45 h 83"/>
                <a:gd name="T46" fmla="*/ 124 w 124"/>
                <a:gd name="T47" fmla="*/ 83 h 83"/>
                <a:gd name="T48" fmla="*/ 40 w 124"/>
                <a:gd name="T49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4" h="83">
                  <a:moveTo>
                    <a:pt x="40" y="83"/>
                  </a:moveTo>
                  <a:cubicBezTo>
                    <a:pt x="40" y="81"/>
                    <a:pt x="40" y="80"/>
                    <a:pt x="40" y="78"/>
                  </a:cubicBezTo>
                  <a:cubicBezTo>
                    <a:pt x="41" y="71"/>
                    <a:pt x="41" y="71"/>
                    <a:pt x="41" y="71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1" y="75"/>
                    <a:pt x="30" y="75"/>
                    <a:pt x="29" y="75"/>
                  </a:cubicBezTo>
                  <a:cubicBezTo>
                    <a:pt x="27" y="75"/>
                    <a:pt x="24" y="74"/>
                    <a:pt x="23" y="7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0" y="37"/>
                    <a:pt x="1" y="33"/>
                    <a:pt x="5" y="31"/>
                  </a:cubicBezTo>
                  <a:cubicBezTo>
                    <a:pt x="6" y="30"/>
                    <a:pt x="7" y="30"/>
                    <a:pt x="9" y="30"/>
                  </a:cubicBezTo>
                  <a:cubicBezTo>
                    <a:pt x="11" y="30"/>
                    <a:pt x="13" y="31"/>
                    <a:pt x="15" y="33"/>
                  </a:cubicBezTo>
                  <a:cubicBezTo>
                    <a:pt x="32" y="59"/>
                    <a:pt x="32" y="59"/>
                    <a:pt x="32" y="59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6" y="50"/>
                    <a:pt x="56" y="50"/>
                    <a:pt x="56" y="50"/>
                  </a:cubicBezTo>
                  <a:cubicBezTo>
                    <a:pt x="58" y="48"/>
                    <a:pt x="61" y="47"/>
                    <a:pt x="64" y="45"/>
                  </a:cubicBezTo>
                  <a:cubicBezTo>
                    <a:pt x="69" y="43"/>
                    <a:pt x="69" y="43"/>
                    <a:pt x="69" y="43"/>
                  </a:cubicBezTo>
                  <a:cubicBezTo>
                    <a:pt x="65" y="39"/>
                    <a:pt x="65" y="39"/>
                    <a:pt x="65" y="39"/>
                  </a:cubicBezTo>
                  <a:cubicBezTo>
                    <a:pt x="61" y="35"/>
                    <a:pt x="59" y="29"/>
                    <a:pt x="59" y="23"/>
                  </a:cubicBezTo>
                  <a:cubicBezTo>
                    <a:pt x="59" y="11"/>
                    <a:pt x="69" y="0"/>
                    <a:pt x="82" y="0"/>
                  </a:cubicBezTo>
                  <a:cubicBezTo>
                    <a:pt x="84" y="0"/>
                    <a:pt x="86" y="1"/>
                    <a:pt x="88" y="1"/>
                  </a:cubicBezTo>
                  <a:cubicBezTo>
                    <a:pt x="98" y="4"/>
                    <a:pt x="105" y="13"/>
                    <a:pt x="105" y="23"/>
                  </a:cubicBezTo>
                  <a:cubicBezTo>
                    <a:pt x="105" y="29"/>
                    <a:pt x="102" y="35"/>
                    <a:pt x="99" y="39"/>
                  </a:cubicBezTo>
                  <a:cubicBezTo>
                    <a:pt x="95" y="43"/>
                    <a:pt x="95" y="43"/>
                    <a:pt x="95" y="43"/>
                  </a:cubicBezTo>
                  <a:cubicBezTo>
                    <a:pt x="100" y="45"/>
                    <a:pt x="100" y="45"/>
                    <a:pt x="100" y="45"/>
                  </a:cubicBezTo>
                  <a:cubicBezTo>
                    <a:pt x="115" y="52"/>
                    <a:pt x="124" y="67"/>
                    <a:pt x="124" y="83"/>
                  </a:cubicBezTo>
                  <a:lnTo>
                    <a:pt x="40" y="8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25"/>
            <p:cNvSpPr>
              <a:spLocks noEditPoints="1"/>
            </p:cNvSpPr>
            <p:nvPr/>
          </p:nvSpPr>
          <p:spPr bwMode="auto">
            <a:xfrm>
              <a:off x="4140201" y="3232150"/>
              <a:ext cx="395288" cy="314325"/>
            </a:xfrm>
            <a:custGeom>
              <a:avLst/>
              <a:gdLst>
                <a:gd name="T0" fmla="*/ 141 w 145"/>
                <a:gd name="T1" fmla="*/ 0 h 115"/>
                <a:gd name="T2" fmla="*/ 4 w 145"/>
                <a:gd name="T3" fmla="*/ 0 h 115"/>
                <a:gd name="T4" fmla="*/ 0 w 145"/>
                <a:gd name="T5" fmla="*/ 4 h 115"/>
                <a:gd name="T6" fmla="*/ 0 w 145"/>
                <a:gd name="T7" fmla="*/ 111 h 115"/>
                <a:gd name="T8" fmla="*/ 4 w 145"/>
                <a:gd name="T9" fmla="*/ 115 h 115"/>
                <a:gd name="T10" fmla="*/ 64 w 145"/>
                <a:gd name="T11" fmla="*/ 115 h 115"/>
                <a:gd name="T12" fmla="*/ 55 w 145"/>
                <a:gd name="T13" fmla="*/ 102 h 115"/>
                <a:gd name="T14" fmla="*/ 54 w 145"/>
                <a:gd name="T15" fmla="*/ 91 h 115"/>
                <a:gd name="T16" fmla="*/ 54 w 145"/>
                <a:gd name="T17" fmla="*/ 91 h 115"/>
                <a:gd name="T18" fmla="*/ 30 w 145"/>
                <a:gd name="T19" fmla="*/ 55 h 115"/>
                <a:gd name="T20" fmla="*/ 31 w 145"/>
                <a:gd name="T21" fmla="*/ 49 h 115"/>
                <a:gd name="T22" fmla="*/ 37 w 145"/>
                <a:gd name="T23" fmla="*/ 50 h 115"/>
                <a:gd name="T24" fmla="*/ 60 w 145"/>
                <a:gd name="T25" fmla="*/ 86 h 115"/>
                <a:gd name="T26" fmla="*/ 74 w 145"/>
                <a:gd name="T27" fmla="*/ 90 h 115"/>
                <a:gd name="T28" fmla="*/ 90 w 145"/>
                <a:gd name="T29" fmla="*/ 113 h 115"/>
                <a:gd name="T30" fmla="*/ 109 w 145"/>
                <a:gd name="T31" fmla="*/ 106 h 115"/>
                <a:gd name="T32" fmla="*/ 118 w 145"/>
                <a:gd name="T33" fmla="*/ 100 h 115"/>
                <a:gd name="T34" fmla="*/ 111 w 145"/>
                <a:gd name="T35" fmla="*/ 82 h 115"/>
                <a:gd name="T36" fmla="*/ 138 w 145"/>
                <a:gd name="T37" fmla="*/ 55 h 115"/>
                <a:gd name="T38" fmla="*/ 145 w 145"/>
                <a:gd name="T39" fmla="*/ 57 h 115"/>
                <a:gd name="T40" fmla="*/ 145 w 145"/>
                <a:gd name="T41" fmla="*/ 4 h 115"/>
                <a:gd name="T42" fmla="*/ 141 w 145"/>
                <a:gd name="T43" fmla="*/ 0 h 115"/>
                <a:gd name="T44" fmla="*/ 103 w 145"/>
                <a:gd name="T45" fmla="*/ 67 h 115"/>
                <a:gd name="T46" fmla="*/ 60 w 145"/>
                <a:gd name="T47" fmla="*/ 67 h 115"/>
                <a:gd name="T48" fmla="*/ 56 w 145"/>
                <a:gd name="T49" fmla="*/ 63 h 115"/>
                <a:gd name="T50" fmla="*/ 60 w 145"/>
                <a:gd name="T51" fmla="*/ 59 h 115"/>
                <a:gd name="T52" fmla="*/ 103 w 145"/>
                <a:gd name="T53" fmla="*/ 59 h 115"/>
                <a:gd name="T54" fmla="*/ 107 w 145"/>
                <a:gd name="T55" fmla="*/ 63 h 115"/>
                <a:gd name="T56" fmla="*/ 103 w 145"/>
                <a:gd name="T57" fmla="*/ 67 h 115"/>
                <a:gd name="T58" fmla="*/ 115 w 145"/>
                <a:gd name="T59" fmla="*/ 48 h 115"/>
                <a:gd name="T60" fmla="*/ 60 w 145"/>
                <a:gd name="T61" fmla="*/ 48 h 115"/>
                <a:gd name="T62" fmla="*/ 56 w 145"/>
                <a:gd name="T63" fmla="*/ 44 h 115"/>
                <a:gd name="T64" fmla="*/ 60 w 145"/>
                <a:gd name="T65" fmla="*/ 40 h 115"/>
                <a:gd name="T66" fmla="*/ 115 w 145"/>
                <a:gd name="T67" fmla="*/ 40 h 115"/>
                <a:gd name="T68" fmla="*/ 119 w 145"/>
                <a:gd name="T69" fmla="*/ 44 h 115"/>
                <a:gd name="T70" fmla="*/ 115 w 145"/>
                <a:gd name="T71" fmla="*/ 48 h 115"/>
                <a:gd name="T72" fmla="*/ 115 w 145"/>
                <a:gd name="T73" fmla="*/ 28 h 115"/>
                <a:gd name="T74" fmla="*/ 60 w 145"/>
                <a:gd name="T75" fmla="*/ 28 h 115"/>
                <a:gd name="T76" fmla="*/ 56 w 145"/>
                <a:gd name="T77" fmla="*/ 24 h 115"/>
                <a:gd name="T78" fmla="*/ 60 w 145"/>
                <a:gd name="T79" fmla="*/ 20 h 115"/>
                <a:gd name="T80" fmla="*/ 115 w 145"/>
                <a:gd name="T81" fmla="*/ 20 h 115"/>
                <a:gd name="T82" fmla="*/ 119 w 145"/>
                <a:gd name="T83" fmla="*/ 24 h 115"/>
                <a:gd name="T84" fmla="*/ 115 w 145"/>
                <a:gd name="T85" fmla="*/ 2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5" h="115">
                  <a:moveTo>
                    <a:pt x="14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3"/>
                    <a:pt x="1" y="115"/>
                    <a:pt x="4" y="115"/>
                  </a:cubicBezTo>
                  <a:cubicBezTo>
                    <a:pt x="64" y="115"/>
                    <a:pt x="64" y="115"/>
                    <a:pt x="64" y="115"/>
                  </a:cubicBezTo>
                  <a:cubicBezTo>
                    <a:pt x="55" y="102"/>
                    <a:pt x="55" y="102"/>
                    <a:pt x="55" y="102"/>
                  </a:cubicBezTo>
                  <a:cubicBezTo>
                    <a:pt x="53" y="99"/>
                    <a:pt x="53" y="95"/>
                    <a:pt x="54" y="91"/>
                  </a:cubicBezTo>
                  <a:cubicBezTo>
                    <a:pt x="54" y="91"/>
                    <a:pt x="54" y="91"/>
                    <a:pt x="54" y="91"/>
                  </a:cubicBezTo>
                  <a:cubicBezTo>
                    <a:pt x="30" y="55"/>
                    <a:pt x="30" y="55"/>
                    <a:pt x="30" y="55"/>
                  </a:cubicBezTo>
                  <a:cubicBezTo>
                    <a:pt x="29" y="53"/>
                    <a:pt x="29" y="50"/>
                    <a:pt x="31" y="49"/>
                  </a:cubicBezTo>
                  <a:cubicBezTo>
                    <a:pt x="33" y="48"/>
                    <a:pt x="36" y="48"/>
                    <a:pt x="37" y="50"/>
                  </a:cubicBezTo>
                  <a:cubicBezTo>
                    <a:pt x="60" y="86"/>
                    <a:pt x="60" y="86"/>
                    <a:pt x="60" y="86"/>
                  </a:cubicBezTo>
                  <a:cubicBezTo>
                    <a:pt x="65" y="83"/>
                    <a:pt x="71" y="85"/>
                    <a:pt x="74" y="90"/>
                  </a:cubicBezTo>
                  <a:cubicBezTo>
                    <a:pt x="90" y="113"/>
                    <a:pt x="90" y="113"/>
                    <a:pt x="90" y="113"/>
                  </a:cubicBezTo>
                  <a:cubicBezTo>
                    <a:pt x="109" y="106"/>
                    <a:pt x="109" y="106"/>
                    <a:pt x="109" y="106"/>
                  </a:cubicBezTo>
                  <a:cubicBezTo>
                    <a:pt x="112" y="104"/>
                    <a:pt x="115" y="102"/>
                    <a:pt x="118" y="100"/>
                  </a:cubicBezTo>
                  <a:cubicBezTo>
                    <a:pt x="114" y="96"/>
                    <a:pt x="111" y="89"/>
                    <a:pt x="111" y="82"/>
                  </a:cubicBezTo>
                  <a:cubicBezTo>
                    <a:pt x="111" y="68"/>
                    <a:pt x="123" y="55"/>
                    <a:pt x="138" y="55"/>
                  </a:cubicBezTo>
                  <a:cubicBezTo>
                    <a:pt x="140" y="55"/>
                    <a:pt x="143" y="56"/>
                    <a:pt x="145" y="57"/>
                  </a:cubicBezTo>
                  <a:cubicBezTo>
                    <a:pt x="145" y="4"/>
                    <a:pt x="145" y="4"/>
                    <a:pt x="145" y="4"/>
                  </a:cubicBezTo>
                  <a:cubicBezTo>
                    <a:pt x="145" y="2"/>
                    <a:pt x="143" y="0"/>
                    <a:pt x="141" y="0"/>
                  </a:cubicBezTo>
                  <a:close/>
                  <a:moveTo>
                    <a:pt x="103" y="67"/>
                  </a:moveTo>
                  <a:cubicBezTo>
                    <a:pt x="60" y="67"/>
                    <a:pt x="60" y="67"/>
                    <a:pt x="60" y="67"/>
                  </a:cubicBezTo>
                  <a:cubicBezTo>
                    <a:pt x="58" y="67"/>
                    <a:pt x="56" y="65"/>
                    <a:pt x="56" y="63"/>
                  </a:cubicBezTo>
                  <a:cubicBezTo>
                    <a:pt x="56" y="61"/>
                    <a:pt x="58" y="59"/>
                    <a:pt x="60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6" y="59"/>
                    <a:pt x="107" y="61"/>
                    <a:pt x="107" y="63"/>
                  </a:cubicBezTo>
                  <a:cubicBezTo>
                    <a:pt x="107" y="65"/>
                    <a:pt x="106" y="67"/>
                    <a:pt x="103" y="67"/>
                  </a:cubicBezTo>
                  <a:close/>
                  <a:moveTo>
                    <a:pt x="115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58" y="48"/>
                    <a:pt x="56" y="46"/>
                    <a:pt x="56" y="44"/>
                  </a:cubicBezTo>
                  <a:cubicBezTo>
                    <a:pt x="56" y="41"/>
                    <a:pt x="58" y="40"/>
                    <a:pt x="60" y="40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9" y="41"/>
                    <a:pt x="119" y="44"/>
                  </a:cubicBezTo>
                  <a:cubicBezTo>
                    <a:pt x="119" y="46"/>
                    <a:pt x="117" y="48"/>
                    <a:pt x="115" y="48"/>
                  </a:cubicBezTo>
                  <a:close/>
                  <a:moveTo>
                    <a:pt x="115" y="28"/>
                  </a:moveTo>
                  <a:cubicBezTo>
                    <a:pt x="60" y="28"/>
                    <a:pt x="60" y="28"/>
                    <a:pt x="60" y="28"/>
                  </a:cubicBezTo>
                  <a:cubicBezTo>
                    <a:pt x="58" y="28"/>
                    <a:pt x="56" y="27"/>
                    <a:pt x="56" y="24"/>
                  </a:cubicBezTo>
                  <a:cubicBezTo>
                    <a:pt x="56" y="22"/>
                    <a:pt x="58" y="20"/>
                    <a:pt x="60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7" y="20"/>
                    <a:pt x="119" y="22"/>
                    <a:pt x="119" y="24"/>
                  </a:cubicBezTo>
                  <a:cubicBezTo>
                    <a:pt x="119" y="27"/>
                    <a:pt x="117" y="28"/>
                    <a:pt x="115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126"/>
            <p:cNvSpPr/>
            <p:nvPr/>
          </p:nvSpPr>
          <p:spPr bwMode="auto">
            <a:xfrm>
              <a:off x="4113213" y="3578225"/>
              <a:ext cx="220663" cy="22225"/>
            </a:xfrm>
            <a:custGeom>
              <a:avLst/>
              <a:gdLst>
                <a:gd name="T0" fmla="*/ 77 w 81"/>
                <a:gd name="T1" fmla="*/ 8 h 8"/>
                <a:gd name="T2" fmla="*/ 3 w 81"/>
                <a:gd name="T3" fmla="*/ 8 h 8"/>
                <a:gd name="T4" fmla="*/ 0 w 81"/>
                <a:gd name="T5" fmla="*/ 4 h 8"/>
                <a:gd name="T6" fmla="*/ 3 w 81"/>
                <a:gd name="T7" fmla="*/ 0 h 8"/>
                <a:gd name="T8" fmla="*/ 77 w 81"/>
                <a:gd name="T9" fmla="*/ 0 h 8"/>
                <a:gd name="T10" fmla="*/ 81 w 81"/>
                <a:gd name="T11" fmla="*/ 4 h 8"/>
                <a:gd name="T12" fmla="*/ 77 w 81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8">
                  <a:moveTo>
                    <a:pt x="77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1" y="8"/>
                    <a:pt x="0" y="6"/>
                    <a:pt x="0" y="4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9" y="0"/>
                    <a:pt x="81" y="1"/>
                    <a:pt x="81" y="4"/>
                  </a:cubicBezTo>
                  <a:cubicBezTo>
                    <a:pt x="81" y="6"/>
                    <a:pt x="79" y="8"/>
                    <a:pt x="7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4" name="Text Box 19"/>
          <p:cNvSpPr txBox="1">
            <a:spLocks noChangeArrowheads="1"/>
          </p:cNvSpPr>
          <p:nvPr/>
        </p:nvSpPr>
        <p:spPr bwMode="auto">
          <a:xfrm>
            <a:off x="2648902" y="1241862"/>
            <a:ext cx="459009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二叉链表的存储结构定义</a:t>
            </a:r>
          </a:p>
        </p:txBody>
      </p:sp>
      <p:sp>
        <p:nvSpPr>
          <p:cNvPr id="37" name="Rounded Rectangle 10"/>
          <p:cNvSpPr/>
          <p:nvPr/>
        </p:nvSpPr>
        <p:spPr>
          <a:xfrm>
            <a:off x="542924" y="100964"/>
            <a:ext cx="1997075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744849" y="46345"/>
            <a:ext cx="173927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讲什么？</a:t>
            </a:r>
          </a:p>
        </p:txBody>
      </p:sp>
      <p:grpSp>
        <p:nvGrpSpPr>
          <p:cNvPr id="10" name="Group 40"/>
          <p:cNvGrpSpPr/>
          <p:nvPr/>
        </p:nvGrpSpPr>
        <p:grpSpPr>
          <a:xfrm>
            <a:off x="1903785" y="2020407"/>
            <a:ext cx="517526" cy="387350"/>
            <a:chOff x="4113213" y="3232150"/>
            <a:chExt cx="517526" cy="387350"/>
          </a:xfrm>
          <a:solidFill>
            <a:srgbClr val="5A327D"/>
          </a:solidFill>
        </p:grpSpPr>
        <p:sp>
          <p:nvSpPr>
            <p:cNvPr id="11" name="Freeform 124"/>
            <p:cNvSpPr/>
            <p:nvPr/>
          </p:nvSpPr>
          <p:spPr bwMode="auto">
            <a:xfrm>
              <a:off x="4292601" y="3394075"/>
              <a:ext cx="338138" cy="225425"/>
            </a:xfrm>
            <a:custGeom>
              <a:avLst/>
              <a:gdLst>
                <a:gd name="T0" fmla="*/ 40 w 124"/>
                <a:gd name="T1" fmla="*/ 83 h 83"/>
                <a:gd name="T2" fmla="*/ 40 w 124"/>
                <a:gd name="T3" fmla="*/ 78 h 83"/>
                <a:gd name="T4" fmla="*/ 41 w 124"/>
                <a:gd name="T5" fmla="*/ 71 h 83"/>
                <a:gd name="T6" fmla="*/ 32 w 124"/>
                <a:gd name="T7" fmla="*/ 75 h 83"/>
                <a:gd name="T8" fmla="*/ 29 w 124"/>
                <a:gd name="T9" fmla="*/ 75 h 83"/>
                <a:gd name="T10" fmla="*/ 23 w 124"/>
                <a:gd name="T11" fmla="*/ 72 h 83"/>
                <a:gd name="T12" fmla="*/ 3 w 124"/>
                <a:gd name="T13" fmla="*/ 41 h 83"/>
                <a:gd name="T14" fmla="*/ 5 w 124"/>
                <a:gd name="T15" fmla="*/ 31 h 83"/>
                <a:gd name="T16" fmla="*/ 9 w 124"/>
                <a:gd name="T17" fmla="*/ 30 h 83"/>
                <a:gd name="T18" fmla="*/ 15 w 124"/>
                <a:gd name="T19" fmla="*/ 33 h 83"/>
                <a:gd name="T20" fmla="*/ 32 w 124"/>
                <a:gd name="T21" fmla="*/ 59 h 83"/>
                <a:gd name="T22" fmla="*/ 55 w 124"/>
                <a:gd name="T23" fmla="*/ 50 h 83"/>
                <a:gd name="T24" fmla="*/ 56 w 124"/>
                <a:gd name="T25" fmla="*/ 50 h 83"/>
                <a:gd name="T26" fmla="*/ 64 w 124"/>
                <a:gd name="T27" fmla="*/ 45 h 83"/>
                <a:gd name="T28" fmla="*/ 69 w 124"/>
                <a:gd name="T29" fmla="*/ 43 h 83"/>
                <a:gd name="T30" fmla="*/ 65 w 124"/>
                <a:gd name="T31" fmla="*/ 39 h 83"/>
                <a:gd name="T32" fmla="*/ 59 w 124"/>
                <a:gd name="T33" fmla="*/ 23 h 83"/>
                <a:gd name="T34" fmla="*/ 82 w 124"/>
                <a:gd name="T35" fmla="*/ 0 h 83"/>
                <a:gd name="T36" fmla="*/ 88 w 124"/>
                <a:gd name="T37" fmla="*/ 1 h 83"/>
                <a:gd name="T38" fmla="*/ 105 w 124"/>
                <a:gd name="T39" fmla="*/ 23 h 83"/>
                <a:gd name="T40" fmla="*/ 99 w 124"/>
                <a:gd name="T41" fmla="*/ 39 h 83"/>
                <a:gd name="T42" fmla="*/ 95 w 124"/>
                <a:gd name="T43" fmla="*/ 43 h 83"/>
                <a:gd name="T44" fmla="*/ 100 w 124"/>
                <a:gd name="T45" fmla="*/ 45 h 83"/>
                <a:gd name="T46" fmla="*/ 124 w 124"/>
                <a:gd name="T47" fmla="*/ 83 h 83"/>
                <a:gd name="T48" fmla="*/ 40 w 124"/>
                <a:gd name="T49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4" h="83">
                  <a:moveTo>
                    <a:pt x="40" y="83"/>
                  </a:moveTo>
                  <a:cubicBezTo>
                    <a:pt x="40" y="81"/>
                    <a:pt x="40" y="80"/>
                    <a:pt x="40" y="78"/>
                  </a:cubicBezTo>
                  <a:cubicBezTo>
                    <a:pt x="41" y="71"/>
                    <a:pt x="41" y="71"/>
                    <a:pt x="41" y="71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1" y="75"/>
                    <a:pt x="30" y="75"/>
                    <a:pt x="29" y="75"/>
                  </a:cubicBezTo>
                  <a:cubicBezTo>
                    <a:pt x="27" y="75"/>
                    <a:pt x="24" y="74"/>
                    <a:pt x="23" y="7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0" y="37"/>
                    <a:pt x="1" y="33"/>
                    <a:pt x="5" y="31"/>
                  </a:cubicBezTo>
                  <a:cubicBezTo>
                    <a:pt x="6" y="30"/>
                    <a:pt x="7" y="30"/>
                    <a:pt x="9" y="30"/>
                  </a:cubicBezTo>
                  <a:cubicBezTo>
                    <a:pt x="11" y="30"/>
                    <a:pt x="13" y="31"/>
                    <a:pt x="15" y="33"/>
                  </a:cubicBezTo>
                  <a:cubicBezTo>
                    <a:pt x="32" y="59"/>
                    <a:pt x="32" y="59"/>
                    <a:pt x="32" y="59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6" y="50"/>
                    <a:pt x="56" y="50"/>
                    <a:pt x="56" y="50"/>
                  </a:cubicBezTo>
                  <a:cubicBezTo>
                    <a:pt x="58" y="48"/>
                    <a:pt x="61" y="47"/>
                    <a:pt x="64" y="45"/>
                  </a:cubicBezTo>
                  <a:cubicBezTo>
                    <a:pt x="69" y="43"/>
                    <a:pt x="69" y="43"/>
                    <a:pt x="69" y="43"/>
                  </a:cubicBezTo>
                  <a:cubicBezTo>
                    <a:pt x="65" y="39"/>
                    <a:pt x="65" y="39"/>
                    <a:pt x="65" y="39"/>
                  </a:cubicBezTo>
                  <a:cubicBezTo>
                    <a:pt x="61" y="35"/>
                    <a:pt x="59" y="29"/>
                    <a:pt x="59" y="23"/>
                  </a:cubicBezTo>
                  <a:cubicBezTo>
                    <a:pt x="59" y="11"/>
                    <a:pt x="69" y="0"/>
                    <a:pt x="82" y="0"/>
                  </a:cubicBezTo>
                  <a:cubicBezTo>
                    <a:pt x="84" y="0"/>
                    <a:pt x="86" y="1"/>
                    <a:pt x="88" y="1"/>
                  </a:cubicBezTo>
                  <a:cubicBezTo>
                    <a:pt x="98" y="4"/>
                    <a:pt x="105" y="13"/>
                    <a:pt x="105" y="23"/>
                  </a:cubicBezTo>
                  <a:cubicBezTo>
                    <a:pt x="105" y="29"/>
                    <a:pt x="102" y="35"/>
                    <a:pt x="99" y="39"/>
                  </a:cubicBezTo>
                  <a:cubicBezTo>
                    <a:pt x="95" y="43"/>
                    <a:pt x="95" y="43"/>
                    <a:pt x="95" y="43"/>
                  </a:cubicBezTo>
                  <a:cubicBezTo>
                    <a:pt x="100" y="45"/>
                    <a:pt x="100" y="45"/>
                    <a:pt x="100" y="45"/>
                  </a:cubicBezTo>
                  <a:cubicBezTo>
                    <a:pt x="115" y="52"/>
                    <a:pt x="124" y="67"/>
                    <a:pt x="124" y="83"/>
                  </a:cubicBezTo>
                  <a:lnTo>
                    <a:pt x="40" y="8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125"/>
            <p:cNvSpPr>
              <a:spLocks noEditPoints="1"/>
            </p:cNvSpPr>
            <p:nvPr/>
          </p:nvSpPr>
          <p:spPr bwMode="auto">
            <a:xfrm>
              <a:off x="4140201" y="3232150"/>
              <a:ext cx="395288" cy="314325"/>
            </a:xfrm>
            <a:custGeom>
              <a:avLst/>
              <a:gdLst>
                <a:gd name="T0" fmla="*/ 141 w 145"/>
                <a:gd name="T1" fmla="*/ 0 h 115"/>
                <a:gd name="T2" fmla="*/ 4 w 145"/>
                <a:gd name="T3" fmla="*/ 0 h 115"/>
                <a:gd name="T4" fmla="*/ 0 w 145"/>
                <a:gd name="T5" fmla="*/ 4 h 115"/>
                <a:gd name="T6" fmla="*/ 0 w 145"/>
                <a:gd name="T7" fmla="*/ 111 h 115"/>
                <a:gd name="T8" fmla="*/ 4 w 145"/>
                <a:gd name="T9" fmla="*/ 115 h 115"/>
                <a:gd name="T10" fmla="*/ 64 w 145"/>
                <a:gd name="T11" fmla="*/ 115 h 115"/>
                <a:gd name="T12" fmla="*/ 55 w 145"/>
                <a:gd name="T13" fmla="*/ 102 h 115"/>
                <a:gd name="T14" fmla="*/ 54 w 145"/>
                <a:gd name="T15" fmla="*/ 91 h 115"/>
                <a:gd name="T16" fmla="*/ 54 w 145"/>
                <a:gd name="T17" fmla="*/ 91 h 115"/>
                <a:gd name="T18" fmla="*/ 30 w 145"/>
                <a:gd name="T19" fmla="*/ 55 h 115"/>
                <a:gd name="T20" fmla="*/ 31 w 145"/>
                <a:gd name="T21" fmla="*/ 49 h 115"/>
                <a:gd name="T22" fmla="*/ 37 w 145"/>
                <a:gd name="T23" fmla="*/ 50 h 115"/>
                <a:gd name="T24" fmla="*/ 60 w 145"/>
                <a:gd name="T25" fmla="*/ 86 h 115"/>
                <a:gd name="T26" fmla="*/ 74 w 145"/>
                <a:gd name="T27" fmla="*/ 90 h 115"/>
                <a:gd name="T28" fmla="*/ 90 w 145"/>
                <a:gd name="T29" fmla="*/ 113 h 115"/>
                <a:gd name="T30" fmla="*/ 109 w 145"/>
                <a:gd name="T31" fmla="*/ 106 h 115"/>
                <a:gd name="T32" fmla="*/ 118 w 145"/>
                <a:gd name="T33" fmla="*/ 100 h 115"/>
                <a:gd name="T34" fmla="*/ 111 w 145"/>
                <a:gd name="T35" fmla="*/ 82 h 115"/>
                <a:gd name="T36" fmla="*/ 138 w 145"/>
                <a:gd name="T37" fmla="*/ 55 h 115"/>
                <a:gd name="T38" fmla="*/ 145 w 145"/>
                <a:gd name="T39" fmla="*/ 57 h 115"/>
                <a:gd name="T40" fmla="*/ 145 w 145"/>
                <a:gd name="T41" fmla="*/ 4 h 115"/>
                <a:gd name="T42" fmla="*/ 141 w 145"/>
                <a:gd name="T43" fmla="*/ 0 h 115"/>
                <a:gd name="T44" fmla="*/ 103 w 145"/>
                <a:gd name="T45" fmla="*/ 67 h 115"/>
                <a:gd name="T46" fmla="*/ 60 w 145"/>
                <a:gd name="T47" fmla="*/ 67 h 115"/>
                <a:gd name="T48" fmla="*/ 56 w 145"/>
                <a:gd name="T49" fmla="*/ 63 h 115"/>
                <a:gd name="T50" fmla="*/ 60 w 145"/>
                <a:gd name="T51" fmla="*/ 59 h 115"/>
                <a:gd name="T52" fmla="*/ 103 w 145"/>
                <a:gd name="T53" fmla="*/ 59 h 115"/>
                <a:gd name="T54" fmla="*/ 107 w 145"/>
                <a:gd name="T55" fmla="*/ 63 h 115"/>
                <a:gd name="T56" fmla="*/ 103 w 145"/>
                <a:gd name="T57" fmla="*/ 67 h 115"/>
                <a:gd name="T58" fmla="*/ 115 w 145"/>
                <a:gd name="T59" fmla="*/ 48 h 115"/>
                <a:gd name="T60" fmla="*/ 60 w 145"/>
                <a:gd name="T61" fmla="*/ 48 h 115"/>
                <a:gd name="T62" fmla="*/ 56 w 145"/>
                <a:gd name="T63" fmla="*/ 44 h 115"/>
                <a:gd name="T64" fmla="*/ 60 w 145"/>
                <a:gd name="T65" fmla="*/ 40 h 115"/>
                <a:gd name="T66" fmla="*/ 115 w 145"/>
                <a:gd name="T67" fmla="*/ 40 h 115"/>
                <a:gd name="T68" fmla="*/ 119 w 145"/>
                <a:gd name="T69" fmla="*/ 44 h 115"/>
                <a:gd name="T70" fmla="*/ 115 w 145"/>
                <a:gd name="T71" fmla="*/ 48 h 115"/>
                <a:gd name="T72" fmla="*/ 115 w 145"/>
                <a:gd name="T73" fmla="*/ 28 h 115"/>
                <a:gd name="T74" fmla="*/ 60 w 145"/>
                <a:gd name="T75" fmla="*/ 28 h 115"/>
                <a:gd name="T76" fmla="*/ 56 w 145"/>
                <a:gd name="T77" fmla="*/ 24 h 115"/>
                <a:gd name="T78" fmla="*/ 60 w 145"/>
                <a:gd name="T79" fmla="*/ 20 h 115"/>
                <a:gd name="T80" fmla="*/ 115 w 145"/>
                <a:gd name="T81" fmla="*/ 20 h 115"/>
                <a:gd name="T82" fmla="*/ 119 w 145"/>
                <a:gd name="T83" fmla="*/ 24 h 115"/>
                <a:gd name="T84" fmla="*/ 115 w 145"/>
                <a:gd name="T85" fmla="*/ 2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5" h="115">
                  <a:moveTo>
                    <a:pt x="14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3"/>
                    <a:pt x="1" y="115"/>
                    <a:pt x="4" y="115"/>
                  </a:cubicBezTo>
                  <a:cubicBezTo>
                    <a:pt x="64" y="115"/>
                    <a:pt x="64" y="115"/>
                    <a:pt x="64" y="115"/>
                  </a:cubicBezTo>
                  <a:cubicBezTo>
                    <a:pt x="55" y="102"/>
                    <a:pt x="55" y="102"/>
                    <a:pt x="55" y="102"/>
                  </a:cubicBezTo>
                  <a:cubicBezTo>
                    <a:pt x="53" y="99"/>
                    <a:pt x="53" y="95"/>
                    <a:pt x="54" y="91"/>
                  </a:cubicBezTo>
                  <a:cubicBezTo>
                    <a:pt x="54" y="91"/>
                    <a:pt x="54" y="91"/>
                    <a:pt x="54" y="91"/>
                  </a:cubicBezTo>
                  <a:cubicBezTo>
                    <a:pt x="30" y="55"/>
                    <a:pt x="30" y="55"/>
                    <a:pt x="30" y="55"/>
                  </a:cubicBezTo>
                  <a:cubicBezTo>
                    <a:pt x="29" y="53"/>
                    <a:pt x="29" y="50"/>
                    <a:pt x="31" y="49"/>
                  </a:cubicBezTo>
                  <a:cubicBezTo>
                    <a:pt x="33" y="48"/>
                    <a:pt x="36" y="48"/>
                    <a:pt x="37" y="50"/>
                  </a:cubicBezTo>
                  <a:cubicBezTo>
                    <a:pt x="60" y="86"/>
                    <a:pt x="60" y="86"/>
                    <a:pt x="60" y="86"/>
                  </a:cubicBezTo>
                  <a:cubicBezTo>
                    <a:pt x="65" y="83"/>
                    <a:pt x="71" y="85"/>
                    <a:pt x="74" y="90"/>
                  </a:cubicBezTo>
                  <a:cubicBezTo>
                    <a:pt x="90" y="113"/>
                    <a:pt x="90" y="113"/>
                    <a:pt x="90" y="113"/>
                  </a:cubicBezTo>
                  <a:cubicBezTo>
                    <a:pt x="109" y="106"/>
                    <a:pt x="109" y="106"/>
                    <a:pt x="109" y="106"/>
                  </a:cubicBezTo>
                  <a:cubicBezTo>
                    <a:pt x="112" y="104"/>
                    <a:pt x="115" y="102"/>
                    <a:pt x="118" y="100"/>
                  </a:cubicBezTo>
                  <a:cubicBezTo>
                    <a:pt x="114" y="96"/>
                    <a:pt x="111" y="89"/>
                    <a:pt x="111" y="82"/>
                  </a:cubicBezTo>
                  <a:cubicBezTo>
                    <a:pt x="111" y="68"/>
                    <a:pt x="123" y="55"/>
                    <a:pt x="138" y="55"/>
                  </a:cubicBezTo>
                  <a:cubicBezTo>
                    <a:pt x="140" y="55"/>
                    <a:pt x="143" y="56"/>
                    <a:pt x="145" y="57"/>
                  </a:cubicBezTo>
                  <a:cubicBezTo>
                    <a:pt x="145" y="4"/>
                    <a:pt x="145" y="4"/>
                    <a:pt x="145" y="4"/>
                  </a:cubicBezTo>
                  <a:cubicBezTo>
                    <a:pt x="145" y="2"/>
                    <a:pt x="143" y="0"/>
                    <a:pt x="141" y="0"/>
                  </a:cubicBezTo>
                  <a:close/>
                  <a:moveTo>
                    <a:pt x="103" y="67"/>
                  </a:moveTo>
                  <a:cubicBezTo>
                    <a:pt x="60" y="67"/>
                    <a:pt x="60" y="67"/>
                    <a:pt x="60" y="67"/>
                  </a:cubicBezTo>
                  <a:cubicBezTo>
                    <a:pt x="58" y="67"/>
                    <a:pt x="56" y="65"/>
                    <a:pt x="56" y="63"/>
                  </a:cubicBezTo>
                  <a:cubicBezTo>
                    <a:pt x="56" y="61"/>
                    <a:pt x="58" y="59"/>
                    <a:pt x="60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6" y="59"/>
                    <a:pt x="107" y="61"/>
                    <a:pt x="107" y="63"/>
                  </a:cubicBezTo>
                  <a:cubicBezTo>
                    <a:pt x="107" y="65"/>
                    <a:pt x="106" y="67"/>
                    <a:pt x="103" y="67"/>
                  </a:cubicBezTo>
                  <a:close/>
                  <a:moveTo>
                    <a:pt x="115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58" y="48"/>
                    <a:pt x="56" y="46"/>
                    <a:pt x="56" y="44"/>
                  </a:cubicBezTo>
                  <a:cubicBezTo>
                    <a:pt x="56" y="41"/>
                    <a:pt x="58" y="40"/>
                    <a:pt x="60" y="40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9" y="41"/>
                    <a:pt x="119" y="44"/>
                  </a:cubicBezTo>
                  <a:cubicBezTo>
                    <a:pt x="119" y="46"/>
                    <a:pt x="117" y="48"/>
                    <a:pt x="115" y="48"/>
                  </a:cubicBezTo>
                  <a:close/>
                  <a:moveTo>
                    <a:pt x="115" y="28"/>
                  </a:moveTo>
                  <a:cubicBezTo>
                    <a:pt x="60" y="28"/>
                    <a:pt x="60" y="28"/>
                    <a:pt x="60" y="28"/>
                  </a:cubicBezTo>
                  <a:cubicBezTo>
                    <a:pt x="58" y="28"/>
                    <a:pt x="56" y="27"/>
                    <a:pt x="56" y="24"/>
                  </a:cubicBezTo>
                  <a:cubicBezTo>
                    <a:pt x="56" y="22"/>
                    <a:pt x="58" y="20"/>
                    <a:pt x="60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7" y="20"/>
                    <a:pt x="119" y="22"/>
                    <a:pt x="119" y="24"/>
                  </a:cubicBezTo>
                  <a:cubicBezTo>
                    <a:pt x="119" y="27"/>
                    <a:pt x="117" y="28"/>
                    <a:pt x="115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126"/>
            <p:cNvSpPr/>
            <p:nvPr/>
          </p:nvSpPr>
          <p:spPr bwMode="auto">
            <a:xfrm>
              <a:off x="4113213" y="3578225"/>
              <a:ext cx="220663" cy="22225"/>
            </a:xfrm>
            <a:custGeom>
              <a:avLst/>
              <a:gdLst>
                <a:gd name="T0" fmla="*/ 77 w 81"/>
                <a:gd name="T1" fmla="*/ 8 h 8"/>
                <a:gd name="T2" fmla="*/ 3 w 81"/>
                <a:gd name="T3" fmla="*/ 8 h 8"/>
                <a:gd name="T4" fmla="*/ 0 w 81"/>
                <a:gd name="T5" fmla="*/ 4 h 8"/>
                <a:gd name="T6" fmla="*/ 3 w 81"/>
                <a:gd name="T7" fmla="*/ 0 h 8"/>
                <a:gd name="T8" fmla="*/ 77 w 81"/>
                <a:gd name="T9" fmla="*/ 0 h 8"/>
                <a:gd name="T10" fmla="*/ 81 w 81"/>
                <a:gd name="T11" fmla="*/ 4 h 8"/>
                <a:gd name="T12" fmla="*/ 77 w 81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8">
                  <a:moveTo>
                    <a:pt x="77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1" y="8"/>
                    <a:pt x="0" y="6"/>
                    <a:pt x="0" y="4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9" y="0"/>
                    <a:pt x="81" y="1"/>
                    <a:pt x="81" y="4"/>
                  </a:cubicBezTo>
                  <a:cubicBezTo>
                    <a:pt x="81" y="6"/>
                    <a:pt x="79" y="8"/>
                    <a:pt x="7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4" name="Text Box 19"/>
          <p:cNvSpPr txBox="1">
            <a:spLocks noChangeArrowheads="1"/>
          </p:cNvSpPr>
          <p:nvPr/>
        </p:nvSpPr>
        <p:spPr bwMode="auto">
          <a:xfrm>
            <a:off x="2648902" y="1955094"/>
            <a:ext cx="459009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三叉链表的存储方法</a:t>
            </a:r>
          </a:p>
        </p:txBody>
      </p:sp>
      <p:grpSp>
        <p:nvGrpSpPr>
          <p:cNvPr id="16" name="Group 40"/>
          <p:cNvGrpSpPr/>
          <p:nvPr/>
        </p:nvGrpSpPr>
        <p:grpSpPr>
          <a:xfrm>
            <a:off x="1903785" y="2733639"/>
            <a:ext cx="517526" cy="387350"/>
            <a:chOff x="4113213" y="3232150"/>
            <a:chExt cx="517526" cy="387350"/>
          </a:xfrm>
          <a:solidFill>
            <a:srgbClr val="5A327D"/>
          </a:solidFill>
        </p:grpSpPr>
        <p:sp>
          <p:nvSpPr>
            <p:cNvPr id="17" name="Freeform 124"/>
            <p:cNvSpPr/>
            <p:nvPr/>
          </p:nvSpPr>
          <p:spPr bwMode="auto">
            <a:xfrm>
              <a:off x="4292601" y="3394075"/>
              <a:ext cx="338138" cy="225425"/>
            </a:xfrm>
            <a:custGeom>
              <a:avLst/>
              <a:gdLst>
                <a:gd name="T0" fmla="*/ 40 w 124"/>
                <a:gd name="T1" fmla="*/ 83 h 83"/>
                <a:gd name="T2" fmla="*/ 40 w 124"/>
                <a:gd name="T3" fmla="*/ 78 h 83"/>
                <a:gd name="T4" fmla="*/ 41 w 124"/>
                <a:gd name="T5" fmla="*/ 71 h 83"/>
                <a:gd name="T6" fmla="*/ 32 w 124"/>
                <a:gd name="T7" fmla="*/ 75 h 83"/>
                <a:gd name="T8" fmla="*/ 29 w 124"/>
                <a:gd name="T9" fmla="*/ 75 h 83"/>
                <a:gd name="T10" fmla="*/ 23 w 124"/>
                <a:gd name="T11" fmla="*/ 72 h 83"/>
                <a:gd name="T12" fmla="*/ 3 w 124"/>
                <a:gd name="T13" fmla="*/ 41 h 83"/>
                <a:gd name="T14" fmla="*/ 5 w 124"/>
                <a:gd name="T15" fmla="*/ 31 h 83"/>
                <a:gd name="T16" fmla="*/ 9 w 124"/>
                <a:gd name="T17" fmla="*/ 30 h 83"/>
                <a:gd name="T18" fmla="*/ 15 w 124"/>
                <a:gd name="T19" fmla="*/ 33 h 83"/>
                <a:gd name="T20" fmla="*/ 32 w 124"/>
                <a:gd name="T21" fmla="*/ 59 h 83"/>
                <a:gd name="T22" fmla="*/ 55 w 124"/>
                <a:gd name="T23" fmla="*/ 50 h 83"/>
                <a:gd name="T24" fmla="*/ 56 w 124"/>
                <a:gd name="T25" fmla="*/ 50 h 83"/>
                <a:gd name="T26" fmla="*/ 64 w 124"/>
                <a:gd name="T27" fmla="*/ 45 h 83"/>
                <a:gd name="T28" fmla="*/ 69 w 124"/>
                <a:gd name="T29" fmla="*/ 43 h 83"/>
                <a:gd name="T30" fmla="*/ 65 w 124"/>
                <a:gd name="T31" fmla="*/ 39 h 83"/>
                <a:gd name="T32" fmla="*/ 59 w 124"/>
                <a:gd name="T33" fmla="*/ 23 h 83"/>
                <a:gd name="T34" fmla="*/ 82 w 124"/>
                <a:gd name="T35" fmla="*/ 0 h 83"/>
                <a:gd name="T36" fmla="*/ 88 w 124"/>
                <a:gd name="T37" fmla="*/ 1 h 83"/>
                <a:gd name="T38" fmla="*/ 105 w 124"/>
                <a:gd name="T39" fmla="*/ 23 h 83"/>
                <a:gd name="T40" fmla="*/ 99 w 124"/>
                <a:gd name="T41" fmla="*/ 39 h 83"/>
                <a:gd name="T42" fmla="*/ 95 w 124"/>
                <a:gd name="T43" fmla="*/ 43 h 83"/>
                <a:gd name="T44" fmla="*/ 100 w 124"/>
                <a:gd name="T45" fmla="*/ 45 h 83"/>
                <a:gd name="T46" fmla="*/ 124 w 124"/>
                <a:gd name="T47" fmla="*/ 83 h 83"/>
                <a:gd name="T48" fmla="*/ 40 w 124"/>
                <a:gd name="T49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4" h="83">
                  <a:moveTo>
                    <a:pt x="40" y="83"/>
                  </a:moveTo>
                  <a:cubicBezTo>
                    <a:pt x="40" y="81"/>
                    <a:pt x="40" y="80"/>
                    <a:pt x="40" y="78"/>
                  </a:cubicBezTo>
                  <a:cubicBezTo>
                    <a:pt x="41" y="71"/>
                    <a:pt x="41" y="71"/>
                    <a:pt x="41" y="71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1" y="75"/>
                    <a:pt x="30" y="75"/>
                    <a:pt x="29" y="75"/>
                  </a:cubicBezTo>
                  <a:cubicBezTo>
                    <a:pt x="27" y="75"/>
                    <a:pt x="24" y="74"/>
                    <a:pt x="23" y="7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0" y="37"/>
                    <a:pt x="1" y="33"/>
                    <a:pt x="5" y="31"/>
                  </a:cubicBezTo>
                  <a:cubicBezTo>
                    <a:pt x="6" y="30"/>
                    <a:pt x="7" y="30"/>
                    <a:pt x="9" y="30"/>
                  </a:cubicBezTo>
                  <a:cubicBezTo>
                    <a:pt x="11" y="30"/>
                    <a:pt x="13" y="31"/>
                    <a:pt x="15" y="33"/>
                  </a:cubicBezTo>
                  <a:cubicBezTo>
                    <a:pt x="32" y="59"/>
                    <a:pt x="32" y="59"/>
                    <a:pt x="32" y="59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6" y="50"/>
                    <a:pt x="56" y="50"/>
                    <a:pt x="56" y="50"/>
                  </a:cubicBezTo>
                  <a:cubicBezTo>
                    <a:pt x="58" y="48"/>
                    <a:pt x="61" y="47"/>
                    <a:pt x="64" y="45"/>
                  </a:cubicBezTo>
                  <a:cubicBezTo>
                    <a:pt x="69" y="43"/>
                    <a:pt x="69" y="43"/>
                    <a:pt x="69" y="43"/>
                  </a:cubicBezTo>
                  <a:cubicBezTo>
                    <a:pt x="65" y="39"/>
                    <a:pt x="65" y="39"/>
                    <a:pt x="65" y="39"/>
                  </a:cubicBezTo>
                  <a:cubicBezTo>
                    <a:pt x="61" y="35"/>
                    <a:pt x="59" y="29"/>
                    <a:pt x="59" y="23"/>
                  </a:cubicBezTo>
                  <a:cubicBezTo>
                    <a:pt x="59" y="11"/>
                    <a:pt x="69" y="0"/>
                    <a:pt x="82" y="0"/>
                  </a:cubicBezTo>
                  <a:cubicBezTo>
                    <a:pt x="84" y="0"/>
                    <a:pt x="86" y="1"/>
                    <a:pt x="88" y="1"/>
                  </a:cubicBezTo>
                  <a:cubicBezTo>
                    <a:pt x="98" y="4"/>
                    <a:pt x="105" y="13"/>
                    <a:pt x="105" y="23"/>
                  </a:cubicBezTo>
                  <a:cubicBezTo>
                    <a:pt x="105" y="29"/>
                    <a:pt x="102" y="35"/>
                    <a:pt x="99" y="39"/>
                  </a:cubicBezTo>
                  <a:cubicBezTo>
                    <a:pt x="95" y="43"/>
                    <a:pt x="95" y="43"/>
                    <a:pt x="95" y="43"/>
                  </a:cubicBezTo>
                  <a:cubicBezTo>
                    <a:pt x="100" y="45"/>
                    <a:pt x="100" y="45"/>
                    <a:pt x="100" y="45"/>
                  </a:cubicBezTo>
                  <a:cubicBezTo>
                    <a:pt x="115" y="52"/>
                    <a:pt x="124" y="67"/>
                    <a:pt x="124" y="83"/>
                  </a:cubicBezTo>
                  <a:lnTo>
                    <a:pt x="40" y="8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25"/>
            <p:cNvSpPr>
              <a:spLocks noEditPoints="1"/>
            </p:cNvSpPr>
            <p:nvPr/>
          </p:nvSpPr>
          <p:spPr bwMode="auto">
            <a:xfrm>
              <a:off x="4140201" y="3232150"/>
              <a:ext cx="395288" cy="314325"/>
            </a:xfrm>
            <a:custGeom>
              <a:avLst/>
              <a:gdLst>
                <a:gd name="T0" fmla="*/ 141 w 145"/>
                <a:gd name="T1" fmla="*/ 0 h 115"/>
                <a:gd name="T2" fmla="*/ 4 w 145"/>
                <a:gd name="T3" fmla="*/ 0 h 115"/>
                <a:gd name="T4" fmla="*/ 0 w 145"/>
                <a:gd name="T5" fmla="*/ 4 h 115"/>
                <a:gd name="T6" fmla="*/ 0 w 145"/>
                <a:gd name="T7" fmla="*/ 111 h 115"/>
                <a:gd name="T8" fmla="*/ 4 w 145"/>
                <a:gd name="T9" fmla="*/ 115 h 115"/>
                <a:gd name="T10" fmla="*/ 64 w 145"/>
                <a:gd name="T11" fmla="*/ 115 h 115"/>
                <a:gd name="T12" fmla="*/ 55 w 145"/>
                <a:gd name="T13" fmla="*/ 102 h 115"/>
                <a:gd name="T14" fmla="*/ 54 w 145"/>
                <a:gd name="T15" fmla="*/ 91 h 115"/>
                <a:gd name="T16" fmla="*/ 54 w 145"/>
                <a:gd name="T17" fmla="*/ 91 h 115"/>
                <a:gd name="T18" fmla="*/ 30 w 145"/>
                <a:gd name="T19" fmla="*/ 55 h 115"/>
                <a:gd name="T20" fmla="*/ 31 w 145"/>
                <a:gd name="T21" fmla="*/ 49 h 115"/>
                <a:gd name="T22" fmla="*/ 37 w 145"/>
                <a:gd name="T23" fmla="*/ 50 h 115"/>
                <a:gd name="T24" fmla="*/ 60 w 145"/>
                <a:gd name="T25" fmla="*/ 86 h 115"/>
                <a:gd name="T26" fmla="*/ 74 w 145"/>
                <a:gd name="T27" fmla="*/ 90 h 115"/>
                <a:gd name="T28" fmla="*/ 90 w 145"/>
                <a:gd name="T29" fmla="*/ 113 h 115"/>
                <a:gd name="T30" fmla="*/ 109 w 145"/>
                <a:gd name="T31" fmla="*/ 106 h 115"/>
                <a:gd name="T32" fmla="*/ 118 w 145"/>
                <a:gd name="T33" fmla="*/ 100 h 115"/>
                <a:gd name="T34" fmla="*/ 111 w 145"/>
                <a:gd name="T35" fmla="*/ 82 h 115"/>
                <a:gd name="T36" fmla="*/ 138 w 145"/>
                <a:gd name="T37" fmla="*/ 55 h 115"/>
                <a:gd name="T38" fmla="*/ 145 w 145"/>
                <a:gd name="T39" fmla="*/ 57 h 115"/>
                <a:gd name="T40" fmla="*/ 145 w 145"/>
                <a:gd name="T41" fmla="*/ 4 h 115"/>
                <a:gd name="T42" fmla="*/ 141 w 145"/>
                <a:gd name="T43" fmla="*/ 0 h 115"/>
                <a:gd name="T44" fmla="*/ 103 w 145"/>
                <a:gd name="T45" fmla="*/ 67 h 115"/>
                <a:gd name="T46" fmla="*/ 60 w 145"/>
                <a:gd name="T47" fmla="*/ 67 h 115"/>
                <a:gd name="T48" fmla="*/ 56 w 145"/>
                <a:gd name="T49" fmla="*/ 63 h 115"/>
                <a:gd name="T50" fmla="*/ 60 w 145"/>
                <a:gd name="T51" fmla="*/ 59 h 115"/>
                <a:gd name="T52" fmla="*/ 103 w 145"/>
                <a:gd name="T53" fmla="*/ 59 h 115"/>
                <a:gd name="T54" fmla="*/ 107 w 145"/>
                <a:gd name="T55" fmla="*/ 63 h 115"/>
                <a:gd name="T56" fmla="*/ 103 w 145"/>
                <a:gd name="T57" fmla="*/ 67 h 115"/>
                <a:gd name="T58" fmla="*/ 115 w 145"/>
                <a:gd name="T59" fmla="*/ 48 h 115"/>
                <a:gd name="T60" fmla="*/ 60 w 145"/>
                <a:gd name="T61" fmla="*/ 48 h 115"/>
                <a:gd name="T62" fmla="*/ 56 w 145"/>
                <a:gd name="T63" fmla="*/ 44 h 115"/>
                <a:gd name="T64" fmla="*/ 60 w 145"/>
                <a:gd name="T65" fmla="*/ 40 h 115"/>
                <a:gd name="T66" fmla="*/ 115 w 145"/>
                <a:gd name="T67" fmla="*/ 40 h 115"/>
                <a:gd name="T68" fmla="*/ 119 w 145"/>
                <a:gd name="T69" fmla="*/ 44 h 115"/>
                <a:gd name="T70" fmla="*/ 115 w 145"/>
                <a:gd name="T71" fmla="*/ 48 h 115"/>
                <a:gd name="T72" fmla="*/ 115 w 145"/>
                <a:gd name="T73" fmla="*/ 28 h 115"/>
                <a:gd name="T74" fmla="*/ 60 w 145"/>
                <a:gd name="T75" fmla="*/ 28 h 115"/>
                <a:gd name="T76" fmla="*/ 56 w 145"/>
                <a:gd name="T77" fmla="*/ 24 h 115"/>
                <a:gd name="T78" fmla="*/ 60 w 145"/>
                <a:gd name="T79" fmla="*/ 20 h 115"/>
                <a:gd name="T80" fmla="*/ 115 w 145"/>
                <a:gd name="T81" fmla="*/ 20 h 115"/>
                <a:gd name="T82" fmla="*/ 119 w 145"/>
                <a:gd name="T83" fmla="*/ 24 h 115"/>
                <a:gd name="T84" fmla="*/ 115 w 145"/>
                <a:gd name="T85" fmla="*/ 2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5" h="115">
                  <a:moveTo>
                    <a:pt x="14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3"/>
                    <a:pt x="1" y="115"/>
                    <a:pt x="4" y="115"/>
                  </a:cubicBezTo>
                  <a:cubicBezTo>
                    <a:pt x="64" y="115"/>
                    <a:pt x="64" y="115"/>
                    <a:pt x="64" y="115"/>
                  </a:cubicBezTo>
                  <a:cubicBezTo>
                    <a:pt x="55" y="102"/>
                    <a:pt x="55" y="102"/>
                    <a:pt x="55" y="102"/>
                  </a:cubicBezTo>
                  <a:cubicBezTo>
                    <a:pt x="53" y="99"/>
                    <a:pt x="53" y="95"/>
                    <a:pt x="54" y="91"/>
                  </a:cubicBezTo>
                  <a:cubicBezTo>
                    <a:pt x="54" y="91"/>
                    <a:pt x="54" y="91"/>
                    <a:pt x="54" y="91"/>
                  </a:cubicBezTo>
                  <a:cubicBezTo>
                    <a:pt x="30" y="55"/>
                    <a:pt x="30" y="55"/>
                    <a:pt x="30" y="55"/>
                  </a:cubicBezTo>
                  <a:cubicBezTo>
                    <a:pt x="29" y="53"/>
                    <a:pt x="29" y="50"/>
                    <a:pt x="31" y="49"/>
                  </a:cubicBezTo>
                  <a:cubicBezTo>
                    <a:pt x="33" y="48"/>
                    <a:pt x="36" y="48"/>
                    <a:pt x="37" y="50"/>
                  </a:cubicBezTo>
                  <a:cubicBezTo>
                    <a:pt x="60" y="86"/>
                    <a:pt x="60" y="86"/>
                    <a:pt x="60" y="86"/>
                  </a:cubicBezTo>
                  <a:cubicBezTo>
                    <a:pt x="65" y="83"/>
                    <a:pt x="71" y="85"/>
                    <a:pt x="74" y="90"/>
                  </a:cubicBezTo>
                  <a:cubicBezTo>
                    <a:pt x="90" y="113"/>
                    <a:pt x="90" y="113"/>
                    <a:pt x="90" y="113"/>
                  </a:cubicBezTo>
                  <a:cubicBezTo>
                    <a:pt x="109" y="106"/>
                    <a:pt x="109" y="106"/>
                    <a:pt x="109" y="106"/>
                  </a:cubicBezTo>
                  <a:cubicBezTo>
                    <a:pt x="112" y="104"/>
                    <a:pt x="115" y="102"/>
                    <a:pt x="118" y="100"/>
                  </a:cubicBezTo>
                  <a:cubicBezTo>
                    <a:pt x="114" y="96"/>
                    <a:pt x="111" y="89"/>
                    <a:pt x="111" y="82"/>
                  </a:cubicBezTo>
                  <a:cubicBezTo>
                    <a:pt x="111" y="68"/>
                    <a:pt x="123" y="55"/>
                    <a:pt x="138" y="55"/>
                  </a:cubicBezTo>
                  <a:cubicBezTo>
                    <a:pt x="140" y="55"/>
                    <a:pt x="143" y="56"/>
                    <a:pt x="145" y="57"/>
                  </a:cubicBezTo>
                  <a:cubicBezTo>
                    <a:pt x="145" y="4"/>
                    <a:pt x="145" y="4"/>
                    <a:pt x="145" y="4"/>
                  </a:cubicBezTo>
                  <a:cubicBezTo>
                    <a:pt x="145" y="2"/>
                    <a:pt x="143" y="0"/>
                    <a:pt x="141" y="0"/>
                  </a:cubicBezTo>
                  <a:close/>
                  <a:moveTo>
                    <a:pt x="103" y="67"/>
                  </a:moveTo>
                  <a:cubicBezTo>
                    <a:pt x="60" y="67"/>
                    <a:pt x="60" y="67"/>
                    <a:pt x="60" y="67"/>
                  </a:cubicBezTo>
                  <a:cubicBezTo>
                    <a:pt x="58" y="67"/>
                    <a:pt x="56" y="65"/>
                    <a:pt x="56" y="63"/>
                  </a:cubicBezTo>
                  <a:cubicBezTo>
                    <a:pt x="56" y="61"/>
                    <a:pt x="58" y="59"/>
                    <a:pt x="60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6" y="59"/>
                    <a:pt x="107" y="61"/>
                    <a:pt x="107" y="63"/>
                  </a:cubicBezTo>
                  <a:cubicBezTo>
                    <a:pt x="107" y="65"/>
                    <a:pt x="106" y="67"/>
                    <a:pt x="103" y="67"/>
                  </a:cubicBezTo>
                  <a:close/>
                  <a:moveTo>
                    <a:pt x="115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58" y="48"/>
                    <a:pt x="56" y="46"/>
                    <a:pt x="56" y="44"/>
                  </a:cubicBezTo>
                  <a:cubicBezTo>
                    <a:pt x="56" y="41"/>
                    <a:pt x="58" y="40"/>
                    <a:pt x="60" y="40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9" y="41"/>
                    <a:pt x="119" y="44"/>
                  </a:cubicBezTo>
                  <a:cubicBezTo>
                    <a:pt x="119" y="46"/>
                    <a:pt x="117" y="48"/>
                    <a:pt x="115" y="48"/>
                  </a:cubicBezTo>
                  <a:close/>
                  <a:moveTo>
                    <a:pt x="115" y="28"/>
                  </a:moveTo>
                  <a:cubicBezTo>
                    <a:pt x="60" y="28"/>
                    <a:pt x="60" y="28"/>
                    <a:pt x="60" y="28"/>
                  </a:cubicBezTo>
                  <a:cubicBezTo>
                    <a:pt x="58" y="28"/>
                    <a:pt x="56" y="27"/>
                    <a:pt x="56" y="24"/>
                  </a:cubicBezTo>
                  <a:cubicBezTo>
                    <a:pt x="56" y="22"/>
                    <a:pt x="58" y="20"/>
                    <a:pt x="60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7" y="20"/>
                    <a:pt x="119" y="22"/>
                    <a:pt x="119" y="24"/>
                  </a:cubicBezTo>
                  <a:cubicBezTo>
                    <a:pt x="119" y="27"/>
                    <a:pt x="117" y="28"/>
                    <a:pt x="115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26"/>
            <p:cNvSpPr/>
            <p:nvPr/>
          </p:nvSpPr>
          <p:spPr bwMode="auto">
            <a:xfrm>
              <a:off x="4113213" y="3578225"/>
              <a:ext cx="220663" cy="22225"/>
            </a:xfrm>
            <a:custGeom>
              <a:avLst/>
              <a:gdLst>
                <a:gd name="T0" fmla="*/ 77 w 81"/>
                <a:gd name="T1" fmla="*/ 8 h 8"/>
                <a:gd name="T2" fmla="*/ 3 w 81"/>
                <a:gd name="T3" fmla="*/ 8 h 8"/>
                <a:gd name="T4" fmla="*/ 0 w 81"/>
                <a:gd name="T5" fmla="*/ 4 h 8"/>
                <a:gd name="T6" fmla="*/ 3 w 81"/>
                <a:gd name="T7" fmla="*/ 0 h 8"/>
                <a:gd name="T8" fmla="*/ 77 w 81"/>
                <a:gd name="T9" fmla="*/ 0 h 8"/>
                <a:gd name="T10" fmla="*/ 81 w 81"/>
                <a:gd name="T11" fmla="*/ 4 h 8"/>
                <a:gd name="T12" fmla="*/ 77 w 81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8">
                  <a:moveTo>
                    <a:pt x="77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1" y="8"/>
                    <a:pt x="0" y="6"/>
                    <a:pt x="0" y="4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9" y="0"/>
                    <a:pt x="81" y="1"/>
                    <a:pt x="81" y="4"/>
                  </a:cubicBezTo>
                  <a:cubicBezTo>
                    <a:pt x="81" y="6"/>
                    <a:pt x="79" y="8"/>
                    <a:pt x="7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2648902" y="2668326"/>
            <a:ext cx="74247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二叉链表的实现</a:t>
            </a:r>
            <a:r>
              <a:rPr lang="en-US" altLang="zh-CN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前序、中序、后序遍历</a:t>
            </a:r>
          </a:p>
        </p:txBody>
      </p:sp>
      <p:grpSp>
        <p:nvGrpSpPr>
          <p:cNvPr id="21" name="Group 40"/>
          <p:cNvGrpSpPr/>
          <p:nvPr/>
        </p:nvGrpSpPr>
        <p:grpSpPr>
          <a:xfrm>
            <a:off x="1903785" y="3446871"/>
            <a:ext cx="517526" cy="387350"/>
            <a:chOff x="4113213" y="3232150"/>
            <a:chExt cx="517526" cy="387350"/>
          </a:xfrm>
          <a:solidFill>
            <a:srgbClr val="5A327D"/>
          </a:solidFill>
        </p:grpSpPr>
        <p:sp>
          <p:nvSpPr>
            <p:cNvPr id="26" name="Freeform 124"/>
            <p:cNvSpPr/>
            <p:nvPr/>
          </p:nvSpPr>
          <p:spPr bwMode="auto">
            <a:xfrm>
              <a:off x="4292601" y="3394075"/>
              <a:ext cx="338138" cy="225425"/>
            </a:xfrm>
            <a:custGeom>
              <a:avLst/>
              <a:gdLst>
                <a:gd name="T0" fmla="*/ 40 w 124"/>
                <a:gd name="T1" fmla="*/ 83 h 83"/>
                <a:gd name="T2" fmla="*/ 40 w 124"/>
                <a:gd name="T3" fmla="*/ 78 h 83"/>
                <a:gd name="T4" fmla="*/ 41 w 124"/>
                <a:gd name="T5" fmla="*/ 71 h 83"/>
                <a:gd name="T6" fmla="*/ 32 w 124"/>
                <a:gd name="T7" fmla="*/ 75 h 83"/>
                <a:gd name="T8" fmla="*/ 29 w 124"/>
                <a:gd name="T9" fmla="*/ 75 h 83"/>
                <a:gd name="T10" fmla="*/ 23 w 124"/>
                <a:gd name="T11" fmla="*/ 72 h 83"/>
                <a:gd name="T12" fmla="*/ 3 w 124"/>
                <a:gd name="T13" fmla="*/ 41 h 83"/>
                <a:gd name="T14" fmla="*/ 5 w 124"/>
                <a:gd name="T15" fmla="*/ 31 h 83"/>
                <a:gd name="T16" fmla="*/ 9 w 124"/>
                <a:gd name="T17" fmla="*/ 30 h 83"/>
                <a:gd name="T18" fmla="*/ 15 w 124"/>
                <a:gd name="T19" fmla="*/ 33 h 83"/>
                <a:gd name="T20" fmla="*/ 32 w 124"/>
                <a:gd name="T21" fmla="*/ 59 h 83"/>
                <a:gd name="T22" fmla="*/ 55 w 124"/>
                <a:gd name="T23" fmla="*/ 50 h 83"/>
                <a:gd name="T24" fmla="*/ 56 w 124"/>
                <a:gd name="T25" fmla="*/ 50 h 83"/>
                <a:gd name="T26" fmla="*/ 64 w 124"/>
                <a:gd name="T27" fmla="*/ 45 h 83"/>
                <a:gd name="T28" fmla="*/ 69 w 124"/>
                <a:gd name="T29" fmla="*/ 43 h 83"/>
                <a:gd name="T30" fmla="*/ 65 w 124"/>
                <a:gd name="T31" fmla="*/ 39 h 83"/>
                <a:gd name="T32" fmla="*/ 59 w 124"/>
                <a:gd name="T33" fmla="*/ 23 h 83"/>
                <a:gd name="T34" fmla="*/ 82 w 124"/>
                <a:gd name="T35" fmla="*/ 0 h 83"/>
                <a:gd name="T36" fmla="*/ 88 w 124"/>
                <a:gd name="T37" fmla="*/ 1 h 83"/>
                <a:gd name="T38" fmla="*/ 105 w 124"/>
                <a:gd name="T39" fmla="*/ 23 h 83"/>
                <a:gd name="T40" fmla="*/ 99 w 124"/>
                <a:gd name="T41" fmla="*/ 39 h 83"/>
                <a:gd name="T42" fmla="*/ 95 w 124"/>
                <a:gd name="T43" fmla="*/ 43 h 83"/>
                <a:gd name="T44" fmla="*/ 100 w 124"/>
                <a:gd name="T45" fmla="*/ 45 h 83"/>
                <a:gd name="T46" fmla="*/ 124 w 124"/>
                <a:gd name="T47" fmla="*/ 83 h 83"/>
                <a:gd name="T48" fmla="*/ 40 w 124"/>
                <a:gd name="T49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4" h="83">
                  <a:moveTo>
                    <a:pt x="40" y="83"/>
                  </a:moveTo>
                  <a:cubicBezTo>
                    <a:pt x="40" y="81"/>
                    <a:pt x="40" y="80"/>
                    <a:pt x="40" y="78"/>
                  </a:cubicBezTo>
                  <a:cubicBezTo>
                    <a:pt x="41" y="71"/>
                    <a:pt x="41" y="71"/>
                    <a:pt x="41" y="71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1" y="75"/>
                    <a:pt x="30" y="75"/>
                    <a:pt x="29" y="75"/>
                  </a:cubicBezTo>
                  <a:cubicBezTo>
                    <a:pt x="27" y="75"/>
                    <a:pt x="24" y="74"/>
                    <a:pt x="23" y="7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0" y="37"/>
                    <a:pt x="1" y="33"/>
                    <a:pt x="5" y="31"/>
                  </a:cubicBezTo>
                  <a:cubicBezTo>
                    <a:pt x="6" y="30"/>
                    <a:pt x="7" y="30"/>
                    <a:pt x="9" y="30"/>
                  </a:cubicBezTo>
                  <a:cubicBezTo>
                    <a:pt x="11" y="30"/>
                    <a:pt x="13" y="31"/>
                    <a:pt x="15" y="33"/>
                  </a:cubicBezTo>
                  <a:cubicBezTo>
                    <a:pt x="32" y="59"/>
                    <a:pt x="32" y="59"/>
                    <a:pt x="32" y="59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6" y="50"/>
                    <a:pt x="56" y="50"/>
                    <a:pt x="56" y="50"/>
                  </a:cubicBezTo>
                  <a:cubicBezTo>
                    <a:pt x="58" y="48"/>
                    <a:pt x="61" y="47"/>
                    <a:pt x="64" y="45"/>
                  </a:cubicBezTo>
                  <a:cubicBezTo>
                    <a:pt x="69" y="43"/>
                    <a:pt x="69" y="43"/>
                    <a:pt x="69" y="43"/>
                  </a:cubicBezTo>
                  <a:cubicBezTo>
                    <a:pt x="65" y="39"/>
                    <a:pt x="65" y="39"/>
                    <a:pt x="65" y="39"/>
                  </a:cubicBezTo>
                  <a:cubicBezTo>
                    <a:pt x="61" y="35"/>
                    <a:pt x="59" y="29"/>
                    <a:pt x="59" y="23"/>
                  </a:cubicBezTo>
                  <a:cubicBezTo>
                    <a:pt x="59" y="11"/>
                    <a:pt x="69" y="0"/>
                    <a:pt x="82" y="0"/>
                  </a:cubicBezTo>
                  <a:cubicBezTo>
                    <a:pt x="84" y="0"/>
                    <a:pt x="86" y="1"/>
                    <a:pt x="88" y="1"/>
                  </a:cubicBezTo>
                  <a:cubicBezTo>
                    <a:pt x="98" y="4"/>
                    <a:pt x="105" y="13"/>
                    <a:pt x="105" y="23"/>
                  </a:cubicBezTo>
                  <a:cubicBezTo>
                    <a:pt x="105" y="29"/>
                    <a:pt x="102" y="35"/>
                    <a:pt x="99" y="39"/>
                  </a:cubicBezTo>
                  <a:cubicBezTo>
                    <a:pt x="95" y="43"/>
                    <a:pt x="95" y="43"/>
                    <a:pt x="95" y="43"/>
                  </a:cubicBezTo>
                  <a:cubicBezTo>
                    <a:pt x="100" y="45"/>
                    <a:pt x="100" y="45"/>
                    <a:pt x="100" y="45"/>
                  </a:cubicBezTo>
                  <a:cubicBezTo>
                    <a:pt x="115" y="52"/>
                    <a:pt x="124" y="67"/>
                    <a:pt x="124" y="83"/>
                  </a:cubicBezTo>
                  <a:lnTo>
                    <a:pt x="40" y="8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125"/>
            <p:cNvSpPr>
              <a:spLocks noEditPoints="1"/>
            </p:cNvSpPr>
            <p:nvPr/>
          </p:nvSpPr>
          <p:spPr bwMode="auto">
            <a:xfrm>
              <a:off x="4140201" y="3232150"/>
              <a:ext cx="395288" cy="314325"/>
            </a:xfrm>
            <a:custGeom>
              <a:avLst/>
              <a:gdLst>
                <a:gd name="T0" fmla="*/ 141 w 145"/>
                <a:gd name="T1" fmla="*/ 0 h 115"/>
                <a:gd name="T2" fmla="*/ 4 w 145"/>
                <a:gd name="T3" fmla="*/ 0 h 115"/>
                <a:gd name="T4" fmla="*/ 0 w 145"/>
                <a:gd name="T5" fmla="*/ 4 h 115"/>
                <a:gd name="T6" fmla="*/ 0 w 145"/>
                <a:gd name="T7" fmla="*/ 111 h 115"/>
                <a:gd name="T8" fmla="*/ 4 w 145"/>
                <a:gd name="T9" fmla="*/ 115 h 115"/>
                <a:gd name="T10" fmla="*/ 64 w 145"/>
                <a:gd name="T11" fmla="*/ 115 h 115"/>
                <a:gd name="T12" fmla="*/ 55 w 145"/>
                <a:gd name="T13" fmla="*/ 102 h 115"/>
                <a:gd name="T14" fmla="*/ 54 w 145"/>
                <a:gd name="T15" fmla="*/ 91 h 115"/>
                <a:gd name="T16" fmla="*/ 54 w 145"/>
                <a:gd name="T17" fmla="*/ 91 h 115"/>
                <a:gd name="T18" fmla="*/ 30 w 145"/>
                <a:gd name="T19" fmla="*/ 55 h 115"/>
                <a:gd name="T20" fmla="*/ 31 w 145"/>
                <a:gd name="T21" fmla="*/ 49 h 115"/>
                <a:gd name="T22" fmla="*/ 37 w 145"/>
                <a:gd name="T23" fmla="*/ 50 h 115"/>
                <a:gd name="T24" fmla="*/ 60 w 145"/>
                <a:gd name="T25" fmla="*/ 86 h 115"/>
                <a:gd name="T26" fmla="*/ 74 w 145"/>
                <a:gd name="T27" fmla="*/ 90 h 115"/>
                <a:gd name="T28" fmla="*/ 90 w 145"/>
                <a:gd name="T29" fmla="*/ 113 h 115"/>
                <a:gd name="T30" fmla="*/ 109 w 145"/>
                <a:gd name="T31" fmla="*/ 106 h 115"/>
                <a:gd name="T32" fmla="*/ 118 w 145"/>
                <a:gd name="T33" fmla="*/ 100 h 115"/>
                <a:gd name="T34" fmla="*/ 111 w 145"/>
                <a:gd name="T35" fmla="*/ 82 h 115"/>
                <a:gd name="T36" fmla="*/ 138 w 145"/>
                <a:gd name="T37" fmla="*/ 55 h 115"/>
                <a:gd name="T38" fmla="*/ 145 w 145"/>
                <a:gd name="T39" fmla="*/ 57 h 115"/>
                <a:gd name="T40" fmla="*/ 145 w 145"/>
                <a:gd name="T41" fmla="*/ 4 h 115"/>
                <a:gd name="T42" fmla="*/ 141 w 145"/>
                <a:gd name="T43" fmla="*/ 0 h 115"/>
                <a:gd name="T44" fmla="*/ 103 w 145"/>
                <a:gd name="T45" fmla="*/ 67 h 115"/>
                <a:gd name="T46" fmla="*/ 60 w 145"/>
                <a:gd name="T47" fmla="*/ 67 h 115"/>
                <a:gd name="T48" fmla="*/ 56 w 145"/>
                <a:gd name="T49" fmla="*/ 63 h 115"/>
                <a:gd name="T50" fmla="*/ 60 w 145"/>
                <a:gd name="T51" fmla="*/ 59 h 115"/>
                <a:gd name="T52" fmla="*/ 103 w 145"/>
                <a:gd name="T53" fmla="*/ 59 h 115"/>
                <a:gd name="T54" fmla="*/ 107 w 145"/>
                <a:gd name="T55" fmla="*/ 63 h 115"/>
                <a:gd name="T56" fmla="*/ 103 w 145"/>
                <a:gd name="T57" fmla="*/ 67 h 115"/>
                <a:gd name="T58" fmla="*/ 115 w 145"/>
                <a:gd name="T59" fmla="*/ 48 h 115"/>
                <a:gd name="T60" fmla="*/ 60 w 145"/>
                <a:gd name="T61" fmla="*/ 48 h 115"/>
                <a:gd name="T62" fmla="*/ 56 w 145"/>
                <a:gd name="T63" fmla="*/ 44 h 115"/>
                <a:gd name="T64" fmla="*/ 60 w 145"/>
                <a:gd name="T65" fmla="*/ 40 h 115"/>
                <a:gd name="T66" fmla="*/ 115 w 145"/>
                <a:gd name="T67" fmla="*/ 40 h 115"/>
                <a:gd name="T68" fmla="*/ 119 w 145"/>
                <a:gd name="T69" fmla="*/ 44 h 115"/>
                <a:gd name="T70" fmla="*/ 115 w 145"/>
                <a:gd name="T71" fmla="*/ 48 h 115"/>
                <a:gd name="T72" fmla="*/ 115 w 145"/>
                <a:gd name="T73" fmla="*/ 28 h 115"/>
                <a:gd name="T74" fmla="*/ 60 w 145"/>
                <a:gd name="T75" fmla="*/ 28 h 115"/>
                <a:gd name="T76" fmla="*/ 56 w 145"/>
                <a:gd name="T77" fmla="*/ 24 h 115"/>
                <a:gd name="T78" fmla="*/ 60 w 145"/>
                <a:gd name="T79" fmla="*/ 20 h 115"/>
                <a:gd name="T80" fmla="*/ 115 w 145"/>
                <a:gd name="T81" fmla="*/ 20 h 115"/>
                <a:gd name="T82" fmla="*/ 119 w 145"/>
                <a:gd name="T83" fmla="*/ 24 h 115"/>
                <a:gd name="T84" fmla="*/ 115 w 145"/>
                <a:gd name="T85" fmla="*/ 2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5" h="115">
                  <a:moveTo>
                    <a:pt x="14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3"/>
                    <a:pt x="1" y="115"/>
                    <a:pt x="4" y="115"/>
                  </a:cubicBezTo>
                  <a:cubicBezTo>
                    <a:pt x="64" y="115"/>
                    <a:pt x="64" y="115"/>
                    <a:pt x="64" y="115"/>
                  </a:cubicBezTo>
                  <a:cubicBezTo>
                    <a:pt x="55" y="102"/>
                    <a:pt x="55" y="102"/>
                    <a:pt x="55" y="102"/>
                  </a:cubicBezTo>
                  <a:cubicBezTo>
                    <a:pt x="53" y="99"/>
                    <a:pt x="53" y="95"/>
                    <a:pt x="54" y="91"/>
                  </a:cubicBezTo>
                  <a:cubicBezTo>
                    <a:pt x="54" y="91"/>
                    <a:pt x="54" y="91"/>
                    <a:pt x="54" y="91"/>
                  </a:cubicBezTo>
                  <a:cubicBezTo>
                    <a:pt x="30" y="55"/>
                    <a:pt x="30" y="55"/>
                    <a:pt x="30" y="55"/>
                  </a:cubicBezTo>
                  <a:cubicBezTo>
                    <a:pt x="29" y="53"/>
                    <a:pt x="29" y="50"/>
                    <a:pt x="31" y="49"/>
                  </a:cubicBezTo>
                  <a:cubicBezTo>
                    <a:pt x="33" y="48"/>
                    <a:pt x="36" y="48"/>
                    <a:pt x="37" y="50"/>
                  </a:cubicBezTo>
                  <a:cubicBezTo>
                    <a:pt x="60" y="86"/>
                    <a:pt x="60" y="86"/>
                    <a:pt x="60" y="86"/>
                  </a:cubicBezTo>
                  <a:cubicBezTo>
                    <a:pt x="65" y="83"/>
                    <a:pt x="71" y="85"/>
                    <a:pt x="74" y="90"/>
                  </a:cubicBezTo>
                  <a:cubicBezTo>
                    <a:pt x="90" y="113"/>
                    <a:pt x="90" y="113"/>
                    <a:pt x="90" y="113"/>
                  </a:cubicBezTo>
                  <a:cubicBezTo>
                    <a:pt x="109" y="106"/>
                    <a:pt x="109" y="106"/>
                    <a:pt x="109" y="106"/>
                  </a:cubicBezTo>
                  <a:cubicBezTo>
                    <a:pt x="112" y="104"/>
                    <a:pt x="115" y="102"/>
                    <a:pt x="118" y="100"/>
                  </a:cubicBezTo>
                  <a:cubicBezTo>
                    <a:pt x="114" y="96"/>
                    <a:pt x="111" y="89"/>
                    <a:pt x="111" y="82"/>
                  </a:cubicBezTo>
                  <a:cubicBezTo>
                    <a:pt x="111" y="68"/>
                    <a:pt x="123" y="55"/>
                    <a:pt x="138" y="55"/>
                  </a:cubicBezTo>
                  <a:cubicBezTo>
                    <a:pt x="140" y="55"/>
                    <a:pt x="143" y="56"/>
                    <a:pt x="145" y="57"/>
                  </a:cubicBezTo>
                  <a:cubicBezTo>
                    <a:pt x="145" y="4"/>
                    <a:pt x="145" y="4"/>
                    <a:pt x="145" y="4"/>
                  </a:cubicBezTo>
                  <a:cubicBezTo>
                    <a:pt x="145" y="2"/>
                    <a:pt x="143" y="0"/>
                    <a:pt x="141" y="0"/>
                  </a:cubicBezTo>
                  <a:close/>
                  <a:moveTo>
                    <a:pt x="103" y="67"/>
                  </a:moveTo>
                  <a:cubicBezTo>
                    <a:pt x="60" y="67"/>
                    <a:pt x="60" y="67"/>
                    <a:pt x="60" y="67"/>
                  </a:cubicBezTo>
                  <a:cubicBezTo>
                    <a:pt x="58" y="67"/>
                    <a:pt x="56" y="65"/>
                    <a:pt x="56" y="63"/>
                  </a:cubicBezTo>
                  <a:cubicBezTo>
                    <a:pt x="56" y="61"/>
                    <a:pt x="58" y="59"/>
                    <a:pt x="60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6" y="59"/>
                    <a:pt x="107" y="61"/>
                    <a:pt x="107" y="63"/>
                  </a:cubicBezTo>
                  <a:cubicBezTo>
                    <a:pt x="107" y="65"/>
                    <a:pt x="106" y="67"/>
                    <a:pt x="103" y="67"/>
                  </a:cubicBezTo>
                  <a:close/>
                  <a:moveTo>
                    <a:pt x="115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58" y="48"/>
                    <a:pt x="56" y="46"/>
                    <a:pt x="56" y="44"/>
                  </a:cubicBezTo>
                  <a:cubicBezTo>
                    <a:pt x="56" y="41"/>
                    <a:pt x="58" y="40"/>
                    <a:pt x="60" y="40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9" y="41"/>
                    <a:pt x="119" y="44"/>
                  </a:cubicBezTo>
                  <a:cubicBezTo>
                    <a:pt x="119" y="46"/>
                    <a:pt x="117" y="48"/>
                    <a:pt x="115" y="48"/>
                  </a:cubicBezTo>
                  <a:close/>
                  <a:moveTo>
                    <a:pt x="115" y="28"/>
                  </a:moveTo>
                  <a:cubicBezTo>
                    <a:pt x="60" y="28"/>
                    <a:pt x="60" y="28"/>
                    <a:pt x="60" y="28"/>
                  </a:cubicBezTo>
                  <a:cubicBezTo>
                    <a:pt x="58" y="28"/>
                    <a:pt x="56" y="27"/>
                    <a:pt x="56" y="24"/>
                  </a:cubicBezTo>
                  <a:cubicBezTo>
                    <a:pt x="56" y="22"/>
                    <a:pt x="58" y="20"/>
                    <a:pt x="60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7" y="20"/>
                    <a:pt x="119" y="22"/>
                    <a:pt x="119" y="24"/>
                  </a:cubicBezTo>
                  <a:cubicBezTo>
                    <a:pt x="119" y="27"/>
                    <a:pt x="117" y="28"/>
                    <a:pt x="115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126"/>
            <p:cNvSpPr/>
            <p:nvPr/>
          </p:nvSpPr>
          <p:spPr bwMode="auto">
            <a:xfrm>
              <a:off x="4113213" y="3578225"/>
              <a:ext cx="220663" cy="22225"/>
            </a:xfrm>
            <a:custGeom>
              <a:avLst/>
              <a:gdLst>
                <a:gd name="T0" fmla="*/ 77 w 81"/>
                <a:gd name="T1" fmla="*/ 8 h 8"/>
                <a:gd name="T2" fmla="*/ 3 w 81"/>
                <a:gd name="T3" fmla="*/ 8 h 8"/>
                <a:gd name="T4" fmla="*/ 0 w 81"/>
                <a:gd name="T5" fmla="*/ 4 h 8"/>
                <a:gd name="T6" fmla="*/ 3 w 81"/>
                <a:gd name="T7" fmla="*/ 0 h 8"/>
                <a:gd name="T8" fmla="*/ 77 w 81"/>
                <a:gd name="T9" fmla="*/ 0 h 8"/>
                <a:gd name="T10" fmla="*/ 81 w 81"/>
                <a:gd name="T11" fmla="*/ 4 h 8"/>
                <a:gd name="T12" fmla="*/ 77 w 81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8">
                  <a:moveTo>
                    <a:pt x="77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1" y="8"/>
                    <a:pt x="0" y="6"/>
                    <a:pt x="0" y="4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9" y="0"/>
                    <a:pt x="81" y="1"/>
                    <a:pt x="81" y="4"/>
                  </a:cubicBezTo>
                  <a:cubicBezTo>
                    <a:pt x="81" y="6"/>
                    <a:pt x="79" y="8"/>
                    <a:pt x="7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9" name="Text Box 19"/>
          <p:cNvSpPr txBox="1">
            <a:spLocks noChangeArrowheads="1"/>
          </p:cNvSpPr>
          <p:nvPr/>
        </p:nvSpPr>
        <p:spPr bwMode="auto">
          <a:xfrm>
            <a:off x="2648902" y="3381558"/>
            <a:ext cx="74247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二叉链表的实现</a:t>
            </a:r>
            <a:r>
              <a:rPr lang="en-US" altLang="zh-CN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层序遍历</a:t>
            </a:r>
          </a:p>
        </p:txBody>
      </p:sp>
      <p:grpSp>
        <p:nvGrpSpPr>
          <p:cNvPr id="30" name="Group 40"/>
          <p:cNvGrpSpPr/>
          <p:nvPr/>
        </p:nvGrpSpPr>
        <p:grpSpPr>
          <a:xfrm>
            <a:off x="1903785" y="4160103"/>
            <a:ext cx="517526" cy="387350"/>
            <a:chOff x="4113213" y="3232150"/>
            <a:chExt cx="517526" cy="387350"/>
          </a:xfrm>
          <a:solidFill>
            <a:srgbClr val="5A327D"/>
          </a:solidFill>
        </p:grpSpPr>
        <p:sp>
          <p:nvSpPr>
            <p:cNvPr id="31" name="Freeform 124"/>
            <p:cNvSpPr/>
            <p:nvPr/>
          </p:nvSpPr>
          <p:spPr bwMode="auto">
            <a:xfrm>
              <a:off x="4292601" y="3394075"/>
              <a:ext cx="338138" cy="225425"/>
            </a:xfrm>
            <a:custGeom>
              <a:avLst/>
              <a:gdLst>
                <a:gd name="T0" fmla="*/ 40 w 124"/>
                <a:gd name="T1" fmla="*/ 83 h 83"/>
                <a:gd name="T2" fmla="*/ 40 w 124"/>
                <a:gd name="T3" fmla="*/ 78 h 83"/>
                <a:gd name="T4" fmla="*/ 41 w 124"/>
                <a:gd name="T5" fmla="*/ 71 h 83"/>
                <a:gd name="T6" fmla="*/ 32 w 124"/>
                <a:gd name="T7" fmla="*/ 75 h 83"/>
                <a:gd name="T8" fmla="*/ 29 w 124"/>
                <a:gd name="T9" fmla="*/ 75 h 83"/>
                <a:gd name="T10" fmla="*/ 23 w 124"/>
                <a:gd name="T11" fmla="*/ 72 h 83"/>
                <a:gd name="T12" fmla="*/ 3 w 124"/>
                <a:gd name="T13" fmla="*/ 41 h 83"/>
                <a:gd name="T14" fmla="*/ 5 w 124"/>
                <a:gd name="T15" fmla="*/ 31 h 83"/>
                <a:gd name="T16" fmla="*/ 9 w 124"/>
                <a:gd name="T17" fmla="*/ 30 h 83"/>
                <a:gd name="T18" fmla="*/ 15 w 124"/>
                <a:gd name="T19" fmla="*/ 33 h 83"/>
                <a:gd name="T20" fmla="*/ 32 w 124"/>
                <a:gd name="T21" fmla="*/ 59 h 83"/>
                <a:gd name="T22" fmla="*/ 55 w 124"/>
                <a:gd name="T23" fmla="*/ 50 h 83"/>
                <a:gd name="T24" fmla="*/ 56 w 124"/>
                <a:gd name="T25" fmla="*/ 50 h 83"/>
                <a:gd name="T26" fmla="*/ 64 w 124"/>
                <a:gd name="T27" fmla="*/ 45 h 83"/>
                <a:gd name="T28" fmla="*/ 69 w 124"/>
                <a:gd name="T29" fmla="*/ 43 h 83"/>
                <a:gd name="T30" fmla="*/ 65 w 124"/>
                <a:gd name="T31" fmla="*/ 39 h 83"/>
                <a:gd name="T32" fmla="*/ 59 w 124"/>
                <a:gd name="T33" fmla="*/ 23 h 83"/>
                <a:gd name="T34" fmla="*/ 82 w 124"/>
                <a:gd name="T35" fmla="*/ 0 h 83"/>
                <a:gd name="T36" fmla="*/ 88 w 124"/>
                <a:gd name="T37" fmla="*/ 1 h 83"/>
                <a:gd name="T38" fmla="*/ 105 w 124"/>
                <a:gd name="T39" fmla="*/ 23 h 83"/>
                <a:gd name="T40" fmla="*/ 99 w 124"/>
                <a:gd name="T41" fmla="*/ 39 h 83"/>
                <a:gd name="T42" fmla="*/ 95 w 124"/>
                <a:gd name="T43" fmla="*/ 43 h 83"/>
                <a:gd name="T44" fmla="*/ 100 w 124"/>
                <a:gd name="T45" fmla="*/ 45 h 83"/>
                <a:gd name="T46" fmla="*/ 124 w 124"/>
                <a:gd name="T47" fmla="*/ 83 h 83"/>
                <a:gd name="T48" fmla="*/ 40 w 124"/>
                <a:gd name="T49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4" h="83">
                  <a:moveTo>
                    <a:pt x="40" y="83"/>
                  </a:moveTo>
                  <a:cubicBezTo>
                    <a:pt x="40" y="81"/>
                    <a:pt x="40" y="80"/>
                    <a:pt x="40" y="78"/>
                  </a:cubicBezTo>
                  <a:cubicBezTo>
                    <a:pt x="41" y="71"/>
                    <a:pt x="41" y="71"/>
                    <a:pt x="41" y="71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1" y="75"/>
                    <a:pt x="30" y="75"/>
                    <a:pt x="29" y="75"/>
                  </a:cubicBezTo>
                  <a:cubicBezTo>
                    <a:pt x="27" y="75"/>
                    <a:pt x="24" y="74"/>
                    <a:pt x="23" y="7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0" y="37"/>
                    <a:pt x="1" y="33"/>
                    <a:pt x="5" y="31"/>
                  </a:cubicBezTo>
                  <a:cubicBezTo>
                    <a:pt x="6" y="30"/>
                    <a:pt x="7" y="30"/>
                    <a:pt x="9" y="30"/>
                  </a:cubicBezTo>
                  <a:cubicBezTo>
                    <a:pt x="11" y="30"/>
                    <a:pt x="13" y="31"/>
                    <a:pt x="15" y="33"/>
                  </a:cubicBezTo>
                  <a:cubicBezTo>
                    <a:pt x="32" y="59"/>
                    <a:pt x="32" y="59"/>
                    <a:pt x="32" y="59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6" y="50"/>
                    <a:pt x="56" y="50"/>
                    <a:pt x="56" y="50"/>
                  </a:cubicBezTo>
                  <a:cubicBezTo>
                    <a:pt x="58" y="48"/>
                    <a:pt x="61" y="47"/>
                    <a:pt x="64" y="45"/>
                  </a:cubicBezTo>
                  <a:cubicBezTo>
                    <a:pt x="69" y="43"/>
                    <a:pt x="69" y="43"/>
                    <a:pt x="69" y="43"/>
                  </a:cubicBezTo>
                  <a:cubicBezTo>
                    <a:pt x="65" y="39"/>
                    <a:pt x="65" y="39"/>
                    <a:pt x="65" y="39"/>
                  </a:cubicBezTo>
                  <a:cubicBezTo>
                    <a:pt x="61" y="35"/>
                    <a:pt x="59" y="29"/>
                    <a:pt x="59" y="23"/>
                  </a:cubicBezTo>
                  <a:cubicBezTo>
                    <a:pt x="59" y="11"/>
                    <a:pt x="69" y="0"/>
                    <a:pt x="82" y="0"/>
                  </a:cubicBezTo>
                  <a:cubicBezTo>
                    <a:pt x="84" y="0"/>
                    <a:pt x="86" y="1"/>
                    <a:pt x="88" y="1"/>
                  </a:cubicBezTo>
                  <a:cubicBezTo>
                    <a:pt x="98" y="4"/>
                    <a:pt x="105" y="13"/>
                    <a:pt x="105" y="23"/>
                  </a:cubicBezTo>
                  <a:cubicBezTo>
                    <a:pt x="105" y="29"/>
                    <a:pt x="102" y="35"/>
                    <a:pt x="99" y="39"/>
                  </a:cubicBezTo>
                  <a:cubicBezTo>
                    <a:pt x="95" y="43"/>
                    <a:pt x="95" y="43"/>
                    <a:pt x="95" y="43"/>
                  </a:cubicBezTo>
                  <a:cubicBezTo>
                    <a:pt x="100" y="45"/>
                    <a:pt x="100" y="45"/>
                    <a:pt x="100" y="45"/>
                  </a:cubicBezTo>
                  <a:cubicBezTo>
                    <a:pt x="115" y="52"/>
                    <a:pt x="124" y="67"/>
                    <a:pt x="124" y="83"/>
                  </a:cubicBezTo>
                  <a:lnTo>
                    <a:pt x="40" y="8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125"/>
            <p:cNvSpPr>
              <a:spLocks noEditPoints="1"/>
            </p:cNvSpPr>
            <p:nvPr/>
          </p:nvSpPr>
          <p:spPr bwMode="auto">
            <a:xfrm>
              <a:off x="4140201" y="3232150"/>
              <a:ext cx="395288" cy="314325"/>
            </a:xfrm>
            <a:custGeom>
              <a:avLst/>
              <a:gdLst>
                <a:gd name="T0" fmla="*/ 141 w 145"/>
                <a:gd name="T1" fmla="*/ 0 h 115"/>
                <a:gd name="T2" fmla="*/ 4 w 145"/>
                <a:gd name="T3" fmla="*/ 0 h 115"/>
                <a:gd name="T4" fmla="*/ 0 w 145"/>
                <a:gd name="T5" fmla="*/ 4 h 115"/>
                <a:gd name="T6" fmla="*/ 0 w 145"/>
                <a:gd name="T7" fmla="*/ 111 h 115"/>
                <a:gd name="T8" fmla="*/ 4 w 145"/>
                <a:gd name="T9" fmla="*/ 115 h 115"/>
                <a:gd name="T10" fmla="*/ 64 w 145"/>
                <a:gd name="T11" fmla="*/ 115 h 115"/>
                <a:gd name="T12" fmla="*/ 55 w 145"/>
                <a:gd name="T13" fmla="*/ 102 h 115"/>
                <a:gd name="T14" fmla="*/ 54 w 145"/>
                <a:gd name="T15" fmla="*/ 91 h 115"/>
                <a:gd name="T16" fmla="*/ 54 w 145"/>
                <a:gd name="T17" fmla="*/ 91 h 115"/>
                <a:gd name="T18" fmla="*/ 30 w 145"/>
                <a:gd name="T19" fmla="*/ 55 h 115"/>
                <a:gd name="T20" fmla="*/ 31 w 145"/>
                <a:gd name="T21" fmla="*/ 49 h 115"/>
                <a:gd name="T22" fmla="*/ 37 w 145"/>
                <a:gd name="T23" fmla="*/ 50 h 115"/>
                <a:gd name="T24" fmla="*/ 60 w 145"/>
                <a:gd name="T25" fmla="*/ 86 h 115"/>
                <a:gd name="T26" fmla="*/ 74 w 145"/>
                <a:gd name="T27" fmla="*/ 90 h 115"/>
                <a:gd name="T28" fmla="*/ 90 w 145"/>
                <a:gd name="T29" fmla="*/ 113 h 115"/>
                <a:gd name="T30" fmla="*/ 109 w 145"/>
                <a:gd name="T31" fmla="*/ 106 h 115"/>
                <a:gd name="T32" fmla="*/ 118 w 145"/>
                <a:gd name="T33" fmla="*/ 100 h 115"/>
                <a:gd name="T34" fmla="*/ 111 w 145"/>
                <a:gd name="T35" fmla="*/ 82 h 115"/>
                <a:gd name="T36" fmla="*/ 138 w 145"/>
                <a:gd name="T37" fmla="*/ 55 h 115"/>
                <a:gd name="T38" fmla="*/ 145 w 145"/>
                <a:gd name="T39" fmla="*/ 57 h 115"/>
                <a:gd name="T40" fmla="*/ 145 w 145"/>
                <a:gd name="T41" fmla="*/ 4 h 115"/>
                <a:gd name="T42" fmla="*/ 141 w 145"/>
                <a:gd name="T43" fmla="*/ 0 h 115"/>
                <a:gd name="T44" fmla="*/ 103 w 145"/>
                <a:gd name="T45" fmla="*/ 67 h 115"/>
                <a:gd name="T46" fmla="*/ 60 w 145"/>
                <a:gd name="T47" fmla="*/ 67 h 115"/>
                <a:gd name="T48" fmla="*/ 56 w 145"/>
                <a:gd name="T49" fmla="*/ 63 h 115"/>
                <a:gd name="T50" fmla="*/ 60 w 145"/>
                <a:gd name="T51" fmla="*/ 59 h 115"/>
                <a:gd name="T52" fmla="*/ 103 w 145"/>
                <a:gd name="T53" fmla="*/ 59 h 115"/>
                <a:gd name="T54" fmla="*/ 107 w 145"/>
                <a:gd name="T55" fmla="*/ 63 h 115"/>
                <a:gd name="T56" fmla="*/ 103 w 145"/>
                <a:gd name="T57" fmla="*/ 67 h 115"/>
                <a:gd name="T58" fmla="*/ 115 w 145"/>
                <a:gd name="T59" fmla="*/ 48 h 115"/>
                <a:gd name="T60" fmla="*/ 60 w 145"/>
                <a:gd name="T61" fmla="*/ 48 h 115"/>
                <a:gd name="T62" fmla="*/ 56 w 145"/>
                <a:gd name="T63" fmla="*/ 44 h 115"/>
                <a:gd name="T64" fmla="*/ 60 w 145"/>
                <a:gd name="T65" fmla="*/ 40 h 115"/>
                <a:gd name="T66" fmla="*/ 115 w 145"/>
                <a:gd name="T67" fmla="*/ 40 h 115"/>
                <a:gd name="T68" fmla="*/ 119 w 145"/>
                <a:gd name="T69" fmla="*/ 44 h 115"/>
                <a:gd name="T70" fmla="*/ 115 w 145"/>
                <a:gd name="T71" fmla="*/ 48 h 115"/>
                <a:gd name="T72" fmla="*/ 115 w 145"/>
                <a:gd name="T73" fmla="*/ 28 h 115"/>
                <a:gd name="T74" fmla="*/ 60 w 145"/>
                <a:gd name="T75" fmla="*/ 28 h 115"/>
                <a:gd name="T76" fmla="*/ 56 w 145"/>
                <a:gd name="T77" fmla="*/ 24 h 115"/>
                <a:gd name="T78" fmla="*/ 60 w 145"/>
                <a:gd name="T79" fmla="*/ 20 h 115"/>
                <a:gd name="T80" fmla="*/ 115 w 145"/>
                <a:gd name="T81" fmla="*/ 20 h 115"/>
                <a:gd name="T82" fmla="*/ 119 w 145"/>
                <a:gd name="T83" fmla="*/ 24 h 115"/>
                <a:gd name="T84" fmla="*/ 115 w 145"/>
                <a:gd name="T85" fmla="*/ 2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5" h="115">
                  <a:moveTo>
                    <a:pt x="14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3"/>
                    <a:pt x="1" y="115"/>
                    <a:pt x="4" y="115"/>
                  </a:cubicBezTo>
                  <a:cubicBezTo>
                    <a:pt x="64" y="115"/>
                    <a:pt x="64" y="115"/>
                    <a:pt x="64" y="115"/>
                  </a:cubicBezTo>
                  <a:cubicBezTo>
                    <a:pt x="55" y="102"/>
                    <a:pt x="55" y="102"/>
                    <a:pt x="55" y="102"/>
                  </a:cubicBezTo>
                  <a:cubicBezTo>
                    <a:pt x="53" y="99"/>
                    <a:pt x="53" y="95"/>
                    <a:pt x="54" y="91"/>
                  </a:cubicBezTo>
                  <a:cubicBezTo>
                    <a:pt x="54" y="91"/>
                    <a:pt x="54" y="91"/>
                    <a:pt x="54" y="91"/>
                  </a:cubicBezTo>
                  <a:cubicBezTo>
                    <a:pt x="30" y="55"/>
                    <a:pt x="30" y="55"/>
                    <a:pt x="30" y="55"/>
                  </a:cubicBezTo>
                  <a:cubicBezTo>
                    <a:pt x="29" y="53"/>
                    <a:pt x="29" y="50"/>
                    <a:pt x="31" y="49"/>
                  </a:cubicBezTo>
                  <a:cubicBezTo>
                    <a:pt x="33" y="48"/>
                    <a:pt x="36" y="48"/>
                    <a:pt x="37" y="50"/>
                  </a:cubicBezTo>
                  <a:cubicBezTo>
                    <a:pt x="60" y="86"/>
                    <a:pt x="60" y="86"/>
                    <a:pt x="60" y="86"/>
                  </a:cubicBezTo>
                  <a:cubicBezTo>
                    <a:pt x="65" y="83"/>
                    <a:pt x="71" y="85"/>
                    <a:pt x="74" y="90"/>
                  </a:cubicBezTo>
                  <a:cubicBezTo>
                    <a:pt x="90" y="113"/>
                    <a:pt x="90" y="113"/>
                    <a:pt x="90" y="113"/>
                  </a:cubicBezTo>
                  <a:cubicBezTo>
                    <a:pt x="109" y="106"/>
                    <a:pt x="109" y="106"/>
                    <a:pt x="109" y="106"/>
                  </a:cubicBezTo>
                  <a:cubicBezTo>
                    <a:pt x="112" y="104"/>
                    <a:pt x="115" y="102"/>
                    <a:pt x="118" y="100"/>
                  </a:cubicBezTo>
                  <a:cubicBezTo>
                    <a:pt x="114" y="96"/>
                    <a:pt x="111" y="89"/>
                    <a:pt x="111" y="82"/>
                  </a:cubicBezTo>
                  <a:cubicBezTo>
                    <a:pt x="111" y="68"/>
                    <a:pt x="123" y="55"/>
                    <a:pt x="138" y="55"/>
                  </a:cubicBezTo>
                  <a:cubicBezTo>
                    <a:pt x="140" y="55"/>
                    <a:pt x="143" y="56"/>
                    <a:pt x="145" y="57"/>
                  </a:cubicBezTo>
                  <a:cubicBezTo>
                    <a:pt x="145" y="4"/>
                    <a:pt x="145" y="4"/>
                    <a:pt x="145" y="4"/>
                  </a:cubicBezTo>
                  <a:cubicBezTo>
                    <a:pt x="145" y="2"/>
                    <a:pt x="143" y="0"/>
                    <a:pt x="141" y="0"/>
                  </a:cubicBezTo>
                  <a:close/>
                  <a:moveTo>
                    <a:pt x="103" y="67"/>
                  </a:moveTo>
                  <a:cubicBezTo>
                    <a:pt x="60" y="67"/>
                    <a:pt x="60" y="67"/>
                    <a:pt x="60" y="67"/>
                  </a:cubicBezTo>
                  <a:cubicBezTo>
                    <a:pt x="58" y="67"/>
                    <a:pt x="56" y="65"/>
                    <a:pt x="56" y="63"/>
                  </a:cubicBezTo>
                  <a:cubicBezTo>
                    <a:pt x="56" y="61"/>
                    <a:pt x="58" y="59"/>
                    <a:pt x="60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6" y="59"/>
                    <a:pt x="107" y="61"/>
                    <a:pt x="107" y="63"/>
                  </a:cubicBezTo>
                  <a:cubicBezTo>
                    <a:pt x="107" y="65"/>
                    <a:pt x="106" y="67"/>
                    <a:pt x="103" y="67"/>
                  </a:cubicBezTo>
                  <a:close/>
                  <a:moveTo>
                    <a:pt x="115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58" y="48"/>
                    <a:pt x="56" y="46"/>
                    <a:pt x="56" y="44"/>
                  </a:cubicBezTo>
                  <a:cubicBezTo>
                    <a:pt x="56" y="41"/>
                    <a:pt x="58" y="40"/>
                    <a:pt x="60" y="40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9" y="41"/>
                    <a:pt x="119" y="44"/>
                  </a:cubicBezTo>
                  <a:cubicBezTo>
                    <a:pt x="119" y="46"/>
                    <a:pt x="117" y="48"/>
                    <a:pt x="115" y="48"/>
                  </a:cubicBezTo>
                  <a:close/>
                  <a:moveTo>
                    <a:pt x="115" y="28"/>
                  </a:moveTo>
                  <a:cubicBezTo>
                    <a:pt x="60" y="28"/>
                    <a:pt x="60" y="28"/>
                    <a:pt x="60" y="28"/>
                  </a:cubicBezTo>
                  <a:cubicBezTo>
                    <a:pt x="58" y="28"/>
                    <a:pt x="56" y="27"/>
                    <a:pt x="56" y="24"/>
                  </a:cubicBezTo>
                  <a:cubicBezTo>
                    <a:pt x="56" y="22"/>
                    <a:pt x="58" y="20"/>
                    <a:pt x="60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7" y="20"/>
                    <a:pt x="119" y="22"/>
                    <a:pt x="119" y="24"/>
                  </a:cubicBezTo>
                  <a:cubicBezTo>
                    <a:pt x="119" y="27"/>
                    <a:pt x="117" y="28"/>
                    <a:pt x="115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126"/>
            <p:cNvSpPr/>
            <p:nvPr/>
          </p:nvSpPr>
          <p:spPr bwMode="auto">
            <a:xfrm>
              <a:off x="4113213" y="3578225"/>
              <a:ext cx="220663" cy="22225"/>
            </a:xfrm>
            <a:custGeom>
              <a:avLst/>
              <a:gdLst>
                <a:gd name="T0" fmla="*/ 77 w 81"/>
                <a:gd name="T1" fmla="*/ 8 h 8"/>
                <a:gd name="T2" fmla="*/ 3 w 81"/>
                <a:gd name="T3" fmla="*/ 8 h 8"/>
                <a:gd name="T4" fmla="*/ 0 w 81"/>
                <a:gd name="T5" fmla="*/ 4 h 8"/>
                <a:gd name="T6" fmla="*/ 3 w 81"/>
                <a:gd name="T7" fmla="*/ 0 h 8"/>
                <a:gd name="T8" fmla="*/ 77 w 81"/>
                <a:gd name="T9" fmla="*/ 0 h 8"/>
                <a:gd name="T10" fmla="*/ 81 w 81"/>
                <a:gd name="T11" fmla="*/ 4 h 8"/>
                <a:gd name="T12" fmla="*/ 77 w 81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8">
                  <a:moveTo>
                    <a:pt x="77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1" y="8"/>
                    <a:pt x="0" y="6"/>
                    <a:pt x="0" y="4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9" y="0"/>
                    <a:pt x="81" y="1"/>
                    <a:pt x="81" y="4"/>
                  </a:cubicBezTo>
                  <a:cubicBezTo>
                    <a:pt x="81" y="6"/>
                    <a:pt x="79" y="8"/>
                    <a:pt x="7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5" name="Text Box 19"/>
          <p:cNvSpPr txBox="1">
            <a:spLocks noChangeArrowheads="1"/>
          </p:cNvSpPr>
          <p:nvPr/>
        </p:nvSpPr>
        <p:spPr bwMode="auto">
          <a:xfrm>
            <a:off x="2648902" y="4094790"/>
            <a:ext cx="74247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二叉链表的实现</a:t>
            </a:r>
            <a:r>
              <a:rPr lang="en-US" altLang="zh-CN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</a:t>
            </a:r>
          </a:p>
        </p:txBody>
      </p:sp>
      <p:grpSp>
        <p:nvGrpSpPr>
          <p:cNvPr id="36" name="Group 40"/>
          <p:cNvGrpSpPr/>
          <p:nvPr/>
        </p:nvGrpSpPr>
        <p:grpSpPr>
          <a:xfrm>
            <a:off x="1903785" y="4873335"/>
            <a:ext cx="517526" cy="387350"/>
            <a:chOff x="4113213" y="3232150"/>
            <a:chExt cx="517526" cy="387350"/>
          </a:xfrm>
          <a:solidFill>
            <a:srgbClr val="5A327D"/>
          </a:solidFill>
        </p:grpSpPr>
        <p:sp>
          <p:nvSpPr>
            <p:cNvPr id="39" name="Freeform 124"/>
            <p:cNvSpPr/>
            <p:nvPr/>
          </p:nvSpPr>
          <p:spPr bwMode="auto">
            <a:xfrm>
              <a:off x="4292601" y="3394075"/>
              <a:ext cx="338138" cy="225425"/>
            </a:xfrm>
            <a:custGeom>
              <a:avLst/>
              <a:gdLst>
                <a:gd name="T0" fmla="*/ 40 w 124"/>
                <a:gd name="T1" fmla="*/ 83 h 83"/>
                <a:gd name="T2" fmla="*/ 40 w 124"/>
                <a:gd name="T3" fmla="*/ 78 h 83"/>
                <a:gd name="T4" fmla="*/ 41 w 124"/>
                <a:gd name="T5" fmla="*/ 71 h 83"/>
                <a:gd name="T6" fmla="*/ 32 w 124"/>
                <a:gd name="T7" fmla="*/ 75 h 83"/>
                <a:gd name="T8" fmla="*/ 29 w 124"/>
                <a:gd name="T9" fmla="*/ 75 h 83"/>
                <a:gd name="T10" fmla="*/ 23 w 124"/>
                <a:gd name="T11" fmla="*/ 72 h 83"/>
                <a:gd name="T12" fmla="*/ 3 w 124"/>
                <a:gd name="T13" fmla="*/ 41 h 83"/>
                <a:gd name="T14" fmla="*/ 5 w 124"/>
                <a:gd name="T15" fmla="*/ 31 h 83"/>
                <a:gd name="T16" fmla="*/ 9 w 124"/>
                <a:gd name="T17" fmla="*/ 30 h 83"/>
                <a:gd name="T18" fmla="*/ 15 w 124"/>
                <a:gd name="T19" fmla="*/ 33 h 83"/>
                <a:gd name="T20" fmla="*/ 32 w 124"/>
                <a:gd name="T21" fmla="*/ 59 h 83"/>
                <a:gd name="T22" fmla="*/ 55 w 124"/>
                <a:gd name="T23" fmla="*/ 50 h 83"/>
                <a:gd name="T24" fmla="*/ 56 w 124"/>
                <a:gd name="T25" fmla="*/ 50 h 83"/>
                <a:gd name="T26" fmla="*/ 64 w 124"/>
                <a:gd name="T27" fmla="*/ 45 h 83"/>
                <a:gd name="T28" fmla="*/ 69 w 124"/>
                <a:gd name="T29" fmla="*/ 43 h 83"/>
                <a:gd name="T30" fmla="*/ 65 w 124"/>
                <a:gd name="T31" fmla="*/ 39 h 83"/>
                <a:gd name="T32" fmla="*/ 59 w 124"/>
                <a:gd name="T33" fmla="*/ 23 h 83"/>
                <a:gd name="T34" fmla="*/ 82 w 124"/>
                <a:gd name="T35" fmla="*/ 0 h 83"/>
                <a:gd name="T36" fmla="*/ 88 w 124"/>
                <a:gd name="T37" fmla="*/ 1 h 83"/>
                <a:gd name="T38" fmla="*/ 105 w 124"/>
                <a:gd name="T39" fmla="*/ 23 h 83"/>
                <a:gd name="T40" fmla="*/ 99 w 124"/>
                <a:gd name="T41" fmla="*/ 39 h 83"/>
                <a:gd name="T42" fmla="*/ 95 w 124"/>
                <a:gd name="T43" fmla="*/ 43 h 83"/>
                <a:gd name="T44" fmla="*/ 100 w 124"/>
                <a:gd name="T45" fmla="*/ 45 h 83"/>
                <a:gd name="T46" fmla="*/ 124 w 124"/>
                <a:gd name="T47" fmla="*/ 83 h 83"/>
                <a:gd name="T48" fmla="*/ 40 w 124"/>
                <a:gd name="T49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4" h="83">
                  <a:moveTo>
                    <a:pt x="40" y="83"/>
                  </a:moveTo>
                  <a:cubicBezTo>
                    <a:pt x="40" y="81"/>
                    <a:pt x="40" y="80"/>
                    <a:pt x="40" y="78"/>
                  </a:cubicBezTo>
                  <a:cubicBezTo>
                    <a:pt x="41" y="71"/>
                    <a:pt x="41" y="71"/>
                    <a:pt x="41" y="71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1" y="75"/>
                    <a:pt x="30" y="75"/>
                    <a:pt x="29" y="75"/>
                  </a:cubicBezTo>
                  <a:cubicBezTo>
                    <a:pt x="27" y="75"/>
                    <a:pt x="24" y="74"/>
                    <a:pt x="23" y="7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0" y="37"/>
                    <a:pt x="1" y="33"/>
                    <a:pt x="5" y="31"/>
                  </a:cubicBezTo>
                  <a:cubicBezTo>
                    <a:pt x="6" y="30"/>
                    <a:pt x="7" y="30"/>
                    <a:pt x="9" y="30"/>
                  </a:cubicBezTo>
                  <a:cubicBezTo>
                    <a:pt x="11" y="30"/>
                    <a:pt x="13" y="31"/>
                    <a:pt x="15" y="33"/>
                  </a:cubicBezTo>
                  <a:cubicBezTo>
                    <a:pt x="32" y="59"/>
                    <a:pt x="32" y="59"/>
                    <a:pt x="32" y="59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6" y="50"/>
                    <a:pt x="56" y="50"/>
                    <a:pt x="56" y="50"/>
                  </a:cubicBezTo>
                  <a:cubicBezTo>
                    <a:pt x="58" y="48"/>
                    <a:pt x="61" y="47"/>
                    <a:pt x="64" y="45"/>
                  </a:cubicBezTo>
                  <a:cubicBezTo>
                    <a:pt x="69" y="43"/>
                    <a:pt x="69" y="43"/>
                    <a:pt x="69" y="43"/>
                  </a:cubicBezTo>
                  <a:cubicBezTo>
                    <a:pt x="65" y="39"/>
                    <a:pt x="65" y="39"/>
                    <a:pt x="65" y="39"/>
                  </a:cubicBezTo>
                  <a:cubicBezTo>
                    <a:pt x="61" y="35"/>
                    <a:pt x="59" y="29"/>
                    <a:pt x="59" y="23"/>
                  </a:cubicBezTo>
                  <a:cubicBezTo>
                    <a:pt x="59" y="11"/>
                    <a:pt x="69" y="0"/>
                    <a:pt x="82" y="0"/>
                  </a:cubicBezTo>
                  <a:cubicBezTo>
                    <a:pt x="84" y="0"/>
                    <a:pt x="86" y="1"/>
                    <a:pt x="88" y="1"/>
                  </a:cubicBezTo>
                  <a:cubicBezTo>
                    <a:pt x="98" y="4"/>
                    <a:pt x="105" y="13"/>
                    <a:pt x="105" y="23"/>
                  </a:cubicBezTo>
                  <a:cubicBezTo>
                    <a:pt x="105" y="29"/>
                    <a:pt x="102" y="35"/>
                    <a:pt x="99" y="39"/>
                  </a:cubicBezTo>
                  <a:cubicBezTo>
                    <a:pt x="95" y="43"/>
                    <a:pt x="95" y="43"/>
                    <a:pt x="95" y="43"/>
                  </a:cubicBezTo>
                  <a:cubicBezTo>
                    <a:pt x="100" y="45"/>
                    <a:pt x="100" y="45"/>
                    <a:pt x="100" y="45"/>
                  </a:cubicBezTo>
                  <a:cubicBezTo>
                    <a:pt x="115" y="52"/>
                    <a:pt x="124" y="67"/>
                    <a:pt x="124" y="83"/>
                  </a:cubicBezTo>
                  <a:lnTo>
                    <a:pt x="40" y="8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125"/>
            <p:cNvSpPr>
              <a:spLocks noEditPoints="1"/>
            </p:cNvSpPr>
            <p:nvPr/>
          </p:nvSpPr>
          <p:spPr bwMode="auto">
            <a:xfrm>
              <a:off x="4140201" y="3232150"/>
              <a:ext cx="395288" cy="314325"/>
            </a:xfrm>
            <a:custGeom>
              <a:avLst/>
              <a:gdLst>
                <a:gd name="T0" fmla="*/ 141 w 145"/>
                <a:gd name="T1" fmla="*/ 0 h 115"/>
                <a:gd name="T2" fmla="*/ 4 w 145"/>
                <a:gd name="T3" fmla="*/ 0 h 115"/>
                <a:gd name="T4" fmla="*/ 0 w 145"/>
                <a:gd name="T5" fmla="*/ 4 h 115"/>
                <a:gd name="T6" fmla="*/ 0 w 145"/>
                <a:gd name="T7" fmla="*/ 111 h 115"/>
                <a:gd name="T8" fmla="*/ 4 w 145"/>
                <a:gd name="T9" fmla="*/ 115 h 115"/>
                <a:gd name="T10" fmla="*/ 64 w 145"/>
                <a:gd name="T11" fmla="*/ 115 h 115"/>
                <a:gd name="T12" fmla="*/ 55 w 145"/>
                <a:gd name="T13" fmla="*/ 102 h 115"/>
                <a:gd name="T14" fmla="*/ 54 w 145"/>
                <a:gd name="T15" fmla="*/ 91 h 115"/>
                <a:gd name="T16" fmla="*/ 54 w 145"/>
                <a:gd name="T17" fmla="*/ 91 h 115"/>
                <a:gd name="T18" fmla="*/ 30 w 145"/>
                <a:gd name="T19" fmla="*/ 55 h 115"/>
                <a:gd name="T20" fmla="*/ 31 w 145"/>
                <a:gd name="T21" fmla="*/ 49 h 115"/>
                <a:gd name="T22" fmla="*/ 37 w 145"/>
                <a:gd name="T23" fmla="*/ 50 h 115"/>
                <a:gd name="T24" fmla="*/ 60 w 145"/>
                <a:gd name="T25" fmla="*/ 86 h 115"/>
                <a:gd name="T26" fmla="*/ 74 w 145"/>
                <a:gd name="T27" fmla="*/ 90 h 115"/>
                <a:gd name="T28" fmla="*/ 90 w 145"/>
                <a:gd name="T29" fmla="*/ 113 h 115"/>
                <a:gd name="T30" fmla="*/ 109 w 145"/>
                <a:gd name="T31" fmla="*/ 106 h 115"/>
                <a:gd name="T32" fmla="*/ 118 w 145"/>
                <a:gd name="T33" fmla="*/ 100 h 115"/>
                <a:gd name="T34" fmla="*/ 111 w 145"/>
                <a:gd name="T35" fmla="*/ 82 h 115"/>
                <a:gd name="T36" fmla="*/ 138 w 145"/>
                <a:gd name="T37" fmla="*/ 55 h 115"/>
                <a:gd name="T38" fmla="*/ 145 w 145"/>
                <a:gd name="T39" fmla="*/ 57 h 115"/>
                <a:gd name="T40" fmla="*/ 145 w 145"/>
                <a:gd name="T41" fmla="*/ 4 h 115"/>
                <a:gd name="T42" fmla="*/ 141 w 145"/>
                <a:gd name="T43" fmla="*/ 0 h 115"/>
                <a:gd name="T44" fmla="*/ 103 w 145"/>
                <a:gd name="T45" fmla="*/ 67 h 115"/>
                <a:gd name="T46" fmla="*/ 60 w 145"/>
                <a:gd name="T47" fmla="*/ 67 h 115"/>
                <a:gd name="T48" fmla="*/ 56 w 145"/>
                <a:gd name="T49" fmla="*/ 63 h 115"/>
                <a:gd name="T50" fmla="*/ 60 w 145"/>
                <a:gd name="T51" fmla="*/ 59 h 115"/>
                <a:gd name="T52" fmla="*/ 103 w 145"/>
                <a:gd name="T53" fmla="*/ 59 h 115"/>
                <a:gd name="T54" fmla="*/ 107 w 145"/>
                <a:gd name="T55" fmla="*/ 63 h 115"/>
                <a:gd name="T56" fmla="*/ 103 w 145"/>
                <a:gd name="T57" fmla="*/ 67 h 115"/>
                <a:gd name="T58" fmla="*/ 115 w 145"/>
                <a:gd name="T59" fmla="*/ 48 h 115"/>
                <a:gd name="T60" fmla="*/ 60 w 145"/>
                <a:gd name="T61" fmla="*/ 48 h 115"/>
                <a:gd name="T62" fmla="*/ 56 w 145"/>
                <a:gd name="T63" fmla="*/ 44 h 115"/>
                <a:gd name="T64" fmla="*/ 60 w 145"/>
                <a:gd name="T65" fmla="*/ 40 h 115"/>
                <a:gd name="T66" fmla="*/ 115 w 145"/>
                <a:gd name="T67" fmla="*/ 40 h 115"/>
                <a:gd name="T68" fmla="*/ 119 w 145"/>
                <a:gd name="T69" fmla="*/ 44 h 115"/>
                <a:gd name="T70" fmla="*/ 115 w 145"/>
                <a:gd name="T71" fmla="*/ 48 h 115"/>
                <a:gd name="T72" fmla="*/ 115 w 145"/>
                <a:gd name="T73" fmla="*/ 28 h 115"/>
                <a:gd name="T74" fmla="*/ 60 w 145"/>
                <a:gd name="T75" fmla="*/ 28 h 115"/>
                <a:gd name="T76" fmla="*/ 56 w 145"/>
                <a:gd name="T77" fmla="*/ 24 h 115"/>
                <a:gd name="T78" fmla="*/ 60 w 145"/>
                <a:gd name="T79" fmla="*/ 20 h 115"/>
                <a:gd name="T80" fmla="*/ 115 w 145"/>
                <a:gd name="T81" fmla="*/ 20 h 115"/>
                <a:gd name="T82" fmla="*/ 119 w 145"/>
                <a:gd name="T83" fmla="*/ 24 h 115"/>
                <a:gd name="T84" fmla="*/ 115 w 145"/>
                <a:gd name="T85" fmla="*/ 2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5" h="115">
                  <a:moveTo>
                    <a:pt x="14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3"/>
                    <a:pt x="1" y="115"/>
                    <a:pt x="4" y="115"/>
                  </a:cubicBezTo>
                  <a:cubicBezTo>
                    <a:pt x="64" y="115"/>
                    <a:pt x="64" y="115"/>
                    <a:pt x="64" y="115"/>
                  </a:cubicBezTo>
                  <a:cubicBezTo>
                    <a:pt x="55" y="102"/>
                    <a:pt x="55" y="102"/>
                    <a:pt x="55" y="102"/>
                  </a:cubicBezTo>
                  <a:cubicBezTo>
                    <a:pt x="53" y="99"/>
                    <a:pt x="53" y="95"/>
                    <a:pt x="54" y="91"/>
                  </a:cubicBezTo>
                  <a:cubicBezTo>
                    <a:pt x="54" y="91"/>
                    <a:pt x="54" y="91"/>
                    <a:pt x="54" y="91"/>
                  </a:cubicBezTo>
                  <a:cubicBezTo>
                    <a:pt x="30" y="55"/>
                    <a:pt x="30" y="55"/>
                    <a:pt x="30" y="55"/>
                  </a:cubicBezTo>
                  <a:cubicBezTo>
                    <a:pt x="29" y="53"/>
                    <a:pt x="29" y="50"/>
                    <a:pt x="31" y="49"/>
                  </a:cubicBezTo>
                  <a:cubicBezTo>
                    <a:pt x="33" y="48"/>
                    <a:pt x="36" y="48"/>
                    <a:pt x="37" y="50"/>
                  </a:cubicBezTo>
                  <a:cubicBezTo>
                    <a:pt x="60" y="86"/>
                    <a:pt x="60" y="86"/>
                    <a:pt x="60" y="86"/>
                  </a:cubicBezTo>
                  <a:cubicBezTo>
                    <a:pt x="65" y="83"/>
                    <a:pt x="71" y="85"/>
                    <a:pt x="74" y="90"/>
                  </a:cubicBezTo>
                  <a:cubicBezTo>
                    <a:pt x="90" y="113"/>
                    <a:pt x="90" y="113"/>
                    <a:pt x="90" y="113"/>
                  </a:cubicBezTo>
                  <a:cubicBezTo>
                    <a:pt x="109" y="106"/>
                    <a:pt x="109" y="106"/>
                    <a:pt x="109" y="106"/>
                  </a:cubicBezTo>
                  <a:cubicBezTo>
                    <a:pt x="112" y="104"/>
                    <a:pt x="115" y="102"/>
                    <a:pt x="118" y="100"/>
                  </a:cubicBezTo>
                  <a:cubicBezTo>
                    <a:pt x="114" y="96"/>
                    <a:pt x="111" y="89"/>
                    <a:pt x="111" y="82"/>
                  </a:cubicBezTo>
                  <a:cubicBezTo>
                    <a:pt x="111" y="68"/>
                    <a:pt x="123" y="55"/>
                    <a:pt x="138" y="55"/>
                  </a:cubicBezTo>
                  <a:cubicBezTo>
                    <a:pt x="140" y="55"/>
                    <a:pt x="143" y="56"/>
                    <a:pt x="145" y="57"/>
                  </a:cubicBezTo>
                  <a:cubicBezTo>
                    <a:pt x="145" y="4"/>
                    <a:pt x="145" y="4"/>
                    <a:pt x="145" y="4"/>
                  </a:cubicBezTo>
                  <a:cubicBezTo>
                    <a:pt x="145" y="2"/>
                    <a:pt x="143" y="0"/>
                    <a:pt x="141" y="0"/>
                  </a:cubicBezTo>
                  <a:close/>
                  <a:moveTo>
                    <a:pt x="103" y="67"/>
                  </a:moveTo>
                  <a:cubicBezTo>
                    <a:pt x="60" y="67"/>
                    <a:pt x="60" y="67"/>
                    <a:pt x="60" y="67"/>
                  </a:cubicBezTo>
                  <a:cubicBezTo>
                    <a:pt x="58" y="67"/>
                    <a:pt x="56" y="65"/>
                    <a:pt x="56" y="63"/>
                  </a:cubicBezTo>
                  <a:cubicBezTo>
                    <a:pt x="56" y="61"/>
                    <a:pt x="58" y="59"/>
                    <a:pt x="60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6" y="59"/>
                    <a:pt x="107" y="61"/>
                    <a:pt x="107" y="63"/>
                  </a:cubicBezTo>
                  <a:cubicBezTo>
                    <a:pt x="107" y="65"/>
                    <a:pt x="106" y="67"/>
                    <a:pt x="103" y="67"/>
                  </a:cubicBezTo>
                  <a:close/>
                  <a:moveTo>
                    <a:pt x="115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58" y="48"/>
                    <a:pt x="56" y="46"/>
                    <a:pt x="56" y="44"/>
                  </a:cubicBezTo>
                  <a:cubicBezTo>
                    <a:pt x="56" y="41"/>
                    <a:pt x="58" y="40"/>
                    <a:pt x="60" y="40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9" y="41"/>
                    <a:pt x="119" y="44"/>
                  </a:cubicBezTo>
                  <a:cubicBezTo>
                    <a:pt x="119" y="46"/>
                    <a:pt x="117" y="48"/>
                    <a:pt x="115" y="48"/>
                  </a:cubicBezTo>
                  <a:close/>
                  <a:moveTo>
                    <a:pt x="115" y="28"/>
                  </a:moveTo>
                  <a:cubicBezTo>
                    <a:pt x="60" y="28"/>
                    <a:pt x="60" y="28"/>
                    <a:pt x="60" y="28"/>
                  </a:cubicBezTo>
                  <a:cubicBezTo>
                    <a:pt x="58" y="28"/>
                    <a:pt x="56" y="27"/>
                    <a:pt x="56" y="24"/>
                  </a:cubicBezTo>
                  <a:cubicBezTo>
                    <a:pt x="56" y="22"/>
                    <a:pt x="58" y="20"/>
                    <a:pt x="60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7" y="20"/>
                    <a:pt x="119" y="22"/>
                    <a:pt x="119" y="24"/>
                  </a:cubicBezTo>
                  <a:cubicBezTo>
                    <a:pt x="119" y="27"/>
                    <a:pt x="117" y="28"/>
                    <a:pt x="115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126"/>
            <p:cNvSpPr/>
            <p:nvPr/>
          </p:nvSpPr>
          <p:spPr bwMode="auto">
            <a:xfrm>
              <a:off x="4113213" y="3578225"/>
              <a:ext cx="220663" cy="22225"/>
            </a:xfrm>
            <a:custGeom>
              <a:avLst/>
              <a:gdLst>
                <a:gd name="T0" fmla="*/ 77 w 81"/>
                <a:gd name="T1" fmla="*/ 8 h 8"/>
                <a:gd name="T2" fmla="*/ 3 w 81"/>
                <a:gd name="T3" fmla="*/ 8 h 8"/>
                <a:gd name="T4" fmla="*/ 0 w 81"/>
                <a:gd name="T5" fmla="*/ 4 h 8"/>
                <a:gd name="T6" fmla="*/ 3 w 81"/>
                <a:gd name="T7" fmla="*/ 0 h 8"/>
                <a:gd name="T8" fmla="*/ 77 w 81"/>
                <a:gd name="T9" fmla="*/ 0 h 8"/>
                <a:gd name="T10" fmla="*/ 81 w 81"/>
                <a:gd name="T11" fmla="*/ 4 h 8"/>
                <a:gd name="T12" fmla="*/ 77 w 81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8">
                  <a:moveTo>
                    <a:pt x="77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1" y="8"/>
                    <a:pt x="0" y="6"/>
                    <a:pt x="0" y="4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9" y="0"/>
                    <a:pt x="81" y="1"/>
                    <a:pt x="81" y="4"/>
                  </a:cubicBezTo>
                  <a:cubicBezTo>
                    <a:pt x="81" y="6"/>
                    <a:pt x="79" y="8"/>
                    <a:pt x="7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42" name="Text Box 19"/>
          <p:cNvSpPr txBox="1">
            <a:spLocks noChangeArrowheads="1"/>
          </p:cNvSpPr>
          <p:nvPr/>
        </p:nvSpPr>
        <p:spPr bwMode="auto">
          <a:xfrm>
            <a:off x="2648902" y="4808022"/>
            <a:ext cx="675767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二叉链表的实现</a:t>
            </a:r>
            <a:r>
              <a:rPr lang="en-US" altLang="zh-CN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销毁</a:t>
            </a:r>
          </a:p>
        </p:txBody>
      </p:sp>
    </p:spTree>
    <p:extLst>
      <p:ext uri="{BB962C8B-B14F-4D97-AF65-F5344CB8AC3E}">
        <p14:creationId xmlns:p14="http://schemas.microsoft.com/office/powerpoint/2010/main" val="964207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42D2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42D2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42D2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42D2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 tmFilter="0, 0; .2, .5; .8, .5; 1, 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250" autoRev="1" fill="hold"/>
                                        <p:tgtEl>
                                          <p:spTgt spid="3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42D2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42D2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</p:childTnLst>
        </p:cTn>
      </p:par>
    </p:tnLst>
    <p:bldLst>
      <p:bldP spid="34" grpId="0" bldLvl="0" animBg="1"/>
      <p:bldP spid="14" grpId="0" bldLvl="0" animBg="1"/>
      <p:bldP spid="20" grpId="0" bldLvl="0" animBg="1"/>
      <p:bldP spid="29" grpId="0" bldLvl="0" animBg="1"/>
      <p:bldP spid="35" grpId="0" bldLvl="0" animBg="1"/>
      <p:bldP spid="42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850350" y="952588"/>
            <a:ext cx="7197526" cy="523220"/>
            <a:chOff x="1826091" y="4148024"/>
            <a:chExt cx="7197526" cy="523220"/>
          </a:xfrm>
        </p:grpSpPr>
        <p:sp>
          <p:nvSpPr>
            <p:cNvPr id="10" name="Text Box 11"/>
            <p:cNvSpPr txBox="1">
              <a:spLocks noChangeArrowheads="1"/>
            </p:cNvSpPr>
            <p:nvPr/>
          </p:nvSpPr>
          <p:spPr bwMode="auto">
            <a:xfrm>
              <a:off x="2385059" y="4148024"/>
              <a:ext cx="6638558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如何用链接存储方式存储二叉树呢？</a:t>
              </a:r>
            </a:p>
          </p:txBody>
        </p:sp>
        <p:grpSp>
          <p:nvGrpSpPr>
            <p:cNvPr id="11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12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27" name="组合 26"/>
          <p:cNvGrpSpPr/>
          <p:nvPr/>
        </p:nvGrpSpPr>
        <p:grpSpPr>
          <a:xfrm>
            <a:off x="8484133" y="2051553"/>
            <a:ext cx="3005177" cy="3274895"/>
            <a:chOff x="8138952" y="2616992"/>
            <a:chExt cx="3005177" cy="3274895"/>
          </a:xfrm>
          <a:solidFill>
            <a:srgbClr val="B4B4BE"/>
          </a:solidFill>
        </p:grpSpPr>
        <p:sp>
          <p:nvSpPr>
            <p:cNvPr id="28" name="Line 25"/>
            <p:cNvSpPr>
              <a:spLocks noChangeShapeType="1"/>
            </p:cNvSpPr>
            <p:nvPr/>
          </p:nvSpPr>
          <p:spPr bwMode="auto">
            <a:xfrm flipH="1">
              <a:off x="8995407" y="2953542"/>
              <a:ext cx="511175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9" name="Line 26"/>
            <p:cNvSpPr>
              <a:spLocks noChangeShapeType="1"/>
            </p:cNvSpPr>
            <p:nvPr/>
          </p:nvSpPr>
          <p:spPr bwMode="auto">
            <a:xfrm>
              <a:off x="9879645" y="2953541"/>
              <a:ext cx="432000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0" name="Line 27"/>
            <p:cNvSpPr>
              <a:spLocks noChangeShapeType="1"/>
            </p:cNvSpPr>
            <p:nvPr/>
          </p:nvSpPr>
          <p:spPr bwMode="auto">
            <a:xfrm flipH="1">
              <a:off x="8373108" y="3834286"/>
              <a:ext cx="360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1" name="Line 28"/>
            <p:cNvSpPr>
              <a:spLocks noChangeShapeType="1"/>
            </p:cNvSpPr>
            <p:nvPr/>
          </p:nvSpPr>
          <p:spPr bwMode="auto">
            <a:xfrm>
              <a:off x="8417876" y="4899182"/>
              <a:ext cx="396875" cy="606425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2" name="Line 29"/>
            <p:cNvSpPr>
              <a:spLocks noChangeShapeType="1"/>
            </p:cNvSpPr>
            <p:nvPr/>
          </p:nvSpPr>
          <p:spPr bwMode="auto">
            <a:xfrm flipH="1">
              <a:off x="10043475" y="3829524"/>
              <a:ext cx="288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3" name="Line 30"/>
            <p:cNvSpPr>
              <a:spLocks noChangeShapeType="1"/>
            </p:cNvSpPr>
            <p:nvPr/>
          </p:nvSpPr>
          <p:spPr bwMode="auto">
            <a:xfrm>
              <a:off x="10561325" y="3841246"/>
              <a:ext cx="288000" cy="6258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4" name="Oval 37"/>
            <p:cNvSpPr>
              <a:spLocks noChangeArrowheads="1"/>
            </p:cNvSpPr>
            <p:nvPr/>
          </p:nvSpPr>
          <p:spPr bwMode="auto">
            <a:xfrm>
              <a:off x="9486898" y="261699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Oval 37"/>
            <p:cNvSpPr>
              <a:spLocks noChangeArrowheads="1"/>
            </p:cNvSpPr>
            <p:nvPr/>
          </p:nvSpPr>
          <p:spPr bwMode="auto">
            <a:xfrm>
              <a:off x="10228577" y="343328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Oval 37"/>
            <p:cNvSpPr>
              <a:spLocks noChangeArrowheads="1"/>
            </p:cNvSpPr>
            <p:nvPr/>
          </p:nvSpPr>
          <p:spPr bwMode="auto">
            <a:xfrm>
              <a:off x="8631553" y="343328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Oval 37"/>
            <p:cNvSpPr>
              <a:spLocks noChangeArrowheads="1"/>
            </p:cNvSpPr>
            <p:nvPr/>
          </p:nvSpPr>
          <p:spPr bwMode="auto">
            <a:xfrm>
              <a:off x="8138952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Oval 37"/>
            <p:cNvSpPr>
              <a:spLocks noChangeArrowheads="1"/>
            </p:cNvSpPr>
            <p:nvPr/>
          </p:nvSpPr>
          <p:spPr bwMode="auto">
            <a:xfrm>
              <a:off x="9775505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Oval 37"/>
            <p:cNvSpPr>
              <a:spLocks noChangeArrowheads="1"/>
            </p:cNvSpPr>
            <p:nvPr/>
          </p:nvSpPr>
          <p:spPr bwMode="auto">
            <a:xfrm>
              <a:off x="10712129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Oval 37"/>
            <p:cNvSpPr>
              <a:spLocks noChangeArrowheads="1"/>
            </p:cNvSpPr>
            <p:nvPr/>
          </p:nvSpPr>
          <p:spPr bwMode="auto">
            <a:xfrm>
              <a:off x="8714420" y="5459887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1" name="Group 41"/>
          <p:cNvGrpSpPr/>
          <p:nvPr/>
        </p:nvGrpSpPr>
        <p:grpSpPr bwMode="auto">
          <a:xfrm>
            <a:off x="995804" y="1802924"/>
            <a:ext cx="7891463" cy="706438"/>
            <a:chOff x="314" y="2293"/>
            <a:chExt cx="4971" cy="445"/>
          </a:xfrm>
          <a:noFill/>
        </p:grpSpPr>
        <p:sp>
          <p:nvSpPr>
            <p:cNvPr id="52" name="Line 9"/>
            <p:cNvSpPr>
              <a:spLocks noChangeShapeType="1"/>
            </p:cNvSpPr>
            <p:nvPr/>
          </p:nvSpPr>
          <p:spPr bwMode="auto">
            <a:xfrm flipV="1">
              <a:off x="350" y="2581"/>
              <a:ext cx="431" cy="0"/>
            </a:xfrm>
            <a:prstGeom prst="line">
              <a:avLst/>
            </a:prstGeom>
            <a:grpFill/>
            <a:ln w="28575">
              <a:solidFill>
                <a:srgbClr val="507D7D"/>
              </a:solidFill>
              <a:round/>
              <a:tailEnd type="stealth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bIns="36000"/>
            <a:lstStyle/>
            <a:p>
              <a:endParaRPr lang="zh-CN" altLang="en-US"/>
            </a:p>
          </p:txBody>
        </p:sp>
        <p:sp>
          <p:nvSpPr>
            <p:cNvPr id="53" name="Text Box 10"/>
            <p:cNvSpPr txBox="1">
              <a:spLocks noChangeArrowheads="1"/>
            </p:cNvSpPr>
            <p:nvPr/>
          </p:nvSpPr>
          <p:spPr bwMode="auto">
            <a:xfrm>
              <a:off x="314" y="2293"/>
              <a:ext cx="480" cy="292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36000"/>
            <a:lstStyle/>
            <a:p>
              <a:pPr algn="l"/>
              <a:r>
                <a:rPr lang="en-US" altLang="zh-CN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first</a:t>
              </a:r>
            </a:p>
          </p:txBody>
        </p:sp>
        <p:sp>
          <p:nvSpPr>
            <p:cNvPr id="54" name="Line 11"/>
            <p:cNvSpPr>
              <a:spLocks noChangeShapeType="1"/>
            </p:cNvSpPr>
            <p:nvPr/>
          </p:nvSpPr>
          <p:spPr bwMode="auto">
            <a:xfrm>
              <a:off x="3835" y="2607"/>
              <a:ext cx="354" cy="0"/>
            </a:xfrm>
            <a:prstGeom prst="line">
              <a:avLst/>
            </a:prstGeom>
            <a:grpFill/>
            <a:ln w="28575">
              <a:solidFill>
                <a:srgbClr val="507D7D"/>
              </a:solidFill>
              <a:prstDash val="dash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bIns="36000"/>
            <a:lstStyle/>
            <a:p>
              <a:endParaRPr lang="zh-CN" altLang="en-US"/>
            </a:p>
          </p:txBody>
        </p:sp>
        <p:grpSp>
          <p:nvGrpSpPr>
            <p:cNvPr id="55" name="Group 12"/>
            <p:cNvGrpSpPr/>
            <p:nvPr/>
          </p:nvGrpSpPr>
          <p:grpSpPr bwMode="auto">
            <a:xfrm>
              <a:off x="1792" y="2406"/>
              <a:ext cx="704" cy="305"/>
              <a:chOff x="759" y="3237"/>
              <a:chExt cx="704" cy="305"/>
            </a:xfrm>
            <a:grpFill/>
          </p:grpSpPr>
          <p:sp>
            <p:nvSpPr>
              <p:cNvPr id="69" name="Text Box 13"/>
              <p:cNvSpPr txBox="1">
                <a:spLocks noChangeArrowheads="1"/>
              </p:cNvSpPr>
              <p:nvPr/>
            </p:nvSpPr>
            <p:spPr bwMode="auto">
              <a:xfrm>
                <a:off x="759" y="3237"/>
                <a:ext cx="704" cy="305"/>
              </a:xfrm>
              <a:prstGeom prst="rect">
                <a:avLst/>
              </a:prstGeom>
              <a:grpFill/>
              <a:ln w="28575">
                <a:solidFill>
                  <a:srgbClr val="507D7D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rIns="0" bIns="72000"/>
              <a:lstStyle/>
              <a:p>
                <a:pPr algn="l">
                  <a:lnSpc>
                    <a:spcPct val="90000"/>
                  </a:lnSpc>
                </a:pPr>
                <a:r>
                  <a:rPr lang="en-US" altLang="zh-CN" sz="2800" b="1" i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800" b="1" baseline="-25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70" name="Line 14"/>
              <p:cNvSpPr>
                <a:spLocks noChangeShapeType="1"/>
              </p:cNvSpPr>
              <p:nvPr/>
            </p:nvSpPr>
            <p:spPr bwMode="auto">
              <a:xfrm>
                <a:off x="1115" y="3237"/>
                <a:ext cx="0" cy="292"/>
              </a:xfrm>
              <a:prstGeom prst="line">
                <a:avLst/>
              </a:prstGeom>
              <a:grpFill/>
              <a:ln w="28575">
                <a:solidFill>
                  <a:srgbClr val="507D7D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bIns="72000" anchor="ctr"/>
              <a:lstStyle/>
              <a:p>
                <a:endParaRPr lang="zh-CN" altLang="en-US"/>
              </a:p>
            </p:txBody>
          </p:sp>
        </p:grpSp>
        <p:sp>
          <p:nvSpPr>
            <p:cNvPr id="56" name="Line 15"/>
            <p:cNvSpPr>
              <a:spLocks noChangeShapeType="1"/>
            </p:cNvSpPr>
            <p:nvPr/>
          </p:nvSpPr>
          <p:spPr bwMode="auto">
            <a:xfrm>
              <a:off x="2421" y="2590"/>
              <a:ext cx="363" cy="0"/>
            </a:xfrm>
            <a:prstGeom prst="line">
              <a:avLst/>
            </a:prstGeom>
            <a:grpFill/>
            <a:ln w="28575">
              <a:solidFill>
                <a:srgbClr val="507D7D"/>
              </a:solidFill>
              <a:round/>
              <a:tailEnd type="stealth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bIns="36000"/>
            <a:lstStyle/>
            <a:p>
              <a:endParaRPr lang="zh-CN" altLang="en-US"/>
            </a:p>
          </p:txBody>
        </p:sp>
        <p:grpSp>
          <p:nvGrpSpPr>
            <p:cNvPr id="57" name="Group 16"/>
            <p:cNvGrpSpPr/>
            <p:nvPr/>
          </p:nvGrpSpPr>
          <p:grpSpPr bwMode="auto">
            <a:xfrm>
              <a:off x="2788" y="2415"/>
              <a:ext cx="704" cy="305"/>
              <a:chOff x="759" y="3237"/>
              <a:chExt cx="704" cy="305"/>
            </a:xfrm>
            <a:grpFill/>
          </p:grpSpPr>
          <p:sp>
            <p:nvSpPr>
              <p:cNvPr id="67" name="Text Box 17"/>
              <p:cNvSpPr txBox="1">
                <a:spLocks noChangeArrowheads="1"/>
              </p:cNvSpPr>
              <p:nvPr/>
            </p:nvSpPr>
            <p:spPr bwMode="auto">
              <a:xfrm>
                <a:off x="759" y="3237"/>
                <a:ext cx="704" cy="305"/>
              </a:xfrm>
              <a:prstGeom prst="rect">
                <a:avLst/>
              </a:prstGeom>
              <a:grpFill/>
              <a:ln w="28575">
                <a:solidFill>
                  <a:srgbClr val="507D7D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rIns="0" bIns="72000"/>
              <a:lstStyle/>
              <a:p>
                <a:pPr algn="l">
                  <a:lnSpc>
                    <a:spcPct val="90000"/>
                  </a:lnSpc>
                </a:pPr>
                <a:r>
                  <a:rPr lang="en-US" altLang="zh-CN" sz="2800" b="1" i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800" b="1" baseline="-25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68" name="Line 18"/>
              <p:cNvSpPr>
                <a:spLocks noChangeShapeType="1"/>
              </p:cNvSpPr>
              <p:nvPr/>
            </p:nvSpPr>
            <p:spPr bwMode="auto">
              <a:xfrm>
                <a:off x="1115" y="3237"/>
                <a:ext cx="0" cy="292"/>
              </a:xfrm>
              <a:prstGeom prst="line">
                <a:avLst/>
              </a:prstGeom>
              <a:grpFill/>
              <a:ln w="28575">
                <a:solidFill>
                  <a:srgbClr val="507D7D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bIns="72000" anchor="ctr"/>
              <a:lstStyle/>
              <a:p>
                <a:endParaRPr lang="zh-CN" altLang="en-US"/>
              </a:p>
            </p:txBody>
          </p:sp>
        </p:grpSp>
        <p:sp>
          <p:nvSpPr>
            <p:cNvPr id="58" name="Line 19"/>
            <p:cNvSpPr>
              <a:spLocks noChangeShapeType="1"/>
            </p:cNvSpPr>
            <p:nvPr/>
          </p:nvSpPr>
          <p:spPr bwMode="auto">
            <a:xfrm>
              <a:off x="3399" y="2608"/>
              <a:ext cx="363" cy="0"/>
            </a:xfrm>
            <a:prstGeom prst="line">
              <a:avLst/>
            </a:prstGeom>
            <a:grpFill/>
            <a:ln w="28575">
              <a:solidFill>
                <a:srgbClr val="507D7D"/>
              </a:solidFill>
              <a:round/>
              <a:tailEnd type="stealth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bIns="36000"/>
            <a:lstStyle/>
            <a:p>
              <a:endParaRPr lang="zh-CN" altLang="en-US"/>
            </a:p>
          </p:txBody>
        </p:sp>
        <p:sp>
          <p:nvSpPr>
            <p:cNvPr id="59" name="Line 20"/>
            <p:cNvSpPr>
              <a:spLocks noChangeShapeType="1"/>
            </p:cNvSpPr>
            <p:nvPr/>
          </p:nvSpPr>
          <p:spPr bwMode="auto">
            <a:xfrm>
              <a:off x="4213" y="2608"/>
              <a:ext cx="363" cy="0"/>
            </a:xfrm>
            <a:prstGeom prst="line">
              <a:avLst/>
            </a:prstGeom>
            <a:grpFill/>
            <a:ln w="28575">
              <a:solidFill>
                <a:srgbClr val="507D7D"/>
              </a:solidFill>
              <a:round/>
              <a:tailEnd type="stealth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bIns="36000"/>
            <a:lstStyle/>
            <a:p>
              <a:endParaRPr lang="zh-CN" altLang="en-US"/>
            </a:p>
          </p:txBody>
        </p:sp>
        <p:grpSp>
          <p:nvGrpSpPr>
            <p:cNvPr id="60" name="Group 21"/>
            <p:cNvGrpSpPr/>
            <p:nvPr/>
          </p:nvGrpSpPr>
          <p:grpSpPr bwMode="auto">
            <a:xfrm>
              <a:off x="4580" y="2433"/>
              <a:ext cx="704" cy="305"/>
              <a:chOff x="759" y="3237"/>
              <a:chExt cx="704" cy="305"/>
            </a:xfrm>
            <a:grpFill/>
          </p:grpSpPr>
          <p:sp>
            <p:nvSpPr>
              <p:cNvPr id="65" name="Text Box 22"/>
              <p:cNvSpPr txBox="1">
                <a:spLocks noChangeArrowheads="1"/>
              </p:cNvSpPr>
              <p:nvPr/>
            </p:nvSpPr>
            <p:spPr bwMode="auto">
              <a:xfrm>
                <a:off x="759" y="3237"/>
                <a:ext cx="704" cy="305"/>
              </a:xfrm>
              <a:prstGeom prst="rect">
                <a:avLst/>
              </a:prstGeom>
              <a:grpFill/>
              <a:ln w="28575">
                <a:solidFill>
                  <a:srgbClr val="507D7D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rIns="0" bIns="72000"/>
              <a:lstStyle/>
              <a:p>
                <a:pPr algn="l">
                  <a:lnSpc>
                    <a:spcPct val="90000"/>
                  </a:lnSpc>
                </a:pPr>
                <a:r>
                  <a:rPr lang="en-US" altLang="zh-CN" sz="2800" b="1" i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800" b="1" i="1" baseline="-25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66" name="Line 23"/>
              <p:cNvSpPr>
                <a:spLocks noChangeShapeType="1"/>
              </p:cNvSpPr>
              <p:nvPr/>
            </p:nvSpPr>
            <p:spPr bwMode="auto">
              <a:xfrm>
                <a:off x="1115" y="3237"/>
                <a:ext cx="0" cy="292"/>
              </a:xfrm>
              <a:prstGeom prst="line">
                <a:avLst/>
              </a:prstGeom>
              <a:grpFill/>
              <a:ln w="28575">
                <a:solidFill>
                  <a:srgbClr val="507D7D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bIns="72000" anchor="ctr"/>
              <a:lstStyle/>
              <a:p>
                <a:endParaRPr lang="zh-CN" altLang="en-US"/>
              </a:p>
            </p:txBody>
          </p:sp>
        </p:grpSp>
        <p:sp>
          <p:nvSpPr>
            <p:cNvPr id="61" name="Text Box 24"/>
            <p:cNvSpPr txBox="1">
              <a:spLocks noChangeArrowheads="1"/>
            </p:cNvSpPr>
            <p:nvPr/>
          </p:nvSpPr>
          <p:spPr bwMode="auto">
            <a:xfrm>
              <a:off x="4956" y="2432"/>
              <a:ext cx="329" cy="282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bIns="36000"/>
            <a:lstStyle/>
            <a:p>
              <a:pPr algn="l"/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</a:p>
          </p:txBody>
        </p:sp>
        <p:sp>
          <p:nvSpPr>
            <p:cNvPr id="62" name="Text Box 30"/>
            <p:cNvSpPr txBox="1">
              <a:spLocks noChangeArrowheads="1"/>
            </p:cNvSpPr>
            <p:nvPr/>
          </p:nvSpPr>
          <p:spPr bwMode="auto">
            <a:xfrm>
              <a:off x="786" y="2406"/>
              <a:ext cx="704" cy="306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rIns="0" bIns="72000"/>
            <a:lstStyle/>
            <a:p>
              <a:pPr algn="l">
                <a:lnSpc>
                  <a:spcPct val="90000"/>
                </a:lnSpc>
              </a:pPr>
              <a:endParaRPr lang="en-US" altLang="zh-CN" sz="2800" b="1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" name="Line 31"/>
            <p:cNvSpPr>
              <a:spLocks noChangeShapeType="1"/>
            </p:cNvSpPr>
            <p:nvPr/>
          </p:nvSpPr>
          <p:spPr bwMode="auto">
            <a:xfrm>
              <a:off x="1142" y="2406"/>
              <a:ext cx="0" cy="306"/>
            </a:xfrm>
            <a:prstGeom prst="lin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bIns="72000" anchor="ctr"/>
            <a:lstStyle/>
            <a:p>
              <a:endParaRPr lang="zh-CN" altLang="en-US"/>
            </a:p>
          </p:txBody>
        </p:sp>
        <p:sp>
          <p:nvSpPr>
            <p:cNvPr id="64" name="Line 32"/>
            <p:cNvSpPr>
              <a:spLocks noChangeShapeType="1"/>
            </p:cNvSpPr>
            <p:nvPr/>
          </p:nvSpPr>
          <p:spPr bwMode="auto">
            <a:xfrm>
              <a:off x="1415" y="2590"/>
              <a:ext cx="363" cy="0"/>
            </a:xfrm>
            <a:prstGeom prst="line">
              <a:avLst/>
            </a:prstGeom>
            <a:grpFill/>
            <a:ln w="28575">
              <a:solidFill>
                <a:srgbClr val="507D7D"/>
              </a:solidFill>
              <a:round/>
              <a:tailEnd type="stealth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bIns="36000"/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900699" y="3083844"/>
            <a:ext cx="7426180" cy="1588448"/>
            <a:chOff x="900699" y="3083844"/>
            <a:chExt cx="7426180" cy="1588448"/>
          </a:xfrm>
        </p:grpSpPr>
        <p:sp>
          <p:nvSpPr>
            <p:cNvPr id="71" name="Text Box 8"/>
            <p:cNvSpPr txBox="1">
              <a:spLocks noChangeArrowheads="1"/>
            </p:cNvSpPr>
            <p:nvPr/>
          </p:nvSpPr>
          <p:spPr bwMode="auto">
            <a:xfrm>
              <a:off x="1487548" y="3083844"/>
              <a:ext cx="6839331" cy="15884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/>
            <a:p>
              <a:pPr algn="l" eaLnBrk="0" hangingPunct="0">
                <a:lnSpc>
                  <a:spcPts val="4000"/>
                </a:lnSpc>
              </a:pPr>
              <a:r>
                <a:rPr lang="zh-CN" altLang="en-US" sz="2800" dirty="0">
                  <a:solidFill>
                    <a:srgbClr val="285A3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二叉链表</a:t>
              </a: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：二叉树的每个结点对应一个链表结点，链表结点存放结点的</a:t>
              </a:r>
              <a:r>
                <a:rPr lang="zh-CN" altLang="en-US" sz="2800" dirty="0">
                  <a:solidFill>
                    <a:srgbClr val="B42D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信息和指示</a:t>
              </a:r>
              <a:r>
                <a:rPr lang="zh-CN" altLang="en-US" sz="2800" dirty="0">
                  <a:solidFill>
                    <a:srgbClr val="B42D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左右孩子的指针</a:t>
              </a:r>
            </a:p>
          </p:txBody>
        </p:sp>
        <p:grpSp>
          <p:nvGrpSpPr>
            <p:cNvPr id="72" name="Group 67"/>
            <p:cNvGrpSpPr/>
            <p:nvPr/>
          </p:nvGrpSpPr>
          <p:grpSpPr>
            <a:xfrm>
              <a:off x="900699" y="3140075"/>
              <a:ext cx="432000" cy="432000"/>
              <a:chOff x="10115551" y="5634038"/>
              <a:chExt cx="577850" cy="576263"/>
            </a:xfrm>
            <a:solidFill>
              <a:srgbClr val="5A327D"/>
            </a:solidFill>
          </p:grpSpPr>
          <p:sp>
            <p:nvSpPr>
              <p:cNvPr id="73" name="Freeform 13"/>
              <p:cNvSpPr/>
              <p:nvPr/>
            </p:nvSpPr>
            <p:spPr bwMode="auto">
              <a:xfrm>
                <a:off x="10177463" y="5634038"/>
                <a:ext cx="515938" cy="517525"/>
              </a:xfrm>
              <a:custGeom>
                <a:avLst/>
                <a:gdLst>
                  <a:gd name="T0" fmla="*/ 174 w 176"/>
                  <a:gd name="T1" fmla="*/ 61 h 176"/>
                  <a:gd name="T2" fmla="*/ 115 w 176"/>
                  <a:gd name="T3" fmla="*/ 2 h 176"/>
                  <a:gd name="T4" fmla="*/ 110 w 176"/>
                  <a:gd name="T5" fmla="*/ 2 h 176"/>
                  <a:gd name="T6" fmla="*/ 91 w 176"/>
                  <a:gd name="T7" fmla="*/ 20 h 176"/>
                  <a:gd name="T8" fmla="*/ 90 w 176"/>
                  <a:gd name="T9" fmla="*/ 23 h 176"/>
                  <a:gd name="T10" fmla="*/ 91 w 176"/>
                  <a:gd name="T11" fmla="*/ 26 h 176"/>
                  <a:gd name="T12" fmla="*/ 96 w 176"/>
                  <a:gd name="T13" fmla="*/ 31 h 176"/>
                  <a:gd name="T14" fmla="*/ 69 w 176"/>
                  <a:gd name="T15" fmla="*/ 58 h 176"/>
                  <a:gd name="T16" fmla="*/ 50 w 176"/>
                  <a:gd name="T17" fmla="*/ 56 h 176"/>
                  <a:gd name="T18" fmla="*/ 1 w 176"/>
                  <a:gd name="T19" fmla="*/ 76 h 176"/>
                  <a:gd name="T20" fmla="*/ 1 w 176"/>
                  <a:gd name="T21" fmla="*/ 82 h 176"/>
                  <a:gd name="T22" fmla="*/ 94 w 176"/>
                  <a:gd name="T23" fmla="*/ 175 h 176"/>
                  <a:gd name="T24" fmla="*/ 97 w 176"/>
                  <a:gd name="T25" fmla="*/ 176 h 176"/>
                  <a:gd name="T26" fmla="*/ 100 w 176"/>
                  <a:gd name="T27" fmla="*/ 175 h 176"/>
                  <a:gd name="T28" fmla="*/ 118 w 176"/>
                  <a:gd name="T29" fmla="*/ 107 h 176"/>
                  <a:gd name="T30" fmla="*/ 145 w 176"/>
                  <a:gd name="T31" fmla="*/ 80 h 176"/>
                  <a:gd name="T32" fmla="*/ 150 w 176"/>
                  <a:gd name="T33" fmla="*/ 85 h 176"/>
                  <a:gd name="T34" fmla="*/ 156 w 176"/>
                  <a:gd name="T35" fmla="*/ 85 h 176"/>
                  <a:gd name="T36" fmla="*/ 174 w 176"/>
                  <a:gd name="T37" fmla="*/ 66 h 176"/>
                  <a:gd name="T38" fmla="*/ 176 w 176"/>
                  <a:gd name="T39" fmla="*/ 63 h 176"/>
                  <a:gd name="T40" fmla="*/ 174 w 176"/>
                  <a:gd name="T41" fmla="*/ 61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76" h="176">
                    <a:moveTo>
                      <a:pt x="174" y="61"/>
                    </a:moveTo>
                    <a:cubicBezTo>
                      <a:pt x="115" y="2"/>
                      <a:pt x="115" y="2"/>
                      <a:pt x="115" y="2"/>
                    </a:cubicBezTo>
                    <a:cubicBezTo>
                      <a:pt x="114" y="0"/>
                      <a:pt x="111" y="0"/>
                      <a:pt x="110" y="2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0" y="21"/>
                      <a:pt x="90" y="22"/>
                      <a:pt x="90" y="23"/>
                    </a:cubicBezTo>
                    <a:cubicBezTo>
                      <a:pt x="90" y="24"/>
                      <a:pt x="90" y="25"/>
                      <a:pt x="91" y="26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69" y="58"/>
                      <a:pt x="69" y="58"/>
                      <a:pt x="69" y="58"/>
                    </a:cubicBezTo>
                    <a:cubicBezTo>
                      <a:pt x="63" y="57"/>
                      <a:pt x="57" y="56"/>
                      <a:pt x="50" y="56"/>
                    </a:cubicBezTo>
                    <a:cubicBezTo>
                      <a:pt x="32" y="56"/>
                      <a:pt x="14" y="63"/>
                      <a:pt x="1" y="76"/>
                    </a:cubicBezTo>
                    <a:cubicBezTo>
                      <a:pt x="0" y="78"/>
                      <a:pt x="0" y="80"/>
                      <a:pt x="1" y="82"/>
                    </a:cubicBezTo>
                    <a:cubicBezTo>
                      <a:pt x="94" y="175"/>
                      <a:pt x="94" y="175"/>
                      <a:pt x="94" y="175"/>
                    </a:cubicBezTo>
                    <a:cubicBezTo>
                      <a:pt x="95" y="175"/>
                      <a:pt x="96" y="176"/>
                      <a:pt x="97" y="176"/>
                    </a:cubicBezTo>
                    <a:cubicBezTo>
                      <a:pt x="98" y="176"/>
                      <a:pt x="99" y="175"/>
                      <a:pt x="100" y="175"/>
                    </a:cubicBezTo>
                    <a:cubicBezTo>
                      <a:pt x="117" y="157"/>
                      <a:pt x="124" y="131"/>
                      <a:pt x="118" y="107"/>
                    </a:cubicBezTo>
                    <a:cubicBezTo>
                      <a:pt x="145" y="80"/>
                      <a:pt x="145" y="80"/>
                      <a:pt x="145" y="80"/>
                    </a:cubicBezTo>
                    <a:cubicBezTo>
                      <a:pt x="150" y="85"/>
                      <a:pt x="150" y="85"/>
                      <a:pt x="150" y="85"/>
                    </a:cubicBezTo>
                    <a:cubicBezTo>
                      <a:pt x="152" y="86"/>
                      <a:pt x="154" y="86"/>
                      <a:pt x="156" y="85"/>
                    </a:cubicBezTo>
                    <a:cubicBezTo>
                      <a:pt x="174" y="66"/>
                      <a:pt x="174" y="66"/>
                      <a:pt x="174" y="66"/>
                    </a:cubicBezTo>
                    <a:cubicBezTo>
                      <a:pt x="175" y="65"/>
                      <a:pt x="176" y="64"/>
                      <a:pt x="176" y="63"/>
                    </a:cubicBezTo>
                    <a:cubicBezTo>
                      <a:pt x="176" y="62"/>
                      <a:pt x="175" y="61"/>
                      <a:pt x="174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4" name="Freeform 14"/>
              <p:cNvSpPr/>
              <p:nvPr/>
            </p:nvSpPr>
            <p:spPr bwMode="auto">
              <a:xfrm>
                <a:off x="10115551" y="5983288"/>
                <a:ext cx="228600" cy="227013"/>
              </a:xfrm>
              <a:custGeom>
                <a:avLst/>
                <a:gdLst>
                  <a:gd name="T0" fmla="*/ 7 w 78"/>
                  <a:gd name="T1" fmla="*/ 77 h 77"/>
                  <a:gd name="T2" fmla="*/ 2 w 78"/>
                  <a:gd name="T3" fmla="*/ 76 h 77"/>
                  <a:gd name="T4" fmla="*/ 2 w 78"/>
                  <a:gd name="T5" fmla="*/ 67 h 77"/>
                  <a:gd name="T6" fmla="*/ 67 w 78"/>
                  <a:gd name="T7" fmla="*/ 2 h 77"/>
                  <a:gd name="T8" fmla="*/ 76 w 78"/>
                  <a:gd name="T9" fmla="*/ 2 h 77"/>
                  <a:gd name="T10" fmla="*/ 76 w 78"/>
                  <a:gd name="T11" fmla="*/ 11 h 77"/>
                  <a:gd name="T12" fmla="*/ 11 w 78"/>
                  <a:gd name="T13" fmla="*/ 76 h 77"/>
                  <a:gd name="T14" fmla="*/ 7 w 78"/>
                  <a:gd name="T15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8" h="77">
                    <a:moveTo>
                      <a:pt x="7" y="77"/>
                    </a:moveTo>
                    <a:cubicBezTo>
                      <a:pt x="5" y="77"/>
                      <a:pt x="3" y="77"/>
                      <a:pt x="2" y="76"/>
                    </a:cubicBezTo>
                    <a:cubicBezTo>
                      <a:pt x="0" y="73"/>
                      <a:pt x="0" y="70"/>
                      <a:pt x="2" y="67"/>
                    </a:cubicBezTo>
                    <a:cubicBezTo>
                      <a:pt x="67" y="2"/>
                      <a:pt x="67" y="2"/>
                      <a:pt x="67" y="2"/>
                    </a:cubicBezTo>
                    <a:cubicBezTo>
                      <a:pt x="70" y="0"/>
                      <a:pt x="73" y="0"/>
                      <a:pt x="76" y="2"/>
                    </a:cubicBezTo>
                    <a:cubicBezTo>
                      <a:pt x="78" y="5"/>
                      <a:pt x="78" y="8"/>
                      <a:pt x="76" y="11"/>
                    </a:cubicBezTo>
                    <a:cubicBezTo>
                      <a:pt x="11" y="76"/>
                      <a:pt x="11" y="76"/>
                      <a:pt x="11" y="76"/>
                    </a:cubicBezTo>
                    <a:cubicBezTo>
                      <a:pt x="10" y="77"/>
                      <a:pt x="8" y="77"/>
                      <a:pt x="7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75" name="Rounded Rectangle 10"/>
          <p:cNvSpPr/>
          <p:nvPr/>
        </p:nvSpPr>
        <p:spPr>
          <a:xfrm>
            <a:off x="542923" y="100964"/>
            <a:ext cx="4032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Text Box 2"/>
          <p:cNvSpPr txBox="1">
            <a:spLocks noChangeArrowheads="1"/>
          </p:cNvSpPr>
          <p:nvPr/>
        </p:nvSpPr>
        <p:spPr bwMode="auto">
          <a:xfrm>
            <a:off x="638167" y="61585"/>
            <a:ext cx="393938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二叉链表的存储方法</a:t>
            </a:r>
          </a:p>
        </p:txBody>
      </p:sp>
      <p:grpSp>
        <p:nvGrpSpPr>
          <p:cNvPr id="78" name="Group 11"/>
          <p:cNvGrpSpPr/>
          <p:nvPr/>
        </p:nvGrpSpPr>
        <p:grpSpPr bwMode="auto">
          <a:xfrm>
            <a:off x="2504667" y="4940168"/>
            <a:ext cx="3672000" cy="576000"/>
            <a:chOff x="2928" y="1438"/>
            <a:chExt cx="3042" cy="425"/>
          </a:xfrm>
        </p:grpSpPr>
        <p:sp>
          <p:nvSpPr>
            <p:cNvPr id="85" name="Rectangle 12"/>
            <p:cNvSpPr>
              <a:spLocks noChangeArrowheads="1"/>
            </p:cNvSpPr>
            <p:nvPr/>
          </p:nvSpPr>
          <p:spPr bwMode="auto">
            <a:xfrm>
              <a:off x="2928" y="1438"/>
              <a:ext cx="1015" cy="425"/>
            </a:xfrm>
            <a:prstGeom prst="rect">
              <a:avLst/>
            </a:prstGeom>
            <a:noFill/>
            <a:ln w="38100">
              <a:solidFill>
                <a:srgbClr val="507D7D"/>
              </a:solidFill>
              <a:miter lim="800000"/>
            </a:ln>
          </p:spPr>
          <p:txBody>
            <a:bodyPr tIns="0" bIns="10800" anchor="ctr" anchorCtr="0"/>
            <a:lstStyle/>
            <a:p>
              <a:pPr eaLnBrk="0" hangingPunct="0"/>
              <a:r>
                <a:rPr lang="en-US" altLang="zh-CN" sz="28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b="1" dirty="0" err="1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lchild</a:t>
              </a:r>
              <a:endParaRPr lang="en-US" altLang="zh-CN" sz="2800" b="1" dirty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6" name="Rectangle 13"/>
            <p:cNvSpPr>
              <a:spLocks noChangeArrowheads="1"/>
            </p:cNvSpPr>
            <p:nvPr/>
          </p:nvSpPr>
          <p:spPr bwMode="auto">
            <a:xfrm>
              <a:off x="3943" y="1438"/>
              <a:ext cx="1015" cy="425"/>
            </a:xfrm>
            <a:prstGeom prst="rect">
              <a:avLst/>
            </a:prstGeom>
            <a:noFill/>
            <a:ln w="38100">
              <a:solidFill>
                <a:srgbClr val="507D7D"/>
              </a:solidFill>
              <a:miter lim="800000"/>
            </a:ln>
          </p:spPr>
          <p:txBody>
            <a:bodyPr tIns="0" bIns="10800" anchor="ctr" anchorCtr="0"/>
            <a:lstStyle/>
            <a:p>
              <a:pPr eaLnBrk="0" hangingPunct="0"/>
              <a:r>
                <a:rPr lang="zh-CN" altLang="en-US" sz="28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sz="28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data</a:t>
              </a:r>
            </a:p>
          </p:txBody>
        </p:sp>
        <p:sp>
          <p:nvSpPr>
            <p:cNvPr id="87" name="Rectangle 14"/>
            <p:cNvSpPr>
              <a:spLocks noChangeArrowheads="1"/>
            </p:cNvSpPr>
            <p:nvPr/>
          </p:nvSpPr>
          <p:spPr bwMode="auto">
            <a:xfrm>
              <a:off x="4955" y="1438"/>
              <a:ext cx="1015" cy="425"/>
            </a:xfrm>
            <a:prstGeom prst="rect">
              <a:avLst/>
            </a:prstGeom>
            <a:noFill/>
            <a:ln w="38100">
              <a:solidFill>
                <a:srgbClr val="507D7D"/>
              </a:solidFill>
              <a:miter lim="800000"/>
            </a:ln>
          </p:spPr>
          <p:txBody>
            <a:bodyPr tIns="0" bIns="10800" anchor="ctr" anchorCtr="0"/>
            <a:lstStyle/>
            <a:p>
              <a:pPr eaLnBrk="0" hangingPunct="0"/>
              <a:r>
                <a:rPr lang="en-US" altLang="zh-CN" sz="28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b="1" dirty="0" err="1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rchild</a:t>
              </a:r>
              <a:endParaRPr lang="en-US" altLang="zh-CN" sz="2800" b="1" dirty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9652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4032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7" y="61585"/>
            <a:ext cx="393938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二叉链表的存储方法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8484133" y="2051553"/>
            <a:ext cx="3005177" cy="3274895"/>
            <a:chOff x="8138952" y="2616992"/>
            <a:chExt cx="3005177" cy="3274895"/>
          </a:xfrm>
          <a:solidFill>
            <a:srgbClr val="B4B4BE"/>
          </a:solidFill>
        </p:grpSpPr>
        <p:sp>
          <p:nvSpPr>
            <p:cNvPr id="28" name="Line 25"/>
            <p:cNvSpPr>
              <a:spLocks noChangeShapeType="1"/>
            </p:cNvSpPr>
            <p:nvPr/>
          </p:nvSpPr>
          <p:spPr bwMode="auto">
            <a:xfrm flipH="1">
              <a:off x="8995407" y="2953542"/>
              <a:ext cx="511175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9" name="Line 26"/>
            <p:cNvSpPr>
              <a:spLocks noChangeShapeType="1"/>
            </p:cNvSpPr>
            <p:nvPr/>
          </p:nvSpPr>
          <p:spPr bwMode="auto">
            <a:xfrm>
              <a:off x="9879645" y="2953541"/>
              <a:ext cx="432000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0" name="Line 27"/>
            <p:cNvSpPr>
              <a:spLocks noChangeShapeType="1"/>
            </p:cNvSpPr>
            <p:nvPr/>
          </p:nvSpPr>
          <p:spPr bwMode="auto">
            <a:xfrm flipH="1">
              <a:off x="8373108" y="3834286"/>
              <a:ext cx="360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1" name="Line 28"/>
            <p:cNvSpPr>
              <a:spLocks noChangeShapeType="1"/>
            </p:cNvSpPr>
            <p:nvPr/>
          </p:nvSpPr>
          <p:spPr bwMode="auto">
            <a:xfrm>
              <a:off x="8417876" y="4899182"/>
              <a:ext cx="396875" cy="606425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2" name="Line 29"/>
            <p:cNvSpPr>
              <a:spLocks noChangeShapeType="1"/>
            </p:cNvSpPr>
            <p:nvPr/>
          </p:nvSpPr>
          <p:spPr bwMode="auto">
            <a:xfrm flipH="1">
              <a:off x="10043475" y="3829524"/>
              <a:ext cx="288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3" name="Line 30"/>
            <p:cNvSpPr>
              <a:spLocks noChangeShapeType="1"/>
            </p:cNvSpPr>
            <p:nvPr/>
          </p:nvSpPr>
          <p:spPr bwMode="auto">
            <a:xfrm>
              <a:off x="10561325" y="3841246"/>
              <a:ext cx="288000" cy="6258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4" name="Oval 37"/>
            <p:cNvSpPr>
              <a:spLocks noChangeArrowheads="1"/>
            </p:cNvSpPr>
            <p:nvPr/>
          </p:nvSpPr>
          <p:spPr bwMode="auto">
            <a:xfrm>
              <a:off x="9486898" y="261699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Oval 37"/>
            <p:cNvSpPr>
              <a:spLocks noChangeArrowheads="1"/>
            </p:cNvSpPr>
            <p:nvPr/>
          </p:nvSpPr>
          <p:spPr bwMode="auto">
            <a:xfrm>
              <a:off x="10228577" y="343328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Oval 37"/>
            <p:cNvSpPr>
              <a:spLocks noChangeArrowheads="1"/>
            </p:cNvSpPr>
            <p:nvPr/>
          </p:nvSpPr>
          <p:spPr bwMode="auto">
            <a:xfrm>
              <a:off x="8631553" y="343328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Oval 37"/>
            <p:cNvSpPr>
              <a:spLocks noChangeArrowheads="1"/>
            </p:cNvSpPr>
            <p:nvPr/>
          </p:nvSpPr>
          <p:spPr bwMode="auto">
            <a:xfrm>
              <a:off x="8138952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Oval 37"/>
            <p:cNvSpPr>
              <a:spLocks noChangeArrowheads="1"/>
            </p:cNvSpPr>
            <p:nvPr/>
          </p:nvSpPr>
          <p:spPr bwMode="auto">
            <a:xfrm>
              <a:off x="9775505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Oval 37"/>
            <p:cNvSpPr>
              <a:spLocks noChangeArrowheads="1"/>
            </p:cNvSpPr>
            <p:nvPr/>
          </p:nvSpPr>
          <p:spPr bwMode="auto">
            <a:xfrm>
              <a:off x="10712129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Oval 37"/>
            <p:cNvSpPr>
              <a:spLocks noChangeArrowheads="1"/>
            </p:cNvSpPr>
            <p:nvPr/>
          </p:nvSpPr>
          <p:spPr bwMode="auto">
            <a:xfrm>
              <a:off x="8714420" y="5459887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5" name="Group 87"/>
          <p:cNvGrpSpPr/>
          <p:nvPr/>
        </p:nvGrpSpPr>
        <p:grpSpPr bwMode="auto">
          <a:xfrm>
            <a:off x="1737519" y="4214813"/>
            <a:ext cx="1439862" cy="1050925"/>
            <a:chOff x="720" y="2679"/>
            <a:chExt cx="907" cy="662"/>
          </a:xfrm>
          <a:noFill/>
        </p:grpSpPr>
        <p:sp>
          <p:nvSpPr>
            <p:cNvPr id="76" name="Rectangle 62"/>
            <p:cNvSpPr>
              <a:spLocks noChangeArrowheads="1"/>
            </p:cNvSpPr>
            <p:nvPr/>
          </p:nvSpPr>
          <p:spPr bwMode="auto">
            <a:xfrm>
              <a:off x="720" y="3092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7" name="Rectangle 63"/>
            <p:cNvSpPr>
              <a:spLocks noChangeArrowheads="1"/>
            </p:cNvSpPr>
            <p:nvPr/>
          </p:nvSpPr>
          <p:spPr bwMode="auto">
            <a:xfrm>
              <a:off x="1031" y="3092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G</a:t>
              </a:r>
            </a:p>
          </p:txBody>
        </p:sp>
        <p:sp>
          <p:nvSpPr>
            <p:cNvPr id="78" name="Freeform 32"/>
            <p:cNvSpPr/>
            <p:nvPr/>
          </p:nvSpPr>
          <p:spPr bwMode="auto">
            <a:xfrm>
              <a:off x="889" y="2679"/>
              <a:ext cx="319" cy="385"/>
            </a:xfrm>
            <a:custGeom>
              <a:avLst/>
              <a:gdLst>
                <a:gd name="T0" fmla="*/ 0 w 444"/>
                <a:gd name="T1" fmla="*/ 0 h 523"/>
                <a:gd name="T2" fmla="*/ 444 w 444"/>
                <a:gd name="T3" fmla="*/ 523 h 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4" h="523">
                  <a:moveTo>
                    <a:pt x="0" y="0"/>
                  </a:moveTo>
                  <a:lnTo>
                    <a:pt x="444" y="523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9" name="Group 84"/>
          <p:cNvGrpSpPr/>
          <p:nvPr/>
        </p:nvGrpSpPr>
        <p:grpSpPr bwMode="auto">
          <a:xfrm>
            <a:off x="4996656" y="3122613"/>
            <a:ext cx="1439863" cy="1182688"/>
            <a:chOff x="2773" y="1991"/>
            <a:chExt cx="907" cy="745"/>
          </a:xfrm>
          <a:noFill/>
        </p:grpSpPr>
        <p:sp>
          <p:nvSpPr>
            <p:cNvPr id="80" name="Rectangle 70"/>
            <p:cNvSpPr>
              <a:spLocks noChangeArrowheads="1"/>
            </p:cNvSpPr>
            <p:nvPr/>
          </p:nvSpPr>
          <p:spPr bwMode="auto">
            <a:xfrm>
              <a:off x="2773" y="2487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" name="Rectangle 71"/>
            <p:cNvSpPr>
              <a:spLocks noChangeArrowheads="1"/>
            </p:cNvSpPr>
            <p:nvPr/>
          </p:nvSpPr>
          <p:spPr bwMode="auto">
            <a:xfrm>
              <a:off x="3084" y="2487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F</a:t>
              </a:r>
            </a:p>
          </p:txBody>
        </p:sp>
        <p:sp>
          <p:nvSpPr>
            <p:cNvPr id="82" name="Line 31"/>
            <p:cNvSpPr>
              <a:spLocks noChangeShapeType="1"/>
            </p:cNvSpPr>
            <p:nvPr/>
          </p:nvSpPr>
          <p:spPr bwMode="auto">
            <a:xfrm>
              <a:off x="2946" y="1991"/>
              <a:ext cx="292" cy="458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3" name="Group 83"/>
          <p:cNvGrpSpPr/>
          <p:nvPr/>
        </p:nvGrpSpPr>
        <p:grpSpPr bwMode="auto">
          <a:xfrm>
            <a:off x="3137694" y="3122613"/>
            <a:ext cx="1439862" cy="1184275"/>
            <a:chOff x="1602" y="1991"/>
            <a:chExt cx="907" cy="746"/>
          </a:xfrm>
          <a:noFill/>
        </p:grpSpPr>
        <p:sp>
          <p:nvSpPr>
            <p:cNvPr id="84" name="Rectangle 66"/>
            <p:cNvSpPr>
              <a:spLocks noChangeArrowheads="1"/>
            </p:cNvSpPr>
            <p:nvPr/>
          </p:nvSpPr>
          <p:spPr bwMode="auto">
            <a:xfrm>
              <a:off x="1602" y="2488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" name="Rectangle 67"/>
            <p:cNvSpPr>
              <a:spLocks noChangeArrowheads="1"/>
            </p:cNvSpPr>
            <p:nvPr/>
          </p:nvSpPr>
          <p:spPr bwMode="auto">
            <a:xfrm>
              <a:off x="1913" y="2488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E</a:t>
              </a:r>
            </a:p>
          </p:txBody>
        </p:sp>
        <p:sp>
          <p:nvSpPr>
            <p:cNvPr id="86" name="Line 30"/>
            <p:cNvSpPr>
              <a:spLocks noChangeShapeType="1"/>
            </p:cNvSpPr>
            <p:nvPr/>
          </p:nvSpPr>
          <p:spPr bwMode="auto">
            <a:xfrm flipH="1">
              <a:off x="2069" y="1991"/>
              <a:ext cx="292" cy="458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7" name="Group 82"/>
          <p:cNvGrpSpPr/>
          <p:nvPr/>
        </p:nvGrpSpPr>
        <p:grpSpPr bwMode="auto">
          <a:xfrm>
            <a:off x="853281" y="3122613"/>
            <a:ext cx="1439863" cy="1171575"/>
            <a:chOff x="163" y="1991"/>
            <a:chExt cx="907" cy="738"/>
          </a:xfrm>
          <a:noFill/>
        </p:grpSpPr>
        <p:sp>
          <p:nvSpPr>
            <p:cNvPr id="88" name="Rectangle 59"/>
            <p:cNvSpPr>
              <a:spLocks noChangeArrowheads="1"/>
            </p:cNvSpPr>
            <p:nvPr/>
          </p:nvSpPr>
          <p:spPr bwMode="auto">
            <a:xfrm>
              <a:off x="163" y="2480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9" name="Rectangle 60"/>
            <p:cNvSpPr>
              <a:spLocks noChangeArrowheads="1"/>
            </p:cNvSpPr>
            <p:nvPr/>
          </p:nvSpPr>
          <p:spPr bwMode="auto">
            <a:xfrm>
              <a:off x="474" y="2480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D</a:t>
              </a:r>
            </a:p>
          </p:txBody>
        </p:sp>
        <p:sp>
          <p:nvSpPr>
            <p:cNvPr id="90" name="Line 29"/>
            <p:cNvSpPr>
              <a:spLocks noChangeShapeType="1"/>
            </p:cNvSpPr>
            <p:nvPr/>
          </p:nvSpPr>
          <p:spPr bwMode="auto">
            <a:xfrm flipH="1">
              <a:off x="607" y="1991"/>
              <a:ext cx="292" cy="458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1" name="Group 80"/>
          <p:cNvGrpSpPr/>
          <p:nvPr/>
        </p:nvGrpSpPr>
        <p:grpSpPr bwMode="auto">
          <a:xfrm>
            <a:off x="1753394" y="2101851"/>
            <a:ext cx="1473200" cy="1101725"/>
            <a:chOff x="730" y="1348"/>
            <a:chExt cx="928" cy="694"/>
          </a:xfrm>
          <a:noFill/>
        </p:grpSpPr>
        <p:sp>
          <p:nvSpPr>
            <p:cNvPr id="92" name="Rectangle 57"/>
            <p:cNvSpPr>
              <a:spLocks noChangeArrowheads="1"/>
            </p:cNvSpPr>
            <p:nvPr/>
          </p:nvSpPr>
          <p:spPr bwMode="auto">
            <a:xfrm>
              <a:off x="730" y="1793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3" name="Rectangle 58"/>
            <p:cNvSpPr>
              <a:spLocks noChangeArrowheads="1"/>
            </p:cNvSpPr>
            <p:nvPr/>
          </p:nvSpPr>
          <p:spPr bwMode="auto">
            <a:xfrm>
              <a:off x="1041" y="1793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B</a:t>
              </a:r>
            </a:p>
          </p:txBody>
        </p:sp>
        <p:sp>
          <p:nvSpPr>
            <p:cNvPr id="94" name="Freeform 27"/>
            <p:cNvSpPr/>
            <p:nvPr/>
          </p:nvSpPr>
          <p:spPr bwMode="auto">
            <a:xfrm>
              <a:off x="1262" y="1348"/>
              <a:ext cx="396" cy="400"/>
            </a:xfrm>
            <a:custGeom>
              <a:avLst/>
              <a:gdLst>
                <a:gd name="T0" fmla="*/ 550 w 550"/>
                <a:gd name="T1" fmla="*/ 0 h 544"/>
                <a:gd name="T2" fmla="*/ 0 w 550"/>
                <a:gd name="T3" fmla="*/ 544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50" h="544">
                  <a:moveTo>
                    <a:pt x="550" y="0"/>
                  </a:moveTo>
                  <a:lnTo>
                    <a:pt x="0" y="544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9" name="Rectangle 7"/>
          <p:cNvSpPr>
            <a:spLocks noChangeArrowheads="1"/>
          </p:cNvSpPr>
          <p:nvPr/>
        </p:nvSpPr>
        <p:spPr bwMode="auto">
          <a:xfrm>
            <a:off x="2759869" y="2809876"/>
            <a:ext cx="422275" cy="365125"/>
          </a:xfrm>
          <a:prstGeom prst="rect">
            <a:avLst/>
          </a:prstGeom>
          <a:noFill/>
          <a:ln w="28575">
            <a:noFill/>
            <a:prstDash val="solid"/>
          </a:ln>
        </p:spPr>
        <p:txBody>
          <a:bodyPr lIns="54000" tIns="10800" rIns="18000" bIns="10800"/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∧</a:t>
            </a:r>
          </a:p>
        </p:txBody>
      </p:sp>
      <p:sp>
        <p:nvSpPr>
          <p:cNvPr id="100" name="Rectangle 61"/>
          <p:cNvSpPr>
            <a:spLocks noChangeArrowheads="1"/>
          </p:cNvSpPr>
          <p:nvPr/>
        </p:nvSpPr>
        <p:spPr bwMode="auto">
          <a:xfrm>
            <a:off x="915194" y="3884613"/>
            <a:ext cx="422275" cy="365125"/>
          </a:xfrm>
          <a:prstGeom prst="rect">
            <a:avLst/>
          </a:prstGeom>
          <a:noFill/>
          <a:ln w="28575">
            <a:noFill/>
            <a:prstDash val="solid"/>
          </a:ln>
        </p:spPr>
        <p:txBody>
          <a:bodyPr lIns="54000" tIns="10800" rIns="18000" bIns="10800"/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∧</a:t>
            </a:r>
          </a:p>
        </p:txBody>
      </p:sp>
      <p:grpSp>
        <p:nvGrpSpPr>
          <p:cNvPr id="101" name="Group 88"/>
          <p:cNvGrpSpPr/>
          <p:nvPr/>
        </p:nvGrpSpPr>
        <p:grpSpPr bwMode="auto">
          <a:xfrm>
            <a:off x="1799431" y="4856163"/>
            <a:ext cx="1366838" cy="381000"/>
            <a:chOff x="759" y="3083"/>
            <a:chExt cx="861" cy="240"/>
          </a:xfrm>
          <a:noFill/>
        </p:grpSpPr>
        <p:sp>
          <p:nvSpPr>
            <p:cNvPr id="102" name="Rectangle 64"/>
            <p:cNvSpPr>
              <a:spLocks noChangeArrowheads="1"/>
            </p:cNvSpPr>
            <p:nvPr/>
          </p:nvSpPr>
          <p:spPr bwMode="auto">
            <a:xfrm>
              <a:off x="759" y="3083"/>
              <a:ext cx="266" cy="230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txBody>
            <a:bodyPr lIns="54000" tIns="10800" rIns="18000" bIns="10800"/>
            <a:lstStyle/>
            <a:p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</a:p>
          </p:txBody>
        </p:sp>
        <p:sp>
          <p:nvSpPr>
            <p:cNvPr id="103" name="Rectangle 65"/>
            <p:cNvSpPr>
              <a:spLocks noChangeArrowheads="1"/>
            </p:cNvSpPr>
            <p:nvPr/>
          </p:nvSpPr>
          <p:spPr bwMode="auto">
            <a:xfrm>
              <a:off x="1354" y="3093"/>
              <a:ext cx="266" cy="230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txBody>
            <a:bodyPr lIns="54000" tIns="10800" rIns="18000" bIns="10800"/>
            <a:lstStyle/>
            <a:p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</a:p>
          </p:txBody>
        </p:sp>
      </p:grpSp>
      <p:grpSp>
        <p:nvGrpSpPr>
          <p:cNvPr id="104" name="Group 85"/>
          <p:cNvGrpSpPr/>
          <p:nvPr/>
        </p:nvGrpSpPr>
        <p:grpSpPr bwMode="auto">
          <a:xfrm>
            <a:off x="3199606" y="3897313"/>
            <a:ext cx="1366838" cy="381000"/>
            <a:chOff x="1641" y="2479"/>
            <a:chExt cx="861" cy="240"/>
          </a:xfrm>
          <a:noFill/>
        </p:grpSpPr>
        <p:sp>
          <p:nvSpPr>
            <p:cNvPr id="105" name="Rectangle 68"/>
            <p:cNvSpPr>
              <a:spLocks noChangeArrowheads="1"/>
            </p:cNvSpPr>
            <p:nvPr/>
          </p:nvSpPr>
          <p:spPr bwMode="auto">
            <a:xfrm>
              <a:off x="1641" y="2479"/>
              <a:ext cx="266" cy="230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txBody>
            <a:bodyPr lIns="54000" tIns="10800" rIns="18000" bIns="10800"/>
            <a:lstStyle/>
            <a:p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</a:p>
          </p:txBody>
        </p:sp>
        <p:sp>
          <p:nvSpPr>
            <p:cNvPr id="106" name="Rectangle 69"/>
            <p:cNvSpPr>
              <a:spLocks noChangeArrowheads="1"/>
            </p:cNvSpPr>
            <p:nvPr/>
          </p:nvSpPr>
          <p:spPr bwMode="auto">
            <a:xfrm>
              <a:off x="2236" y="2489"/>
              <a:ext cx="266" cy="230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txBody>
            <a:bodyPr lIns="54000" tIns="10800" rIns="18000" bIns="10800"/>
            <a:lstStyle/>
            <a:p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</a:p>
          </p:txBody>
        </p:sp>
      </p:grpSp>
      <p:grpSp>
        <p:nvGrpSpPr>
          <p:cNvPr id="107" name="Group 86"/>
          <p:cNvGrpSpPr/>
          <p:nvPr/>
        </p:nvGrpSpPr>
        <p:grpSpPr bwMode="auto">
          <a:xfrm>
            <a:off x="5058569" y="3895726"/>
            <a:ext cx="1366837" cy="381000"/>
            <a:chOff x="2812" y="2478"/>
            <a:chExt cx="861" cy="240"/>
          </a:xfrm>
          <a:noFill/>
        </p:grpSpPr>
        <p:sp>
          <p:nvSpPr>
            <p:cNvPr id="108" name="Rectangle 72"/>
            <p:cNvSpPr>
              <a:spLocks noChangeArrowheads="1"/>
            </p:cNvSpPr>
            <p:nvPr/>
          </p:nvSpPr>
          <p:spPr bwMode="auto">
            <a:xfrm>
              <a:off x="2812" y="2478"/>
              <a:ext cx="266" cy="230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txBody>
            <a:bodyPr lIns="54000" tIns="10800" rIns="18000" bIns="10800"/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</a:p>
          </p:txBody>
        </p:sp>
        <p:sp>
          <p:nvSpPr>
            <p:cNvPr id="109" name="Rectangle 73"/>
            <p:cNvSpPr>
              <a:spLocks noChangeArrowheads="1"/>
            </p:cNvSpPr>
            <p:nvPr/>
          </p:nvSpPr>
          <p:spPr bwMode="auto">
            <a:xfrm>
              <a:off x="3407" y="2488"/>
              <a:ext cx="266" cy="230"/>
            </a:xfrm>
            <a:prstGeom prst="rect">
              <a:avLst/>
            </a:prstGeom>
            <a:grpFill/>
            <a:ln w="28575">
              <a:noFill/>
              <a:prstDash val="solid"/>
              <a:miter lim="800000"/>
            </a:ln>
          </p:spPr>
          <p:txBody>
            <a:bodyPr lIns="54000" tIns="10800" rIns="18000" bIns="10800"/>
            <a:lstStyle/>
            <a:p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</a:p>
          </p:txBody>
        </p:sp>
      </p:grpSp>
      <p:grpSp>
        <p:nvGrpSpPr>
          <p:cNvPr id="110" name="Group 81"/>
          <p:cNvGrpSpPr/>
          <p:nvPr/>
        </p:nvGrpSpPr>
        <p:grpSpPr bwMode="auto">
          <a:xfrm>
            <a:off x="3980656" y="2101851"/>
            <a:ext cx="1439863" cy="1087437"/>
            <a:chOff x="2133" y="1348"/>
            <a:chExt cx="907" cy="685"/>
          </a:xfrm>
          <a:noFill/>
        </p:grpSpPr>
        <p:sp>
          <p:nvSpPr>
            <p:cNvPr id="111" name="Freeform 28"/>
            <p:cNvSpPr/>
            <p:nvPr/>
          </p:nvSpPr>
          <p:spPr bwMode="auto">
            <a:xfrm>
              <a:off x="2242" y="1348"/>
              <a:ext cx="338" cy="400"/>
            </a:xfrm>
            <a:custGeom>
              <a:avLst/>
              <a:gdLst>
                <a:gd name="T0" fmla="*/ 0 w 469"/>
                <a:gd name="T1" fmla="*/ 0 h 544"/>
                <a:gd name="T2" fmla="*/ 469 w 469"/>
                <a:gd name="T3" fmla="*/ 544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69" h="544">
                  <a:moveTo>
                    <a:pt x="0" y="0"/>
                  </a:moveTo>
                  <a:lnTo>
                    <a:pt x="469" y="544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Rectangle 74"/>
            <p:cNvSpPr>
              <a:spLocks noChangeArrowheads="1"/>
            </p:cNvSpPr>
            <p:nvPr/>
          </p:nvSpPr>
          <p:spPr bwMode="auto">
            <a:xfrm>
              <a:off x="2133" y="1784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" name="Rectangle 75"/>
            <p:cNvSpPr>
              <a:spLocks noChangeArrowheads="1"/>
            </p:cNvSpPr>
            <p:nvPr/>
          </p:nvSpPr>
          <p:spPr bwMode="auto">
            <a:xfrm>
              <a:off x="2444" y="1784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C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036094" y="1052206"/>
            <a:ext cx="1869122" cy="1108382"/>
            <a:chOff x="3036094" y="1052206"/>
            <a:chExt cx="1869122" cy="1108382"/>
          </a:xfrm>
        </p:grpSpPr>
        <p:grpSp>
          <p:nvGrpSpPr>
            <p:cNvPr id="95" name="Group 92"/>
            <p:cNvGrpSpPr/>
            <p:nvPr/>
          </p:nvGrpSpPr>
          <p:grpSpPr bwMode="auto">
            <a:xfrm>
              <a:off x="3036094" y="1296988"/>
              <a:ext cx="1439862" cy="863600"/>
              <a:chOff x="1493" y="1120"/>
              <a:chExt cx="907" cy="544"/>
            </a:xfrm>
            <a:noFill/>
          </p:grpSpPr>
          <p:sp>
            <p:nvSpPr>
              <p:cNvPr id="96" name="Rectangle 6"/>
              <p:cNvSpPr>
                <a:spLocks noChangeArrowheads="1"/>
              </p:cNvSpPr>
              <p:nvPr/>
            </p:nvSpPr>
            <p:spPr bwMode="auto">
              <a:xfrm>
                <a:off x="1493" y="1415"/>
                <a:ext cx="907" cy="249"/>
              </a:xfrm>
              <a:prstGeom prst="rect">
                <a:avLst/>
              </a:prstGeom>
              <a:grpFill/>
              <a:ln w="28575">
                <a:solidFill>
                  <a:srgbClr val="507D7D"/>
                </a:solidFill>
                <a:prstDash val="solid"/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54000" tIns="10800" rIns="18000" bIns="10800">
                <a:flatTx/>
              </a:bodyPr>
              <a:lstStyle/>
              <a:p>
                <a:endParaRPr lang="zh-CN" altLang="en-US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7" name="Rectangle 8"/>
              <p:cNvSpPr>
                <a:spLocks noChangeArrowheads="1"/>
              </p:cNvSpPr>
              <p:nvPr/>
            </p:nvSpPr>
            <p:spPr bwMode="auto">
              <a:xfrm>
                <a:off x="1804" y="1415"/>
                <a:ext cx="284" cy="249"/>
              </a:xfrm>
              <a:prstGeom prst="rect">
                <a:avLst/>
              </a:prstGeom>
              <a:grpFill/>
              <a:ln w="28575">
                <a:solidFill>
                  <a:srgbClr val="507D7D"/>
                </a:solidFill>
                <a:prstDash val="solid"/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0" rIns="18000" bIns="10800">
                <a:flatTx/>
              </a:bodyPr>
              <a:lstStyle/>
              <a:p>
                <a:pPr algn="just"/>
                <a:r>
                  <a:rPr lang="en-US" altLang="zh-CN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Angsana New" panose="02020603050405020304" pitchFamily="18" charset="-34"/>
                  </a:rPr>
                  <a:t>A</a:t>
                </a:r>
              </a:p>
            </p:txBody>
          </p:sp>
          <p:sp>
            <p:nvSpPr>
              <p:cNvPr id="98" name="Line 33"/>
              <p:cNvSpPr>
                <a:spLocks noChangeShapeType="1"/>
              </p:cNvSpPr>
              <p:nvPr/>
            </p:nvSpPr>
            <p:spPr bwMode="auto">
              <a:xfrm>
                <a:off x="1726" y="1120"/>
                <a:ext cx="208" cy="276"/>
              </a:xfrm>
              <a:prstGeom prst="line">
                <a:avLst/>
              </a:prstGeom>
              <a:grpFill/>
              <a:ln w="28575">
                <a:solidFill>
                  <a:srgbClr val="B42D2D"/>
                </a:solidFill>
                <a:prstDash val="solid"/>
                <a:round/>
                <a:tailEnd type="stealth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" name="TextBox 1"/>
            <p:cNvSpPr txBox="1"/>
            <p:nvPr/>
          </p:nvSpPr>
          <p:spPr>
            <a:xfrm>
              <a:off x="3614578" y="1052206"/>
              <a:ext cx="129063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root</a:t>
              </a:r>
              <a:endParaRPr lang="zh-CN" altLang="en-US" sz="28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723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  <p:bldP spid="10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4788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7" y="61585"/>
            <a:ext cx="507762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二叉链表的存储结构定义</a:t>
            </a:r>
          </a:p>
        </p:txBody>
      </p:sp>
      <p:grpSp>
        <p:nvGrpSpPr>
          <p:cNvPr id="75" name="Group 87"/>
          <p:cNvGrpSpPr/>
          <p:nvPr/>
        </p:nvGrpSpPr>
        <p:grpSpPr bwMode="auto">
          <a:xfrm>
            <a:off x="1737519" y="4214813"/>
            <a:ext cx="1439862" cy="1050925"/>
            <a:chOff x="720" y="2679"/>
            <a:chExt cx="907" cy="662"/>
          </a:xfrm>
          <a:noFill/>
        </p:grpSpPr>
        <p:sp>
          <p:nvSpPr>
            <p:cNvPr id="76" name="Rectangle 62"/>
            <p:cNvSpPr>
              <a:spLocks noChangeArrowheads="1"/>
            </p:cNvSpPr>
            <p:nvPr/>
          </p:nvSpPr>
          <p:spPr bwMode="auto">
            <a:xfrm>
              <a:off x="720" y="3092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7" name="Rectangle 63"/>
            <p:cNvSpPr>
              <a:spLocks noChangeArrowheads="1"/>
            </p:cNvSpPr>
            <p:nvPr/>
          </p:nvSpPr>
          <p:spPr bwMode="auto">
            <a:xfrm>
              <a:off x="1031" y="3092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G</a:t>
              </a:r>
            </a:p>
          </p:txBody>
        </p:sp>
        <p:sp>
          <p:nvSpPr>
            <p:cNvPr id="78" name="Freeform 32"/>
            <p:cNvSpPr/>
            <p:nvPr/>
          </p:nvSpPr>
          <p:spPr bwMode="auto">
            <a:xfrm>
              <a:off x="889" y="2679"/>
              <a:ext cx="319" cy="385"/>
            </a:xfrm>
            <a:custGeom>
              <a:avLst/>
              <a:gdLst>
                <a:gd name="T0" fmla="*/ 0 w 444"/>
                <a:gd name="T1" fmla="*/ 0 h 523"/>
                <a:gd name="T2" fmla="*/ 444 w 444"/>
                <a:gd name="T3" fmla="*/ 523 h 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4" h="523">
                  <a:moveTo>
                    <a:pt x="0" y="0"/>
                  </a:moveTo>
                  <a:lnTo>
                    <a:pt x="444" y="523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9" name="Group 84"/>
          <p:cNvGrpSpPr/>
          <p:nvPr/>
        </p:nvGrpSpPr>
        <p:grpSpPr bwMode="auto">
          <a:xfrm>
            <a:off x="4996656" y="3122613"/>
            <a:ext cx="1439863" cy="1182688"/>
            <a:chOff x="2773" y="1991"/>
            <a:chExt cx="907" cy="745"/>
          </a:xfrm>
          <a:noFill/>
        </p:grpSpPr>
        <p:sp>
          <p:nvSpPr>
            <p:cNvPr id="80" name="Rectangle 70"/>
            <p:cNvSpPr>
              <a:spLocks noChangeArrowheads="1"/>
            </p:cNvSpPr>
            <p:nvPr/>
          </p:nvSpPr>
          <p:spPr bwMode="auto">
            <a:xfrm>
              <a:off x="2773" y="2487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" name="Rectangle 71"/>
            <p:cNvSpPr>
              <a:spLocks noChangeArrowheads="1"/>
            </p:cNvSpPr>
            <p:nvPr/>
          </p:nvSpPr>
          <p:spPr bwMode="auto">
            <a:xfrm>
              <a:off x="3084" y="2487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F</a:t>
              </a:r>
            </a:p>
          </p:txBody>
        </p:sp>
        <p:sp>
          <p:nvSpPr>
            <p:cNvPr id="82" name="Line 31"/>
            <p:cNvSpPr>
              <a:spLocks noChangeShapeType="1"/>
            </p:cNvSpPr>
            <p:nvPr/>
          </p:nvSpPr>
          <p:spPr bwMode="auto">
            <a:xfrm>
              <a:off x="2946" y="1991"/>
              <a:ext cx="292" cy="458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3" name="Group 83"/>
          <p:cNvGrpSpPr/>
          <p:nvPr/>
        </p:nvGrpSpPr>
        <p:grpSpPr bwMode="auto">
          <a:xfrm>
            <a:off x="3137694" y="3122613"/>
            <a:ext cx="1439862" cy="1184275"/>
            <a:chOff x="1602" y="1991"/>
            <a:chExt cx="907" cy="746"/>
          </a:xfrm>
          <a:noFill/>
        </p:grpSpPr>
        <p:sp>
          <p:nvSpPr>
            <p:cNvPr id="84" name="Rectangle 66"/>
            <p:cNvSpPr>
              <a:spLocks noChangeArrowheads="1"/>
            </p:cNvSpPr>
            <p:nvPr/>
          </p:nvSpPr>
          <p:spPr bwMode="auto">
            <a:xfrm>
              <a:off x="1602" y="2488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" name="Rectangle 67"/>
            <p:cNvSpPr>
              <a:spLocks noChangeArrowheads="1"/>
            </p:cNvSpPr>
            <p:nvPr/>
          </p:nvSpPr>
          <p:spPr bwMode="auto">
            <a:xfrm>
              <a:off x="1913" y="2488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E</a:t>
              </a:r>
            </a:p>
          </p:txBody>
        </p:sp>
        <p:sp>
          <p:nvSpPr>
            <p:cNvPr id="86" name="Line 30"/>
            <p:cNvSpPr>
              <a:spLocks noChangeShapeType="1"/>
            </p:cNvSpPr>
            <p:nvPr/>
          </p:nvSpPr>
          <p:spPr bwMode="auto">
            <a:xfrm flipH="1">
              <a:off x="2069" y="1991"/>
              <a:ext cx="292" cy="458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7" name="Group 82"/>
          <p:cNvGrpSpPr/>
          <p:nvPr/>
        </p:nvGrpSpPr>
        <p:grpSpPr bwMode="auto">
          <a:xfrm>
            <a:off x="853281" y="3122613"/>
            <a:ext cx="1439863" cy="1171575"/>
            <a:chOff x="163" y="1991"/>
            <a:chExt cx="907" cy="738"/>
          </a:xfrm>
          <a:noFill/>
        </p:grpSpPr>
        <p:sp>
          <p:nvSpPr>
            <p:cNvPr id="88" name="Rectangle 59"/>
            <p:cNvSpPr>
              <a:spLocks noChangeArrowheads="1"/>
            </p:cNvSpPr>
            <p:nvPr/>
          </p:nvSpPr>
          <p:spPr bwMode="auto">
            <a:xfrm>
              <a:off x="163" y="2480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9" name="Rectangle 60"/>
            <p:cNvSpPr>
              <a:spLocks noChangeArrowheads="1"/>
            </p:cNvSpPr>
            <p:nvPr/>
          </p:nvSpPr>
          <p:spPr bwMode="auto">
            <a:xfrm>
              <a:off x="474" y="2480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D</a:t>
              </a:r>
            </a:p>
          </p:txBody>
        </p:sp>
        <p:sp>
          <p:nvSpPr>
            <p:cNvPr id="90" name="Line 29"/>
            <p:cNvSpPr>
              <a:spLocks noChangeShapeType="1"/>
            </p:cNvSpPr>
            <p:nvPr/>
          </p:nvSpPr>
          <p:spPr bwMode="auto">
            <a:xfrm flipH="1">
              <a:off x="607" y="1991"/>
              <a:ext cx="292" cy="458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1" name="Group 80"/>
          <p:cNvGrpSpPr/>
          <p:nvPr/>
        </p:nvGrpSpPr>
        <p:grpSpPr bwMode="auto">
          <a:xfrm>
            <a:off x="1753394" y="2101851"/>
            <a:ext cx="1473200" cy="1101725"/>
            <a:chOff x="730" y="1348"/>
            <a:chExt cx="928" cy="694"/>
          </a:xfrm>
          <a:noFill/>
        </p:grpSpPr>
        <p:sp>
          <p:nvSpPr>
            <p:cNvPr id="92" name="Rectangle 57"/>
            <p:cNvSpPr>
              <a:spLocks noChangeArrowheads="1"/>
            </p:cNvSpPr>
            <p:nvPr/>
          </p:nvSpPr>
          <p:spPr bwMode="auto">
            <a:xfrm>
              <a:off x="730" y="1793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3" name="Rectangle 58"/>
            <p:cNvSpPr>
              <a:spLocks noChangeArrowheads="1"/>
            </p:cNvSpPr>
            <p:nvPr/>
          </p:nvSpPr>
          <p:spPr bwMode="auto">
            <a:xfrm>
              <a:off x="1041" y="1793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B</a:t>
              </a:r>
            </a:p>
          </p:txBody>
        </p:sp>
        <p:sp>
          <p:nvSpPr>
            <p:cNvPr id="94" name="Freeform 27"/>
            <p:cNvSpPr/>
            <p:nvPr/>
          </p:nvSpPr>
          <p:spPr bwMode="auto">
            <a:xfrm>
              <a:off x="1262" y="1348"/>
              <a:ext cx="396" cy="400"/>
            </a:xfrm>
            <a:custGeom>
              <a:avLst/>
              <a:gdLst>
                <a:gd name="T0" fmla="*/ 550 w 550"/>
                <a:gd name="T1" fmla="*/ 0 h 544"/>
                <a:gd name="T2" fmla="*/ 0 w 550"/>
                <a:gd name="T3" fmla="*/ 544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50" h="544">
                  <a:moveTo>
                    <a:pt x="550" y="0"/>
                  </a:moveTo>
                  <a:lnTo>
                    <a:pt x="0" y="544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5" name="Group 92"/>
          <p:cNvGrpSpPr/>
          <p:nvPr/>
        </p:nvGrpSpPr>
        <p:grpSpPr bwMode="auto">
          <a:xfrm>
            <a:off x="3036094" y="1296988"/>
            <a:ext cx="1439862" cy="863600"/>
            <a:chOff x="1493" y="1120"/>
            <a:chExt cx="907" cy="544"/>
          </a:xfrm>
          <a:noFill/>
        </p:grpSpPr>
        <p:sp>
          <p:nvSpPr>
            <p:cNvPr id="96" name="Rectangle 6"/>
            <p:cNvSpPr>
              <a:spLocks noChangeArrowheads="1"/>
            </p:cNvSpPr>
            <p:nvPr/>
          </p:nvSpPr>
          <p:spPr bwMode="auto">
            <a:xfrm>
              <a:off x="1493" y="1415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" name="Rectangle 8"/>
            <p:cNvSpPr>
              <a:spLocks noChangeArrowheads="1"/>
            </p:cNvSpPr>
            <p:nvPr/>
          </p:nvSpPr>
          <p:spPr bwMode="auto">
            <a:xfrm>
              <a:off x="1804" y="1415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A</a:t>
              </a:r>
            </a:p>
          </p:txBody>
        </p:sp>
        <p:sp>
          <p:nvSpPr>
            <p:cNvPr id="98" name="Line 33"/>
            <p:cNvSpPr>
              <a:spLocks noChangeShapeType="1"/>
            </p:cNvSpPr>
            <p:nvPr/>
          </p:nvSpPr>
          <p:spPr bwMode="auto">
            <a:xfrm>
              <a:off x="1726" y="1120"/>
              <a:ext cx="208" cy="276"/>
            </a:xfrm>
            <a:prstGeom prst="line">
              <a:avLst/>
            </a:prstGeom>
            <a:grpFill/>
            <a:ln w="28575">
              <a:solidFill>
                <a:srgbClr val="B42D2D"/>
              </a:solidFill>
              <a:prstDash val="solid"/>
              <a:round/>
              <a:tailEnd type="stealth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9" name="Rectangle 7"/>
          <p:cNvSpPr>
            <a:spLocks noChangeArrowheads="1"/>
          </p:cNvSpPr>
          <p:nvPr/>
        </p:nvSpPr>
        <p:spPr bwMode="auto">
          <a:xfrm>
            <a:off x="2759869" y="2809876"/>
            <a:ext cx="422275" cy="365125"/>
          </a:xfrm>
          <a:prstGeom prst="rect">
            <a:avLst/>
          </a:prstGeom>
          <a:noFill/>
          <a:ln w="28575">
            <a:noFill/>
            <a:prstDash val="solid"/>
          </a:ln>
        </p:spPr>
        <p:txBody>
          <a:bodyPr lIns="54000" tIns="10800" rIns="18000" bIns="10800"/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∧</a:t>
            </a:r>
          </a:p>
        </p:txBody>
      </p:sp>
      <p:sp>
        <p:nvSpPr>
          <p:cNvPr id="100" name="Rectangle 61"/>
          <p:cNvSpPr>
            <a:spLocks noChangeArrowheads="1"/>
          </p:cNvSpPr>
          <p:nvPr/>
        </p:nvSpPr>
        <p:spPr bwMode="auto">
          <a:xfrm>
            <a:off x="915194" y="3884613"/>
            <a:ext cx="422275" cy="365125"/>
          </a:xfrm>
          <a:prstGeom prst="rect">
            <a:avLst/>
          </a:prstGeom>
          <a:noFill/>
          <a:ln w="28575">
            <a:noFill/>
            <a:prstDash val="solid"/>
          </a:ln>
        </p:spPr>
        <p:txBody>
          <a:bodyPr lIns="54000" tIns="10800" rIns="18000" bIns="10800"/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∧</a:t>
            </a:r>
          </a:p>
        </p:txBody>
      </p:sp>
      <p:grpSp>
        <p:nvGrpSpPr>
          <p:cNvPr id="101" name="Group 88"/>
          <p:cNvGrpSpPr/>
          <p:nvPr/>
        </p:nvGrpSpPr>
        <p:grpSpPr bwMode="auto">
          <a:xfrm>
            <a:off x="1799431" y="4856163"/>
            <a:ext cx="1366838" cy="381000"/>
            <a:chOff x="759" y="3083"/>
            <a:chExt cx="861" cy="240"/>
          </a:xfrm>
          <a:noFill/>
        </p:grpSpPr>
        <p:sp>
          <p:nvSpPr>
            <p:cNvPr id="102" name="Rectangle 64"/>
            <p:cNvSpPr>
              <a:spLocks noChangeArrowheads="1"/>
            </p:cNvSpPr>
            <p:nvPr/>
          </p:nvSpPr>
          <p:spPr bwMode="auto">
            <a:xfrm>
              <a:off x="759" y="3083"/>
              <a:ext cx="266" cy="230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txBody>
            <a:bodyPr lIns="54000" tIns="10800" rIns="18000" bIns="10800"/>
            <a:lstStyle/>
            <a:p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</a:p>
          </p:txBody>
        </p:sp>
        <p:sp>
          <p:nvSpPr>
            <p:cNvPr id="103" name="Rectangle 65"/>
            <p:cNvSpPr>
              <a:spLocks noChangeArrowheads="1"/>
            </p:cNvSpPr>
            <p:nvPr/>
          </p:nvSpPr>
          <p:spPr bwMode="auto">
            <a:xfrm>
              <a:off x="1354" y="3093"/>
              <a:ext cx="266" cy="230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txBody>
            <a:bodyPr lIns="54000" tIns="10800" rIns="18000" bIns="10800"/>
            <a:lstStyle/>
            <a:p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</a:p>
          </p:txBody>
        </p:sp>
      </p:grpSp>
      <p:grpSp>
        <p:nvGrpSpPr>
          <p:cNvPr id="104" name="Group 85"/>
          <p:cNvGrpSpPr/>
          <p:nvPr/>
        </p:nvGrpSpPr>
        <p:grpSpPr bwMode="auto">
          <a:xfrm>
            <a:off x="3199606" y="3897313"/>
            <a:ext cx="1366838" cy="381000"/>
            <a:chOff x="1641" y="2479"/>
            <a:chExt cx="861" cy="240"/>
          </a:xfrm>
          <a:noFill/>
        </p:grpSpPr>
        <p:sp>
          <p:nvSpPr>
            <p:cNvPr id="105" name="Rectangle 68"/>
            <p:cNvSpPr>
              <a:spLocks noChangeArrowheads="1"/>
            </p:cNvSpPr>
            <p:nvPr/>
          </p:nvSpPr>
          <p:spPr bwMode="auto">
            <a:xfrm>
              <a:off x="1641" y="2479"/>
              <a:ext cx="266" cy="230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txBody>
            <a:bodyPr lIns="54000" tIns="10800" rIns="18000" bIns="10800"/>
            <a:lstStyle/>
            <a:p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</a:p>
          </p:txBody>
        </p:sp>
        <p:sp>
          <p:nvSpPr>
            <p:cNvPr id="106" name="Rectangle 69"/>
            <p:cNvSpPr>
              <a:spLocks noChangeArrowheads="1"/>
            </p:cNvSpPr>
            <p:nvPr/>
          </p:nvSpPr>
          <p:spPr bwMode="auto">
            <a:xfrm>
              <a:off x="2236" y="2489"/>
              <a:ext cx="266" cy="230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txBody>
            <a:bodyPr lIns="54000" tIns="10800" rIns="18000" bIns="10800"/>
            <a:lstStyle/>
            <a:p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</a:p>
          </p:txBody>
        </p:sp>
      </p:grpSp>
      <p:grpSp>
        <p:nvGrpSpPr>
          <p:cNvPr id="107" name="Group 86"/>
          <p:cNvGrpSpPr/>
          <p:nvPr/>
        </p:nvGrpSpPr>
        <p:grpSpPr bwMode="auto">
          <a:xfrm>
            <a:off x="5058569" y="3895726"/>
            <a:ext cx="1366837" cy="381000"/>
            <a:chOff x="2812" y="2478"/>
            <a:chExt cx="861" cy="240"/>
          </a:xfrm>
          <a:noFill/>
        </p:grpSpPr>
        <p:sp>
          <p:nvSpPr>
            <p:cNvPr id="108" name="Rectangle 72"/>
            <p:cNvSpPr>
              <a:spLocks noChangeArrowheads="1"/>
            </p:cNvSpPr>
            <p:nvPr/>
          </p:nvSpPr>
          <p:spPr bwMode="auto">
            <a:xfrm>
              <a:off x="2812" y="2478"/>
              <a:ext cx="266" cy="230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txBody>
            <a:bodyPr lIns="54000" tIns="10800" rIns="18000" bIns="10800"/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</a:p>
          </p:txBody>
        </p:sp>
        <p:sp>
          <p:nvSpPr>
            <p:cNvPr id="109" name="Rectangle 73"/>
            <p:cNvSpPr>
              <a:spLocks noChangeArrowheads="1"/>
            </p:cNvSpPr>
            <p:nvPr/>
          </p:nvSpPr>
          <p:spPr bwMode="auto">
            <a:xfrm>
              <a:off x="3407" y="2488"/>
              <a:ext cx="266" cy="230"/>
            </a:xfrm>
            <a:prstGeom prst="rect">
              <a:avLst/>
            </a:prstGeom>
            <a:grpFill/>
            <a:ln w="28575">
              <a:noFill/>
              <a:prstDash val="solid"/>
              <a:miter lim="800000"/>
            </a:ln>
          </p:spPr>
          <p:txBody>
            <a:bodyPr lIns="54000" tIns="10800" rIns="18000" bIns="10800"/>
            <a:lstStyle/>
            <a:p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</a:p>
          </p:txBody>
        </p:sp>
      </p:grpSp>
      <p:grpSp>
        <p:nvGrpSpPr>
          <p:cNvPr id="110" name="Group 81"/>
          <p:cNvGrpSpPr/>
          <p:nvPr/>
        </p:nvGrpSpPr>
        <p:grpSpPr bwMode="auto">
          <a:xfrm>
            <a:off x="3980656" y="2101851"/>
            <a:ext cx="1439863" cy="1087437"/>
            <a:chOff x="2133" y="1348"/>
            <a:chExt cx="907" cy="685"/>
          </a:xfrm>
          <a:noFill/>
        </p:grpSpPr>
        <p:sp>
          <p:nvSpPr>
            <p:cNvPr id="111" name="Freeform 28"/>
            <p:cNvSpPr/>
            <p:nvPr/>
          </p:nvSpPr>
          <p:spPr bwMode="auto">
            <a:xfrm>
              <a:off x="2242" y="1348"/>
              <a:ext cx="338" cy="400"/>
            </a:xfrm>
            <a:custGeom>
              <a:avLst/>
              <a:gdLst>
                <a:gd name="T0" fmla="*/ 0 w 469"/>
                <a:gd name="T1" fmla="*/ 0 h 544"/>
                <a:gd name="T2" fmla="*/ 469 w 469"/>
                <a:gd name="T3" fmla="*/ 544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69" h="544">
                  <a:moveTo>
                    <a:pt x="0" y="0"/>
                  </a:moveTo>
                  <a:lnTo>
                    <a:pt x="469" y="544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Rectangle 74"/>
            <p:cNvSpPr>
              <a:spLocks noChangeArrowheads="1"/>
            </p:cNvSpPr>
            <p:nvPr/>
          </p:nvSpPr>
          <p:spPr bwMode="auto">
            <a:xfrm>
              <a:off x="2133" y="1784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" name="Rectangle 75"/>
            <p:cNvSpPr>
              <a:spLocks noChangeArrowheads="1"/>
            </p:cNvSpPr>
            <p:nvPr/>
          </p:nvSpPr>
          <p:spPr bwMode="auto">
            <a:xfrm>
              <a:off x="2444" y="1784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C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6461761" y="1273256"/>
            <a:ext cx="5212079" cy="2400657"/>
          </a:xfrm>
          <a:prstGeom prst="rect">
            <a:avLst/>
          </a:prstGeom>
          <a:ln>
            <a:solidFill>
              <a:srgbClr val="285A32"/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400" dirty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template &lt;</a:t>
            </a:r>
            <a:r>
              <a:rPr lang="en-US" altLang="zh-CN" sz="2400" dirty="0" err="1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typename</a:t>
            </a:r>
            <a:r>
              <a:rPr lang="en-US" altLang="zh-CN" sz="2400" dirty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400" dirty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BiNode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dirty="0" err="1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data;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BiNode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400" dirty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400" dirty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*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lchild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*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rchild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</p:txBody>
      </p:sp>
      <p:grpSp>
        <p:nvGrpSpPr>
          <p:cNvPr id="59" name="组合 58"/>
          <p:cNvGrpSpPr/>
          <p:nvPr/>
        </p:nvGrpSpPr>
        <p:grpSpPr>
          <a:xfrm>
            <a:off x="3750151" y="4882685"/>
            <a:ext cx="3686969" cy="523220"/>
            <a:chOff x="1826091" y="4148024"/>
            <a:chExt cx="3686969" cy="523220"/>
          </a:xfrm>
        </p:grpSpPr>
        <p:sp>
          <p:nvSpPr>
            <p:cNvPr id="60" name="Text Box 11"/>
            <p:cNvSpPr txBox="1">
              <a:spLocks noChangeArrowheads="1"/>
            </p:cNvSpPr>
            <p:nvPr/>
          </p:nvSpPr>
          <p:spPr bwMode="auto">
            <a:xfrm>
              <a:off x="2385059" y="4148024"/>
              <a:ext cx="312800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叶子结点的标志？</a:t>
              </a:r>
            </a:p>
          </p:txBody>
        </p:sp>
        <p:grpSp>
          <p:nvGrpSpPr>
            <p:cNvPr id="61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62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3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4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5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7302892" y="4888469"/>
            <a:ext cx="4188068" cy="523220"/>
            <a:chOff x="7409572" y="4812269"/>
            <a:chExt cx="4188068" cy="523220"/>
          </a:xfrm>
        </p:grpSpPr>
        <p:sp>
          <p:nvSpPr>
            <p:cNvPr id="67" name="Text Box 11"/>
            <p:cNvSpPr txBox="1">
              <a:spLocks noChangeArrowheads="1"/>
            </p:cNvSpPr>
            <p:nvPr/>
          </p:nvSpPr>
          <p:spPr bwMode="auto">
            <a:xfrm>
              <a:off x="8100387" y="4812269"/>
              <a:ext cx="349725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左右孩子指针均为空</a:t>
              </a:r>
            </a:p>
          </p:txBody>
        </p:sp>
        <p:sp>
          <p:nvSpPr>
            <p:cNvPr id="73" name="右箭头 72"/>
            <p:cNvSpPr/>
            <p:nvPr/>
          </p:nvSpPr>
          <p:spPr>
            <a:xfrm>
              <a:off x="7409572" y="4913163"/>
              <a:ext cx="576000" cy="324000"/>
            </a:xfrm>
            <a:prstGeom prst="rightArrow">
              <a:avLst/>
            </a:prstGeom>
            <a:noFill/>
            <a:ln w="28575">
              <a:solidFill>
                <a:srgbClr val="507D7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3614578" y="1052206"/>
            <a:ext cx="12906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endParaRPr lang="zh-CN" altLang="en-US" sz="2800" dirty="0">
              <a:solidFill>
                <a:srgbClr val="B4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6140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4788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7" y="61585"/>
            <a:ext cx="507762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二叉链表的存储结构定义</a:t>
            </a:r>
          </a:p>
        </p:txBody>
      </p:sp>
      <p:grpSp>
        <p:nvGrpSpPr>
          <p:cNvPr id="75" name="Group 87"/>
          <p:cNvGrpSpPr/>
          <p:nvPr/>
        </p:nvGrpSpPr>
        <p:grpSpPr bwMode="auto">
          <a:xfrm>
            <a:off x="1737519" y="4214813"/>
            <a:ext cx="1439862" cy="1050925"/>
            <a:chOff x="720" y="2679"/>
            <a:chExt cx="907" cy="662"/>
          </a:xfrm>
          <a:noFill/>
        </p:grpSpPr>
        <p:sp>
          <p:nvSpPr>
            <p:cNvPr id="76" name="Rectangle 62"/>
            <p:cNvSpPr>
              <a:spLocks noChangeArrowheads="1"/>
            </p:cNvSpPr>
            <p:nvPr/>
          </p:nvSpPr>
          <p:spPr bwMode="auto">
            <a:xfrm>
              <a:off x="720" y="3092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7" name="Rectangle 63"/>
            <p:cNvSpPr>
              <a:spLocks noChangeArrowheads="1"/>
            </p:cNvSpPr>
            <p:nvPr/>
          </p:nvSpPr>
          <p:spPr bwMode="auto">
            <a:xfrm>
              <a:off x="1031" y="3092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G</a:t>
              </a:r>
            </a:p>
          </p:txBody>
        </p:sp>
        <p:sp>
          <p:nvSpPr>
            <p:cNvPr id="78" name="Freeform 32"/>
            <p:cNvSpPr/>
            <p:nvPr/>
          </p:nvSpPr>
          <p:spPr bwMode="auto">
            <a:xfrm>
              <a:off x="889" y="2679"/>
              <a:ext cx="319" cy="385"/>
            </a:xfrm>
            <a:custGeom>
              <a:avLst/>
              <a:gdLst>
                <a:gd name="T0" fmla="*/ 0 w 444"/>
                <a:gd name="T1" fmla="*/ 0 h 523"/>
                <a:gd name="T2" fmla="*/ 444 w 444"/>
                <a:gd name="T3" fmla="*/ 523 h 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4" h="523">
                  <a:moveTo>
                    <a:pt x="0" y="0"/>
                  </a:moveTo>
                  <a:lnTo>
                    <a:pt x="444" y="523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9" name="Group 84"/>
          <p:cNvGrpSpPr/>
          <p:nvPr/>
        </p:nvGrpSpPr>
        <p:grpSpPr bwMode="auto">
          <a:xfrm>
            <a:off x="4996656" y="3122613"/>
            <a:ext cx="1439863" cy="1182688"/>
            <a:chOff x="2773" y="1991"/>
            <a:chExt cx="907" cy="745"/>
          </a:xfrm>
          <a:noFill/>
        </p:grpSpPr>
        <p:sp>
          <p:nvSpPr>
            <p:cNvPr id="80" name="Rectangle 70"/>
            <p:cNvSpPr>
              <a:spLocks noChangeArrowheads="1"/>
            </p:cNvSpPr>
            <p:nvPr/>
          </p:nvSpPr>
          <p:spPr bwMode="auto">
            <a:xfrm>
              <a:off x="2773" y="2487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" name="Rectangle 71"/>
            <p:cNvSpPr>
              <a:spLocks noChangeArrowheads="1"/>
            </p:cNvSpPr>
            <p:nvPr/>
          </p:nvSpPr>
          <p:spPr bwMode="auto">
            <a:xfrm>
              <a:off x="3084" y="2487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F</a:t>
              </a:r>
            </a:p>
          </p:txBody>
        </p:sp>
        <p:sp>
          <p:nvSpPr>
            <p:cNvPr id="82" name="Line 31"/>
            <p:cNvSpPr>
              <a:spLocks noChangeShapeType="1"/>
            </p:cNvSpPr>
            <p:nvPr/>
          </p:nvSpPr>
          <p:spPr bwMode="auto">
            <a:xfrm>
              <a:off x="2946" y="1991"/>
              <a:ext cx="292" cy="458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3" name="Group 83"/>
          <p:cNvGrpSpPr/>
          <p:nvPr/>
        </p:nvGrpSpPr>
        <p:grpSpPr bwMode="auto">
          <a:xfrm>
            <a:off x="3137694" y="3122613"/>
            <a:ext cx="1439862" cy="1184275"/>
            <a:chOff x="1602" y="1991"/>
            <a:chExt cx="907" cy="746"/>
          </a:xfrm>
          <a:noFill/>
        </p:grpSpPr>
        <p:sp>
          <p:nvSpPr>
            <p:cNvPr id="84" name="Rectangle 66"/>
            <p:cNvSpPr>
              <a:spLocks noChangeArrowheads="1"/>
            </p:cNvSpPr>
            <p:nvPr/>
          </p:nvSpPr>
          <p:spPr bwMode="auto">
            <a:xfrm>
              <a:off x="1602" y="2488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" name="Rectangle 67"/>
            <p:cNvSpPr>
              <a:spLocks noChangeArrowheads="1"/>
            </p:cNvSpPr>
            <p:nvPr/>
          </p:nvSpPr>
          <p:spPr bwMode="auto">
            <a:xfrm>
              <a:off x="1913" y="2488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E</a:t>
              </a:r>
            </a:p>
          </p:txBody>
        </p:sp>
        <p:sp>
          <p:nvSpPr>
            <p:cNvPr id="86" name="Line 30"/>
            <p:cNvSpPr>
              <a:spLocks noChangeShapeType="1"/>
            </p:cNvSpPr>
            <p:nvPr/>
          </p:nvSpPr>
          <p:spPr bwMode="auto">
            <a:xfrm flipH="1">
              <a:off x="2069" y="1991"/>
              <a:ext cx="292" cy="458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7" name="Group 82"/>
          <p:cNvGrpSpPr/>
          <p:nvPr/>
        </p:nvGrpSpPr>
        <p:grpSpPr bwMode="auto">
          <a:xfrm>
            <a:off x="853281" y="3122613"/>
            <a:ext cx="1439863" cy="1171575"/>
            <a:chOff x="163" y="1991"/>
            <a:chExt cx="907" cy="738"/>
          </a:xfrm>
          <a:noFill/>
        </p:grpSpPr>
        <p:sp>
          <p:nvSpPr>
            <p:cNvPr id="88" name="Rectangle 59"/>
            <p:cNvSpPr>
              <a:spLocks noChangeArrowheads="1"/>
            </p:cNvSpPr>
            <p:nvPr/>
          </p:nvSpPr>
          <p:spPr bwMode="auto">
            <a:xfrm>
              <a:off x="163" y="2480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9" name="Rectangle 60"/>
            <p:cNvSpPr>
              <a:spLocks noChangeArrowheads="1"/>
            </p:cNvSpPr>
            <p:nvPr/>
          </p:nvSpPr>
          <p:spPr bwMode="auto">
            <a:xfrm>
              <a:off x="474" y="2480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D</a:t>
              </a:r>
            </a:p>
          </p:txBody>
        </p:sp>
        <p:sp>
          <p:nvSpPr>
            <p:cNvPr id="90" name="Line 29"/>
            <p:cNvSpPr>
              <a:spLocks noChangeShapeType="1"/>
            </p:cNvSpPr>
            <p:nvPr/>
          </p:nvSpPr>
          <p:spPr bwMode="auto">
            <a:xfrm flipH="1">
              <a:off x="607" y="1991"/>
              <a:ext cx="292" cy="458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1" name="Group 80"/>
          <p:cNvGrpSpPr/>
          <p:nvPr/>
        </p:nvGrpSpPr>
        <p:grpSpPr bwMode="auto">
          <a:xfrm>
            <a:off x="1753394" y="2101851"/>
            <a:ext cx="1473200" cy="1101725"/>
            <a:chOff x="730" y="1348"/>
            <a:chExt cx="928" cy="694"/>
          </a:xfrm>
          <a:noFill/>
        </p:grpSpPr>
        <p:sp>
          <p:nvSpPr>
            <p:cNvPr id="92" name="Rectangle 57"/>
            <p:cNvSpPr>
              <a:spLocks noChangeArrowheads="1"/>
            </p:cNvSpPr>
            <p:nvPr/>
          </p:nvSpPr>
          <p:spPr bwMode="auto">
            <a:xfrm>
              <a:off x="730" y="1793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3" name="Rectangle 58"/>
            <p:cNvSpPr>
              <a:spLocks noChangeArrowheads="1"/>
            </p:cNvSpPr>
            <p:nvPr/>
          </p:nvSpPr>
          <p:spPr bwMode="auto">
            <a:xfrm>
              <a:off x="1041" y="1793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B</a:t>
              </a:r>
            </a:p>
          </p:txBody>
        </p:sp>
        <p:sp>
          <p:nvSpPr>
            <p:cNvPr id="94" name="Freeform 27"/>
            <p:cNvSpPr/>
            <p:nvPr/>
          </p:nvSpPr>
          <p:spPr bwMode="auto">
            <a:xfrm>
              <a:off x="1262" y="1348"/>
              <a:ext cx="396" cy="400"/>
            </a:xfrm>
            <a:custGeom>
              <a:avLst/>
              <a:gdLst>
                <a:gd name="T0" fmla="*/ 550 w 550"/>
                <a:gd name="T1" fmla="*/ 0 h 544"/>
                <a:gd name="T2" fmla="*/ 0 w 550"/>
                <a:gd name="T3" fmla="*/ 544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50" h="544">
                  <a:moveTo>
                    <a:pt x="550" y="0"/>
                  </a:moveTo>
                  <a:lnTo>
                    <a:pt x="0" y="544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5" name="Group 92"/>
          <p:cNvGrpSpPr/>
          <p:nvPr/>
        </p:nvGrpSpPr>
        <p:grpSpPr bwMode="auto">
          <a:xfrm>
            <a:off x="3036094" y="1296988"/>
            <a:ext cx="1439862" cy="863600"/>
            <a:chOff x="1493" y="1120"/>
            <a:chExt cx="907" cy="544"/>
          </a:xfrm>
          <a:noFill/>
        </p:grpSpPr>
        <p:sp>
          <p:nvSpPr>
            <p:cNvPr id="96" name="Rectangle 6"/>
            <p:cNvSpPr>
              <a:spLocks noChangeArrowheads="1"/>
            </p:cNvSpPr>
            <p:nvPr/>
          </p:nvSpPr>
          <p:spPr bwMode="auto">
            <a:xfrm>
              <a:off x="1493" y="1415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" name="Rectangle 8"/>
            <p:cNvSpPr>
              <a:spLocks noChangeArrowheads="1"/>
            </p:cNvSpPr>
            <p:nvPr/>
          </p:nvSpPr>
          <p:spPr bwMode="auto">
            <a:xfrm>
              <a:off x="1804" y="1415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A</a:t>
              </a:r>
            </a:p>
          </p:txBody>
        </p:sp>
        <p:sp>
          <p:nvSpPr>
            <p:cNvPr id="98" name="Line 33"/>
            <p:cNvSpPr>
              <a:spLocks noChangeShapeType="1"/>
            </p:cNvSpPr>
            <p:nvPr/>
          </p:nvSpPr>
          <p:spPr bwMode="auto">
            <a:xfrm>
              <a:off x="1726" y="1120"/>
              <a:ext cx="208" cy="276"/>
            </a:xfrm>
            <a:prstGeom prst="line">
              <a:avLst/>
            </a:prstGeom>
            <a:grpFill/>
            <a:ln w="28575">
              <a:solidFill>
                <a:srgbClr val="B42D2D"/>
              </a:solidFill>
              <a:prstDash val="solid"/>
              <a:round/>
              <a:tailEnd type="stealth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9" name="Rectangle 7"/>
          <p:cNvSpPr>
            <a:spLocks noChangeArrowheads="1"/>
          </p:cNvSpPr>
          <p:nvPr/>
        </p:nvSpPr>
        <p:spPr bwMode="auto">
          <a:xfrm>
            <a:off x="2759869" y="2809876"/>
            <a:ext cx="422275" cy="365125"/>
          </a:xfrm>
          <a:prstGeom prst="rect">
            <a:avLst/>
          </a:prstGeom>
          <a:noFill/>
          <a:ln w="28575">
            <a:noFill/>
            <a:prstDash val="solid"/>
          </a:ln>
        </p:spPr>
        <p:txBody>
          <a:bodyPr lIns="54000" tIns="10800" rIns="18000" bIns="10800"/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∧</a:t>
            </a:r>
          </a:p>
        </p:txBody>
      </p:sp>
      <p:sp>
        <p:nvSpPr>
          <p:cNvPr id="100" name="Rectangle 61"/>
          <p:cNvSpPr>
            <a:spLocks noChangeArrowheads="1"/>
          </p:cNvSpPr>
          <p:nvPr/>
        </p:nvSpPr>
        <p:spPr bwMode="auto">
          <a:xfrm>
            <a:off x="915194" y="3884613"/>
            <a:ext cx="422275" cy="365125"/>
          </a:xfrm>
          <a:prstGeom prst="rect">
            <a:avLst/>
          </a:prstGeom>
          <a:noFill/>
          <a:ln w="28575">
            <a:noFill/>
            <a:prstDash val="solid"/>
          </a:ln>
        </p:spPr>
        <p:txBody>
          <a:bodyPr lIns="54000" tIns="10800" rIns="18000" bIns="10800"/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∧</a:t>
            </a:r>
          </a:p>
        </p:txBody>
      </p:sp>
      <p:grpSp>
        <p:nvGrpSpPr>
          <p:cNvPr id="101" name="Group 88"/>
          <p:cNvGrpSpPr/>
          <p:nvPr/>
        </p:nvGrpSpPr>
        <p:grpSpPr bwMode="auto">
          <a:xfrm>
            <a:off x="1799431" y="4856163"/>
            <a:ext cx="1366838" cy="381000"/>
            <a:chOff x="759" y="3083"/>
            <a:chExt cx="861" cy="240"/>
          </a:xfrm>
          <a:noFill/>
        </p:grpSpPr>
        <p:sp>
          <p:nvSpPr>
            <p:cNvPr id="102" name="Rectangle 64"/>
            <p:cNvSpPr>
              <a:spLocks noChangeArrowheads="1"/>
            </p:cNvSpPr>
            <p:nvPr/>
          </p:nvSpPr>
          <p:spPr bwMode="auto">
            <a:xfrm>
              <a:off x="759" y="3083"/>
              <a:ext cx="266" cy="230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txBody>
            <a:bodyPr lIns="54000" tIns="10800" rIns="18000" bIns="10800"/>
            <a:lstStyle/>
            <a:p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</a:p>
          </p:txBody>
        </p:sp>
        <p:sp>
          <p:nvSpPr>
            <p:cNvPr id="103" name="Rectangle 65"/>
            <p:cNvSpPr>
              <a:spLocks noChangeArrowheads="1"/>
            </p:cNvSpPr>
            <p:nvPr/>
          </p:nvSpPr>
          <p:spPr bwMode="auto">
            <a:xfrm>
              <a:off x="1354" y="3093"/>
              <a:ext cx="266" cy="230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txBody>
            <a:bodyPr lIns="54000" tIns="10800" rIns="18000" bIns="10800"/>
            <a:lstStyle/>
            <a:p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</a:p>
          </p:txBody>
        </p:sp>
      </p:grpSp>
      <p:grpSp>
        <p:nvGrpSpPr>
          <p:cNvPr id="104" name="Group 85"/>
          <p:cNvGrpSpPr/>
          <p:nvPr/>
        </p:nvGrpSpPr>
        <p:grpSpPr bwMode="auto">
          <a:xfrm>
            <a:off x="3199606" y="3897313"/>
            <a:ext cx="1366838" cy="381000"/>
            <a:chOff x="1641" y="2479"/>
            <a:chExt cx="861" cy="240"/>
          </a:xfrm>
          <a:noFill/>
        </p:grpSpPr>
        <p:sp>
          <p:nvSpPr>
            <p:cNvPr id="105" name="Rectangle 68"/>
            <p:cNvSpPr>
              <a:spLocks noChangeArrowheads="1"/>
            </p:cNvSpPr>
            <p:nvPr/>
          </p:nvSpPr>
          <p:spPr bwMode="auto">
            <a:xfrm>
              <a:off x="1641" y="2479"/>
              <a:ext cx="266" cy="230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txBody>
            <a:bodyPr lIns="54000" tIns="10800" rIns="18000" bIns="10800"/>
            <a:lstStyle/>
            <a:p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</a:p>
          </p:txBody>
        </p:sp>
        <p:sp>
          <p:nvSpPr>
            <p:cNvPr id="106" name="Rectangle 69"/>
            <p:cNvSpPr>
              <a:spLocks noChangeArrowheads="1"/>
            </p:cNvSpPr>
            <p:nvPr/>
          </p:nvSpPr>
          <p:spPr bwMode="auto">
            <a:xfrm>
              <a:off x="2236" y="2489"/>
              <a:ext cx="266" cy="230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txBody>
            <a:bodyPr lIns="54000" tIns="10800" rIns="18000" bIns="10800"/>
            <a:lstStyle/>
            <a:p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</a:p>
          </p:txBody>
        </p:sp>
      </p:grpSp>
      <p:grpSp>
        <p:nvGrpSpPr>
          <p:cNvPr id="107" name="Group 86"/>
          <p:cNvGrpSpPr/>
          <p:nvPr/>
        </p:nvGrpSpPr>
        <p:grpSpPr bwMode="auto">
          <a:xfrm>
            <a:off x="5058569" y="3895726"/>
            <a:ext cx="1366837" cy="381000"/>
            <a:chOff x="2812" y="2478"/>
            <a:chExt cx="861" cy="240"/>
          </a:xfrm>
          <a:noFill/>
        </p:grpSpPr>
        <p:sp>
          <p:nvSpPr>
            <p:cNvPr id="108" name="Rectangle 72"/>
            <p:cNvSpPr>
              <a:spLocks noChangeArrowheads="1"/>
            </p:cNvSpPr>
            <p:nvPr/>
          </p:nvSpPr>
          <p:spPr bwMode="auto">
            <a:xfrm>
              <a:off x="2812" y="2478"/>
              <a:ext cx="266" cy="230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txBody>
            <a:bodyPr lIns="54000" tIns="10800" rIns="18000" bIns="10800"/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</a:p>
          </p:txBody>
        </p:sp>
        <p:sp>
          <p:nvSpPr>
            <p:cNvPr id="109" name="Rectangle 73"/>
            <p:cNvSpPr>
              <a:spLocks noChangeArrowheads="1"/>
            </p:cNvSpPr>
            <p:nvPr/>
          </p:nvSpPr>
          <p:spPr bwMode="auto">
            <a:xfrm>
              <a:off x="3407" y="2488"/>
              <a:ext cx="266" cy="230"/>
            </a:xfrm>
            <a:prstGeom prst="rect">
              <a:avLst/>
            </a:prstGeom>
            <a:grpFill/>
            <a:ln w="28575">
              <a:noFill/>
              <a:prstDash val="solid"/>
              <a:miter lim="800000"/>
            </a:ln>
          </p:spPr>
          <p:txBody>
            <a:bodyPr lIns="54000" tIns="10800" rIns="18000" bIns="10800"/>
            <a:lstStyle/>
            <a:p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</a:p>
          </p:txBody>
        </p:sp>
      </p:grpSp>
      <p:grpSp>
        <p:nvGrpSpPr>
          <p:cNvPr id="110" name="Group 81"/>
          <p:cNvGrpSpPr/>
          <p:nvPr/>
        </p:nvGrpSpPr>
        <p:grpSpPr bwMode="auto">
          <a:xfrm>
            <a:off x="3980656" y="2101851"/>
            <a:ext cx="1439863" cy="1087437"/>
            <a:chOff x="2133" y="1348"/>
            <a:chExt cx="907" cy="685"/>
          </a:xfrm>
          <a:noFill/>
        </p:grpSpPr>
        <p:sp>
          <p:nvSpPr>
            <p:cNvPr id="111" name="Freeform 28"/>
            <p:cNvSpPr/>
            <p:nvPr/>
          </p:nvSpPr>
          <p:spPr bwMode="auto">
            <a:xfrm>
              <a:off x="2242" y="1348"/>
              <a:ext cx="338" cy="400"/>
            </a:xfrm>
            <a:custGeom>
              <a:avLst/>
              <a:gdLst>
                <a:gd name="T0" fmla="*/ 0 w 469"/>
                <a:gd name="T1" fmla="*/ 0 h 544"/>
                <a:gd name="T2" fmla="*/ 469 w 469"/>
                <a:gd name="T3" fmla="*/ 544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69" h="544">
                  <a:moveTo>
                    <a:pt x="0" y="0"/>
                  </a:moveTo>
                  <a:lnTo>
                    <a:pt x="469" y="544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Rectangle 74"/>
            <p:cNvSpPr>
              <a:spLocks noChangeArrowheads="1"/>
            </p:cNvSpPr>
            <p:nvPr/>
          </p:nvSpPr>
          <p:spPr bwMode="auto">
            <a:xfrm>
              <a:off x="2133" y="1784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" name="Rectangle 75"/>
            <p:cNvSpPr>
              <a:spLocks noChangeArrowheads="1"/>
            </p:cNvSpPr>
            <p:nvPr/>
          </p:nvSpPr>
          <p:spPr bwMode="auto">
            <a:xfrm>
              <a:off x="2444" y="1784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C</a:t>
              </a: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3750151" y="4882685"/>
            <a:ext cx="7405529" cy="523220"/>
            <a:chOff x="1826091" y="4148024"/>
            <a:chExt cx="7405529" cy="523220"/>
          </a:xfrm>
        </p:grpSpPr>
        <p:sp>
          <p:nvSpPr>
            <p:cNvPr id="60" name="Text Box 11"/>
            <p:cNvSpPr txBox="1">
              <a:spLocks noChangeArrowheads="1"/>
            </p:cNvSpPr>
            <p:nvPr/>
          </p:nvSpPr>
          <p:spPr bwMode="auto">
            <a:xfrm>
              <a:off x="2385059" y="4148024"/>
              <a:ext cx="684656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n </a:t>
              </a:r>
              <a:r>
                <a:rPr lang="zh-CN" altLang="en-US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个结点的二叉链表有多少个空指针？</a:t>
              </a:r>
            </a:p>
          </p:txBody>
        </p:sp>
        <p:grpSp>
          <p:nvGrpSpPr>
            <p:cNvPr id="61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62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3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4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5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67" name="Text Box 11"/>
          <p:cNvSpPr txBox="1">
            <a:spLocks noChangeArrowheads="1"/>
          </p:cNvSpPr>
          <p:nvPr/>
        </p:nvSpPr>
        <p:spPr bwMode="auto">
          <a:xfrm>
            <a:off x="5000401" y="5451929"/>
            <a:ext cx="510371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404040"/>
                </a:solidFill>
                <a:latin typeface="+mn-ea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404040"/>
                </a:solidFill>
                <a:latin typeface="+mn-ea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1) = </a:t>
            </a:r>
            <a:r>
              <a:rPr lang="en-US" altLang="zh-CN" sz="2800" i="1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+1 </a:t>
            </a:r>
            <a:r>
              <a:rPr lang="zh-CN" altLang="en-US" sz="28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个空指针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14578" y="1052206"/>
            <a:ext cx="12906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endParaRPr lang="zh-CN" altLang="en-US" sz="2800" dirty="0">
              <a:solidFill>
                <a:srgbClr val="B4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6461761" y="1273256"/>
            <a:ext cx="5212079" cy="2400657"/>
          </a:xfrm>
          <a:prstGeom prst="rect">
            <a:avLst/>
          </a:prstGeom>
          <a:ln>
            <a:solidFill>
              <a:srgbClr val="285A32"/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400" dirty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template &lt;</a:t>
            </a:r>
            <a:r>
              <a:rPr lang="en-US" altLang="zh-CN" sz="2400" dirty="0" err="1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typename</a:t>
            </a:r>
            <a:r>
              <a:rPr lang="en-US" altLang="zh-CN" sz="2400" dirty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400" dirty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BiNode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dirty="0" err="1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data;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BiNode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400" dirty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400" dirty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*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lchild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*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rchild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960016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4032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7" y="61585"/>
            <a:ext cx="39282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三叉链表的存储方法</a:t>
            </a:r>
          </a:p>
        </p:txBody>
      </p:sp>
      <p:grpSp>
        <p:nvGrpSpPr>
          <p:cNvPr id="75" name="Group 87"/>
          <p:cNvGrpSpPr/>
          <p:nvPr/>
        </p:nvGrpSpPr>
        <p:grpSpPr bwMode="auto">
          <a:xfrm>
            <a:off x="1737519" y="4214813"/>
            <a:ext cx="1439862" cy="1050925"/>
            <a:chOff x="720" y="2679"/>
            <a:chExt cx="907" cy="662"/>
          </a:xfrm>
          <a:noFill/>
        </p:grpSpPr>
        <p:sp>
          <p:nvSpPr>
            <p:cNvPr id="76" name="Rectangle 62"/>
            <p:cNvSpPr>
              <a:spLocks noChangeArrowheads="1"/>
            </p:cNvSpPr>
            <p:nvPr/>
          </p:nvSpPr>
          <p:spPr bwMode="auto">
            <a:xfrm>
              <a:off x="720" y="3092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7" name="Rectangle 63"/>
            <p:cNvSpPr>
              <a:spLocks noChangeArrowheads="1"/>
            </p:cNvSpPr>
            <p:nvPr/>
          </p:nvSpPr>
          <p:spPr bwMode="auto">
            <a:xfrm>
              <a:off x="1031" y="3092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G</a:t>
              </a:r>
            </a:p>
          </p:txBody>
        </p:sp>
        <p:sp>
          <p:nvSpPr>
            <p:cNvPr id="78" name="Freeform 32"/>
            <p:cNvSpPr/>
            <p:nvPr/>
          </p:nvSpPr>
          <p:spPr bwMode="auto">
            <a:xfrm>
              <a:off x="889" y="2679"/>
              <a:ext cx="319" cy="385"/>
            </a:xfrm>
            <a:custGeom>
              <a:avLst/>
              <a:gdLst>
                <a:gd name="T0" fmla="*/ 0 w 444"/>
                <a:gd name="T1" fmla="*/ 0 h 523"/>
                <a:gd name="T2" fmla="*/ 444 w 444"/>
                <a:gd name="T3" fmla="*/ 523 h 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4" h="523">
                  <a:moveTo>
                    <a:pt x="0" y="0"/>
                  </a:moveTo>
                  <a:lnTo>
                    <a:pt x="444" y="523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9" name="Group 84"/>
          <p:cNvGrpSpPr/>
          <p:nvPr/>
        </p:nvGrpSpPr>
        <p:grpSpPr bwMode="auto">
          <a:xfrm>
            <a:off x="4996656" y="3122613"/>
            <a:ext cx="1439863" cy="1182688"/>
            <a:chOff x="2773" y="1991"/>
            <a:chExt cx="907" cy="745"/>
          </a:xfrm>
          <a:noFill/>
        </p:grpSpPr>
        <p:sp>
          <p:nvSpPr>
            <p:cNvPr id="80" name="Rectangle 70"/>
            <p:cNvSpPr>
              <a:spLocks noChangeArrowheads="1"/>
            </p:cNvSpPr>
            <p:nvPr/>
          </p:nvSpPr>
          <p:spPr bwMode="auto">
            <a:xfrm>
              <a:off x="2773" y="2487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" name="Rectangle 71"/>
            <p:cNvSpPr>
              <a:spLocks noChangeArrowheads="1"/>
            </p:cNvSpPr>
            <p:nvPr/>
          </p:nvSpPr>
          <p:spPr bwMode="auto">
            <a:xfrm>
              <a:off x="3084" y="2487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F</a:t>
              </a:r>
            </a:p>
          </p:txBody>
        </p:sp>
        <p:sp>
          <p:nvSpPr>
            <p:cNvPr id="82" name="Line 31"/>
            <p:cNvSpPr>
              <a:spLocks noChangeShapeType="1"/>
            </p:cNvSpPr>
            <p:nvPr/>
          </p:nvSpPr>
          <p:spPr bwMode="auto">
            <a:xfrm>
              <a:off x="2946" y="1991"/>
              <a:ext cx="292" cy="458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3" name="Group 83"/>
          <p:cNvGrpSpPr/>
          <p:nvPr/>
        </p:nvGrpSpPr>
        <p:grpSpPr bwMode="auto">
          <a:xfrm>
            <a:off x="3137694" y="3122613"/>
            <a:ext cx="1439862" cy="1184275"/>
            <a:chOff x="1602" y="1991"/>
            <a:chExt cx="907" cy="746"/>
          </a:xfrm>
          <a:noFill/>
        </p:grpSpPr>
        <p:sp>
          <p:nvSpPr>
            <p:cNvPr id="84" name="Rectangle 66"/>
            <p:cNvSpPr>
              <a:spLocks noChangeArrowheads="1"/>
            </p:cNvSpPr>
            <p:nvPr/>
          </p:nvSpPr>
          <p:spPr bwMode="auto">
            <a:xfrm>
              <a:off x="1602" y="2488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" name="Rectangle 67"/>
            <p:cNvSpPr>
              <a:spLocks noChangeArrowheads="1"/>
            </p:cNvSpPr>
            <p:nvPr/>
          </p:nvSpPr>
          <p:spPr bwMode="auto">
            <a:xfrm>
              <a:off x="1913" y="2488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E</a:t>
              </a:r>
            </a:p>
          </p:txBody>
        </p:sp>
        <p:sp>
          <p:nvSpPr>
            <p:cNvPr id="86" name="Line 30"/>
            <p:cNvSpPr>
              <a:spLocks noChangeShapeType="1"/>
            </p:cNvSpPr>
            <p:nvPr/>
          </p:nvSpPr>
          <p:spPr bwMode="auto">
            <a:xfrm flipH="1">
              <a:off x="2069" y="1991"/>
              <a:ext cx="292" cy="458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7" name="Group 82"/>
          <p:cNvGrpSpPr/>
          <p:nvPr/>
        </p:nvGrpSpPr>
        <p:grpSpPr bwMode="auto">
          <a:xfrm>
            <a:off x="853281" y="3122613"/>
            <a:ext cx="1439863" cy="1171575"/>
            <a:chOff x="163" y="1991"/>
            <a:chExt cx="907" cy="738"/>
          </a:xfrm>
          <a:noFill/>
        </p:grpSpPr>
        <p:sp>
          <p:nvSpPr>
            <p:cNvPr id="88" name="Rectangle 59"/>
            <p:cNvSpPr>
              <a:spLocks noChangeArrowheads="1"/>
            </p:cNvSpPr>
            <p:nvPr/>
          </p:nvSpPr>
          <p:spPr bwMode="auto">
            <a:xfrm>
              <a:off x="163" y="2480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9" name="Rectangle 60"/>
            <p:cNvSpPr>
              <a:spLocks noChangeArrowheads="1"/>
            </p:cNvSpPr>
            <p:nvPr/>
          </p:nvSpPr>
          <p:spPr bwMode="auto">
            <a:xfrm>
              <a:off x="474" y="2480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D</a:t>
              </a:r>
            </a:p>
          </p:txBody>
        </p:sp>
        <p:sp>
          <p:nvSpPr>
            <p:cNvPr id="90" name="Line 29"/>
            <p:cNvSpPr>
              <a:spLocks noChangeShapeType="1"/>
            </p:cNvSpPr>
            <p:nvPr/>
          </p:nvSpPr>
          <p:spPr bwMode="auto">
            <a:xfrm flipH="1">
              <a:off x="607" y="1991"/>
              <a:ext cx="292" cy="458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1" name="Group 80"/>
          <p:cNvGrpSpPr/>
          <p:nvPr/>
        </p:nvGrpSpPr>
        <p:grpSpPr bwMode="auto">
          <a:xfrm>
            <a:off x="1753394" y="2101851"/>
            <a:ext cx="1473200" cy="1101725"/>
            <a:chOff x="730" y="1348"/>
            <a:chExt cx="928" cy="694"/>
          </a:xfrm>
          <a:noFill/>
        </p:grpSpPr>
        <p:sp>
          <p:nvSpPr>
            <p:cNvPr id="92" name="Rectangle 57"/>
            <p:cNvSpPr>
              <a:spLocks noChangeArrowheads="1"/>
            </p:cNvSpPr>
            <p:nvPr/>
          </p:nvSpPr>
          <p:spPr bwMode="auto">
            <a:xfrm>
              <a:off x="730" y="1793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3" name="Rectangle 58"/>
            <p:cNvSpPr>
              <a:spLocks noChangeArrowheads="1"/>
            </p:cNvSpPr>
            <p:nvPr/>
          </p:nvSpPr>
          <p:spPr bwMode="auto">
            <a:xfrm>
              <a:off x="1041" y="1793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B</a:t>
              </a:r>
            </a:p>
          </p:txBody>
        </p:sp>
        <p:sp>
          <p:nvSpPr>
            <p:cNvPr id="94" name="Freeform 27"/>
            <p:cNvSpPr/>
            <p:nvPr/>
          </p:nvSpPr>
          <p:spPr bwMode="auto">
            <a:xfrm>
              <a:off x="1262" y="1348"/>
              <a:ext cx="396" cy="400"/>
            </a:xfrm>
            <a:custGeom>
              <a:avLst/>
              <a:gdLst>
                <a:gd name="T0" fmla="*/ 550 w 550"/>
                <a:gd name="T1" fmla="*/ 0 h 544"/>
                <a:gd name="T2" fmla="*/ 0 w 550"/>
                <a:gd name="T3" fmla="*/ 544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50" h="544">
                  <a:moveTo>
                    <a:pt x="550" y="0"/>
                  </a:moveTo>
                  <a:lnTo>
                    <a:pt x="0" y="544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5" name="Group 92"/>
          <p:cNvGrpSpPr/>
          <p:nvPr/>
        </p:nvGrpSpPr>
        <p:grpSpPr bwMode="auto">
          <a:xfrm>
            <a:off x="3036094" y="1296988"/>
            <a:ext cx="1439862" cy="863600"/>
            <a:chOff x="1493" y="1120"/>
            <a:chExt cx="907" cy="544"/>
          </a:xfrm>
          <a:noFill/>
        </p:grpSpPr>
        <p:sp>
          <p:nvSpPr>
            <p:cNvPr id="96" name="Rectangle 6"/>
            <p:cNvSpPr>
              <a:spLocks noChangeArrowheads="1"/>
            </p:cNvSpPr>
            <p:nvPr/>
          </p:nvSpPr>
          <p:spPr bwMode="auto">
            <a:xfrm>
              <a:off x="1493" y="1415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" name="Rectangle 8"/>
            <p:cNvSpPr>
              <a:spLocks noChangeArrowheads="1"/>
            </p:cNvSpPr>
            <p:nvPr/>
          </p:nvSpPr>
          <p:spPr bwMode="auto">
            <a:xfrm>
              <a:off x="1804" y="1415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A</a:t>
              </a:r>
            </a:p>
          </p:txBody>
        </p:sp>
        <p:sp>
          <p:nvSpPr>
            <p:cNvPr id="98" name="Line 33"/>
            <p:cNvSpPr>
              <a:spLocks noChangeShapeType="1"/>
            </p:cNvSpPr>
            <p:nvPr/>
          </p:nvSpPr>
          <p:spPr bwMode="auto">
            <a:xfrm>
              <a:off x="1726" y="1120"/>
              <a:ext cx="208" cy="276"/>
            </a:xfrm>
            <a:prstGeom prst="line">
              <a:avLst/>
            </a:prstGeom>
            <a:grpFill/>
            <a:ln w="28575">
              <a:solidFill>
                <a:srgbClr val="B42D2D"/>
              </a:solidFill>
              <a:prstDash val="solid"/>
              <a:round/>
              <a:tailEnd type="stealth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9" name="Rectangle 7"/>
          <p:cNvSpPr>
            <a:spLocks noChangeArrowheads="1"/>
          </p:cNvSpPr>
          <p:nvPr/>
        </p:nvSpPr>
        <p:spPr bwMode="auto">
          <a:xfrm>
            <a:off x="2759869" y="2809876"/>
            <a:ext cx="422275" cy="365125"/>
          </a:xfrm>
          <a:prstGeom prst="rect">
            <a:avLst/>
          </a:prstGeom>
          <a:noFill/>
          <a:ln w="28575">
            <a:noFill/>
            <a:prstDash val="solid"/>
          </a:ln>
        </p:spPr>
        <p:txBody>
          <a:bodyPr lIns="54000" tIns="10800" rIns="18000" bIns="10800"/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∧</a:t>
            </a:r>
          </a:p>
        </p:txBody>
      </p:sp>
      <p:sp>
        <p:nvSpPr>
          <p:cNvPr id="100" name="Rectangle 61"/>
          <p:cNvSpPr>
            <a:spLocks noChangeArrowheads="1"/>
          </p:cNvSpPr>
          <p:nvPr/>
        </p:nvSpPr>
        <p:spPr bwMode="auto">
          <a:xfrm>
            <a:off x="915194" y="3884613"/>
            <a:ext cx="422275" cy="365125"/>
          </a:xfrm>
          <a:prstGeom prst="rect">
            <a:avLst/>
          </a:prstGeom>
          <a:noFill/>
          <a:ln w="28575">
            <a:noFill/>
            <a:prstDash val="solid"/>
          </a:ln>
        </p:spPr>
        <p:txBody>
          <a:bodyPr lIns="54000" tIns="10800" rIns="18000" bIns="10800"/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∧</a:t>
            </a:r>
          </a:p>
        </p:txBody>
      </p:sp>
      <p:grpSp>
        <p:nvGrpSpPr>
          <p:cNvPr id="101" name="Group 88"/>
          <p:cNvGrpSpPr/>
          <p:nvPr/>
        </p:nvGrpSpPr>
        <p:grpSpPr bwMode="auto">
          <a:xfrm>
            <a:off x="1799431" y="4856163"/>
            <a:ext cx="1366838" cy="381000"/>
            <a:chOff x="759" y="3083"/>
            <a:chExt cx="861" cy="240"/>
          </a:xfrm>
          <a:noFill/>
        </p:grpSpPr>
        <p:sp>
          <p:nvSpPr>
            <p:cNvPr id="102" name="Rectangle 64"/>
            <p:cNvSpPr>
              <a:spLocks noChangeArrowheads="1"/>
            </p:cNvSpPr>
            <p:nvPr/>
          </p:nvSpPr>
          <p:spPr bwMode="auto">
            <a:xfrm>
              <a:off x="759" y="3083"/>
              <a:ext cx="266" cy="230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txBody>
            <a:bodyPr lIns="54000" tIns="10800" rIns="18000" bIns="10800"/>
            <a:lstStyle/>
            <a:p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</a:p>
          </p:txBody>
        </p:sp>
        <p:sp>
          <p:nvSpPr>
            <p:cNvPr id="103" name="Rectangle 65"/>
            <p:cNvSpPr>
              <a:spLocks noChangeArrowheads="1"/>
            </p:cNvSpPr>
            <p:nvPr/>
          </p:nvSpPr>
          <p:spPr bwMode="auto">
            <a:xfrm>
              <a:off x="1354" y="3093"/>
              <a:ext cx="266" cy="230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txBody>
            <a:bodyPr lIns="54000" tIns="10800" rIns="18000" bIns="10800"/>
            <a:lstStyle/>
            <a:p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</a:p>
          </p:txBody>
        </p:sp>
      </p:grpSp>
      <p:grpSp>
        <p:nvGrpSpPr>
          <p:cNvPr id="104" name="Group 85"/>
          <p:cNvGrpSpPr/>
          <p:nvPr/>
        </p:nvGrpSpPr>
        <p:grpSpPr bwMode="auto">
          <a:xfrm>
            <a:off x="3199606" y="3897313"/>
            <a:ext cx="1366838" cy="381000"/>
            <a:chOff x="1641" y="2479"/>
            <a:chExt cx="861" cy="240"/>
          </a:xfrm>
          <a:noFill/>
        </p:grpSpPr>
        <p:sp>
          <p:nvSpPr>
            <p:cNvPr id="105" name="Rectangle 68"/>
            <p:cNvSpPr>
              <a:spLocks noChangeArrowheads="1"/>
            </p:cNvSpPr>
            <p:nvPr/>
          </p:nvSpPr>
          <p:spPr bwMode="auto">
            <a:xfrm>
              <a:off x="1641" y="2479"/>
              <a:ext cx="266" cy="230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txBody>
            <a:bodyPr lIns="54000" tIns="10800" rIns="18000" bIns="10800"/>
            <a:lstStyle/>
            <a:p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</a:p>
          </p:txBody>
        </p:sp>
        <p:sp>
          <p:nvSpPr>
            <p:cNvPr id="106" name="Rectangle 69"/>
            <p:cNvSpPr>
              <a:spLocks noChangeArrowheads="1"/>
            </p:cNvSpPr>
            <p:nvPr/>
          </p:nvSpPr>
          <p:spPr bwMode="auto">
            <a:xfrm>
              <a:off x="2236" y="2489"/>
              <a:ext cx="266" cy="230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txBody>
            <a:bodyPr lIns="54000" tIns="10800" rIns="18000" bIns="10800"/>
            <a:lstStyle/>
            <a:p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</a:p>
          </p:txBody>
        </p:sp>
      </p:grpSp>
      <p:grpSp>
        <p:nvGrpSpPr>
          <p:cNvPr id="107" name="Group 86"/>
          <p:cNvGrpSpPr/>
          <p:nvPr/>
        </p:nvGrpSpPr>
        <p:grpSpPr bwMode="auto">
          <a:xfrm>
            <a:off x="5058569" y="3895726"/>
            <a:ext cx="1366837" cy="381000"/>
            <a:chOff x="2812" y="2478"/>
            <a:chExt cx="861" cy="240"/>
          </a:xfrm>
          <a:noFill/>
        </p:grpSpPr>
        <p:sp>
          <p:nvSpPr>
            <p:cNvPr id="108" name="Rectangle 72"/>
            <p:cNvSpPr>
              <a:spLocks noChangeArrowheads="1"/>
            </p:cNvSpPr>
            <p:nvPr/>
          </p:nvSpPr>
          <p:spPr bwMode="auto">
            <a:xfrm>
              <a:off x="2812" y="2478"/>
              <a:ext cx="266" cy="230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txBody>
            <a:bodyPr lIns="54000" tIns="10800" rIns="18000" bIns="10800"/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</a:p>
          </p:txBody>
        </p:sp>
        <p:sp>
          <p:nvSpPr>
            <p:cNvPr id="109" name="Rectangle 73"/>
            <p:cNvSpPr>
              <a:spLocks noChangeArrowheads="1"/>
            </p:cNvSpPr>
            <p:nvPr/>
          </p:nvSpPr>
          <p:spPr bwMode="auto">
            <a:xfrm>
              <a:off x="3407" y="2488"/>
              <a:ext cx="266" cy="230"/>
            </a:xfrm>
            <a:prstGeom prst="rect">
              <a:avLst/>
            </a:prstGeom>
            <a:grpFill/>
            <a:ln w="28575">
              <a:noFill/>
              <a:prstDash val="solid"/>
              <a:miter lim="800000"/>
            </a:ln>
          </p:spPr>
          <p:txBody>
            <a:bodyPr lIns="54000" tIns="10800" rIns="18000" bIns="10800"/>
            <a:lstStyle/>
            <a:p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</a:p>
          </p:txBody>
        </p:sp>
      </p:grpSp>
      <p:grpSp>
        <p:nvGrpSpPr>
          <p:cNvPr id="110" name="Group 81"/>
          <p:cNvGrpSpPr/>
          <p:nvPr/>
        </p:nvGrpSpPr>
        <p:grpSpPr bwMode="auto">
          <a:xfrm>
            <a:off x="3980656" y="2101851"/>
            <a:ext cx="1439863" cy="1087437"/>
            <a:chOff x="2133" y="1348"/>
            <a:chExt cx="907" cy="685"/>
          </a:xfrm>
          <a:noFill/>
        </p:grpSpPr>
        <p:sp>
          <p:nvSpPr>
            <p:cNvPr id="111" name="Freeform 28"/>
            <p:cNvSpPr/>
            <p:nvPr/>
          </p:nvSpPr>
          <p:spPr bwMode="auto">
            <a:xfrm>
              <a:off x="2242" y="1348"/>
              <a:ext cx="338" cy="400"/>
            </a:xfrm>
            <a:custGeom>
              <a:avLst/>
              <a:gdLst>
                <a:gd name="T0" fmla="*/ 0 w 469"/>
                <a:gd name="T1" fmla="*/ 0 h 544"/>
                <a:gd name="T2" fmla="*/ 469 w 469"/>
                <a:gd name="T3" fmla="*/ 544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69" h="544">
                  <a:moveTo>
                    <a:pt x="0" y="0"/>
                  </a:moveTo>
                  <a:lnTo>
                    <a:pt x="469" y="544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Rectangle 74"/>
            <p:cNvSpPr>
              <a:spLocks noChangeArrowheads="1"/>
            </p:cNvSpPr>
            <p:nvPr/>
          </p:nvSpPr>
          <p:spPr bwMode="auto">
            <a:xfrm>
              <a:off x="2133" y="1784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" name="Rectangle 75"/>
            <p:cNvSpPr>
              <a:spLocks noChangeArrowheads="1"/>
            </p:cNvSpPr>
            <p:nvPr/>
          </p:nvSpPr>
          <p:spPr bwMode="auto">
            <a:xfrm>
              <a:off x="2444" y="1784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C</a:t>
              </a: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3750151" y="4882685"/>
            <a:ext cx="5028089" cy="523220"/>
            <a:chOff x="1826091" y="4148024"/>
            <a:chExt cx="5028089" cy="523220"/>
          </a:xfrm>
        </p:grpSpPr>
        <p:sp>
          <p:nvSpPr>
            <p:cNvPr id="60" name="Text Box 11"/>
            <p:cNvSpPr txBox="1">
              <a:spLocks noChangeArrowheads="1"/>
            </p:cNvSpPr>
            <p:nvPr/>
          </p:nvSpPr>
          <p:spPr bwMode="auto">
            <a:xfrm>
              <a:off x="2385059" y="4148024"/>
              <a:ext cx="446912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如何查找双亲？时间性能？</a:t>
              </a:r>
            </a:p>
          </p:txBody>
        </p:sp>
        <p:grpSp>
          <p:nvGrpSpPr>
            <p:cNvPr id="61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62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3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4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5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8778240" y="4855808"/>
            <a:ext cx="1628300" cy="523220"/>
            <a:chOff x="8778240" y="4855808"/>
            <a:chExt cx="1628300" cy="523220"/>
          </a:xfrm>
        </p:grpSpPr>
        <p:sp>
          <p:nvSpPr>
            <p:cNvPr id="67" name="Text Box 11"/>
            <p:cNvSpPr txBox="1">
              <a:spLocks noChangeArrowheads="1"/>
            </p:cNvSpPr>
            <p:nvPr/>
          </p:nvSpPr>
          <p:spPr bwMode="auto">
            <a:xfrm>
              <a:off x="9465722" y="4855808"/>
              <a:ext cx="940818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O</a:t>
              </a:r>
              <a:r>
                <a:rPr lang="en-US" altLang="zh-CN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)</a:t>
              </a:r>
              <a:endParaRPr lang="zh-CN" altLang="en-US" sz="28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53" name="右箭头 52"/>
            <p:cNvSpPr/>
            <p:nvPr/>
          </p:nvSpPr>
          <p:spPr>
            <a:xfrm>
              <a:off x="8778240" y="4999388"/>
              <a:ext cx="576000" cy="324000"/>
            </a:xfrm>
            <a:prstGeom prst="rightArrow">
              <a:avLst/>
            </a:prstGeom>
            <a:noFill/>
            <a:ln w="28575">
              <a:solidFill>
                <a:srgbClr val="507D7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058569" y="992843"/>
            <a:ext cx="6608922" cy="1487927"/>
            <a:chOff x="5058569" y="992843"/>
            <a:chExt cx="6608922" cy="1487927"/>
          </a:xfrm>
        </p:grpSpPr>
        <p:sp>
          <p:nvSpPr>
            <p:cNvPr id="55" name="Text Box 15"/>
            <p:cNvSpPr txBox="1">
              <a:spLocks noChangeArrowheads="1"/>
            </p:cNvSpPr>
            <p:nvPr/>
          </p:nvSpPr>
          <p:spPr bwMode="auto">
            <a:xfrm>
              <a:off x="5058569" y="992843"/>
              <a:ext cx="660892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在二叉链表中增加一个指向双亲的指针域</a:t>
              </a:r>
            </a:p>
          </p:txBody>
        </p:sp>
        <p:grpSp>
          <p:nvGrpSpPr>
            <p:cNvPr id="56" name="Group 9"/>
            <p:cNvGrpSpPr/>
            <p:nvPr/>
          </p:nvGrpSpPr>
          <p:grpSpPr bwMode="auto">
            <a:xfrm>
              <a:off x="5956111" y="1832770"/>
              <a:ext cx="4860000" cy="648000"/>
              <a:chOff x="2555" y="7156"/>
              <a:chExt cx="4060" cy="425"/>
            </a:xfrm>
          </p:grpSpPr>
          <p:sp>
            <p:nvSpPr>
              <p:cNvPr id="57" name="Rectangle 10"/>
              <p:cNvSpPr>
                <a:spLocks noChangeArrowheads="1"/>
              </p:cNvSpPr>
              <p:nvPr/>
            </p:nvSpPr>
            <p:spPr bwMode="auto">
              <a:xfrm>
                <a:off x="2555" y="7156"/>
                <a:ext cx="1015" cy="425"/>
              </a:xfrm>
              <a:prstGeom prst="rect">
                <a:avLst/>
              </a:prstGeom>
              <a:solidFill>
                <a:srgbClr val="DDDDDD"/>
              </a:solidFill>
              <a:ln w="28575">
                <a:solidFill>
                  <a:srgbClr val="507D7D"/>
                </a:solidFill>
                <a:miter lim="800000"/>
              </a:ln>
            </p:spPr>
            <p:txBody>
              <a:bodyPr tIns="0" bIns="0" anchor="ctr" anchorCtr="0"/>
              <a:lstStyle/>
              <a:p>
                <a:pPr algn="just" eaLnBrk="0" hangingPunct="0"/>
                <a:r>
                  <a:rPr lang="zh-CN" altLang="en-US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lchild</a:t>
                </a:r>
              </a:p>
            </p:txBody>
          </p:sp>
          <p:sp>
            <p:nvSpPr>
              <p:cNvPr id="58" name="Rectangle 11"/>
              <p:cNvSpPr>
                <a:spLocks noChangeArrowheads="1"/>
              </p:cNvSpPr>
              <p:nvPr/>
            </p:nvSpPr>
            <p:spPr bwMode="auto">
              <a:xfrm>
                <a:off x="3570" y="7156"/>
                <a:ext cx="1015" cy="425"/>
              </a:xfrm>
              <a:prstGeom prst="rect">
                <a:avLst/>
              </a:prstGeom>
              <a:solidFill>
                <a:srgbClr val="DDDDDD"/>
              </a:solidFill>
              <a:ln w="28575">
                <a:solidFill>
                  <a:srgbClr val="507D7D"/>
                </a:solidFill>
                <a:miter lim="800000"/>
              </a:ln>
            </p:spPr>
            <p:txBody>
              <a:bodyPr tIns="0" bIns="0" anchor="ctr" anchorCtr="0"/>
              <a:lstStyle/>
              <a:p>
                <a:pPr algn="just" eaLnBrk="0" hangingPunct="0"/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</a:t>
                </a:r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data</a:t>
                </a:r>
              </a:p>
            </p:txBody>
          </p:sp>
          <p:sp>
            <p:nvSpPr>
              <p:cNvPr id="66" name="Rectangle 12"/>
              <p:cNvSpPr>
                <a:spLocks noChangeArrowheads="1"/>
              </p:cNvSpPr>
              <p:nvPr/>
            </p:nvSpPr>
            <p:spPr bwMode="auto">
              <a:xfrm>
                <a:off x="4585" y="7156"/>
                <a:ext cx="1015" cy="425"/>
              </a:xfrm>
              <a:prstGeom prst="rect">
                <a:avLst/>
              </a:prstGeom>
              <a:solidFill>
                <a:srgbClr val="DDDDDD"/>
              </a:solidFill>
              <a:ln w="28575">
                <a:solidFill>
                  <a:srgbClr val="507D7D"/>
                </a:solidFill>
                <a:miter lim="800000"/>
              </a:ln>
            </p:spPr>
            <p:txBody>
              <a:bodyPr tIns="0" bIns="0" anchor="ctr" anchorCtr="0"/>
              <a:lstStyle/>
              <a:p>
                <a:pPr algn="just" eaLnBrk="0" hangingPunct="0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parent</a:t>
                </a:r>
              </a:p>
            </p:txBody>
          </p:sp>
          <p:sp>
            <p:nvSpPr>
              <p:cNvPr id="68" name="Rectangle 13"/>
              <p:cNvSpPr>
                <a:spLocks noChangeArrowheads="1"/>
              </p:cNvSpPr>
              <p:nvPr/>
            </p:nvSpPr>
            <p:spPr bwMode="auto">
              <a:xfrm>
                <a:off x="5600" y="7156"/>
                <a:ext cx="1015" cy="425"/>
              </a:xfrm>
              <a:prstGeom prst="rect">
                <a:avLst/>
              </a:prstGeom>
              <a:solidFill>
                <a:srgbClr val="DDDDDD"/>
              </a:solidFill>
              <a:ln w="28575">
                <a:solidFill>
                  <a:srgbClr val="507D7D"/>
                </a:solidFill>
                <a:miter lim="800000"/>
              </a:ln>
            </p:spPr>
            <p:txBody>
              <a:bodyPr tIns="0" bIns="0" anchor="ctr" anchorCtr="0"/>
              <a:lstStyle/>
              <a:p>
                <a:pPr algn="just" eaLnBrk="0" hangingPunct="0"/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rchild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70" name="TextBox 69"/>
          <p:cNvSpPr txBox="1"/>
          <p:nvPr/>
        </p:nvSpPr>
        <p:spPr>
          <a:xfrm>
            <a:off x="3614578" y="1052206"/>
            <a:ext cx="12906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endParaRPr lang="zh-CN" altLang="en-US" sz="2800" dirty="0">
              <a:solidFill>
                <a:srgbClr val="B4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0608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4032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7" y="61585"/>
            <a:ext cx="39282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三叉链表的存储方法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676274" y="862132"/>
            <a:ext cx="6769100" cy="4624268"/>
            <a:chOff x="676274" y="1077913"/>
            <a:chExt cx="6769100" cy="4105276"/>
          </a:xfrm>
        </p:grpSpPr>
        <p:sp>
          <p:nvSpPr>
            <p:cNvPr id="70" name="Line 19"/>
            <p:cNvSpPr>
              <a:spLocks noChangeShapeType="1"/>
            </p:cNvSpPr>
            <p:nvPr/>
          </p:nvSpPr>
          <p:spPr bwMode="auto">
            <a:xfrm flipH="1">
              <a:off x="1549399" y="2947988"/>
              <a:ext cx="463550" cy="727075"/>
            </a:xfrm>
            <a:prstGeom prst="line">
              <a:avLst/>
            </a:prstGeom>
            <a:noFill/>
            <a:ln w="28575">
              <a:solidFill>
                <a:srgbClr val="285A32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lnSpc>
                  <a:spcPts val="3300"/>
                </a:lnSpc>
              </a:pPr>
              <a:endParaRPr lang="zh-CN" altLang="en-US"/>
            </a:p>
          </p:txBody>
        </p:sp>
        <p:sp>
          <p:nvSpPr>
            <p:cNvPr id="71" name="Freeform 23"/>
            <p:cNvSpPr/>
            <p:nvPr/>
          </p:nvSpPr>
          <p:spPr bwMode="auto">
            <a:xfrm>
              <a:off x="2678112" y="1927226"/>
              <a:ext cx="628650" cy="635000"/>
            </a:xfrm>
            <a:custGeom>
              <a:avLst/>
              <a:gdLst>
                <a:gd name="T0" fmla="*/ 550 w 550"/>
                <a:gd name="T1" fmla="*/ 0 h 544"/>
                <a:gd name="T2" fmla="*/ 0 w 550"/>
                <a:gd name="T3" fmla="*/ 544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50" h="544">
                  <a:moveTo>
                    <a:pt x="550" y="0"/>
                  </a:moveTo>
                  <a:lnTo>
                    <a:pt x="0" y="544"/>
                  </a:lnTo>
                </a:path>
              </a:pathLst>
            </a:custGeom>
            <a:noFill/>
            <a:ln w="28575" cmpd="sng">
              <a:solidFill>
                <a:srgbClr val="285A32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lnSpc>
                  <a:spcPts val="3300"/>
                </a:lnSpc>
              </a:pPr>
              <a:endParaRPr lang="zh-CN" altLang="en-US"/>
            </a:p>
          </p:txBody>
        </p:sp>
        <p:sp>
          <p:nvSpPr>
            <p:cNvPr id="72" name="Rectangle 25"/>
            <p:cNvSpPr>
              <a:spLocks noChangeArrowheads="1"/>
            </p:cNvSpPr>
            <p:nvPr/>
          </p:nvSpPr>
          <p:spPr bwMode="auto">
            <a:xfrm>
              <a:off x="3116262" y="1590676"/>
              <a:ext cx="1871663" cy="395288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pPr>
                <a:lnSpc>
                  <a:spcPts val="3300"/>
                </a:lnSpc>
              </a:pPr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3" name="Rectangle 26"/>
            <p:cNvSpPr>
              <a:spLocks noChangeArrowheads="1"/>
            </p:cNvSpPr>
            <p:nvPr/>
          </p:nvSpPr>
          <p:spPr bwMode="auto">
            <a:xfrm>
              <a:off x="3609974" y="1590676"/>
              <a:ext cx="450850" cy="395288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>
                <a:lnSpc>
                  <a:spcPts val="3300"/>
                </a:lnSpc>
              </a:pP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A</a:t>
              </a:r>
            </a:p>
          </p:txBody>
        </p:sp>
        <p:sp>
          <p:nvSpPr>
            <p:cNvPr id="74" name="Line 28"/>
            <p:cNvSpPr>
              <a:spLocks noChangeShapeType="1"/>
            </p:cNvSpPr>
            <p:nvPr/>
          </p:nvSpPr>
          <p:spPr bwMode="auto">
            <a:xfrm>
              <a:off x="3846512" y="1077913"/>
              <a:ext cx="241300" cy="482600"/>
            </a:xfrm>
            <a:prstGeom prst="line">
              <a:avLst/>
            </a:prstGeom>
            <a:noFill/>
            <a:ln w="28575">
              <a:solidFill>
                <a:srgbClr val="B42D2D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3300"/>
                </a:lnSpc>
              </a:pPr>
              <a:endParaRPr lang="zh-CN" altLang="en-US"/>
            </a:p>
          </p:txBody>
        </p:sp>
        <p:sp>
          <p:nvSpPr>
            <p:cNvPr id="114" name="Freeform 63"/>
            <p:cNvSpPr/>
            <p:nvPr/>
          </p:nvSpPr>
          <p:spPr bwMode="auto">
            <a:xfrm>
              <a:off x="4776787" y="1927226"/>
              <a:ext cx="536575" cy="635000"/>
            </a:xfrm>
            <a:custGeom>
              <a:avLst/>
              <a:gdLst>
                <a:gd name="T0" fmla="*/ 0 w 469"/>
                <a:gd name="T1" fmla="*/ 0 h 544"/>
                <a:gd name="T2" fmla="*/ 469 w 469"/>
                <a:gd name="T3" fmla="*/ 544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69" h="544">
                  <a:moveTo>
                    <a:pt x="0" y="0"/>
                  </a:moveTo>
                  <a:lnTo>
                    <a:pt x="469" y="544"/>
                  </a:lnTo>
                </a:path>
              </a:pathLst>
            </a:custGeom>
            <a:noFill/>
            <a:ln w="28575" cmpd="sng">
              <a:solidFill>
                <a:srgbClr val="285A32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lnSpc>
                  <a:spcPts val="3300"/>
                </a:lnSpc>
              </a:pPr>
              <a:endParaRPr lang="zh-CN" altLang="en-US"/>
            </a:p>
          </p:txBody>
        </p:sp>
        <p:sp>
          <p:nvSpPr>
            <p:cNvPr id="115" name="Line 68"/>
            <p:cNvSpPr>
              <a:spLocks noChangeShapeType="1"/>
            </p:cNvSpPr>
            <p:nvPr/>
          </p:nvSpPr>
          <p:spPr bwMode="auto">
            <a:xfrm>
              <a:off x="4537074" y="1584326"/>
              <a:ext cx="0" cy="398463"/>
            </a:xfrm>
            <a:prstGeom prst="line">
              <a:avLst/>
            </a:prstGeom>
            <a:noFill/>
            <a:ln w="28575">
              <a:solidFill>
                <a:srgbClr val="507D7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  <a:flatTx/>
            </a:bodyPr>
            <a:lstStyle/>
            <a:p>
              <a:pPr>
                <a:lnSpc>
                  <a:spcPts val="3300"/>
                </a:lnSpc>
              </a:pPr>
              <a:endParaRPr lang="zh-CN" altLang="en-US"/>
            </a:p>
          </p:txBody>
        </p:sp>
        <p:sp>
          <p:nvSpPr>
            <p:cNvPr id="116" name="Rectangle 69"/>
            <p:cNvSpPr>
              <a:spLocks noChangeArrowheads="1"/>
            </p:cNvSpPr>
            <p:nvPr/>
          </p:nvSpPr>
          <p:spPr bwMode="auto">
            <a:xfrm>
              <a:off x="4094162" y="1587572"/>
              <a:ext cx="422275" cy="365125"/>
            </a:xfrm>
            <a:prstGeom prst="rect">
              <a:avLst/>
            </a:prstGeom>
            <a:noFill/>
            <a:ln w="2857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10800" rIns="18000" bIns="10800"/>
            <a:lstStyle/>
            <a:p>
              <a:pPr>
                <a:lnSpc>
                  <a:spcPts val="3300"/>
                </a:lnSpc>
              </a:pP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</a:p>
          </p:txBody>
        </p:sp>
        <p:sp>
          <p:nvSpPr>
            <p:cNvPr id="117" name="Rectangle 70"/>
            <p:cNvSpPr>
              <a:spLocks noChangeArrowheads="1"/>
            </p:cNvSpPr>
            <p:nvPr/>
          </p:nvSpPr>
          <p:spPr bwMode="auto">
            <a:xfrm>
              <a:off x="1641474" y="2620963"/>
              <a:ext cx="1871663" cy="395288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pPr>
                <a:lnSpc>
                  <a:spcPts val="3300"/>
                </a:lnSpc>
              </a:pPr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" name="Rectangle 71"/>
            <p:cNvSpPr>
              <a:spLocks noChangeArrowheads="1"/>
            </p:cNvSpPr>
            <p:nvPr/>
          </p:nvSpPr>
          <p:spPr bwMode="auto">
            <a:xfrm>
              <a:off x="2135187" y="2620963"/>
              <a:ext cx="450850" cy="395288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>
                <a:lnSpc>
                  <a:spcPts val="3300"/>
                </a:lnSpc>
              </a:pP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B</a:t>
              </a:r>
            </a:p>
          </p:txBody>
        </p:sp>
        <p:sp>
          <p:nvSpPr>
            <p:cNvPr id="119" name="Line 72"/>
            <p:cNvSpPr>
              <a:spLocks noChangeShapeType="1"/>
            </p:cNvSpPr>
            <p:nvPr/>
          </p:nvSpPr>
          <p:spPr bwMode="auto">
            <a:xfrm>
              <a:off x="3062287" y="2614613"/>
              <a:ext cx="0" cy="398463"/>
            </a:xfrm>
            <a:prstGeom prst="line">
              <a:avLst/>
            </a:prstGeom>
            <a:noFill/>
            <a:ln w="28575">
              <a:solidFill>
                <a:srgbClr val="507D7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  <a:flatTx/>
            </a:bodyPr>
            <a:lstStyle/>
            <a:p>
              <a:pPr>
                <a:lnSpc>
                  <a:spcPts val="3300"/>
                </a:lnSpc>
              </a:pPr>
              <a:endParaRPr lang="zh-CN" altLang="en-US"/>
            </a:p>
          </p:txBody>
        </p:sp>
        <p:sp>
          <p:nvSpPr>
            <p:cNvPr id="120" name="Rectangle 73"/>
            <p:cNvSpPr>
              <a:spLocks noChangeArrowheads="1"/>
            </p:cNvSpPr>
            <p:nvPr/>
          </p:nvSpPr>
          <p:spPr bwMode="auto">
            <a:xfrm>
              <a:off x="3090862" y="2617860"/>
              <a:ext cx="422275" cy="365125"/>
            </a:xfrm>
            <a:prstGeom prst="rect">
              <a:avLst/>
            </a:prstGeom>
            <a:noFill/>
            <a:ln w="2857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10800" rIns="18000" bIns="10800"/>
            <a:lstStyle/>
            <a:p>
              <a:pPr>
                <a:lnSpc>
                  <a:spcPts val="3300"/>
                </a:lnSpc>
              </a:pP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</a:p>
          </p:txBody>
        </p:sp>
        <p:sp>
          <p:nvSpPr>
            <p:cNvPr id="121" name="Rectangle 74"/>
            <p:cNvSpPr>
              <a:spLocks noChangeArrowheads="1"/>
            </p:cNvSpPr>
            <p:nvPr/>
          </p:nvSpPr>
          <p:spPr bwMode="auto">
            <a:xfrm>
              <a:off x="676274" y="3741738"/>
              <a:ext cx="1871663" cy="395288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pPr>
                <a:lnSpc>
                  <a:spcPts val="3300"/>
                </a:lnSpc>
              </a:pPr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2" name="Rectangle 75"/>
            <p:cNvSpPr>
              <a:spLocks noChangeArrowheads="1"/>
            </p:cNvSpPr>
            <p:nvPr/>
          </p:nvSpPr>
          <p:spPr bwMode="auto">
            <a:xfrm>
              <a:off x="1169987" y="3741738"/>
              <a:ext cx="450850" cy="395288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>
                <a:lnSpc>
                  <a:spcPts val="3300"/>
                </a:lnSpc>
              </a:pP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D</a:t>
              </a:r>
            </a:p>
          </p:txBody>
        </p:sp>
        <p:sp>
          <p:nvSpPr>
            <p:cNvPr id="123" name="Line 76"/>
            <p:cNvSpPr>
              <a:spLocks noChangeShapeType="1"/>
            </p:cNvSpPr>
            <p:nvPr/>
          </p:nvSpPr>
          <p:spPr bwMode="auto">
            <a:xfrm>
              <a:off x="2097087" y="3735388"/>
              <a:ext cx="0" cy="398463"/>
            </a:xfrm>
            <a:prstGeom prst="line">
              <a:avLst/>
            </a:prstGeom>
            <a:noFill/>
            <a:ln w="28575">
              <a:solidFill>
                <a:srgbClr val="507D7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  <a:flatTx/>
            </a:bodyPr>
            <a:lstStyle/>
            <a:p>
              <a:pPr>
                <a:lnSpc>
                  <a:spcPts val="3300"/>
                </a:lnSpc>
              </a:pPr>
              <a:endParaRPr lang="zh-CN" altLang="en-US"/>
            </a:p>
          </p:txBody>
        </p:sp>
        <p:sp>
          <p:nvSpPr>
            <p:cNvPr id="124" name="Rectangle 77"/>
            <p:cNvSpPr>
              <a:spLocks noChangeArrowheads="1"/>
            </p:cNvSpPr>
            <p:nvPr/>
          </p:nvSpPr>
          <p:spPr bwMode="auto">
            <a:xfrm>
              <a:off x="682624" y="3738636"/>
              <a:ext cx="422275" cy="365125"/>
            </a:xfrm>
            <a:prstGeom prst="rect">
              <a:avLst/>
            </a:prstGeom>
            <a:noFill/>
            <a:ln w="2857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10800" rIns="18000" bIns="10800"/>
            <a:lstStyle/>
            <a:p>
              <a:pPr>
                <a:lnSpc>
                  <a:spcPts val="3300"/>
                </a:lnSpc>
              </a:pP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</a:p>
          </p:txBody>
        </p:sp>
        <p:sp>
          <p:nvSpPr>
            <p:cNvPr id="125" name="Rectangle 78"/>
            <p:cNvSpPr>
              <a:spLocks noChangeArrowheads="1"/>
            </p:cNvSpPr>
            <p:nvPr/>
          </p:nvSpPr>
          <p:spPr bwMode="auto">
            <a:xfrm>
              <a:off x="3549649" y="3729038"/>
              <a:ext cx="1871663" cy="395288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pPr>
                <a:lnSpc>
                  <a:spcPts val="3300"/>
                </a:lnSpc>
              </a:pPr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6" name="Rectangle 79"/>
            <p:cNvSpPr>
              <a:spLocks noChangeArrowheads="1"/>
            </p:cNvSpPr>
            <p:nvPr/>
          </p:nvSpPr>
          <p:spPr bwMode="auto">
            <a:xfrm>
              <a:off x="4043362" y="3729038"/>
              <a:ext cx="450850" cy="395288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>
                <a:lnSpc>
                  <a:spcPts val="3300"/>
                </a:lnSpc>
              </a:pP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E</a:t>
              </a:r>
            </a:p>
          </p:txBody>
        </p:sp>
        <p:sp>
          <p:nvSpPr>
            <p:cNvPr id="127" name="Line 80"/>
            <p:cNvSpPr>
              <a:spLocks noChangeShapeType="1"/>
            </p:cNvSpPr>
            <p:nvPr/>
          </p:nvSpPr>
          <p:spPr bwMode="auto">
            <a:xfrm>
              <a:off x="4970462" y="3722688"/>
              <a:ext cx="0" cy="398463"/>
            </a:xfrm>
            <a:prstGeom prst="line">
              <a:avLst/>
            </a:prstGeom>
            <a:noFill/>
            <a:ln w="28575">
              <a:solidFill>
                <a:srgbClr val="507D7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  <a:flatTx/>
            </a:bodyPr>
            <a:lstStyle/>
            <a:p>
              <a:pPr>
                <a:lnSpc>
                  <a:spcPts val="3300"/>
                </a:lnSpc>
              </a:pPr>
              <a:endParaRPr lang="zh-CN" altLang="en-US"/>
            </a:p>
          </p:txBody>
        </p:sp>
        <p:sp>
          <p:nvSpPr>
            <p:cNvPr id="128" name="Rectangle 81"/>
            <p:cNvSpPr>
              <a:spLocks noChangeArrowheads="1"/>
            </p:cNvSpPr>
            <p:nvPr/>
          </p:nvSpPr>
          <p:spPr bwMode="auto">
            <a:xfrm>
              <a:off x="5027612" y="3725936"/>
              <a:ext cx="422275" cy="365125"/>
            </a:xfrm>
            <a:prstGeom prst="rect">
              <a:avLst/>
            </a:prstGeom>
            <a:noFill/>
            <a:ln w="2857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10800" rIns="18000" bIns="10800"/>
            <a:lstStyle/>
            <a:p>
              <a:pPr>
                <a:lnSpc>
                  <a:spcPts val="3300"/>
                </a:lnSpc>
              </a:pP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</a:p>
          </p:txBody>
        </p:sp>
        <p:sp>
          <p:nvSpPr>
            <p:cNvPr id="129" name="Rectangle 82"/>
            <p:cNvSpPr>
              <a:spLocks noChangeArrowheads="1"/>
            </p:cNvSpPr>
            <p:nvPr/>
          </p:nvSpPr>
          <p:spPr bwMode="auto">
            <a:xfrm>
              <a:off x="5559424" y="3714751"/>
              <a:ext cx="1871663" cy="395288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pPr>
                <a:lnSpc>
                  <a:spcPts val="3300"/>
                </a:lnSpc>
              </a:pPr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" name="Rectangle 83"/>
            <p:cNvSpPr>
              <a:spLocks noChangeArrowheads="1"/>
            </p:cNvSpPr>
            <p:nvPr/>
          </p:nvSpPr>
          <p:spPr bwMode="auto">
            <a:xfrm>
              <a:off x="6053137" y="3714751"/>
              <a:ext cx="450850" cy="395288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>
                <a:lnSpc>
                  <a:spcPts val="3300"/>
                </a:lnSpc>
              </a:pP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F</a:t>
              </a:r>
            </a:p>
          </p:txBody>
        </p:sp>
        <p:sp>
          <p:nvSpPr>
            <p:cNvPr id="131" name="Line 84"/>
            <p:cNvSpPr>
              <a:spLocks noChangeShapeType="1"/>
            </p:cNvSpPr>
            <p:nvPr/>
          </p:nvSpPr>
          <p:spPr bwMode="auto">
            <a:xfrm>
              <a:off x="6980237" y="3708401"/>
              <a:ext cx="0" cy="398463"/>
            </a:xfrm>
            <a:prstGeom prst="line">
              <a:avLst/>
            </a:prstGeom>
            <a:noFill/>
            <a:ln w="28575">
              <a:solidFill>
                <a:srgbClr val="507D7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  <a:flatTx/>
            </a:bodyPr>
            <a:lstStyle/>
            <a:p>
              <a:pPr>
                <a:lnSpc>
                  <a:spcPts val="3300"/>
                </a:lnSpc>
              </a:pPr>
              <a:endParaRPr lang="zh-CN" altLang="en-US"/>
            </a:p>
          </p:txBody>
        </p:sp>
        <p:sp>
          <p:nvSpPr>
            <p:cNvPr id="132" name="Rectangle 85"/>
            <p:cNvSpPr>
              <a:spLocks noChangeArrowheads="1"/>
            </p:cNvSpPr>
            <p:nvPr/>
          </p:nvSpPr>
          <p:spPr bwMode="auto">
            <a:xfrm>
              <a:off x="7023099" y="3725177"/>
              <a:ext cx="422275" cy="365125"/>
            </a:xfrm>
            <a:prstGeom prst="rect">
              <a:avLst/>
            </a:prstGeom>
            <a:noFill/>
            <a:ln w="2857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10800" rIns="18000" bIns="10800"/>
            <a:lstStyle/>
            <a:p>
              <a:pPr>
                <a:lnSpc>
                  <a:spcPts val="3300"/>
                </a:lnSpc>
              </a:pP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</a:p>
          </p:txBody>
        </p:sp>
        <p:sp>
          <p:nvSpPr>
            <p:cNvPr id="133" name="Rectangle 86"/>
            <p:cNvSpPr>
              <a:spLocks noChangeArrowheads="1"/>
            </p:cNvSpPr>
            <p:nvPr/>
          </p:nvSpPr>
          <p:spPr bwMode="auto">
            <a:xfrm>
              <a:off x="4340224" y="2633663"/>
              <a:ext cx="1871663" cy="395288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pPr>
                <a:lnSpc>
                  <a:spcPts val="3300"/>
                </a:lnSpc>
              </a:pPr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" name="Rectangle 87"/>
            <p:cNvSpPr>
              <a:spLocks noChangeArrowheads="1"/>
            </p:cNvSpPr>
            <p:nvPr/>
          </p:nvSpPr>
          <p:spPr bwMode="auto">
            <a:xfrm>
              <a:off x="4833937" y="2633663"/>
              <a:ext cx="450850" cy="395288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>
                <a:lnSpc>
                  <a:spcPts val="3300"/>
                </a:lnSpc>
              </a:pP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C</a:t>
              </a:r>
            </a:p>
          </p:txBody>
        </p:sp>
        <p:sp>
          <p:nvSpPr>
            <p:cNvPr id="135" name="Line 88"/>
            <p:cNvSpPr>
              <a:spLocks noChangeShapeType="1"/>
            </p:cNvSpPr>
            <p:nvPr/>
          </p:nvSpPr>
          <p:spPr bwMode="auto">
            <a:xfrm>
              <a:off x="5761037" y="2627313"/>
              <a:ext cx="0" cy="398463"/>
            </a:xfrm>
            <a:prstGeom prst="line">
              <a:avLst/>
            </a:prstGeom>
            <a:noFill/>
            <a:ln w="28575">
              <a:solidFill>
                <a:srgbClr val="507D7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  <a:flatTx/>
            </a:bodyPr>
            <a:lstStyle/>
            <a:p>
              <a:pPr>
                <a:lnSpc>
                  <a:spcPts val="3300"/>
                </a:lnSpc>
              </a:pPr>
              <a:endParaRPr lang="zh-CN" altLang="en-US"/>
            </a:p>
          </p:txBody>
        </p:sp>
        <p:sp>
          <p:nvSpPr>
            <p:cNvPr id="136" name="Rectangle 90"/>
            <p:cNvSpPr>
              <a:spLocks noChangeArrowheads="1"/>
            </p:cNvSpPr>
            <p:nvPr/>
          </p:nvSpPr>
          <p:spPr bwMode="auto">
            <a:xfrm>
              <a:off x="1471612" y="4787901"/>
              <a:ext cx="1871663" cy="395288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pPr>
                <a:lnSpc>
                  <a:spcPts val="3300"/>
                </a:lnSpc>
              </a:pPr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7" name="Rectangle 91"/>
            <p:cNvSpPr>
              <a:spLocks noChangeArrowheads="1"/>
            </p:cNvSpPr>
            <p:nvPr/>
          </p:nvSpPr>
          <p:spPr bwMode="auto">
            <a:xfrm>
              <a:off x="1965324" y="4787901"/>
              <a:ext cx="450850" cy="395288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>
                <a:lnSpc>
                  <a:spcPts val="3300"/>
                </a:lnSpc>
              </a:pP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G</a:t>
              </a:r>
            </a:p>
          </p:txBody>
        </p:sp>
        <p:sp>
          <p:nvSpPr>
            <p:cNvPr id="138" name="Line 92"/>
            <p:cNvSpPr>
              <a:spLocks noChangeShapeType="1"/>
            </p:cNvSpPr>
            <p:nvPr/>
          </p:nvSpPr>
          <p:spPr bwMode="auto">
            <a:xfrm>
              <a:off x="2892424" y="4781551"/>
              <a:ext cx="0" cy="398463"/>
            </a:xfrm>
            <a:prstGeom prst="line">
              <a:avLst/>
            </a:prstGeom>
            <a:noFill/>
            <a:ln w="28575">
              <a:solidFill>
                <a:srgbClr val="507D7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  <a:flatTx/>
            </a:bodyPr>
            <a:lstStyle/>
            <a:p>
              <a:pPr>
                <a:lnSpc>
                  <a:spcPts val="3300"/>
                </a:lnSpc>
              </a:pPr>
              <a:endParaRPr lang="zh-CN" altLang="en-US"/>
            </a:p>
          </p:txBody>
        </p:sp>
        <p:sp>
          <p:nvSpPr>
            <p:cNvPr id="139" name="Rectangle 93"/>
            <p:cNvSpPr>
              <a:spLocks noChangeArrowheads="1"/>
            </p:cNvSpPr>
            <p:nvPr/>
          </p:nvSpPr>
          <p:spPr bwMode="auto">
            <a:xfrm>
              <a:off x="2935287" y="4784797"/>
              <a:ext cx="422275" cy="365125"/>
            </a:xfrm>
            <a:prstGeom prst="rect">
              <a:avLst/>
            </a:prstGeom>
            <a:noFill/>
            <a:ln w="2857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10800" rIns="18000" bIns="10800"/>
            <a:lstStyle/>
            <a:p>
              <a:pPr>
                <a:lnSpc>
                  <a:spcPts val="3300"/>
                </a:lnSpc>
              </a:pP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</a:p>
          </p:txBody>
        </p:sp>
        <p:sp>
          <p:nvSpPr>
            <p:cNvPr id="140" name="Freeform 94"/>
            <p:cNvSpPr/>
            <p:nvPr/>
          </p:nvSpPr>
          <p:spPr bwMode="auto">
            <a:xfrm flipH="1" flipV="1">
              <a:off x="2908299" y="2000251"/>
              <a:ext cx="641350" cy="692150"/>
            </a:xfrm>
            <a:custGeom>
              <a:avLst/>
              <a:gdLst>
                <a:gd name="T0" fmla="*/ 550 w 550"/>
                <a:gd name="T1" fmla="*/ 0 h 544"/>
                <a:gd name="T2" fmla="*/ 0 w 550"/>
                <a:gd name="T3" fmla="*/ 544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50" h="544">
                  <a:moveTo>
                    <a:pt x="550" y="0"/>
                  </a:moveTo>
                  <a:lnTo>
                    <a:pt x="0" y="544"/>
                  </a:lnTo>
                </a:path>
              </a:pathLst>
            </a:custGeom>
            <a:noFill/>
            <a:ln w="28575" cmpd="sng">
              <a:solidFill>
                <a:srgbClr val="285A32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lnSpc>
                  <a:spcPts val="3300"/>
                </a:lnSpc>
              </a:pPr>
              <a:endParaRPr lang="zh-CN" altLang="en-US"/>
            </a:p>
          </p:txBody>
        </p:sp>
        <p:sp>
          <p:nvSpPr>
            <p:cNvPr id="141" name="Rectangle 89"/>
            <p:cNvSpPr>
              <a:spLocks noChangeArrowheads="1"/>
            </p:cNvSpPr>
            <p:nvPr/>
          </p:nvSpPr>
          <p:spPr bwMode="auto">
            <a:xfrm>
              <a:off x="1493837" y="4813372"/>
              <a:ext cx="422275" cy="365125"/>
            </a:xfrm>
            <a:prstGeom prst="rect">
              <a:avLst/>
            </a:prstGeom>
            <a:noFill/>
            <a:ln w="2857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10800" rIns="18000" bIns="10800"/>
            <a:lstStyle/>
            <a:p>
              <a:pPr>
                <a:lnSpc>
                  <a:spcPts val="3300"/>
                </a:lnSpc>
              </a:pP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</a:p>
          </p:txBody>
        </p:sp>
        <p:sp>
          <p:nvSpPr>
            <p:cNvPr id="142" name="Freeform 95"/>
            <p:cNvSpPr/>
            <p:nvPr/>
          </p:nvSpPr>
          <p:spPr bwMode="auto">
            <a:xfrm flipH="1" flipV="1">
              <a:off x="1846262" y="3046413"/>
              <a:ext cx="465138" cy="781050"/>
            </a:xfrm>
            <a:custGeom>
              <a:avLst/>
              <a:gdLst>
                <a:gd name="T0" fmla="*/ 550 w 550"/>
                <a:gd name="T1" fmla="*/ 0 h 544"/>
                <a:gd name="T2" fmla="*/ 0 w 550"/>
                <a:gd name="T3" fmla="*/ 544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50" h="544">
                  <a:moveTo>
                    <a:pt x="550" y="0"/>
                  </a:moveTo>
                  <a:lnTo>
                    <a:pt x="0" y="544"/>
                  </a:lnTo>
                </a:path>
              </a:pathLst>
            </a:custGeom>
            <a:noFill/>
            <a:ln w="28575" cmpd="sng">
              <a:solidFill>
                <a:srgbClr val="285A32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lnSpc>
                  <a:spcPts val="3300"/>
                </a:lnSpc>
              </a:pPr>
              <a:endParaRPr lang="zh-CN" altLang="en-US"/>
            </a:p>
          </p:txBody>
        </p:sp>
        <p:sp>
          <p:nvSpPr>
            <p:cNvPr id="143" name="Rectangle 96"/>
            <p:cNvSpPr>
              <a:spLocks noChangeArrowheads="1"/>
            </p:cNvSpPr>
            <p:nvPr/>
          </p:nvSpPr>
          <p:spPr bwMode="auto">
            <a:xfrm>
              <a:off x="3582987" y="3741810"/>
              <a:ext cx="422275" cy="365125"/>
            </a:xfrm>
            <a:prstGeom prst="rect">
              <a:avLst/>
            </a:prstGeom>
            <a:noFill/>
            <a:ln w="2857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10800" rIns="18000" bIns="10800"/>
            <a:lstStyle/>
            <a:p>
              <a:pPr>
                <a:lnSpc>
                  <a:spcPts val="3300"/>
                </a:lnSpc>
              </a:pP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</a:p>
          </p:txBody>
        </p:sp>
        <p:sp>
          <p:nvSpPr>
            <p:cNvPr id="144" name="Rectangle 97"/>
            <p:cNvSpPr>
              <a:spLocks noChangeArrowheads="1"/>
            </p:cNvSpPr>
            <p:nvPr/>
          </p:nvSpPr>
          <p:spPr bwMode="auto">
            <a:xfrm>
              <a:off x="5622924" y="3739466"/>
              <a:ext cx="422275" cy="365125"/>
            </a:xfrm>
            <a:prstGeom prst="rect">
              <a:avLst/>
            </a:prstGeom>
            <a:noFill/>
            <a:ln w="2857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10800" rIns="18000" bIns="10800"/>
            <a:lstStyle/>
            <a:p>
              <a:pPr>
                <a:lnSpc>
                  <a:spcPts val="3300"/>
                </a:lnSpc>
              </a:pP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</a:p>
          </p:txBody>
        </p:sp>
        <p:sp>
          <p:nvSpPr>
            <p:cNvPr id="145" name="Freeform 98"/>
            <p:cNvSpPr/>
            <p:nvPr/>
          </p:nvSpPr>
          <p:spPr bwMode="auto">
            <a:xfrm flipH="1" flipV="1">
              <a:off x="4678362" y="3032126"/>
              <a:ext cx="465138" cy="781050"/>
            </a:xfrm>
            <a:custGeom>
              <a:avLst/>
              <a:gdLst>
                <a:gd name="T0" fmla="*/ 550 w 550"/>
                <a:gd name="T1" fmla="*/ 0 h 544"/>
                <a:gd name="T2" fmla="*/ 0 w 550"/>
                <a:gd name="T3" fmla="*/ 544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50" h="544">
                  <a:moveTo>
                    <a:pt x="550" y="0"/>
                  </a:moveTo>
                  <a:lnTo>
                    <a:pt x="0" y="544"/>
                  </a:lnTo>
                </a:path>
              </a:pathLst>
            </a:custGeom>
            <a:noFill/>
            <a:ln w="28575" cmpd="sng">
              <a:solidFill>
                <a:srgbClr val="285A32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lnSpc>
                  <a:spcPts val="3300"/>
                </a:lnSpc>
              </a:pPr>
              <a:endParaRPr lang="zh-CN" altLang="en-US"/>
            </a:p>
          </p:txBody>
        </p:sp>
        <p:sp>
          <p:nvSpPr>
            <p:cNvPr id="146" name="Line 15"/>
            <p:cNvSpPr>
              <a:spLocks noChangeShapeType="1"/>
            </p:cNvSpPr>
            <p:nvPr/>
          </p:nvSpPr>
          <p:spPr bwMode="auto">
            <a:xfrm flipH="1">
              <a:off x="4206874" y="2962276"/>
              <a:ext cx="463550" cy="727075"/>
            </a:xfrm>
            <a:prstGeom prst="line">
              <a:avLst/>
            </a:prstGeom>
            <a:noFill/>
            <a:ln w="28575">
              <a:solidFill>
                <a:srgbClr val="285A32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lnSpc>
                  <a:spcPts val="3300"/>
                </a:lnSpc>
              </a:pPr>
              <a:endParaRPr lang="zh-CN" altLang="en-US"/>
            </a:p>
          </p:txBody>
        </p:sp>
        <p:sp>
          <p:nvSpPr>
            <p:cNvPr id="147" name="Freeform 7"/>
            <p:cNvSpPr/>
            <p:nvPr/>
          </p:nvSpPr>
          <p:spPr bwMode="auto">
            <a:xfrm>
              <a:off x="2262187" y="4024313"/>
              <a:ext cx="536575" cy="714375"/>
            </a:xfrm>
            <a:custGeom>
              <a:avLst/>
              <a:gdLst>
                <a:gd name="T0" fmla="*/ 0 w 444"/>
                <a:gd name="T1" fmla="*/ 0 h 523"/>
                <a:gd name="T2" fmla="*/ 444 w 444"/>
                <a:gd name="T3" fmla="*/ 523 h 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4" h="523">
                  <a:moveTo>
                    <a:pt x="0" y="0"/>
                  </a:moveTo>
                  <a:lnTo>
                    <a:pt x="444" y="523"/>
                  </a:lnTo>
                </a:path>
              </a:pathLst>
            </a:custGeom>
            <a:noFill/>
            <a:ln w="28575" cmpd="sng">
              <a:solidFill>
                <a:srgbClr val="285A32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lnSpc>
                  <a:spcPts val="3300"/>
                </a:lnSpc>
              </a:pPr>
              <a:endParaRPr lang="zh-CN" altLang="en-US"/>
            </a:p>
          </p:txBody>
        </p:sp>
        <p:sp>
          <p:nvSpPr>
            <p:cNvPr id="148" name="Freeform 99"/>
            <p:cNvSpPr/>
            <p:nvPr/>
          </p:nvSpPr>
          <p:spPr bwMode="auto">
            <a:xfrm flipH="1" flipV="1">
              <a:off x="2117724" y="4192588"/>
              <a:ext cx="496888" cy="644525"/>
            </a:xfrm>
            <a:custGeom>
              <a:avLst/>
              <a:gdLst>
                <a:gd name="T0" fmla="*/ 0 w 444"/>
                <a:gd name="T1" fmla="*/ 0 h 523"/>
                <a:gd name="T2" fmla="*/ 444 w 444"/>
                <a:gd name="T3" fmla="*/ 523 h 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4" h="523">
                  <a:moveTo>
                    <a:pt x="0" y="0"/>
                  </a:moveTo>
                  <a:lnTo>
                    <a:pt x="444" y="523"/>
                  </a:lnTo>
                </a:path>
              </a:pathLst>
            </a:custGeom>
            <a:noFill/>
            <a:ln w="28575" cmpd="sng">
              <a:solidFill>
                <a:srgbClr val="285A32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lnSpc>
                  <a:spcPts val="3300"/>
                </a:lnSpc>
              </a:pPr>
              <a:endParaRPr lang="zh-CN" altLang="en-US"/>
            </a:p>
          </p:txBody>
        </p:sp>
        <p:sp>
          <p:nvSpPr>
            <p:cNvPr id="149" name="Freeform 100"/>
            <p:cNvSpPr/>
            <p:nvPr/>
          </p:nvSpPr>
          <p:spPr bwMode="auto">
            <a:xfrm flipH="1" flipV="1">
              <a:off x="6249987" y="3011488"/>
              <a:ext cx="495300" cy="747713"/>
            </a:xfrm>
            <a:custGeom>
              <a:avLst/>
              <a:gdLst>
                <a:gd name="T0" fmla="*/ 0 w 444"/>
                <a:gd name="T1" fmla="*/ 0 h 523"/>
                <a:gd name="T2" fmla="*/ 444 w 444"/>
                <a:gd name="T3" fmla="*/ 523 h 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4" h="523">
                  <a:moveTo>
                    <a:pt x="0" y="0"/>
                  </a:moveTo>
                  <a:lnTo>
                    <a:pt x="444" y="523"/>
                  </a:lnTo>
                </a:path>
              </a:pathLst>
            </a:custGeom>
            <a:noFill/>
            <a:ln w="28575" cmpd="sng">
              <a:solidFill>
                <a:srgbClr val="285A32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lnSpc>
                  <a:spcPts val="3300"/>
                </a:lnSpc>
              </a:pPr>
              <a:endParaRPr lang="zh-CN" altLang="en-US"/>
            </a:p>
          </p:txBody>
        </p:sp>
        <p:sp>
          <p:nvSpPr>
            <p:cNvPr id="150" name="Freeform 101"/>
            <p:cNvSpPr/>
            <p:nvPr/>
          </p:nvSpPr>
          <p:spPr bwMode="auto">
            <a:xfrm flipH="1" flipV="1">
              <a:off x="5011737" y="1951038"/>
              <a:ext cx="568325" cy="703263"/>
            </a:xfrm>
            <a:custGeom>
              <a:avLst/>
              <a:gdLst>
                <a:gd name="T0" fmla="*/ 0 w 444"/>
                <a:gd name="T1" fmla="*/ 0 h 523"/>
                <a:gd name="T2" fmla="*/ 444 w 444"/>
                <a:gd name="T3" fmla="*/ 523 h 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4" h="523">
                  <a:moveTo>
                    <a:pt x="0" y="0"/>
                  </a:moveTo>
                  <a:lnTo>
                    <a:pt x="444" y="523"/>
                  </a:lnTo>
                </a:path>
              </a:pathLst>
            </a:custGeom>
            <a:noFill/>
            <a:ln w="28575" cmpd="sng">
              <a:solidFill>
                <a:srgbClr val="285A32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lnSpc>
                  <a:spcPts val="3300"/>
                </a:lnSpc>
              </a:pPr>
              <a:endParaRPr lang="zh-CN" altLang="en-US"/>
            </a:p>
          </p:txBody>
        </p:sp>
        <p:sp>
          <p:nvSpPr>
            <p:cNvPr id="151" name="Line 11"/>
            <p:cNvSpPr>
              <a:spLocks noChangeShapeType="1"/>
            </p:cNvSpPr>
            <p:nvPr/>
          </p:nvSpPr>
          <p:spPr bwMode="auto">
            <a:xfrm>
              <a:off x="5938837" y="2932113"/>
              <a:ext cx="463550" cy="727075"/>
            </a:xfrm>
            <a:prstGeom prst="line">
              <a:avLst/>
            </a:prstGeom>
            <a:noFill/>
            <a:ln w="28575">
              <a:solidFill>
                <a:srgbClr val="285A32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lnSpc>
                  <a:spcPts val="3300"/>
                </a:lnSpc>
              </a:pPr>
              <a:endParaRPr lang="zh-CN" altLang="en-US"/>
            </a:p>
          </p:txBody>
        </p:sp>
      </p:grpSp>
      <p:grpSp>
        <p:nvGrpSpPr>
          <p:cNvPr id="152" name="组合 151"/>
          <p:cNvGrpSpPr/>
          <p:nvPr/>
        </p:nvGrpSpPr>
        <p:grpSpPr>
          <a:xfrm>
            <a:off x="8201650" y="1014531"/>
            <a:ext cx="3005177" cy="3274895"/>
            <a:chOff x="8138952" y="2616992"/>
            <a:chExt cx="3005177" cy="3274895"/>
          </a:xfrm>
          <a:solidFill>
            <a:srgbClr val="B4B4BE"/>
          </a:solidFill>
        </p:grpSpPr>
        <p:sp>
          <p:nvSpPr>
            <p:cNvPr id="153" name="Line 25"/>
            <p:cNvSpPr>
              <a:spLocks noChangeShapeType="1"/>
            </p:cNvSpPr>
            <p:nvPr/>
          </p:nvSpPr>
          <p:spPr bwMode="auto">
            <a:xfrm flipH="1">
              <a:off x="8995407" y="2953542"/>
              <a:ext cx="511175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54" name="Line 26"/>
            <p:cNvSpPr>
              <a:spLocks noChangeShapeType="1"/>
            </p:cNvSpPr>
            <p:nvPr/>
          </p:nvSpPr>
          <p:spPr bwMode="auto">
            <a:xfrm>
              <a:off x="9879645" y="2953541"/>
              <a:ext cx="432000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55" name="Line 27"/>
            <p:cNvSpPr>
              <a:spLocks noChangeShapeType="1"/>
            </p:cNvSpPr>
            <p:nvPr/>
          </p:nvSpPr>
          <p:spPr bwMode="auto">
            <a:xfrm flipH="1">
              <a:off x="8373108" y="3834286"/>
              <a:ext cx="360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56" name="Line 28"/>
            <p:cNvSpPr>
              <a:spLocks noChangeShapeType="1"/>
            </p:cNvSpPr>
            <p:nvPr/>
          </p:nvSpPr>
          <p:spPr bwMode="auto">
            <a:xfrm>
              <a:off x="8417876" y="4899182"/>
              <a:ext cx="396875" cy="606425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57" name="Line 29"/>
            <p:cNvSpPr>
              <a:spLocks noChangeShapeType="1"/>
            </p:cNvSpPr>
            <p:nvPr/>
          </p:nvSpPr>
          <p:spPr bwMode="auto">
            <a:xfrm flipH="1">
              <a:off x="10043475" y="3829524"/>
              <a:ext cx="288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58" name="Line 30"/>
            <p:cNvSpPr>
              <a:spLocks noChangeShapeType="1"/>
            </p:cNvSpPr>
            <p:nvPr/>
          </p:nvSpPr>
          <p:spPr bwMode="auto">
            <a:xfrm>
              <a:off x="10561325" y="3841246"/>
              <a:ext cx="288000" cy="6258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59" name="Oval 37"/>
            <p:cNvSpPr>
              <a:spLocks noChangeArrowheads="1"/>
            </p:cNvSpPr>
            <p:nvPr/>
          </p:nvSpPr>
          <p:spPr bwMode="auto">
            <a:xfrm>
              <a:off x="9486898" y="261699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0" name="Oval 37"/>
            <p:cNvSpPr>
              <a:spLocks noChangeArrowheads="1"/>
            </p:cNvSpPr>
            <p:nvPr/>
          </p:nvSpPr>
          <p:spPr bwMode="auto">
            <a:xfrm>
              <a:off x="10228577" y="343328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1" name="Oval 37"/>
            <p:cNvSpPr>
              <a:spLocks noChangeArrowheads="1"/>
            </p:cNvSpPr>
            <p:nvPr/>
          </p:nvSpPr>
          <p:spPr bwMode="auto">
            <a:xfrm>
              <a:off x="8631553" y="343328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2" name="Oval 37"/>
            <p:cNvSpPr>
              <a:spLocks noChangeArrowheads="1"/>
            </p:cNvSpPr>
            <p:nvPr/>
          </p:nvSpPr>
          <p:spPr bwMode="auto">
            <a:xfrm>
              <a:off x="8138952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3" name="Oval 37"/>
            <p:cNvSpPr>
              <a:spLocks noChangeArrowheads="1"/>
            </p:cNvSpPr>
            <p:nvPr/>
          </p:nvSpPr>
          <p:spPr bwMode="auto">
            <a:xfrm>
              <a:off x="9775505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4" name="Oval 37"/>
            <p:cNvSpPr>
              <a:spLocks noChangeArrowheads="1"/>
            </p:cNvSpPr>
            <p:nvPr/>
          </p:nvSpPr>
          <p:spPr bwMode="auto">
            <a:xfrm>
              <a:off x="10712129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5" name="Oval 37"/>
            <p:cNvSpPr>
              <a:spLocks noChangeArrowheads="1"/>
            </p:cNvSpPr>
            <p:nvPr/>
          </p:nvSpPr>
          <p:spPr bwMode="auto">
            <a:xfrm>
              <a:off x="8714420" y="5459887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4" name="TextBox 63"/>
          <p:cNvSpPr txBox="1"/>
          <p:nvPr/>
        </p:nvSpPr>
        <p:spPr>
          <a:xfrm>
            <a:off x="3949858" y="671206"/>
            <a:ext cx="12906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endParaRPr lang="zh-CN" altLang="en-US" sz="2800" dirty="0">
              <a:solidFill>
                <a:srgbClr val="B4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89139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3600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7" y="61585"/>
            <a:ext cx="352235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二叉链表的类定义</a:t>
            </a:r>
          </a:p>
        </p:txBody>
      </p:sp>
      <p:grpSp>
        <p:nvGrpSpPr>
          <p:cNvPr id="63" name="组合 62"/>
          <p:cNvGrpSpPr/>
          <p:nvPr/>
        </p:nvGrpSpPr>
        <p:grpSpPr>
          <a:xfrm>
            <a:off x="437714" y="957106"/>
            <a:ext cx="9209206" cy="523220"/>
            <a:chOff x="1826091" y="4148024"/>
            <a:chExt cx="9209206" cy="523220"/>
          </a:xfrm>
        </p:grpSpPr>
        <p:sp>
          <p:nvSpPr>
            <p:cNvPr id="65" name="Text Box 11"/>
            <p:cNvSpPr txBox="1">
              <a:spLocks noChangeArrowheads="1"/>
            </p:cNvSpPr>
            <p:nvPr/>
          </p:nvSpPr>
          <p:spPr bwMode="auto">
            <a:xfrm>
              <a:off x="2385059" y="4148024"/>
              <a:ext cx="8650238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二叉树的抽象数据类型定义？</a:t>
              </a:r>
            </a:p>
          </p:txBody>
        </p:sp>
        <p:grpSp>
          <p:nvGrpSpPr>
            <p:cNvPr id="66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67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8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9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5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76" name="Rectangle 1"/>
          <p:cNvSpPr>
            <a:spLocks noChangeArrowheads="1"/>
          </p:cNvSpPr>
          <p:nvPr/>
        </p:nvSpPr>
        <p:spPr bwMode="auto">
          <a:xfrm>
            <a:off x="5645614" y="462817"/>
            <a:ext cx="6044732" cy="5632311"/>
          </a:xfrm>
          <a:prstGeom prst="rect">
            <a:avLst/>
          </a:prstGeom>
          <a:noFill/>
          <a:ln w="9525">
            <a:solidFill>
              <a:srgbClr val="285A32"/>
            </a:solidFill>
            <a:prstDash val="dash"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template &lt;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typename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BiTree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0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dirty="0" err="1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BiTree</a:t>
            </a:r>
            <a:r>
              <a:rPr lang="en-US" altLang="zh-CN" sz="20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){root = </a:t>
            </a:r>
            <a:r>
              <a:rPr lang="en-US" altLang="zh-CN" sz="2000" dirty="0" err="1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</a:t>
            </a:r>
            <a:r>
              <a:rPr lang="en-US" altLang="zh-CN" sz="20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(root);}</a:t>
            </a:r>
            <a:endParaRPr lang="zh-CN" altLang="zh-CN" sz="2000" dirty="0">
              <a:solidFill>
                <a:srgbClr val="B4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0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en-US" altLang="zh-CN" sz="2000" dirty="0" err="1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BiTree</a:t>
            </a:r>
            <a:r>
              <a:rPr lang="en-US" altLang="zh-CN" sz="20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){Release(root);}</a:t>
            </a:r>
            <a:endParaRPr lang="zh-CN" altLang="zh-CN" sz="2000" dirty="0">
              <a:solidFill>
                <a:srgbClr val="B4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0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2000" dirty="0" err="1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PreOrder</a:t>
            </a:r>
            <a:r>
              <a:rPr lang="en-US" altLang="zh-CN" sz="20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){</a:t>
            </a:r>
            <a:r>
              <a:rPr lang="en-US" altLang="zh-CN" sz="2000" dirty="0" err="1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PreOrder</a:t>
            </a:r>
            <a:r>
              <a:rPr lang="en-US" altLang="zh-CN" sz="20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(root);}</a:t>
            </a:r>
            <a:endParaRPr lang="zh-CN" altLang="zh-CN" sz="2000" dirty="0">
              <a:solidFill>
                <a:srgbClr val="B4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0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2000" dirty="0" err="1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InOrder</a:t>
            </a:r>
            <a:r>
              <a:rPr lang="en-US" altLang="zh-CN" sz="20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){</a:t>
            </a:r>
            <a:r>
              <a:rPr lang="en-US" altLang="zh-CN" sz="2000" dirty="0" err="1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InOrder</a:t>
            </a:r>
            <a:r>
              <a:rPr lang="en-US" altLang="zh-CN" sz="20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(root);}</a:t>
            </a:r>
            <a:endParaRPr lang="zh-CN" altLang="zh-CN" sz="2000" dirty="0">
              <a:solidFill>
                <a:srgbClr val="B4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0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2000" dirty="0" err="1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PostOrder</a:t>
            </a:r>
            <a:r>
              <a:rPr lang="en-US" altLang="zh-CN" sz="20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){</a:t>
            </a:r>
            <a:r>
              <a:rPr lang="en-US" altLang="zh-CN" sz="2000" dirty="0" err="1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PostOrder</a:t>
            </a:r>
            <a:r>
              <a:rPr lang="en-US" altLang="zh-CN" sz="20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(root);}</a:t>
            </a:r>
            <a:endParaRPr lang="zh-CN" altLang="zh-CN" sz="2000" dirty="0">
              <a:solidFill>
                <a:srgbClr val="B4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0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2000" dirty="0" err="1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LevelOrder</a:t>
            </a:r>
            <a:r>
              <a:rPr lang="en-US" altLang="zh-CN" sz="20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);                   </a:t>
            </a:r>
            <a:endParaRPr lang="zh-CN" altLang="zh-CN" sz="2000" dirty="0">
              <a:solidFill>
                <a:srgbClr val="B4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private: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dirty="0" err="1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BiNode</a:t>
            </a:r>
            <a:r>
              <a:rPr lang="en-US" altLang="zh-CN" sz="2000" dirty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000" dirty="0" err="1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000" dirty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*</a:t>
            </a:r>
            <a:r>
              <a:rPr lang="en-US" altLang="zh-CN" sz="2000" dirty="0" err="1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</a:t>
            </a:r>
            <a:r>
              <a:rPr lang="en-US" altLang="zh-CN" sz="2000" dirty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BiNode</a:t>
            </a:r>
            <a:r>
              <a:rPr lang="en-US" altLang="zh-CN" sz="2000" dirty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000" dirty="0" err="1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000" dirty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*</a:t>
            </a:r>
            <a:r>
              <a:rPr lang="en-US" altLang="zh-CN" sz="2000" dirty="0" err="1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en-US" altLang="zh-CN" sz="2000" dirty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  <a:endParaRPr lang="zh-CN" altLang="zh-CN" sz="2000" dirty="0">
              <a:solidFill>
                <a:srgbClr val="5C307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000" dirty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dirty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Release(</a:t>
            </a:r>
            <a:r>
              <a:rPr lang="en-US" altLang="zh-CN" sz="2000" dirty="0" err="1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BiNode</a:t>
            </a:r>
            <a:r>
              <a:rPr lang="en-US" altLang="zh-CN" sz="2000" dirty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000" dirty="0" err="1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000" dirty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*</a:t>
            </a:r>
            <a:r>
              <a:rPr lang="en-US" altLang="zh-CN" sz="2000" dirty="0" err="1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en-US" altLang="zh-CN" sz="2000" dirty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        </a:t>
            </a:r>
            <a:endParaRPr lang="zh-CN" altLang="zh-CN" sz="2000" dirty="0">
              <a:solidFill>
                <a:srgbClr val="5C307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000" dirty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dirty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2000" dirty="0" err="1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PreOrder</a:t>
            </a:r>
            <a:r>
              <a:rPr lang="en-US" altLang="zh-CN" sz="2000" dirty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BiNode</a:t>
            </a:r>
            <a:r>
              <a:rPr lang="en-US" altLang="zh-CN" sz="2000" dirty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000" dirty="0" err="1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000" dirty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*</a:t>
            </a:r>
            <a:r>
              <a:rPr lang="en-US" altLang="zh-CN" sz="2000" dirty="0" err="1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en-US" altLang="zh-CN" sz="2000" dirty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     </a:t>
            </a:r>
            <a:endParaRPr lang="zh-CN" altLang="zh-CN" sz="2000" dirty="0">
              <a:solidFill>
                <a:srgbClr val="5C307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000" dirty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dirty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2000" dirty="0" err="1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InOrder</a:t>
            </a:r>
            <a:r>
              <a:rPr lang="en-US" altLang="zh-CN" sz="2000" dirty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BiNode</a:t>
            </a:r>
            <a:r>
              <a:rPr lang="en-US" altLang="zh-CN" sz="2000" dirty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000" dirty="0" err="1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000" dirty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*</a:t>
            </a:r>
            <a:r>
              <a:rPr lang="en-US" altLang="zh-CN" sz="2000" dirty="0" err="1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en-US" altLang="zh-CN" sz="2000" dirty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        </a:t>
            </a:r>
            <a:endParaRPr lang="zh-CN" altLang="zh-CN" sz="2000" dirty="0">
              <a:solidFill>
                <a:srgbClr val="5C307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000" dirty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dirty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2000" dirty="0" err="1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PostOrder</a:t>
            </a:r>
            <a:r>
              <a:rPr lang="en-US" altLang="zh-CN" sz="2000" dirty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BiNode</a:t>
            </a:r>
            <a:r>
              <a:rPr lang="en-US" altLang="zh-CN" sz="2000" dirty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000" dirty="0" err="1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000" dirty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*</a:t>
            </a:r>
            <a:r>
              <a:rPr lang="en-US" altLang="zh-CN" sz="2000" dirty="0" err="1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en-US" altLang="zh-CN" sz="2000" dirty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    </a:t>
            </a:r>
            <a:endParaRPr lang="zh-CN" altLang="zh-CN" sz="2000" dirty="0">
              <a:solidFill>
                <a:srgbClr val="5C307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000" dirty="0" err="1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BiNode</a:t>
            </a:r>
            <a:r>
              <a:rPr lang="en-US" altLang="zh-CN" sz="2000" dirty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000" dirty="0" err="1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000" dirty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*root;                           </a:t>
            </a:r>
            <a:endParaRPr lang="zh-CN" altLang="zh-CN" sz="2000" dirty="0">
              <a:solidFill>
                <a:srgbClr val="285A3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624840" y="1904732"/>
            <a:ext cx="4114800" cy="3234219"/>
          </a:xfrm>
          <a:prstGeom prst="rect">
            <a:avLst/>
          </a:prstGeom>
          <a:ln>
            <a:solidFill>
              <a:srgbClr val="285A32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en-US" altLang="zh-CN" sz="2000" dirty="0" err="1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InitBiTree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20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初始化一棵</a:t>
            </a:r>
            <a:r>
              <a:rPr lang="zh-CN" altLang="en-US" sz="20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空的</a:t>
            </a:r>
            <a:r>
              <a:rPr lang="zh-CN" altLang="zh-CN" sz="20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二叉树</a:t>
            </a:r>
            <a:r>
              <a:rPr lang="en-US" altLang="zh-CN" sz="20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zh-CN" sz="20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</a:pPr>
            <a:r>
              <a:rPr lang="en-US" altLang="zh-CN" sz="2000" dirty="0" err="1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CreatBiTree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20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建立一棵二叉树</a:t>
            </a:r>
            <a:r>
              <a:rPr lang="en-US" altLang="zh-CN" sz="20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zh-CN" sz="20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</a:pPr>
            <a:r>
              <a:rPr lang="en-US" altLang="zh-CN" sz="2000" dirty="0" err="1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DestroyBiTree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20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销毁一棵二叉树</a:t>
            </a:r>
          </a:p>
          <a:p>
            <a:pPr>
              <a:lnSpc>
                <a:spcPts val="3500"/>
              </a:lnSpc>
            </a:pPr>
            <a:r>
              <a:rPr lang="en-US" altLang="zh-CN" sz="2000" dirty="0" err="1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PreOrder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20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前序遍历二叉树</a:t>
            </a:r>
          </a:p>
          <a:p>
            <a:pPr>
              <a:lnSpc>
                <a:spcPts val="3500"/>
              </a:lnSpc>
            </a:pPr>
            <a:r>
              <a:rPr lang="en-US" altLang="zh-CN" sz="2000" dirty="0" err="1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InOrder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20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中序遍历二叉树</a:t>
            </a:r>
          </a:p>
          <a:p>
            <a:pPr>
              <a:lnSpc>
                <a:spcPts val="3500"/>
              </a:lnSpc>
            </a:pPr>
            <a:r>
              <a:rPr lang="en-US" altLang="zh-CN" sz="2000" dirty="0" err="1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PostOrder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20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后序遍历二叉树</a:t>
            </a:r>
          </a:p>
          <a:p>
            <a:pPr>
              <a:lnSpc>
                <a:spcPts val="3500"/>
              </a:lnSpc>
            </a:pPr>
            <a:r>
              <a:rPr lang="en-US" altLang="zh-CN" sz="2000" dirty="0" err="1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LevelOrder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20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层序遍历二叉树</a:t>
            </a:r>
          </a:p>
        </p:txBody>
      </p:sp>
      <p:sp>
        <p:nvSpPr>
          <p:cNvPr id="78" name="右箭头 77"/>
          <p:cNvSpPr/>
          <p:nvPr/>
        </p:nvSpPr>
        <p:spPr>
          <a:xfrm>
            <a:off x="4892040" y="3291840"/>
            <a:ext cx="576000" cy="360000"/>
          </a:xfrm>
          <a:prstGeom prst="rightArrow">
            <a:avLst/>
          </a:prstGeom>
          <a:noFill/>
          <a:ln w="28575">
            <a:solidFill>
              <a:srgbClr val="B42D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9423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3672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35528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二叉树的前序遍历</a:t>
            </a:r>
          </a:p>
        </p:txBody>
      </p:sp>
      <p:sp>
        <p:nvSpPr>
          <p:cNvPr id="4" name="矩形 3"/>
          <p:cNvSpPr/>
          <p:nvPr/>
        </p:nvSpPr>
        <p:spPr>
          <a:xfrm>
            <a:off x="786762" y="729118"/>
            <a:ext cx="10399398" cy="3785652"/>
          </a:xfrm>
          <a:prstGeom prst="rect">
            <a:avLst/>
          </a:prstGeom>
          <a:ln>
            <a:solidFill>
              <a:srgbClr val="5C307D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template &lt;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typename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BiTree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::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PreOrder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BiNode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*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return;       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//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递归调用的结束条件</a:t>
            </a:r>
          </a:p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{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2400" dirty="0" err="1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US" altLang="zh-CN" sz="2400" dirty="0" err="1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en-US" altLang="zh-CN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-&gt;data;                </a:t>
            </a:r>
            <a:r>
              <a:rPr lang="zh-CN" altLang="en-US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zh-CN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//</a:t>
            </a:r>
            <a:r>
              <a:rPr lang="zh-CN" altLang="zh-CN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访问根结点</a:t>
            </a:r>
            <a:r>
              <a:rPr lang="en-US" altLang="zh-CN" sz="2400" dirty="0" err="1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zh-CN" altLang="zh-CN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的数据域</a:t>
            </a:r>
          </a:p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PreOrder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lchild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   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//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前序递归遍历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的左子树</a:t>
            </a:r>
          </a:p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PreOrder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rchild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    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前序递归遍历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的右子树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 Box 8"/>
          <p:cNvSpPr txBox="1">
            <a:spLocks noChangeArrowheads="1"/>
          </p:cNvSpPr>
          <p:nvPr/>
        </p:nvSpPr>
        <p:spPr bwMode="auto">
          <a:xfrm>
            <a:off x="1295400" y="4749208"/>
            <a:ext cx="5806440" cy="1118255"/>
          </a:xfrm>
          <a:prstGeom prst="rect">
            <a:avLst/>
          </a:prstGeom>
          <a:noFill/>
          <a:ln w="38100">
            <a:solidFill>
              <a:srgbClr val="5C307D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/>
          <a:p>
            <a:pPr algn="ctr" eaLnBrk="0" hangingPunct="0">
              <a:lnSpc>
                <a:spcPts val="4000"/>
              </a:lnSpc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按照</a:t>
            </a:r>
            <a:r>
              <a:rPr lang="zh-CN" altLang="en-US" sz="28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先左后右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的方式扫描二叉树，</a:t>
            </a:r>
            <a:endParaRPr lang="en-US" altLang="zh-CN" sz="28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hangingPunct="0">
              <a:lnSpc>
                <a:spcPts val="4000"/>
              </a:lnSpc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区别仅在于访问结点的时机</a:t>
            </a:r>
            <a:endParaRPr lang="zh-CN" altLang="en-US" sz="2800" dirty="0">
              <a:solidFill>
                <a:srgbClr val="B42D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梯形 1"/>
          <p:cNvSpPr/>
          <p:nvPr/>
        </p:nvSpPr>
        <p:spPr>
          <a:xfrm>
            <a:off x="8244840" y="4511039"/>
            <a:ext cx="2052000" cy="1605037"/>
          </a:xfrm>
          <a:prstGeom prst="trapezoid">
            <a:avLst/>
          </a:prstGeom>
          <a:noFill/>
          <a:ln w="28575">
            <a:solidFill>
              <a:srgbClr val="6E6E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37"/>
          <p:cNvSpPr>
            <a:spLocks noChangeArrowheads="1"/>
          </p:cNvSpPr>
          <p:nvPr/>
        </p:nvSpPr>
        <p:spPr bwMode="auto">
          <a:xfrm>
            <a:off x="9047880" y="4609408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480203" y="4985507"/>
            <a:ext cx="720000" cy="1071540"/>
            <a:chOff x="8480203" y="4848347"/>
            <a:chExt cx="720000" cy="1071540"/>
          </a:xfrm>
        </p:grpSpPr>
        <p:sp>
          <p:nvSpPr>
            <p:cNvPr id="11" name="梯形 10"/>
            <p:cNvSpPr/>
            <p:nvPr/>
          </p:nvSpPr>
          <p:spPr>
            <a:xfrm>
              <a:off x="8480203" y="5199887"/>
              <a:ext cx="720000" cy="720000"/>
            </a:xfrm>
            <a:prstGeom prst="trapezoid">
              <a:avLst/>
            </a:prstGeom>
            <a:noFill/>
            <a:ln w="28575">
              <a:solidFill>
                <a:srgbClr val="6E6E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3000"/>
                </a:lnSpc>
              </a:pPr>
              <a:r>
                <a:rPr lang="en-US" altLang="zh-CN" sz="2800" dirty="0">
                  <a:solidFill>
                    <a:srgbClr val="40404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zh-CN" altLang="en-US" sz="28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Line 25"/>
            <p:cNvSpPr>
              <a:spLocks noChangeShapeType="1"/>
            </p:cNvSpPr>
            <p:nvPr/>
          </p:nvSpPr>
          <p:spPr bwMode="auto">
            <a:xfrm flipH="1">
              <a:off x="8840201" y="4848347"/>
              <a:ext cx="255588" cy="336300"/>
            </a:xfrm>
            <a:prstGeom prst="line">
              <a:avLst/>
            </a:prstGeom>
            <a:noFill/>
            <a:ln w="38100">
              <a:solidFill>
                <a:srgbClr val="285A3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9344803" y="4988044"/>
            <a:ext cx="720000" cy="1069003"/>
            <a:chOff x="9344803" y="4850884"/>
            <a:chExt cx="720000" cy="1069003"/>
          </a:xfrm>
        </p:grpSpPr>
        <p:sp>
          <p:nvSpPr>
            <p:cNvPr id="14" name="Line 25"/>
            <p:cNvSpPr>
              <a:spLocks noChangeShapeType="1"/>
            </p:cNvSpPr>
            <p:nvPr/>
          </p:nvSpPr>
          <p:spPr bwMode="auto">
            <a:xfrm>
              <a:off x="9419520" y="4850884"/>
              <a:ext cx="255588" cy="336300"/>
            </a:xfrm>
            <a:prstGeom prst="line">
              <a:avLst/>
            </a:prstGeom>
            <a:noFill/>
            <a:ln w="38100">
              <a:solidFill>
                <a:srgbClr val="285A3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5" name="梯形 14"/>
            <p:cNvSpPr/>
            <p:nvPr/>
          </p:nvSpPr>
          <p:spPr>
            <a:xfrm>
              <a:off x="9344803" y="5199887"/>
              <a:ext cx="720000" cy="720000"/>
            </a:xfrm>
            <a:prstGeom prst="trapezoid">
              <a:avLst/>
            </a:prstGeom>
            <a:noFill/>
            <a:ln w="28575">
              <a:solidFill>
                <a:srgbClr val="6E6E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3000"/>
                </a:lnSpc>
              </a:pPr>
              <a:r>
                <a:rPr lang="en-US" altLang="zh-CN" sz="2800" dirty="0">
                  <a:solidFill>
                    <a:srgbClr val="40404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CN" altLang="en-US" sz="28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079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5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5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4" grpId="0" bldLvl="0" animBg="1"/>
      <p:bldP spid="70" grpId="0" bldLvl="0" animBg="1"/>
      <p:bldP spid="2" grpId="0" bldLvl="0" animBg="1"/>
      <p:bldP spid="10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9519135" y="785349"/>
            <a:ext cx="2029024" cy="2204532"/>
            <a:chOff x="5203030" y="646360"/>
            <a:chExt cx="2029024" cy="2204532"/>
          </a:xfrm>
          <a:solidFill>
            <a:srgbClr val="B4B4BE"/>
          </a:solidFill>
        </p:grpSpPr>
        <p:sp>
          <p:nvSpPr>
            <p:cNvPr id="10" name="Line 25"/>
            <p:cNvSpPr>
              <a:spLocks noChangeShapeType="1"/>
            </p:cNvSpPr>
            <p:nvPr/>
          </p:nvSpPr>
          <p:spPr bwMode="auto">
            <a:xfrm flipH="1">
              <a:off x="5566884" y="982910"/>
              <a:ext cx="511175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1" name="Line 26"/>
            <p:cNvSpPr>
              <a:spLocks noChangeShapeType="1"/>
            </p:cNvSpPr>
            <p:nvPr/>
          </p:nvSpPr>
          <p:spPr bwMode="auto">
            <a:xfrm>
              <a:off x="6451122" y="982909"/>
              <a:ext cx="432000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3" name="Line 28"/>
            <p:cNvSpPr>
              <a:spLocks noChangeShapeType="1"/>
            </p:cNvSpPr>
            <p:nvPr/>
          </p:nvSpPr>
          <p:spPr bwMode="auto">
            <a:xfrm>
              <a:off x="5536404" y="1848930"/>
              <a:ext cx="324000" cy="612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6" name="Oval 37"/>
            <p:cNvSpPr>
              <a:spLocks noChangeArrowheads="1"/>
            </p:cNvSpPr>
            <p:nvPr/>
          </p:nvSpPr>
          <p:spPr bwMode="auto">
            <a:xfrm>
              <a:off x="6058375" y="646360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Oval 37"/>
            <p:cNvSpPr>
              <a:spLocks noChangeArrowheads="1"/>
            </p:cNvSpPr>
            <p:nvPr/>
          </p:nvSpPr>
          <p:spPr bwMode="auto">
            <a:xfrm>
              <a:off x="6800054" y="1462651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Oval 37"/>
            <p:cNvSpPr>
              <a:spLocks noChangeArrowheads="1"/>
            </p:cNvSpPr>
            <p:nvPr/>
          </p:nvSpPr>
          <p:spPr bwMode="auto">
            <a:xfrm>
              <a:off x="5203030" y="1462651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Oval 37"/>
            <p:cNvSpPr>
              <a:spLocks noChangeArrowheads="1"/>
            </p:cNvSpPr>
            <p:nvPr/>
          </p:nvSpPr>
          <p:spPr bwMode="auto">
            <a:xfrm>
              <a:off x="5757005" y="241889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4" name="矩形 23"/>
          <p:cNvSpPr/>
          <p:nvPr/>
        </p:nvSpPr>
        <p:spPr>
          <a:xfrm>
            <a:off x="523933" y="1887615"/>
            <a:ext cx="2340000" cy="2462213"/>
          </a:xfrm>
          <a:prstGeom prst="rect">
            <a:avLst/>
          </a:prstGeom>
          <a:ln>
            <a:solidFill>
              <a:srgbClr val="5C307D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Pre(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2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22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2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2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   </a:t>
            </a:r>
            <a:endParaRPr lang="zh-CN" altLang="zh-CN" sz="2200" dirty="0">
              <a:solidFill>
                <a:srgbClr val="B4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Pre(A-&gt;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lchild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  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组合 100"/>
          <p:cNvGrpSpPr/>
          <p:nvPr/>
        </p:nvGrpSpPr>
        <p:grpSpPr>
          <a:xfrm>
            <a:off x="2123268" y="1017115"/>
            <a:ext cx="3168228" cy="2185453"/>
            <a:chOff x="2123268" y="1017115"/>
            <a:chExt cx="3168228" cy="2185453"/>
          </a:xfrm>
        </p:grpSpPr>
        <p:sp>
          <p:nvSpPr>
            <p:cNvPr id="25" name="矩形 24"/>
            <p:cNvSpPr/>
            <p:nvPr/>
          </p:nvSpPr>
          <p:spPr>
            <a:xfrm>
              <a:off x="2951496" y="1017115"/>
              <a:ext cx="2340000" cy="1954381"/>
            </a:xfrm>
            <a:prstGeom prst="rect">
              <a:avLst/>
            </a:prstGeom>
            <a:ln>
              <a:solidFill>
                <a:srgbClr val="5C307D"/>
              </a:solidFill>
              <a:prstDash val="dash"/>
            </a:ln>
          </p:spPr>
          <p:txBody>
            <a:bodyPr wrap="square">
              <a:spAutoFit/>
            </a:bodyPr>
            <a:lstStyle/>
            <a:p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Pre(</a:t>
              </a:r>
              <a:r>
                <a:rPr lang="zh-CN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B)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200" dirty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</a:t>
              </a:r>
              <a:r>
                <a:rPr lang="zh-CN" altLang="en-US" sz="2200" dirty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（</a:t>
              </a:r>
              <a:r>
                <a:rPr lang="en-US" altLang="zh-CN" sz="2200" dirty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en-US" sz="2200" dirty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）</a:t>
              </a:r>
              <a:r>
                <a:rPr lang="en-US" altLang="zh-CN" sz="2200" dirty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    </a:t>
              </a:r>
              <a:endParaRPr lang="zh-CN" altLang="zh-CN" sz="22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Pre(B-&gt;</a:t>
              </a:r>
              <a:r>
                <a:rPr lang="en-US" altLang="zh-CN" sz="2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lchild</a:t>
              </a: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);   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" name="直接箭头连接符 4"/>
            <p:cNvCxnSpPr/>
            <p:nvPr/>
          </p:nvCxnSpPr>
          <p:spPr>
            <a:xfrm flipV="1">
              <a:off x="2123268" y="1281653"/>
              <a:ext cx="900000" cy="1920915"/>
            </a:xfrm>
            <a:prstGeom prst="straightConnector1">
              <a:avLst/>
            </a:prstGeom>
            <a:ln w="25400">
              <a:solidFill>
                <a:srgbClr val="B42D2D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91"/>
          <p:cNvGrpSpPr/>
          <p:nvPr/>
        </p:nvGrpSpPr>
        <p:grpSpPr>
          <a:xfrm>
            <a:off x="4624656" y="734025"/>
            <a:ext cx="2024548" cy="1321096"/>
            <a:chOff x="4624656" y="734025"/>
            <a:chExt cx="2024548" cy="1321096"/>
          </a:xfrm>
        </p:grpSpPr>
        <p:sp>
          <p:nvSpPr>
            <p:cNvPr id="26" name="矩形 25"/>
            <p:cNvSpPr/>
            <p:nvPr/>
          </p:nvSpPr>
          <p:spPr>
            <a:xfrm>
              <a:off x="5389204" y="734025"/>
              <a:ext cx="1260000" cy="430887"/>
            </a:xfrm>
            <a:prstGeom prst="rect">
              <a:avLst/>
            </a:prstGeom>
            <a:ln>
              <a:solidFill>
                <a:srgbClr val="5C307D"/>
              </a:solidFill>
              <a:prstDash val="dash"/>
            </a:ln>
          </p:spPr>
          <p:txBody>
            <a:bodyPr wrap="square">
              <a:spAutoFit/>
            </a:bodyPr>
            <a:lstStyle/>
            <a:p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Pre(</a:t>
              </a:r>
              <a:r>
                <a:rPr lang="zh-CN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∧</a:t>
              </a: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4" name="直接箭头连接符 33"/>
            <p:cNvCxnSpPr>
              <a:endCxn id="26" idx="1"/>
            </p:cNvCxnSpPr>
            <p:nvPr/>
          </p:nvCxnSpPr>
          <p:spPr>
            <a:xfrm flipV="1">
              <a:off x="4624656" y="949469"/>
              <a:ext cx="828000" cy="1105652"/>
            </a:xfrm>
            <a:prstGeom prst="straightConnector1">
              <a:avLst/>
            </a:prstGeom>
            <a:ln w="25400">
              <a:solidFill>
                <a:srgbClr val="B42D2D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94"/>
          <p:cNvGrpSpPr/>
          <p:nvPr/>
        </p:nvGrpSpPr>
        <p:grpSpPr>
          <a:xfrm>
            <a:off x="4742495" y="1597334"/>
            <a:ext cx="3017705" cy="1954381"/>
            <a:chOff x="4742495" y="1597334"/>
            <a:chExt cx="3017705" cy="1954381"/>
          </a:xfrm>
        </p:grpSpPr>
        <p:sp>
          <p:nvSpPr>
            <p:cNvPr id="27" name="矩形 26"/>
            <p:cNvSpPr/>
            <p:nvPr/>
          </p:nvSpPr>
          <p:spPr>
            <a:xfrm>
              <a:off x="5420200" y="1597334"/>
              <a:ext cx="2340000" cy="1954381"/>
            </a:xfrm>
            <a:prstGeom prst="rect">
              <a:avLst/>
            </a:prstGeom>
            <a:ln>
              <a:solidFill>
                <a:srgbClr val="5C307D"/>
              </a:solidFill>
              <a:prstDash val="dash"/>
            </a:ln>
          </p:spPr>
          <p:txBody>
            <a:bodyPr wrap="square">
              <a:spAutoFit/>
            </a:bodyPr>
            <a:lstStyle/>
            <a:p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Pre(</a:t>
              </a:r>
              <a:r>
                <a:rPr lang="zh-CN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D)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200" dirty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</a:t>
              </a:r>
              <a:r>
                <a:rPr lang="zh-CN" altLang="en-US" sz="2200" dirty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（</a:t>
              </a:r>
              <a:r>
                <a:rPr lang="en-US" altLang="zh-CN" sz="2200" dirty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200" dirty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）</a:t>
              </a:r>
              <a:r>
                <a:rPr lang="en-US" altLang="zh-CN" sz="2200" dirty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    </a:t>
              </a:r>
              <a:endParaRPr lang="zh-CN" altLang="zh-CN" sz="22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Pre(D-&gt;</a:t>
              </a:r>
              <a:r>
                <a:rPr lang="en-US" altLang="zh-CN" sz="2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lchild</a:t>
              </a: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);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1" name="直接箭头连接符 40"/>
            <p:cNvCxnSpPr/>
            <p:nvPr/>
          </p:nvCxnSpPr>
          <p:spPr>
            <a:xfrm flipV="1">
              <a:off x="4742495" y="1826654"/>
              <a:ext cx="773391" cy="756000"/>
            </a:xfrm>
            <a:prstGeom prst="straightConnector1">
              <a:avLst/>
            </a:prstGeom>
            <a:ln w="25400">
              <a:solidFill>
                <a:srgbClr val="B42D2D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" name="直接箭头连接符 38"/>
          <p:cNvCxnSpPr/>
          <p:nvPr/>
        </p:nvCxnSpPr>
        <p:spPr>
          <a:xfrm flipH="1">
            <a:off x="4968240" y="1164912"/>
            <a:ext cx="796109" cy="1072981"/>
          </a:xfrm>
          <a:prstGeom prst="straightConnector1">
            <a:avLst/>
          </a:prstGeom>
          <a:ln w="25400">
            <a:solidFill>
              <a:srgbClr val="285A3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95"/>
          <p:cNvGrpSpPr/>
          <p:nvPr/>
        </p:nvGrpSpPr>
        <p:grpSpPr>
          <a:xfrm>
            <a:off x="7315212" y="2027913"/>
            <a:ext cx="1799619" cy="595951"/>
            <a:chOff x="7315212" y="2027913"/>
            <a:chExt cx="1799619" cy="595951"/>
          </a:xfrm>
        </p:grpSpPr>
        <p:sp>
          <p:nvSpPr>
            <p:cNvPr id="28" name="矩形 27"/>
            <p:cNvSpPr/>
            <p:nvPr/>
          </p:nvSpPr>
          <p:spPr>
            <a:xfrm>
              <a:off x="7854831" y="2027913"/>
              <a:ext cx="1260000" cy="430887"/>
            </a:xfrm>
            <a:prstGeom prst="rect">
              <a:avLst/>
            </a:prstGeom>
            <a:ln>
              <a:solidFill>
                <a:srgbClr val="5C307D"/>
              </a:solidFill>
              <a:prstDash val="dash"/>
            </a:ln>
          </p:spPr>
          <p:txBody>
            <a:bodyPr wrap="square">
              <a:spAutoFit/>
            </a:bodyPr>
            <a:lstStyle/>
            <a:p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Pre(</a:t>
              </a:r>
              <a:r>
                <a:rPr lang="zh-CN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∧</a:t>
              </a: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5" name="直接箭头连接符 44"/>
            <p:cNvCxnSpPr/>
            <p:nvPr/>
          </p:nvCxnSpPr>
          <p:spPr>
            <a:xfrm flipV="1">
              <a:off x="7315212" y="2245864"/>
              <a:ext cx="641007" cy="378000"/>
            </a:xfrm>
            <a:prstGeom prst="straightConnector1">
              <a:avLst/>
            </a:prstGeom>
            <a:ln w="25400">
              <a:solidFill>
                <a:srgbClr val="B42D2D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98"/>
          <p:cNvGrpSpPr/>
          <p:nvPr/>
        </p:nvGrpSpPr>
        <p:grpSpPr>
          <a:xfrm>
            <a:off x="7213823" y="2621726"/>
            <a:ext cx="1901008" cy="490874"/>
            <a:chOff x="7213823" y="2621726"/>
            <a:chExt cx="1901008" cy="490874"/>
          </a:xfrm>
        </p:grpSpPr>
        <p:sp>
          <p:nvSpPr>
            <p:cNvPr id="29" name="矩形 28"/>
            <p:cNvSpPr/>
            <p:nvPr/>
          </p:nvSpPr>
          <p:spPr>
            <a:xfrm>
              <a:off x="7854831" y="2621726"/>
              <a:ext cx="1260000" cy="430887"/>
            </a:xfrm>
            <a:prstGeom prst="rect">
              <a:avLst/>
            </a:prstGeom>
            <a:ln>
              <a:solidFill>
                <a:srgbClr val="5C307D"/>
              </a:solidFill>
              <a:prstDash val="dash"/>
            </a:ln>
          </p:spPr>
          <p:txBody>
            <a:bodyPr wrap="square">
              <a:spAutoFit/>
            </a:bodyPr>
            <a:lstStyle/>
            <a:p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Pre(</a:t>
              </a:r>
              <a:r>
                <a:rPr lang="zh-CN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∧</a:t>
              </a: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6" name="直接箭头连接符 45"/>
            <p:cNvCxnSpPr>
              <a:endCxn id="29" idx="1"/>
            </p:cNvCxnSpPr>
            <p:nvPr/>
          </p:nvCxnSpPr>
          <p:spPr>
            <a:xfrm flipV="1">
              <a:off x="7213823" y="2837170"/>
              <a:ext cx="641008" cy="275430"/>
            </a:xfrm>
            <a:prstGeom prst="straightConnector1">
              <a:avLst/>
            </a:prstGeom>
            <a:ln w="25400">
              <a:solidFill>
                <a:srgbClr val="B42D2D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直接箭头连接符 46"/>
          <p:cNvCxnSpPr/>
          <p:nvPr/>
        </p:nvCxnSpPr>
        <p:spPr>
          <a:xfrm flipH="1">
            <a:off x="7488349" y="2458799"/>
            <a:ext cx="792000" cy="396000"/>
          </a:xfrm>
          <a:prstGeom prst="straightConnector1">
            <a:avLst/>
          </a:prstGeom>
          <a:ln w="25400">
            <a:solidFill>
              <a:srgbClr val="285A3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 flipH="1">
            <a:off x="7488349" y="3067853"/>
            <a:ext cx="792000" cy="180000"/>
          </a:xfrm>
          <a:prstGeom prst="straightConnector1">
            <a:avLst/>
          </a:prstGeom>
          <a:ln w="25400">
            <a:solidFill>
              <a:srgbClr val="285A3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 flipH="1" flipV="1">
            <a:off x="4970923" y="2647984"/>
            <a:ext cx="1174271" cy="929232"/>
          </a:xfrm>
          <a:prstGeom prst="straightConnector1">
            <a:avLst/>
          </a:prstGeom>
          <a:ln w="25400">
            <a:solidFill>
              <a:srgbClr val="285A3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 flipH="1">
            <a:off x="2562750" y="2986690"/>
            <a:ext cx="1172342" cy="369163"/>
          </a:xfrm>
          <a:prstGeom prst="straightConnector1">
            <a:avLst/>
          </a:prstGeom>
          <a:ln w="25400">
            <a:solidFill>
              <a:srgbClr val="285A3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矩形 90"/>
          <p:cNvSpPr/>
          <p:nvPr/>
        </p:nvSpPr>
        <p:spPr>
          <a:xfrm>
            <a:off x="3209221" y="2424852"/>
            <a:ext cx="1919969" cy="430887"/>
          </a:xfrm>
          <a:prstGeom prst="rect">
            <a:avLst/>
          </a:prstGeom>
          <a:ln>
            <a:noFill/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Pre(B-&gt;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rchild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5703978" y="2968428"/>
            <a:ext cx="1962217" cy="430887"/>
          </a:xfrm>
          <a:prstGeom prst="rect">
            <a:avLst/>
          </a:prstGeom>
          <a:ln>
            <a:noFill/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Pre(D-&gt;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rchild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组合 3"/>
          <p:cNvGrpSpPr/>
          <p:nvPr/>
        </p:nvGrpSpPr>
        <p:grpSpPr>
          <a:xfrm>
            <a:off x="638168" y="5228502"/>
            <a:ext cx="6728261" cy="523220"/>
            <a:chOff x="638168" y="5228502"/>
            <a:chExt cx="6728261" cy="523220"/>
          </a:xfrm>
        </p:grpSpPr>
        <p:sp>
          <p:nvSpPr>
            <p:cNvPr id="42" name="Freeform 84"/>
            <p:cNvSpPr/>
            <p:nvPr/>
          </p:nvSpPr>
          <p:spPr bwMode="auto">
            <a:xfrm>
              <a:off x="638168" y="5294281"/>
              <a:ext cx="432000" cy="360000"/>
            </a:xfrm>
            <a:custGeom>
              <a:avLst/>
              <a:gdLst>
                <a:gd name="T0" fmla="*/ 180 w 202"/>
                <a:gd name="T1" fmla="*/ 16 h 171"/>
                <a:gd name="T2" fmla="*/ 140 w 202"/>
                <a:gd name="T3" fmla="*/ 0 h 171"/>
                <a:gd name="T4" fmla="*/ 100 w 202"/>
                <a:gd name="T5" fmla="*/ 16 h 171"/>
                <a:gd name="T6" fmla="*/ 51 w 202"/>
                <a:gd name="T7" fmla="*/ 66 h 171"/>
                <a:gd name="T8" fmla="*/ 17 w 202"/>
                <a:gd name="T9" fmla="*/ 100 h 171"/>
                <a:gd name="T10" fmla="*/ 17 w 202"/>
                <a:gd name="T11" fmla="*/ 159 h 171"/>
                <a:gd name="T12" fmla="*/ 46 w 202"/>
                <a:gd name="T13" fmla="*/ 171 h 171"/>
                <a:gd name="T14" fmla="*/ 76 w 202"/>
                <a:gd name="T15" fmla="*/ 158 h 171"/>
                <a:gd name="T16" fmla="*/ 138 w 202"/>
                <a:gd name="T17" fmla="*/ 96 h 171"/>
                <a:gd name="T18" fmla="*/ 138 w 202"/>
                <a:gd name="T19" fmla="*/ 96 h 171"/>
                <a:gd name="T20" fmla="*/ 160 w 202"/>
                <a:gd name="T21" fmla="*/ 75 h 171"/>
                <a:gd name="T22" fmla="*/ 168 w 202"/>
                <a:gd name="T23" fmla="*/ 54 h 171"/>
                <a:gd name="T24" fmla="*/ 160 w 202"/>
                <a:gd name="T25" fmla="*/ 33 h 171"/>
                <a:gd name="T26" fmla="*/ 118 w 202"/>
                <a:gd name="T27" fmla="*/ 34 h 171"/>
                <a:gd name="T28" fmla="*/ 43 w 202"/>
                <a:gd name="T29" fmla="*/ 109 h 171"/>
                <a:gd name="T30" fmla="*/ 43 w 202"/>
                <a:gd name="T31" fmla="*/ 117 h 171"/>
                <a:gd name="T32" fmla="*/ 47 w 202"/>
                <a:gd name="T33" fmla="*/ 119 h 171"/>
                <a:gd name="T34" fmla="*/ 51 w 202"/>
                <a:gd name="T35" fmla="*/ 117 h 171"/>
                <a:gd name="T36" fmla="*/ 127 w 202"/>
                <a:gd name="T37" fmla="*/ 42 h 171"/>
                <a:gd name="T38" fmla="*/ 152 w 202"/>
                <a:gd name="T39" fmla="*/ 41 h 171"/>
                <a:gd name="T40" fmla="*/ 157 w 202"/>
                <a:gd name="T41" fmla="*/ 54 h 171"/>
                <a:gd name="T42" fmla="*/ 151 w 202"/>
                <a:gd name="T43" fmla="*/ 67 h 171"/>
                <a:gd name="T44" fmla="*/ 129 w 202"/>
                <a:gd name="T45" fmla="*/ 89 h 171"/>
                <a:gd name="T46" fmla="*/ 129 w 202"/>
                <a:gd name="T47" fmla="*/ 89 h 171"/>
                <a:gd name="T48" fmla="*/ 68 w 202"/>
                <a:gd name="T49" fmla="*/ 150 h 171"/>
                <a:gd name="T50" fmla="*/ 25 w 202"/>
                <a:gd name="T51" fmla="*/ 151 h 171"/>
                <a:gd name="T52" fmla="*/ 25 w 202"/>
                <a:gd name="T53" fmla="*/ 108 h 171"/>
                <a:gd name="T54" fmla="*/ 29 w 202"/>
                <a:gd name="T55" fmla="*/ 104 h 171"/>
                <a:gd name="T56" fmla="*/ 29 w 202"/>
                <a:gd name="T57" fmla="*/ 104 h 171"/>
                <a:gd name="T58" fmla="*/ 109 w 202"/>
                <a:gd name="T59" fmla="*/ 25 h 171"/>
                <a:gd name="T60" fmla="*/ 140 w 202"/>
                <a:gd name="T61" fmla="*/ 11 h 171"/>
                <a:gd name="T62" fmla="*/ 172 w 202"/>
                <a:gd name="T63" fmla="*/ 24 h 171"/>
                <a:gd name="T64" fmla="*/ 172 w 202"/>
                <a:gd name="T65" fmla="*/ 88 h 171"/>
                <a:gd name="T66" fmla="*/ 106 w 202"/>
                <a:gd name="T67" fmla="*/ 153 h 171"/>
                <a:gd name="T68" fmla="*/ 106 w 202"/>
                <a:gd name="T69" fmla="*/ 161 h 171"/>
                <a:gd name="T70" fmla="*/ 110 w 202"/>
                <a:gd name="T71" fmla="*/ 163 h 171"/>
                <a:gd name="T72" fmla="*/ 115 w 202"/>
                <a:gd name="T73" fmla="*/ 161 h 171"/>
                <a:gd name="T74" fmla="*/ 180 w 202"/>
                <a:gd name="T75" fmla="*/ 96 h 171"/>
                <a:gd name="T76" fmla="*/ 180 w 202"/>
                <a:gd name="T77" fmla="*/ 16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02" h="171">
                  <a:moveTo>
                    <a:pt x="180" y="16"/>
                  </a:moveTo>
                  <a:cubicBezTo>
                    <a:pt x="170" y="5"/>
                    <a:pt x="155" y="0"/>
                    <a:pt x="140" y="0"/>
                  </a:cubicBezTo>
                  <a:cubicBezTo>
                    <a:pt x="125" y="0"/>
                    <a:pt x="111" y="6"/>
                    <a:pt x="100" y="16"/>
                  </a:cubicBezTo>
                  <a:cubicBezTo>
                    <a:pt x="51" y="66"/>
                    <a:pt x="51" y="66"/>
                    <a:pt x="51" y="66"/>
                  </a:cubicBezTo>
                  <a:cubicBezTo>
                    <a:pt x="17" y="100"/>
                    <a:pt x="17" y="100"/>
                    <a:pt x="17" y="100"/>
                  </a:cubicBezTo>
                  <a:cubicBezTo>
                    <a:pt x="1" y="116"/>
                    <a:pt x="0" y="143"/>
                    <a:pt x="17" y="159"/>
                  </a:cubicBezTo>
                  <a:cubicBezTo>
                    <a:pt x="25" y="167"/>
                    <a:pt x="35" y="171"/>
                    <a:pt x="46" y="171"/>
                  </a:cubicBezTo>
                  <a:cubicBezTo>
                    <a:pt x="57" y="171"/>
                    <a:pt x="68" y="167"/>
                    <a:pt x="76" y="158"/>
                  </a:cubicBezTo>
                  <a:cubicBezTo>
                    <a:pt x="138" y="96"/>
                    <a:pt x="138" y="96"/>
                    <a:pt x="138" y="96"/>
                  </a:cubicBezTo>
                  <a:cubicBezTo>
                    <a:pt x="138" y="96"/>
                    <a:pt x="138" y="96"/>
                    <a:pt x="138" y="96"/>
                  </a:cubicBezTo>
                  <a:cubicBezTo>
                    <a:pt x="160" y="75"/>
                    <a:pt x="160" y="75"/>
                    <a:pt x="160" y="75"/>
                  </a:cubicBezTo>
                  <a:cubicBezTo>
                    <a:pt x="165" y="69"/>
                    <a:pt x="168" y="62"/>
                    <a:pt x="168" y="54"/>
                  </a:cubicBezTo>
                  <a:cubicBezTo>
                    <a:pt x="169" y="46"/>
                    <a:pt x="166" y="39"/>
                    <a:pt x="160" y="33"/>
                  </a:cubicBezTo>
                  <a:cubicBezTo>
                    <a:pt x="149" y="22"/>
                    <a:pt x="130" y="22"/>
                    <a:pt x="118" y="34"/>
                  </a:cubicBezTo>
                  <a:cubicBezTo>
                    <a:pt x="43" y="109"/>
                    <a:pt x="43" y="109"/>
                    <a:pt x="43" y="109"/>
                  </a:cubicBezTo>
                  <a:cubicBezTo>
                    <a:pt x="41" y="111"/>
                    <a:pt x="41" y="115"/>
                    <a:pt x="43" y="117"/>
                  </a:cubicBezTo>
                  <a:cubicBezTo>
                    <a:pt x="44" y="118"/>
                    <a:pt x="46" y="119"/>
                    <a:pt x="47" y="119"/>
                  </a:cubicBezTo>
                  <a:cubicBezTo>
                    <a:pt x="49" y="119"/>
                    <a:pt x="50" y="118"/>
                    <a:pt x="51" y="117"/>
                  </a:cubicBezTo>
                  <a:cubicBezTo>
                    <a:pt x="127" y="42"/>
                    <a:pt x="127" y="42"/>
                    <a:pt x="127" y="42"/>
                  </a:cubicBezTo>
                  <a:cubicBezTo>
                    <a:pt x="134" y="35"/>
                    <a:pt x="145" y="35"/>
                    <a:pt x="152" y="41"/>
                  </a:cubicBezTo>
                  <a:cubicBezTo>
                    <a:pt x="155" y="45"/>
                    <a:pt x="157" y="49"/>
                    <a:pt x="157" y="54"/>
                  </a:cubicBezTo>
                  <a:cubicBezTo>
                    <a:pt x="157" y="59"/>
                    <a:pt x="155" y="63"/>
                    <a:pt x="151" y="67"/>
                  </a:cubicBezTo>
                  <a:cubicBezTo>
                    <a:pt x="129" y="89"/>
                    <a:pt x="129" y="89"/>
                    <a:pt x="129" y="89"/>
                  </a:cubicBezTo>
                  <a:cubicBezTo>
                    <a:pt x="129" y="89"/>
                    <a:pt x="129" y="89"/>
                    <a:pt x="129" y="89"/>
                  </a:cubicBezTo>
                  <a:cubicBezTo>
                    <a:pt x="68" y="150"/>
                    <a:pt x="68" y="150"/>
                    <a:pt x="68" y="150"/>
                  </a:cubicBezTo>
                  <a:cubicBezTo>
                    <a:pt x="56" y="162"/>
                    <a:pt x="36" y="163"/>
                    <a:pt x="25" y="151"/>
                  </a:cubicBezTo>
                  <a:cubicBezTo>
                    <a:pt x="13" y="139"/>
                    <a:pt x="13" y="120"/>
                    <a:pt x="25" y="108"/>
                  </a:cubicBezTo>
                  <a:cubicBezTo>
                    <a:pt x="29" y="104"/>
                    <a:pt x="29" y="104"/>
                    <a:pt x="29" y="104"/>
                  </a:cubicBezTo>
                  <a:cubicBezTo>
                    <a:pt x="29" y="104"/>
                    <a:pt x="29" y="104"/>
                    <a:pt x="29" y="104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17" y="16"/>
                    <a:pt x="128" y="11"/>
                    <a:pt x="140" y="11"/>
                  </a:cubicBezTo>
                  <a:cubicBezTo>
                    <a:pt x="152" y="11"/>
                    <a:pt x="164" y="16"/>
                    <a:pt x="172" y="24"/>
                  </a:cubicBezTo>
                  <a:cubicBezTo>
                    <a:pt x="190" y="42"/>
                    <a:pt x="189" y="70"/>
                    <a:pt x="172" y="88"/>
                  </a:cubicBezTo>
                  <a:cubicBezTo>
                    <a:pt x="106" y="153"/>
                    <a:pt x="106" y="153"/>
                    <a:pt x="106" y="153"/>
                  </a:cubicBezTo>
                  <a:cubicBezTo>
                    <a:pt x="104" y="155"/>
                    <a:pt x="104" y="159"/>
                    <a:pt x="106" y="161"/>
                  </a:cubicBezTo>
                  <a:cubicBezTo>
                    <a:pt x="108" y="162"/>
                    <a:pt x="109" y="163"/>
                    <a:pt x="110" y="163"/>
                  </a:cubicBezTo>
                  <a:cubicBezTo>
                    <a:pt x="112" y="163"/>
                    <a:pt x="113" y="162"/>
                    <a:pt x="115" y="161"/>
                  </a:cubicBezTo>
                  <a:cubicBezTo>
                    <a:pt x="180" y="96"/>
                    <a:pt x="180" y="96"/>
                    <a:pt x="180" y="96"/>
                  </a:cubicBezTo>
                  <a:cubicBezTo>
                    <a:pt x="202" y="74"/>
                    <a:pt x="202" y="38"/>
                    <a:pt x="180" y="16"/>
                  </a:cubicBezTo>
                  <a:close/>
                </a:path>
              </a:pathLst>
            </a:custGeom>
            <a:solidFill>
              <a:srgbClr val="5A327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1206688" y="5228502"/>
              <a:ext cx="61597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B42D2D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约定</a:t>
              </a:r>
              <a:r>
                <a:rPr lang="zh-CN" altLang="en-US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：</a:t>
              </a:r>
              <a:r>
                <a:rPr lang="en-US" altLang="zh-CN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*A </a:t>
              </a:r>
              <a:r>
                <a:rPr lang="zh-CN" altLang="en-US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表示根指针指向结点 </a:t>
              </a:r>
              <a:r>
                <a:rPr lang="en-US" altLang="zh-CN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endParaRPr lang="zh-CN" altLang="en-US" sz="28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4" name="矩形 43"/>
          <p:cNvSpPr/>
          <p:nvPr/>
        </p:nvSpPr>
        <p:spPr>
          <a:xfrm>
            <a:off x="8382000" y="3978435"/>
            <a:ext cx="3429000" cy="2123658"/>
          </a:xfrm>
          <a:prstGeom prst="rect">
            <a:avLst/>
          </a:prstGeom>
          <a:ln>
            <a:solidFill>
              <a:srgbClr val="5C307D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return; 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{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200" dirty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</a:t>
            </a:r>
            <a:r>
              <a:rPr lang="en-US" altLang="zh-CN" sz="22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 err="1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en-US" altLang="zh-CN" sz="22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-&gt;data;    </a:t>
            </a:r>
            <a:endParaRPr lang="zh-CN" altLang="zh-CN" sz="2200" dirty="0">
              <a:solidFill>
                <a:srgbClr val="B4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200" dirty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PreOrder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lchild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  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200" dirty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③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PreOrder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rchild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    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ounded Rectangle 10"/>
          <p:cNvSpPr/>
          <p:nvPr/>
        </p:nvSpPr>
        <p:spPr>
          <a:xfrm>
            <a:off x="542923" y="100964"/>
            <a:ext cx="3672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35528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二叉树的前序遍历</a:t>
            </a:r>
          </a:p>
        </p:txBody>
      </p:sp>
    </p:spTree>
    <p:extLst>
      <p:ext uri="{BB962C8B-B14F-4D97-AF65-F5344CB8AC3E}">
        <p14:creationId xmlns:p14="http://schemas.microsoft.com/office/powerpoint/2010/main" val="1936944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ldLvl="0" animBg="1"/>
      <p:bldP spid="91" grpId="0"/>
      <p:bldP spid="9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9519135" y="785349"/>
            <a:ext cx="2029024" cy="2204532"/>
            <a:chOff x="5203030" y="646360"/>
            <a:chExt cx="2029024" cy="2204532"/>
          </a:xfrm>
          <a:solidFill>
            <a:srgbClr val="B4B4BE"/>
          </a:solidFill>
        </p:grpSpPr>
        <p:sp>
          <p:nvSpPr>
            <p:cNvPr id="10" name="Line 25"/>
            <p:cNvSpPr>
              <a:spLocks noChangeShapeType="1"/>
            </p:cNvSpPr>
            <p:nvPr/>
          </p:nvSpPr>
          <p:spPr bwMode="auto">
            <a:xfrm flipH="1">
              <a:off x="5566884" y="982910"/>
              <a:ext cx="511175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1" name="Line 26"/>
            <p:cNvSpPr>
              <a:spLocks noChangeShapeType="1"/>
            </p:cNvSpPr>
            <p:nvPr/>
          </p:nvSpPr>
          <p:spPr bwMode="auto">
            <a:xfrm>
              <a:off x="6451122" y="982909"/>
              <a:ext cx="432000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3" name="Line 28"/>
            <p:cNvSpPr>
              <a:spLocks noChangeShapeType="1"/>
            </p:cNvSpPr>
            <p:nvPr/>
          </p:nvSpPr>
          <p:spPr bwMode="auto">
            <a:xfrm>
              <a:off x="5536404" y="1848930"/>
              <a:ext cx="324000" cy="612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6" name="Oval 37"/>
            <p:cNvSpPr>
              <a:spLocks noChangeArrowheads="1"/>
            </p:cNvSpPr>
            <p:nvPr/>
          </p:nvSpPr>
          <p:spPr bwMode="auto">
            <a:xfrm>
              <a:off x="6058375" y="646360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Oval 37"/>
            <p:cNvSpPr>
              <a:spLocks noChangeArrowheads="1"/>
            </p:cNvSpPr>
            <p:nvPr/>
          </p:nvSpPr>
          <p:spPr bwMode="auto">
            <a:xfrm>
              <a:off x="6800054" y="1462651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Oval 37"/>
            <p:cNvSpPr>
              <a:spLocks noChangeArrowheads="1"/>
            </p:cNvSpPr>
            <p:nvPr/>
          </p:nvSpPr>
          <p:spPr bwMode="auto">
            <a:xfrm>
              <a:off x="5203030" y="1462651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Oval 37"/>
            <p:cNvSpPr>
              <a:spLocks noChangeArrowheads="1"/>
            </p:cNvSpPr>
            <p:nvPr/>
          </p:nvSpPr>
          <p:spPr bwMode="auto">
            <a:xfrm>
              <a:off x="5757005" y="241889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4" name="矩形 23"/>
          <p:cNvSpPr/>
          <p:nvPr/>
        </p:nvSpPr>
        <p:spPr>
          <a:xfrm>
            <a:off x="523933" y="1887615"/>
            <a:ext cx="2340000" cy="2462213"/>
          </a:xfrm>
          <a:prstGeom prst="rect">
            <a:avLst/>
          </a:prstGeom>
          <a:ln>
            <a:solidFill>
              <a:srgbClr val="5C307D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Pre(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2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22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2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2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   </a:t>
            </a:r>
            <a:endParaRPr lang="zh-CN" altLang="zh-CN" sz="2200" dirty="0">
              <a:solidFill>
                <a:srgbClr val="B4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Pre(A-&gt;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lchild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  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组合 100"/>
          <p:cNvGrpSpPr/>
          <p:nvPr/>
        </p:nvGrpSpPr>
        <p:grpSpPr>
          <a:xfrm>
            <a:off x="2123268" y="1017115"/>
            <a:ext cx="3168228" cy="2185453"/>
            <a:chOff x="2123268" y="1017115"/>
            <a:chExt cx="3168228" cy="2185453"/>
          </a:xfrm>
        </p:grpSpPr>
        <p:sp>
          <p:nvSpPr>
            <p:cNvPr id="25" name="矩形 24"/>
            <p:cNvSpPr/>
            <p:nvPr/>
          </p:nvSpPr>
          <p:spPr>
            <a:xfrm>
              <a:off x="2951496" y="1017115"/>
              <a:ext cx="2340000" cy="1954381"/>
            </a:xfrm>
            <a:prstGeom prst="rect">
              <a:avLst/>
            </a:prstGeom>
            <a:ln>
              <a:solidFill>
                <a:srgbClr val="5C307D"/>
              </a:solidFill>
              <a:prstDash val="dash"/>
            </a:ln>
          </p:spPr>
          <p:txBody>
            <a:bodyPr wrap="square">
              <a:spAutoFit/>
            </a:bodyPr>
            <a:lstStyle/>
            <a:p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Pre(</a:t>
              </a:r>
              <a:r>
                <a:rPr lang="zh-CN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B)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200" dirty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</a:t>
              </a:r>
              <a:r>
                <a:rPr lang="zh-CN" altLang="en-US" sz="2200" dirty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（</a:t>
              </a:r>
              <a:r>
                <a:rPr lang="en-US" altLang="zh-CN" sz="2200" dirty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en-US" sz="2200" dirty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）</a:t>
              </a:r>
              <a:r>
                <a:rPr lang="en-US" altLang="zh-CN" sz="2200" dirty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    </a:t>
              </a:r>
              <a:endParaRPr lang="zh-CN" altLang="zh-CN" sz="22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Pre(B-&gt;</a:t>
              </a:r>
              <a:r>
                <a:rPr lang="en-US" altLang="zh-CN" sz="2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lchild</a:t>
              </a: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);   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" name="直接箭头连接符 4"/>
            <p:cNvCxnSpPr/>
            <p:nvPr/>
          </p:nvCxnSpPr>
          <p:spPr>
            <a:xfrm flipV="1">
              <a:off x="2123268" y="1281653"/>
              <a:ext cx="900000" cy="1920915"/>
            </a:xfrm>
            <a:prstGeom prst="straightConnector1">
              <a:avLst/>
            </a:prstGeom>
            <a:ln w="25400">
              <a:solidFill>
                <a:srgbClr val="B42D2D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91"/>
          <p:cNvGrpSpPr/>
          <p:nvPr/>
        </p:nvGrpSpPr>
        <p:grpSpPr>
          <a:xfrm>
            <a:off x="4624656" y="734025"/>
            <a:ext cx="2024548" cy="1321096"/>
            <a:chOff x="4624656" y="734025"/>
            <a:chExt cx="2024548" cy="1321096"/>
          </a:xfrm>
        </p:grpSpPr>
        <p:sp>
          <p:nvSpPr>
            <p:cNvPr id="26" name="矩形 25"/>
            <p:cNvSpPr/>
            <p:nvPr/>
          </p:nvSpPr>
          <p:spPr>
            <a:xfrm>
              <a:off x="5389204" y="734025"/>
              <a:ext cx="1260000" cy="430887"/>
            </a:xfrm>
            <a:prstGeom prst="rect">
              <a:avLst/>
            </a:prstGeom>
            <a:ln>
              <a:solidFill>
                <a:srgbClr val="5C307D"/>
              </a:solidFill>
              <a:prstDash val="dash"/>
            </a:ln>
          </p:spPr>
          <p:txBody>
            <a:bodyPr wrap="square">
              <a:spAutoFit/>
            </a:bodyPr>
            <a:lstStyle/>
            <a:p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Pre(</a:t>
              </a:r>
              <a:r>
                <a:rPr lang="zh-CN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∧</a:t>
              </a: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4" name="直接箭头连接符 33"/>
            <p:cNvCxnSpPr>
              <a:endCxn id="26" idx="1"/>
            </p:cNvCxnSpPr>
            <p:nvPr/>
          </p:nvCxnSpPr>
          <p:spPr>
            <a:xfrm flipV="1">
              <a:off x="4624656" y="949469"/>
              <a:ext cx="828000" cy="1105652"/>
            </a:xfrm>
            <a:prstGeom prst="straightConnector1">
              <a:avLst/>
            </a:prstGeom>
            <a:ln w="25400">
              <a:solidFill>
                <a:srgbClr val="B42D2D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94"/>
          <p:cNvGrpSpPr/>
          <p:nvPr/>
        </p:nvGrpSpPr>
        <p:grpSpPr>
          <a:xfrm>
            <a:off x="4742495" y="1597334"/>
            <a:ext cx="3017705" cy="1954381"/>
            <a:chOff x="4742495" y="1597334"/>
            <a:chExt cx="3017705" cy="1954381"/>
          </a:xfrm>
        </p:grpSpPr>
        <p:sp>
          <p:nvSpPr>
            <p:cNvPr id="27" name="矩形 26"/>
            <p:cNvSpPr/>
            <p:nvPr/>
          </p:nvSpPr>
          <p:spPr>
            <a:xfrm>
              <a:off x="5420200" y="1597334"/>
              <a:ext cx="2340000" cy="1954381"/>
            </a:xfrm>
            <a:prstGeom prst="rect">
              <a:avLst/>
            </a:prstGeom>
            <a:ln>
              <a:solidFill>
                <a:srgbClr val="5C307D"/>
              </a:solidFill>
              <a:prstDash val="dash"/>
            </a:ln>
          </p:spPr>
          <p:txBody>
            <a:bodyPr wrap="square">
              <a:spAutoFit/>
            </a:bodyPr>
            <a:lstStyle/>
            <a:p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Pre(</a:t>
              </a:r>
              <a:r>
                <a:rPr lang="zh-CN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D)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200" dirty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</a:t>
              </a:r>
              <a:r>
                <a:rPr lang="zh-CN" altLang="en-US" sz="2200" dirty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（</a:t>
              </a:r>
              <a:r>
                <a:rPr lang="en-US" altLang="zh-CN" sz="2200" dirty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200" dirty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）</a:t>
              </a:r>
              <a:r>
                <a:rPr lang="en-US" altLang="zh-CN" sz="2200" dirty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    </a:t>
              </a:r>
              <a:endParaRPr lang="zh-CN" altLang="zh-CN" sz="22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Pre(D-&gt;</a:t>
              </a:r>
              <a:r>
                <a:rPr lang="en-US" altLang="zh-CN" sz="2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lchild</a:t>
              </a: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);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1" name="直接箭头连接符 40"/>
            <p:cNvCxnSpPr/>
            <p:nvPr/>
          </p:nvCxnSpPr>
          <p:spPr>
            <a:xfrm flipV="1">
              <a:off x="4742495" y="1826654"/>
              <a:ext cx="773391" cy="756000"/>
            </a:xfrm>
            <a:prstGeom prst="straightConnector1">
              <a:avLst/>
            </a:prstGeom>
            <a:ln w="25400">
              <a:solidFill>
                <a:srgbClr val="B42D2D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" name="直接箭头连接符 38"/>
          <p:cNvCxnSpPr/>
          <p:nvPr/>
        </p:nvCxnSpPr>
        <p:spPr>
          <a:xfrm flipH="1">
            <a:off x="4968240" y="1164912"/>
            <a:ext cx="796109" cy="1072981"/>
          </a:xfrm>
          <a:prstGeom prst="straightConnector1">
            <a:avLst/>
          </a:prstGeom>
          <a:ln w="25400">
            <a:solidFill>
              <a:srgbClr val="285A3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95"/>
          <p:cNvGrpSpPr/>
          <p:nvPr/>
        </p:nvGrpSpPr>
        <p:grpSpPr>
          <a:xfrm>
            <a:off x="7315212" y="2027913"/>
            <a:ext cx="1799619" cy="595951"/>
            <a:chOff x="7315212" y="2027913"/>
            <a:chExt cx="1799619" cy="595951"/>
          </a:xfrm>
        </p:grpSpPr>
        <p:sp>
          <p:nvSpPr>
            <p:cNvPr id="28" name="矩形 27"/>
            <p:cNvSpPr/>
            <p:nvPr/>
          </p:nvSpPr>
          <p:spPr>
            <a:xfrm>
              <a:off x="7854831" y="2027913"/>
              <a:ext cx="1260000" cy="430887"/>
            </a:xfrm>
            <a:prstGeom prst="rect">
              <a:avLst/>
            </a:prstGeom>
            <a:ln>
              <a:solidFill>
                <a:srgbClr val="5C307D"/>
              </a:solidFill>
              <a:prstDash val="dash"/>
            </a:ln>
          </p:spPr>
          <p:txBody>
            <a:bodyPr wrap="square">
              <a:spAutoFit/>
            </a:bodyPr>
            <a:lstStyle/>
            <a:p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Pre(</a:t>
              </a:r>
              <a:r>
                <a:rPr lang="zh-CN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∧</a:t>
              </a: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5" name="直接箭头连接符 44"/>
            <p:cNvCxnSpPr/>
            <p:nvPr/>
          </p:nvCxnSpPr>
          <p:spPr>
            <a:xfrm flipV="1">
              <a:off x="7315212" y="2245864"/>
              <a:ext cx="641007" cy="378000"/>
            </a:xfrm>
            <a:prstGeom prst="straightConnector1">
              <a:avLst/>
            </a:prstGeom>
            <a:ln w="25400">
              <a:solidFill>
                <a:srgbClr val="B42D2D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98"/>
          <p:cNvGrpSpPr/>
          <p:nvPr/>
        </p:nvGrpSpPr>
        <p:grpSpPr>
          <a:xfrm>
            <a:off x="7213823" y="2621726"/>
            <a:ext cx="1901008" cy="490874"/>
            <a:chOff x="7213823" y="2621726"/>
            <a:chExt cx="1901008" cy="490874"/>
          </a:xfrm>
        </p:grpSpPr>
        <p:sp>
          <p:nvSpPr>
            <p:cNvPr id="29" name="矩形 28"/>
            <p:cNvSpPr/>
            <p:nvPr/>
          </p:nvSpPr>
          <p:spPr>
            <a:xfrm>
              <a:off x="7854831" y="2621726"/>
              <a:ext cx="1260000" cy="430887"/>
            </a:xfrm>
            <a:prstGeom prst="rect">
              <a:avLst/>
            </a:prstGeom>
            <a:ln>
              <a:solidFill>
                <a:srgbClr val="5C307D"/>
              </a:solidFill>
              <a:prstDash val="dash"/>
            </a:ln>
          </p:spPr>
          <p:txBody>
            <a:bodyPr wrap="square">
              <a:spAutoFit/>
            </a:bodyPr>
            <a:lstStyle/>
            <a:p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Pre(</a:t>
              </a:r>
              <a:r>
                <a:rPr lang="zh-CN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∧</a:t>
              </a: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6" name="直接箭头连接符 45"/>
            <p:cNvCxnSpPr>
              <a:endCxn id="29" idx="1"/>
            </p:cNvCxnSpPr>
            <p:nvPr/>
          </p:nvCxnSpPr>
          <p:spPr>
            <a:xfrm flipV="1">
              <a:off x="7213823" y="2837170"/>
              <a:ext cx="641008" cy="275430"/>
            </a:xfrm>
            <a:prstGeom prst="straightConnector1">
              <a:avLst/>
            </a:prstGeom>
            <a:ln w="25400">
              <a:solidFill>
                <a:srgbClr val="B42D2D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直接箭头连接符 46"/>
          <p:cNvCxnSpPr/>
          <p:nvPr/>
        </p:nvCxnSpPr>
        <p:spPr>
          <a:xfrm flipH="1">
            <a:off x="7488349" y="2458799"/>
            <a:ext cx="792000" cy="396000"/>
          </a:xfrm>
          <a:prstGeom prst="straightConnector1">
            <a:avLst/>
          </a:prstGeom>
          <a:ln w="25400">
            <a:solidFill>
              <a:srgbClr val="285A3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 flipH="1">
            <a:off x="7488349" y="3067853"/>
            <a:ext cx="792000" cy="180000"/>
          </a:xfrm>
          <a:prstGeom prst="straightConnector1">
            <a:avLst/>
          </a:prstGeom>
          <a:ln w="25400">
            <a:solidFill>
              <a:srgbClr val="285A3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 flipH="1" flipV="1">
            <a:off x="4970923" y="2647984"/>
            <a:ext cx="1174271" cy="929232"/>
          </a:xfrm>
          <a:prstGeom prst="straightConnector1">
            <a:avLst/>
          </a:prstGeom>
          <a:ln w="25400">
            <a:solidFill>
              <a:srgbClr val="285A3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 flipH="1">
            <a:off x="2562750" y="2986690"/>
            <a:ext cx="1172342" cy="369163"/>
          </a:xfrm>
          <a:prstGeom prst="straightConnector1">
            <a:avLst/>
          </a:prstGeom>
          <a:ln w="25400">
            <a:solidFill>
              <a:srgbClr val="285A3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矩形 90"/>
          <p:cNvSpPr/>
          <p:nvPr/>
        </p:nvSpPr>
        <p:spPr>
          <a:xfrm>
            <a:off x="3209221" y="2424852"/>
            <a:ext cx="1919969" cy="430887"/>
          </a:xfrm>
          <a:prstGeom prst="rect">
            <a:avLst/>
          </a:prstGeom>
          <a:ln>
            <a:noFill/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Pre(B-&gt;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rchild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5703978" y="2968428"/>
            <a:ext cx="1962217" cy="430887"/>
          </a:xfrm>
          <a:prstGeom prst="rect">
            <a:avLst/>
          </a:prstGeom>
          <a:ln>
            <a:noFill/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Pre(D-&gt;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rchild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组合 6"/>
          <p:cNvGrpSpPr/>
          <p:nvPr/>
        </p:nvGrpSpPr>
        <p:grpSpPr>
          <a:xfrm>
            <a:off x="4783439" y="3673046"/>
            <a:ext cx="1891059" cy="580453"/>
            <a:chOff x="4783439" y="3673046"/>
            <a:chExt cx="1891059" cy="580453"/>
          </a:xfrm>
        </p:grpSpPr>
        <p:sp>
          <p:nvSpPr>
            <p:cNvPr id="42" name="矩形 41"/>
            <p:cNvSpPr/>
            <p:nvPr/>
          </p:nvSpPr>
          <p:spPr>
            <a:xfrm>
              <a:off x="5414498" y="3673046"/>
              <a:ext cx="1260000" cy="430887"/>
            </a:xfrm>
            <a:prstGeom prst="rect">
              <a:avLst/>
            </a:prstGeom>
            <a:ln>
              <a:solidFill>
                <a:srgbClr val="5C307D"/>
              </a:solidFill>
              <a:prstDash val="dash"/>
            </a:ln>
          </p:spPr>
          <p:txBody>
            <a:bodyPr wrap="square">
              <a:spAutoFit/>
            </a:bodyPr>
            <a:lstStyle/>
            <a:p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Pre(</a:t>
              </a:r>
              <a:r>
                <a:rPr lang="zh-CN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∧</a:t>
              </a: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4" name="直接箭头连接符 43"/>
            <p:cNvCxnSpPr/>
            <p:nvPr/>
          </p:nvCxnSpPr>
          <p:spPr>
            <a:xfrm flipV="1">
              <a:off x="4783439" y="3875499"/>
              <a:ext cx="641007" cy="378000"/>
            </a:xfrm>
            <a:prstGeom prst="straightConnector1">
              <a:avLst/>
            </a:prstGeom>
            <a:ln w="25400">
              <a:solidFill>
                <a:srgbClr val="B42D2D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/>
          <p:cNvGrpSpPr/>
          <p:nvPr/>
        </p:nvGrpSpPr>
        <p:grpSpPr>
          <a:xfrm>
            <a:off x="4742495" y="4251361"/>
            <a:ext cx="1916505" cy="467443"/>
            <a:chOff x="4742495" y="4251361"/>
            <a:chExt cx="1916505" cy="467443"/>
          </a:xfrm>
        </p:grpSpPr>
        <p:sp>
          <p:nvSpPr>
            <p:cNvPr id="43" name="矩形 42"/>
            <p:cNvSpPr/>
            <p:nvPr/>
          </p:nvSpPr>
          <p:spPr>
            <a:xfrm>
              <a:off x="5399000" y="4251361"/>
              <a:ext cx="1260000" cy="430887"/>
            </a:xfrm>
            <a:prstGeom prst="rect">
              <a:avLst/>
            </a:prstGeom>
            <a:ln>
              <a:solidFill>
                <a:srgbClr val="5C307D"/>
              </a:solidFill>
              <a:prstDash val="dash"/>
            </a:ln>
          </p:spPr>
          <p:txBody>
            <a:bodyPr wrap="square">
              <a:spAutoFit/>
            </a:bodyPr>
            <a:lstStyle/>
            <a:p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Pre(</a:t>
              </a:r>
              <a:r>
                <a:rPr lang="zh-CN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∧</a:t>
              </a: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8" name="直接箭头连接符 47"/>
            <p:cNvCxnSpPr>
              <a:endCxn id="43" idx="1"/>
            </p:cNvCxnSpPr>
            <p:nvPr/>
          </p:nvCxnSpPr>
          <p:spPr>
            <a:xfrm flipV="1">
              <a:off x="4742495" y="4466804"/>
              <a:ext cx="656505" cy="252000"/>
            </a:xfrm>
            <a:prstGeom prst="straightConnector1">
              <a:avLst/>
            </a:prstGeom>
            <a:ln w="25400">
              <a:solidFill>
                <a:srgbClr val="B42D2D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0" name="直接箭头连接符 49"/>
          <p:cNvCxnSpPr/>
          <p:nvPr/>
        </p:nvCxnSpPr>
        <p:spPr>
          <a:xfrm flipH="1">
            <a:off x="4977696" y="4088435"/>
            <a:ext cx="828000" cy="378369"/>
          </a:xfrm>
          <a:prstGeom prst="straightConnector1">
            <a:avLst/>
          </a:prstGeom>
          <a:ln w="25400">
            <a:solidFill>
              <a:srgbClr val="285A3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 flipH="1">
            <a:off x="4962456" y="4682248"/>
            <a:ext cx="864000" cy="252000"/>
          </a:xfrm>
          <a:prstGeom prst="straightConnector1">
            <a:avLst/>
          </a:prstGeom>
          <a:ln w="25400">
            <a:solidFill>
              <a:srgbClr val="285A3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 flipH="1" flipV="1">
            <a:off x="2562750" y="4093306"/>
            <a:ext cx="1082196" cy="1063643"/>
          </a:xfrm>
          <a:prstGeom prst="straightConnector1">
            <a:avLst/>
          </a:prstGeom>
          <a:ln w="25400">
            <a:solidFill>
              <a:srgbClr val="285A3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5"/>
          <p:cNvGrpSpPr/>
          <p:nvPr/>
        </p:nvGrpSpPr>
        <p:grpSpPr>
          <a:xfrm>
            <a:off x="2183688" y="3202568"/>
            <a:ext cx="3112050" cy="1954381"/>
            <a:chOff x="2183688" y="3202568"/>
            <a:chExt cx="3112050" cy="1954381"/>
          </a:xfrm>
        </p:grpSpPr>
        <p:sp>
          <p:nvSpPr>
            <p:cNvPr id="40" name="矩形 39"/>
            <p:cNvSpPr/>
            <p:nvPr/>
          </p:nvSpPr>
          <p:spPr>
            <a:xfrm>
              <a:off x="2955738" y="3202568"/>
              <a:ext cx="2340000" cy="1954381"/>
            </a:xfrm>
            <a:prstGeom prst="rect">
              <a:avLst/>
            </a:prstGeom>
            <a:ln>
              <a:solidFill>
                <a:srgbClr val="5C307D"/>
              </a:solidFill>
              <a:prstDash val="dash"/>
            </a:ln>
          </p:spPr>
          <p:txBody>
            <a:bodyPr wrap="square">
              <a:spAutoFit/>
            </a:bodyPr>
            <a:lstStyle/>
            <a:p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Pre(</a:t>
              </a:r>
              <a:r>
                <a:rPr lang="zh-CN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C)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200" dirty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r>
                <a:rPr lang="zh-CN" altLang="en-US" sz="2200" dirty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（</a:t>
              </a:r>
              <a:r>
                <a:rPr lang="en-US" altLang="zh-CN" sz="2200" dirty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en-US" sz="2200" dirty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）</a:t>
              </a:r>
              <a:r>
                <a:rPr lang="en-US" altLang="zh-CN" sz="2200" dirty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    </a:t>
              </a:r>
              <a:endParaRPr lang="zh-CN" altLang="zh-CN" sz="22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Pre(C-&gt;</a:t>
              </a:r>
              <a:r>
                <a:rPr lang="en-US" altLang="zh-CN" sz="2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lchild</a:t>
              </a: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);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4" name="直接箭头连接符 53"/>
            <p:cNvCxnSpPr/>
            <p:nvPr/>
          </p:nvCxnSpPr>
          <p:spPr>
            <a:xfrm flipV="1">
              <a:off x="2183688" y="3431235"/>
              <a:ext cx="864000" cy="396000"/>
            </a:xfrm>
            <a:prstGeom prst="straightConnector1">
              <a:avLst/>
            </a:prstGeom>
            <a:ln w="25400">
              <a:solidFill>
                <a:srgbClr val="B42D2D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矩形 55"/>
          <p:cNvSpPr/>
          <p:nvPr/>
        </p:nvSpPr>
        <p:spPr>
          <a:xfrm>
            <a:off x="777185" y="3698475"/>
            <a:ext cx="1898996" cy="430887"/>
          </a:xfrm>
          <a:prstGeom prst="rect">
            <a:avLst/>
          </a:prstGeom>
          <a:ln>
            <a:noFill/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Pre(A-&gt;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rchild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3211918" y="4596815"/>
            <a:ext cx="1917272" cy="430887"/>
          </a:xfrm>
          <a:prstGeom prst="rect">
            <a:avLst/>
          </a:prstGeom>
          <a:ln>
            <a:noFill/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Pre(C-&gt;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rchild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组合 2"/>
          <p:cNvGrpSpPr/>
          <p:nvPr/>
        </p:nvGrpSpPr>
        <p:grpSpPr>
          <a:xfrm>
            <a:off x="693534" y="5380902"/>
            <a:ext cx="6507832" cy="523220"/>
            <a:chOff x="693534" y="5380902"/>
            <a:chExt cx="6507832" cy="523220"/>
          </a:xfrm>
        </p:grpSpPr>
        <p:sp>
          <p:nvSpPr>
            <p:cNvPr id="62" name="TextBox 61"/>
            <p:cNvSpPr txBox="1"/>
            <p:nvPr/>
          </p:nvSpPr>
          <p:spPr>
            <a:xfrm>
              <a:off x="1041625" y="5380902"/>
              <a:ext cx="61597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得到前序序列：</a:t>
              </a:r>
              <a:r>
                <a:rPr lang="en-US" altLang="zh-CN" sz="2800" dirty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 B D C</a:t>
              </a:r>
              <a:endParaRPr lang="zh-CN" altLang="en-US" sz="28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9" name="Group 82"/>
            <p:cNvGrpSpPr/>
            <p:nvPr/>
          </p:nvGrpSpPr>
          <p:grpSpPr>
            <a:xfrm>
              <a:off x="693534" y="5456882"/>
              <a:ext cx="360000" cy="432000"/>
              <a:chOff x="1743075" y="3159126"/>
              <a:chExt cx="454025" cy="546100"/>
            </a:xfrm>
            <a:solidFill>
              <a:srgbClr val="5A327D"/>
            </a:solidFill>
          </p:grpSpPr>
          <p:sp>
            <p:nvSpPr>
              <p:cNvPr id="64" name="Freeform 69"/>
              <p:cNvSpPr/>
              <p:nvPr/>
            </p:nvSpPr>
            <p:spPr bwMode="auto">
              <a:xfrm>
                <a:off x="1952625" y="3159126"/>
                <a:ext cx="111125" cy="101600"/>
              </a:xfrm>
              <a:custGeom>
                <a:avLst/>
                <a:gdLst>
                  <a:gd name="T0" fmla="*/ 26 w 39"/>
                  <a:gd name="T1" fmla="*/ 36 h 36"/>
                  <a:gd name="T2" fmla="*/ 27 w 39"/>
                  <a:gd name="T3" fmla="*/ 36 h 36"/>
                  <a:gd name="T4" fmla="*/ 28 w 39"/>
                  <a:gd name="T5" fmla="*/ 36 h 36"/>
                  <a:gd name="T6" fmla="*/ 39 w 39"/>
                  <a:gd name="T7" fmla="*/ 17 h 36"/>
                  <a:gd name="T8" fmla="*/ 39 w 39"/>
                  <a:gd name="T9" fmla="*/ 16 h 36"/>
                  <a:gd name="T10" fmla="*/ 39 w 39"/>
                  <a:gd name="T11" fmla="*/ 15 h 36"/>
                  <a:gd name="T12" fmla="*/ 13 w 39"/>
                  <a:gd name="T13" fmla="*/ 0 h 36"/>
                  <a:gd name="T14" fmla="*/ 12 w 39"/>
                  <a:gd name="T15" fmla="*/ 0 h 36"/>
                  <a:gd name="T16" fmla="*/ 12 w 39"/>
                  <a:gd name="T17" fmla="*/ 0 h 36"/>
                  <a:gd name="T18" fmla="*/ 0 w 39"/>
                  <a:gd name="T19" fmla="*/ 20 h 36"/>
                  <a:gd name="T20" fmla="*/ 1 w 39"/>
                  <a:gd name="T21" fmla="*/ 21 h 36"/>
                  <a:gd name="T22" fmla="*/ 26 w 39"/>
                  <a:gd name="T2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9" h="36">
                    <a:moveTo>
                      <a:pt x="26" y="36"/>
                    </a:moveTo>
                    <a:cubicBezTo>
                      <a:pt x="26" y="36"/>
                      <a:pt x="27" y="36"/>
                      <a:pt x="27" y="36"/>
                    </a:cubicBezTo>
                    <a:cubicBezTo>
                      <a:pt x="27" y="36"/>
                      <a:pt x="27" y="36"/>
                      <a:pt x="28" y="36"/>
                    </a:cubicBezTo>
                    <a:cubicBezTo>
                      <a:pt x="39" y="17"/>
                      <a:pt x="39" y="17"/>
                      <a:pt x="39" y="17"/>
                    </a:cubicBezTo>
                    <a:cubicBezTo>
                      <a:pt x="39" y="16"/>
                      <a:pt x="39" y="16"/>
                      <a:pt x="39" y="16"/>
                    </a:cubicBezTo>
                    <a:cubicBezTo>
                      <a:pt x="39" y="16"/>
                      <a:pt x="39" y="15"/>
                      <a:pt x="39" y="15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0"/>
                      <a:pt x="13" y="0"/>
                      <a:pt x="12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0"/>
                      <a:pt x="0" y="21"/>
                      <a:pt x="1" y="21"/>
                    </a:cubicBezTo>
                    <a:lnTo>
                      <a:pt x="26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5" name="Freeform 70"/>
              <p:cNvSpPr/>
              <p:nvPr/>
            </p:nvSpPr>
            <p:spPr bwMode="auto">
              <a:xfrm>
                <a:off x="1743075" y="3557588"/>
                <a:ext cx="79375" cy="98425"/>
              </a:xfrm>
              <a:custGeom>
                <a:avLst/>
                <a:gdLst>
                  <a:gd name="T0" fmla="*/ 27 w 28"/>
                  <a:gd name="T1" fmla="*/ 17 h 35"/>
                  <a:gd name="T2" fmla="*/ 7 w 28"/>
                  <a:gd name="T3" fmla="*/ 3 h 35"/>
                  <a:gd name="T4" fmla="*/ 4 w 28"/>
                  <a:gd name="T5" fmla="*/ 3 h 35"/>
                  <a:gd name="T6" fmla="*/ 0 w 28"/>
                  <a:gd name="T7" fmla="*/ 34 h 35"/>
                  <a:gd name="T8" fmla="*/ 1 w 28"/>
                  <a:gd name="T9" fmla="*/ 35 h 35"/>
                  <a:gd name="T10" fmla="*/ 1 w 28"/>
                  <a:gd name="T11" fmla="*/ 35 h 35"/>
                  <a:gd name="T12" fmla="*/ 2 w 28"/>
                  <a:gd name="T13" fmla="*/ 35 h 35"/>
                  <a:gd name="T14" fmla="*/ 28 w 28"/>
                  <a:gd name="T15" fmla="*/ 17 h 35"/>
                  <a:gd name="T16" fmla="*/ 27 w 28"/>
                  <a:gd name="T17" fmla="*/ 17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" h="35">
                    <a:moveTo>
                      <a:pt x="27" y="17"/>
                    </a:moveTo>
                    <a:cubicBezTo>
                      <a:pt x="16" y="0"/>
                      <a:pt x="7" y="3"/>
                      <a:pt x="7" y="3"/>
                    </a:cubicBezTo>
                    <a:cubicBezTo>
                      <a:pt x="6" y="3"/>
                      <a:pt x="5" y="3"/>
                      <a:pt x="4" y="3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4"/>
                      <a:pt x="1" y="34"/>
                      <a:pt x="1" y="35"/>
                    </a:cubicBezTo>
                    <a:cubicBezTo>
                      <a:pt x="1" y="35"/>
                      <a:pt x="1" y="35"/>
                      <a:pt x="1" y="35"/>
                    </a:cubicBezTo>
                    <a:cubicBezTo>
                      <a:pt x="2" y="35"/>
                      <a:pt x="2" y="35"/>
                      <a:pt x="2" y="35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8" y="17"/>
                      <a:pt x="28" y="17"/>
                      <a:pt x="27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6" name="Freeform 71"/>
              <p:cNvSpPr>
                <a:spLocks noEditPoints="1"/>
              </p:cNvSpPr>
              <p:nvPr/>
            </p:nvSpPr>
            <p:spPr bwMode="auto">
              <a:xfrm>
                <a:off x="1762125" y="3252788"/>
                <a:ext cx="247650" cy="338138"/>
              </a:xfrm>
              <a:custGeom>
                <a:avLst/>
                <a:gdLst>
                  <a:gd name="T0" fmla="*/ 27 w 87"/>
                  <a:gd name="T1" fmla="*/ 119 h 119"/>
                  <a:gd name="T2" fmla="*/ 87 w 87"/>
                  <a:gd name="T3" fmla="*/ 16 h 119"/>
                  <a:gd name="T4" fmla="*/ 87 w 87"/>
                  <a:gd name="T5" fmla="*/ 16 h 119"/>
                  <a:gd name="T6" fmla="*/ 87 w 87"/>
                  <a:gd name="T7" fmla="*/ 15 h 119"/>
                  <a:gd name="T8" fmla="*/ 61 w 87"/>
                  <a:gd name="T9" fmla="*/ 0 h 119"/>
                  <a:gd name="T10" fmla="*/ 60 w 87"/>
                  <a:gd name="T11" fmla="*/ 0 h 119"/>
                  <a:gd name="T12" fmla="*/ 0 w 87"/>
                  <a:gd name="T13" fmla="*/ 102 h 119"/>
                  <a:gd name="T14" fmla="*/ 27 w 87"/>
                  <a:gd name="T15" fmla="*/ 119 h 119"/>
                  <a:gd name="T16" fmla="*/ 40 w 87"/>
                  <a:gd name="T17" fmla="*/ 57 h 119"/>
                  <a:gd name="T18" fmla="*/ 66 w 87"/>
                  <a:gd name="T19" fmla="*/ 13 h 119"/>
                  <a:gd name="T20" fmla="*/ 72 w 87"/>
                  <a:gd name="T21" fmla="*/ 11 h 119"/>
                  <a:gd name="T22" fmla="*/ 73 w 87"/>
                  <a:gd name="T23" fmla="*/ 17 h 119"/>
                  <a:gd name="T24" fmla="*/ 47 w 87"/>
                  <a:gd name="T25" fmla="*/ 61 h 119"/>
                  <a:gd name="T26" fmla="*/ 43 w 87"/>
                  <a:gd name="T27" fmla="*/ 63 h 119"/>
                  <a:gd name="T28" fmla="*/ 41 w 87"/>
                  <a:gd name="T29" fmla="*/ 63 h 119"/>
                  <a:gd name="T30" fmla="*/ 40 w 87"/>
                  <a:gd name="T31" fmla="*/ 57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7" h="119">
                    <a:moveTo>
                      <a:pt x="27" y="119"/>
                    </a:moveTo>
                    <a:cubicBezTo>
                      <a:pt x="87" y="16"/>
                      <a:pt x="87" y="16"/>
                      <a:pt x="87" y="16"/>
                    </a:cubicBezTo>
                    <a:cubicBezTo>
                      <a:pt x="87" y="16"/>
                      <a:pt x="87" y="16"/>
                      <a:pt x="87" y="16"/>
                    </a:cubicBezTo>
                    <a:cubicBezTo>
                      <a:pt x="87" y="15"/>
                      <a:pt x="87" y="15"/>
                      <a:pt x="87" y="15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1" y="0"/>
                      <a:pt x="60" y="0"/>
                      <a:pt x="60" y="0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4" y="102"/>
                      <a:pt x="15" y="103"/>
                      <a:pt x="27" y="119"/>
                    </a:cubicBezTo>
                    <a:close/>
                    <a:moveTo>
                      <a:pt x="40" y="57"/>
                    </a:moveTo>
                    <a:cubicBezTo>
                      <a:pt x="66" y="13"/>
                      <a:pt x="66" y="13"/>
                      <a:pt x="66" y="13"/>
                    </a:cubicBezTo>
                    <a:cubicBezTo>
                      <a:pt x="67" y="11"/>
                      <a:pt x="70" y="10"/>
                      <a:pt x="72" y="11"/>
                    </a:cubicBezTo>
                    <a:cubicBezTo>
                      <a:pt x="73" y="13"/>
                      <a:pt x="74" y="15"/>
                      <a:pt x="73" y="17"/>
                    </a:cubicBezTo>
                    <a:cubicBezTo>
                      <a:pt x="47" y="61"/>
                      <a:pt x="47" y="61"/>
                      <a:pt x="47" y="61"/>
                    </a:cubicBezTo>
                    <a:cubicBezTo>
                      <a:pt x="46" y="63"/>
                      <a:pt x="45" y="63"/>
                      <a:pt x="43" y="63"/>
                    </a:cubicBezTo>
                    <a:cubicBezTo>
                      <a:pt x="43" y="63"/>
                      <a:pt x="42" y="63"/>
                      <a:pt x="41" y="63"/>
                    </a:cubicBezTo>
                    <a:cubicBezTo>
                      <a:pt x="39" y="62"/>
                      <a:pt x="39" y="59"/>
                      <a:pt x="40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7" name="Freeform 72"/>
              <p:cNvSpPr/>
              <p:nvPr/>
            </p:nvSpPr>
            <p:spPr bwMode="auto">
              <a:xfrm>
                <a:off x="1758950" y="3468688"/>
                <a:ext cx="438150" cy="236538"/>
              </a:xfrm>
              <a:custGeom>
                <a:avLst/>
                <a:gdLst>
                  <a:gd name="T0" fmla="*/ 153 w 154"/>
                  <a:gd name="T1" fmla="*/ 2 h 83"/>
                  <a:gd name="T2" fmla="*/ 148 w 154"/>
                  <a:gd name="T3" fmla="*/ 1 h 83"/>
                  <a:gd name="T4" fmla="*/ 141 w 154"/>
                  <a:gd name="T5" fmla="*/ 5 h 83"/>
                  <a:gd name="T6" fmla="*/ 121 w 154"/>
                  <a:gd name="T7" fmla="*/ 20 h 83"/>
                  <a:gd name="T8" fmla="*/ 122 w 154"/>
                  <a:gd name="T9" fmla="*/ 38 h 83"/>
                  <a:gd name="T10" fmla="*/ 122 w 154"/>
                  <a:gd name="T11" fmla="*/ 38 h 83"/>
                  <a:gd name="T12" fmla="*/ 88 w 154"/>
                  <a:gd name="T13" fmla="*/ 44 h 83"/>
                  <a:gd name="T14" fmla="*/ 43 w 154"/>
                  <a:gd name="T15" fmla="*/ 53 h 83"/>
                  <a:gd name="T16" fmla="*/ 41 w 154"/>
                  <a:gd name="T17" fmla="*/ 56 h 83"/>
                  <a:gd name="T18" fmla="*/ 54 w 154"/>
                  <a:gd name="T19" fmla="*/ 70 h 83"/>
                  <a:gd name="T20" fmla="*/ 62 w 154"/>
                  <a:gd name="T21" fmla="*/ 74 h 83"/>
                  <a:gd name="T22" fmla="*/ 62 w 154"/>
                  <a:gd name="T23" fmla="*/ 75 h 83"/>
                  <a:gd name="T24" fmla="*/ 57 w 154"/>
                  <a:gd name="T25" fmla="*/ 75 h 83"/>
                  <a:gd name="T26" fmla="*/ 53 w 154"/>
                  <a:gd name="T27" fmla="*/ 75 h 83"/>
                  <a:gd name="T28" fmla="*/ 29 w 154"/>
                  <a:gd name="T29" fmla="*/ 73 h 83"/>
                  <a:gd name="T30" fmla="*/ 4 w 154"/>
                  <a:gd name="T31" fmla="*/ 70 h 83"/>
                  <a:gd name="T32" fmla="*/ 0 w 154"/>
                  <a:gd name="T33" fmla="*/ 74 h 83"/>
                  <a:gd name="T34" fmla="*/ 4 w 154"/>
                  <a:gd name="T35" fmla="*/ 78 h 83"/>
                  <a:gd name="T36" fmla="*/ 28 w 154"/>
                  <a:gd name="T37" fmla="*/ 80 h 83"/>
                  <a:gd name="T38" fmla="*/ 53 w 154"/>
                  <a:gd name="T39" fmla="*/ 83 h 83"/>
                  <a:gd name="T40" fmla="*/ 56 w 154"/>
                  <a:gd name="T41" fmla="*/ 83 h 83"/>
                  <a:gd name="T42" fmla="*/ 60 w 154"/>
                  <a:gd name="T43" fmla="*/ 83 h 83"/>
                  <a:gd name="T44" fmla="*/ 70 w 154"/>
                  <a:gd name="T45" fmla="*/ 79 h 83"/>
                  <a:gd name="T46" fmla="*/ 69 w 154"/>
                  <a:gd name="T47" fmla="*/ 70 h 83"/>
                  <a:gd name="T48" fmla="*/ 57 w 154"/>
                  <a:gd name="T49" fmla="*/ 62 h 83"/>
                  <a:gd name="T50" fmla="*/ 49 w 154"/>
                  <a:gd name="T51" fmla="*/ 59 h 83"/>
                  <a:gd name="T52" fmla="*/ 89 w 154"/>
                  <a:gd name="T53" fmla="*/ 52 h 83"/>
                  <a:gd name="T54" fmla="*/ 130 w 154"/>
                  <a:gd name="T55" fmla="*/ 44 h 83"/>
                  <a:gd name="T56" fmla="*/ 133 w 154"/>
                  <a:gd name="T57" fmla="*/ 42 h 83"/>
                  <a:gd name="T58" fmla="*/ 133 w 154"/>
                  <a:gd name="T59" fmla="*/ 38 h 83"/>
                  <a:gd name="T60" fmla="*/ 128 w 154"/>
                  <a:gd name="T61" fmla="*/ 33 h 83"/>
                  <a:gd name="T62" fmla="*/ 127 w 154"/>
                  <a:gd name="T63" fmla="*/ 25 h 83"/>
                  <a:gd name="T64" fmla="*/ 145 w 154"/>
                  <a:gd name="T65" fmla="*/ 12 h 83"/>
                  <a:gd name="T66" fmla="*/ 152 w 154"/>
                  <a:gd name="T67" fmla="*/ 8 h 83"/>
                  <a:gd name="T68" fmla="*/ 153 w 154"/>
                  <a:gd name="T69" fmla="*/ 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54" h="83">
                    <a:moveTo>
                      <a:pt x="153" y="2"/>
                    </a:moveTo>
                    <a:cubicBezTo>
                      <a:pt x="152" y="0"/>
                      <a:pt x="149" y="0"/>
                      <a:pt x="148" y="1"/>
                    </a:cubicBezTo>
                    <a:cubicBezTo>
                      <a:pt x="146" y="2"/>
                      <a:pt x="143" y="4"/>
                      <a:pt x="141" y="5"/>
                    </a:cubicBezTo>
                    <a:cubicBezTo>
                      <a:pt x="134" y="9"/>
                      <a:pt x="126" y="14"/>
                      <a:pt x="121" y="20"/>
                    </a:cubicBezTo>
                    <a:cubicBezTo>
                      <a:pt x="113" y="28"/>
                      <a:pt x="119" y="35"/>
                      <a:pt x="122" y="38"/>
                    </a:cubicBezTo>
                    <a:cubicBezTo>
                      <a:pt x="122" y="38"/>
                      <a:pt x="122" y="38"/>
                      <a:pt x="122" y="38"/>
                    </a:cubicBezTo>
                    <a:cubicBezTo>
                      <a:pt x="112" y="42"/>
                      <a:pt x="100" y="43"/>
                      <a:pt x="88" y="44"/>
                    </a:cubicBezTo>
                    <a:cubicBezTo>
                      <a:pt x="73" y="45"/>
                      <a:pt x="57" y="46"/>
                      <a:pt x="43" y="53"/>
                    </a:cubicBezTo>
                    <a:cubicBezTo>
                      <a:pt x="42" y="53"/>
                      <a:pt x="41" y="54"/>
                      <a:pt x="41" y="56"/>
                    </a:cubicBezTo>
                    <a:cubicBezTo>
                      <a:pt x="39" y="64"/>
                      <a:pt x="47" y="67"/>
                      <a:pt x="54" y="70"/>
                    </a:cubicBezTo>
                    <a:cubicBezTo>
                      <a:pt x="57" y="71"/>
                      <a:pt x="61" y="73"/>
                      <a:pt x="62" y="74"/>
                    </a:cubicBezTo>
                    <a:cubicBezTo>
                      <a:pt x="62" y="74"/>
                      <a:pt x="62" y="75"/>
                      <a:pt x="62" y="75"/>
                    </a:cubicBezTo>
                    <a:cubicBezTo>
                      <a:pt x="61" y="75"/>
                      <a:pt x="58" y="75"/>
                      <a:pt x="57" y="75"/>
                    </a:cubicBezTo>
                    <a:cubicBezTo>
                      <a:pt x="55" y="75"/>
                      <a:pt x="54" y="75"/>
                      <a:pt x="53" y="75"/>
                    </a:cubicBezTo>
                    <a:cubicBezTo>
                      <a:pt x="45" y="75"/>
                      <a:pt x="37" y="74"/>
                      <a:pt x="29" y="73"/>
                    </a:cubicBezTo>
                    <a:cubicBezTo>
                      <a:pt x="21" y="71"/>
                      <a:pt x="12" y="70"/>
                      <a:pt x="4" y="70"/>
                    </a:cubicBezTo>
                    <a:cubicBezTo>
                      <a:pt x="2" y="70"/>
                      <a:pt x="0" y="72"/>
                      <a:pt x="0" y="74"/>
                    </a:cubicBezTo>
                    <a:cubicBezTo>
                      <a:pt x="0" y="76"/>
                      <a:pt x="2" y="78"/>
                      <a:pt x="4" y="78"/>
                    </a:cubicBezTo>
                    <a:cubicBezTo>
                      <a:pt x="12" y="78"/>
                      <a:pt x="19" y="79"/>
                      <a:pt x="28" y="80"/>
                    </a:cubicBezTo>
                    <a:cubicBezTo>
                      <a:pt x="36" y="82"/>
                      <a:pt x="45" y="83"/>
                      <a:pt x="53" y="83"/>
                    </a:cubicBezTo>
                    <a:cubicBezTo>
                      <a:pt x="54" y="83"/>
                      <a:pt x="55" y="83"/>
                      <a:pt x="56" y="83"/>
                    </a:cubicBezTo>
                    <a:cubicBezTo>
                      <a:pt x="58" y="83"/>
                      <a:pt x="59" y="83"/>
                      <a:pt x="60" y="83"/>
                    </a:cubicBezTo>
                    <a:cubicBezTo>
                      <a:pt x="64" y="83"/>
                      <a:pt x="68" y="82"/>
                      <a:pt x="70" y="79"/>
                    </a:cubicBezTo>
                    <a:cubicBezTo>
                      <a:pt x="72" y="75"/>
                      <a:pt x="69" y="71"/>
                      <a:pt x="69" y="70"/>
                    </a:cubicBezTo>
                    <a:cubicBezTo>
                      <a:pt x="66" y="66"/>
                      <a:pt x="62" y="64"/>
                      <a:pt x="57" y="62"/>
                    </a:cubicBezTo>
                    <a:cubicBezTo>
                      <a:pt x="55" y="62"/>
                      <a:pt x="51" y="60"/>
                      <a:pt x="49" y="59"/>
                    </a:cubicBezTo>
                    <a:cubicBezTo>
                      <a:pt x="62" y="54"/>
                      <a:pt x="75" y="53"/>
                      <a:pt x="89" y="52"/>
                    </a:cubicBezTo>
                    <a:cubicBezTo>
                      <a:pt x="103" y="50"/>
                      <a:pt x="117" y="49"/>
                      <a:pt x="130" y="44"/>
                    </a:cubicBezTo>
                    <a:cubicBezTo>
                      <a:pt x="132" y="44"/>
                      <a:pt x="132" y="43"/>
                      <a:pt x="133" y="42"/>
                    </a:cubicBezTo>
                    <a:cubicBezTo>
                      <a:pt x="133" y="41"/>
                      <a:pt x="133" y="39"/>
                      <a:pt x="133" y="38"/>
                    </a:cubicBezTo>
                    <a:cubicBezTo>
                      <a:pt x="131" y="36"/>
                      <a:pt x="130" y="34"/>
                      <a:pt x="128" y="33"/>
                    </a:cubicBezTo>
                    <a:cubicBezTo>
                      <a:pt x="124" y="28"/>
                      <a:pt x="124" y="28"/>
                      <a:pt x="127" y="25"/>
                    </a:cubicBezTo>
                    <a:cubicBezTo>
                      <a:pt x="131" y="20"/>
                      <a:pt x="139" y="16"/>
                      <a:pt x="145" y="12"/>
                    </a:cubicBezTo>
                    <a:cubicBezTo>
                      <a:pt x="148" y="10"/>
                      <a:pt x="150" y="9"/>
                      <a:pt x="152" y="8"/>
                    </a:cubicBezTo>
                    <a:cubicBezTo>
                      <a:pt x="154" y="6"/>
                      <a:pt x="154" y="4"/>
                      <a:pt x="153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63" name="矩形 62"/>
          <p:cNvSpPr/>
          <p:nvPr/>
        </p:nvSpPr>
        <p:spPr>
          <a:xfrm>
            <a:off x="8382000" y="3978435"/>
            <a:ext cx="3429000" cy="2123658"/>
          </a:xfrm>
          <a:prstGeom prst="rect">
            <a:avLst/>
          </a:prstGeom>
          <a:ln>
            <a:solidFill>
              <a:srgbClr val="5C307D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return; 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{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200" dirty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</a:t>
            </a:r>
            <a:r>
              <a:rPr lang="en-US" altLang="zh-CN" sz="22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 err="1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en-US" altLang="zh-CN" sz="22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-&gt;data;    </a:t>
            </a:r>
            <a:endParaRPr lang="zh-CN" altLang="zh-CN" sz="2200" dirty="0">
              <a:solidFill>
                <a:srgbClr val="B4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200" dirty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PreOrder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lchild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  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200" dirty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③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PreOrder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rchild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    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Rounded Rectangle 10"/>
          <p:cNvSpPr/>
          <p:nvPr/>
        </p:nvSpPr>
        <p:spPr>
          <a:xfrm>
            <a:off x="542923" y="100964"/>
            <a:ext cx="3672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35528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二叉树的前序遍历</a:t>
            </a:r>
          </a:p>
        </p:txBody>
      </p:sp>
    </p:spTree>
    <p:extLst>
      <p:ext uri="{BB962C8B-B14F-4D97-AF65-F5344CB8AC3E}">
        <p14:creationId xmlns:p14="http://schemas.microsoft.com/office/powerpoint/2010/main" val="2894297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</p:childTnLst>
        </p:cTn>
      </p:par>
    </p:tnLst>
    <p:bldLst>
      <p:bldP spid="5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27"/>
          <p:cNvSpPr txBox="1">
            <a:spLocks noChangeArrowheads="1"/>
          </p:cNvSpPr>
          <p:nvPr/>
        </p:nvSpPr>
        <p:spPr bwMode="auto">
          <a:xfrm>
            <a:off x="7167245" y="4588959"/>
            <a:ext cx="4079875" cy="6413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en-US" sz="3600"/>
          </a:p>
        </p:txBody>
      </p:sp>
      <p:sp>
        <p:nvSpPr>
          <p:cNvPr id="12" name="Text Box 30"/>
          <p:cNvSpPr txBox="1">
            <a:spLocks noChangeArrowheads="1"/>
          </p:cNvSpPr>
          <p:nvPr/>
        </p:nvSpPr>
        <p:spPr bwMode="auto">
          <a:xfrm>
            <a:off x="6408736" y="5432838"/>
            <a:ext cx="4513263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遍历序列：</a:t>
            </a:r>
          </a:p>
        </p:txBody>
      </p:sp>
      <p:sp>
        <p:nvSpPr>
          <p:cNvPr id="13" name="Text Box 31"/>
          <p:cNvSpPr txBox="1">
            <a:spLocks noChangeArrowheads="1"/>
          </p:cNvSpPr>
          <p:nvPr/>
        </p:nvSpPr>
        <p:spPr bwMode="auto">
          <a:xfrm>
            <a:off x="7421245" y="4646109"/>
            <a:ext cx="471487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14" name="Text Box 32"/>
          <p:cNvSpPr txBox="1">
            <a:spLocks noChangeArrowheads="1"/>
          </p:cNvSpPr>
          <p:nvPr/>
        </p:nvSpPr>
        <p:spPr bwMode="auto">
          <a:xfrm>
            <a:off x="8223408" y="5462683"/>
            <a:ext cx="471488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15" name="Text Box 33"/>
          <p:cNvSpPr txBox="1">
            <a:spLocks noChangeArrowheads="1"/>
          </p:cNvSpPr>
          <p:nvPr/>
        </p:nvSpPr>
        <p:spPr bwMode="auto">
          <a:xfrm>
            <a:off x="7915751" y="4646109"/>
            <a:ext cx="471487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16" name="Text Box 34"/>
          <p:cNvSpPr txBox="1">
            <a:spLocks noChangeArrowheads="1"/>
          </p:cNvSpPr>
          <p:nvPr/>
        </p:nvSpPr>
        <p:spPr bwMode="auto">
          <a:xfrm>
            <a:off x="8410257" y="4646109"/>
            <a:ext cx="471487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17" name="Text Box 35"/>
          <p:cNvSpPr txBox="1">
            <a:spLocks noChangeArrowheads="1"/>
          </p:cNvSpPr>
          <p:nvPr/>
        </p:nvSpPr>
        <p:spPr bwMode="auto">
          <a:xfrm>
            <a:off x="8642244" y="5462683"/>
            <a:ext cx="471488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18" name="Text Box 36"/>
          <p:cNvSpPr txBox="1">
            <a:spLocks noChangeArrowheads="1"/>
          </p:cNvSpPr>
          <p:nvPr/>
        </p:nvSpPr>
        <p:spPr bwMode="auto">
          <a:xfrm>
            <a:off x="8904763" y="4646109"/>
            <a:ext cx="471488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19" name="Text Box 37"/>
          <p:cNvSpPr txBox="1">
            <a:spLocks noChangeArrowheads="1"/>
          </p:cNvSpPr>
          <p:nvPr/>
        </p:nvSpPr>
        <p:spPr bwMode="auto">
          <a:xfrm>
            <a:off x="9061080" y="5462683"/>
            <a:ext cx="471488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20" name="Text Box 38"/>
          <p:cNvSpPr txBox="1">
            <a:spLocks noChangeArrowheads="1"/>
          </p:cNvSpPr>
          <p:nvPr/>
        </p:nvSpPr>
        <p:spPr bwMode="auto">
          <a:xfrm>
            <a:off x="9399270" y="4646109"/>
            <a:ext cx="471487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21" name="Text Box 39"/>
          <p:cNvSpPr txBox="1">
            <a:spLocks noChangeArrowheads="1"/>
          </p:cNvSpPr>
          <p:nvPr/>
        </p:nvSpPr>
        <p:spPr bwMode="auto">
          <a:xfrm>
            <a:off x="9893776" y="4646109"/>
            <a:ext cx="471488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22" name="Text Box 40"/>
          <p:cNvSpPr txBox="1">
            <a:spLocks noChangeArrowheads="1"/>
          </p:cNvSpPr>
          <p:nvPr/>
        </p:nvSpPr>
        <p:spPr bwMode="auto">
          <a:xfrm>
            <a:off x="10388282" y="4646109"/>
            <a:ext cx="471488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</a:p>
        </p:txBody>
      </p:sp>
      <p:sp>
        <p:nvSpPr>
          <p:cNvPr id="23" name="Text Box 41"/>
          <p:cNvSpPr txBox="1">
            <a:spLocks noChangeArrowheads="1"/>
          </p:cNvSpPr>
          <p:nvPr/>
        </p:nvSpPr>
        <p:spPr bwMode="auto">
          <a:xfrm>
            <a:off x="9479916" y="5462683"/>
            <a:ext cx="471487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24" name="Text Box 42"/>
          <p:cNvSpPr txBox="1">
            <a:spLocks noChangeArrowheads="1"/>
          </p:cNvSpPr>
          <p:nvPr/>
        </p:nvSpPr>
        <p:spPr bwMode="auto">
          <a:xfrm>
            <a:off x="9898751" y="5462683"/>
            <a:ext cx="471488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25" name="Text Box 43"/>
          <p:cNvSpPr txBox="1">
            <a:spLocks noChangeArrowheads="1"/>
          </p:cNvSpPr>
          <p:nvPr/>
        </p:nvSpPr>
        <p:spPr bwMode="auto">
          <a:xfrm>
            <a:off x="10317587" y="5462683"/>
            <a:ext cx="471487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10736421" y="5462683"/>
            <a:ext cx="471487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</a:p>
        </p:txBody>
      </p:sp>
      <p:grpSp>
        <p:nvGrpSpPr>
          <p:cNvPr id="2" name="组合 26"/>
          <p:cNvGrpSpPr/>
          <p:nvPr/>
        </p:nvGrpSpPr>
        <p:grpSpPr>
          <a:xfrm>
            <a:off x="8413749" y="581555"/>
            <a:ext cx="3005177" cy="3274895"/>
            <a:chOff x="8138952" y="2616992"/>
            <a:chExt cx="3005177" cy="3274895"/>
          </a:xfrm>
          <a:solidFill>
            <a:srgbClr val="B4B4BE"/>
          </a:solidFill>
        </p:grpSpPr>
        <p:sp>
          <p:nvSpPr>
            <p:cNvPr id="28" name="Line 25"/>
            <p:cNvSpPr>
              <a:spLocks noChangeShapeType="1"/>
            </p:cNvSpPr>
            <p:nvPr/>
          </p:nvSpPr>
          <p:spPr bwMode="auto">
            <a:xfrm flipH="1">
              <a:off x="8995407" y="2953542"/>
              <a:ext cx="511175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29" name="Line 26"/>
            <p:cNvSpPr>
              <a:spLocks noChangeShapeType="1"/>
            </p:cNvSpPr>
            <p:nvPr/>
          </p:nvSpPr>
          <p:spPr bwMode="auto">
            <a:xfrm>
              <a:off x="9879645" y="2953541"/>
              <a:ext cx="432000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0" name="Line 27"/>
            <p:cNvSpPr>
              <a:spLocks noChangeShapeType="1"/>
            </p:cNvSpPr>
            <p:nvPr/>
          </p:nvSpPr>
          <p:spPr bwMode="auto">
            <a:xfrm flipH="1">
              <a:off x="8373108" y="3834286"/>
              <a:ext cx="360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1" name="Line 28"/>
            <p:cNvSpPr>
              <a:spLocks noChangeShapeType="1"/>
            </p:cNvSpPr>
            <p:nvPr/>
          </p:nvSpPr>
          <p:spPr bwMode="auto">
            <a:xfrm>
              <a:off x="8417876" y="4899182"/>
              <a:ext cx="396875" cy="606425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2" name="Line 29"/>
            <p:cNvSpPr>
              <a:spLocks noChangeShapeType="1"/>
            </p:cNvSpPr>
            <p:nvPr/>
          </p:nvSpPr>
          <p:spPr bwMode="auto">
            <a:xfrm flipH="1">
              <a:off x="10043475" y="3829524"/>
              <a:ext cx="288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4" name="Line 30"/>
            <p:cNvSpPr>
              <a:spLocks noChangeShapeType="1"/>
            </p:cNvSpPr>
            <p:nvPr/>
          </p:nvSpPr>
          <p:spPr bwMode="auto">
            <a:xfrm>
              <a:off x="10561325" y="3841246"/>
              <a:ext cx="288000" cy="6258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5" name="Oval 37"/>
            <p:cNvSpPr>
              <a:spLocks noChangeArrowheads="1"/>
            </p:cNvSpPr>
            <p:nvPr/>
          </p:nvSpPr>
          <p:spPr bwMode="auto">
            <a:xfrm>
              <a:off x="9486898" y="261699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Oval 37"/>
            <p:cNvSpPr>
              <a:spLocks noChangeArrowheads="1"/>
            </p:cNvSpPr>
            <p:nvPr/>
          </p:nvSpPr>
          <p:spPr bwMode="auto">
            <a:xfrm>
              <a:off x="10228577" y="343328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Oval 37"/>
            <p:cNvSpPr>
              <a:spLocks noChangeArrowheads="1"/>
            </p:cNvSpPr>
            <p:nvPr/>
          </p:nvSpPr>
          <p:spPr bwMode="auto">
            <a:xfrm>
              <a:off x="8631553" y="343328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Oval 37"/>
            <p:cNvSpPr>
              <a:spLocks noChangeArrowheads="1"/>
            </p:cNvSpPr>
            <p:nvPr/>
          </p:nvSpPr>
          <p:spPr bwMode="auto">
            <a:xfrm>
              <a:off x="8138952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Oval 37"/>
            <p:cNvSpPr>
              <a:spLocks noChangeArrowheads="1"/>
            </p:cNvSpPr>
            <p:nvPr/>
          </p:nvSpPr>
          <p:spPr bwMode="auto">
            <a:xfrm>
              <a:off x="9775505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Oval 37"/>
            <p:cNvSpPr>
              <a:spLocks noChangeArrowheads="1"/>
            </p:cNvSpPr>
            <p:nvPr/>
          </p:nvSpPr>
          <p:spPr bwMode="auto">
            <a:xfrm>
              <a:off x="10712129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Oval 37"/>
            <p:cNvSpPr>
              <a:spLocks noChangeArrowheads="1"/>
            </p:cNvSpPr>
            <p:nvPr/>
          </p:nvSpPr>
          <p:spPr bwMode="auto">
            <a:xfrm>
              <a:off x="8714420" y="5459887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4" name="Text Box 8"/>
          <p:cNvSpPr txBox="1">
            <a:spLocks noChangeArrowheads="1"/>
          </p:cNvSpPr>
          <p:nvPr/>
        </p:nvSpPr>
        <p:spPr bwMode="auto">
          <a:xfrm>
            <a:off x="638168" y="1188105"/>
            <a:ext cx="7254564" cy="3194721"/>
          </a:xfrm>
          <a:prstGeom prst="rect">
            <a:avLst/>
          </a:prstGeom>
          <a:noFill/>
          <a:ln w="9525">
            <a:solidFill>
              <a:srgbClr val="5C307D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lnSpc>
                <a:spcPct val="120000"/>
              </a:lnSpc>
              <a:buFontTx/>
              <a:buAutoNum type="arabicPeriod"/>
            </a:pP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队列 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 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初始化；</a:t>
            </a:r>
          </a:p>
          <a:p>
            <a:pPr eaLnBrk="0" hangingPunct="0">
              <a:lnSpc>
                <a:spcPct val="12000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如果二叉树非空，将根指针入队；</a:t>
            </a:r>
            <a:endParaRPr lang="en-US" altLang="zh-CN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0" hangingPunct="0">
              <a:lnSpc>
                <a:spcPct val="120000"/>
              </a:lnSpc>
            </a:pPr>
            <a:endParaRPr lang="en-US" altLang="zh-CN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0" hangingPunct="0">
              <a:lnSpc>
                <a:spcPct val="120000"/>
              </a:lnSpc>
            </a:pPr>
            <a:endParaRPr lang="en-US" altLang="zh-CN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0" hangingPunct="0">
              <a:lnSpc>
                <a:spcPct val="120000"/>
              </a:lnSpc>
            </a:pPr>
            <a:endParaRPr lang="en-US" altLang="zh-CN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0" hangingPunct="0">
              <a:lnSpc>
                <a:spcPct val="120000"/>
              </a:lnSpc>
            </a:pPr>
            <a:endParaRPr lang="en-US" altLang="zh-CN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0" hangingPunct="0">
              <a:lnSpc>
                <a:spcPct val="120000"/>
              </a:lnSpc>
            </a:pPr>
            <a:endParaRPr lang="zh-CN" altLang="en-US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1"/>
          <p:cNvGrpSpPr/>
          <p:nvPr/>
        </p:nvGrpSpPr>
        <p:grpSpPr>
          <a:xfrm>
            <a:off x="6363841" y="4415744"/>
            <a:ext cx="5623921" cy="814565"/>
            <a:chOff x="6363841" y="4415744"/>
            <a:chExt cx="5623921" cy="814565"/>
          </a:xfrm>
        </p:grpSpPr>
        <p:sp>
          <p:nvSpPr>
            <p:cNvPr id="10" name="Line 28"/>
            <p:cNvSpPr>
              <a:spLocks noChangeShapeType="1"/>
            </p:cNvSpPr>
            <p:nvPr/>
          </p:nvSpPr>
          <p:spPr bwMode="auto">
            <a:xfrm flipV="1">
              <a:off x="7319645" y="4573084"/>
              <a:ext cx="3636000" cy="1588"/>
            </a:xfrm>
            <a:prstGeom prst="line">
              <a:avLst/>
            </a:prstGeom>
            <a:noFill/>
            <a:ln w="38100">
              <a:solidFill>
                <a:srgbClr val="507D7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" name="Line 29"/>
            <p:cNvSpPr>
              <a:spLocks noChangeShapeType="1"/>
            </p:cNvSpPr>
            <p:nvPr/>
          </p:nvSpPr>
          <p:spPr bwMode="auto">
            <a:xfrm flipV="1">
              <a:off x="7334885" y="5228722"/>
              <a:ext cx="3636000" cy="1587"/>
            </a:xfrm>
            <a:prstGeom prst="line">
              <a:avLst/>
            </a:prstGeom>
            <a:noFill/>
            <a:ln w="38100">
              <a:solidFill>
                <a:srgbClr val="507D7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4" name="组合 44"/>
            <p:cNvGrpSpPr/>
            <p:nvPr/>
          </p:nvGrpSpPr>
          <p:grpSpPr>
            <a:xfrm>
              <a:off x="10931891" y="4415744"/>
              <a:ext cx="1055871" cy="517681"/>
              <a:chOff x="7655291" y="4645547"/>
              <a:chExt cx="1055871" cy="517681"/>
            </a:xfrm>
          </p:grpSpPr>
          <p:cxnSp>
            <p:nvCxnSpPr>
              <p:cNvPr id="46" name="直接箭头连接符 45"/>
              <p:cNvCxnSpPr/>
              <p:nvPr/>
            </p:nvCxnSpPr>
            <p:spPr>
              <a:xfrm flipV="1">
                <a:off x="7655291" y="5163228"/>
                <a:ext cx="900000" cy="0"/>
              </a:xfrm>
              <a:prstGeom prst="straightConnector1">
                <a:avLst/>
              </a:prstGeom>
              <a:noFill/>
              <a:ln w="38100">
                <a:solidFill>
                  <a:srgbClr val="5A327D"/>
                </a:solidFill>
                <a:round/>
                <a:head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47" name="TextBox 46"/>
              <p:cNvSpPr txBox="1"/>
              <p:nvPr/>
            </p:nvSpPr>
            <p:spPr>
              <a:xfrm>
                <a:off x="7764804" y="4645547"/>
                <a:ext cx="9463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40404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入队</a:t>
                </a:r>
              </a:p>
            </p:txBody>
          </p:sp>
        </p:grpSp>
        <p:grpSp>
          <p:nvGrpSpPr>
            <p:cNvPr id="5" name="组合 47"/>
            <p:cNvGrpSpPr/>
            <p:nvPr/>
          </p:nvGrpSpPr>
          <p:grpSpPr>
            <a:xfrm>
              <a:off x="6363841" y="4425456"/>
              <a:ext cx="1113360" cy="502265"/>
              <a:chOff x="2423024" y="4556527"/>
              <a:chExt cx="1113360" cy="502265"/>
            </a:xfrm>
          </p:grpSpPr>
          <p:cxnSp>
            <p:nvCxnSpPr>
              <p:cNvPr id="49" name="直接箭头连接符 48"/>
              <p:cNvCxnSpPr/>
              <p:nvPr/>
            </p:nvCxnSpPr>
            <p:spPr>
              <a:xfrm flipV="1">
                <a:off x="2423024" y="5058792"/>
                <a:ext cx="900000" cy="0"/>
              </a:xfrm>
              <a:prstGeom prst="straightConnector1">
                <a:avLst/>
              </a:prstGeom>
              <a:noFill/>
              <a:ln w="38100">
                <a:solidFill>
                  <a:srgbClr val="5A327D"/>
                </a:solidFill>
                <a:round/>
                <a:head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0" name="TextBox 49"/>
              <p:cNvSpPr txBox="1"/>
              <p:nvPr/>
            </p:nvSpPr>
            <p:spPr>
              <a:xfrm>
                <a:off x="2590026" y="4556527"/>
                <a:ext cx="9463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40404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出队</a:t>
                </a:r>
              </a:p>
            </p:txBody>
          </p:sp>
        </p:grpSp>
      </p:grpSp>
      <p:sp>
        <p:nvSpPr>
          <p:cNvPr id="51" name="Text Box 8"/>
          <p:cNvSpPr txBox="1">
            <a:spLocks noChangeArrowheads="1"/>
          </p:cNvSpPr>
          <p:nvPr/>
        </p:nvSpPr>
        <p:spPr bwMode="auto">
          <a:xfrm>
            <a:off x="661187" y="3397565"/>
            <a:ext cx="7254564" cy="978729"/>
          </a:xfrm>
          <a:prstGeom prst="rect">
            <a:avLst/>
          </a:prstGeom>
          <a:noFill/>
          <a:ln w="9525">
            <a:noFill/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0" hangingPunct="0">
              <a:lnSpc>
                <a:spcPct val="12000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3.3 若结点 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 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存在左孩子，则将左孩子指针入队；</a:t>
            </a:r>
          </a:p>
          <a:p>
            <a:pPr algn="just" eaLnBrk="0" hangingPunct="0">
              <a:lnSpc>
                <a:spcPct val="12000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3.4 若结点 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 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存在右孩子，则将右孩子指针入队；</a:t>
            </a:r>
          </a:p>
        </p:txBody>
      </p:sp>
      <p:sp>
        <p:nvSpPr>
          <p:cNvPr id="53" name="Text Box 8"/>
          <p:cNvSpPr txBox="1">
            <a:spLocks noChangeArrowheads="1"/>
          </p:cNvSpPr>
          <p:nvPr/>
        </p:nvSpPr>
        <p:spPr bwMode="auto">
          <a:xfrm>
            <a:off x="661187" y="2043306"/>
            <a:ext cx="7254564" cy="1865126"/>
          </a:xfrm>
          <a:prstGeom prst="rect">
            <a:avLst/>
          </a:prstGeom>
          <a:noFill/>
          <a:ln w="9525">
            <a:noFill/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0" hangingPunct="0">
              <a:lnSpc>
                <a:spcPct val="12000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 循环直到队列 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 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为空</a:t>
            </a:r>
          </a:p>
          <a:p>
            <a:pPr algn="just" eaLnBrk="0" hangingPunct="0">
              <a:lnSpc>
                <a:spcPct val="12000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3.1 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 = 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队列 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 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的队头元素出队；</a:t>
            </a:r>
          </a:p>
          <a:p>
            <a:pPr algn="just" eaLnBrk="0" hangingPunct="0">
              <a:lnSpc>
                <a:spcPct val="12000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3.2 访问结点 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 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的数据域；</a:t>
            </a:r>
          </a:p>
          <a:p>
            <a:pPr algn="just" eaLnBrk="0" hangingPunct="0">
              <a:lnSpc>
                <a:spcPct val="12000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</a:p>
        </p:txBody>
      </p:sp>
      <p:sp>
        <p:nvSpPr>
          <p:cNvPr id="48" name="Rounded Rectangle 10"/>
          <p:cNvSpPr/>
          <p:nvPr/>
        </p:nvSpPr>
        <p:spPr>
          <a:xfrm>
            <a:off x="542923" y="100964"/>
            <a:ext cx="3672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35528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二叉树的层序遍历</a:t>
            </a:r>
          </a:p>
        </p:txBody>
      </p:sp>
    </p:spTree>
    <p:extLst>
      <p:ext uri="{BB962C8B-B14F-4D97-AF65-F5344CB8AC3E}">
        <p14:creationId xmlns:p14="http://schemas.microsoft.com/office/powerpoint/2010/main" val="3718872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8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3" grpId="0" bldLvl="0" animBg="1"/>
      <p:bldP spid="13" grpId="1" bldLvl="0" animBg="1"/>
      <p:bldP spid="14" grpId="0" bldLvl="0" animBg="1"/>
      <p:bldP spid="15" grpId="0" bldLvl="0" animBg="1"/>
      <p:bldP spid="15" grpId="1" bldLvl="0" animBg="1"/>
      <p:bldP spid="16" grpId="0" bldLvl="0" animBg="1"/>
      <p:bldP spid="16" grpId="1" bldLvl="0" animBg="1"/>
      <p:bldP spid="17" grpId="0" bldLvl="0" animBg="1"/>
      <p:bldP spid="18" grpId="0" bldLvl="0" animBg="1"/>
      <p:bldP spid="18" grpId="1" bldLvl="0" animBg="1"/>
      <p:bldP spid="19" grpId="0" bldLvl="0" animBg="1"/>
      <p:bldP spid="20" grpId="0" bldLvl="0" animBg="1"/>
      <p:bldP spid="20" grpId="1" bldLvl="0" animBg="1"/>
      <p:bldP spid="21" grpId="0" bldLvl="0" animBg="1"/>
      <p:bldP spid="21" grpId="1" bldLvl="0" animBg="1"/>
      <p:bldP spid="22" grpId="0" bldLvl="0" animBg="1"/>
      <p:bldP spid="22" grpId="1" bldLvl="0" animBg="1"/>
      <p:bldP spid="23" grpId="0" bldLvl="0" animBg="1"/>
      <p:bldP spid="24" grpId="0" bldLvl="0" animBg="1"/>
      <p:bldP spid="25" grpId="0" bldLvl="0" animBg="1"/>
      <p:bldP spid="26" grpId="0" bldLvl="0" animBg="1"/>
      <p:bldP spid="44" grpId="0" bldLvl="0" animBg="1"/>
      <p:bldP spid="51" grpId="0" bldLvl="0" animBg="1"/>
      <p:bldP spid="53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082040" y="758041"/>
            <a:ext cx="10268936" cy="5262979"/>
          </a:xfrm>
          <a:prstGeom prst="rect">
            <a:avLst/>
          </a:prstGeom>
          <a:ln>
            <a:solidFill>
              <a:srgbClr val="5C307D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template &lt;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typename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BiTree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::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LevelOrder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)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BiNode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*Q[100], *q =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front = -1, rear = -1;               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(root == </a:t>
            </a:r>
            <a:r>
              <a:rPr lang="en-US" altLang="zh-CN" sz="2400" dirty="0" err="1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altLang="zh-CN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return; </a:t>
            </a:r>
            <a:endParaRPr lang="zh-CN" altLang="zh-CN" sz="2400" dirty="0">
              <a:solidFill>
                <a:srgbClr val="B4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Q[++rear] = root;                        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dirty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(front != rear)</a:t>
            </a:r>
            <a:endParaRPr lang="zh-CN" altLang="zh-CN" sz="2400" dirty="0">
              <a:solidFill>
                <a:srgbClr val="5C307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= Q[++front];     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q-&gt;data;   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(q-&gt;</a:t>
            </a:r>
            <a:r>
              <a:rPr lang="en-US" altLang="zh-CN" sz="2400" dirty="0" err="1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lchild</a:t>
            </a:r>
            <a:r>
              <a:rPr lang="en-US" altLang="zh-CN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!= </a:t>
            </a:r>
            <a:r>
              <a:rPr lang="en-US" altLang="zh-CN" sz="2400" dirty="0" err="1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altLang="zh-CN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Q[++rear] = q-&gt;</a:t>
            </a:r>
            <a:r>
              <a:rPr lang="en-US" altLang="zh-CN" sz="2400" dirty="0" err="1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lchild</a:t>
            </a:r>
            <a:r>
              <a:rPr lang="en-US" altLang="zh-CN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400" dirty="0">
              <a:solidFill>
                <a:srgbClr val="B4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(q-&gt;</a:t>
            </a:r>
            <a:r>
              <a:rPr lang="en-US" altLang="zh-CN" sz="2400" dirty="0" err="1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rchild</a:t>
            </a:r>
            <a:r>
              <a:rPr lang="en-US" altLang="zh-CN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!= </a:t>
            </a:r>
            <a:r>
              <a:rPr lang="en-US" altLang="zh-CN" sz="2400" dirty="0" err="1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altLang="zh-CN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Q[++rear] = q-&gt;</a:t>
            </a:r>
            <a:r>
              <a:rPr lang="en-US" altLang="zh-CN" sz="2400" dirty="0" err="1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rchild</a:t>
            </a:r>
            <a:r>
              <a:rPr lang="en-US" altLang="zh-CN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400" dirty="0">
              <a:solidFill>
                <a:srgbClr val="B4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8"/>
          <p:cNvGrpSpPr/>
          <p:nvPr/>
        </p:nvGrpSpPr>
        <p:grpSpPr>
          <a:xfrm>
            <a:off x="1856764" y="5510604"/>
            <a:ext cx="3080996" cy="523220"/>
            <a:chOff x="638167" y="1013457"/>
            <a:chExt cx="3080996" cy="523220"/>
          </a:xfrm>
        </p:grpSpPr>
        <p:grpSp>
          <p:nvGrpSpPr>
            <p:cNvPr id="4" name="Group 31"/>
            <p:cNvGrpSpPr/>
            <p:nvPr/>
          </p:nvGrpSpPr>
          <p:grpSpPr>
            <a:xfrm>
              <a:off x="638167" y="1075450"/>
              <a:ext cx="432000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12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11" name="Text Box 2"/>
            <p:cNvSpPr txBox="1">
              <a:spLocks noChangeArrowheads="1"/>
            </p:cNvSpPr>
            <p:nvPr/>
          </p:nvSpPr>
          <p:spPr bwMode="auto">
            <a:xfrm>
              <a:off x="1222566" y="1013457"/>
              <a:ext cx="249659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时间复杂度？</a:t>
              </a:r>
            </a:p>
          </p:txBody>
        </p:sp>
      </p:grpSp>
      <p:grpSp>
        <p:nvGrpSpPr>
          <p:cNvPr id="5" name="组合 15"/>
          <p:cNvGrpSpPr/>
          <p:nvPr/>
        </p:nvGrpSpPr>
        <p:grpSpPr>
          <a:xfrm>
            <a:off x="4937760" y="5525844"/>
            <a:ext cx="4901581" cy="523220"/>
            <a:chOff x="5440680" y="5525844"/>
            <a:chExt cx="4901581" cy="523220"/>
          </a:xfrm>
        </p:grpSpPr>
        <p:sp>
          <p:nvSpPr>
            <p:cNvPr id="17" name="Text Box 15"/>
            <p:cNvSpPr txBox="1">
              <a:spLocks noChangeArrowheads="1"/>
            </p:cNvSpPr>
            <p:nvPr/>
          </p:nvSpPr>
          <p:spPr bwMode="auto">
            <a:xfrm>
              <a:off x="6157824" y="5525844"/>
              <a:ext cx="4184437" cy="52322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每个结点进队出队一次</a:t>
              </a:r>
              <a:endParaRPr lang="en-US" altLang="zh-CN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右箭头 17"/>
            <p:cNvSpPr/>
            <p:nvPr/>
          </p:nvSpPr>
          <p:spPr>
            <a:xfrm>
              <a:off x="5440680" y="5629630"/>
              <a:ext cx="576000" cy="324000"/>
            </a:xfrm>
            <a:prstGeom prst="rightArrow">
              <a:avLst/>
            </a:prstGeom>
            <a:noFill/>
            <a:ln w="28575">
              <a:solidFill>
                <a:srgbClr val="B42D2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Group 16"/>
          <p:cNvGrpSpPr/>
          <p:nvPr/>
        </p:nvGrpSpPr>
        <p:grpSpPr bwMode="auto">
          <a:xfrm>
            <a:off x="10414350" y="3221317"/>
            <a:ext cx="936626" cy="2232042"/>
            <a:chOff x="5090" y="2206"/>
            <a:chExt cx="590" cy="1406"/>
          </a:xfrm>
        </p:grpSpPr>
        <p:sp>
          <p:nvSpPr>
            <p:cNvPr id="20" name="AutoShape 9"/>
            <p:cNvSpPr/>
            <p:nvPr/>
          </p:nvSpPr>
          <p:spPr bwMode="auto">
            <a:xfrm>
              <a:off x="5090" y="2206"/>
              <a:ext cx="159" cy="1406"/>
            </a:xfrm>
            <a:prstGeom prst="rightBrace">
              <a:avLst>
                <a:gd name="adj1" fmla="val 38375"/>
                <a:gd name="adj2" fmla="val 50000"/>
              </a:avLst>
            </a:prstGeom>
            <a:noFill/>
            <a:ln w="28575">
              <a:solidFill>
                <a:srgbClr val="5C307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" name="Text Box 10"/>
            <p:cNvSpPr txBox="1">
              <a:spLocks noChangeArrowheads="1"/>
            </p:cNvSpPr>
            <p:nvPr/>
          </p:nvSpPr>
          <p:spPr bwMode="auto">
            <a:xfrm>
              <a:off x="5225" y="2784"/>
              <a:ext cx="45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</a:rPr>
                <a:t>O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)</a:t>
              </a:r>
            </a:p>
          </p:txBody>
        </p:sp>
      </p:grpSp>
      <p:grpSp>
        <p:nvGrpSpPr>
          <p:cNvPr id="7" name="组合 34"/>
          <p:cNvGrpSpPr/>
          <p:nvPr/>
        </p:nvGrpSpPr>
        <p:grpSpPr>
          <a:xfrm>
            <a:off x="9446234" y="5513040"/>
            <a:ext cx="1738343" cy="523220"/>
            <a:chOff x="5440680" y="5495364"/>
            <a:chExt cx="1738343" cy="523220"/>
          </a:xfrm>
        </p:grpSpPr>
        <p:sp>
          <p:nvSpPr>
            <p:cNvPr id="36" name="Text Box 15"/>
            <p:cNvSpPr txBox="1">
              <a:spLocks noChangeArrowheads="1"/>
            </p:cNvSpPr>
            <p:nvPr/>
          </p:nvSpPr>
          <p:spPr bwMode="auto">
            <a:xfrm>
              <a:off x="6279744" y="5495364"/>
              <a:ext cx="899279" cy="52322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i="1" dirty="0">
                  <a:latin typeface="Times New Roman" panose="02020603050405020304" pitchFamily="18" charset="0"/>
                </a:rPr>
                <a:t>O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39" name="右箭头 38"/>
            <p:cNvSpPr/>
            <p:nvPr/>
          </p:nvSpPr>
          <p:spPr>
            <a:xfrm>
              <a:off x="5440680" y="5629630"/>
              <a:ext cx="576000" cy="324000"/>
            </a:xfrm>
            <a:prstGeom prst="rightArrow">
              <a:avLst/>
            </a:prstGeom>
            <a:noFill/>
            <a:ln w="28575">
              <a:solidFill>
                <a:srgbClr val="B42D2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Rounded Rectangle 10"/>
          <p:cNvSpPr/>
          <p:nvPr/>
        </p:nvSpPr>
        <p:spPr>
          <a:xfrm>
            <a:off x="542923" y="100964"/>
            <a:ext cx="3672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35528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二叉树的层序遍历</a:t>
            </a:r>
          </a:p>
        </p:txBody>
      </p:sp>
    </p:spTree>
    <p:extLst>
      <p:ext uri="{BB962C8B-B14F-4D97-AF65-F5344CB8AC3E}">
        <p14:creationId xmlns:p14="http://schemas.microsoft.com/office/powerpoint/2010/main" val="4191977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Box 8"/>
          <p:cNvSpPr txBox="1">
            <a:spLocks noChangeArrowheads="1"/>
          </p:cNvSpPr>
          <p:nvPr/>
        </p:nvSpPr>
        <p:spPr bwMode="auto">
          <a:xfrm>
            <a:off x="1447881" y="1525227"/>
            <a:ext cx="10256520" cy="1118255"/>
          </a:xfrm>
          <a:prstGeom prst="rect">
            <a:avLst/>
          </a:prstGeom>
          <a:noFill/>
          <a:ln w="38100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遍历将二叉树审视一遍，将非线性结构转换为</a:t>
            </a:r>
            <a:r>
              <a:rPr lang="zh-CN" altLang="en-US" sz="24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线性结构</a:t>
            </a:r>
            <a:endParaRPr lang="en-US" altLang="zh-CN" sz="2400" dirty="0">
              <a:solidFill>
                <a:srgbClr val="B42D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ts val="4000"/>
              </a:lnSpc>
            </a:pPr>
            <a:r>
              <a:rPr lang="zh-CN" altLang="en-US" sz="24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遍历是二叉树各种操作的基础</a:t>
            </a:r>
            <a:r>
              <a: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，可以在遍历的过程中建立一棵二叉树</a:t>
            </a:r>
          </a:p>
        </p:txBody>
      </p:sp>
      <p:sp>
        <p:nvSpPr>
          <p:cNvPr id="2" name="梯形 1"/>
          <p:cNvSpPr/>
          <p:nvPr/>
        </p:nvSpPr>
        <p:spPr>
          <a:xfrm>
            <a:off x="4369961" y="3524136"/>
            <a:ext cx="2052000" cy="1728000"/>
          </a:xfrm>
          <a:prstGeom prst="trapezoid">
            <a:avLst/>
          </a:prstGeom>
          <a:noFill/>
          <a:ln w="28575">
            <a:solidFill>
              <a:srgbClr val="6E6E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37"/>
          <p:cNvSpPr>
            <a:spLocks noChangeArrowheads="1"/>
          </p:cNvSpPr>
          <p:nvPr/>
        </p:nvSpPr>
        <p:spPr bwMode="auto">
          <a:xfrm>
            <a:off x="5173001" y="3684507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605324" y="4060606"/>
            <a:ext cx="720000" cy="1071540"/>
            <a:chOff x="8480203" y="4848347"/>
            <a:chExt cx="720000" cy="1071540"/>
          </a:xfrm>
        </p:grpSpPr>
        <p:sp>
          <p:nvSpPr>
            <p:cNvPr id="11" name="梯形 10"/>
            <p:cNvSpPr/>
            <p:nvPr/>
          </p:nvSpPr>
          <p:spPr>
            <a:xfrm>
              <a:off x="8480203" y="5199887"/>
              <a:ext cx="720000" cy="720000"/>
            </a:xfrm>
            <a:prstGeom prst="trapezoid">
              <a:avLst/>
            </a:prstGeom>
            <a:noFill/>
            <a:ln w="28575">
              <a:solidFill>
                <a:srgbClr val="6E6E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3000"/>
                </a:lnSpc>
              </a:pPr>
              <a:r>
                <a:rPr lang="en-US" altLang="zh-CN" sz="2800" dirty="0">
                  <a:solidFill>
                    <a:srgbClr val="40404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zh-CN" altLang="en-US" sz="28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Line 25"/>
            <p:cNvSpPr>
              <a:spLocks noChangeShapeType="1"/>
            </p:cNvSpPr>
            <p:nvPr/>
          </p:nvSpPr>
          <p:spPr bwMode="auto">
            <a:xfrm flipH="1">
              <a:off x="8840201" y="4848347"/>
              <a:ext cx="255588" cy="336300"/>
            </a:xfrm>
            <a:prstGeom prst="line">
              <a:avLst/>
            </a:prstGeom>
            <a:noFill/>
            <a:ln w="38100">
              <a:solidFill>
                <a:srgbClr val="285A3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469924" y="4063143"/>
            <a:ext cx="720000" cy="1069003"/>
            <a:chOff x="9344803" y="4850884"/>
            <a:chExt cx="720000" cy="1069003"/>
          </a:xfrm>
        </p:grpSpPr>
        <p:sp>
          <p:nvSpPr>
            <p:cNvPr id="14" name="Line 25"/>
            <p:cNvSpPr>
              <a:spLocks noChangeShapeType="1"/>
            </p:cNvSpPr>
            <p:nvPr/>
          </p:nvSpPr>
          <p:spPr bwMode="auto">
            <a:xfrm>
              <a:off x="9419520" y="4850884"/>
              <a:ext cx="255588" cy="336300"/>
            </a:xfrm>
            <a:prstGeom prst="line">
              <a:avLst/>
            </a:prstGeom>
            <a:noFill/>
            <a:ln w="38100">
              <a:solidFill>
                <a:srgbClr val="285A3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5" name="梯形 14"/>
            <p:cNvSpPr/>
            <p:nvPr/>
          </p:nvSpPr>
          <p:spPr>
            <a:xfrm>
              <a:off x="9344803" y="5199887"/>
              <a:ext cx="720000" cy="720000"/>
            </a:xfrm>
            <a:prstGeom prst="trapezoid">
              <a:avLst/>
            </a:prstGeom>
            <a:noFill/>
            <a:ln w="28575">
              <a:solidFill>
                <a:srgbClr val="6E6E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3000"/>
                </a:lnSpc>
              </a:pPr>
              <a:r>
                <a:rPr lang="en-US" altLang="zh-CN" sz="2800" dirty="0">
                  <a:solidFill>
                    <a:srgbClr val="40404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CN" altLang="en-US" sz="28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组合 16"/>
          <p:cNvGrpSpPr/>
          <p:nvPr/>
        </p:nvGrpSpPr>
        <p:grpSpPr>
          <a:xfrm>
            <a:off x="850350" y="952588"/>
            <a:ext cx="9482370" cy="523220"/>
            <a:chOff x="1826091" y="4148024"/>
            <a:chExt cx="9482370" cy="523220"/>
          </a:xfrm>
        </p:grpSpPr>
        <p:sp>
          <p:nvSpPr>
            <p:cNvPr id="18" name="Text Box 11"/>
            <p:cNvSpPr txBox="1">
              <a:spLocks noChangeArrowheads="1"/>
            </p:cNvSpPr>
            <p:nvPr/>
          </p:nvSpPr>
          <p:spPr bwMode="auto">
            <a:xfrm>
              <a:off x="2385059" y="4148024"/>
              <a:ext cx="892340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在内存中建立一棵二叉链表，如何输入二叉树的信息？</a:t>
              </a:r>
            </a:p>
          </p:txBody>
        </p:sp>
        <p:grpSp>
          <p:nvGrpSpPr>
            <p:cNvPr id="7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20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25" name="Rounded Rectangle 10"/>
          <p:cNvSpPr/>
          <p:nvPr/>
        </p:nvSpPr>
        <p:spPr>
          <a:xfrm>
            <a:off x="542923" y="100964"/>
            <a:ext cx="3240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323279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二叉链表的建立</a:t>
            </a:r>
          </a:p>
        </p:txBody>
      </p:sp>
    </p:spTree>
    <p:extLst>
      <p:ext uri="{BB962C8B-B14F-4D97-AF65-F5344CB8AC3E}">
        <p14:creationId xmlns:p14="http://schemas.microsoft.com/office/powerpoint/2010/main" val="3909921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5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5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70" grpId="0" bldLvl="0" animBg="1"/>
      <p:bldP spid="2" grpId="0" bldLvl="0" animBg="1"/>
      <p:bldP spid="10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6"/>
          <p:cNvGrpSpPr/>
          <p:nvPr/>
        </p:nvGrpSpPr>
        <p:grpSpPr>
          <a:xfrm>
            <a:off x="850350" y="952588"/>
            <a:ext cx="9482370" cy="523220"/>
            <a:chOff x="1826091" y="4148024"/>
            <a:chExt cx="9482370" cy="523220"/>
          </a:xfrm>
        </p:grpSpPr>
        <p:sp>
          <p:nvSpPr>
            <p:cNvPr id="18" name="Text Box 11"/>
            <p:cNvSpPr txBox="1">
              <a:spLocks noChangeArrowheads="1"/>
            </p:cNvSpPr>
            <p:nvPr/>
          </p:nvSpPr>
          <p:spPr bwMode="auto">
            <a:xfrm>
              <a:off x="2385059" y="4148024"/>
              <a:ext cx="892340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如何由一种遍历序列生成该二叉树？</a:t>
              </a:r>
            </a:p>
          </p:txBody>
        </p:sp>
        <p:grpSp>
          <p:nvGrpSpPr>
            <p:cNvPr id="3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20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4" name="组合 26"/>
          <p:cNvGrpSpPr/>
          <p:nvPr/>
        </p:nvGrpSpPr>
        <p:grpSpPr>
          <a:xfrm>
            <a:off x="1672708" y="2867949"/>
            <a:ext cx="2029024" cy="2204532"/>
            <a:chOff x="5203030" y="646360"/>
            <a:chExt cx="2029024" cy="2204532"/>
          </a:xfrm>
          <a:solidFill>
            <a:srgbClr val="B4B4BE"/>
          </a:solidFill>
        </p:grpSpPr>
        <p:sp>
          <p:nvSpPr>
            <p:cNvPr id="28" name="Line 25"/>
            <p:cNvSpPr>
              <a:spLocks noChangeShapeType="1"/>
            </p:cNvSpPr>
            <p:nvPr/>
          </p:nvSpPr>
          <p:spPr bwMode="auto">
            <a:xfrm flipH="1">
              <a:off x="5566884" y="982910"/>
              <a:ext cx="511175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29" name="Line 26"/>
            <p:cNvSpPr>
              <a:spLocks noChangeShapeType="1"/>
            </p:cNvSpPr>
            <p:nvPr/>
          </p:nvSpPr>
          <p:spPr bwMode="auto">
            <a:xfrm>
              <a:off x="6451122" y="982909"/>
              <a:ext cx="432000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0" name="Line 28"/>
            <p:cNvSpPr>
              <a:spLocks noChangeShapeType="1"/>
            </p:cNvSpPr>
            <p:nvPr/>
          </p:nvSpPr>
          <p:spPr bwMode="auto">
            <a:xfrm>
              <a:off x="5536404" y="1848930"/>
              <a:ext cx="324000" cy="612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1" name="Oval 37"/>
            <p:cNvSpPr>
              <a:spLocks noChangeArrowheads="1"/>
            </p:cNvSpPr>
            <p:nvPr/>
          </p:nvSpPr>
          <p:spPr bwMode="auto">
            <a:xfrm>
              <a:off x="6058375" y="646360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Oval 37"/>
            <p:cNvSpPr>
              <a:spLocks noChangeArrowheads="1"/>
            </p:cNvSpPr>
            <p:nvPr/>
          </p:nvSpPr>
          <p:spPr bwMode="auto">
            <a:xfrm>
              <a:off x="6800054" y="1462651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03030" y="1462651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Oval 37"/>
            <p:cNvSpPr>
              <a:spLocks noChangeArrowheads="1"/>
            </p:cNvSpPr>
            <p:nvPr/>
          </p:nvSpPr>
          <p:spPr bwMode="auto">
            <a:xfrm>
              <a:off x="5757005" y="241889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6" name="Text Box 45"/>
          <p:cNvSpPr txBox="1">
            <a:spLocks noChangeArrowheads="1"/>
          </p:cNvSpPr>
          <p:nvPr/>
        </p:nvSpPr>
        <p:spPr bwMode="auto">
          <a:xfrm>
            <a:off x="2104708" y="5555461"/>
            <a:ext cx="7823200" cy="578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/>
          <a:lstStyle/>
          <a:p>
            <a:pPr algn="just" eaLnBrk="0" hangingPunct="0"/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扩展二叉树的前序遍历序列：</a:t>
            </a:r>
            <a:r>
              <a:rPr lang="en-US" altLang="zh-CN" sz="2800" b="1" i="1" dirty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 B </a:t>
            </a:r>
            <a:r>
              <a:rPr lang="en-US" altLang="zh-CN" sz="2800" b="1" dirty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 </a:t>
            </a:r>
            <a:r>
              <a:rPr lang="en-US" altLang="zh-CN" sz="2800" b="1" i="1" dirty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 </a:t>
            </a:r>
            <a:r>
              <a:rPr lang="en-US" altLang="zh-CN" sz="2800" b="1" dirty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 # </a:t>
            </a:r>
            <a:r>
              <a:rPr lang="en-US" altLang="zh-CN" sz="2800" b="1" i="1" dirty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 </a:t>
            </a:r>
            <a:r>
              <a:rPr lang="en-US" altLang="zh-CN" sz="2800" b="1" dirty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 #</a:t>
            </a:r>
          </a:p>
        </p:txBody>
      </p:sp>
      <p:grpSp>
        <p:nvGrpSpPr>
          <p:cNvPr id="5" name="组合 6"/>
          <p:cNvGrpSpPr/>
          <p:nvPr/>
        </p:nvGrpSpPr>
        <p:grpSpPr>
          <a:xfrm>
            <a:off x="858329" y="1592668"/>
            <a:ext cx="10541190" cy="1118255"/>
            <a:chOff x="858329" y="1729828"/>
            <a:chExt cx="10541190" cy="1118255"/>
          </a:xfrm>
        </p:grpSpPr>
        <p:sp>
          <p:nvSpPr>
            <p:cNvPr id="40" name="Text Box 11"/>
            <p:cNvSpPr txBox="1">
              <a:spLocks noChangeArrowheads="1"/>
            </p:cNvSpPr>
            <p:nvPr/>
          </p:nvSpPr>
          <p:spPr bwMode="auto">
            <a:xfrm>
              <a:off x="1377800" y="1729828"/>
              <a:ext cx="10021719" cy="1118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ts val="4000"/>
                </a:lnSpc>
              </a:pPr>
              <a:r>
                <a:rPr lang="zh-CN" altLang="zh-CN" sz="2800" dirty="0">
                  <a:solidFill>
                    <a:srgbClr val="285A3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扩展二叉树</a:t>
              </a: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zh-CN" altLang="zh-CN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将二叉树中每个结点的</a:t>
              </a:r>
              <a:r>
                <a:rPr lang="zh-CN" altLang="zh-CN" sz="2800" dirty="0">
                  <a:solidFill>
                    <a:srgbClr val="B42D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空指针</a:t>
              </a:r>
              <a:r>
                <a:rPr lang="zh-CN" altLang="zh-CN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引出一个虚结点，其值为一特定值如</a:t>
              </a:r>
              <a:r>
                <a:rPr lang="en-US" altLang="zh-CN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'#'</a:t>
              </a:r>
              <a:endPara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" name="Group 67"/>
            <p:cNvGrpSpPr/>
            <p:nvPr/>
          </p:nvGrpSpPr>
          <p:grpSpPr>
            <a:xfrm>
              <a:off x="858329" y="1779647"/>
              <a:ext cx="432000" cy="432000"/>
              <a:chOff x="10115551" y="5634038"/>
              <a:chExt cx="577850" cy="576263"/>
            </a:xfrm>
            <a:solidFill>
              <a:srgbClr val="5A327D"/>
            </a:solidFill>
          </p:grpSpPr>
          <p:sp>
            <p:nvSpPr>
              <p:cNvPr id="47" name="Freeform 13"/>
              <p:cNvSpPr/>
              <p:nvPr/>
            </p:nvSpPr>
            <p:spPr bwMode="auto">
              <a:xfrm>
                <a:off x="10177463" y="5634038"/>
                <a:ext cx="515938" cy="517525"/>
              </a:xfrm>
              <a:custGeom>
                <a:avLst/>
                <a:gdLst>
                  <a:gd name="T0" fmla="*/ 174 w 176"/>
                  <a:gd name="T1" fmla="*/ 61 h 176"/>
                  <a:gd name="T2" fmla="*/ 115 w 176"/>
                  <a:gd name="T3" fmla="*/ 2 h 176"/>
                  <a:gd name="T4" fmla="*/ 110 w 176"/>
                  <a:gd name="T5" fmla="*/ 2 h 176"/>
                  <a:gd name="T6" fmla="*/ 91 w 176"/>
                  <a:gd name="T7" fmla="*/ 20 h 176"/>
                  <a:gd name="T8" fmla="*/ 90 w 176"/>
                  <a:gd name="T9" fmla="*/ 23 h 176"/>
                  <a:gd name="T10" fmla="*/ 91 w 176"/>
                  <a:gd name="T11" fmla="*/ 26 h 176"/>
                  <a:gd name="T12" fmla="*/ 96 w 176"/>
                  <a:gd name="T13" fmla="*/ 31 h 176"/>
                  <a:gd name="T14" fmla="*/ 69 w 176"/>
                  <a:gd name="T15" fmla="*/ 58 h 176"/>
                  <a:gd name="T16" fmla="*/ 50 w 176"/>
                  <a:gd name="T17" fmla="*/ 56 h 176"/>
                  <a:gd name="T18" fmla="*/ 1 w 176"/>
                  <a:gd name="T19" fmla="*/ 76 h 176"/>
                  <a:gd name="T20" fmla="*/ 1 w 176"/>
                  <a:gd name="T21" fmla="*/ 82 h 176"/>
                  <a:gd name="T22" fmla="*/ 94 w 176"/>
                  <a:gd name="T23" fmla="*/ 175 h 176"/>
                  <a:gd name="T24" fmla="*/ 97 w 176"/>
                  <a:gd name="T25" fmla="*/ 176 h 176"/>
                  <a:gd name="T26" fmla="*/ 100 w 176"/>
                  <a:gd name="T27" fmla="*/ 175 h 176"/>
                  <a:gd name="T28" fmla="*/ 118 w 176"/>
                  <a:gd name="T29" fmla="*/ 107 h 176"/>
                  <a:gd name="T30" fmla="*/ 145 w 176"/>
                  <a:gd name="T31" fmla="*/ 80 h 176"/>
                  <a:gd name="T32" fmla="*/ 150 w 176"/>
                  <a:gd name="T33" fmla="*/ 85 h 176"/>
                  <a:gd name="T34" fmla="*/ 156 w 176"/>
                  <a:gd name="T35" fmla="*/ 85 h 176"/>
                  <a:gd name="T36" fmla="*/ 174 w 176"/>
                  <a:gd name="T37" fmla="*/ 66 h 176"/>
                  <a:gd name="T38" fmla="*/ 176 w 176"/>
                  <a:gd name="T39" fmla="*/ 63 h 176"/>
                  <a:gd name="T40" fmla="*/ 174 w 176"/>
                  <a:gd name="T41" fmla="*/ 61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76" h="176">
                    <a:moveTo>
                      <a:pt x="174" y="61"/>
                    </a:moveTo>
                    <a:cubicBezTo>
                      <a:pt x="115" y="2"/>
                      <a:pt x="115" y="2"/>
                      <a:pt x="115" y="2"/>
                    </a:cubicBezTo>
                    <a:cubicBezTo>
                      <a:pt x="114" y="0"/>
                      <a:pt x="111" y="0"/>
                      <a:pt x="110" y="2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0" y="21"/>
                      <a:pt x="90" y="22"/>
                      <a:pt x="90" y="23"/>
                    </a:cubicBezTo>
                    <a:cubicBezTo>
                      <a:pt x="90" y="24"/>
                      <a:pt x="90" y="25"/>
                      <a:pt x="91" y="26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69" y="58"/>
                      <a:pt x="69" y="58"/>
                      <a:pt x="69" y="58"/>
                    </a:cubicBezTo>
                    <a:cubicBezTo>
                      <a:pt x="63" y="57"/>
                      <a:pt x="57" y="56"/>
                      <a:pt x="50" y="56"/>
                    </a:cubicBezTo>
                    <a:cubicBezTo>
                      <a:pt x="32" y="56"/>
                      <a:pt x="14" y="63"/>
                      <a:pt x="1" y="76"/>
                    </a:cubicBezTo>
                    <a:cubicBezTo>
                      <a:pt x="0" y="78"/>
                      <a:pt x="0" y="80"/>
                      <a:pt x="1" y="82"/>
                    </a:cubicBezTo>
                    <a:cubicBezTo>
                      <a:pt x="94" y="175"/>
                      <a:pt x="94" y="175"/>
                      <a:pt x="94" y="175"/>
                    </a:cubicBezTo>
                    <a:cubicBezTo>
                      <a:pt x="95" y="175"/>
                      <a:pt x="96" y="176"/>
                      <a:pt x="97" y="176"/>
                    </a:cubicBezTo>
                    <a:cubicBezTo>
                      <a:pt x="98" y="176"/>
                      <a:pt x="99" y="175"/>
                      <a:pt x="100" y="175"/>
                    </a:cubicBezTo>
                    <a:cubicBezTo>
                      <a:pt x="117" y="157"/>
                      <a:pt x="124" y="131"/>
                      <a:pt x="118" y="107"/>
                    </a:cubicBezTo>
                    <a:cubicBezTo>
                      <a:pt x="145" y="80"/>
                      <a:pt x="145" y="80"/>
                      <a:pt x="145" y="80"/>
                    </a:cubicBezTo>
                    <a:cubicBezTo>
                      <a:pt x="150" y="85"/>
                      <a:pt x="150" y="85"/>
                      <a:pt x="150" y="85"/>
                    </a:cubicBezTo>
                    <a:cubicBezTo>
                      <a:pt x="152" y="86"/>
                      <a:pt x="154" y="86"/>
                      <a:pt x="156" y="85"/>
                    </a:cubicBezTo>
                    <a:cubicBezTo>
                      <a:pt x="174" y="66"/>
                      <a:pt x="174" y="66"/>
                      <a:pt x="174" y="66"/>
                    </a:cubicBezTo>
                    <a:cubicBezTo>
                      <a:pt x="175" y="65"/>
                      <a:pt x="176" y="64"/>
                      <a:pt x="176" y="63"/>
                    </a:cubicBezTo>
                    <a:cubicBezTo>
                      <a:pt x="176" y="62"/>
                      <a:pt x="175" y="61"/>
                      <a:pt x="174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14"/>
              <p:cNvSpPr/>
              <p:nvPr/>
            </p:nvSpPr>
            <p:spPr bwMode="auto">
              <a:xfrm>
                <a:off x="10115551" y="5983288"/>
                <a:ext cx="228600" cy="227013"/>
              </a:xfrm>
              <a:custGeom>
                <a:avLst/>
                <a:gdLst>
                  <a:gd name="T0" fmla="*/ 7 w 78"/>
                  <a:gd name="T1" fmla="*/ 77 h 77"/>
                  <a:gd name="T2" fmla="*/ 2 w 78"/>
                  <a:gd name="T3" fmla="*/ 76 h 77"/>
                  <a:gd name="T4" fmla="*/ 2 w 78"/>
                  <a:gd name="T5" fmla="*/ 67 h 77"/>
                  <a:gd name="T6" fmla="*/ 67 w 78"/>
                  <a:gd name="T7" fmla="*/ 2 h 77"/>
                  <a:gd name="T8" fmla="*/ 76 w 78"/>
                  <a:gd name="T9" fmla="*/ 2 h 77"/>
                  <a:gd name="T10" fmla="*/ 76 w 78"/>
                  <a:gd name="T11" fmla="*/ 11 h 77"/>
                  <a:gd name="T12" fmla="*/ 11 w 78"/>
                  <a:gd name="T13" fmla="*/ 76 h 77"/>
                  <a:gd name="T14" fmla="*/ 7 w 78"/>
                  <a:gd name="T15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8" h="77">
                    <a:moveTo>
                      <a:pt x="7" y="77"/>
                    </a:moveTo>
                    <a:cubicBezTo>
                      <a:pt x="5" y="77"/>
                      <a:pt x="3" y="77"/>
                      <a:pt x="2" y="76"/>
                    </a:cubicBezTo>
                    <a:cubicBezTo>
                      <a:pt x="0" y="73"/>
                      <a:pt x="0" y="70"/>
                      <a:pt x="2" y="67"/>
                    </a:cubicBezTo>
                    <a:cubicBezTo>
                      <a:pt x="67" y="2"/>
                      <a:pt x="67" y="2"/>
                      <a:pt x="67" y="2"/>
                    </a:cubicBezTo>
                    <a:cubicBezTo>
                      <a:pt x="70" y="0"/>
                      <a:pt x="73" y="0"/>
                      <a:pt x="76" y="2"/>
                    </a:cubicBezTo>
                    <a:cubicBezTo>
                      <a:pt x="78" y="5"/>
                      <a:pt x="78" y="8"/>
                      <a:pt x="76" y="11"/>
                    </a:cubicBezTo>
                    <a:cubicBezTo>
                      <a:pt x="11" y="76"/>
                      <a:pt x="11" y="76"/>
                      <a:pt x="11" y="76"/>
                    </a:cubicBezTo>
                    <a:cubicBezTo>
                      <a:pt x="10" y="77"/>
                      <a:pt x="8" y="77"/>
                      <a:pt x="7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7" name="组合 8"/>
          <p:cNvGrpSpPr/>
          <p:nvPr/>
        </p:nvGrpSpPr>
        <p:grpSpPr>
          <a:xfrm>
            <a:off x="7707748" y="2319603"/>
            <a:ext cx="2029024" cy="2204532"/>
            <a:chOff x="7707748" y="2319603"/>
            <a:chExt cx="2029024" cy="2204532"/>
          </a:xfrm>
          <a:solidFill>
            <a:srgbClr val="B4B4BE"/>
          </a:solidFill>
        </p:grpSpPr>
        <p:sp>
          <p:nvSpPr>
            <p:cNvPr id="50" name="Line 25"/>
            <p:cNvSpPr>
              <a:spLocks noChangeShapeType="1"/>
            </p:cNvSpPr>
            <p:nvPr/>
          </p:nvSpPr>
          <p:spPr bwMode="auto">
            <a:xfrm flipH="1">
              <a:off x="8071602" y="2656153"/>
              <a:ext cx="511175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51" name="Line 26"/>
            <p:cNvSpPr>
              <a:spLocks noChangeShapeType="1"/>
            </p:cNvSpPr>
            <p:nvPr/>
          </p:nvSpPr>
          <p:spPr bwMode="auto">
            <a:xfrm>
              <a:off x="8955840" y="2656152"/>
              <a:ext cx="432000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52" name="Line 28"/>
            <p:cNvSpPr>
              <a:spLocks noChangeShapeType="1"/>
            </p:cNvSpPr>
            <p:nvPr/>
          </p:nvSpPr>
          <p:spPr bwMode="auto">
            <a:xfrm>
              <a:off x="8041122" y="3522173"/>
              <a:ext cx="324000" cy="612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53" name="Oval 37"/>
            <p:cNvSpPr>
              <a:spLocks noChangeArrowheads="1"/>
            </p:cNvSpPr>
            <p:nvPr/>
          </p:nvSpPr>
          <p:spPr bwMode="auto">
            <a:xfrm>
              <a:off x="8563093" y="231960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Oval 37"/>
            <p:cNvSpPr>
              <a:spLocks noChangeArrowheads="1"/>
            </p:cNvSpPr>
            <p:nvPr/>
          </p:nvSpPr>
          <p:spPr bwMode="auto">
            <a:xfrm>
              <a:off x="9304772" y="313589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Oval 37"/>
            <p:cNvSpPr>
              <a:spLocks noChangeArrowheads="1"/>
            </p:cNvSpPr>
            <p:nvPr/>
          </p:nvSpPr>
          <p:spPr bwMode="auto">
            <a:xfrm>
              <a:off x="7707748" y="313589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Oval 37"/>
            <p:cNvSpPr>
              <a:spLocks noChangeArrowheads="1"/>
            </p:cNvSpPr>
            <p:nvPr/>
          </p:nvSpPr>
          <p:spPr bwMode="auto">
            <a:xfrm>
              <a:off x="8261723" y="4092135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7143668" y="3525002"/>
            <a:ext cx="3162264" cy="1932322"/>
            <a:chOff x="7143668" y="3403082"/>
            <a:chExt cx="3162264" cy="1932322"/>
          </a:xfrm>
        </p:grpSpPr>
        <p:sp>
          <p:nvSpPr>
            <p:cNvPr id="57" name="Line 25"/>
            <p:cNvSpPr>
              <a:spLocks noChangeShapeType="1"/>
            </p:cNvSpPr>
            <p:nvPr/>
          </p:nvSpPr>
          <p:spPr bwMode="auto">
            <a:xfrm flipH="1">
              <a:off x="7468986" y="3403082"/>
              <a:ext cx="324000" cy="576000"/>
            </a:xfrm>
            <a:prstGeom prst="line">
              <a:avLst/>
            </a:prstGeom>
            <a:noFill/>
            <a:ln w="38100">
              <a:solidFill>
                <a:srgbClr val="5A327D"/>
              </a:solidFill>
              <a:prstDash val="sys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58" name="Oval 37"/>
            <p:cNvSpPr>
              <a:spLocks noChangeArrowheads="1"/>
            </p:cNvSpPr>
            <p:nvPr/>
          </p:nvSpPr>
          <p:spPr bwMode="auto">
            <a:xfrm>
              <a:off x="7143668" y="3943784"/>
              <a:ext cx="432000" cy="432000"/>
            </a:xfrm>
            <a:prstGeom prst="ellipse">
              <a:avLst/>
            </a:prstGeom>
            <a:noFill/>
            <a:ln w="28575">
              <a:solidFill>
                <a:srgbClr val="5A32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#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Line 25"/>
            <p:cNvSpPr>
              <a:spLocks noChangeShapeType="1"/>
            </p:cNvSpPr>
            <p:nvPr/>
          </p:nvSpPr>
          <p:spPr bwMode="auto">
            <a:xfrm flipH="1">
              <a:off x="8049694" y="4356738"/>
              <a:ext cx="324000" cy="576000"/>
            </a:xfrm>
            <a:prstGeom prst="line">
              <a:avLst/>
            </a:prstGeom>
            <a:noFill/>
            <a:ln w="38100">
              <a:solidFill>
                <a:srgbClr val="5A327D"/>
              </a:solidFill>
              <a:prstDash val="sys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60" name="Oval 37"/>
            <p:cNvSpPr>
              <a:spLocks noChangeArrowheads="1"/>
            </p:cNvSpPr>
            <p:nvPr/>
          </p:nvSpPr>
          <p:spPr bwMode="auto">
            <a:xfrm>
              <a:off x="7724376" y="4897440"/>
              <a:ext cx="432000" cy="432000"/>
            </a:xfrm>
            <a:prstGeom prst="ellipse">
              <a:avLst/>
            </a:prstGeom>
            <a:noFill/>
            <a:ln w="28575">
              <a:solidFill>
                <a:srgbClr val="5A32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#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Line 25"/>
            <p:cNvSpPr>
              <a:spLocks noChangeShapeType="1"/>
            </p:cNvSpPr>
            <p:nvPr/>
          </p:nvSpPr>
          <p:spPr bwMode="auto">
            <a:xfrm flipH="1">
              <a:off x="9105999" y="3432617"/>
              <a:ext cx="324000" cy="576000"/>
            </a:xfrm>
            <a:prstGeom prst="line">
              <a:avLst/>
            </a:prstGeom>
            <a:noFill/>
            <a:ln w="38100">
              <a:solidFill>
                <a:srgbClr val="5A327D"/>
              </a:solidFill>
              <a:prstDash val="sys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62" name="Oval 37"/>
            <p:cNvSpPr>
              <a:spLocks noChangeArrowheads="1"/>
            </p:cNvSpPr>
            <p:nvPr/>
          </p:nvSpPr>
          <p:spPr bwMode="auto">
            <a:xfrm>
              <a:off x="8780681" y="3973319"/>
              <a:ext cx="432000" cy="432000"/>
            </a:xfrm>
            <a:prstGeom prst="ellipse">
              <a:avLst/>
            </a:prstGeom>
            <a:noFill/>
            <a:ln w="28575">
              <a:solidFill>
                <a:srgbClr val="5A32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#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Oval 37"/>
            <p:cNvSpPr>
              <a:spLocks noChangeArrowheads="1"/>
            </p:cNvSpPr>
            <p:nvPr/>
          </p:nvSpPr>
          <p:spPr bwMode="auto">
            <a:xfrm>
              <a:off x="9873932" y="3994319"/>
              <a:ext cx="432000" cy="432000"/>
            </a:xfrm>
            <a:prstGeom prst="ellipse">
              <a:avLst/>
            </a:prstGeom>
            <a:noFill/>
            <a:ln w="28575">
              <a:solidFill>
                <a:srgbClr val="5A32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#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Line 25"/>
            <p:cNvSpPr>
              <a:spLocks noChangeShapeType="1"/>
            </p:cNvSpPr>
            <p:nvPr/>
          </p:nvSpPr>
          <p:spPr bwMode="auto">
            <a:xfrm flipH="1" flipV="1">
              <a:off x="9639784" y="3447653"/>
              <a:ext cx="324000" cy="576000"/>
            </a:xfrm>
            <a:prstGeom prst="line">
              <a:avLst/>
            </a:prstGeom>
            <a:noFill/>
            <a:ln w="38100">
              <a:solidFill>
                <a:srgbClr val="5A327D"/>
              </a:solidFill>
              <a:prstDash val="sys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66" name="Oval 37"/>
            <p:cNvSpPr>
              <a:spLocks noChangeArrowheads="1"/>
            </p:cNvSpPr>
            <p:nvPr/>
          </p:nvSpPr>
          <p:spPr bwMode="auto">
            <a:xfrm>
              <a:off x="8810224" y="4903404"/>
              <a:ext cx="432000" cy="432000"/>
            </a:xfrm>
            <a:prstGeom prst="ellipse">
              <a:avLst/>
            </a:prstGeom>
            <a:noFill/>
            <a:ln w="28575">
              <a:solidFill>
                <a:srgbClr val="5A32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#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Line 25"/>
            <p:cNvSpPr>
              <a:spLocks noChangeShapeType="1"/>
            </p:cNvSpPr>
            <p:nvPr/>
          </p:nvSpPr>
          <p:spPr bwMode="auto">
            <a:xfrm flipH="1" flipV="1">
              <a:off x="8576076" y="4356738"/>
              <a:ext cx="324000" cy="576000"/>
            </a:xfrm>
            <a:prstGeom prst="line">
              <a:avLst/>
            </a:prstGeom>
            <a:noFill/>
            <a:ln w="38100">
              <a:solidFill>
                <a:srgbClr val="5A327D"/>
              </a:solidFill>
              <a:prstDash val="sys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</p:grpSp>
      <p:sp>
        <p:nvSpPr>
          <p:cNvPr id="46" name="Rounded Rectangle 10"/>
          <p:cNvSpPr/>
          <p:nvPr/>
        </p:nvSpPr>
        <p:spPr>
          <a:xfrm>
            <a:off x="542923" y="100964"/>
            <a:ext cx="3240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323279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二叉链表的建立</a:t>
            </a:r>
          </a:p>
        </p:txBody>
      </p:sp>
    </p:spTree>
    <p:extLst>
      <p:ext uri="{BB962C8B-B14F-4D97-AF65-F5344CB8AC3E}">
        <p14:creationId xmlns:p14="http://schemas.microsoft.com/office/powerpoint/2010/main" val="3718938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3240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323279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二叉链表的建立</a:t>
            </a:r>
          </a:p>
        </p:txBody>
      </p:sp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792480" y="860256"/>
            <a:ext cx="10424160" cy="4893647"/>
          </a:xfrm>
          <a:prstGeom prst="rect">
            <a:avLst/>
          </a:prstGeom>
          <a:noFill/>
          <a:ln w="9525">
            <a:solidFill>
              <a:srgbClr val="285A32"/>
            </a:solidFill>
            <a:prstDash val="dash"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template &lt;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typename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DataType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BiNode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DataType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 *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BiTree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DataType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 :: 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Creat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BiNode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DataType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 *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bt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char 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cin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&gt;&gt; 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                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//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输入结点的数据信息，假设为字符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if (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== ‘#’) 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bt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nullptr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        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//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建立一棵空树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else {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bt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new 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BiNode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DataType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&gt;;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bt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-&gt;data = 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       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bt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lchild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Creat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bt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lchild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          //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递归建立左子树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bt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rchild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Creat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bt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rchild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          //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递归建立右子树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return 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bt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579752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3240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311087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二叉链表的销毁</a:t>
            </a:r>
          </a:p>
        </p:txBody>
      </p:sp>
      <p:grpSp>
        <p:nvGrpSpPr>
          <p:cNvPr id="2" name="组合 6"/>
          <p:cNvGrpSpPr/>
          <p:nvPr/>
        </p:nvGrpSpPr>
        <p:grpSpPr>
          <a:xfrm>
            <a:off x="850350" y="952588"/>
            <a:ext cx="9482370" cy="523220"/>
            <a:chOff x="1826091" y="4148024"/>
            <a:chExt cx="9482370" cy="523220"/>
          </a:xfrm>
        </p:grpSpPr>
        <p:sp>
          <p:nvSpPr>
            <p:cNvPr id="8" name="Text Box 11"/>
            <p:cNvSpPr txBox="1">
              <a:spLocks noChangeArrowheads="1"/>
            </p:cNvSpPr>
            <p:nvPr/>
          </p:nvSpPr>
          <p:spPr bwMode="auto">
            <a:xfrm>
              <a:off x="2385059" y="4148024"/>
              <a:ext cx="892340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为什么要销毁内存中的二叉链表？</a:t>
              </a:r>
            </a:p>
          </p:txBody>
        </p:sp>
        <p:grpSp>
          <p:nvGrpSpPr>
            <p:cNvPr id="5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10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3" name="矩形 2"/>
          <p:cNvSpPr/>
          <p:nvPr/>
        </p:nvSpPr>
        <p:spPr>
          <a:xfrm>
            <a:off x="1163444" y="1565255"/>
            <a:ext cx="10388476" cy="951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zh-CN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二叉链表是</a:t>
            </a:r>
            <a:r>
              <a:rPr lang="zh-CN" altLang="zh-CN" sz="24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动态存储分配</a:t>
            </a:r>
            <a:r>
              <a:rPr lang="zh-CN" altLang="zh-CN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，二叉链表的结点是在程序运行过程中动态申请的，在二叉链表变量退出作用域前，要释放二叉链表的存储空间</a:t>
            </a:r>
            <a:endParaRPr lang="zh-CN" altLang="en-US" sz="24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84082" y="2642056"/>
            <a:ext cx="8507718" cy="3426579"/>
          </a:xfrm>
          <a:prstGeom prst="rect">
            <a:avLst/>
          </a:prstGeom>
          <a:ln>
            <a:solidFill>
              <a:srgbClr val="5A327D"/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template &lt;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typename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6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BiTree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:: Release(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BiNode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*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6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600"/>
              </a:lnSpc>
            </a:pPr>
            <a:r>
              <a:rPr lang="zh-CN" altLang="en-US" sz="2400" dirty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dirty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(</a:t>
            </a:r>
            <a:r>
              <a:rPr lang="en-US" altLang="zh-CN" sz="2400" dirty="0" err="1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en-US" altLang="zh-CN" sz="2400" dirty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== </a:t>
            </a:r>
            <a:r>
              <a:rPr lang="en-US" altLang="zh-CN" sz="2400" dirty="0" err="1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altLang="zh-CN" sz="2400" dirty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return;</a:t>
            </a:r>
            <a:endParaRPr lang="zh-CN" altLang="zh-CN" sz="2400" dirty="0">
              <a:solidFill>
                <a:srgbClr val="5C307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6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else{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6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Release(</a:t>
            </a:r>
            <a:r>
              <a:rPr lang="en-US" altLang="zh-CN" sz="2400" dirty="0" err="1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en-US" altLang="zh-CN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en-US" altLang="zh-CN" sz="2400" dirty="0" err="1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lchild</a:t>
            </a:r>
            <a:r>
              <a:rPr lang="en-US" altLang="zh-CN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           </a:t>
            </a:r>
            <a:r>
              <a:rPr lang="zh-CN" altLang="en-US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//</a:t>
            </a:r>
            <a:r>
              <a:rPr lang="zh-CN" altLang="zh-CN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释放左子树</a:t>
            </a:r>
          </a:p>
          <a:p>
            <a:pPr>
              <a:lnSpc>
                <a:spcPts val="2600"/>
              </a:lnSpc>
            </a:pPr>
            <a:r>
              <a:rPr lang="zh-CN" altLang="en-US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Release(</a:t>
            </a:r>
            <a:r>
              <a:rPr lang="en-US" altLang="zh-CN" sz="2400" dirty="0" err="1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en-US" altLang="zh-CN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en-US" altLang="zh-CN" sz="2400" dirty="0" err="1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rchild</a:t>
            </a:r>
            <a:r>
              <a:rPr lang="en-US" altLang="zh-CN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             </a:t>
            </a:r>
            <a:r>
              <a:rPr lang="zh-CN" altLang="en-US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//</a:t>
            </a:r>
            <a:r>
              <a:rPr lang="zh-CN" altLang="zh-CN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释放右子树</a:t>
            </a:r>
          </a:p>
          <a:p>
            <a:pPr>
              <a:lnSpc>
                <a:spcPts val="2600"/>
              </a:lnSpc>
            </a:pPr>
            <a:r>
              <a:rPr lang="zh-CN" altLang="en-US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 </a:t>
            </a:r>
            <a:r>
              <a:rPr lang="en-US" altLang="zh-CN" sz="2400" dirty="0" err="1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en-US" altLang="zh-CN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                      </a:t>
            </a:r>
            <a:r>
              <a:rPr lang="zh-CN" altLang="en-US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zh-CN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//</a:t>
            </a:r>
            <a:r>
              <a:rPr lang="zh-CN" altLang="zh-CN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释放根结点</a:t>
            </a:r>
          </a:p>
          <a:p>
            <a:pPr>
              <a:lnSpc>
                <a:spcPts val="26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6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906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Text Box 4"/>
          <p:cNvSpPr txBox="1">
            <a:spLocks noChangeArrowheads="1"/>
          </p:cNvSpPr>
          <p:nvPr/>
        </p:nvSpPr>
        <p:spPr bwMode="auto">
          <a:xfrm>
            <a:off x="1846263" y="552645"/>
            <a:ext cx="3352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b="1">
                <a:solidFill>
                  <a:srgbClr val="314187"/>
                </a:solidFill>
              </a:rPr>
              <a:t>三叉链表</a:t>
            </a:r>
          </a:p>
        </p:txBody>
      </p:sp>
      <p:grpSp>
        <p:nvGrpSpPr>
          <p:cNvPr id="152580" name="Group 6"/>
          <p:cNvGrpSpPr>
            <a:grpSpLocks/>
          </p:cNvGrpSpPr>
          <p:nvPr/>
        </p:nvGrpSpPr>
        <p:grpSpPr bwMode="auto">
          <a:xfrm>
            <a:off x="2595563" y="4089596"/>
            <a:ext cx="1439862" cy="1050925"/>
            <a:chOff x="720" y="2679"/>
            <a:chExt cx="907" cy="662"/>
          </a:xfrm>
        </p:grpSpPr>
        <p:sp>
          <p:nvSpPr>
            <p:cNvPr id="152641" name="Rectangle 7"/>
            <p:cNvSpPr>
              <a:spLocks noChangeArrowheads="1"/>
            </p:cNvSpPr>
            <p:nvPr/>
          </p:nvSpPr>
          <p:spPr bwMode="auto">
            <a:xfrm>
              <a:off x="720" y="3092"/>
              <a:ext cx="907" cy="249"/>
            </a:xfrm>
            <a:prstGeom prst="rect">
              <a:avLst/>
            </a:prstGeom>
            <a:solidFill>
              <a:schemeClr val="hlink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hlink"/>
              </a:extrusionClr>
              <a:contourClr>
                <a:schemeClr val="hlink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 b="1"/>
            </a:p>
          </p:txBody>
        </p:sp>
        <p:sp>
          <p:nvSpPr>
            <p:cNvPr id="152642" name="Rectangle 8"/>
            <p:cNvSpPr>
              <a:spLocks noChangeArrowheads="1"/>
            </p:cNvSpPr>
            <p:nvPr/>
          </p:nvSpPr>
          <p:spPr bwMode="auto">
            <a:xfrm>
              <a:off x="1031" y="3092"/>
              <a:ext cx="284" cy="249"/>
            </a:xfrm>
            <a:prstGeom prst="rect">
              <a:avLst/>
            </a:prstGeom>
            <a:solidFill>
              <a:srgbClr val="01FF01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1FF01"/>
              </a:extrusionClr>
              <a:contourClr>
                <a:srgbClr val="01FF01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400" b="1">
                  <a:ea typeface="Angsana New"/>
                  <a:cs typeface="Angsana New"/>
                </a:rPr>
                <a:t>G</a:t>
              </a:r>
            </a:p>
          </p:txBody>
        </p:sp>
        <p:sp>
          <p:nvSpPr>
            <p:cNvPr id="152643" name="Freeform 9"/>
            <p:cNvSpPr>
              <a:spLocks/>
            </p:cNvSpPr>
            <p:nvPr/>
          </p:nvSpPr>
          <p:spPr bwMode="auto">
            <a:xfrm>
              <a:off x="889" y="2679"/>
              <a:ext cx="319" cy="385"/>
            </a:xfrm>
            <a:custGeom>
              <a:avLst/>
              <a:gdLst>
                <a:gd name="T0" fmla="*/ 0 w 444"/>
                <a:gd name="T1" fmla="*/ 0 h 523"/>
                <a:gd name="T2" fmla="*/ 1 w 444"/>
                <a:gd name="T3" fmla="*/ 3 h 5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4" h="523">
                  <a:moveTo>
                    <a:pt x="0" y="0"/>
                  </a:moveTo>
                  <a:lnTo>
                    <a:pt x="444" y="523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2581" name="Group 10"/>
          <p:cNvGrpSpPr>
            <a:grpSpLocks/>
          </p:cNvGrpSpPr>
          <p:nvPr/>
        </p:nvGrpSpPr>
        <p:grpSpPr bwMode="auto">
          <a:xfrm>
            <a:off x="5854701" y="2997395"/>
            <a:ext cx="1439863" cy="1182688"/>
            <a:chOff x="2773" y="1991"/>
            <a:chExt cx="907" cy="745"/>
          </a:xfrm>
        </p:grpSpPr>
        <p:sp>
          <p:nvSpPr>
            <p:cNvPr id="152638" name="Rectangle 11"/>
            <p:cNvSpPr>
              <a:spLocks noChangeArrowheads="1"/>
            </p:cNvSpPr>
            <p:nvPr/>
          </p:nvSpPr>
          <p:spPr bwMode="auto">
            <a:xfrm>
              <a:off x="2773" y="2487"/>
              <a:ext cx="907" cy="249"/>
            </a:xfrm>
            <a:prstGeom prst="rect">
              <a:avLst/>
            </a:prstGeom>
            <a:solidFill>
              <a:schemeClr val="hlink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hlink"/>
              </a:extrusionClr>
              <a:contourClr>
                <a:schemeClr val="hlink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 b="1"/>
            </a:p>
          </p:txBody>
        </p:sp>
        <p:sp>
          <p:nvSpPr>
            <p:cNvPr id="152639" name="Rectangle 12"/>
            <p:cNvSpPr>
              <a:spLocks noChangeArrowheads="1"/>
            </p:cNvSpPr>
            <p:nvPr/>
          </p:nvSpPr>
          <p:spPr bwMode="auto">
            <a:xfrm>
              <a:off x="3084" y="2487"/>
              <a:ext cx="284" cy="249"/>
            </a:xfrm>
            <a:prstGeom prst="rect">
              <a:avLst/>
            </a:prstGeom>
            <a:solidFill>
              <a:srgbClr val="01FF01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1FF01"/>
              </a:extrusionClr>
              <a:contourClr>
                <a:srgbClr val="01FF01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400" b="1">
                  <a:ea typeface="Angsana New"/>
                  <a:cs typeface="Angsana New"/>
                </a:rPr>
                <a:t>F</a:t>
              </a:r>
            </a:p>
          </p:txBody>
        </p:sp>
        <p:sp>
          <p:nvSpPr>
            <p:cNvPr id="152640" name="Line 13"/>
            <p:cNvSpPr>
              <a:spLocks noChangeShapeType="1"/>
            </p:cNvSpPr>
            <p:nvPr/>
          </p:nvSpPr>
          <p:spPr bwMode="auto">
            <a:xfrm>
              <a:off x="2946" y="1991"/>
              <a:ext cx="292" cy="45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2582" name="Group 14"/>
          <p:cNvGrpSpPr>
            <a:grpSpLocks/>
          </p:cNvGrpSpPr>
          <p:nvPr/>
        </p:nvGrpSpPr>
        <p:grpSpPr bwMode="auto">
          <a:xfrm>
            <a:off x="3995738" y="2997396"/>
            <a:ext cx="1439862" cy="1184275"/>
            <a:chOff x="1602" y="1991"/>
            <a:chExt cx="907" cy="746"/>
          </a:xfrm>
        </p:grpSpPr>
        <p:sp>
          <p:nvSpPr>
            <p:cNvPr id="152635" name="Rectangle 15"/>
            <p:cNvSpPr>
              <a:spLocks noChangeArrowheads="1"/>
            </p:cNvSpPr>
            <p:nvPr/>
          </p:nvSpPr>
          <p:spPr bwMode="auto">
            <a:xfrm>
              <a:off x="1602" y="2488"/>
              <a:ext cx="907" cy="249"/>
            </a:xfrm>
            <a:prstGeom prst="rect">
              <a:avLst/>
            </a:prstGeom>
            <a:solidFill>
              <a:schemeClr val="hlink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hlink"/>
              </a:extrusionClr>
              <a:contourClr>
                <a:schemeClr val="hlink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 b="1"/>
            </a:p>
          </p:txBody>
        </p:sp>
        <p:sp>
          <p:nvSpPr>
            <p:cNvPr id="152636" name="Rectangle 16"/>
            <p:cNvSpPr>
              <a:spLocks noChangeArrowheads="1"/>
            </p:cNvSpPr>
            <p:nvPr/>
          </p:nvSpPr>
          <p:spPr bwMode="auto">
            <a:xfrm>
              <a:off x="1913" y="2488"/>
              <a:ext cx="284" cy="249"/>
            </a:xfrm>
            <a:prstGeom prst="rect">
              <a:avLst/>
            </a:prstGeom>
            <a:solidFill>
              <a:srgbClr val="01FF01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1FF01"/>
              </a:extrusionClr>
              <a:contourClr>
                <a:srgbClr val="01FF01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400" b="1">
                  <a:ea typeface="Angsana New"/>
                  <a:cs typeface="Angsana New"/>
                </a:rPr>
                <a:t>E</a:t>
              </a:r>
            </a:p>
          </p:txBody>
        </p:sp>
        <p:sp>
          <p:nvSpPr>
            <p:cNvPr id="152637" name="Line 17"/>
            <p:cNvSpPr>
              <a:spLocks noChangeShapeType="1"/>
            </p:cNvSpPr>
            <p:nvPr/>
          </p:nvSpPr>
          <p:spPr bwMode="auto">
            <a:xfrm flipH="1">
              <a:off x="2069" y="1991"/>
              <a:ext cx="292" cy="45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2583" name="Group 18"/>
          <p:cNvGrpSpPr>
            <a:grpSpLocks/>
          </p:cNvGrpSpPr>
          <p:nvPr/>
        </p:nvGrpSpPr>
        <p:grpSpPr bwMode="auto">
          <a:xfrm>
            <a:off x="1711326" y="2997396"/>
            <a:ext cx="1439863" cy="1171575"/>
            <a:chOff x="163" y="1991"/>
            <a:chExt cx="907" cy="738"/>
          </a:xfrm>
        </p:grpSpPr>
        <p:sp>
          <p:nvSpPr>
            <p:cNvPr id="152632" name="Rectangle 19"/>
            <p:cNvSpPr>
              <a:spLocks noChangeArrowheads="1"/>
            </p:cNvSpPr>
            <p:nvPr/>
          </p:nvSpPr>
          <p:spPr bwMode="auto">
            <a:xfrm>
              <a:off x="163" y="2480"/>
              <a:ext cx="907" cy="249"/>
            </a:xfrm>
            <a:prstGeom prst="rect">
              <a:avLst/>
            </a:prstGeom>
            <a:solidFill>
              <a:schemeClr val="hlink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hlink"/>
              </a:extrusionClr>
              <a:contourClr>
                <a:schemeClr val="hlink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 b="1"/>
            </a:p>
          </p:txBody>
        </p:sp>
        <p:sp>
          <p:nvSpPr>
            <p:cNvPr id="152633" name="Rectangle 20"/>
            <p:cNvSpPr>
              <a:spLocks noChangeArrowheads="1"/>
            </p:cNvSpPr>
            <p:nvPr/>
          </p:nvSpPr>
          <p:spPr bwMode="auto">
            <a:xfrm>
              <a:off x="474" y="2480"/>
              <a:ext cx="284" cy="249"/>
            </a:xfrm>
            <a:prstGeom prst="rect">
              <a:avLst/>
            </a:prstGeom>
            <a:solidFill>
              <a:srgbClr val="01FF01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1FF01"/>
              </a:extrusionClr>
              <a:contourClr>
                <a:srgbClr val="01FF01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400" b="1">
                  <a:ea typeface="Angsana New"/>
                  <a:cs typeface="Angsana New"/>
                </a:rPr>
                <a:t>D</a:t>
              </a:r>
            </a:p>
          </p:txBody>
        </p:sp>
        <p:sp>
          <p:nvSpPr>
            <p:cNvPr id="152634" name="Line 21"/>
            <p:cNvSpPr>
              <a:spLocks noChangeShapeType="1"/>
            </p:cNvSpPr>
            <p:nvPr/>
          </p:nvSpPr>
          <p:spPr bwMode="auto">
            <a:xfrm flipH="1">
              <a:off x="607" y="1991"/>
              <a:ext cx="292" cy="45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2584" name="Group 22"/>
          <p:cNvGrpSpPr>
            <a:grpSpLocks/>
          </p:cNvGrpSpPr>
          <p:nvPr/>
        </p:nvGrpSpPr>
        <p:grpSpPr bwMode="auto">
          <a:xfrm>
            <a:off x="2611438" y="1976634"/>
            <a:ext cx="1473200" cy="1101725"/>
            <a:chOff x="730" y="1348"/>
            <a:chExt cx="928" cy="694"/>
          </a:xfrm>
        </p:grpSpPr>
        <p:sp>
          <p:nvSpPr>
            <p:cNvPr id="152629" name="Rectangle 23"/>
            <p:cNvSpPr>
              <a:spLocks noChangeArrowheads="1"/>
            </p:cNvSpPr>
            <p:nvPr/>
          </p:nvSpPr>
          <p:spPr bwMode="auto">
            <a:xfrm>
              <a:off x="730" y="1793"/>
              <a:ext cx="907" cy="249"/>
            </a:xfrm>
            <a:prstGeom prst="rect">
              <a:avLst/>
            </a:prstGeom>
            <a:solidFill>
              <a:schemeClr val="hlink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hlink"/>
              </a:extrusionClr>
              <a:contourClr>
                <a:schemeClr val="hlink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 b="1"/>
            </a:p>
          </p:txBody>
        </p:sp>
        <p:sp>
          <p:nvSpPr>
            <p:cNvPr id="152630" name="Rectangle 24"/>
            <p:cNvSpPr>
              <a:spLocks noChangeArrowheads="1"/>
            </p:cNvSpPr>
            <p:nvPr/>
          </p:nvSpPr>
          <p:spPr bwMode="auto">
            <a:xfrm>
              <a:off x="1041" y="1793"/>
              <a:ext cx="284" cy="249"/>
            </a:xfrm>
            <a:prstGeom prst="rect">
              <a:avLst/>
            </a:prstGeom>
            <a:solidFill>
              <a:srgbClr val="01FF01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1FF01"/>
              </a:extrusionClr>
              <a:contourClr>
                <a:srgbClr val="01FF01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400" b="1">
                  <a:ea typeface="Angsana New"/>
                  <a:cs typeface="Angsana New"/>
                </a:rPr>
                <a:t>B</a:t>
              </a:r>
            </a:p>
          </p:txBody>
        </p:sp>
        <p:sp>
          <p:nvSpPr>
            <p:cNvPr id="152631" name="Freeform 25"/>
            <p:cNvSpPr>
              <a:spLocks/>
            </p:cNvSpPr>
            <p:nvPr/>
          </p:nvSpPr>
          <p:spPr bwMode="auto">
            <a:xfrm>
              <a:off x="1262" y="1348"/>
              <a:ext cx="396" cy="400"/>
            </a:xfrm>
            <a:custGeom>
              <a:avLst/>
              <a:gdLst>
                <a:gd name="T0" fmla="*/ 2 w 550"/>
                <a:gd name="T1" fmla="*/ 0 h 544"/>
                <a:gd name="T2" fmla="*/ 0 w 550"/>
                <a:gd name="T3" fmla="*/ 3 h 54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50" h="544">
                  <a:moveTo>
                    <a:pt x="550" y="0"/>
                  </a:moveTo>
                  <a:lnTo>
                    <a:pt x="0" y="544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2585" name="Group 26"/>
          <p:cNvGrpSpPr>
            <a:grpSpLocks/>
          </p:cNvGrpSpPr>
          <p:nvPr/>
        </p:nvGrpSpPr>
        <p:grpSpPr bwMode="auto">
          <a:xfrm>
            <a:off x="3894138" y="1171770"/>
            <a:ext cx="1439862" cy="863600"/>
            <a:chOff x="1493" y="1120"/>
            <a:chExt cx="907" cy="544"/>
          </a:xfrm>
        </p:grpSpPr>
        <p:sp>
          <p:nvSpPr>
            <p:cNvPr id="152626" name="Rectangle 27"/>
            <p:cNvSpPr>
              <a:spLocks noChangeArrowheads="1"/>
            </p:cNvSpPr>
            <p:nvPr/>
          </p:nvSpPr>
          <p:spPr bwMode="auto">
            <a:xfrm>
              <a:off x="1493" y="1415"/>
              <a:ext cx="907" cy="249"/>
            </a:xfrm>
            <a:prstGeom prst="rect">
              <a:avLst/>
            </a:prstGeom>
            <a:solidFill>
              <a:schemeClr val="hlink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hlink"/>
              </a:extrusionClr>
              <a:contourClr>
                <a:schemeClr val="hlink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 b="1"/>
            </a:p>
          </p:txBody>
        </p:sp>
        <p:sp>
          <p:nvSpPr>
            <p:cNvPr id="152627" name="Rectangle 28"/>
            <p:cNvSpPr>
              <a:spLocks noChangeArrowheads="1"/>
            </p:cNvSpPr>
            <p:nvPr/>
          </p:nvSpPr>
          <p:spPr bwMode="auto">
            <a:xfrm>
              <a:off x="1804" y="1415"/>
              <a:ext cx="284" cy="249"/>
            </a:xfrm>
            <a:prstGeom prst="rect">
              <a:avLst/>
            </a:prstGeom>
            <a:solidFill>
              <a:srgbClr val="01FF01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1FF01"/>
              </a:extrusionClr>
              <a:contourClr>
                <a:srgbClr val="01FF01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400" b="1">
                  <a:ea typeface="Angsana New"/>
                  <a:cs typeface="Angsana New"/>
                </a:rPr>
                <a:t>A</a:t>
              </a:r>
            </a:p>
          </p:txBody>
        </p:sp>
        <p:sp>
          <p:nvSpPr>
            <p:cNvPr id="152628" name="Line 29"/>
            <p:cNvSpPr>
              <a:spLocks noChangeShapeType="1"/>
            </p:cNvSpPr>
            <p:nvPr/>
          </p:nvSpPr>
          <p:spPr bwMode="auto">
            <a:xfrm>
              <a:off x="1726" y="1120"/>
              <a:ext cx="208" cy="27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2586" name="Group 30"/>
          <p:cNvGrpSpPr>
            <a:grpSpLocks/>
          </p:cNvGrpSpPr>
          <p:nvPr/>
        </p:nvGrpSpPr>
        <p:grpSpPr bwMode="auto">
          <a:xfrm>
            <a:off x="7489825" y="1101920"/>
            <a:ext cx="3106738" cy="3475038"/>
            <a:chOff x="3487" y="1271"/>
            <a:chExt cx="1957" cy="2189"/>
          </a:xfrm>
        </p:grpSpPr>
        <p:sp>
          <p:nvSpPr>
            <p:cNvPr id="152606" name="Line 31"/>
            <p:cNvSpPr>
              <a:spLocks noChangeShapeType="1"/>
            </p:cNvSpPr>
            <p:nvPr/>
          </p:nvSpPr>
          <p:spPr bwMode="auto">
            <a:xfrm flipH="1">
              <a:off x="4058" y="1508"/>
              <a:ext cx="322" cy="3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607" name="Line 32"/>
            <p:cNvSpPr>
              <a:spLocks noChangeShapeType="1"/>
            </p:cNvSpPr>
            <p:nvPr/>
          </p:nvSpPr>
          <p:spPr bwMode="auto">
            <a:xfrm>
              <a:off x="4615" y="1527"/>
              <a:ext cx="322" cy="3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608" name="Line 33"/>
            <p:cNvSpPr>
              <a:spLocks noChangeShapeType="1"/>
            </p:cNvSpPr>
            <p:nvPr/>
          </p:nvSpPr>
          <p:spPr bwMode="auto">
            <a:xfrm flipH="1">
              <a:off x="3666" y="2082"/>
              <a:ext cx="215" cy="3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609" name="Line 34"/>
            <p:cNvSpPr>
              <a:spLocks noChangeShapeType="1"/>
            </p:cNvSpPr>
            <p:nvPr/>
          </p:nvSpPr>
          <p:spPr bwMode="auto">
            <a:xfrm>
              <a:off x="3675" y="2724"/>
              <a:ext cx="250" cy="3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610" name="Line 35"/>
            <p:cNvSpPr>
              <a:spLocks noChangeShapeType="1"/>
            </p:cNvSpPr>
            <p:nvPr/>
          </p:nvSpPr>
          <p:spPr bwMode="auto">
            <a:xfrm flipH="1">
              <a:off x="4747" y="2127"/>
              <a:ext cx="161" cy="3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611" name="Line 36"/>
            <p:cNvSpPr>
              <a:spLocks noChangeShapeType="1"/>
            </p:cNvSpPr>
            <p:nvPr/>
          </p:nvSpPr>
          <p:spPr bwMode="auto">
            <a:xfrm>
              <a:off x="5089" y="2127"/>
              <a:ext cx="167" cy="3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612" name="Oval 37"/>
            <p:cNvSpPr>
              <a:spLocks noChangeArrowheads="1"/>
            </p:cNvSpPr>
            <p:nvPr/>
          </p:nvSpPr>
          <p:spPr bwMode="auto">
            <a:xfrm>
              <a:off x="4358" y="1296"/>
              <a:ext cx="295" cy="29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B4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2613" name="Text Box 38"/>
            <p:cNvSpPr txBox="1">
              <a:spLocks noChangeArrowheads="1"/>
            </p:cNvSpPr>
            <p:nvPr/>
          </p:nvSpPr>
          <p:spPr bwMode="auto">
            <a:xfrm>
              <a:off x="4390" y="1271"/>
              <a:ext cx="250" cy="3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A</a:t>
              </a:r>
            </a:p>
          </p:txBody>
        </p:sp>
        <p:sp>
          <p:nvSpPr>
            <p:cNvPr id="152614" name="Oval 39"/>
            <p:cNvSpPr>
              <a:spLocks noChangeArrowheads="1"/>
            </p:cNvSpPr>
            <p:nvPr/>
          </p:nvSpPr>
          <p:spPr bwMode="auto">
            <a:xfrm>
              <a:off x="3810" y="1817"/>
              <a:ext cx="295" cy="29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B4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2615" name="Text Box 40"/>
            <p:cNvSpPr txBox="1">
              <a:spLocks noChangeArrowheads="1"/>
            </p:cNvSpPr>
            <p:nvPr/>
          </p:nvSpPr>
          <p:spPr bwMode="auto">
            <a:xfrm>
              <a:off x="3842" y="1792"/>
              <a:ext cx="250" cy="3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B</a:t>
              </a:r>
            </a:p>
          </p:txBody>
        </p:sp>
        <p:sp>
          <p:nvSpPr>
            <p:cNvPr id="152616" name="Oval 41"/>
            <p:cNvSpPr>
              <a:spLocks noChangeArrowheads="1"/>
            </p:cNvSpPr>
            <p:nvPr/>
          </p:nvSpPr>
          <p:spPr bwMode="auto">
            <a:xfrm>
              <a:off x="4850" y="1855"/>
              <a:ext cx="295" cy="29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B4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2617" name="Text Box 42"/>
            <p:cNvSpPr txBox="1">
              <a:spLocks noChangeArrowheads="1"/>
            </p:cNvSpPr>
            <p:nvPr/>
          </p:nvSpPr>
          <p:spPr bwMode="auto">
            <a:xfrm>
              <a:off x="4882" y="1830"/>
              <a:ext cx="250" cy="3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C</a:t>
              </a:r>
            </a:p>
          </p:txBody>
        </p:sp>
        <p:sp>
          <p:nvSpPr>
            <p:cNvPr id="152618" name="Oval 43"/>
            <p:cNvSpPr>
              <a:spLocks noChangeArrowheads="1"/>
            </p:cNvSpPr>
            <p:nvPr/>
          </p:nvSpPr>
          <p:spPr bwMode="auto">
            <a:xfrm>
              <a:off x="3487" y="2430"/>
              <a:ext cx="295" cy="29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B4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2619" name="Text Box 44"/>
            <p:cNvSpPr txBox="1">
              <a:spLocks noChangeArrowheads="1"/>
            </p:cNvSpPr>
            <p:nvPr/>
          </p:nvSpPr>
          <p:spPr bwMode="auto">
            <a:xfrm>
              <a:off x="3519" y="2414"/>
              <a:ext cx="250" cy="3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D</a:t>
              </a:r>
            </a:p>
          </p:txBody>
        </p:sp>
        <p:sp>
          <p:nvSpPr>
            <p:cNvPr id="152620" name="Oval 45"/>
            <p:cNvSpPr>
              <a:spLocks noChangeArrowheads="1"/>
            </p:cNvSpPr>
            <p:nvPr/>
          </p:nvSpPr>
          <p:spPr bwMode="auto">
            <a:xfrm>
              <a:off x="4601" y="2477"/>
              <a:ext cx="295" cy="29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B4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2621" name="Text Box 46"/>
            <p:cNvSpPr txBox="1">
              <a:spLocks noChangeArrowheads="1"/>
            </p:cNvSpPr>
            <p:nvPr/>
          </p:nvSpPr>
          <p:spPr bwMode="auto">
            <a:xfrm>
              <a:off x="4633" y="2452"/>
              <a:ext cx="250" cy="3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E</a:t>
              </a:r>
            </a:p>
          </p:txBody>
        </p:sp>
        <p:sp>
          <p:nvSpPr>
            <p:cNvPr id="152622" name="Oval 47"/>
            <p:cNvSpPr>
              <a:spLocks noChangeArrowheads="1"/>
            </p:cNvSpPr>
            <p:nvPr/>
          </p:nvSpPr>
          <p:spPr bwMode="auto">
            <a:xfrm>
              <a:off x="5149" y="2504"/>
              <a:ext cx="295" cy="29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B4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2623" name="Text Box 48"/>
            <p:cNvSpPr txBox="1">
              <a:spLocks noChangeArrowheads="1"/>
            </p:cNvSpPr>
            <p:nvPr/>
          </p:nvSpPr>
          <p:spPr bwMode="auto">
            <a:xfrm>
              <a:off x="5181" y="2479"/>
              <a:ext cx="250" cy="3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F</a:t>
              </a:r>
            </a:p>
          </p:txBody>
        </p:sp>
        <p:sp>
          <p:nvSpPr>
            <p:cNvPr id="152624" name="Oval 49"/>
            <p:cNvSpPr>
              <a:spLocks noChangeArrowheads="1"/>
            </p:cNvSpPr>
            <p:nvPr/>
          </p:nvSpPr>
          <p:spPr bwMode="auto">
            <a:xfrm>
              <a:off x="3830" y="3099"/>
              <a:ext cx="295" cy="29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B4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2625" name="Text Box 50"/>
            <p:cNvSpPr txBox="1">
              <a:spLocks noChangeArrowheads="1"/>
            </p:cNvSpPr>
            <p:nvPr/>
          </p:nvSpPr>
          <p:spPr bwMode="auto">
            <a:xfrm>
              <a:off x="3862" y="3074"/>
              <a:ext cx="250" cy="3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G</a:t>
              </a:r>
            </a:p>
          </p:txBody>
        </p:sp>
      </p:grpSp>
      <p:sp>
        <p:nvSpPr>
          <p:cNvPr id="152587" name="Rectangle 51"/>
          <p:cNvSpPr>
            <a:spLocks noChangeArrowheads="1"/>
          </p:cNvSpPr>
          <p:nvPr/>
        </p:nvSpPr>
        <p:spPr bwMode="auto">
          <a:xfrm>
            <a:off x="3617914" y="2684659"/>
            <a:ext cx="422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4000" tIns="10800" rIns="18000" bIns="1080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400" b="1"/>
              <a:t>∧</a:t>
            </a:r>
          </a:p>
        </p:txBody>
      </p:sp>
      <p:sp>
        <p:nvSpPr>
          <p:cNvPr id="152588" name="Rectangle 52"/>
          <p:cNvSpPr>
            <a:spLocks noChangeArrowheads="1"/>
          </p:cNvSpPr>
          <p:nvPr/>
        </p:nvSpPr>
        <p:spPr bwMode="auto">
          <a:xfrm>
            <a:off x="1773239" y="3759396"/>
            <a:ext cx="422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4000" tIns="10800" rIns="18000" bIns="1080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400" b="1"/>
              <a:t>∧</a:t>
            </a:r>
          </a:p>
        </p:txBody>
      </p:sp>
      <p:grpSp>
        <p:nvGrpSpPr>
          <p:cNvPr id="152589" name="Group 53"/>
          <p:cNvGrpSpPr>
            <a:grpSpLocks/>
          </p:cNvGrpSpPr>
          <p:nvPr/>
        </p:nvGrpSpPr>
        <p:grpSpPr bwMode="auto">
          <a:xfrm>
            <a:off x="2657475" y="4730945"/>
            <a:ext cx="1366838" cy="381000"/>
            <a:chOff x="759" y="3083"/>
            <a:chExt cx="861" cy="240"/>
          </a:xfrm>
        </p:grpSpPr>
        <p:sp>
          <p:nvSpPr>
            <p:cNvPr id="152604" name="Rectangle 54"/>
            <p:cNvSpPr>
              <a:spLocks noChangeArrowheads="1"/>
            </p:cNvSpPr>
            <p:nvPr/>
          </p:nvSpPr>
          <p:spPr bwMode="auto">
            <a:xfrm>
              <a:off x="759" y="3083"/>
              <a:ext cx="26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10800" rIns="18000" bIns="108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400" b="1"/>
                <a:t>∧</a:t>
              </a:r>
            </a:p>
          </p:txBody>
        </p:sp>
        <p:sp>
          <p:nvSpPr>
            <p:cNvPr id="152605" name="Rectangle 55"/>
            <p:cNvSpPr>
              <a:spLocks noChangeArrowheads="1"/>
            </p:cNvSpPr>
            <p:nvPr/>
          </p:nvSpPr>
          <p:spPr bwMode="auto">
            <a:xfrm>
              <a:off x="1354" y="3093"/>
              <a:ext cx="26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10800" rIns="18000" bIns="108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400" b="1"/>
                <a:t>∧</a:t>
              </a:r>
            </a:p>
          </p:txBody>
        </p:sp>
      </p:grpSp>
      <p:grpSp>
        <p:nvGrpSpPr>
          <p:cNvPr id="152590" name="Group 56"/>
          <p:cNvGrpSpPr>
            <a:grpSpLocks/>
          </p:cNvGrpSpPr>
          <p:nvPr/>
        </p:nvGrpSpPr>
        <p:grpSpPr bwMode="auto">
          <a:xfrm>
            <a:off x="4057650" y="3772095"/>
            <a:ext cx="1366838" cy="381000"/>
            <a:chOff x="1641" y="2479"/>
            <a:chExt cx="861" cy="240"/>
          </a:xfrm>
        </p:grpSpPr>
        <p:sp>
          <p:nvSpPr>
            <p:cNvPr id="152602" name="Rectangle 57"/>
            <p:cNvSpPr>
              <a:spLocks noChangeArrowheads="1"/>
            </p:cNvSpPr>
            <p:nvPr/>
          </p:nvSpPr>
          <p:spPr bwMode="auto">
            <a:xfrm>
              <a:off x="1641" y="2479"/>
              <a:ext cx="26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10800" rIns="18000" bIns="108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400" b="1"/>
                <a:t>∧</a:t>
              </a:r>
            </a:p>
          </p:txBody>
        </p:sp>
        <p:sp>
          <p:nvSpPr>
            <p:cNvPr id="152603" name="Rectangle 58"/>
            <p:cNvSpPr>
              <a:spLocks noChangeArrowheads="1"/>
            </p:cNvSpPr>
            <p:nvPr/>
          </p:nvSpPr>
          <p:spPr bwMode="auto">
            <a:xfrm>
              <a:off x="2236" y="2489"/>
              <a:ext cx="26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10800" rIns="18000" bIns="108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400" b="1"/>
                <a:t>∧</a:t>
              </a:r>
            </a:p>
          </p:txBody>
        </p:sp>
      </p:grpSp>
      <p:grpSp>
        <p:nvGrpSpPr>
          <p:cNvPr id="152591" name="Group 59"/>
          <p:cNvGrpSpPr>
            <a:grpSpLocks/>
          </p:cNvGrpSpPr>
          <p:nvPr/>
        </p:nvGrpSpPr>
        <p:grpSpPr bwMode="auto">
          <a:xfrm>
            <a:off x="5916614" y="3770508"/>
            <a:ext cx="1366837" cy="381000"/>
            <a:chOff x="2812" y="2478"/>
            <a:chExt cx="861" cy="240"/>
          </a:xfrm>
        </p:grpSpPr>
        <p:sp>
          <p:nvSpPr>
            <p:cNvPr id="152600" name="Rectangle 60"/>
            <p:cNvSpPr>
              <a:spLocks noChangeArrowheads="1"/>
            </p:cNvSpPr>
            <p:nvPr/>
          </p:nvSpPr>
          <p:spPr bwMode="auto">
            <a:xfrm>
              <a:off x="2812" y="2478"/>
              <a:ext cx="26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10800" rIns="18000" bIns="108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400" b="1"/>
                <a:t>∧</a:t>
              </a:r>
            </a:p>
          </p:txBody>
        </p:sp>
        <p:sp>
          <p:nvSpPr>
            <p:cNvPr id="152601" name="Rectangle 61"/>
            <p:cNvSpPr>
              <a:spLocks noChangeArrowheads="1"/>
            </p:cNvSpPr>
            <p:nvPr/>
          </p:nvSpPr>
          <p:spPr bwMode="auto">
            <a:xfrm>
              <a:off x="3407" y="2488"/>
              <a:ext cx="26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10800" rIns="18000" bIns="108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400" b="1"/>
                <a:t>∧</a:t>
              </a:r>
            </a:p>
          </p:txBody>
        </p:sp>
      </p:grpSp>
      <p:grpSp>
        <p:nvGrpSpPr>
          <p:cNvPr id="152592" name="Group 62"/>
          <p:cNvGrpSpPr>
            <a:grpSpLocks/>
          </p:cNvGrpSpPr>
          <p:nvPr/>
        </p:nvGrpSpPr>
        <p:grpSpPr bwMode="auto">
          <a:xfrm>
            <a:off x="4838701" y="1976634"/>
            <a:ext cx="1439863" cy="1087437"/>
            <a:chOff x="2133" y="1348"/>
            <a:chExt cx="907" cy="685"/>
          </a:xfrm>
        </p:grpSpPr>
        <p:sp>
          <p:nvSpPr>
            <p:cNvPr id="152597" name="Freeform 63"/>
            <p:cNvSpPr>
              <a:spLocks/>
            </p:cNvSpPr>
            <p:nvPr/>
          </p:nvSpPr>
          <p:spPr bwMode="auto">
            <a:xfrm>
              <a:off x="2242" y="1348"/>
              <a:ext cx="338" cy="400"/>
            </a:xfrm>
            <a:custGeom>
              <a:avLst/>
              <a:gdLst>
                <a:gd name="T0" fmla="*/ 0 w 469"/>
                <a:gd name="T1" fmla="*/ 0 h 544"/>
                <a:gd name="T2" fmla="*/ 1 w 469"/>
                <a:gd name="T3" fmla="*/ 3 h 54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69" h="544">
                  <a:moveTo>
                    <a:pt x="0" y="0"/>
                  </a:moveTo>
                  <a:lnTo>
                    <a:pt x="469" y="544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598" name="Rectangle 64"/>
            <p:cNvSpPr>
              <a:spLocks noChangeArrowheads="1"/>
            </p:cNvSpPr>
            <p:nvPr/>
          </p:nvSpPr>
          <p:spPr bwMode="auto">
            <a:xfrm>
              <a:off x="2133" y="1784"/>
              <a:ext cx="907" cy="249"/>
            </a:xfrm>
            <a:prstGeom prst="rect">
              <a:avLst/>
            </a:prstGeom>
            <a:solidFill>
              <a:schemeClr val="hlink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hlink"/>
              </a:extrusionClr>
              <a:contourClr>
                <a:schemeClr val="hlink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 b="1"/>
            </a:p>
          </p:txBody>
        </p:sp>
        <p:sp>
          <p:nvSpPr>
            <p:cNvPr id="152599" name="Rectangle 65"/>
            <p:cNvSpPr>
              <a:spLocks noChangeArrowheads="1"/>
            </p:cNvSpPr>
            <p:nvPr/>
          </p:nvSpPr>
          <p:spPr bwMode="auto">
            <a:xfrm>
              <a:off x="2444" y="1784"/>
              <a:ext cx="284" cy="249"/>
            </a:xfrm>
            <a:prstGeom prst="rect">
              <a:avLst/>
            </a:prstGeom>
            <a:solidFill>
              <a:srgbClr val="01FF01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1FF01"/>
              </a:extrusionClr>
              <a:contourClr>
                <a:srgbClr val="01FF01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400" b="1">
                  <a:ea typeface="Angsana New"/>
                  <a:cs typeface="Angsana New"/>
                </a:rPr>
                <a:t>C</a:t>
              </a:r>
            </a:p>
          </p:txBody>
        </p:sp>
      </p:grpSp>
      <p:sp>
        <p:nvSpPr>
          <p:cNvPr id="152593" name="AutoShape 66"/>
          <p:cNvSpPr>
            <a:spLocks noChangeArrowheads="1"/>
          </p:cNvSpPr>
          <p:nvPr/>
        </p:nvSpPr>
        <p:spPr bwMode="auto">
          <a:xfrm>
            <a:off x="6814427" y="1826070"/>
            <a:ext cx="320508" cy="917079"/>
          </a:xfrm>
          <a:prstGeom prst="leftArrow">
            <a:avLst>
              <a:gd name="adj1" fmla="val 50000"/>
              <a:gd name="adj2" fmla="val 85417"/>
            </a:avLst>
          </a:prstGeom>
          <a:solidFill>
            <a:srgbClr val="00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en-US" sz="24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grpSp>
        <p:nvGrpSpPr>
          <p:cNvPr id="281667" name="Group 67"/>
          <p:cNvGrpSpPr>
            <a:grpSpLocks/>
          </p:cNvGrpSpPr>
          <p:nvPr/>
        </p:nvGrpSpPr>
        <p:grpSpPr bwMode="auto">
          <a:xfrm>
            <a:off x="1871664" y="5383408"/>
            <a:ext cx="8504237" cy="582612"/>
            <a:chOff x="228" y="3817"/>
            <a:chExt cx="5357" cy="367"/>
          </a:xfrm>
        </p:grpSpPr>
        <p:sp>
          <p:nvSpPr>
            <p:cNvPr id="152595" name="Text Box 68"/>
            <p:cNvSpPr txBox="1">
              <a:spLocks noChangeArrowheads="1"/>
            </p:cNvSpPr>
            <p:nvPr/>
          </p:nvSpPr>
          <p:spPr bwMode="auto">
            <a:xfrm>
              <a:off x="633" y="3857"/>
              <a:ext cx="495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kumimoji="0" lang="zh-CN" altLang="en-US" sz="2800" b="1"/>
                <a:t>在二叉链表中，如何求某结点的</a:t>
              </a:r>
              <a:r>
                <a:rPr kumimoji="0" lang="zh-CN" altLang="en-US" sz="2800" b="1">
                  <a:solidFill>
                    <a:srgbClr val="FF0066"/>
                  </a:solidFill>
                </a:rPr>
                <a:t>双亲</a:t>
              </a:r>
              <a:r>
                <a:rPr kumimoji="0" lang="zh-CN" altLang="en-US" sz="2800" b="1"/>
                <a:t>？</a:t>
              </a:r>
            </a:p>
          </p:txBody>
        </p:sp>
        <p:graphicFrame>
          <p:nvGraphicFramePr>
            <p:cNvPr id="152596" name="Object 69"/>
            <p:cNvGraphicFramePr>
              <a:graphicFrameLocks noChangeAspect="1"/>
            </p:cNvGraphicFramePr>
            <p:nvPr/>
          </p:nvGraphicFramePr>
          <p:xfrm>
            <a:off x="228" y="3817"/>
            <a:ext cx="384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" name="Clip" r:id="rId3" imgW="861365" imgH="844906" progId="MS_ClipArt_Gallery.5">
                    <p:embed/>
                  </p:oleObj>
                </mc:Choice>
                <mc:Fallback>
                  <p:oleObj name="Clip" r:id="rId3" imgW="861365" imgH="844906" progId="MS_ClipArt_Gallery.5">
                    <p:embed/>
                    <p:pic>
                      <p:nvPicPr>
                        <p:cNvPr id="152596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" y="3817"/>
                          <a:ext cx="384" cy="3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8" name="object 3"/>
          <p:cNvSpPr/>
          <p:nvPr/>
        </p:nvSpPr>
        <p:spPr>
          <a:xfrm>
            <a:off x="542925" y="100964"/>
            <a:ext cx="2031463" cy="484555"/>
          </a:xfrm>
          <a:custGeom>
            <a:avLst/>
            <a:gdLst/>
            <a:ahLst/>
            <a:cxnLst/>
            <a:rect l="l" t="t" r="r" b="b"/>
            <a:pathLst>
              <a:path w="2376170" h="540385">
                <a:moveTo>
                  <a:pt x="2286000" y="0"/>
                </a:moveTo>
                <a:lnTo>
                  <a:pt x="90004" y="0"/>
                </a:lnTo>
                <a:lnTo>
                  <a:pt x="54971" y="7068"/>
                </a:lnTo>
                <a:lnTo>
                  <a:pt x="26362" y="26352"/>
                </a:lnTo>
                <a:lnTo>
                  <a:pt x="7073" y="54971"/>
                </a:lnTo>
                <a:lnTo>
                  <a:pt x="0" y="90042"/>
                </a:lnTo>
                <a:lnTo>
                  <a:pt x="0" y="449960"/>
                </a:lnTo>
                <a:lnTo>
                  <a:pt x="7073" y="485032"/>
                </a:lnTo>
                <a:lnTo>
                  <a:pt x="26362" y="513651"/>
                </a:lnTo>
                <a:lnTo>
                  <a:pt x="54971" y="532935"/>
                </a:lnTo>
                <a:lnTo>
                  <a:pt x="90004" y="540003"/>
                </a:lnTo>
                <a:lnTo>
                  <a:pt x="2286000" y="540003"/>
                </a:lnTo>
                <a:lnTo>
                  <a:pt x="2321018" y="532935"/>
                </a:lnTo>
                <a:lnTo>
                  <a:pt x="2349642" y="513651"/>
                </a:lnTo>
                <a:lnTo>
                  <a:pt x="2368956" y="485032"/>
                </a:lnTo>
                <a:lnTo>
                  <a:pt x="2376043" y="449960"/>
                </a:lnTo>
                <a:lnTo>
                  <a:pt x="2376043" y="90042"/>
                </a:lnTo>
                <a:lnTo>
                  <a:pt x="2368956" y="54971"/>
                </a:lnTo>
                <a:lnTo>
                  <a:pt x="2349642" y="26352"/>
                </a:lnTo>
                <a:lnTo>
                  <a:pt x="2321018" y="7068"/>
                </a:lnTo>
                <a:lnTo>
                  <a:pt x="2286000" y="0"/>
                </a:lnTo>
                <a:close/>
              </a:path>
            </a:pathLst>
          </a:custGeom>
          <a:solidFill>
            <a:srgbClr val="5A31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4"/>
          <p:cNvSpPr txBox="1">
            <a:spLocks noGrp="1"/>
          </p:cNvSpPr>
          <p:nvPr>
            <p:ph type="title"/>
          </p:nvPr>
        </p:nvSpPr>
        <p:spPr>
          <a:xfrm>
            <a:off x="437591" y="115733"/>
            <a:ext cx="228086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b="1" spc="-5" dirty="0">
                <a:solidFill>
                  <a:schemeClr val="bg1"/>
                </a:solidFill>
              </a:rPr>
              <a:t>三叉链表</a:t>
            </a:r>
            <a:endParaRPr sz="2800" b="1" spc="-5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2008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1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Text Box 7"/>
          <p:cNvSpPr txBox="1">
            <a:spLocks noChangeArrowheads="1"/>
          </p:cNvSpPr>
          <p:nvPr/>
        </p:nvSpPr>
        <p:spPr bwMode="auto">
          <a:xfrm>
            <a:off x="1846263" y="735525"/>
            <a:ext cx="3352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b="1" dirty="0">
                <a:solidFill>
                  <a:srgbClr val="314187"/>
                </a:solidFill>
              </a:rPr>
              <a:t>三叉链表</a:t>
            </a:r>
          </a:p>
        </p:txBody>
      </p:sp>
      <p:grpSp>
        <p:nvGrpSpPr>
          <p:cNvPr id="153603" name="Group 9"/>
          <p:cNvGrpSpPr>
            <a:grpSpLocks/>
          </p:cNvGrpSpPr>
          <p:nvPr/>
        </p:nvGrpSpPr>
        <p:grpSpPr bwMode="auto">
          <a:xfrm>
            <a:off x="2895600" y="3167575"/>
            <a:ext cx="5562600" cy="655638"/>
            <a:chOff x="2555" y="7156"/>
            <a:chExt cx="4060" cy="425"/>
          </a:xfrm>
        </p:grpSpPr>
        <p:sp>
          <p:nvSpPr>
            <p:cNvPr id="153608" name="Rectangle 10"/>
            <p:cNvSpPr>
              <a:spLocks noChangeArrowheads="1"/>
            </p:cNvSpPr>
            <p:nvPr/>
          </p:nvSpPr>
          <p:spPr bwMode="auto">
            <a:xfrm>
              <a:off x="2555" y="7156"/>
              <a:ext cx="1015" cy="425"/>
            </a:xfrm>
            <a:prstGeom prst="rect">
              <a:avLst/>
            </a:prstGeom>
            <a:solidFill>
              <a:srgbClr val="DDDDDD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0" lang="zh-CN" altLang="en-US" b="1">
                  <a:solidFill>
                    <a:srgbClr val="FF0066"/>
                  </a:solidFill>
                </a:rPr>
                <a:t> </a:t>
              </a:r>
              <a:r>
                <a:rPr kumimoji="0" lang="en-US" altLang="zh-CN" b="1">
                  <a:solidFill>
                    <a:srgbClr val="FF0066"/>
                  </a:solidFill>
                </a:rPr>
                <a:t>lchild</a:t>
              </a:r>
            </a:p>
          </p:txBody>
        </p:sp>
        <p:sp>
          <p:nvSpPr>
            <p:cNvPr id="153609" name="Rectangle 11"/>
            <p:cNvSpPr>
              <a:spLocks noChangeArrowheads="1"/>
            </p:cNvSpPr>
            <p:nvPr/>
          </p:nvSpPr>
          <p:spPr bwMode="auto">
            <a:xfrm>
              <a:off x="3570" y="7156"/>
              <a:ext cx="1015" cy="425"/>
            </a:xfrm>
            <a:prstGeom prst="rect">
              <a:avLst/>
            </a:prstGeom>
            <a:solidFill>
              <a:srgbClr val="DDDDDD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0" lang="zh-CN" altLang="en-US" b="1" dirty="0">
                  <a:solidFill>
                    <a:srgbClr val="FF0066"/>
                  </a:solidFill>
                </a:rPr>
                <a:t> </a:t>
              </a:r>
              <a:r>
                <a:rPr kumimoji="0" lang="en-US" altLang="zh-CN" b="1" dirty="0">
                  <a:solidFill>
                    <a:srgbClr val="FF0066"/>
                  </a:solidFill>
                </a:rPr>
                <a:t>data</a:t>
              </a:r>
            </a:p>
          </p:txBody>
        </p:sp>
        <p:sp>
          <p:nvSpPr>
            <p:cNvPr id="153610" name="Rectangle 12"/>
            <p:cNvSpPr>
              <a:spLocks noChangeArrowheads="1"/>
            </p:cNvSpPr>
            <p:nvPr/>
          </p:nvSpPr>
          <p:spPr bwMode="auto">
            <a:xfrm>
              <a:off x="4585" y="7156"/>
              <a:ext cx="1015" cy="425"/>
            </a:xfrm>
            <a:prstGeom prst="rect">
              <a:avLst/>
            </a:prstGeom>
            <a:solidFill>
              <a:srgbClr val="DDDDDD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0" lang="en-US" altLang="zh-CN" b="1" dirty="0">
                  <a:solidFill>
                    <a:srgbClr val="FF0000"/>
                  </a:solidFill>
                </a:rPr>
                <a:t>parent</a:t>
              </a:r>
            </a:p>
          </p:txBody>
        </p:sp>
        <p:sp>
          <p:nvSpPr>
            <p:cNvPr id="153611" name="Rectangle 13"/>
            <p:cNvSpPr>
              <a:spLocks noChangeArrowheads="1"/>
            </p:cNvSpPr>
            <p:nvPr/>
          </p:nvSpPr>
          <p:spPr bwMode="auto">
            <a:xfrm>
              <a:off x="5600" y="7156"/>
              <a:ext cx="1015" cy="425"/>
            </a:xfrm>
            <a:prstGeom prst="rect">
              <a:avLst/>
            </a:prstGeom>
            <a:solidFill>
              <a:srgbClr val="DDDDDD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0" lang="en-US" altLang="zh-CN" b="1">
                  <a:solidFill>
                    <a:srgbClr val="FF0066"/>
                  </a:solidFill>
                </a:rPr>
                <a:t>rchild</a:t>
              </a:r>
            </a:p>
          </p:txBody>
        </p:sp>
      </p:grpSp>
      <p:sp>
        <p:nvSpPr>
          <p:cNvPr id="153604" name="Text Box 15"/>
          <p:cNvSpPr txBox="1">
            <a:spLocks noChangeArrowheads="1"/>
          </p:cNvSpPr>
          <p:nvPr/>
        </p:nvSpPr>
        <p:spPr bwMode="auto">
          <a:xfrm>
            <a:off x="1900238" y="1491176"/>
            <a:ext cx="861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b="1" dirty="0"/>
              <a:t>在二叉链表的基础上增加了一个指向双亲的指针域。</a:t>
            </a:r>
          </a:p>
        </p:txBody>
      </p:sp>
      <p:sp>
        <p:nvSpPr>
          <p:cNvPr id="153605" name="Text Box 16"/>
          <p:cNvSpPr txBox="1">
            <a:spLocks noChangeArrowheads="1"/>
          </p:cNvSpPr>
          <p:nvPr/>
        </p:nvSpPr>
        <p:spPr bwMode="auto">
          <a:xfrm>
            <a:off x="1962150" y="2481776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b="1">
                <a:solidFill>
                  <a:srgbClr val="EE3900"/>
                </a:solidFill>
              </a:rPr>
              <a:t>结点结构</a:t>
            </a:r>
            <a:endParaRPr kumimoji="0" lang="zh-CN" altLang="en-US" sz="2800" b="1"/>
          </a:p>
        </p:txBody>
      </p:sp>
      <p:sp>
        <p:nvSpPr>
          <p:cNvPr id="153606" name="Text Box 17"/>
          <p:cNvSpPr txBox="1">
            <a:spLocks noChangeArrowheads="1"/>
          </p:cNvSpPr>
          <p:nvPr/>
        </p:nvSpPr>
        <p:spPr bwMode="auto">
          <a:xfrm>
            <a:off x="1995489" y="4158175"/>
            <a:ext cx="8499475" cy="158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其中：</a:t>
            </a:r>
            <a:r>
              <a:rPr kumimoji="0" lang="en-US" altLang="zh-CN" sz="2800" b="1"/>
              <a:t>data、lchild</a:t>
            </a:r>
            <a:r>
              <a:rPr kumimoji="0" lang="zh-CN" altLang="en-US" sz="2800" b="1"/>
              <a:t>和</a:t>
            </a:r>
            <a:r>
              <a:rPr kumimoji="0" lang="en-US" altLang="zh-CN" sz="2800" b="1"/>
              <a:t>rchild</a:t>
            </a:r>
            <a:r>
              <a:rPr kumimoji="0" lang="zh-CN" altLang="en-US" sz="2800" b="1"/>
              <a:t>三个域的含义同二叉链表的结点结构；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kumimoji="0" lang="en-US" altLang="zh-CN" sz="2800" b="1"/>
              <a:t>parent</a:t>
            </a:r>
            <a:r>
              <a:rPr kumimoji="0" lang="zh-CN" altLang="en-US" sz="2800" b="1"/>
              <a:t>域为</a:t>
            </a:r>
            <a:r>
              <a:rPr kumimoji="0" lang="zh-CN" altLang="en-US" sz="2800" b="1">
                <a:latin typeface="宋体" panose="02010600030101010101" pitchFamily="2" charset="-122"/>
              </a:rPr>
              <a:t>指向该结点的双亲结点的指针。</a:t>
            </a:r>
            <a:r>
              <a:rPr kumimoji="0" lang="zh-CN" altLang="en-US" sz="2800" b="1"/>
              <a:t> </a:t>
            </a:r>
          </a:p>
        </p:txBody>
      </p:sp>
      <p:sp>
        <p:nvSpPr>
          <p:cNvPr id="12" name="object 3"/>
          <p:cNvSpPr/>
          <p:nvPr/>
        </p:nvSpPr>
        <p:spPr>
          <a:xfrm>
            <a:off x="542925" y="100964"/>
            <a:ext cx="2031463" cy="484555"/>
          </a:xfrm>
          <a:custGeom>
            <a:avLst/>
            <a:gdLst/>
            <a:ahLst/>
            <a:cxnLst/>
            <a:rect l="l" t="t" r="r" b="b"/>
            <a:pathLst>
              <a:path w="2376170" h="540385">
                <a:moveTo>
                  <a:pt x="2286000" y="0"/>
                </a:moveTo>
                <a:lnTo>
                  <a:pt x="90004" y="0"/>
                </a:lnTo>
                <a:lnTo>
                  <a:pt x="54971" y="7068"/>
                </a:lnTo>
                <a:lnTo>
                  <a:pt x="26362" y="26352"/>
                </a:lnTo>
                <a:lnTo>
                  <a:pt x="7073" y="54971"/>
                </a:lnTo>
                <a:lnTo>
                  <a:pt x="0" y="90042"/>
                </a:lnTo>
                <a:lnTo>
                  <a:pt x="0" y="449960"/>
                </a:lnTo>
                <a:lnTo>
                  <a:pt x="7073" y="485032"/>
                </a:lnTo>
                <a:lnTo>
                  <a:pt x="26362" y="513651"/>
                </a:lnTo>
                <a:lnTo>
                  <a:pt x="54971" y="532935"/>
                </a:lnTo>
                <a:lnTo>
                  <a:pt x="90004" y="540003"/>
                </a:lnTo>
                <a:lnTo>
                  <a:pt x="2286000" y="540003"/>
                </a:lnTo>
                <a:lnTo>
                  <a:pt x="2321018" y="532935"/>
                </a:lnTo>
                <a:lnTo>
                  <a:pt x="2349642" y="513651"/>
                </a:lnTo>
                <a:lnTo>
                  <a:pt x="2368956" y="485032"/>
                </a:lnTo>
                <a:lnTo>
                  <a:pt x="2376043" y="449960"/>
                </a:lnTo>
                <a:lnTo>
                  <a:pt x="2376043" y="90042"/>
                </a:lnTo>
                <a:lnTo>
                  <a:pt x="2368956" y="54971"/>
                </a:lnTo>
                <a:lnTo>
                  <a:pt x="2349642" y="26352"/>
                </a:lnTo>
                <a:lnTo>
                  <a:pt x="2321018" y="7068"/>
                </a:lnTo>
                <a:lnTo>
                  <a:pt x="2286000" y="0"/>
                </a:lnTo>
                <a:close/>
              </a:path>
            </a:pathLst>
          </a:custGeom>
          <a:solidFill>
            <a:srgbClr val="5A31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37591" y="115733"/>
            <a:ext cx="228086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b="1" spc="-5" dirty="0">
                <a:solidFill>
                  <a:schemeClr val="bg1"/>
                </a:solidFill>
              </a:rPr>
              <a:t>三叉链表</a:t>
            </a:r>
            <a:endParaRPr sz="2800" b="1" spc="-5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7771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626" name="Group 30"/>
          <p:cNvGrpSpPr>
            <a:grpSpLocks/>
          </p:cNvGrpSpPr>
          <p:nvPr/>
        </p:nvGrpSpPr>
        <p:grpSpPr bwMode="auto">
          <a:xfrm>
            <a:off x="7483696" y="689391"/>
            <a:ext cx="3106737" cy="3475037"/>
            <a:chOff x="3487" y="1271"/>
            <a:chExt cx="1957" cy="2189"/>
          </a:xfrm>
        </p:grpSpPr>
        <p:sp>
          <p:nvSpPr>
            <p:cNvPr id="154673" name="Line 31"/>
            <p:cNvSpPr>
              <a:spLocks noChangeShapeType="1"/>
            </p:cNvSpPr>
            <p:nvPr/>
          </p:nvSpPr>
          <p:spPr bwMode="auto">
            <a:xfrm flipH="1">
              <a:off x="4058" y="1508"/>
              <a:ext cx="322" cy="3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74" name="Line 32"/>
            <p:cNvSpPr>
              <a:spLocks noChangeShapeType="1"/>
            </p:cNvSpPr>
            <p:nvPr/>
          </p:nvSpPr>
          <p:spPr bwMode="auto">
            <a:xfrm>
              <a:off x="4615" y="1527"/>
              <a:ext cx="322" cy="3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75" name="Line 33"/>
            <p:cNvSpPr>
              <a:spLocks noChangeShapeType="1"/>
            </p:cNvSpPr>
            <p:nvPr/>
          </p:nvSpPr>
          <p:spPr bwMode="auto">
            <a:xfrm flipH="1">
              <a:off x="3666" y="2082"/>
              <a:ext cx="215" cy="3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76" name="Line 34"/>
            <p:cNvSpPr>
              <a:spLocks noChangeShapeType="1"/>
            </p:cNvSpPr>
            <p:nvPr/>
          </p:nvSpPr>
          <p:spPr bwMode="auto">
            <a:xfrm>
              <a:off x="3675" y="2724"/>
              <a:ext cx="250" cy="3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77" name="Line 35"/>
            <p:cNvSpPr>
              <a:spLocks noChangeShapeType="1"/>
            </p:cNvSpPr>
            <p:nvPr/>
          </p:nvSpPr>
          <p:spPr bwMode="auto">
            <a:xfrm flipH="1">
              <a:off x="4747" y="2127"/>
              <a:ext cx="161" cy="3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78" name="Line 36"/>
            <p:cNvSpPr>
              <a:spLocks noChangeShapeType="1"/>
            </p:cNvSpPr>
            <p:nvPr/>
          </p:nvSpPr>
          <p:spPr bwMode="auto">
            <a:xfrm>
              <a:off x="5089" y="2127"/>
              <a:ext cx="167" cy="3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79" name="Oval 37"/>
            <p:cNvSpPr>
              <a:spLocks noChangeArrowheads="1"/>
            </p:cNvSpPr>
            <p:nvPr/>
          </p:nvSpPr>
          <p:spPr bwMode="auto">
            <a:xfrm>
              <a:off x="4358" y="1296"/>
              <a:ext cx="295" cy="29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B4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4680" name="Text Box 38"/>
            <p:cNvSpPr txBox="1">
              <a:spLocks noChangeArrowheads="1"/>
            </p:cNvSpPr>
            <p:nvPr/>
          </p:nvSpPr>
          <p:spPr bwMode="auto">
            <a:xfrm>
              <a:off x="4390" y="1271"/>
              <a:ext cx="250" cy="3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A</a:t>
              </a:r>
            </a:p>
          </p:txBody>
        </p:sp>
        <p:sp>
          <p:nvSpPr>
            <p:cNvPr id="154681" name="Oval 39"/>
            <p:cNvSpPr>
              <a:spLocks noChangeArrowheads="1"/>
            </p:cNvSpPr>
            <p:nvPr/>
          </p:nvSpPr>
          <p:spPr bwMode="auto">
            <a:xfrm>
              <a:off x="3810" y="1817"/>
              <a:ext cx="295" cy="29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B4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4682" name="Text Box 40"/>
            <p:cNvSpPr txBox="1">
              <a:spLocks noChangeArrowheads="1"/>
            </p:cNvSpPr>
            <p:nvPr/>
          </p:nvSpPr>
          <p:spPr bwMode="auto">
            <a:xfrm>
              <a:off x="3842" y="1792"/>
              <a:ext cx="250" cy="3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B</a:t>
              </a:r>
            </a:p>
          </p:txBody>
        </p:sp>
        <p:sp>
          <p:nvSpPr>
            <p:cNvPr id="154683" name="Oval 41"/>
            <p:cNvSpPr>
              <a:spLocks noChangeArrowheads="1"/>
            </p:cNvSpPr>
            <p:nvPr/>
          </p:nvSpPr>
          <p:spPr bwMode="auto">
            <a:xfrm>
              <a:off x="4850" y="1855"/>
              <a:ext cx="295" cy="29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B4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4684" name="Text Box 42"/>
            <p:cNvSpPr txBox="1">
              <a:spLocks noChangeArrowheads="1"/>
            </p:cNvSpPr>
            <p:nvPr/>
          </p:nvSpPr>
          <p:spPr bwMode="auto">
            <a:xfrm>
              <a:off x="4882" y="1830"/>
              <a:ext cx="250" cy="3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C</a:t>
              </a:r>
            </a:p>
          </p:txBody>
        </p:sp>
        <p:sp>
          <p:nvSpPr>
            <p:cNvPr id="154685" name="Oval 43"/>
            <p:cNvSpPr>
              <a:spLocks noChangeArrowheads="1"/>
            </p:cNvSpPr>
            <p:nvPr/>
          </p:nvSpPr>
          <p:spPr bwMode="auto">
            <a:xfrm>
              <a:off x="3487" y="2430"/>
              <a:ext cx="295" cy="29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B4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4686" name="Text Box 44"/>
            <p:cNvSpPr txBox="1">
              <a:spLocks noChangeArrowheads="1"/>
            </p:cNvSpPr>
            <p:nvPr/>
          </p:nvSpPr>
          <p:spPr bwMode="auto">
            <a:xfrm>
              <a:off x="3519" y="2414"/>
              <a:ext cx="250" cy="3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D</a:t>
              </a:r>
            </a:p>
          </p:txBody>
        </p:sp>
        <p:sp>
          <p:nvSpPr>
            <p:cNvPr id="154687" name="Oval 45"/>
            <p:cNvSpPr>
              <a:spLocks noChangeArrowheads="1"/>
            </p:cNvSpPr>
            <p:nvPr/>
          </p:nvSpPr>
          <p:spPr bwMode="auto">
            <a:xfrm>
              <a:off x="4601" y="2477"/>
              <a:ext cx="295" cy="29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B4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4688" name="Text Box 46"/>
            <p:cNvSpPr txBox="1">
              <a:spLocks noChangeArrowheads="1"/>
            </p:cNvSpPr>
            <p:nvPr/>
          </p:nvSpPr>
          <p:spPr bwMode="auto">
            <a:xfrm>
              <a:off x="4633" y="2452"/>
              <a:ext cx="250" cy="3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E</a:t>
              </a:r>
            </a:p>
          </p:txBody>
        </p:sp>
        <p:sp>
          <p:nvSpPr>
            <p:cNvPr id="154689" name="Oval 47"/>
            <p:cNvSpPr>
              <a:spLocks noChangeArrowheads="1"/>
            </p:cNvSpPr>
            <p:nvPr/>
          </p:nvSpPr>
          <p:spPr bwMode="auto">
            <a:xfrm>
              <a:off x="5149" y="2504"/>
              <a:ext cx="295" cy="29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B4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4690" name="Text Box 48"/>
            <p:cNvSpPr txBox="1">
              <a:spLocks noChangeArrowheads="1"/>
            </p:cNvSpPr>
            <p:nvPr/>
          </p:nvSpPr>
          <p:spPr bwMode="auto">
            <a:xfrm>
              <a:off x="5181" y="2479"/>
              <a:ext cx="250" cy="3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F</a:t>
              </a:r>
            </a:p>
          </p:txBody>
        </p:sp>
        <p:sp>
          <p:nvSpPr>
            <p:cNvPr id="154691" name="Oval 49"/>
            <p:cNvSpPr>
              <a:spLocks noChangeArrowheads="1"/>
            </p:cNvSpPr>
            <p:nvPr/>
          </p:nvSpPr>
          <p:spPr bwMode="auto">
            <a:xfrm>
              <a:off x="3830" y="3099"/>
              <a:ext cx="295" cy="29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B4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4692" name="Text Box 50"/>
            <p:cNvSpPr txBox="1">
              <a:spLocks noChangeArrowheads="1"/>
            </p:cNvSpPr>
            <p:nvPr/>
          </p:nvSpPr>
          <p:spPr bwMode="auto">
            <a:xfrm>
              <a:off x="3862" y="3074"/>
              <a:ext cx="250" cy="3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G</a:t>
              </a:r>
            </a:p>
          </p:txBody>
        </p:sp>
      </p:grpSp>
      <p:grpSp>
        <p:nvGrpSpPr>
          <p:cNvPr id="154627" name="Group 105"/>
          <p:cNvGrpSpPr>
            <a:grpSpLocks/>
          </p:cNvGrpSpPr>
          <p:nvPr/>
        </p:nvGrpSpPr>
        <p:grpSpPr bwMode="auto">
          <a:xfrm>
            <a:off x="1598832" y="1826041"/>
            <a:ext cx="6769100" cy="4105275"/>
            <a:chOff x="0" y="1623"/>
            <a:chExt cx="4264" cy="2586"/>
          </a:xfrm>
        </p:grpSpPr>
        <p:sp>
          <p:nvSpPr>
            <p:cNvPr id="154630" name="Line 19"/>
            <p:cNvSpPr>
              <a:spLocks noChangeShapeType="1"/>
            </p:cNvSpPr>
            <p:nvPr/>
          </p:nvSpPr>
          <p:spPr bwMode="auto">
            <a:xfrm flipH="1">
              <a:off x="550" y="2801"/>
              <a:ext cx="292" cy="45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31" name="Freeform 23"/>
            <p:cNvSpPr>
              <a:spLocks/>
            </p:cNvSpPr>
            <p:nvPr/>
          </p:nvSpPr>
          <p:spPr bwMode="auto">
            <a:xfrm>
              <a:off x="1261" y="2158"/>
              <a:ext cx="396" cy="400"/>
            </a:xfrm>
            <a:custGeom>
              <a:avLst/>
              <a:gdLst>
                <a:gd name="T0" fmla="*/ 2 w 550"/>
                <a:gd name="T1" fmla="*/ 0 h 544"/>
                <a:gd name="T2" fmla="*/ 0 w 550"/>
                <a:gd name="T3" fmla="*/ 3 h 54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50" h="544">
                  <a:moveTo>
                    <a:pt x="550" y="0"/>
                  </a:moveTo>
                  <a:lnTo>
                    <a:pt x="0" y="544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32" name="Rectangle 25"/>
            <p:cNvSpPr>
              <a:spLocks noChangeArrowheads="1"/>
            </p:cNvSpPr>
            <p:nvPr/>
          </p:nvSpPr>
          <p:spPr bwMode="auto">
            <a:xfrm>
              <a:off x="1537" y="1946"/>
              <a:ext cx="1179" cy="249"/>
            </a:xfrm>
            <a:prstGeom prst="rect">
              <a:avLst/>
            </a:prstGeom>
            <a:solidFill>
              <a:schemeClr val="hlink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hlink"/>
              </a:extrusionClr>
              <a:contourClr>
                <a:schemeClr val="hlink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 b="1"/>
            </a:p>
          </p:txBody>
        </p:sp>
        <p:sp>
          <p:nvSpPr>
            <p:cNvPr id="154633" name="Rectangle 26"/>
            <p:cNvSpPr>
              <a:spLocks noChangeArrowheads="1"/>
            </p:cNvSpPr>
            <p:nvPr/>
          </p:nvSpPr>
          <p:spPr bwMode="auto">
            <a:xfrm>
              <a:off x="1848" y="1946"/>
              <a:ext cx="284" cy="249"/>
            </a:xfrm>
            <a:prstGeom prst="rect">
              <a:avLst/>
            </a:prstGeom>
            <a:solidFill>
              <a:srgbClr val="01FF01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1FF01"/>
              </a:extrusionClr>
              <a:contourClr>
                <a:srgbClr val="01FF01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400" b="1">
                  <a:ea typeface="Angsana New"/>
                  <a:cs typeface="Angsana New"/>
                </a:rPr>
                <a:t>A</a:t>
              </a:r>
            </a:p>
          </p:txBody>
        </p:sp>
        <p:sp>
          <p:nvSpPr>
            <p:cNvPr id="154634" name="Line 28"/>
            <p:cNvSpPr>
              <a:spLocks noChangeShapeType="1"/>
            </p:cNvSpPr>
            <p:nvPr/>
          </p:nvSpPr>
          <p:spPr bwMode="auto">
            <a:xfrm>
              <a:off x="1997" y="1623"/>
              <a:ext cx="152" cy="30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35" name="Freeform 63"/>
            <p:cNvSpPr>
              <a:spLocks/>
            </p:cNvSpPr>
            <p:nvPr/>
          </p:nvSpPr>
          <p:spPr bwMode="auto">
            <a:xfrm>
              <a:off x="2583" y="2158"/>
              <a:ext cx="338" cy="400"/>
            </a:xfrm>
            <a:custGeom>
              <a:avLst/>
              <a:gdLst>
                <a:gd name="T0" fmla="*/ 0 w 469"/>
                <a:gd name="T1" fmla="*/ 0 h 544"/>
                <a:gd name="T2" fmla="*/ 1 w 469"/>
                <a:gd name="T3" fmla="*/ 3 h 54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69" h="544">
                  <a:moveTo>
                    <a:pt x="0" y="0"/>
                  </a:moveTo>
                  <a:lnTo>
                    <a:pt x="469" y="544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36" name="Line 68"/>
            <p:cNvSpPr>
              <a:spLocks noChangeShapeType="1"/>
            </p:cNvSpPr>
            <p:nvPr/>
          </p:nvSpPr>
          <p:spPr bwMode="auto">
            <a:xfrm>
              <a:off x="2432" y="1942"/>
              <a:ext cx="0" cy="251"/>
            </a:xfrm>
            <a:prstGeom prst="line">
              <a:avLst/>
            </a:prstGeom>
            <a:noFill/>
            <a:ln w="38100">
              <a:solidFill>
                <a:srgbClr val="01FF01"/>
              </a:solidFill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1FF01"/>
              </a:extrusionClr>
              <a:contourClr>
                <a:srgbClr val="01FF01"/>
              </a:contourClr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  <a:flatTx/>
            </a:bodyPr>
            <a:lstStyle/>
            <a:p>
              <a:endParaRPr lang="zh-CN" altLang="en-US"/>
            </a:p>
          </p:txBody>
        </p:sp>
        <p:sp>
          <p:nvSpPr>
            <p:cNvPr id="154637" name="Rectangle 69"/>
            <p:cNvSpPr>
              <a:spLocks noChangeArrowheads="1"/>
            </p:cNvSpPr>
            <p:nvPr/>
          </p:nvSpPr>
          <p:spPr bwMode="auto">
            <a:xfrm>
              <a:off x="2153" y="1927"/>
              <a:ext cx="26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10800" rIns="18000" bIns="108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400" b="1"/>
                <a:t>∧</a:t>
              </a:r>
            </a:p>
          </p:txBody>
        </p:sp>
        <p:sp>
          <p:nvSpPr>
            <p:cNvPr id="154638" name="Rectangle 70"/>
            <p:cNvSpPr>
              <a:spLocks noChangeArrowheads="1"/>
            </p:cNvSpPr>
            <p:nvPr/>
          </p:nvSpPr>
          <p:spPr bwMode="auto">
            <a:xfrm>
              <a:off x="608" y="2595"/>
              <a:ext cx="1179" cy="249"/>
            </a:xfrm>
            <a:prstGeom prst="rect">
              <a:avLst/>
            </a:prstGeom>
            <a:solidFill>
              <a:schemeClr val="hlink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hlink"/>
              </a:extrusionClr>
              <a:contourClr>
                <a:schemeClr val="hlink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 b="1"/>
            </a:p>
          </p:txBody>
        </p:sp>
        <p:sp>
          <p:nvSpPr>
            <p:cNvPr id="154639" name="Rectangle 71"/>
            <p:cNvSpPr>
              <a:spLocks noChangeArrowheads="1"/>
            </p:cNvSpPr>
            <p:nvPr/>
          </p:nvSpPr>
          <p:spPr bwMode="auto">
            <a:xfrm>
              <a:off x="919" y="2595"/>
              <a:ext cx="284" cy="249"/>
            </a:xfrm>
            <a:prstGeom prst="rect">
              <a:avLst/>
            </a:prstGeom>
            <a:solidFill>
              <a:srgbClr val="01FF01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1FF01"/>
              </a:extrusionClr>
              <a:contourClr>
                <a:srgbClr val="01FF01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400" b="1">
                  <a:ea typeface="Angsana New"/>
                  <a:cs typeface="Angsana New"/>
                </a:rPr>
                <a:t>B</a:t>
              </a:r>
            </a:p>
          </p:txBody>
        </p:sp>
        <p:sp>
          <p:nvSpPr>
            <p:cNvPr id="154640" name="Line 72"/>
            <p:cNvSpPr>
              <a:spLocks noChangeShapeType="1"/>
            </p:cNvSpPr>
            <p:nvPr/>
          </p:nvSpPr>
          <p:spPr bwMode="auto">
            <a:xfrm>
              <a:off x="1503" y="2591"/>
              <a:ext cx="0" cy="251"/>
            </a:xfrm>
            <a:prstGeom prst="line">
              <a:avLst/>
            </a:prstGeom>
            <a:noFill/>
            <a:ln w="38100">
              <a:solidFill>
                <a:srgbClr val="01FF01"/>
              </a:solidFill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1FF01"/>
              </a:extrusionClr>
              <a:contourClr>
                <a:srgbClr val="01FF01"/>
              </a:contourClr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  <a:flatTx/>
            </a:bodyPr>
            <a:lstStyle/>
            <a:p>
              <a:endParaRPr lang="zh-CN" altLang="en-US"/>
            </a:p>
          </p:txBody>
        </p:sp>
        <p:sp>
          <p:nvSpPr>
            <p:cNvPr id="154641" name="Rectangle 73"/>
            <p:cNvSpPr>
              <a:spLocks noChangeArrowheads="1"/>
            </p:cNvSpPr>
            <p:nvPr/>
          </p:nvSpPr>
          <p:spPr bwMode="auto">
            <a:xfrm>
              <a:off x="1521" y="2576"/>
              <a:ext cx="26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10800" rIns="18000" bIns="108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400" b="1"/>
                <a:t>∧</a:t>
              </a:r>
            </a:p>
          </p:txBody>
        </p:sp>
        <p:sp>
          <p:nvSpPr>
            <p:cNvPr id="154642" name="Rectangle 74"/>
            <p:cNvSpPr>
              <a:spLocks noChangeArrowheads="1"/>
            </p:cNvSpPr>
            <p:nvPr/>
          </p:nvSpPr>
          <p:spPr bwMode="auto">
            <a:xfrm>
              <a:off x="0" y="3301"/>
              <a:ext cx="1179" cy="249"/>
            </a:xfrm>
            <a:prstGeom prst="rect">
              <a:avLst/>
            </a:prstGeom>
            <a:solidFill>
              <a:schemeClr val="hlink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hlink"/>
              </a:extrusionClr>
              <a:contourClr>
                <a:schemeClr val="hlink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 b="1"/>
            </a:p>
          </p:txBody>
        </p:sp>
        <p:sp>
          <p:nvSpPr>
            <p:cNvPr id="154643" name="Rectangle 75"/>
            <p:cNvSpPr>
              <a:spLocks noChangeArrowheads="1"/>
            </p:cNvSpPr>
            <p:nvPr/>
          </p:nvSpPr>
          <p:spPr bwMode="auto">
            <a:xfrm>
              <a:off x="311" y="3301"/>
              <a:ext cx="284" cy="249"/>
            </a:xfrm>
            <a:prstGeom prst="rect">
              <a:avLst/>
            </a:prstGeom>
            <a:solidFill>
              <a:srgbClr val="01FF01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1FF01"/>
              </a:extrusionClr>
              <a:contourClr>
                <a:srgbClr val="01FF01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400" b="1">
                  <a:ea typeface="Angsana New"/>
                  <a:cs typeface="Angsana New"/>
                </a:rPr>
                <a:t>D</a:t>
              </a:r>
            </a:p>
          </p:txBody>
        </p:sp>
        <p:sp>
          <p:nvSpPr>
            <p:cNvPr id="154644" name="Line 76"/>
            <p:cNvSpPr>
              <a:spLocks noChangeShapeType="1"/>
            </p:cNvSpPr>
            <p:nvPr/>
          </p:nvSpPr>
          <p:spPr bwMode="auto">
            <a:xfrm>
              <a:off x="895" y="3297"/>
              <a:ext cx="0" cy="251"/>
            </a:xfrm>
            <a:prstGeom prst="line">
              <a:avLst/>
            </a:prstGeom>
            <a:noFill/>
            <a:ln w="38100">
              <a:solidFill>
                <a:srgbClr val="01FF01"/>
              </a:solidFill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1FF01"/>
              </a:extrusionClr>
              <a:contourClr>
                <a:srgbClr val="01FF01"/>
              </a:contourClr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  <a:flatTx/>
            </a:bodyPr>
            <a:lstStyle/>
            <a:p>
              <a:endParaRPr lang="zh-CN" altLang="en-US"/>
            </a:p>
          </p:txBody>
        </p:sp>
        <p:sp>
          <p:nvSpPr>
            <p:cNvPr id="154645" name="Rectangle 77"/>
            <p:cNvSpPr>
              <a:spLocks noChangeArrowheads="1"/>
            </p:cNvSpPr>
            <p:nvPr/>
          </p:nvSpPr>
          <p:spPr bwMode="auto">
            <a:xfrm>
              <a:off x="4" y="3282"/>
              <a:ext cx="26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10800" rIns="18000" bIns="108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400" b="1"/>
                <a:t>∧</a:t>
              </a:r>
            </a:p>
          </p:txBody>
        </p:sp>
        <p:sp>
          <p:nvSpPr>
            <p:cNvPr id="154646" name="Rectangle 78"/>
            <p:cNvSpPr>
              <a:spLocks noChangeArrowheads="1"/>
            </p:cNvSpPr>
            <p:nvPr/>
          </p:nvSpPr>
          <p:spPr bwMode="auto">
            <a:xfrm>
              <a:off x="1810" y="3293"/>
              <a:ext cx="1179" cy="249"/>
            </a:xfrm>
            <a:prstGeom prst="rect">
              <a:avLst/>
            </a:prstGeom>
            <a:solidFill>
              <a:schemeClr val="hlink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hlink"/>
              </a:extrusionClr>
              <a:contourClr>
                <a:schemeClr val="hlink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 b="1"/>
            </a:p>
          </p:txBody>
        </p:sp>
        <p:sp>
          <p:nvSpPr>
            <p:cNvPr id="154647" name="Rectangle 79"/>
            <p:cNvSpPr>
              <a:spLocks noChangeArrowheads="1"/>
            </p:cNvSpPr>
            <p:nvPr/>
          </p:nvSpPr>
          <p:spPr bwMode="auto">
            <a:xfrm>
              <a:off x="2121" y="3293"/>
              <a:ext cx="284" cy="249"/>
            </a:xfrm>
            <a:prstGeom prst="rect">
              <a:avLst/>
            </a:prstGeom>
            <a:solidFill>
              <a:srgbClr val="01FF01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1FF01"/>
              </a:extrusionClr>
              <a:contourClr>
                <a:srgbClr val="01FF01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400" b="1">
                  <a:ea typeface="Angsana New"/>
                  <a:cs typeface="Angsana New"/>
                </a:rPr>
                <a:t>E</a:t>
              </a:r>
            </a:p>
          </p:txBody>
        </p:sp>
        <p:sp>
          <p:nvSpPr>
            <p:cNvPr id="154648" name="Line 80"/>
            <p:cNvSpPr>
              <a:spLocks noChangeShapeType="1"/>
            </p:cNvSpPr>
            <p:nvPr/>
          </p:nvSpPr>
          <p:spPr bwMode="auto">
            <a:xfrm>
              <a:off x="2705" y="3289"/>
              <a:ext cx="0" cy="251"/>
            </a:xfrm>
            <a:prstGeom prst="line">
              <a:avLst/>
            </a:prstGeom>
            <a:noFill/>
            <a:ln w="38100">
              <a:solidFill>
                <a:srgbClr val="01FF01"/>
              </a:solidFill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1FF01"/>
              </a:extrusionClr>
              <a:contourClr>
                <a:srgbClr val="01FF01"/>
              </a:contourClr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  <a:flatTx/>
            </a:bodyPr>
            <a:lstStyle/>
            <a:p>
              <a:endParaRPr lang="zh-CN" altLang="en-US"/>
            </a:p>
          </p:txBody>
        </p:sp>
        <p:sp>
          <p:nvSpPr>
            <p:cNvPr id="154649" name="Rectangle 81"/>
            <p:cNvSpPr>
              <a:spLocks noChangeArrowheads="1"/>
            </p:cNvSpPr>
            <p:nvPr/>
          </p:nvSpPr>
          <p:spPr bwMode="auto">
            <a:xfrm>
              <a:off x="2741" y="3274"/>
              <a:ext cx="26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10800" rIns="18000" bIns="108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400" b="1"/>
                <a:t>∧</a:t>
              </a:r>
            </a:p>
          </p:txBody>
        </p:sp>
        <p:sp>
          <p:nvSpPr>
            <p:cNvPr id="154650" name="Rectangle 82"/>
            <p:cNvSpPr>
              <a:spLocks noChangeArrowheads="1"/>
            </p:cNvSpPr>
            <p:nvPr/>
          </p:nvSpPr>
          <p:spPr bwMode="auto">
            <a:xfrm>
              <a:off x="3076" y="3284"/>
              <a:ext cx="1179" cy="249"/>
            </a:xfrm>
            <a:prstGeom prst="rect">
              <a:avLst/>
            </a:prstGeom>
            <a:solidFill>
              <a:schemeClr val="hlink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hlink"/>
              </a:extrusionClr>
              <a:contourClr>
                <a:schemeClr val="hlink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 b="1"/>
            </a:p>
          </p:txBody>
        </p:sp>
        <p:sp>
          <p:nvSpPr>
            <p:cNvPr id="154651" name="Rectangle 83"/>
            <p:cNvSpPr>
              <a:spLocks noChangeArrowheads="1"/>
            </p:cNvSpPr>
            <p:nvPr/>
          </p:nvSpPr>
          <p:spPr bwMode="auto">
            <a:xfrm>
              <a:off x="3387" y="3284"/>
              <a:ext cx="284" cy="249"/>
            </a:xfrm>
            <a:prstGeom prst="rect">
              <a:avLst/>
            </a:prstGeom>
            <a:solidFill>
              <a:srgbClr val="01FF01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1FF01"/>
              </a:extrusionClr>
              <a:contourClr>
                <a:srgbClr val="01FF01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400" b="1">
                  <a:ea typeface="Angsana New"/>
                  <a:cs typeface="Angsana New"/>
                </a:rPr>
                <a:t>F</a:t>
              </a:r>
            </a:p>
          </p:txBody>
        </p:sp>
        <p:sp>
          <p:nvSpPr>
            <p:cNvPr id="154652" name="Line 84"/>
            <p:cNvSpPr>
              <a:spLocks noChangeShapeType="1"/>
            </p:cNvSpPr>
            <p:nvPr/>
          </p:nvSpPr>
          <p:spPr bwMode="auto">
            <a:xfrm>
              <a:off x="3971" y="3280"/>
              <a:ext cx="0" cy="251"/>
            </a:xfrm>
            <a:prstGeom prst="line">
              <a:avLst/>
            </a:prstGeom>
            <a:noFill/>
            <a:ln w="38100">
              <a:solidFill>
                <a:srgbClr val="01FF01"/>
              </a:solidFill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1FF01"/>
              </a:extrusionClr>
              <a:contourClr>
                <a:srgbClr val="01FF01"/>
              </a:contourClr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  <a:flatTx/>
            </a:bodyPr>
            <a:lstStyle/>
            <a:p>
              <a:endParaRPr lang="zh-CN" altLang="en-US"/>
            </a:p>
          </p:txBody>
        </p:sp>
        <p:sp>
          <p:nvSpPr>
            <p:cNvPr id="154653" name="Rectangle 85"/>
            <p:cNvSpPr>
              <a:spLocks noChangeArrowheads="1"/>
            </p:cNvSpPr>
            <p:nvPr/>
          </p:nvSpPr>
          <p:spPr bwMode="auto">
            <a:xfrm>
              <a:off x="3998" y="3265"/>
              <a:ext cx="26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10800" rIns="18000" bIns="108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400" b="1"/>
                <a:t>∧</a:t>
              </a:r>
            </a:p>
          </p:txBody>
        </p:sp>
        <p:sp>
          <p:nvSpPr>
            <p:cNvPr id="154654" name="Rectangle 86"/>
            <p:cNvSpPr>
              <a:spLocks noChangeArrowheads="1"/>
            </p:cNvSpPr>
            <p:nvPr/>
          </p:nvSpPr>
          <p:spPr bwMode="auto">
            <a:xfrm>
              <a:off x="2308" y="2603"/>
              <a:ext cx="1179" cy="249"/>
            </a:xfrm>
            <a:prstGeom prst="rect">
              <a:avLst/>
            </a:prstGeom>
            <a:solidFill>
              <a:schemeClr val="hlink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hlink"/>
              </a:extrusionClr>
              <a:contourClr>
                <a:schemeClr val="hlink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 b="1"/>
            </a:p>
          </p:txBody>
        </p:sp>
        <p:sp>
          <p:nvSpPr>
            <p:cNvPr id="154655" name="Rectangle 87"/>
            <p:cNvSpPr>
              <a:spLocks noChangeArrowheads="1"/>
            </p:cNvSpPr>
            <p:nvPr/>
          </p:nvSpPr>
          <p:spPr bwMode="auto">
            <a:xfrm>
              <a:off x="2619" y="2603"/>
              <a:ext cx="284" cy="249"/>
            </a:xfrm>
            <a:prstGeom prst="rect">
              <a:avLst/>
            </a:prstGeom>
            <a:solidFill>
              <a:srgbClr val="01FF01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1FF01"/>
              </a:extrusionClr>
              <a:contourClr>
                <a:srgbClr val="01FF01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400" b="1">
                  <a:ea typeface="Angsana New"/>
                  <a:cs typeface="Angsana New"/>
                </a:rPr>
                <a:t>C</a:t>
              </a:r>
            </a:p>
          </p:txBody>
        </p:sp>
        <p:sp>
          <p:nvSpPr>
            <p:cNvPr id="154656" name="Line 88"/>
            <p:cNvSpPr>
              <a:spLocks noChangeShapeType="1"/>
            </p:cNvSpPr>
            <p:nvPr/>
          </p:nvSpPr>
          <p:spPr bwMode="auto">
            <a:xfrm>
              <a:off x="3203" y="2599"/>
              <a:ext cx="0" cy="251"/>
            </a:xfrm>
            <a:prstGeom prst="line">
              <a:avLst/>
            </a:prstGeom>
            <a:noFill/>
            <a:ln w="38100">
              <a:solidFill>
                <a:srgbClr val="01FF01"/>
              </a:solidFill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1FF01"/>
              </a:extrusionClr>
              <a:contourClr>
                <a:srgbClr val="01FF01"/>
              </a:contourClr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  <a:flatTx/>
            </a:bodyPr>
            <a:lstStyle/>
            <a:p>
              <a:endParaRPr lang="zh-CN" altLang="en-US"/>
            </a:p>
          </p:txBody>
        </p:sp>
        <p:sp>
          <p:nvSpPr>
            <p:cNvPr id="154657" name="Rectangle 90"/>
            <p:cNvSpPr>
              <a:spLocks noChangeArrowheads="1"/>
            </p:cNvSpPr>
            <p:nvPr/>
          </p:nvSpPr>
          <p:spPr bwMode="auto">
            <a:xfrm>
              <a:off x="501" y="3960"/>
              <a:ext cx="1179" cy="249"/>
            </a:xfrm>
            <a:prstGeom prst="rect">
              <a:avLst/>
            </a:prstGeom>
            <a:solidFill>
              <a:schemeClr val="hlink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hlink"/>
              </a:extrusionClr>
              <a:contourClr>
                <a:schemeClr val="hlink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 b="1"/>
            </a:p>
          </p:txBody>
        </p:sp>
        <p:sp>
          <p:nvSpPr>
            <p:cNvPr id="154658" name="Rectangle 91"/>
            <p:cNvSpPr>
              <a:spLocks noChangeArrowheads="1"/>
            </p:cNvSpPr>
            <p:nvPr/>
          </p:nvSpPr>
          <p:spPr bwMode="auto">
            <a:xfrm>
              <a:off x="812" y="3960"/>
              <a:ext cx="284" cy="249"/>
            </a:xfrm>
            <a:prstGeom prst="rect">
              <a:avLst/>
            </a:prstGeom>
            <a:solidFill>
              <a:srgbClr val="01FF01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1FF01"/>
              </a:extrusionClr>
              <a:contourClr>
                <a:srgbClr val="01FF01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400" b="1">
                  <a:ea typeface="Angsana New"/>
                  <a:cs typeface="Angsana New"/>
                </a:rPr>
                <a:t>G</a:t>
              </a:r>
            </a:p>
          </p:txBody>
        </p:sp>
        <p:sp>
          <p:nvSpPr>
            <p:cNvPr id="154659" name="Line 92"/>
            <p:cNvSpPr>
              <a:spLocks noChangeShapeType="1"/>
            </p:cNvSpPr>
            <p:nvPr/>
          </p:nvSpPr>
          <p:spPr bwMode="auto">
            <a:xfrm>
              <a:off x="1396" y="3956"/>
              <a:ext cx="0" cy="251"/>
            </a:xfrm>
            <a:prstGeom prst="line">
              <a:avLst/>
            </a:prstGeom>
            <a:noFill/>
            <a:ln w="38100">
              <a:solidFill>
                <a:srgbClr val="01FF01"/>
              </a:solidFill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25400" prstMaterial="legacyMatte">
              <a:bevelT w="13500" h="13500" prst="angle"/>
              <a:bevelB w="13500" h="13500" prst="angle"/>
              <a:extrusionClr>
                <a:srgbClr val="01FF01"/>
              </a:extrusionClr>
              <a:contourClr>
                <a:srgbClr val="01FF01"/>
              </a:contourClr>
            </a:sp3d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  <a:flatTx/>
            </a:bodyPr>
            <a:lstStyle/>
            <a:p>
              <a:endParaRPr lang="zh-CN" altLang="en-US"/>
            </a:p>
          </p:txBody>
        </p:sp>
        <p:sp>
          <p:nvSpPr>
            <p:cNvPr id="154660" name="Rectangle 93"/>
            <p:cNvSpPr>
              <a:spLocks noChangeArrowheads="1"/>
            </p:cNvSpPr>
            <p:nvPr/>
          </p:nvSpPr>
          <p:spPr bwMode="auto">
            <a:xfrm>
              <a:off x="1423" y="3941"/>
              <a:ext cx="26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10800" rIns="18000" bIns="108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400" b="1"/>
                <a:t>∧</a:t>
              </a:r>
            </a:p>
          </p:txBody>
        </p:sp>
        <p:sp>
          <p:nvSpPr>
            <p:cNvPr id="154661" name="Freeform 94"/>
            <p:cNvSpPr>
              <a:spLocks/>
            </p:cNvSpPr>
            <p:nvPr/>
          </p:nvSpPr>
          <p:spPr bwMode="auto">
            <a:xfrm flipH="1" flipV="1">
              <a:off x="1406" y="2204"/>
              <a:ext cx="404" cy="436"/>
            </a:xfrm>
            <a:custGeom>
              <a:avLst/>
              <a:gdLst>
                <a:gd name="T0" fmla="*/ 3 w 550"/>
                <a:gd name="T1" fmla="*/ 0 h 544"/>
                <a:gd name="T2" fmla="*/ 0 w 550"/>
                <a:gd name="T3" fmla="*/ 12 h 54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50" h="544">
                  <a:moveTo>
                    <a:pt x="550" y="0"/>
                  </a:moveTo>
                  <a:lnTo>
                    <a:pt x="0" y="544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62" name="Rectangle 89"/>
            <p:cNvSpPr>
              <a:spLocks noChangeArrowheads="1"/>
            </p:cNvSpPr>
            <p:nvPr/>
          </p:nvSpPr>
          <p:spPr bwMode="auto">
            <a:xfrm>
              <a:off x="515" y="3959"/>
              <a:ext cx="26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10800" rIns="18000" bIns="108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400" b="1"/>
                <a:t>∧</a:t>
              </a:r>
            </a:p>
          </p:txBody>
        </p:sp>
        <p:sp>
          <p:nvSpPr>
            <p:cNvPr id="154663" name="Freeform 95"/>
            <p:cNvSpPr>
              <a:spLocks/>
            </p:cNvSpPr>
            <p:nvPr/>
          </p:nvSpPr>
          <p:spPr bwMode="auto">
            <a:xfrm flipH="1" flipV="1">
              <a:off x="737" y="2863"/>
              <a:ext cx="293" cy="492"/>
            </a:xfrm>
            <a:custGeom>
              <a:avLst/>
              <a:gdLst>
                <a:gd name="T0" fmla="*/ 1 w 550"/>
                <a:gd name="T1" fmla="*/ 0 h 544"/>
                <a:gd name="T2" fmla="*/ 0 w 550"/>
                <a:gd name="T3" fmla="*/ 99 h 54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50" h="544">
                  <a:moveTo>
                    <a:pt x="550" y="0"/>
                  </a:moveTo>
                  <a:lnTo>
                    <a:pt x="0" y="544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64" name="Rectangle 96"/>
            <p:cNvSpPr>
              <a:spLocks noChangeArrowheads="1"/>
            </p:cNvSpPr>
            <p:nvPr/>
          </p:nvSpPr>
          <p:spPr bwMode="auto">
            <a:xfrm>
              <a:off x="1831" y="3284"/>
              <a:ext cx="26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10800" rIns="18000" bIns="108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400" b="1"/>
                <a:t>∧</a:t>
              </a:r>
            </a:p>
          </p:txBody>
        </p:sp>
        <p:sp>
          <p:nvSpPr>
            <p:cNvPr id="154665" name="Rectangle 97"/>
            <p:cNvSpPr>
              <a:spLocks noChangeArrowheads="1"/>
            </p:cNvSpPr>
            <p:nvPr/>
          </p:nvSpPr>
          <p:spPr bwMode="auto">
            <a:xfrm>
              <a:off x="3116" y="3274"/>
              <a:ext cx="26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10800" rIns="18000" bIns="108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400" b="1"/>
                <a:t>∧</a:t>
              </a:r>
            </a:p>
          </p:txBody>
        </p:sp>
        <p:sp>
          <p:nvSpPr>
            <p:cNvPr id="154666" name="Freeform 98"/>
            <p:cNvSpPr>
              <a:spLocks/>
            </p:cNvSpPr>
            <p:nvPr/>
          </p:nvSpPr>
          <p:spPr bwMode="auto">
            <a:xfrm flipH="1" flipV="1">
              <a:off x="2521" y="2854"/>
              <a:ext cx="293" cy="492"/>
            </a:xfrm>
            <a:custGeom>
              <a:avLst/>
              <a:gdLst>
                <a:gd name="T0" fmla="*/ 1 w 550"/>
                <a:gd name="T1" fmla="*/ 0 h 544"/>
                <a:gd name="T2" fmla="*/ 0 w 550"/>
                <a:gd name="T3" fmla="*/ 99 h 54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50" h="544">
                  <a:moveTo>
                    <a:pt x="550" y="0"/>
                  </a:moveTo>
                  <a:lnTo>
                    <a:pt x="0" y="544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67" name="Line 15"/>
            <p:cNvSpPr>
              <a:spLocks noChangeShapeType="1"/>
            </p:cNvSpPr>
            <p:nvPr/>
          </p:nvSpPr>
          <p:spPr bwMode="auto">
            <a:xfrm flipH="1">
              <a:off x="2224" y="2810"/>
              <a:ext cx="292" cy="45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68" name="Freeform 7"/>
            <p:cNvSpPr>
              <a:spLocks/>
            </p:cNvSpPr>
            <p:nvPr/>
          </p:nvSpPr>
          <p:spPr bwMode="auto">
            <a:xfrm>
              <a:off x="999" y="3479"/>
              <a:ext cx="338" cy="450"/>
            </a:xfrm>
            <a:custGeom>
              <a:avLst/>
              <a:gdLst>
                <a:gd name="T0" fmla="*/ 0 w 444"/>
                <a:gd name="T1" fmla="*/ 0 h 523"/>
                <a:gd name="T2" fmla="*/ 4 w 444"/>
                <a:gd name="T3" fmla="*/ 40 h 5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4" h="523">
                  <a:moveTo>
                    <a:pt x="0" y="0"/>
                  </a:moveTo>
                  <a:lnTo>
                    <a:pt x="444" y="523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69" name="Freeform 99"/>
            <p:cNvSpPr>
              <a:spLocks/>
            </p:cNvSpPr>
            <p:nvPr/>
          </p:nvSpPr>
          <p:spPr bwMode="auto">
            <a:xfrm flipH="1" flipV="1">
              <a:off x="908" y="3585"/>
              <a:ext cx="313" cy="406"/>
            </a:xfrm>
            <a:custGeom>
              <a:avLst/>
              <a:gdLst>
                <a:gd name="T0" fmla="*/ 0 w 444"/>
                <a:gd name="T1" fmla="*/ 0 h 523"/>
                <a:gd name="T2" fmla="*/ 1 w 444"/>
                <a:gd name="T3" fmla="*/ 7 h 5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4" h="523">
                  <a:moveTo>
                    <a:pt x="0" y="0"/>
                  </a:moveTo>
                  <a:lnTo>
                    <a:pt x="444" y="523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70" name="Freeform 100"/>
            <p:cNvSpPr>
              <a:spLocks/>
            </p:cNvSpPr>
            <p:nvPr/>
          </p:nvSpPr>
          <p:spPr bwMode="auto">
            <a:xfrm flipH="1" flipV="1">
              <a:off x="3511" y="2841"/>
              <a:ext cx="312" cy="471"/>
            </a:xfrm>
            <a:custGeom>
              <a:avLst/>
              <a:gdLst>
                <a:gd name="T0" fmla="*/ 0 w 444"/>
                <a:gd name="T1" fmla="*/ 0 h 523"/>
                <a:gd name="T2" fmla="*/ 1 w 444"/>
                <a:gd name="T3" fmla="*/ 88 h 5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4" h="523">
                  <a:moveTo>
                    <a:pt x="0" y="0"/>
                  </a:moveTo>
                  <a:lnTo>
                    <a:pt x="444" y="523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71" name="Freeform 101"/>
            <p:cNvSpPr>
              <a:spLocks/>
            </p:cNvSpPr>
            <p:nvPr/>
          </p:nvSpPr>
          <p:spPr bwMode="auto">
            <a:xfrm flipH="1" flipV="1">
              <a:off x="2731" y="2173"/>
              <a:ext cx="358" cy="443"/>
            </a:xfrm>
            <a:custGeom>
              <a:avLst/>
              <a:gdLst>
                <a:gd name="T0" fmla="*/ 0 w 444"/>
                <a:gd name="T1" fmla="*/ 0 h 523"/>
                <a:gd name="T2" fmla="*/ 12 w 444"/>
                <a:gd name="T3" fmla="*/ 30 h 5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4" h="523">
                  <a:moveTo>
                    <a:pt x="0" y="0"/>
                  </a:moveTo>
                  <a:lnTo>
                    <a:pt x="444" y="523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72" name="Line 11"/>
            <p:cNvSpPr>
              <a:spLocks noChangeShapeType="1"/>
            </p:cNvSpPr>
            <p:nvPr/>
          </p:nvSpPr>
          <p:spPr bwMode="auto">
            <a:xfrm>
              <a:off x="3315" y="2791"/>
              <a:ext cx="292" cy="45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9" name="object 3"/>
          <p:cNvSpPr/>
          <p:nvPr/>
        </p:nvSpPr>
        <p:spPr>
          <a:xfrm>
            <a:off x="542925" y="100964"/>
            <a:ext cx="2031463" cy="484555"/>
          </a:xfrm>
          <a:custGeom>
            <a:avLst/>
            <a:gdLst/>
            <a:ahLst/>
            <a:cxnLst/>
            <a:rect l="l" t="t" r="r" b="b"/>
            <a:pathLst>
              <a:path w="2376170" h="540385">
                <a:moveTo>
                  <a:pt x="2286000" y="0"/>
                </a:moveTo>
                <a:lnTo>
                  <a:pt x="90004" y="0"/>
                </a:lnTo>
                <a:lnTo>
                  <a:pt x="54971" y="7068"/>
                </a:lnTo>
                <a:lnTo>
                  <a:pt x="26362" y="26352"/>
                </a:lnTo>
                <a:lnTo>
                  <a:pt x="7073" y="54971"/>
                </a:lnTo>
                <a:lnTo>
                  <a:pt x="0" y="90042"/>
                </a:lnTo>
                <a:lnTo>
                  <a:pt x="0" y="449960"/>
                </a:lnTo>
                <a:lnTo>
                  <a:pt x="7073" y="485032"/>
                </a:lnTo>
                <a:lnTo>
                  <a:pt x="26362" y="513651"/>
                </a:lnTo>
                <a:lnTo>
                  <a:pt x="54971" y="532935"/>
                </a:lnTo>
                <a:lnTo>
                  <a:pt x="90004" y="540003"/>
                </a:lnTo>
                <a:lnTo>
                  <a:pt x="2286000" y="540003"/>
                </a:lnTo>
                <a:lnTo>
                  <a:pt x="2321018" y="532935"/>
                </a:lnTo>
                <a:lnTo>
                  <a:pt x="2349642" y="513651"/>
                </a:lnTo>
                <a:lnTo>
                  <a:pt x="2368956" y="485032"/>
                </a:lnTo>
                <a:lnTo>
                  <a:pt x="2376043" y="449960"/>
                </a:lnTo>
                <a:lnTo>
                  <a:pt x="2376043" y="90042"/>
                </a:lnTo>
                <a:lnTo>
                  <a:pt x="2368956" y="54971"/>
                </a:lnTo>
                <a:lnTo>
                  <a:pt x="2349642" y="26352"/>
                </a:lnTo>
                <a:lnTo>
                  <a:pt x="2321018" y="7068"/>
                </a:lnTo>
                <a:lnTo>
                  <a:pt x="2286000" y="0"/>
                </a:lnTo>
                <a:close/>
              </a:path>
            </a:pathLst>
          </a:custGeom>
          <a:solidFill>
            <a:srgbClr val="5A31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4"/>
          <p:cNvSpPr txBox="1">
            <a:spLocks noGrp="1"/>
          </p:cNvSpPr>
          <p:nvPr>
            <p:ph type="title"/>
          </p:nvPr>
        </p:nvSpPr>
        <p:spPr>
          <a:xfrm>
            <a:off x="437591" y="115733"/>
            <a:ext cx="228086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b="1" spc="-5" dirty="0">
                <a:solidFill>
                  <a:schemeClr val="bg1"/>
                </a:solidFill>
              </a:rPr>
              <a:t>三叉链表</a:t>
            </a:r>
            <a:endParaRPr sz="2800" b="1" spc="-5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80436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650" name="Group 71"/>
          <p:cNvGrpSpPr>
            <a:grpSpLocks/>
          </p:cNvGrpSpPr>
          <p:nvPr/>
        </p:nvGrpSpPr>
        <p:grpSpPr bwMode="auto">
          <a:xfrm>
            <a:off x="7492072" y="725024"/>
            <a:ext cx="3106738" cy="3475038"/>
            <a:chOff x="3487" y="1271"/>
            <a:chExt cx="1957" cy="2189"/>
          </a:xfrm>
        </p:grpSpPr>
        <p:sp>
          <p:nvSpPr>
            <p:cNvPr id="155671" name="Line 72"/>
            <p:cNvSpPr>
              <a:spLocks noChangeShapeType="1"/>
            </p:cNvSpPr>
            <p:nvPr/>
          </p:nvSpPr>
          <p:spPr bwMode="auto">
            <a:xfrm flipH="1">
              <a:off x="4058" y="1508"/>
              <a:ext cx="322" cy="3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672" name="Line 73"/>
            <p:cNvSpPr>
              <a:spLocks noChangeShapeType="1"/>
            </p:cNvSpPr>
            <p:nvPr/>
          </p:nvSpPr>
          <p:spPr bwMode="auto">
            <a:xfrm>
              <a:off x="4615" y="1527"/>
              <a:ext cx="322" cy="3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673" name="Line 74"/>
            <p:cNvSpPr>
              <a:spLocks noChangeShapeType="1"/>
            </p:cNvSpPr>
            <p:nvPr/>
          </p:nvSpPr>
          <p:spPr bwMode="auto">
            <a:xfrm flipH="1">
              <a:off x="3666" y="2082"/>
              <a:ext cx="215" cy="3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674" name="Line 75"/>
            <p:cNvSpPr>
              <a:spLocks noChangeShapeType="1"/>
            </p:cNvSpPr>
            <p:nvPr/>
          </p:nvSpPr>
          <p:spPr bwMode="auto">
            <a:xfrm>
              <a:off x="3675" y="2724"/>
              <a:ext cx="250" cy="3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675" name="Line 76"/>
            <p:cNvSpPr>
              <a:spLocks noChangeShapeType="1"/>
            </p:cNvSpPr>
            <p:nvPr/>
          </p:nvSpPr>
          <p:spPr bwMode="auto">
            <a:xfrm flipH="1">
              <a:off x="4747" y="2127"/>
              <a:ext cx="161" cy="3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676" name="Line 77"/>
            <p:cNvSpPr>
              <a:spLocks noChangeShapeType="1"/>
            </p:cNvSpPr>
            <p:nvPr/>
          </p:nvSpPr>
          <p:spPr bwMode="auto">
            <a:xfrm>
              <a:off x="5089" y="2127"/>
              <a:ext cx="167" cy="3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677" name="Oval 78"/>
            <p:cNvSpPr>
              <a:spLocks noChangeArrowheads="1"/>
            </p:cNvSpPr>
            <p:nvPr/>
          </p:nvSpPr>
          <p:spPr bwMode="auto">
            <a:xfrm>
              <a:off x="4358" y="1296"/>
              <a:ext cx="295" cy="29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B4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5678" name="Text Box 79"/>
            <p:cNvSpPr txBox="1">
              <a:spLocks noChangeArrowheads="1"/>
            </p:cNvSpPr>
            <p:nvPr/>
          </p:nvSpPr>
          <p:spPr bwMode="auto">
            <a:xfrm>
              <a:off x="4390" y="1271"/>
              <a:ext cx="250" cy="3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A</a:t>
              </a:r>
            </a:p>
          </p:txBody>
        </p:sp>
        <p:sp>
          <p:nvSpPr>
            <p:cNvPr id="155679" name="Oval 80"/>
            <p:cNvSpPr>
              <a:spLocks noChangeArrowheads="1"/>
            </p:cNvSpPr>
            <p:nvPr/>
          </p:nvSpPr>
          <p:spPr bwMode="auto">
            <a:xfrm>
              <a:off x="3810" y="1817"/>
              <a:ext cx="295" cy="29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B4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5680" name="Text Box 81"/>
            <p:cNvSpPr txBox="1">
              <a:spLocks noChangeArrowheads="1"/>
            </p:cNvSpPr>
            <p:nvPr/>
          </p:nvSpPr>
          <p:spPr bwMode="auto">
            <a:xfrm>
              <a:off x="3842" y="1792"/>
              <a:ext cx="250" cy="3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B</a:t>
              </a:r>
            </a:p>
          </p:txBody>
        </p:sp>
        <p:sp>
          <p:nvSpPr>
            <p:cNvPr id="155681" name="Oval 82"/>
            <p:cNvSpPr>
              <a:spLocks noChangeArrowheads="1"/>
            </p:cNvSpPr>
            <p:nvPr/>
          </p:nvSpPr>
          <p:spPr bwMode="auto">
            <a:xfrm>
              <a:off x="4850" y="1855"/>
              <a:ext cx="295" cy="29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B4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5682" name="Text Box 83"/>
            <p:cNvSpPr txBox="1">
              <a:spLocks noChangeArrowheads="1"/>
            </p:cNvSpPr>
            <p:nvPr/>
          </p:nvSpPr>
          <p:spPr bwMode="auto">
            <a:xfrm>
              <a:off x="4882" y="1830"/>
              <a:ext cx="250" cy="3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C</a:t>
              </a:r>
            </a:p>
          </p:txBody>
        </p:sp>
        <p:sp>
          <p:nvSpPr>
            <p:cNvPr id="155683" name="Oval 84"/>
            <p:cNvSpPr>
              <a:spLocks noChangeArrowheads="1"/>
            </p:cNvSpPr>
            <p:nvPr/>
          </p:nvSpPr>
          <p:spPr bwMode="auto">
            <a:xfrm>
              <a:off x="3487" y="2430"/>
              <a:ext cx="295" cy="29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B4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5684" name="Text Box 85"/>
            <p:cNvSpPr txBox="1">
              <a:spLocks noChangeArrowheads="1"/>
            </p:cNvSpPr>
            <p:nvPr/>
          </p:nvSpPr>
          <p:spPr bwMode="auto">
            <a:xfrm>
              <a:off x="3519" y="2414"/>
              <a:ext cx="250" cy="3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D</a:t>
              </a:r>
            </a:p>
          </p:txBody>
        </p:sp>
        <p:sp>
          <p:nvSpPr>
            <p:cNvPr id="155685" name="Oval 86"/>
            <p:cNvSpPr>
              <a:spLocks noChangeArrowheads="1"/>
            </p:cNvSpPr>
            <p:nvPr/>
          </p:nvSpPr>
          <p:spPr bwMode="auto">
            <a:xfrm>
              <a:off x="4601" y="2477"/>
              <a:ext cx="295" cy="29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B4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5686" name="Text Box 87"/>
            <p:cNvSpPr txBox="1">
              <a:spLocks noChangeArrowheads="1"/>
            </p:cNvSpPr>
            <p:nvPr/>
          </p:nvSpPr>
          <p:spPr bwMode="auto">
            <a:xfrm>
              <a:off x="4633" y="2452"/>
              <a:ext cx="250" cy="3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E</a:t>
              </a:r>
            </a:p>
          </p:txBody>
        </p:sp>
        <p:sp>
          <p:nvSpPr>
            <p:cNvPr id="155687" name="Oval 88"/>
            <p:cNvSpPr>
              <a:spLocks noChangeArrowheads="1"/>
            </p:cNvSpPr>
            <p:nvPr/>
          </p:nvSpPr>
          <p:spPr bwMode="auto">
            <a:xfrm>
              <a:off x="5149" y="2504"/>
              <a:ext cx="295" cy="29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B4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5688" name="Text Box 89"/>
            <p:cNvSpPr txBox="1">
              <a:spLocks noChangeArrowheads="1"/>
            </p:cNvSpPr>
            <p:nvPr/>
          </p:nvSpPr>
          <p:spPr bwMode="auto">
            <a:xfrm>
              <a:off x="5181" y="2479"/>
              <a:ext cx="250" cy="3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F</a:t>
              </a:r>
            </a:p>
          </p:txBody>
        </p:sp>
        <p:sp>
          <p:nvSpPr>
            <p:cNvPr id="155689" name="Oval 90"/>
            <p:cNvSpPr>
              <a:spLocks noChangeArrowheads="1"/>
            </p:cNvSpPr>
            <p:nvPr/>
          </p:nvSpPr>
          <p:spPr bwMode="auto">
            <a:xfrm>
              <a:off x="3830" y="3099"/>
              <a:ext cx="295" cy="29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B4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5690" name="Text Box 91"/>
            <p:cNvSpPr txBox="1">
              <a:spLocks noChangeArrowheads="1"/>
            </p:cNvSpPr>
            <p:nvPr/>
          </p:nvSpPr>
          <p:spPr bwMode="auto">
            <a:xfrm>
              <a:off x="3862" y="3074"/>
              <a:ext cx="250" cy="3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3600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G</a:t>
              </a:r>
            </a:p>
          </p:txBody>
        </p:sp>
      </p:grpSp>
      <p:sp>
        <p:nvSpPr>
          <p:cNvPr id="155651" name="Text Box 136"/>
          <p:cNvSpPr txBox="1">
            <a:spLocks noChangeArrowheads="1"/>
          </p:cNvSpPr>
          <p:nvPr/>
        </p:nvSpPr>
        <p:spPr bwMode="auto">
          <a:xfrm>
            <a:off x="1840573" y="574213"/>
            <a:ext cx="50339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b="1" dirty="0">
                <a:solidFill>
                  <a:srgbClr val="314187"/>
                </a:solidFill>
              </a:rPr>
              <a:t>三叉链表的</a:t>
            </a:r>
            <a:r>
              <a:rPr kumimoji="0" lang="zh-CN" altLang="en-US" b="1" dirty="0">
                <a:solidFill>
                  <a:srgbClr val="C00000"/>
                </a:solidFill>
              </a:rPr>
              <a:t>静态链表</a:t>
            </a:r>
            <a:r>
              <a:rPr kumimoji="0" lang="zh-CN" altLang="en-US" b="1" dirty="0">
                <a:solidFill>
                  <a:srgbClr val="314187"/>
                </a:solidFill>
              </a:rPr>
              <a:t>形式</a:t>
            </a:r>
          </a:p>
        </p:txBody>
      </p:sp>
      <p:grpSp>
        <p:nvGrpSpPr>
          <p:cNvPr id="155653" name="Group 192"/>
          <p:cNvGrpSpPr>
            <a:grpSpLocks/>
          </p:cNvGrpSpPr>
          <p:nvPr/>
        </p:nvGrpSpPr>
        <p:grpSpPr bwMode="auto">
          <a:xfrm>
            <a:off x="1867560" y="1106025"/>
            <a:ext cx="4708526" cy="4862513"/>
            <a:chOff x="243" y="1130"/>
            <a:chExt cx="2966" cy="3063"/>
          </a:xfrm>
        </p:grpSpPr>
        <p:sp>
          <p:nvSpPr>
            <p:cNvPr id="155654" name="Rectangle 138"/>
            <p:cNvSpPr>
              <a:spLocks noChangeArrowheads="1"/>
            </p:cNvSpPr>
            <p:nvPr/>
          </p:nvSpPr>
          <p:spPr bwMode="auto">
            <a:xfrm>
              <a:off x="492" y="1505"/>
              <a:ext cx="2651" cy="2688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99FF99"/>
                      </a:gs>
                      <a:gs pos="100000">
                        <a:srgbClr val="477647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en-US" sz="240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55655" name="Group 191"/>
            <p:cNvGrpSpPr>
              <a:grpSpLocks/>
            </p:cNvGrpSpPr>
            <p:nvPr/>
          </p:nvGrpSpPr>
          <p:grpSpPr bwMode="auto">
            <a:xfrm>
              <a:off x="492" y="1889"/>
              <a:ext cx="2632" cy="1920"/>
              <a:chOff x="492" y="1889"/>
              <a:chExt cx="3264" cy="1920"/>
            </a:xfrm>
          </p:grpSpPr>
          <p:sp>
            <p:nvSpPr>
              <p:cNvPr id="155665" name="Line 143"/>
              <p:cNvSpPr>
                <a:spLocks noChangeShapeType="1"/>
              </p:cNvSpPr>
              <p:nvPr/>
            </p:nvSpPr>
            <p:spPr bwMode="auto">
              <a:xfrm>
                <a:off x="492" y="1889"/>
                <a:ext cx="3264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666" name="Line 144"/>
              <p:cNvSpPr>
                <a:spLocks noChangeShapeType="1"/>
              </p:cNvSpPr>
              <p:nvPr/>
            </p:nvSpPr>
            <p:spPr bwMode="auto">
              <a:xfrm>
                <a:off x="492" y="2273"/>
                <a:ext cx="3264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667" name="Line 145"/>
              <p:cNvSpPr>
                <a:spLocks noChangeShapeType="1"/>
              </p:cNvSpPr>
              <p:nvPr/>
            </p:nvSpPr>
            <p:spPr bwMode="auto">
              <a:xfrm>
                <a:off x="492" y="2657"/>
                <a:ext cx="3264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668" name="Line 146"/>
              <p:cNvSpPr>
                <a:spLocks noChangeShapeType="1"/>
              </p:cNvSpPr>
              <p:nvPr/>
            </p:nvSpPr>
            <p:spPr bwMode="auto">
              <a:xfrm>
                <a:off x="492" y="3041"/>
                <a:ext cx="3264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669" name="Line 147"/>
              <p:cNvSpPr>
                <a:spLocks noChangeShapeType="1"/>
              </p:cNvSpPr>
              <p:nvPr/>
            </p:nvSpPr>
            <p:spPr bwMode="auto">
              <a:xfrm>
                <a:off x="492" y="3425"/>
                <a:ext cx="3264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670" name="Line 148"/>
              <p:cNvSpPr>
                <a:spLocks noChangeShapeType="1"/>
              </p:cNvSpPr>
              <p:nvPr/>
            </p:nvSpPr>
            <p:spPr bwMode="auto">
              <a:xfrm>
                <a:off x="492" y="3809"/>
                <a:ext cx="3264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5656" name="Text Box 149"/>
            <p:cNvSpPr txBox="1">
              <a:spLocks noChangeArrowheads="1"/>
            </p:cNvSpPr>
            <p:nvPr/>
          </p:nvSpPr>
          <p:spPr bwMode="auto">
            <a:xfrm>
              <a:off x="243" y="1551"/>
              <a:ext cx="229" cy="26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99FF99"/>
                      </a:gs>
                      <a:gs pos="100000">
                        <a:srgbClr val="477647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5000"/>
                </a:lnSpc>
                <a:spcBef>
                  <a:spcPct val="35000"/>
                </a:spcBef>
                <a:buFontTx/>
                <a:buNone/>
              </a:pPr>
              <a:r>
                <a:rPr lang="en-US" altLang="zh-CN" sz="2800" b="1">
                  <a:solidFill>
                    <a:srgbClr val="3333FF"/>
                  </a:solidFill>
                </a:rPr>
                <a:t>0</a:t>
              </a:r>
            </a:p>
            <a:p>
              <a:pPr algn="ctr" eaLnBrk="1" hangingPunct="1">
                <a:lnSpc>
                  <a:spcPct val="105000"/>
                </a:lnSpc>
                <a:spcBef>
                  <a:spcPct val="35000"/>
                </a:spcBef>
                <a:buFontTx/>
                <a:buNone/>
              </a:pPr>
              <a:r>
                <a:rPr lang="en-US" altLang="zh-CN" sz="2800" b="1">
                  <a:solidFill>
                    <a:srgbClr val="3333FF"/>
                  </a:solidFill>
                </a:rPr>
                <a:t>1</a:t>
              </a:r>
            </a:p>
            <a:p>
              <a:pPr algn="ctr" eaLnBrk="1" hangingPunct="1">
                <a:lnSpc>
                  <a:spcPct val="105000"/>
                </a:lnSpc>
                <a:spcBef>
                  <a:spcPct val="35000"/>
                </a:spcBef>
                <a:buFontTx/>
                <a:buNone/>
              </a:pPr>
              <a:r>
                <a:rPr lang="en-US" altLang="zh-CN" sz="2800" b="1">
                  <a:solidFill>
                    <a:srgbClr val="3333FF"/>
                  </a:solidFill>
                </a:rPr>
                <a:t>2</a:t>
              </a:r>
            </a:p>
            <a:p>
              <a:pPr algn="ctr" eaLnBrk="1" hangingPunct="1">
                <a:lnSpc>
                  <a:spcPct val="105000"/>
                </a:lnSpc>
                <a:spcBef>
                  <a:spcPct val="35000"/>
                </a:spcBef>
                <a:buFontTx/>
                <a:buNone/>
              </a:pPr>
              <a:r>
                <a:rPr lang="en-US" altLang="zh-CN" sz="2800" b="1">
                  <a:solidFill>
                    <a:srgbClr val="3333FF"/>
                  </a:solidFill>
                </a:rPr>
                <a:t>3</a:t>
              </a:r>
            </a:p>
            <a:p>
              <a:pPr algn="ctr" eaLnBrk="1" hangingPunct="1">
                <a:lnSpc>
                  <a:spcPct val="105000"/>
                </a:lnSpc>
                <a:spcBef>
                  <a:spcPct val="35000"/>
                </a:spcBef>
                <a:buFontTx/>
                <a:buNone/>
              </a:pPr>
              <a:r>
                <a:rPr lang="en-US" altLang="zh-CN" sz="2800" b="1">
                  <a:solidFill>
                    <a:srgbClr val="3333FF"/>
                  </a:solidFill>
                </a:rPr>
                <a:t>4</a:t>
              </a:r>
            </a:p>
            <a:p>
              <a:pPr algn="ctr" eaLnBrk="1" hangingPunct="1">
                <a:lnSpc>
                  <a:spcPct val="105000"/>
                </a:lnSpc>
                <a:spcBef>
                  <a:spcPct val="35000"/>
                </a:spcBef>
                <a:buFontTx/>
                <a:buNone/>
              </a:pPr>
              <a:r>
                <a:rPr lang="en-US" altLang="zh-CN" sz="2800" b="1">
                  <a:solidFill>
                    <a:srgbClr val="3333FF"/>
                  </a:solidFill>
                </a:rPr>
                <a:t>5</a:t>
              </a:r>
            </a:p>
            <a:p>
              <a:pPr algn="ctr" eaLnBrk="1" hangingPunct="1">
                <a:lnSpc>
                  <a:spcPct val="105000"/>
                </a:lnSpc>
                <a:spcBef>
                  <a:spcPct val="35000"/>
                </a:spcBef>
                <a:buFontTx/>
                <a:buNone/>
              </a:pPr>
              <a:r>
                <a:rPr lang="en-US" altLang="zh-CN" sz="2800" b="1">
                  <a:solidFill>
                    <a:srgbClr val="3333FF"/>
                  </a:solidFill>
                </a:rPr>
                <a:t>6</a:t>
              </a:r>
              <a:endParaRPr lang="en-US" altLang="zh-CN" sz="2400">
                <a:solidFill>
                  <a:srgbClr val="3333FF"/>
                </a:solidFill>
              </a:endParaRPr>
            </a:p>
          </p:txBody>
        </p:sp>
        <p:sp>
          <p:nvSpPr>
            <p:cNvPr id="155657" name="Text Box 183"/>
            <p:cNvSpPr txBox="1">
              <a:spLocks noChangeArrowheads="1"/>
            </p:cNvSpPr>
            <p:nvPr/>
          </p:nvSpPr>
          <p:spPr bwMode="auto">
            <a:xfrm>
              <a:off x="478" y="1130"/>
              <a:ext cx="273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99FF99"/>
                      </a:gs>
                      <a:gs pos="100000">
                        <a:srgbClr val="477647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olidFill>
                    <a:srgbClr val="FF0066"/>
                  </a:solidFill>
                </a:rPr>
                <a:t>data  parent  lchild   rchild</a:t>
              </a:r>
              <a:endParaRPr lang="en-US" altLang="zh-CN" sz="2800">
                <a:solidFill>
                  <a:srgbClr val="FF0066"/>
                </a:solidFill>
              </a:endParaRPr>
            </a:p>
          </p:txBody>
        </p:sp>
        <p:sp>
          <p:nvSpPr>
            <p:cNvPr id="155658" name="Text Box 184"/>
            <p:cNvSpPr txBox="1">
              <a:spLocks noChangeArrowheads="1"/>
            </p:cNvSpPr>
            <p:nvPr/>
          </p:nvSpPr>
          <p:spPr bwMode="auto">
            <a:xfrm>
              <a:off x="603" y="1561"/>
              <a:ext cx="352" cy="25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40000"/>
                </a:spcBef>
                <a:buFontTx/>
                <a:buNone/>
              </a:pPr>
              <a:r>
                <a:rPr kumimoji="0" lang="en-US" altLang="zh-CN" sz="2800" b="1"/>
                <a:t>A</a:t>
              </a:r>
            </a:p>
            <a:p>
              <a:pPr eaLnBrk="1" hangingPunct="1">
                <a:spcBef>
                  <a:spcPct val="40000"/>
                </a:spcBef>
                <a:buFontTx/>
                <a:buNone/>
              </a:pPr>
              <a:r>
                <a:rPr kumimoji="0" lang="en-US" altLang="zh-CN" sz="2800" b="1"/>
                <a:t>B</a:t>
              </a:r>
            </a:p>
            <a:p>
              <a:pPr eaLnBrk="1" hangingPunct="1">
                <a:spcBef>
                  <a:spcPct val="40000"/>
                </a:spcBef>
                <a:buFontTx/>
                <a:buNone/>
              </a:pPr>
              <a:r>
                <a:rPr kumimoji="0" lang="en-US" altLang="zh-CN" sz="2800" b="1"/>
                <a:t>C</a:t>
              </a:r>
            </a:p>
            <a:p>
              <a:pPr eaLnBrk="1" hangingPunct="1">
                <a:spcBef>
                  <a:spcPct val="40000"/>
                </a:spcBef>
                <a:buFontTx/>
                <a:buNone/>
              </a:pPr>
              <a:r>
                <a:rPr kumimoji="0" lang="en-US" altLang="zh-CN" sz="2800" b="1"/>
                <a:t>D</a:t>
              </a:r>
            </a:p>
            <a:p>
              <a:pPr eaLnBrk="1" hangingPunct="1">
                <a:spcBef>
                  <a:spcPct val="40000"/>
                </a:spcBef>
                <a:buFontTx/>
                <a:buNone/>
              </a:pPr>
              <a:r>
                <a:rPr kumimoji="0" lang="en-US" altLang="zh-CN" sz="2800" b="1"/>
                <a:t>E</a:t>
              </a:r>
            </a:p>
            <a:p>
              <a:pPr eaLnBrk="1" hangingPunct="1">
                <a:spcBef>
                  <a:spcPct val="40000"/>
                </a:spcBef>
                <a:buFontTx/>
                <a:buNone/>
              </a:pPr>
              <a:r>
                <a:rPr kumimoji="0" lang="en-US" altLang="zh-CN" sz="2800" b="1"/>
                <a:t>F</a:t>
              </a:r>
            </a:p>
            <a:p>
              <a:pPr eaLnBrk="1" hangingPunct="1">
                <a:spcBef>
                  <a:spcPct val="40000"/>
                </a:spcBef>
                <a:buFontTx/>
                <a:buNone/>
              </a:pPr>
              <a:r>
                <a:rPr kumimoji="0" lang="en-US" altLang="zh-CN" sz="2800" b="1"/>
                <a:t>G</a:t>
              </a:r>
            </a:p>
          </p:txBody>
        </p:sp>
        <p:sp>
          <p:nvSpPr>
            <p:cNvPr id="155659" name="Line 185"/>
            <p:cNvSpPr>
              <a:spLocks noChangeShapeType="1"/>
            </p:cNvSpPr>
            <p:nvPr/>
          </p:nvSpPr>
          <p:spPr bwMode="auto">
            <a:xfrm>
              <a:off x="1059" y="1514"/>
              <a:ext cx="0" cy="2667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5660" name="Text Box 186"/>
            <p:cNvSpPr txBox="1">
              <a:spLocks noChangeArrowheads="1"/>
            </p:cNvSpPr>
            <p:nvPr/>
          </p:nvSpPr>
          <p:spPr bwMode="auto">
            <a:xfrm>
              <a:off x="1200" y="1561"/>
              <a:ext cx="352" cy="25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40000"/>
                </a:spcBef>
                <a:buFontTx/>
                <a:buNone/>
              </a:pPr>
              <a:r>
                <a:rPr kumimoji="0" lang="en-US" altLang="zh-CN" sz="2800" b="1"/>
                <a:t>-1</a:t>
              </a:r>
            </a:p>
            <a:p>
              <a:pPr eaLnBrk="1" hangingPunct="1">
                <a:spcBef>
                  <a:spcPct val="40000"/>
                </a:spcBef>
                <a:buFontTx/>
                <a:buNone/>
              </a:pPr>
              <a:r>
                <a:rPr kumimoji="0" lang="en-US" altLang="zh-CN" sz="2800" b="1"/>
                <a:t> 0</a:t>
              </a:r>
            </a:p>
            <a:p>
              <a:pPr eaLnBrk="1" hangingPunct="1">
                <a:spcBef>
                  <a:spcPct val="40000"/>
                </a:spcBef>
                <a:buFontTx/>
                <a:buNone/>
              </a:pPr>
              <a:r>
                <a:rPr kumimoji="0" lang="en-US" altLang="zh-CN" sz="2800" b="1"/>
                <a:t> 0</a:t>
              </a:r>
            </a:p>
            <a:p>
              <a:pPr eaLnBrk="1" hangingPunct="1">
                <a:spcBef>
                  <a:spcPct val="40000"/>
                </a:spcBef>
                <a:buFontTx/>
                <a:buNone/>
              </a:pPr>
              <a:r>
                <a:rPr kumimoji="0" lang="en-US" altLang="zh-CN" sz="2800" b="1"/>
                <a:t> 1</a:t>
              </a:r>
            </a:p>
            <a:p>
              <a:pPr eaLnBrk="1" hangingPunct="1">
                <a:spcBef>
                  <a:spcPct val="40000"/>
                </a:spcBef>
                <a:buFontTx/>
                <a:buNone/>
              </a:pPr>
              <a:r>
                <a:rPr kumimoji="0" lang="en-US" altLang="zh-CN" sz="2800" b="1"/>
                <a:t> 2</a:t>
              </a:r>
            </a:p>
            <a:p>
              <a:pPr eaLnBrk="1" hangingPunct="1">
                <a:spcBef>
                  <a:spcPct val="40000"/>
                </a:spcBef>
                <a:buFontTx/>
                <a:buNone/>
              </a:pPr>
              <a:r>
                <a:rPr kumimoji="0" lang="en-US" altLang="zh-CN" sz="2800" b="1"/>
                <a:t> 2</a:t>
              </a:r>
            </a:p>
            <a:p>
              <a:pPr eaLnBrk="1" hangingPunct="1">
                <a:spcBef>
                  <a:spcPct val="40000"/>
                </a:spcBef>
                <a:buFontTx/>
                <a:buNone/>
              </a:pPr>
              <a:r>
                <a:rPr kumimoji="0" lang="en-US" altLang="zh-CN" sz="2800" b="1"/>
                <a:t> 3</a:t>
              </a:r>
            </a:p>
          </p:txBody>
        </p:sp>
        <p:sp>
          <p:nvSpPr>
            <p:cNvPr id="155661" name="Line 187"/>
            <p:cNvSpPr>
              <a:spLocks noChangeShapeType="1"/>
            </p:cNvSpPr>
            <p:nvPr/>
          </p:nvSpPr>
          <p:spPr bwMode="auto">
            <a:xfrm>
              <a:off x="1693" y="1514"/>
              <a:ext cx="0" cy="2667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5662" name="Line 188"/>
            <p:cNvSpPr>
              <a:spLocks noChangeShapeType="1"/>
            </p:cNvSpPr>
            <p:nvPr/>
          </p:nvSpPr>
          <p:spPr bwMode="auto">
            <a:xfrm>
              <a:off x="2443" y="1505"/>
              <a:ext cx="0" cy="2667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5663" name="Text Box 189"/>
            <p:cNvSpPr txBox="1">
              <a:spLocks noChangeArrowheads="1"/>
            </p:cNvSpPr>
            <p:nvPr/>
          </p:nvSpPr>
          <p:spPr bwMode="auto">
            <a:xfrm>
              <a:off x="1869" y="1562"/>
              <a:ext cx="352" cy="25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40000"/>
                </a:spcBef>
                <a:buFontTx/>
                <a:buNone/>
              </a:pPr>
              <a:r>
                <a:rPr kumimoji="0" lang="en-US" altLang="zh-CN" sz="2800" b="1"/>
                <a:t> 1</a:t>
              </a:r>
            </a:p>
            <a:p>
              <a:pPr eaLnBrk="1" hangingPunct="1">
                <a:spcBef>
                  <a:spcPct val="40000"/>
                </a:spcBef>
                <a:buFontTx/>
                <a:buNone/>
              </a:pPr>
              <a:r>
                <a:rPr kumimoji="0" lang="en-US" altLang="zh-CN" sz="2800" b="1"/>
                <a:t> 3</a:t>
              </a:r>
            </a:p>
            <a:p>
              <a:pPr eaLnBrk="1" hangingPunct="1">
                <a:spcBef>
                  <a:spcPct val="40000"/>
                </a:spcBef>
                <a:buFontTx/>
                <a:buNone/>
              </a:pPr>
              <a:r>
                <a:rPr kumimoji="0" lang="en-US" altLang="zh-CN" sz="2800" b="1"/>
                <a:t> 4</a:t>
              </a:r>
            </a:p>
            <a:p>
              <a:pPr eaLnBrk="1" hangingPunct="1">
                <a:spcBef>
                  <a:spcPct val="40000"/>
                </a:spcBef>
                <a:buFontTx/>
                <a:buNone/>
              </a:pPr>
              <a:r>
                <a:rPr kumimoji="0" lang="en-US" altLang="zh-CN" sz="2800" b="1"/>
                <a:t>-1</a:t>
              </a:r>
            </a:p>
            <a:p>
              <a:pPr eaLnBrk="1" hangingPunct="1">
                <a:spcBef>
                  <a:spcPct val="40000"/>
                </a:spcBef>
                <a:buFontTx/>
                <a:buNone/>
              </a:pPr>
              <a:r>
                <a:rPr kumimoji="0" lang="en-US" altLang="zh-CN" sz="2800" b="1"/>
                <a:t>-1</a:t>
              </a:r>
            </a:p>
            <a:p>
              <a:pPr eaLnBrk="1" hangingPunct="1">
                <a:spcBef>
                  <a:spcPct val="40000"/>
                </a:spcBef>
                <a:buFontTx/>
                <a:buNone/>
              </a:pPr>
              <a:r>
                <a:rPr kumimoji="0" lang="en-US" altLang="zh-CN" sz="2800" b="1"/>
                <a:t>-1</a:t>
              </a:r>
            </a:p>
            <a:p>
              <a:pPr eaLnBrk="1" hangingPunct="1">
                <a:spcBef>
                  <a:spcPct val="40000"/>
                </a:spcBef>
                <a:buFontTx/>
                <a:buNone/>
              </a:pPr>
              <a:r>
                <a:rPr kumimoji="0" lang="en-US" altLang="zh-CN" sz="2800" b="1"/>
                <a:t>-1</a:t>
              </a:r>
            </a:p>
          </p:txBody>
        </p:sp>
        <p:sp>
          <p:nvSpPr>
            <p:cNvPr id="155664" name="Text Box 190"/>
            <p:cNvSpPr txBox="1">
              <a:spLocks noChangeArrowheads="1"/>
            </p:cNvSpPr>
            <p:nvPr/>
          </p:nvSpPr>
          <p:spPr bwMode="auto">
            <a:xfrm>
              <a:off x="2621" y="1571"/>
              <a:ext cx="352" cy="25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40000"/>
                </a:spcBef>
                <a:buFontTx/>
                <a:buNone/>
              </a:pPr>
              <a:r>
                <a:rPr kumimoji="0" lang="en-US" altLang="zh-CN" sz="2800" b="1" dirty="0"/>
                <a:t> 2</a:t>
              </a:r>
            </a:p>
            <a:p>
              <a:pPr eaLnBrk="1" hangingPunct="1">
                <a:spcBef>
                  <a:spcPct val="40000"/>
                </a:spcBef>
                <a:buFontTx/>
                <a:buNone/>
              </a:pPr>
              <a:r>
                <a:rPr kumimoji="0" lang="en-US" altLang="zh-CN" sz="2800" b="1" dirty="0"/>
                <a:t>-1</a:t>
              </a:r>
            </a:p>
            <a:p>
              <a:pPr eaLnBrk="1" hangingPunct="1">
                <a:spcBef>
                  <a:spcPct val="40000"/>
                </a:spcBef>
                <a:buFontTx/>
                <a:buNone/>
              </a:pPr>
              <a:r>
                <a:rPr kumimoji="0" lang="en-US" altLang="zh-CN" sz="2800" b="1" dirty="0"/>
                <a:t> 5</a:t>
              </a:r>
            </a:p>
            <a:p>
              <a:pPr eaLnBrk="1" hangingPunct="1">
                <a:spcBef>
                  <a:spcPct val="40000"/>
                </a:spcBef>
                <a:buFontTx/>
                <a:buNone/>
              </a:pPr>
              <a:r>
                <a:rPr kumimoji="0" lang="en-US" altLang="zh-CN" sz="2800" b="1" dirty="0"/>
                <a:t> 6</a:t>
              </a:r>
            </a:p>
            <a:p>
              <a:pPr eaLnBrk="1" hangingPunct="1">
                <a:spcBef>
                  <a:spcPct val="40000"/>
                </a:spcBef>
                <a:buFontTx/>
                <a:buNone/>
              </a:pPr>
              <a:r>
                <a:rPr kumimoji="0" lang="en-US" altLang="zh-CN" sz="2800" b="1" dirty="0"/>
                <a:t>-1</a:t>
              </a:r>
            </a:p>
            <a:p>
              <a:pPr eaLnBrk="1" hangingPunct="1">
                <a:spcBef>
                  <a:spcPct val="40000"/>
                </a:spcBef>
                <a:buFontTx/>
                <a:buNone/>
              </a:pPr>
              <a:r>
                <a:rPr kumimoji="0" lang="en-US" altLang="zh-CN" sz="2800" b="1" dirty="0"/>
                <a:t>-1</a:t>
              </a:r>
            </a:p>
            <a:p>
              <a:pPr eaLnBrk="1" hangingPunct="1">
                <a:spcBef>
                  <a:spcPct val="40000"/>
                </a:spcBef>
                <a:buFontTx/>
                <a:buNone/>
              </a:pPr>
              <a:r>
                <a:rPr kumimoji="0" lang="en-US" altLang="zh-CN" sz="2800" b="1" dirty="0"/>
                <a:t>-1</a:t>
              </a:r>
            </a:p>
          </p:txBody>
        </p:sp>
      </p:grpSp>
      <p:sp>
        <p:nvSpPr>
          <p:cNvPr id="43" name="object 3"/>
          <p:cNvSpPr/>
          <p:nvPr/>
        </p:nvSpPr>
        <p:spPr>
          <a:xfrm>
            <a:off x="542925" y="100964"/>
            <a:ext cx="2031463" cy="484555"/>
          </a:xfrm>
          <a:custGeom>
            <a:avLst/>
            <a:gdLst/>
            <a:ahLst/>
            <a:cxnLst/>
            <a:rect l="l" t="t" r="r" b="b"/>
            <a:pathLst>
              <a:path w="2376170" h="540385">
                <a:moveTo>
                  <a:pt x="2286000" y="0"/>
                </a:moveTo>
                <a:lnTo>
                  <a:pt x="90004" y="0"/>
                </a:lnTo>
                <a:lnTo>
                  <a:pt x="54971" y="7068"/>
                </a:lnTo>
                <a:lnTo>
                  <a:pt x="26362" y="26352"/>
                </a:lnTo>
                <a:lnTo>
                  <a:pt x="7073" y="54971"/>
                </a:lnTo>
                <a:lnTo>
                  <a:pt x="0" y="90042"/>
                </a:lnTo>
                <a:lnTo>
                  <a:pt x="0" y="449960"/>
                </a:lnTo>
                <a:lnTo>
                  <a:pt x="7073" y="485032"/>
                </a:lnTo>
                <a:lnTo>
                  <a:pt x="26362" y="513651"/>
                </a:lnTo>
                <a:lnTo>
                  <a:pt x="54971" y="532935"/>
                </a:lnTo>
                <a:lnTo>
                  <a:pt x="90004" y="540003"/>
                </a:lnTo>
                <a:lnTo>
                  <a:pt x="2286000" y="540003"/>
                </a:lnTo>
                <a:lnTo>
                  <a:pt x="2321018" y="532935"/>
                </a:lnTo>
                <a:lnTo>
                  <a:pt x="2349642" y="513651"/>
                </a:lnTo>
                <a:lnTo>
                  <a:pt x="2368956" y="485032"/>
                </a:lnTo>
                <a:lnTo>
                  <a:pt x="2376043" y="449960"/>
                </a:lnTo>
                <a:lnTo>
                  <a:pt x="2376043" y="90042"/>
                </a:lnTo>
                <a:lnTo>
                  <a:pt x="2368956" y="54971"/>
                </a:lnTo>
                <a:lnTo>
                  <a:pt x="2349642" y="26352"/>
                </a:lnTo>
                <a:lnTo>
                  <a:pt x="2321018" y="7068"/>
                </a:lnTo>
                <a:lnTo>
                  <a:pt x="2286000" y="0"/>
                </a:lnTo>
                <a:close/>
              </a:path>
            </a:pathLst>
          </a:custGeom>
          <a:solidFill>
            <a:srgbClr val="5A31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"/>
          <p:cNvSpPr txBox="1">
            <a:spLocks noGrp="1"/>
          </p:cNvSpPr>
          <p:nvPr>
            <p:ph type="title"/>
          </p:nvPr>
        </p:nvSpPr>
        <p:spPr>
          <a:xfrm>
            <a:off x="437591" y="115733"/>
            <a:ext cx="228086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zh-CN" altLang="en-US" sz="2800" b="1" spc="-5" dirty="0">
                <a:solidFill>
                  <a:schemeClr val="bg1"/>
                </a:solidFill>
              </a:rPr>
              <a:t>三叉链表</a:t>
            </a:r>
            <a:endParaRPr sz="2800" b="1" spc="-5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01977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931160" y="3899789"/>
            <a:ext cx="6569075" cy="725805"/>
          </a:xfrm>
          <a:custGeom>
            <a:avLst/>
            <a:gdLst/>
            <a:ahLst/>
            <a:cxnLst/>
            <a:rect l="l" t="t" r="r" b="b"/>
            <a:pathLst>
              <a:path w="6569075" h="725804">
                <a:moveTo>
                  <a:pt x="6447917" y="0"/>
                </a:moveTo>
                <a:lnTo>
                  <a:pt x="0" y="0"/>
                </a:lnTo>
                <a:lnTo>
                  <a:pt x="0" y="604774"/>
                </a:lnTo>
                <a:lnTo>
                  <a:pt x="120903" y="725678"/>
                </a:lnTo>
                <a:lnTo>
                  <a:pt x="6568821" y="725678"/>
                </a:lnTo>
                <a:lnTo>
                  <a:pt x="6568821" y="121031"/>
                </a:lnTo>
                <a:lnTo>
                  <a:pt x="6447917" y="0"/>
                </a:lnTo>
                <a:close/>
              </a:path>
            </a:pathLst>
          </a:custGeom>
          <a:solidFill>
            <a:srgbClr val="5C2F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997322" y="4126483"/>
            <a:ext cx="626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Microsoft YaHei UI"/>
                <a:cs typeface="Microsoft YaHei UI"/>
              </a:rPr>
              <a:t>5-6-1</a:t>
            </a:r>
            <a:endParaRPr sz="1800">
              <a:latin typeface="Microsoft YaHei UI"/>
              <a:cs typeface="Microsoft YaHei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7422" y="4126483"/>
            <a:ext cx="1625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Microsoft YaHei UI"/>
                <a:cs typeface="Microsoft YaHei UI"/>
              </a:rPr>
              <a:t>森林的逻辑结构</a:t>
            </a:r>
            <a:endParaRPr sz="1800">
              <a:latin typeface="Microsoft YaHei UI"/>
              <a:cs typeface="Microsoft YaHei U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40482" y="1998345"/>
            <a:ext cx="7670800" cy="1345565"/>
          </a:xfrm>
          <a:custGeom>
            <a:avLst/>
            <a:gdLst/>
            <a:ahLst/>
            <a:cxnLst/>
            <a:rect l="l" t="t" r="r" b="b"/>
            <a:pathLst>
              <a:path w="7670800" h="1345564">
                <a:moveTo>
                  <a:pt x="7446137" y="0"/>
                </a:moveTo>
                <a:lnTo>
                  <a:pt x="224155" y="0"/>
                </a:lnTo>
                <a:lnTo>
                  <a:pt x="178972" y="4558"/>
                </a:lnTo>
                <a:lnTo>
                  <a:pt x="136892" y="17631"/>
                </a:lnTo>
                <a:lnTo>
                  <a:pt x="98815" y="38315"/>
                </a:lnTo>
                <a:lnTo>
                  <a:pt x="65643" y="65706"/>
                </a:lnTo>
                <a:lnTo>
                  <a:pt x="38274" y="98902"/>
                </a:lnTo>
                <a:lnTo>
                  <a:pt x="17611" y="136999"/>
                </a:lnTo>
                <a:lnTo>
                  <a:pt x="4552" y="179093"/>
                </a:lnTo>
                <a:lnTo>
                  <a:pt x="0" y="224281"/>
                </a:lnTo>
                <a:lnTo>
                  <a:pt x="0" y="1121028"/>
                </a:lnTo>
                <a:lnTo>
                  <a:pt x="4552" y="1166253"/>
                </a:lnTo>
                <a:lnTo>
                  <a:pt x="17611" y="1208365"/>
                </a:lnTo>
                <a:lnTo>
                  <a:pt x="38274" y="1246464"/>
                </a:lnTo>
                <a:lnTo>
                  <a:pt x="65643" y="1279652"/>
                </a:lnTo>
                <a:lnTo>
                  <a:pt x="98815" y="1307029"/>
                </a:lnTo>
                <a:lnTo>
                  <a:pt x="136892" y="1327697"/>
                </a:lnTo>
                <a:lnTo>
                  <a:pt x="178972" y="1340757"/>
                </a:lnTo>
                <a:lnTo>
                  <a:pt x="224155" y="1345310"/>
                </a:lnTo>
                <a:lnTo>
                  <a:pt x="7446137" y="1345310"/>
                </a:lnTo>
                <a:lnTo>
                  <a:pt x="7491319" y="1340757"/>
                </a:lnTo>
                <a:lnTo>
                  <a:pt x="7533399" y="1327697"/>
                </a:lnTo>
                <a:lnTo>
                  <a:pt x="7571476" y="1307029"/>
                </a:lnTo>
                <a:lnTo>
                  <a:pt x="7604648" y="1279652"/>
                </a:lnTo>
                <a:lnTo>
                  <a:pt x="7632017" y="1246464"/>
                </a:lnTo>
                <a:lnTo>
                  <a:pt x="7652680" y="1208365"/>
                </a:lnTo>
                <a:lnTo>
                  <a:pt x="7665739" y="1166253"/>
                </a:lnTo>
                <a:lnTo>
                  <a:pt x="7670292" y="1121028"/>
                </a:lnTo>
                <a:lnTo>
                  <a:pt x="7670292" y="224281"/>
                </a:lnTo>
                <a:lnTo>
                  <a:pt x="7665739" y="179093"/>
                </a:lnTo>
                <a:lnTo>
                  <a:pt x="7652680" y="136999"/>
                </a:lnTo>
                <a:lnTo>
                  <a:pt x="7632017" y="98902"/>
                </a:lnTo>
                <a:lnTo>
                  <a:pt x="7604648" y="65706"/>
                </a:lnTo>
                <a:lnTo>
                  <a:pt x="7571476" y="38315"/>
                </a:lnTo>
                <a:lnTo>
                  <a:pt x="7533399" y="17631"/>
                </a:lnTo>
                <a:lnTo>
                  <a:pt x="7491319" y="4558"/>
                </a:lnTo>
                <a:lnTo>
                  <a:pt x="74461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299965" y="2332064"/>
            <a:ext cx="520027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33245" algn="l"/>
              </a:tabLst>
            </a:pPr>
            <a:r>
              <a:rPr dirty="0">
                <a:solidFill>
                  <a:srgbClr val="5C2F7C"/>
                </a:solidFill>
                <a:latin typeface="Microsoft YaHei UI"/>
                <a:cs typeface="Microsoft YaHei UI"/>
              </a:rPr>
              <a:t>第五章	</a:t>
            </a:r>
            <a:r>
              <a:rPr lang="en-US" dirty="0">
                <a:solidFill>
                  <a:srgbClr val="5C2F7C"/>
                </a:solidFill>
                <a:latin typeface="Microsoft YaHei UI"/>
                <a:cs typeface="Microsoft YaHei UI"/>
              </a:rPr>
              <a:t>  </a:t>
            </a:r>
            <a:r>
              <a:rPr dirty="0" err="1">
                <a:solidFill>
                  <a:srgbClr val="5C2F7C"/>
                </a:solidFill>
                <a:latin typeface="Microsoft YaHei UI"/>
                <a:cs typeface="Microsoft YaHei UI"/>
              </a:rPr>
              <a:t>树和二叉树</a:t>
            </a:r>
            <a:endParaRPr dirty="0">
              <a:solidFill>
                <a:srgbClr val="5C2F7C"/>
              </a:solidFill>
              <a:latin typeface="Microsoft YaHei UI"/>
              <a:cs typeface="Microsoft YaHei UI"/>
            </a:endParaRPr>
          </a:p>
        </p:txBody>
      </p:sp>
    </p:spTree>
    <p:extLst>
      <p:ext uri="{BB962C8B-B14F-4D97-AF65-F5344CB8AC3E}">
        <p14:creationId xmlns:p14="http://schemas.microsoft.com/office/powerpoint/2010/main" val="21668374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48643" y="2017267"/>
            <a:ext cx="152400" cy="25355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algn="just">
              <a:lnSpc>
                <a:spcPts val="1000"/>
              </a:lnSpc>
              <a:spcBef>
                <a:spcPts val="2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数 据 结 构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880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（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从 概 念 到 实 现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975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640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清 华 大 学 出 版 社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42924" y="100964"/>
            <a:ext cx="3456813" cy="540385"/>
          </a:xfrm>
          <a:custGeom>
            <a:avLst/>
            <a:gdLst/>
            <a:ahLst/>
            <a:cxnLst/>
            <a:rect l="l" t="t" r="r" b="b"/>
            <a:pathLst>
              <a:path w="2376170" h="540385">
                <a:moveTo>
                  <a:pt x="2286000" y="0"/>
                </a:moveTo>
                <a:lnTo>
                  <a:pt x="90004" y="0"/>
                </a:lnTo>
                <a:lnTo>
                  <a:pt x="54971" y="7068"/>
                </a:lnTo>
                <a:lnTo>
                  <a:pt x="26362" y="26352"/>
                </a:lnTo>
                <a:lnTo>
                  <a:pt x="7073" y="54971"/>
                </a:lnTo>
                <a:lnTo>
                  <a:pt x="0" y="90042"/>
                </a:lnTo>
                <a:lnTo>
                  <a:pt x="0" y="449960"/>
                </a:lnTo>
                <a:lnTo>
                  <a:pt x="7073" y="485032"/>
                </a:lnTo>
                <a:lnTo>
                  <a:pt x="26362" y="513651"/>
                </a:lnTo>
                <a:lnTo>
                  <a:pt x="54971" y="532935"/>
                </a:lnTo>
                <a:lnTo>
                  <a:pt x="90004" y="540003"/>
                </a:lnTo>
                <a:lnTo>
                  <a:pt x="2286000" y="540003"/>
                </a:lnTo>
                <a:lnTo>
                  <a:pt x="2321018" y="532935"/>
                </a:lnTo>
                <a:lnTo>
                  <a:pt x="2349642" y="513651"/>
                </a:lnTo>
                <a:lnTo>
                  <a:pt x="2368956" y="485032"/>
                </a:lnTo>
                <a:lnTo>
                  <a:pt x="2376043" y="449960"/>
                </a:lnTo>
                <a:lnTo>
                  <a:pt x="2376043" y="90042"/>
                </a:lnTo>
                <a:lnTo>
                  <a:pt x="2368956" y="54971"/>
                </a:lnTo>
                <a:lnTo>
                  <a:pt x="2349642" y="26352"/>
                </a:lnTo>
                <a:lnTo>
                  <a:pt x="2321018" y="7068"/>
                </a:lnTo>
                <a:lnTo>
                  <a:pt x="2286000" y="0"/>
                </a:lnTo>
                <a:close/>
              </a:path>
            </a:pathLst>
          </a:custGeom>
          <a:solidFill>
            <a:srgbClr val="5A31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6991" y="141809"/>
            <a:ext cx="316569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solidFill>
                  <a:schemeClr val="bg1"/>
                </a:solidFill>
              </a:rPr>
              <a:t>森林</a:t>
            </a:r>
            <a:r>
              <a:rPr sz="2800" spc="-10" dirty="0">
                <a:solidFill>
                  <a:schemeClr val="bg1"/>
                </a:solidFill>
              </a:rPr>
              <a:t>的</a:t>
            </a:r>
            <a:r>
              <a:rPr sz="2800" spc="-5" dirty="0">
                <a:solidFill>
                  <a:schemeClr val="bg1"/>
                </a:solidFill>
              </a:rPr>
              <a:t>定</a:t>
            </a:r>
            <a:r>
              <a:rPr sz="2800" spc="-10" dirty="0">
                <a:solidFill>
                  <a:schemeClr val="bg1"/>
                </a:solidFill>
              </a:rPr>
              <a:t>义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10969" y="1060196"/>
            <a:ext cx="62395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285A31"/>
                </a:solidFill>
                <a:latin typeface="微软雅黑"/>
                <a:cs typeface="微软雅黑"/>
              </a:rPr>
              <a:t>森林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：</a:t>
            </a:r>
            <a:r>
              <a:rPr sz="2800" i="1" spc="-10" dirty="0">
                <a:solidFill>
                  <a:srgbClr val="404040"/>
                </a:solidFill>
                <a:latin typeface="Times New Roman"/>
                <a:cs typeface="Times New Roman"/>
              </a:rPr>
              <a:t>m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（</a:t>
            </a:r>
            <a:r>
              <a:rPr sz="2800" i="1" spc="-10" dirty="0">
                <a:solidFill>
                  <a:srgbClr val="404040"/>
                </a:solidFill>
                <a:latin typeface="Times New Roman"/>
                <a:cs typeface="Times New Roman"/>
              </a:rPr>
              <a:t>m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≥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0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）棵互不相交的</a:t>
            </a:r>
            <a:r>
              <a:rPr sz="2800" spc="5" dirty="0">
                <a:solidFill>
                  <a:srgbClr val="B42C2C"/>
                </a:solidFill>
                <a:latin typeface="微软雅黑"/>
                <a:cs typeface="微软雅黑"/>
              </a:rPr>
              <a:t>树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的集合</a:t>
            </a:r>
            <a:endParaRPr sz="2800">
              <a:latin typeface="微软雅黑"/>
              <a:cs typeface="微软雅黑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40511" y="1128141"/>
            <a:ext cx="2224405" cy="2166620"/>
            <a:chOff x="840511" y="1128141"/>
            <a:chExt cx="2224405" cy="2166620"/>
          </a:xfrm>
        </p:grpSpPr>
        <p:sp>
          <p:nvSpPr>
            <p:cNvPr id="7" name="object 7"/>
            <p:cNvSpPr/>
            <p:nvPr/>
          </p:nvSpPr>
          <p:spPr>
            <a:xfrm>
              <a:off x="886790" y="1128141"/>
              <a:ext cx="386080" cy="387985"/>
            </a:xfrm>
            <a:custGeom>
              <a:avLst/>
              <a:gdLst/>
              <a:ahLst/>
              <a:cxnLst/>
              <a:rect l="l" t="t" r="r" b="b"/>
              <a:pathLst>
                <a:path w="386080" h="387984">
                  <a:moveTo>
                    <a:pt x="216966" y="385825"/>
                  </a:moveTo>
                  <a:lnTo>
                    <a:pt x="208203" y="385825"/>
                  </a:lnTo>
                  <a:lnTo>
                    <a:pt x="210388" y="387985"/>
                  </a:lnTo>
                  <a:lnTo>
                    <a:pt x="214769" y="387985"/>
                  </a:lnTo>
                  <a:lnTo>
                    <a:pt x="216966" y="385825"/>
                  </a:lnTo>
                  <a:close/>
                </a:path>
                <a:path w="386080" h="387984">
                  <a:moveTo>
                    <a:pt x="109575" y="123444"/>
                  </a:moveTo>
                  <a:lnTo>
                    <a:pt x="51776" y="134762"/>
                  </a:lnTo>
                  <a:lnTo>
                    <a:pt x="2197" y="167512"/>
                  </a:lnTo>
                  <a:lnTo>
                    <a:pt x="0" y="171958"/>
                  </a:lnTo>
                  <a:lnTo>
                    <a:pt x="0" y="176403"/>
                  </a:lnTo>
                  <a:lnTo>
                    <a:pt x="2197" y="180721"/>
                  </a:lnTo>
                  <a:lnTo>
                    <a:pt x="206006" y="385825"/>
                  </a:lnTo>
                  <a:lnTo>
                    <a:pt x="219163" y="385825"/>
                  </a:lnTo>
                  <a:lnTo>
                    <a:pt x="242890" y="353067"/>
                  </a:lnTo>
                  <a:lnTo>
                    <a:pt x="257784" y="315785"/>
                  </a:lnTo>
                  <a:lnTo>
                    <a:pt x="263230" y="276026"/>
                  </a:lnTo>
                  <a:lnTo>
                    <a:pt x="258610" y="235838"/>
                  </a:lnTo>
                  <a:lnTo>
                    <a:pt x="317779" y="176403"/>
                  </a:lnTo>
                  <a:lnTo>
                    <a:pt x="352278" y="176403"/>
                  </a:lnTo>
                  <a:lnTo>
                    <a:pt x="383463" y="143256"/>
                  </a:lnTo>
                  <a:lnTo>
                    <a:pt x="385749" y="141097"/>
                  </a:lnTo>
                  <a:lnTo>
                    <a:pt x="385749" y="136651"/>
                  </a:lnTo>
                  <a:lnTo>
                    <a:pt x="383463" y="134493"/>
                  </a:lnTo>
                  <a:lnTo>
                    <a:pt x="381330" y="134493"/>
                  </a:lnTo>
                  <a:lnTo>
                    <a:pt x="374764" y="127888"/>
                  </a:lnTo>
                  <a:lnTo>
                    <a:pt x="151218" y="127888"/>
                  </a:lnTo>
                  <a:lnTo>
                    <a:pt x="141324" y="126283"/>
                  </a:lnTo>
                  <a:lnTo>
                    <a:pt x="131221" y="124856"/>
                  </a:lnTo>
                  <a:lnTo>
                    <a:pt x="120706" y="123834"/>
                  </a:lnTo>
                  <a:lnTo>
                    <a:pt x="109575" y="123444"/>
                  </a:lnTo>
                  <a:close/>
                </a:path>
                <a:path w="386080" h="387984">
                  <a:moveTo>
                    <a:pt x="352278" y="176403"/>
                  </a:moveTo>
                  <a:lnTo>
                    <a:pt x="317779" y="176403"/>
                  </a:lnTo>
                  <a:lnTo>
                    <a:pt x="328739" y="187451"/>
                  </a:lnTo>
                  <a:lnTo>
                    <a:pt x="333121" y="189611"/>
                  </a:lnTo>
                  <a:lnTo>
                    <a:pt x="337502" y="189611"/>
                  </a:lnTo>
                  <a:lnTo>
                    <a:pt x="341884" y="187451"/>
                  </a:lnTo>
                  <a:lnTo>
                    <a:pt x="352278" y="176403"/>
                  </a:lnTo>
                  <a:close/>
                </a:path>
                <a:path w="386080" h="387984">
                  <a:moveTo>
                    <a:pt x="249847" y="0"/>
                  </a:moveTo>
                  <a:lnTo>
                    <a:pt x="243268" y="0"/>
                  </a:lnTo>
                  <a:lnTo>
                    <a:pt x="241071" y="4445"/>
                  </a:lnTo>
                  <a:lnTo>
                    <a:pt x="199440" y="44069"/>
                  </a:lnTo>
                  <a:lnTo>
                    <a:pt x="197243" y="46355"/>
                  </a:lnTo>
                  <a:lnTo>
                    <a:pt x="197243" y="55118"/>
                  </a:lnTo>
                  <a:lnTo>
                    <a:pt x="199440" y="57276"/>
                  </a:lnTo>
                  <a:lnTo>
                    <a:pt x="210388" y="68325"/>
                  </a:lnTo>
                  <a:lnTo>
                    <a:pt x="151218" y="127888"/>
                  </a:lnTo>
                  <a:lnTo>
                    <a:pt x="374764" y="127888"/>
                  </a:lnTo>
                  <a:lnTo>
                    <a:pt x="252031" y="4445"/>
                  </a:lnTo>
                  <a:lnTo>
                    <a:pt x="249847" y="0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0511" y="1390015"/>
              <a:ext cx="170891" cy="17018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827909" y="2668016"/>
              <a:ext cx="0" cy="612140"/>
            </a:xfrm>
            <a:custGeom>
              <a:avLst/>
              <a:gdLst/>
              <a:ahLst/>
              <a:cxnLst/>
              <a:rect l="l" t="t" r="r" b="b"/>
              <a:pathLst>
                <a:path h="612139">
                  <a:moveTo>
                    <a:pt x="0" y="0"/>
                  </a:moveTo>
                  <a:lnTo>
                    <a:pt x="0" y="612013"/>
                  </a:lnTo>
                </a:path>
              </a:pathLst>
            </a:custGeom>
            <a:ln w="28575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18105" y="222402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216026" y="0"/>
                  </a:moveTo>
                  <a:lnTo>
                    <a:pt x="166511" y="5708"/>
                  </a:lnTo>
                  <a:lnTo>
                    <a:pt x="121048" y="21966"/>
                  </a:lnTo>
                  <a:lnTo>
                    <a:pt x="80936" y="47476"/>
                  </a:lnTo>
                  <a:lnTo>
                    <a:pt x="47476" y="80936"/>
                  </a:lnTo>
                  <a:lnTo>
                    <a:pt x="21966" y="121048"/>
                  </a:lnTo>
                  <a:lnTo>
                    <a:pt x="5708" y="166511"/>
                  </a:lnTo>
                  <a:lnTo>
                    <a:pt x="0" y="216026"/>
                  </a:lnTo>
                  <a:lnTo>
                    <a:pt x="5708" y="265542"/>
                  </a:lnTo>
                  <a:lnTo>
                    <a:pt x="21966" y="311005"/>
                  </a:lnTo>
                  <a:lnTo>
                    <a:pt x="47476" y="351117"/>
                  </a:lnTo>
                  <a:lnTo>
                    <a:pt x="80936" y="384577"/>
                  </a:lnTo>
                  <a:lnTo>
                    <a:pt x="121048" y="410087"/>
                  </a:lnTo>
                  <a:lnTo>
                    <a:pt x="166511" y="426345"/>
                  </a:lnTo>
                  <a:lnTo>
                    <a:pt x="216026" y="432053"/>
                  </a:lnTo>
                  <a:lnTo>
                    <a:pt x="265542" y="426345"/>
                  </a:lnTo>
                  <a:lnTo>
                    <a:pt x="311005" y="410087"/>
                  </a:lnTo>
                  <a:lnTo>
                    <a:pt x="351117" y="384577"/>
                  </a:lnTo>
                  <a:lnTo>
                    <a:pt x="384577" y="351117"/>
                  </a:lnTo>
                  <a:lnTo>
                    <a:pt x="410087" y="311005"/>
                  </a:lnTo>
                  <a:lnTo>
                    <a:pt x="426345" y="265542"/>
                  </a:lnTo>
                  <a:lnTo>
                    <a:pt x="432053" y="216026"/>
                  </a:lnTo>
                  <a:lnTo>
                    <a:pt x="426345" y="166511"/>
                  </a:lnTo>
                  <a:lnTo>
                    <a:pt x="410087" y="121048"/>
                  </a:lnTo>
                  <a:lnTo>
                    <a:pt x="384577" y="80936"/>
                  </a:lnTo>
                  <a:lnTo>
                    <a:pt x="351117" y="47476"/>
                  </a:lnTo>
                  <a:lnTo>
                    <a:pt x="311005" y="21966"/>
                  </a:lnTo>
                  <a:lnTo>
                    <a:pt x="265542" y="5708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618105" y="222402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6026"/>
                  </a:moveTo>
                  <a:lnTo>
                    <a:pt x="5708" y="166511"/>
                  </a:lnTo>
                  <a:lnTo>
                    <a:pt x="21966" y="121048"/>
                  </a:lnTo>
                  <a:lnTo>
                    <a:pt x="47476" y="80936"/>
                  </a:lnTo>
                  <a:lnTo>
                    <a:pt x="80936" y="47476"/>
                  </a:lnTo>
                  <a:lnTo>
                    <a:pt x="121048" y="21966"/>
                  </a:lnTo>
                  <a:lnTo>
                    <a:pt x="166511" y="5708"/>
                  </a:lnTo>
                  <a:lnTo>
                    <a:pt x="216026" y="0"/>
                  </a:lnTo>
                  <a:lnTo>
                    <a:pt x="265542" y="5708"/>
                  </a:lnTo>
                  <a:lnTo>
                    <a:pt x="311005" y="21966"/>
                  </a:lnTo>
                  <a:lnTo>
                    <a:pt x="351117" y="47476"/>
                  </a:lnTo>
                  <a:lnTo>
                    <a:pt x="384577" y="80936"/>
                  </a:lnTo>
                  <a:lnTo>
                    <a:pt x="410087" y="121048"/>
                  </a:lnTo>
                  <a:lnTo>
                    <a:pt x="426345" y="166511"/>
                  </a:lnTo>
                  <a:lnTo>
                    <a:pt x="432053" y="216026"/>
                  </a:lnTo>
                  <a:lnTo>
                    <a:pt x="426345" y="265542"/>
                  </a:lnTo>
                  <a:lnTo>
                    <a:pt x="410087" y="311005"/>
                  </a:lnTo>
                  <a:lnTo>
                    <a:pt x="384577" y="351117"/>
                  </a:lnTo>
                  <a:lnTo>
                    <a:pt x="351117" y="384577"/>
                  </a:lnTo>
                  <a:lnTo>
                    <a:pt x="311005" y="410087"/>
                  </a:lnTo>
                  <a:lnTo>
                    <a:pt x="265542" y="426345"/>
                  </a:lnTo>
                  <a:lnTo>
                    <a:pt x="216026" y="432053"/>
                  </a:lnTo>
                  <a:lnTo>
                    <a:pt x="166511" y="426345"/>
                  </a:lnTo>
                  <a:lnTo>
                    <a:pt x="121048" y="410087"/>
                  </a:lnTo>
                  <a:lnTo>
                    <a:pt x="80936" y="384577"/>
                  </a:lnTo>
                  <a:lnTo>
                    <a:pt x="47476" y="351117"/>
                  </a:lnTo>
                  <a:lnTo>
                    <a:pt x="21966" y="311005"/>
                  </a:lnTo>
                  <a:lnTo>
                    <a:pt x="5708" y="265542"/>
                  </a:lnTo>
                  <a:lnTo>
                    <a:pt x="0" y="216026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728722" y="2215641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603817" y="3243897"/>
            <a:ext cx="461009" cy="461009"/>
            <a:chOff x="2603817" y="3243897"/>
            <a:chExt cx="461009" cy="461009"/>
          </a:xfrm>
        </p:grpSpPr>
        <p:sp>
          <p:nvSpPr>
            <p:cNvPr id="14" name="object 14"/>
            <p:cNvSpPr/>
            <p:nvPr/>
          </p:nvSpPr>
          <p:spPr>
            <a:xfrm>
              <a:off x="2618104" y="3258185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216026" y="0"/>
                  </a:moveTo>
                  <a:lnTo>
                    <a:pt x="166511" y="5708"/>
                  </a:lnTo>
                  <a:lnTo>
                    <a:pt x="121048" y="21966"/>
                  </a:lnTo>
                  <a:lnTo>
                    <a:pt x="80936" y="47476"/>
                  </a:lnTo>
                  <a:lnTo>
                    <a:pt x="47476" y="80936"/>
                  </a:lnTo>
                  <a:lnTo>
                    <a:pt x="21966" y="121048"/>
                  </a:lnTo>
                  <a:lnTo>
                    <a:pt x="5708" y="166511"/>
                  </a:lnTo>
                  <a:lnTo>
                    <a:pt x="0" y="216026"/>
                  </a:lnTo>
                  <a:lnTo>
                    <a:pt x="5708" y="265542"/>
                  </a:lnTo>
                  <a:lnTo>
                    <a:pt x="21966" y="311005"/>
                  </a:lnTo>
                  <a:lnTo>
                    <a:pt x="47476" y="351117"/>
                  </a:lnTo>
                  <a:lnTo>
                    <a:pt x="80936" y="384577"/>
                  </a:lnTo>
                  <a:lnTo>
                    <a:pt x="121048" y="410087"/>
                  </a:lnTo>
                  <a:lnTo>
                    <a:pt x="166511" y="426345"/>
                  </a:lnTo>
                  <a:lnTo>
                    <a:pt x="216026" y="432053"/>
                  </a:lnTo>
                  <a:lnTo>
                    <a:pt x="265542" y="426345"/>
                  </a:lnTo>
                  <a:lnTo>
                    <a:pt x="311005" y="410087"/>
                  </a:lnTo>
                  <a:lnTo>
                    <a:pt x="351117" y="384577"/>
                  </a:lnTo>
                  <a:lnTo>
                    <a:pt x="384577" y="351117"/>
                  </a:lnTo>
                  <a:lnTo>
                    <a:pt x="410087" y="311005"/>
                  </a:lnTo>
                  <a:lnTo>
                    <a:pt x="426345" y="265542"/>
                  </a:lnTo>
                  <a:lnTo>
                    <a:pt x="432053" y="216026"/>
                  </a:lnTo>
                  <a:lnTo>
                    <a:pt x="426345" y="166511"/>
                  </a:lnTo>
                  <a:lnTo>
                    <a:pt x="410087" y="121048"/>
                  </a:lnTo>
                  <a:lnTo>
                    <a:pt x="384577" y="80936"/>
                  </a:lnTo>
                  <a:lnTo>
                    <a:pt x="351117" y="47476"/>
                  </a:lnTo>
                  <a:lnTo>
                    <a:pt x="311005" y="21966"/>
                  </a:lnTo>
                  <a:lnTo>
                    <a:pt x="265542" y="5708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618104" y="3258185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6026"/>
                  </a:moveTo>
                  <a:lnTo>
                    <a:pt x="5708" y="166511"/>
                  </a:lnTo>
                  <a:lnTo>
                    <a:pt x="21966" y="121048"/>
                  </a:lnTo>
                  <a:lnTo>
                    <a:pt x="47476" y="80936"/>
                  </a:lnTo>
                  <a:lnTo>
                    <a:pt x="80936" y="47476"/>
                  </a:lnTo>
                  <a:lnTo>
                    <a:pt x="121048" y="21966"/>
                  </a:lnTo>
                  <a:lnTo>
                    <a:pt x="166511" y="5708"/>
                  </a:lnTo>
                  <a:lnTo>
                    <a:pt x="216026" y="0"/>
                  </a:lnTo>
                  <a:lnTo>
                    <a:pt x="265542" y="5708"/>
                  </a:lnTo>
                  <a:lnTo>
                    <a:pt x="311005" y="21966"/>
                  </a:lnTo>
                  <a:lnTo>
                    <a:pt x="351117" y="47476"/>
                  </a:lnTo>
                  <a:lnTo>
                    <a:pt x="384577" y="80936"/>
                  </a:lnTo>
                  <a:lnTo>
                    <a:pt x="410087" y="121048"/>
                  </a:lnTo>
                  <a:lnTo>
                    <a:pt x="426345" y="166511"/>
                  </a:lnTo>
                  <a:lnTo>
                    <a:pt x="432053" y="216026"/>
                  </a:lnTo>
                  <a:lnTo>
                    <a:pt x="426345" y="265542"/>
                  </a:lnTo>
                  <a:lnTo>
                    <a:pt x="410087" y="311005"/>
                  </a:lnTo>
                  <a:lnTo>
                    <a:pt x="384577" y="351117"/>
                  </a:lnTo>
                  <a:lnTo>
                    <a:pt x="351117" y="384577"/>
                  </a:lnTo>
                  <a:lnTo>
                    <a:pt x="311005" y="410087"/>
                  </a:lnTo>
                  <a:lnTo>
                    <a:pt x="265542" y="426345"/>
                  </a:lnTo>
                  <a:lnTo>
                    <a:pt x="216026" y="432053"/>
                  </a:lnTo>
                  <a:lnTo>
                    <a:pt x="166511" y="426345"/>
                  </a:lnTo>
                  <a:lnTo>
                    <a:pt x="121048" y="410087"/>
                  </a:lnTo>
                  <a:lnTo>
                    <a:pt x="80936" y="384577"/>
                  </a:lnTo>
                  <a:lnTo>
                    <a:pt x="47476" y="351117"/>
                  </a:lnTo>
                  <a:lnTo>
                    <a:pt x="21966" y="311005"/>
                  </a:lnTo>
                  <a:lnTo>
                    <a:pt x="5708" y="265542"/>
                  </a:lnTo>
                  <a:lnTo>
                    <a:pt x="0" y="216026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728722" y="3249625"/>
            <a:ext cx="2120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356544" y="2209736"/>
            <a:ext cx="802640" cy="871855"/>
            <a:chOff x="4356544" y="2209736"/>
            <a:chExt cx="802640" cy="871855"/>
          </a:xfrm>
        </p:grpSpPr>
        <p:sp>
          <p:nvSpPr>
            <p:cNvPr id="18" name="object 18"/>
            <p:cNvSpPr/>
            <p:nvPr/>
          </p:nvSpPr>
          <p:spPr>
            <a:xfrm>
              <a:off x="4370832" y="2546095"/>
              <a:ext cx="382905" cy="521334"/>
            </a:xfrm>
            <a:custGeom>
              <a:avLst/>
              <a:gdLst/>
              <a:ahLst/>
              <a:cxnLst/>
              <a:rect l="l" t="t" r="r" b="b"/>
              <a:pathLst>
                <a:path w="382904" h="521335">
                  <a:moveTo>
                    <a:pt x="382396" y="0"/>
                  </a:moveTo>
                  <a:lnTo>
                    <a:pt x="0" y="521080"/>
                  </a:lnTo>
                </a:path>
              </a:pathLst>
            </a:custGeom>
            <a:ln w="28575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712589" y="2224023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215900" y="0"/>
                  </a:moveTo>
                  <a:lnTo>
                    <a:pt x="166391" y="5708"/>
                  </a:lnTo>
                  <a:lnTo>
                    <a:pt x="120946" y="21966"/>
                  </a:lnTo>
                  <a:lnTo>
                    <a:pt x="80859" y="47476"/>
                  </a:lnTo>
                  <a:lnTo>
                    <a:pt x="47426" y="80936"/>
                  </a:lnTo>
                  <a:lnTo>
                    <a:pt x="21941" y="121048"/>
                  </a:lnTo>
                  <a:lnTo>
                    <a:pt x="5701" y="166511"/>
                  </a:lnTo>
                  <a:lnTo>
                    <a:pt x="0" y="216026"/>
                  </a:lnTo>
                  <a:lnTo>
                    <a:pt x="5701" y="265542"/>
                  </a:lnTo>
                  <a:lnTo>
                    <a:pt x="21941" y="311005"/>
                  </a:lnTo>
                  <a:lnTo>
                    <a:pt x="47426" y="351117"/>
                  </a:lnTo>
                  <a:lnTo>
                    <a:pt x="80859" y="384577"/>
                  </a:lnTo>
                  <a:lnTo>
                    <a:pt x="120946" y="410087"/>
                  </a:lnTo>
                  <a:lnTo>
                    <a:pt x="166391" y="426345"/>
                  </a:lnTo>
                  <a:lnTo>
                    <a:pt x="215900" y="432053"/>
                  </a:lnTo>
                  <a:lnTo>
                    <a:pt x="265455" y="426345"/>
                  </a:lnTo>
                  <a:lnTo>
                    <a:pt x="310934" y="410087"/>
                  </a:lnTo>
                  <a:lnTo>
                    <a:pt x="351043" y="384577"/>
                  </a:lnTo>
                  <a:lnTo>
                    <a:pt x="384490" y="351117"/>
                  </a:lnTo>
                  <a:lnTo>
                    <a:pt x="409982" y="311005"/>
                  </a:lnTo>
                  <a:lnTo>
                    <a:pt x="426225" y="265542"/>
                  </a:lnTo>
                  <a:lnTo>
                    <a:pt x="431926" y="216026"/>
                  </a:lnTo>
                  <a:lnTo>
                    <a:pt x="426225" y="166511"/>
                  </a:lnTo>
                  <a:lnTo>
                    <a:pt x="409982" y="121048"/>
                  </a:lnTo>
                  <a:lnTo>
                    <a:pt x="384490" y="80936"/>
                  </a:lnTo>
                  <a:lnTo>
                    <a:pt x="351043" y="47476"/>
                  </a:lnTo>
                  <a:lnTo>
                    <a:pt x="310934" y="21966"/>
                  </a:lnTo>
                  <a:lnTo>
                    <a:pt x="265455" y="5708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712589" y="2224023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6026"/>
                  </a:moveTo>
                  <a:lnTo>
                    <a:pt x="5701" y="166511"/>
                  </a:lnTo>
                  <a:lnTo>
                    <a:pt x="21941" y="121048"/>
                  </a:lnTo>
                  <a:lnTo>
                    <a:pt x="47426" y="80936"/>
                  </a:lnTo>
                  <a:lnTo>
                    <a:pt x="80859" y="47476"/>
                  </a:lnTo>
                  <a:lnTo>
                    <a:pt x="120946" y="21966"/>
                  </a:lnTo>
                  <a:lnTo>
                    <a:pt x="166391" y="5708"/>
                  </a:lnTo>
                  <a:lnTo>
                    <a:pt x="215900" y="0"/>
                  </a:lnTo>
                  <a:lnTo>
                    <a:pt x="265455" y="5708"/>
                  </a:lnTo>
                  <a:lnTo>
                    <a:pt x="310934" y="21966"/>
                  </a:lnTo>
                  <a:lnTo>
                    <a:pt x="351043" y="47476"/>
                  </a:lnTo>
                  <a:lnTo>
                    <a:pt x="384490" y="80936"/>
                  </a:lnTo>
                  <a:lnTo>
                    <a:pt x="409982" y="121048"/>
                  </a:lnTo>
                  <a:lnTo>
                    <a:pt x="426225" y="166511"/>
                  </a:lnTo>
                  <a:lnTo>
                    <a:pt x="431926" y="216026"/>
                  </a:lnTo>
                  <a:lnTo>
                    <a:pt x="426225" y="265542"/>
                  </a:lnTo>
                  <a:lnTo>
                    <a:pt x="409982" y="311005"/>
                  </a:lnTo>
                  <a:lnTo>
                    <a:pt x="384490" y="351117"/>
                  </a:lnTo>
                  <a:lnTo>
                    <a:pt x="351043" y="384577"/>
                  </a:lnTo>
                  <a:lnTo>
                    <a:pt x="310934" y="410087"/>
                  </a:lnTo>
                  <a:lnTo>
                    <a:pt x="265455" y="426345"/>
                  </a:lnTo>
                  <a:lnTo>
                    <a:pt x="215900" y="432053"/>
                  </a:lnTo>
                  <a:lnTo>
                    <a:pt x="166391" y="426345"/>
                  </a:lnTo>
                  <a:lnTo>
                    <a:pt x="120946" y="410087"/>
                  </a:lnTo>
                  <a:lnTo>
                    <a:pt x="80859" y="384577"/>
                  </a:lnTo>
                  <a:lnTo>
                    <a:pt x="47426" y="351117"/>
                  </a:lnTo>
                  <a:lnTo>
                    <a:pt x="21941" y="311005"/>
                  </a:lnTo>
                  <a:lnTo>
                    <a:pt x="5701" y="265542"/>
                  </a:lnTo>
                  <a:lnTo>
                    <a:pt x="0" y="216026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814442" y="2215641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985450" y="3007169"/>
            <a:ext cx="1894839" cy="461009"/>
            <a:chOff x="3985450" y="3007169"/>
            <a:chExt cx="1894839" cy="461009"/>
          </a:xfrm>
        </p:grpSpPr>
        <p:sp>
          <p:nvSpPr>
            <p:cNvPr id="23" name="object 23"/>
            <p:cNvSpPr/>
            <p:nvPr/>
          </p:nvSpPr>
          <p:spPr>
            <a:xfrm>
              <a:off x="4716780" y="3021457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215900" y="0"/>
                  </a:moveTo>
                  <a:lnTo>
                    <a:pt x="166391" y="5701"/>
                  </a:lnTo>
                  <a:lnTo>
                    <a:pt x="120946" y="21944"/>
                  </a:lnTo>
                  <a:lnTo>
                    <a:pt x="80859" y="47436"/>
                  </a:lnTo>
                  <a:lnTo>
                    <a:pt x="47426" y="80883"/>
                  </a:lnTo>
                  <a:lnTo>
                    <a:pt x="21941" y="120992"/>
                  </a:lnTo>
                  <a:lnTo>
                    <a:pt x="5701" y="166471"/>
                  </a:lnTo>
                  <a:lnTo>
                    <a:pt x="0" y="216026"/>
                  </a:lnTo>
                  <a:lnTo>
                    <a:pt x="5701" y="265542"/>
                  </a:lnTo>
                  <a:lnTo>
                    <a:pt x="21941" y="311005"/>
                  </a:lnTo>
                  <a:lnTo>
                    <a:pt x="47426" y="351117"/>
                  </a:lnTo>
                  <a:lnTo>
                    <a:pt x="80859" y="384577"/>
                  </a:lnTo>
                  <a:lnTo>
                    <a:pt x="120946" y="410087"/>
                  </a:lnTo>
                  <a:lnTo>
                    <a:pt x="166391" y="426345"/>
                  </a:lnTo>
                  <a:lnTo>
                    <a:pt x="215900" y="432053"/>
                  </a:lnTo>
                  <a:lnTo>
                    <a:pt x="265455" y="426345"/>
                  </a:lnTo>
                  <a:lnTo>
                    <a:pt x="310934" y="410087"/>
                  </a:lnTo>
                  <a:lnTo>
                    <a:pt x="351043" y="384577"/>
                  </a:lnTo>
                  <a:lnTo>
                    <a:pt x="384490" y="351117"/>
                  </a:lnTo>
                  <a:lnTo>
                    <a:pt x="409982" y="311005"/>
                  </a:lnTo>
                  <a:lnTo>
                    <a:pt x="426225" y="265542"/>
                  </a:lnTo>
                  <a:lnTo>
                    <a:pt x="431927" y="216026"/>
                  </a:lnTo>
                  <a:lnTo>
                    <a:pt x="426225" y="166471"/>
                  </a:lnTo>
                  <a:lnTo>
                    <a:pt x="409982" y="120992"/>
                  </a:lnTo>
                  <a:lnTo>
                    <a:pt x="384490" y="80883"/>
                  </a:lnTo>
                  <a:lnTo>
                    <a:pt x="351043" y="47436"/>
                  </a:lnTo>
                  <a:lnTo>
                    <a:pt x="310934" y="21944"/>
                  </a:lnTo>
                  <a:lnTo>
                    <a:pt x="265455" y="5701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716780" y="3021457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6026"/>
                  </a:moveTo>
                  <a:lnTo>
                    <a:pt x="5701" y="166471"/>
                  </a:lnTo>
                  <a:lnTo>
                    <a:pt x="21941" y="120992"/>
                  </a:lnTo>
                  <a:lnTo>
                    <a:pt x="47426" y="80883"/>
                  </a:lnTo>
                  <a:lnTo>
                    <a:pt x="80859" y="47436"/>
                  </a:lnTo>
                  <a:lnTo>
                    <a:pt x="120946" y="21944"/>
                  </a:lnTo>
                  <a:lnTo>
                    <a:pt x="166391" y="5701"/>
                  </a:lnTo>
                  <a:lnTo>
                    <a:pt x="215900" y="0"/>
                  </a:lnTo>
                  <a:lnTo>
                    <a:pt x="265455" y="5701"/>
                  </a:lnTo>
                  <a:lnTo>
                    <a:pt x="310934" y="21944"/>
                  </a:lnTo>
                  <a:lnTo>
                    <a:pt x="351043" y="47436"/>
                  </a:lnTo>
                  <a:lnTo>
                    <a:pt x="384490" y="80883"/>
                  </a:lnTo>
                  <a:lnTo>
                    <a:pt x="409982" y="120992"/>
                  </a:lnTo>
                  <a:lnTo>
                    <a:pt x="426225" y="166471"/>
                  </a:lnTo>
                  <a:lnTo>
                    <a:pt x="431927" y="216026"/>
                  </a:lnTo>
                  <a:lnTo>
                    <a:pt x="426225" y="265542"/>
                  </a:lnTo>
                  <a:lnTo>
                    <a:pt x="409982" y="311005"/>
                  </a:lnTo>
                  <a:lnTo>
                    <a:pt x="384490" y="351117"/>
                  </a:lnTo>
                  <a:lnTo>
                    <a:pt x="351043" y="384577"/>
                  </a:lnTo>
                  <a:lnTo>
                    <a:pt x="310934" y="410087"/>
                  </a:lnTo>
                  <a:lnTo>
                    <a:pt x="265455" y="426345"/>
                  </a:lnTo>
                  <a:lnTo>
                    <a:pt x="215900" y="432053"/>
                  </a:lnTo>
                  <a:lnTo>
                    <a:pt x="166391" y="426345"/>
                  </a:lnTo>
                  <a:lnTo>
                    <a:pt x="120946" y="410087"/>
                  </a:lnTo>
                  <a:lnTo>
                    <a:pt x="80859" y="384577"/>
                  </a:lnTo>
                  <a:lnTo>
                    <a:pt x="47426" y="351117"/>
                  </a:lnTo>
                  <a:lnTo>
                    <a:pt x="21941" y="311005"/>
                  </a:lnTo>
                  <a:lnTo>
                    <a:pt x="5701" y="265542"/>
                  </a:lnTo>
                  <a:lnTo>
                    <a:pt x="0" y="216026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433695" y="3021457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216026" y="0"/>
                  </a:moveTo>
                  <a:lnTo>
                    <a:pt x="166511" y="5701"/>
                  </a:lnTo>
                  <a:lnTo>
                    <a:pt x="121048" y="21944"/>
                  </a:lnTo>
                  <a:lnTo>
                    <a:pt x="80936" y="47436"/>
                  </a:lnTo>
                  <a:lnTo>
                    <a:pt x="47476" y="80883"/>
                  </a:lnTo>
                  <a:lnTo>
                    <a:pt x="21966" y="120992"/>
                  </a:lnTo>
                  <a:lnTo>
                    <a:pt x="5708" y="166471"/>
                  </a:lnTo>
                  <a:lnTo>
                    <a:pt x="0" y="216026"/>
                  </a:lnTo>
                  <a:lnTo>
                    <a:pt x="5708" y="265542"/>
                  </a:lnTo>
                  <a:lnTo>
                    <a:pt x="21966" y="311005"/>
                  </a:lnTo>
                  <a:lnTo>
                    <a:pt x="47476" y="351117"/>
                  </a:lnTo>
                  <a:lnTo>
                    <a:pt x="80936" y="384577"/>
                  </a:lnTo>
                  <a:lnTo>
                    <a:pt x="121048" y="410087"/>
                  </a:lnTo>
                  <a:lnTo>
                    <a:pt x="166511" y="426345"/>
                  </a:lnTo>
                  <a:lnTo>
                    <a:pt x="216026" y="432053"/>
                  </a:lnTo>
                  <a:lnTo>
                    <a:pt x="265542" y="426345"/>
                  </a:lnTo>
                  <a:lnTo>
                    <a:pt x="311005" y="410087"/>
                  </a:lnTo>
                  <a:lnTo>
                    <a:pt x="351117" y="384577"/>
                  </a:lnTo>
                  <a:lnTo>
                    <a:pt x="384577" y="351117"/>
                  </a:lnTo>
                  <a:lnTo>
                    <a:pt x="410087" y="311005"/>
                  </a:lnTo>
                  <a:lnTo>
                    <a:pt x="426345" y="265542"/>
                  </a:lnTo>
                  <a:lnTo>
                    <a:pt x="432053" y="216026"/>
                  </a:lnTo>
                  <a:lnTo>
                    <a:pt x="426345" y="166471"/>
                  </a:lnTo>
                  <a:lnTo>
                    <a:pt x="410087" y="120992"/>
                  </a:lnTo>
                  <a:lnTo>
                    <a:pt x="384577" y="80883"/>
                  </a:lnTo>
                  <a:lnTo>
                    <a:pt x="351117" y="47436"/>
                  </a:lnTo>
                  <a:lnTo>
                    <a:pt x="311005" y="21944"/>
                  </a:lnTo>
                  <a:lnTo>
                    <a:pt x="265542" y="5701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433695" y="3021457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6026"/>
                  </a:moveTo>
                  <a:lnTo>
                    <a:pt x="5708" y="166471"/>
                  </a:lnTo>
                  <a:lnTo>
                    <a:pt x="21966" y="120992"/>
                  </a:lnTo>
                  <a:lnTo>
                    <a:pt x="47476" y="80883"/>
                  </a:lnTo>
                  <a:lnTo>
                    <a:pt x="80936" y="47436"/>
                  </a:lnTo>
                  <a:lnTo>
                    <a:pt x="121048" y="21944"/>
                  </a:lnTo>
                  <a:lnTo>
                    <a:pt x="166511" y="5701"/>
                  </a:lnTo>
                  <a:lnTo>
                    <a:pt x="216026" y="0"/>
                  </a:lnTo>
                  <a:lnTo>
                    <a:pt x="265542" y="5701"/>
                  </a:lnTo>
                  <a:lnTo>
                    <a:pt x="311005" y="21944"/>
                  </a:lnTo>
                  <a:lnTo>
                    <a:pt x="351117" y="47436"/>
                  </a:lnTo>
                  <a:lnTo>
                    <a:pt x="384577" y="80883"/>
                  </a:lnTo>
                  <a:lnTo>
                    <a:pt x="410087" y="120992"/>
                  </a:lnTo>
                  <a:lnTo>
                    <a:pt x="426345" y="166471"/>
                  </a:lnTo>
                  <a:lnTo>
                    <a:pt x="432053" y="216026"/>
                  </a:lnTo>
                  <a:lnTo>
                    <a:pt x="426345" y="265542"/>
                  </a:lnTo>
                  <a:lnTo>
                    <a:pt x="410087" y="311005"/>
                  </a:lnTo>
                  <a:lnTo>
                    <a:pt x="384577" y="351117"/>
                  </a:lnTo>
                  <a:lnTo>
                    <a:pt x="351117" y="384577"/>
                  </a:lnTo>
                  <a:lnTo>
                    <a:pt x="311005" y="410087"/>
                  </a:lnTo>
                  <a:lnTo>
                    <a:pt x="265542" y="426345"/>
                  </a:lnTo>
                  <a:lnTo>
                    <a:pt x="216026" y="432053"/>
                  </a:lnTo>
                  <a:lnTo>
                    <a:pt x="166511" y="426345"/>
                  </a:lnTo>
                  <a:lnTo>
                    <a:pt x="121048" y="410087"/>
                  </a:lnTo>
                  <a:lnTo>
                    <a:pt x="80936" y="384577"/>
                  </a:lnTo>
                  <a:lnTo>
                    <a:pt x="47476" y="351117"/>
                  </a:lnTo>
                  <a:lnTo>
                    <a:pt x="21966" y="311005"/>
                  </a:lnTo>
                  <a:lnTo>
                    <a:pt x="5708" y="265542"/>
                  </a:lnTo>
                  <a:lnTo>
                    <a:pt x="0" y="216026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999738" y="3021457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216026" y="0"/>
                  </a:moveTo>
                  <a:lnTo>
                    <a:pt x="166511" y="5701"/>
                  </a:lnTo>
                  <a:lnTo>
                    <a:pt x="121048" y="21944"/>
                  </a:lnTo>
                  <a:lnTo>
                    <a:pt x="80936" y="47436"/>
                  </a:lnTo>
                  <a:lnTo>
                    <a:pt x="47476" y="80883"/>
                  </a:lnTo>
                  <a:lnTo>
                    <a:pt x="21966" y="120992"/>
                  </a:lnTo>
                  <a:lnTo>
                    <a:pt x="5708" y="166471"/>
                  </a:lnTo>
                  <a:lnTo>
                    <a:pt x="0" y="216026"/>
                  </a:lnTo>
                  <a:lnTo>
                    <a:pt x="5708" y="265542"/>
                  </a:lnTo>
                  <a:lnTo>
                    <a:pt x="21966" y="311005"/>
                  </a:lnTo>
                  <a:lnTo>
                    <a:pt x="47476" y="351117"/>
                  </a:lnTo>
                  <a:lnTo>
                    <a:pt x="80936" y="384577"/>
                  </a:lnTo>
                  <a:lnTo>
                    <a:pt x="121048" y="410087"/>
                  </a:lnTo>
                  <a:lnTo>
                    <a:pt x="166511" y="426345"/>
                  </a:lnTo>
                  <a:lnTo>
                    <a:pt x="216026" y="432053"/>
                  </a:lnTo>
                  <a:lnTo>
                    <a:pt x="265542" y="426345"/>
                  </a:lnTo>
                  <a:lnTo>
                    <a:pt x="311005" y="410087"/>
                  </a:lnTo>
                  <a:lnTo>
                    <a:pt x="351117" y="384577"/>
                  </a:lnTo>
                  <a:lnTo>
                    <a:pt x="384577" y="351117"/>
                  </a:lnTo>
                  <a:lnTo>
                    <a:pt x="410087" y="311005"/>
                  </a:lnTo>
                  <a:lnTo>
                    <a:pt x="426345" y="265542"/>
                  </a:lnTo>
                  <a:lnTo>
                    <a:pt x="432053" y="216026"/>
                  </a:lnTo>
                  <a:lnTo>
                    <a:pt x="426345" y="166471"/>
                  </a:lnTo>
                  <a:lnTo>
                    <a:pt x="410087" y="120992"/>
                  </a:lnTo>
                  <a:lnTo>
                    <a:pt x="384577" y="80883"/>
                  </a:lnTo>
                  <a:lnTo>
                    <a:pt x="351117" y="47436"/>
                  </a:lnTo>
                  <a:lnTo>
                    <a:pt x="311005" y="21944"/>
                  </a:lnTo>
                  <a:lnTo>
                    <a:pt x="265542" y="5701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999738" y="3021457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6026"/>
                  </a:moveTo>
                  <a:lnTo>
                    <a:pt x="5708" y="166471"/>
                  </a:lnTo>
                  <a:lnTo>
                    <a:pt x="21966" y="120992"/>
                  </a:lnTo>
                  <a:lnTo>
                    <a:pt x="47476" y="80883"/>
                  </a:lnTo>
                  <a:lnTo>
                    <a:pt x="80936" y="47436"/>
                  </a:lnTo>
                  <a:lnTo>
                    <a:pt x="121048" y="21944"/>
                  </a:lnTo>
                  <a:lnTo>
                    <a:pt x="166511" y="5701"/>
                  </a:lnTo>
                  <a:lnTo>
                    <a:pt x="216026" y="0"/>
                  </a:lnTo>
                  <a:lnTo>
                    <a:pt x="265542" y="5701"/>
                  </a:lnTo>
                  <a:lnTo>
                    <a:pt x="311005" y="21944"/>
                  </a:lnTo>
                  <a:lnTo>
                    <a:pt x="351117" y="47436"/>
                  </a:lnTo>
                  <a:lnTo>
                    <a:pt x="384577" y="80883"/>
                  </a:lnTo>
                  <a:lnTo>
                    <a:pt x="410087" y="120992"/>
                  </a:lnTo>
                  <a:lnTo>
                    <a:pt x="426345" y="166471"/>
                  </a:lnTo>
                  <a:lnTo>
                    <a:pt x="432053" y="216026"/>
                  </a:lnTo>
                  <a:lnTo>
                    <a:pt x="426345" y="265542"/>
                  </a:lnTo>
                  <a:lnTo>
                    <a:pt x="410087" y="311005"/>
                  </a:lnTo>
                  <a:lnTo>
                    <a:pt x="384577" y="351117"/>
                  </a:lnTo>
                  <a:lnTo>
                    <a:pt x="351117" y="384577"/>
                  </a:lnTo>
                  <a:lnTo>
                    <a:pt x="311005" y="410087"/>
                  </a:lnTo>
                  <a:lnTo>
                    <a:pt x="265542" y="426345"/>
                  </a:lnTo>
                  <a:lnTo>
                    <a:pt x="216026" y="432053"/>
                  </a:lnTo>
                  <a:lnTo>
                    <a:pt x="166511" y="426345"/>
                  </a:lnTo>
                  <a:lnTo>
                    <a:pt x="121048" y="410087"/>
                  </a:lnTo>
                  <a:lnTo>
                    <a:pt x="80936" y="384577"/>
                  </a:lnTo>
                  <a:lnTo>
                    <a:pt x="47476" y="351117"/>
                  </a:lnTo>
                  <a:lnTo>
                    <a:pt x="21966" y="311005"/>
                  </a:lnTo>
                  <a:lnTo>
                    <a:pt x="5708" y="265542"/>
                  </a:lnTo>
                  <a:lnTo>
                    <a:pt x="0" y="216026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093845" y="3013024"/>
            <a:ext cx="166306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6125" algn="l"/>
                <a:tab pos="1463040" algn="l"/>
              </a:tabLst>
            </a:pPr>
            <a:r>
              <a:rPr sz="2400" i="1" dirty="0">
                <a:latin typeface="Times New Roman"/>
                <a:cs typeface="Times New Roman"/>
              </a:rPr>
              <a:t>D	E	F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918392" y="2209736"/>
            <a:ext cx="2715895" cy="888365"/>
            <a:chOff x="4918392" y="2209736"/>
            <a:chExt cx="2715895" cy="888365"/>
          </a:xfrm>
        </p:grpSpPr>
        <p:sp>
          <p:nvSpPr>
            <p:cNvPr id="31" name="object 31"/>
            <p:cNvSpPr/>
            <p:nvPr/>
          </p:nvSpPr>
          <p:spPr>
            <a:xfrm>
              <a:off x="4932679" y="2562478"/>
              <a:ext cx="2353945" cy="521334"/>
            </a:xfrm>
            <a:custGeom>
              <a:avLst/>
              <a:gdLst/>
              <a:ahLst/>
              <a:cxnLst/>
              <a:rect l="l" t="t" r="r" b="b"/>
              <a:pathLst>
                <a:path w="2353945" h="521335">
                  <a:moveTo>
                    <a:pt x="562229" y="521081"/>
                  </a:moveTo>
                  <a:lnTo>
                    <a:pt x="179832" y="0"/>
                  </a:lnTo>
                </a:path>
                <a:path w="2353945" h="521335">
                  <a:moveTo>
                    <a:pt x="0" y="93599"/>
                  </a:moveTo>
                  <a:lnTo>
                    <a:pt x="0" y="453517"/>
                  </a:lnTo>
                </a:path>
                <a:path w="2353945" h="521335">
                  <a:moveTo>
                    <a:pt x="2353564" y="29337"/>
                  </a:moveTo>
                  <a:lnTo>
                    <a:pt x="2065527" y="497332"/>
                  </a:lnTo>
                </a:path>
              </a:pathLst>
            </a:custGeom>
            <a:ln w="28575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187564" y="2224023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216026" y="0"/>
                  </a:moveTo>
                  <a:lnTo>
                    <a:pt x="166471" y="5708"/>
                  </a:lnTo>
                  <a:lnTo>
                    <a:pt x="120992" y="21966"/>
                  </a:lnTo>
                  <a:lnTo>
                    <a:pt x="80883" y="47476"/>
                  </a:lnTo>
                  <a:lnTo>
                    <a:pt x="47436" y="80936"/>
                  </a:lnTo>
                  <a:lnTo>
                    <a:pt x="21944" y="121048"/>
                  </a:lnTo>
                  <a:lnTo>
                    <a:pt x="5701" y="166511"/>
                  </a:lnTo>
                  <a:lnTo>
                    <a:pt x="0" y="216026"/>
                  </a:lnTo>
                  <a:lnTo>
                    <a:pt x="5701" y="265542"/>
                  </a:lnTo>
                  <a:lnTo>
                    <a:pt x="21944" y="311005"/>
                  </a:lnTo>
                  <a:lnTo>
                    <a:pt x="47436" y="351117"/>
                  </a:lnTo>
                  <a:lnTo>
                    <a:pt x="80883" y="384577"/>
                  </a:lnTo>
                  <a:lnTo>
                    <a:pt x="120992" y="410087"/>
                  </a:lnTo>
                  <a:lnTo>
                    <a:pt x="166471" y="426345"/>
                  </a:lnTo>
                  <a:lnTo>
                    <a:pt x="216026" y="432053"/>
                  </a:lnTo>
                  <a:lnTo>
                    <a:pt x="265535" y="426345"/>
                  </a:lnTo>
                  <a:lnTo>
                    <a:pt x="310980" y="410087"/>
                  </a:lnTo>
                  <a:lnTo>
                    <a:pt x="351067" y="384577"/>
                  </a:lnTo>
                  <a:lnTo>
                    <a:pt x="384500" y="351117"/>
                  </a:lnTo>
                  <a:lnTo>
                    <a:pt x="409985" y="311005"/>
                  </a:lnTo>
                  <a:lnTo>
                    <a:pt x="426225" y="265542"/>
                  </a:lnTo>
                  <a:lnTo>
                    <a:pt x="431926" y="216026"/>
                  </a:lnTo>
                  <a:lnTo>
                    <a:pt x="426225" y="166511"/>
                  </a:lnTo>
                  <a:lnTo>
                    <a:pt x="409985" y="121048"/>
                  </a:lnTo>
                  <a:lnTo>
                    <a:pt x="384500" y="80936"/>
                  </a:lnTo>
                  <a:lnTo>
                    <a:pt x="351067" y="47476"/>
                  </a:lnTo>
                  <a:lnTo>
                    <a:pt x="310980" y="21966"/>
                  </a:lnTo>
                  <a:lnTo>
                    <a:pt x="265535" y="5708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187564" y="2224023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0" y="216026"/>
                  </a:moveTo>
                  <a:lnTo>
                    <a:pt x="5701" y="166511"/>
                  </a:lnTo>
                  <a:lnTo>
                    <a:pt x="21944" y="121048"/>
                  </a:lnTo>
                  <a:lnTo>
                    <a:pt x="47436" y="80936"/>
                  </a:lnTo>
                  <a:lnTo>
                    <a:pt x="80883" y="47476"/>
                  </a:lnTo>
                  <a:lnTo>
                    <a:pt x="120992" y="21966"/>
                  </a:lnTo>
                  <a:lnTo>
                    <a:pt x="166471" y="5708"/>
                  </a:lnTo>
                  <a:lnTo>
                    <a:pt x="216026" y="0"/>
                  </a:lnTo>
                  <a:lnTo>
                    <a:pt x="265535" y="5708"/>
                  </a:lnTo>
                  <a:lnTo>
                    <a:pt x="310980" y="21966"/>
                  </a:lnTo>
                  <a:lnTo>
                    <a:pt x="351067" y="47476"/>
                  </a:lnTo>
                  <a:lnTo>
                    <a:pt x="384500" y="80936"/>
                  </a:lnTo>
                  <a:lnTo>
                    <a:pt x="409985" y="121048"/>
                  </a:lnTo>
                  <a:lnTo>
                    <a:pt x="426225" y="166511"/>
                  </a:lnTo>
                  <a:lnTo>
                    <a:pt x="431926" y="216026"/>
                  </a:lnTo>
                  <a:lnTo>
                    <a:pt x="426225" y="265542"/>
                  </a:lnTo>
                  <a:lnTo>
                    <a:pt x="409985" y="311005"/>
                  </a:lnTo>
                  <a:lnTo>
                    <a:pt x="384500" y="351117"/>
                  </a:lnTo>
                  <a:lnTo>
                    <a:pt x="351067" y="384577"/>
                  </a:lnTo>
                  <a:lnTo>
                    <a:pt x="310980" y="410087"/>
                  </a:lnTo>
                  <a:lnTo>
                    <a:pt x="265535" y="426345"/>
                  </a:lnTo>
                  <a:lnTo>
                    <a:pt x="216026" y="432053"/>
                  </a:lnTo>
                  <a:lnTo>
                    <a:pt x="166471" y="426345"/>
                  </a:lnTo>
                  <a:lnTo>
                    <a:pt x="120992" y="410087"/>
                  </a:lnTo>
                  <a:lnTo>
                    <a:pt x="80883" y="384577"/>
                  </a:lnTo>
                  <a:lnTo>
                    <a:pt x="47436" y="351117"/>
                  </a:lnTo>
                  <a:lnTo>
                    <a:pt x="21944" y="311005"/>
                  </a:lnTo>
                  <a:lnTo>
                    <a:pt x="5701" y="265542"/>
                  </a:lnTo>
                  <a:lnTo>
                    <a:pt x="0" y="216026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282053" y="2215641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Times New Roman"/>
                <a:cs typeface="Times New Roman"/>
              </a:rPr>
              <a:t>G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7719250" y="3799649"/>
            <a:ext cx="461009" cy="461009"/>
            <a:chOff x="7719250" y="3799649"/>
            <a:chExt cx="461009" cy="461009"/>
          </a:xfrm>
        </p:grpSpPr>
        <p:sp>
          <p:nvSpPr>
            <p:cNvPr id="36" name="object 36"/>
            <p:cNvSpPr/>
            <p:nvPr/>
          </p:nvSpPr>
          <p:spPr>
            <a:xfrm>
              <a:off x="7733538" y="3813936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216026" y="0"/>
                  </a:moveTo>
                  <a:lnTo>
                    <a:pt x="166511" y="5701"/>
                  </a:lnTo>
                  <a:lnTo>
                    <a:pt x="121048" y="21944"/>
                  </a:lnTo>
                  <a:lnTo>
                    <a:pt x="80936" y="47436"/>
                  </a:lnTo>
                  <a:lnTo>
                    <a:pt x="47476" y="80883"/>
                  </a:lnTo>
                  <a:lnTo>
                    <a:pt x="21966" y="120992"/>
                  </a:lnTo>
                  <a:lnTo>
                    <a:pt x="5708" y="166471"/>
                  </a:lnTo>
                  <a:lnTo>
                    <a:pt x="0" y="216026"/>
                  </a:lnTo>
                  <a:lnTo>
                    <a:pt x="5708" y="265542"/>
                  </a:lnTo>
                  <a:lnTo>
                    <a:pt x="21966" y="311005"/>
                  </a:lnTo>
                  <a:lnTo>
                    <a:pt x="47476" y="351117"/>
                  </a:lnTo>
                  <a:lnTo>
                    <a:pt x="80936" y="384577"/>
                  </a:lnTo>
                  <a:lnTo>
                    <a:pt x="121048" y="410087"/>
                  </a:lnTo>
                  <a:lnTo>
                    <a:pt x="166511" y="426345"/>
                  </a:lnTo>
                  <a:lnTo>
                    <a:pt x="216026" y="432054"/>
                  </a:lnTo>
                  <a:lnTo>
                    <a:pt x="265542" y="426345"/>
                  </a:lnTo>
                  <a:lnTo>
                    <a:pt x="311005" y="410087"/>
                  </a:lnTo>
                  <a:lnTo>
                    <a:pt x="351117" y="384577"/>
                  </a:lnTo>
                  <a:lnTo>
                    <a:pt x="384577" y="351117"/>
                  </a:lnTo>
                  <a:lnTo>
                    <a:pt x="410087" y="311005"/>
                  </a:lnTo>
                  <a:lnTo>
                    <a:pt x="426345" y="265542"/>
                  </a:lnTo>
                  <a:lnTo>
                    <a:pt x="432053" y="216026"/>
                  </a:lnTo>
                  <a:lnTo>
                    <a:pt x="426345" y="166471"/>
                  </a:lnTo>
                  <a:lnTo>
                    <a:pt x="410087" y="120992"/>
                  </a:lnTo>
                  <a:lnTo>
                    <a:pt x="384577" y="80883"/>
                  </a:lnTo>
                  <a:lnTo>
                    <a:pt x="351117" y="47436"/>
                  </a:lnTo>
                  <a:lnTo>
                    <a:pt x="311005" y="21944"/>
                  </a:lnTo>
                  <a:lnTo>
                    <a:pt x="265542" y="5701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733538" y="3813936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0" y="216026"/>
                  </a:moveTo>
                  <a:lnTo>
                    <a:pt x="5708" y="166471"/>
                  </a:lnTo>
                  <a:lnTo>
                    <a:pt x="21966" y="120992"/>
                  </a:lnTo>
                  <a:lnTo>
                    <a:pt x="47476" y="80883"/>
                  </a:lnTo>
                  <a:lnTo>
                    <a:pt x="80936" y="47436"/>
                  </a:lnTo>
                  <a:lnTo>
                    <a:pt x="121048" y="21944"/>
                  </a:lnTo>
                  <a:lnTo>
                    <a:pt x="166511" y="5701"/>
                  </a:lnTo>
                  <a:lnTo>
                    <a:pt x="216026" y="0"/>
                  </a:lnTo>
                  <a:lnTo>
                    <a:pt x="265542" y="5701"/>
                  </a:lnTo>
                  <a:lnTo>
                    <a:pt x="311005" y="21944"/>
                  </a:lnTo>
                  <a:lnTo>
                    <a:pt x="351117" y="47436"/>
                  </a:lnTo>
                  <a:lnTo>
                    <a:pt x="384577" y="80883"/>
                  </a:lnTo>
                  <a:lnTo>
                    <a:pt x="410087" y="120992"/>
                  </a:lnTo>
                  <a:lnTo>
                    <a:pt x="426345" y="166471"/>
                  </a:lnTo>
                  <a:lnTo>
                    <a:pt x="432053" y="216026"/>
                  </a:lnTo>
                  <a:lnTo>
                    <a:pt x="426345" y="265542"/>
                  </a:lnTo>
                  <a:lnTo>
                    <a:pt x="410087" y="311005"/>
                  </a:lnTo>
                  <a:lnTo>
                    <a:pt x="384577" y="351117"/>
                  </a:lnTo>
                  <a:lnTo>
                    <a:pt x="351117" y="384577"/>
                  </a:lnTo>
                  <a:lnTo>
                    <a:pt x="311005" y="410087"/>
                  </a:lnTo>
                  <a:lnTo>
                    <a:pt x="265542" y="426345"/>
                  </a:lnTo>
                  <a:lnTo>
                    <a:pt x="216026" y="432054"/>
                  </a:lnTo>
                  <a:lnTo>
                    <a:pt x="166511" y="426345"/>
                  </a:lnTo>
                  <a:lnTo>
                    <a:pt x="121048" y="410087"/>
                  </a:lnTo>
                  <a:lnTo>
                    <a:pt x="80936" y="384577"/>
                  </a:lnTo>
                  <a:lnTo>
                    <a:pt x="47476" y="351117"/>
                  </a:lnTo>
                  <a:lnTo>
                    <a:pt x="21966" y="311005"/>
                  </a:lnTo>
                  <a:lnTo>
                    <a:pt x="5708" y="265542"/>
                  </a:lnTo>
                  <a:lnTo>
                    <a:pt x="0" y="216026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869173" y="3805808"/>
            <a:ext cx="161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J</a:t>
            </a:r>
            <a:endParaRPr sz="2400" dirty="0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711503" y="3007169"/>
            <a:ext cx="461009" cy="461009"/>
            <a:chOff x="7711503" y="3007169"/>
            <a:chExt cx="461009" cy="461009"/>
          </a:xfrm>
        </p:grpSpPr>
        <p:sp>
          <p:nvSpPr>
            <p:cNvPr id="40" name="object 40"/>
            <p:cNvSpPr/>
            <p:nvPr/>
          </p:nvSpPr>
          <p:spPr>
            <a:xfrm>
              <a:off x="7725791" y="3021457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216026" y="0"/>
                  </a:moveTo>
                  <a:lnTo>
                    <a:pt x="166511" y="5701"/>
                  </a:lnTo>
                  <a:lnTo>
                    <a:pt x="121048" y="21944"/>
                  </a:lnTo>
                  <a:lnTo>
                    <a:pt x="80936" y="47436"/>
                  </a:lnTo>
                  <a:lnTo>
                    <a:pt x="47476" y="80883"/>
                  </a:lnTo>
                  <a:lnTo>
                    <a:pt x="21966" y="120992"/>
                  </a:lnTo>
                  <a:lnTo>
                    <a:pt x="5708" y="166471"/>
                  </a:lnTo>
                  <a:lnTo>
                    <a:pt x="0" y="216026"/>
                  </a:lnTo>
                  <a:lnTo>
                    <a:pt x="5708" y="265542"/>
                  </a:lnTo>
                  <a:lnTo>
                    <a:pt x="21966" y="311005"/>
                  </a:lnTo>
                  <a:lnTo>
                    <a:pt x="47476" y="351117"/>
                  </a:lnTo>
                  <a:lnTo>
                    <a:pt x="80936" y="384577"/>
                  </a:lnTo>
                  <a:lnTo>
                    <a:pt x="121048" y="410087"/>
                  </a:lnTo>
                  <a:lnTo>
                    <a:pt x="166511" y="426345"/>
                  </a:lnTo>
                  <a:lnTo>
                    <a:pt x="216026" y="432053"/>
                  </a:lnTo>
                  <a:lnTo>
                    <a:pt x="265542" y="426345"/>
                  </a:lnTo>
                  <a:lnTo>
                    <a:pt x="311005" y="410087"/>
                  </a:lnTo>
                  <a:lnTo>
                    <a:pt x="351117" y="384577"/>
                  </a:lnTo>
                  <a:lnTo>
                    <a:pt x="384577" y="351117"/>
                  </a:lnTo>
                  <a:lnTo>
                    <a:pt x="410087" y="311005"/>
                  </a:lnTo>
                  <a:lnTo>
                    <a:pt x="426345" y="265542"/>
                  </a:lnTo>
                  <a:lnTo>
                    <a:pt x="432053" y="216026"/>
                  </a:lnTo>
                  <a:lnTo>
                    <a:pt x="426345" y="166471"/>
                  </a:lnTo>
                  <a:lnTo>
                    <a:pt x="410087" y="120992"/>
                  </a:lnTo>
                  <a:lnTo>
                    <a:pt x="384577" y="80883"/>
                  </a:lnTo>
                  <a:lnTo>
                    <a:pt x="351117" y="47436"/>
                  </a:lnTo>
                  <a:lnTo>
                    <a:pt x="311005" y="21944"/>
                  </a:lnTo>
                  <a:lnTo>
                    <a:pt x="265542" y="5701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725791" y="3021457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0" y="216026"/>
                  </a:moveTo>
                  <a:lnTo>
                    <a:pt x="5708" y="166471"/>
                  </a:lnTo>
                  <a:lnTo>
                    <a:pt x="21966" y="120992"/>
                  </a:lnTo>
                  <a:lnTo>
                    <a:pt x="47476" y="80883"/>
                  </a:lnTo>
                  <a:lnTo>
                    <a:pt x="80936" y="47436"/>
                  </a:lnTo>
                  <a:lnTo>
                    <a:pt x="121048" y="21944"/>
                  </a:lnTo>
                  <a:lnTo>
                    <a:pt x="166511" y="5701"/>
                  </a:lnTo>
                  <a:lnTo>
                    <a:pt x="216026" y="0"/>
                  </a:lnTo>
                  <a:lnTo>
                    <a:pt x="265542" y="5701"/>
                  </a:lnTo>
                  <a:lnTo>
                    <a:pt x="311005" y="21944"/>
                  </a:lnTo>
                  <a:lnTo>
                    <a:pt x="351117" y="47436"/>
                  </a:lnTo>
                  <a:lnTo>
                    <a:pt x="384577" y="80883"/>
                  </a:lnTo>
                  <a:lnTo>
                    <a:pt x="410087" y="120992"/>
                  </a:lnTo>
                  <a:lnTo>
                    <a:pt x="426345" y="166471"/>
                  </a:lnTo>
                  <a:lnTo>
                    <a:pt x="432053" y="216026"/>
                  </a:lnTo>
                  <a:lnTo>
                    <a:pt x="426345" y="265542"/>
                  </a:lnTo>
                  <a:lnTo>
                    <a:pt x="410087" y="311005"/>
                  </a:lnTo>
                  <a:lnTo>
                    <a:pt x="384577" y="351117"/>
                  </a:lnTo>
                  <a:lnTo>
                    <a:pt x="351117" y="384577"/>
                  </a:lnTo>
                  <a:lnTo>
                    <a:pt x="311005" y="410087"/>
                  </a:lnTo>
                  <a:lnTo>
                    <a:pt x="265542" y="426345"/>
                  </a:lnTo>
                  <a:lnTo>
                    <a:pt x="216026" y="432053"/>
                  </a:lnTo>
                  <a:lnTo>
                    <a:pt x="166511" y="426345"/>
                  </a:lnTo>
                  <a:lnTo>
                    <a:pt x="121048" y="410087"/>
                  </a:lnTo>
                  <a:lnTo>
                    <a:pt x="80936" y="384577"/>
                  </a:lnTo>
                  <a:lnTo>
                    <a:pt x="47476" y="351117"/>
                  </a:lnTo>
                  <a:lnTo>
                    <a:pt x="21966" y="311005"/>
                  </a:lnTo>
                  <a:lnTo>
                    <a:pt x="5708" y="265542"/>
                  </a:lnTo>
                  <a:lnTo>
                    <a:pt x="0" y="216026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7878318" y="3013024"/>
            <a:ext cx="1270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6643306" y="3007169"/>
            <a:ext cx="461009" cy="461009"/>
            <a:chOff x="6643306" y="3007169"/>
            <a:chExt cx="461009" cy="461009"/>
          </a:xfrm>
        </p:grpSpPr>
        <p:sp>
          <p:nvSpPr>
            <p:cNvPr id="44" name="object 44"/>
            <p:cNvSpPr/>
            <p:nvPr/>
          </p:nvSpPr>
          <p:spPr>
            <a:xfrm>
              <a:off x="6657593" y="3021457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216026" y="0"/>
                  </a:moveTo>
                  <a:lnTo>
                    <a:pt x="166511" y="5701"/>
                  </a:lnTo>
                  <a:lnTo>
                    <a:pt x="121048" y="21944"/>
                  </a:lnTo>
                  <a:lnTo>
                    <a:pt x="80936" y="47436"/>
                  </a:lnTo>
                  <a:lnTo>
                    <a:pt x="47476" y="80883"/>
                  </a:lnTo>
                  <a:lnTo>
                    <a:pt x="21966" y="120992"/>
                  </a:lnTo>
                  <a:lnTo>
                    <a:pt x="5708" y="166471"/>
                  </a:lnTo>
                  <a:lnTo>
                    <a:pt x="0" y="216026"/>
                  </a:lnTo>
                  <a:lnTo>
                    <a:pt x="5708" y="265542"/>
                  </a:lnTo>
                  <a:lnTo>
                    <a:pt x="21966" y="311005"/>
                  </a:lnTo>
                  <a:lnTo>
                    <a:pt x="47476" y="351117"/>
                  </a:lnTo>
                  <a:lnTo>
                    <a:pt x="80936" y="384577"/>
                  </a:lnTo>
                  <a:lnTo>
                    <a:pt x="121048" y="410087"/>
                  </a:lnTo>
                  <a:lnTo>
                    <a:pt x="166511" y="426345"/>
                  </a:lnTo>
                  <a:lnTo>
                    <a:pt x="216026" y="432053"/>
                  </a:lnTo>
                  <a:lnTo>
                    <a:pt x="265582" y="426345"/>
                  </a:lnTo>
                  <a:lnTo>
                    <a:pt x="311061" y="410087"/>
                  </a:lnTo>
                  <a:lnTo>
                    <a:pt x="351170" y="384577"/>
                  </a:lnTo>
                  <a:lnTo>
                    <a:pt x="384617" y="351117"/>
                  </a:lnTo>
                  <a:lnTo>
                    <a:pt x="410109" y="311005"/>
                  </a:lnTo>
                  <a:lnTo>
                    <a:pt x="426352" y="265542"/>
                  </a:lnTo>
                  <a:lnTo>
                    <a:pt x="432053" y="216026"/>
                  </a:lnTo>
                  <a:lnTo>
                    <a:pt x="426352" y="166471"/>
                  </a:lnTo>
                  <a:lnTo>
                    <a:pt x="410109" y="120992"/>
                  </a:lnTo>
                  <a:lnTo>
                    <a:pt x="384617" y="80883"/>
                  </a:lnTo>
                  <a:lnTo>
                    <a:pt x="351170" y="47436"/>
                  </a:lnTo>
                  <a:lnTo>
                    <a:pt x="311061" y="21944"/>
                  </a:lnTo>
                  <a:lnTo>
                    <a:pt x="265582" y="5701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657593" y="3021457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0" y="216026"/>
                  </a:moveTo>
                  <a:lnTo>
                    <a:pt x="5708" y="166471"/>
                  </a:lnTo>
                  <a:lnTo>
                    <a:pt x="21966" y="120992"/>
                  </a:lnTo>
                  <a:lnTo>
                    <a:pt x="47476" y="80883"/>
                  </a:lnTo>
                  <a:lnTo>
                    <a:pt x="80936" y="47436"/>
                  </a:lnTo>
                  <a:lnTo>
                    <a:pt x="121048" y="21944"/>
                  </a:lnTo>
                  <a:lnTo>
                    <a:pt x="166511" y="5701"/>
                  </a:lnTo>
                  <a:lnTo>
                    <a:pt x="216026" y="0"/>
                  </a:lnTo>
                  <a:lnTo>
                    <a:pt x="265582" y="5701"/>
                  </a:lnTo>
                  <a:lnTo>
                    <a:pt x="311061" y="21944"/>
                  </a:lnTo>
                  <a:lnTo>
                    <a:pt x="351170" y="47436"/>
                  </a:lnTo>
                  <a:lnTo>
                    <a:pt x="384617" y="80883"/>
                  </a:lnTo>
                  <a:lnTo>
                    <a:pt x="410109" y="120992"/>
                  </a:lnTo>
                  <a:lnTo>
                    <a:pt x="426352" y="166471"/>
                  </a:lnTo>
                  <a:lnTo>
                    <a:pt x="432053" y="216026"/>
                  </a:lnTo>
                  <a:lnTo>
                    <a:pt x="426352" y="265542"/>
                  </a:lnTo>
                  <a:lnTo>
                    <a:pt x="410109" y="311005"/>
                  </a:lnTo>
                  <a:lnTo>
                    <a:pt x="384617" y="351117"/>
                  </a:lnTo>
                  <a:lnTo>
                    <a:pt x="351170" y="384577"/>
                  </a:lnTo>
                  <a:lnTo>
                    <a:pt x="311061" y="410087"/>
                  </a:lnTo>
                  <a:lnTo>
                    <a:pt x="265582" y="426345"/>
                  </a:lnTo>
                  <a:lnTo>
                    <a:pt x="216026" y="432053"/>
                  </a:lnTo>
                  <a:lnTo>
                    <a:pt x="166511" y="426345"/>
                  </a:lnTo>
                  <a:lnTo>
                    <a:pt x="121048" y="410087"/>
                  </a:lnTo>
                  <a:lnTo>
                    <a:pt x="80936" y="384577"/>
                  </a:lnTo>
                  <a:lnTo>
                    <a:pt x="47476" y="351117"/>
                  </a:lnTo>
                  <a:lnTo>
                    <a:pt x="21966" y="311005"/>
                  </a:lnTo>
                  <a:lnTo>
                    <a:pt x="5708" y="265542"/>
                  </a:lnTo>
                  <a:lnTo>
                    <a:pt x="0" y="216026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752081" y="3013024"/>
            <a:ext cx="2457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H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865593" y="2582100"/>
            <a:ext cx="7098665" cy="2724150"/>
            <a:chOff x="865593" y="2582100"/>
            <a:chExt cx="7098665" cy="2724150"/>
          </a:xfrm>
        </p:grpSpPr>
        <p:sp>
          <p:nvSpPr>
            <p:cNvPr id="48" name="object 48"/>
            <p:cNvSpPr/>
            <p:nvPr/>
          </p:nvSpPr>
          <p:spPr>
            <a:xfrm>
              <a:off x="7549133" y="2596388"/>
              <a:ext cx="400685" cy="1212215"/>
            </a:xfrm>
            <a:custGeom>
              <a:avLst/>
              <a:gdLst/>
              <a:ahLst/>
              <a:cxnLst/>
              <a:rect l="l" t="t" r="r" b="b"/>
              <a:pathLst>
                <a:path w="400684" h="1212214">
                  <a:moveTo>
                    <a:pt x="400431" y="852170"/>
                  </a:moveTo>
                  <a:lnTo>
                    <a:pt x="400431" y="1212088"/>
                  </a:lnTo>
                </a:path>
                <a:path w="400684" h="1212214">
                  <a:moveTo>
                    <a:pt x="287909" y="467995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952296" y="5242814"/>
              <a:ext cx="292735" cy="63500"/>
            </a:xfrm>
            <a:custGeom>
              <a:avLst/>
              <a:gdLst/>
              <a:ahLst/>
              <a:cxnLst/>
              <a:rect l="l" t="t" r="r" b="b"/>
              <a:pathLst>
                <a:path w="292734" h="63500">
                  <a:moveTo>
                    <a:pt x="251587" y="0"/>
                  </a:moveTo>
                  <a:lnTo>
                    <a:pt x="40741" y="0"/>
                  </a:lnTo>
                  <a:lnTo>
                    <a:pt x="35940" y="2032"/>
                  </a:lnTo>
                  <a:lnTo>
                    <a:pt x="35940" y="4191"/>
                  </a:lnTo>
                  <a:lnTo>
                    <a:pt x="2400" y="50419"/>
                  </a:lnTo>
                  <a:lnTo>
                    <a:pt x="0" y="54737"/>
                  </a:lnTo>
                  <a:lnTo>
                    <a:pt x="0" y="58928"/>
                  </a:lnTo>
                  <a:lnTo>
                    <a:pt x="4800" y="60960"/>
                  </a:lnTo>
                  <a:lnTo>
                    <a:pt x="7188" y="63119"/>
                  </a:lnTo>
                  <a:lnTo>
                    <a:pt x="14376" y="63119"/>
                  </a:lnTo>
                  <a:lnTo>
                    <a:pt x="16776" y="60960"/>
                  </a:lnTo>
                  <a:lnTo>
                    <a:pt x="19177" y="58928"/>
                  </a:lnTo>
                  <a:lnTo>
                    <a:pt x="47929" y="16764"/>
                  </a:lnTo>
                  <a:lnTo>
                    <a:pt x="265497" y="16764"/>
                  </a:lnTo>
                  <a:lnTo>
                    <a:pt x="256374" y="4191"/>
                  </a:lnTo>
                  <a:lnTo>
                    <a:pt x="253974" y="2032"/>
                  </a:lnTo>
                  <a:lnTo>
                    <a:pt x="251587" y="0"/>
                  </a:lnTo>
                  <a:close/>
                </a:path>
                <a:path w="292734" h="63500">
                  <a:moveTo>
                    <a:pt x="265497" y="16764"/>
                  </a:moveTo>
                  <a:lnTo>
                    <a:pt x="244398" y="16764"/>
                  </a:lnTo>
                  <a:lnTo>
                    <a:pt x="273138" y="58928"/>
                  </a:lnTo>
                  <a:lnTo>
                    <a:pt x="275539" y="60960"/>
                  </a:lnTo>
                  <a:lnTo>
                    <a:pt x="277939" y="63119"/>
                  </a:lnTo>
                  <a:lnTo>
                    <a:pt x="285127" y="63119"/>
                  </a:lnTo>
                  <a:lnTo>
                    <a:pt x="287515" y="60960"/>
                  </a:lnTo>
                  <a:lnTo>
                    <a:pt x="292315" y="58928"/>
                  </a:lnTo>
                  <a:lnTo>
                    <a:pt x="292315" y="54737"/>
                  </a:lnTo>
                  <a:lnTo>
                    <a:pt x="289915" y="50419"/>
                  </a:lnTo>
                  <a:lnTo>
                    <a:pt x="265497" y="16764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5593" y="4873879"/>
              <a:ext cx="145453" cy="114045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84465" y="4873879"/>
              <a:ext cx="146875" cy="114045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915936" y="4915154"/>
              <a:ext cx="362585" cy="316865"/>
            </a:xfrm>
            <a:custGeom>
              <a:avLst/>
              <a:gdLst/>
              <a:ahLst/>
              <a:cxnLst/>
              <a:rect l="l" t="t" r="r" b="b"/>
              <a:pathLst>
                <a:path w="362584" h="316864">
                  <a:moveTo>
                    <a:pt x="182321" y="0"/>
                  </a:moveTo>
                  <a:lnTo>
                    <a:pt x="133829" y="5654"/>
                  </a:lnTo>
                  <a:lnTo>
                    <a:pt x="90269" y="21613"/>
                  </a:lnTo>
                  <a:lnTo>
                    <a:pt x="53374" y="46370"/>
                  </a:lnTo>
                  <a:lnTo>
                    <a:pt x="24876" y="78420"/>
                  </a:lnTo>
                  <a:lnTo>
                    <a:pt x="6507" y="116254"/>
                  </a:lnTo>
                  <a:lnTo>
                    <a:pt x="0" y="158369"/>
                  </a:lnTo>
                  <a:lnTo>
                    <a:pt x="6507" y="200483"/>
                  </a:lnTo>
                  <a:lnTo>
                    <a:pt x="24876" y="238317"/>
                  </a:lnTo>
                  <a:lnTo>
                    <a:pt x="53374" y="270367"/>
                  </a:lnTo>
                  <a:lnTo>
                    <a:pt x="90269" y="295124"/>
                  </a:lnTo>
                  <a:lnTo>
                    <a:pt x="133829" y="311083"/>
                  </a:lnTo>
                  <a:lnTo>
                    <a:pt x="182321" y="316738"/>
                  </a:lnTo>
                  <a:lnTo>
                    <a:pt x="230627" y="311083"/>
                  </a:lnTo>
                  <a:lnTo>
                    <a:pt x="273731" y="295124"/>
                  </a:lnTo>
                  <a:lnTo>
                    <a:pt x="310037" y="270367"/>
                  </a:lnTo>
                  <a:lnTo>
                    <a:pt x="337947" y="238317"/>
                  </a:lnTo>
                  <a:lnTo>
                    <a:pt x="355864" y="200483"/>
                  </a:lnTo>
                  <a:lnTo>
                    <a:pt x="360321" y="170815"/>
                  </a:lnTo>
                  <a:lnTo>
                    <a:pt x="175120" y="170815"/>
                  </a:lnTo>
                  <a:lnTo>
                    <a:pt x="170319" y="164592"/>
                  </a:lnTo>
                  <a:lnTo>
                    <a:pt x="170319" y="43815"/>
                  </a:lnTo>
                  <a:lnTo>
                    <a:pt x="175120" y="37465"/>
                  </a:lnTo>
                  <a:lnTo>
                    <a:pt x="296977" y="37465"/>
                  </a:lnTo>
                  <a:lnTo>
                    <a:pt x="273731" y="21613"/>
                  </a:lnTo>
                  <a:lnTo>
                    <a:pt x="230627" y="5654"/>
                  </a:lnTo>
                  <a:lnTo>
                    <a:pt x="182321" y="0"/>
                  </a:lnTo>
                  <a:close/>
                </a:path>
                <a:path w="362584" h="316864">
                  <a:moveTo>
                    <a:pt x="296977" y="37465"/>
                  </a:moveTo>
                  <a:lnTo>
                    <a:pt x="191909" y="37465"/>
                  </a:lnTo>
                  <a:lnTo>
                    <a:pt x="199110" y="43815"/>
                  </a:lnTo>
                  <a:lnTo>
                    <a:pt x="199110" y="145923"/>
                  </a:lnTo>
                  <a:lnTo>
                    <a:pt x="256692" y="145923"/>
                  </a:lnTo>
                  <a:lnTo>
                    <a:pt x="263880" y="149987"/>
                  </a:lnTo>
                  <a:lnTo>
                    <a:pt x="263880" y="164592"/>
                  </a:lnTo>
                  <a:lnTo>
                    <a:pt x="256692" y="170815"/>
                  </a:lnTo>
                  <a:lnTo>
                    <a:pt x="360321" y="170815"/>
                  </a:lnTo>
                  <a:lnTo>
                    <a:pt x="362191" y="158369"/>
                  </a:lnTo>
                  <a:lnTo>
                    <a:pt x="355864" y="116254"/>
                  </a:lnTo>
                  <a:lnTo>
                    <a:pt x="337947" y="78420"/>
                  </a:lnTo>
                  <a:lnTo>
                    <a:pt x="310037" y="46370"/>
                  </a:lnTo>
                  <a:lnTo>
                    <a:pt x="296977" y="37465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1503425" y="4830013"/>
            <a:ext cx="53536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第</a:t>
            </a:r>
            <a:r>
              <a:rPr sz="2800" spc="-150" dirty="0">
                <a:solidFill>
                  <a:srgbClr val="404040"/>
                </a:solidFill>
                <a:latin typeface="微软雅黑"/>
                <a:cs typeface="微软雅黑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3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微软雅黑"/>
                <a:cs typeface="微软雅黑"/>
              </a:rPr>
              <a:t>棵是度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为</a:t>
            </a:r>
            <a:r>
              <a:rPr sz="2800" spc="-135" dirty="0">
                <a:solidFill>
                  <a:srgbClr val="404040"/>
                </a:solidFill>
                <a:latin typeface="微软雅黑"/>
                <a:cs typeface="微软雅黑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2</a:t>
            </a:r>
            <a:r>
              <a:rPr sz="2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微软雅黑"/>
                <a:cs typeface="微软雅黑"/>
              </a:rPr>
              <a:t>的树还是二叉树？</a:t>
            </a:r>
            <a:endParaRPr sz="2800" dirty="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4617427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48643" y="2017267"/>
            <a:ext cx="152400" cy="25355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algn="just">
              <a:lnSpc>
                <a:spcPts val="1000"/>
              </a:lnSpc>
              <a:spcBef>
                <a:spcPts val="2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数 据 结 构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880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（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从 概 念 到 实 现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975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640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清 华 大 学 出 版 社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10969" y="1060196"/>
            <a:ext cx="62395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285A31"/>
                </a:solidFill>
                <a:latin typeface="微软雅黑"/>
                <a:cs typeface="微软雅黑"/>
              </a:rPr>
              <a:t>森林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：</a:t>
            </a:r>
            <a:r>
              <a:rPr sz="2800" i="1" spc="-10" dirty="0">
                <a:solidFill>
                  <a:srgbClr val="404040"/>
                </a:solidFill>
                <a:latin typeface="Times New Roman"/>
                <a:cs typeface="Times New Roman"/>
              </a:rPr>
              <a:t>m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（</a:t>
            </a:r>
            <a:r>
              <a:rPr sz="2800" i="1" spc="-10" dirty="0">
                <a:solidFill>
                  <a:srgbClr val="404040"/>
                </a:solidFill>
                <a:latin typeface="Times New Roman"/>
                <a:cs typeface="Times New Roman"/>
              </a:rPr>
              <a:t>m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≥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0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）棵互不相交的</a:t>
            </a:r>
            <a:r>
              <a:rPr sz="2800" spc="5" dirty="0">
                <a:solidFill>
                  <a:srgbClr val="B42C2C"/>
                </a:solidFill>
                <a:latin typeface="微软雅黑"/>
                <a:cs typeface="微软雅黑"/>
              </a:rPr>
              <a:t>树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的集合</a:t>
            </a:r>
            <a:endParaRPr sz="2800">
              <a:latin typeface="微软雅黑"/>
              <a:cs typeface="微软雅黑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40511" y="1128141"/>
            <a:ext cx="4709795" cy="4373245"/>
            <a:chOff x="840511" y="1128141"/>
            <a:chExt cx="4709795" cy="4373245"/>
          </a:xfrm>
        </p:grpSpPr>
        <p:sp>
          <p:nvSpPr>
            <p:cNvPr id="7" name="object 7"/>
            <p:cNvSpPr/>
            <p:nvPr/>
          </p:nvSpPr>
          <p:spPr>
            <a:xfrm>
              <a:off x="886790" y="1128141"/>
              <a:ext cx="386080" cy="387985"/>
            </a:xfrm>
            <a:custGeom>
              <a:avLst/>
              <a:gdLst/>
              <a:ahLst/>
              <a:cxnLst/>
              <a:rect l="l" t="t" r="r" b="b"/>
              <a:pathLst>
                <a:path w="386080" h="387984">
                  <a:moveTo>
                    <a:pt x="216966" y="385825"/>
                  </a:moveTo>
                  <a:lnTo>
                    <a:pt x="208203" y="385825"/>
                  </a:lnTo>
                  <a:lnTo>
                    <a:pt x="210388" y="387985"/>
                  </a:lnTo>
                  <a:lnTo>
                    <a:pt x="214769" y="387985"/>
                  </a:lnTo>
                  <a:lnTo>
                    <a:pt x="216966" y="385825"/>
                  </a:lnTo>
                  <a:close/>
                </a:path>
                <a:path w="386080" h="387984">
                  <a:moveTo>
                    <a:pt x="109575" y="123444"/>
                  </a:moveTo>
                  <a:lnTo>
                    <a:pt x="51776" y="134762"/>
                  </a:lnTo>
                  <a:lnTo>
                    <a:pt x="2197" y="167512"/>
                  </a:lnTo>
                  <a:lnTo>
                    <a:pt x="0" y="171958"/>
                  </a:lnTo>
                  <a:lnTo>
                    <a:pt x="0" y="176403"/>
                  </a:lnTo>
                  <a:lnTo>
                    <a:pt x="2197" y="180721"/>
                  </a:lnTo>
                  <a:lnTo>
                    <a:pt x="206006" y="385825"/>
                  </a:lnTo>
                  <a:lnTo>
                    <a:pt x="219163" y="385825"/>
                  </a:lnTo>
                  <a:lnTo>
                    <a:pt x="242890" y="353067"/>
                  </a:lnTo>
                  <a:lnTo>
                    <a:pt x="257784" y="315785"/>
                  </a:lnTo>
                  <a:lnTo>
                    <a:pt x="263230" y="276026"/>
                  </a:lnTo>
                  <a:lnTo>
                    <a:pt x="258610" y="235838"/>
                  </a:lnTo>
                  <a:lnTo>
                    <a:pt x="317779" y="176403"/>
                  </a:lnTo>
                  <a:lnTo>
                    <a:pt x="352278" y="176403"/>
                  </a:lnTo>
                  <a:lnTo>
                    <a:pt x="383463" y="143256"/>
                  </a:lnTo>
                  <a:lnTo>
                    <a:pt x="385749" y="141097"/>
                  </a:lnTo>
                  <a:lnTo>
                    <a:pt x="385749" y="136651"/>
                  </a:lnTo>
                  <a:lnTo>
                    <a:pt x="383463" y="134493"/>
                  </a:lnTo>
                  <a:lnTo>
                    <a:pt x="381330" y="134493"/>
                  </a:lnTo>
                  <a:lnTo>
                    <a:pt x="374764" y="127888"/>
                  </a:lnTo>
                  <a:lnTo>
                    <a:pt x="151218" y="127888"/>
                  </a:lnTo>
                  <a:lnTo>
                    <a:pt x="141324" y="126283"/>
                  </a:lnTo>
                  <a:lnTo>
                    <a:pt x="131221" y="124856"/>
                  </a:lnTo>
                  <a:lnTo>
                    <a:pt x="120706" y="123834"/>
                  </a:lnTo>
                  <a:lnTo>
                    <a:pt x="109575" y="123444"/>
                  </a:lnTo>
                  <a:close/>
                </a:path>
                <a:path w="386080" h="387984">
                  <a:moveTo>
                    <a:pt x="352278" y="176403"/>
                  </a:moveTo>
                  <a:lnTo>
                    <a:pt x="317779" y="176403"/>
                  </a:lnTo>
                  <a:lnTo>
                    <a:pt x="328739" y="187451"/>
                  </a:lnTo>
                  <a:lnTo>
                    <a:pt x="333121" y="189611"/>
                  </a:lnTo>
                  <a:lnTo>
                    <a:pt x="337502" y="189611"/>
                  </a:lnTo>
                  <a:lnTo>
                    <a:pt x="341884" y="187451"/>
                  </a:lnTo>
                  <a:lnTo>
                    <a:pt x="352278" y="176403"/>
                  </a:lnTo>
                  <a:close/>
                </a:path>
                <a:path w="386080" h="387984">
                  <a:moveTo>
                    <a:pt x="249847" y="0"/>
                  </a:moveTo>
                  <a:lnTo>
                    <a:pt x="243268" y="0"/>
                  </a:lnTo>
                  <a:lnTo>
                    <a:pt x="241071" y="4445"/>
                  </a:lnTo>
                  <a:lnTo>
                    <a:pt x="199440" y="44069"/>
                  </a:lnTo>
                  <a:lnTo>
                    <a:pt x="197243" y="46355"/>
                  </a:lnTo>
                  <a:lnTo>
                    <a:pt x="197243" y="55118"/>
                  </a:lnTo>
                  <a:lnTo>
                    <a:pt x="199440" y="57276"/>
                  </a:lnTo>
                  <a:lnTo>
                    <a:pt x="210388" y="68325"/>
                  </a:lnTo>
                  <a:lnTo>
                    <a:pt x="151218" y="127888"/>
                  </a:lnTo>
                  <a:lnTo>
                    <a:pt x="374764" y="127888"/>
                  </a:lnTo>
                  <a:lnTo>
                    <a:pt x="252031" y="4445"/>
                  </a:lnTo>
                  <a:lnTo>
                    <a:pt x="249847" y="0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0511" y="1390015"/>
              <a:ext cx="170891" cy="1701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37957" y="1888426"/>
              <a:ext cx="4112259" cy="361251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558666" y="2941066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33041" y="2928366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44192" y="3960367"/>
            <a:ext cx="22967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6115" algn="l"/>
                <a:tab pos="1316355" algn="l"/>
                <a:tab pos="2026920" algn="l"/>
              </a:tabLst>
            </a:pPr>
            <a:r>
              <a:rPr sz="2800" b="1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D	E	F	G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40154" y="4979923"/>
            <a:ext cx="3016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H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86557" y="4995798"/>
            <a:ext cx="1638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43450" y="2962401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85615" y="3981703"/>
            <a:ext cx="3016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H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32019" y="3997578"/>
            <a:ext cx="1638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42157" y="1879473"/>
            <a:ext cx="262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31711" y="2343403"/>
            <a:ext cx="4598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对于树：删去根结点就变成了森林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722213" y="2389631"/>
            <a:ext cx="410845" cy="1177925"/>
          </a:xfrm>
          <a:custGeom>
            <a:avLst/>
            <a:gdLst/>
            <a:ahLst/>
            <a:cxnLst/>
            <a:rect l="l" t="t" r="r" b="b"/>
            <a:pathLst>
              <a:path w="410845" h="1177925">
                <a:moveTo>
                  <a:pt x="410387" y="935443"/>
                </a:moveTo>
                <a:lnTo>
                  <a:pt x="401548" y="890587"/>
                </a:lnTo>
                <a:lnTo>
                  <a:pt x="375056" y="851281"/>
                </a:lnTo>
                <a:lnTo>
                  <a:pt x="336321" y="825677"/>
                </a:lnTo>
                <a:lnTo>
                  <a:pt x="289585" y="817499"/>
                </a:lnTo>
                <a:lnTo>
                  <a:pt x="265950" y="819823"/>
                </a:lnTo>
                <a:lnTo>
                  <a:pt x="243547" y="826490"/>
                </a:lnTo>
                <a:lnTo>
                  <a:pt x="222745" y="837120"/>
                </a:lnTo>
                <a:lnTo>
                  <a:pt x="203987" y="851281"/>
                </a:lnTo>
                <a:lnTo>
                  <a:pt x="99212" y="956437"/>
                </a:lnTo>
                <a:lnTo>
                  <a:pt x="26441" y="1028065"/>
                </a:lnTo>
                <a:lnTo>
                  <a:pt x="6908" y="1056944"/>
                </a:lnTo>
                <a:lnTo>
                  <a:pt x="0" y="1090168"/>
                </a:lnTo>
                <a:lnTo>
                  <a:pt x="6311" y="1123403"/>
                </a:lnTo>
                <a:lnTo>
                  <a:pt x="40068" y="1163358"/>
                </a:lnTo>
                <a:lnTo>
                  <a:pt x="88544" y="1177544"/>
                </a:lnTo>
                <a:lnTo>
                  <a:pt x="106057" y="1175943"/>
                </a:lnTo>
                <a:lnTo>
                  <a:pt x="122986" y="1170978"/>
                </a:lnTo>
                <a:lnTo>
                  <a:pt x="138722" y="1162443"/>
                </a:lnTo>
                <a:lnTo>
                  <a:pt x="149047" y="1153325"/>
                </a:lnTo>
                <a:lnTo>
                  <a:pt x="152679" y="1150124"/>
                </a:lnTo>
                <a:lnTo>
                  <a:pt x="285267" y="1019683"/>
                </a:lnTo>
                <a:lnTo>
                  <a:pt x="332384" y="975487"/>
                </a:lnTo>
                <a:lnTo>
                  <a:pt x="339534" y="965581"/>
                </a:lnTo>
                <a:lnTo>
                  <a:pt x="344881" y="954900"/>
                </a:lnTo>
                <a:lnTo>
                  <a:pt x="348234" y="943432"/>
                </a:lnTo>
                <a:lnTo>
                  <a:pt x="349402" y="931164"/>
                </a:lnTo>
                <a:lnTo>
                  <a:pt x="349453" y="918984"/>
                </a:lnTo>
                <a:lnTo>
                  <a:pt x="346506" y="907542"/>
                </a:lnTo>
                <a:lnTo>
                  <a:pt x="340753" y="896874"/>
                </a:lnTo>
                <a:lnTo>
                  <a:pt x="338836" y="894613"/>
                </a:lnTo>
                <a:lnTo>
                  <a:pt x="332384" y="886968"/>
                </a:lnTo>
                <a:lnTo>
                  <a:pt x="311975" y="874001"/>
                </a:lnTo>
                <a:lnTo>
                  <a:pt x="288188" y="869911"/>
                </a:lnTo>
                <a:lnTo>
                  <a:pt x="264007" y="874877"/>
                </a:lnTo>
                <a:lnTo>
                  <a:pt x="242468" y="889127"/>
                </a:lnTo>
                <a:lnTo>
                  <a:pt x="82067" y="1046988"/>
                </a:lnTo>
                <a:lnTo>
                  <a:pt x="77876" y="1051179"/>
                </a:lnTo>
                <a:lnTo>
                  <a:pt x="77876" y="1059688"/>
                </a:lnTo>
                <a:lnTo>
                  <a:pt x="82067" y="1063879"/>
                </a:lnTo>
                <a:lnTo>
                  <a:pt x="84226" y="1065911"/>
                </a:lnTo>
                <a:lnTo>
                  <a:pt x="88544" y="1068070"/>
                </a:lnTo>
                <a:lnTo>
                  <a:pt x="94894" y="1068070"/>
                </a:lnTo>
                <a:lnTo>
                  <a:pt x="97053" y="1065911"/>
                </a:lnTo>
                <a:lnTo>
                  <a:pt x="99212" y="1063879"/>
                </a:lnTo>
                <a:lnTo>
                  <a:pt x="261772" y="906018"/>
                </a:lnTo>
                <a:lnTo>
                  <a:pt x="302666" y="896759"/>
                </a:lnTo>
                <a:lnTo>
                  <a:pt x="325907" y="931164"/>
                </a:lnTo>
                <a:lnTo>
                  <a:pt x="135534" y="1133348"/>
                </a:lnTo>
                <a:lnTo>
                  <a:pt x="88747" y="1153325"/>
                </a:lnTo>
                <a:lnTo>
                  <a:pt x="64249" y="1149286"/>
                </a:lnTo>
                <a:lnTo>
                  <a:pt x="43586" y="1135380"/>
                </a:lnTo>
                <a:lnTo>
                  <a:pt x="29146" y="1114145"/>
                </a:lnTo>
                <a:lnTo>
                  <a:pt x="24345" y="1090168"/>
                </a:lnTo>
                <a:lnTo>
                  <a:pt x="29146" y="1066203"/>
                </a:lnTo>
                <a:lnTo>
                  <a:pt x="223291" y="870204"/>
                </a:lnTo>
                <a:lnTo>
                  <a:pt x="270789" y="842683"/>
                </a:lnTo>
                <a:lnTo>
                  <a:pt x="289585" y="840740"/>
                </a:lnTo>
                <a:lnTo>
                  <a:pt x="308686" y="842657"/>
                </a:lnTo>
                <a:lnTo>
                  <a:pt x="358038" y="868045"/>
                </a:lnTo>
                <a:lnTo>
                  <a:pt x="379374" y="899807"/>
                </a:lnTo>
                <a:lnTo>
                  <a:pt x="386080" y="935469"/>
                </a:lnTo>
                <a:lnTo>
                  <a:pt x="378764" y="971118"/>
                </a:lnTo>
                <a:lnTo>
                  <a:pt x="358038" y="1002792"/>
                </a:lnTo>
                <a:lnTo>
                  <a:pt x="216814" y="1139698"/>
                </a:lnTo>
                <a:lnTo>
                  <a:pt x="212623" y="1143901"/>
                </a:lnTo>
                <a:lnTo>
                  <a:pt x="212623" y="1152271"/>
                </a:lnTo>
                <a:lnTo>
                  <a:pt x="216814" y="1156474"/>
                </a:lnTo>
                <a:lnTo>
                  <a:pt x="221132" y="1158621"/>
                </a:lnTo>
                <a:lnTo>
                  <a:pt x="223291" y="1160653"/>
                </a:lnTo>
                <a:lnTo>
                  <a:pt x="229641" y="1160653"/>
                </a:lnTo>
                <a:lnTo>
                  <a:pt x="231800" y="1158621"/>
                </a:lnTo>
                <a:lnTo>
                  <a:pt x="236118" y="1156474"/>
                </a:lnTo>
                <a:lnTo>
                  <a:pt x="375056" y="1019683"/>
                </a:lnTo>
                <a:lnTo>
                  <a:pt x="401548" y="980325"/>
                </a:lnTo>
                <a:lnTo>
                  <a:pt x="410387" y="935443"/>
                </a:lnTo>
                <a:close/>
              </a:path>
              <a:path w="410845" h="1177925">
                <a:moveTo>
                  <a:pt x="410387" y="117919"/>
                </a:moveTo>
                <a:lnTo>
                  <a:pt x="401548" y="73025"/>
                </a:lnTo>
                <a:lnTo>
                  <a:pt x="375056" y="33655"/>
                </a:lnTo>
                <a:lnTo>
                  <a:pt x="336321" y="8166"/>
                </a:lnTo>
                <a:lnTo>
                  <a:pt x="289585" y="0"/>
                </a:lnTo>
                <a:lnTo>
                  <a:pt x="265950" y="2324"/>
                </a:lnTo>
                <a:lnTo>
                  <a:pt x="243547" y="8978"/>
                </a:lnTo>
                <a:lnTo>
                  <a:pt x="222745" y="19558"/>
                </a:lnTo>
                <a:lnTo>
                  <a:pt x="203987" y="33655"/>
                </a:lnTo>
                <a:lnTo>
                  <a:pt x="99212" y="138938"/>
                </a:lnTo>
                <a:lnTo>
                  <a:pt x="26441" y="210566"/>
                </a:lnTo>
                <a:lnTo>
                  <a:pt x="6908" y="239445"/>
                </a:lnTo>
                <a:lnTo>
                  <a:pt x="0" y="272669"/>
                </a:lnTo>
                <a:lnTo>
                  <a:pt x="6311" y="305904"/>
                </a:lnTo>
                <a:lnTo>
                  <a:pt x="40068" y="345859"/>
                </a:lnTo>
                <a:lnTo>
                  <a:pt x="88544" y="360045"/>
                </a:lnTo>
                <a:lnTo>
                  <a:pt x="106057" y="358444"/>
                </a:lnTo>
                <a:lnTo>
                  <a:pt x="149047" y="335826"/>
                </a:lnTo>
                <a:lnTo>
                  <a:pt x="285267" y="202184"/>
                </a:lnTo>
                <a:lnTo>
                  <a:pt x="332384" y="157988"/>
                </a:lnTo>
                <a:lnTo>
                  <a:pt x="349402" y="113665"/>
                </a:lnTo>
                <a:lnTo>
                  <a:pt x="349453" y="101485"/>
                </a:lnTo>
                <a:lnTo>
                  <a:pt x="346506" y="90043"/>
                </a:lnTo>
                <a:lnTo>
                  <a:pt x="311975" y="56502"/>
                </a:lnTo>
                <a:lnTo>
                  <a:pt x="288188" y="52412"/>
                </a:lnTo>
                <a:lnTo>
                  <a:pt x="264007" y="57378"/>
                </a:lnTo>
                <a:lnTo>
                  <a:pt x="242468" y="71628"/>
                </a:lnTo>
                <a:lnTo>
                  <a:pt x="82067" y="229489"/>
                </a:lnTo>
                <a:lnTo>
                  <a:pt x="77876" y="233680"/>
                </a:lnTo>
                <a:lnTo>
                  <a:pt x="77876" y="242189"/>
                </a:lnTo>
                <a:lnTo>
                  <a:pt x="82067" y="246380"/>
                </a:lnTo>
                <a:lnTo>
                  <a:pt x="84226" y="248412"/>
                </a:lnTo>
                <a:lnTo>
                  <a:pt x="88544" y="250571"/>
                </a:lnTo>
                <a:lnTo>
                  <a:pt x="94894" y="250571"/>
                </a:lnTo>
                <a:lnTo>
                  <a:pt x="97053" y="248412"/>
                </a:lnTo>
                <a:lnTo>
                  <a:pt x="99212" y="246380"/>
                </a:lnTo>
                <a:lnTo>
                  <a:pt x="261772" y="88392"/>
                </a:lnTo>
                <a:lnTo>
                  <a:pt x="302666" y="79248"/>
                </a:lnTo>
                <a:lnTo>
                  <a:pt x="325907" y="113665"/>
                </a:lnTo>
                <a:lnTo>
                  <a:pt x="179438" y="272669"/>
                </a:lnTo>
                <a:lnTo>
                  <a:pt x="135534" y="315849"/>
                </a:lnTo>
                <a:lnTo>
                  <a:pt x="88747" y="335826"/>
                </a:lnTo>
                <a:lnTo>
                  <a:pt x="64249" y="331787"/>
                </a:lnTo>
                <a:lnTo>
                  <a:pt x="43586" y="317881"/>
                </a:lnTo>
                <a:lnTo>
                  <a:pt x="29146" y="296633"/>
                </a:lnTo>
                <a:lnTo>
                  <a:pt x="24345" y="272630"/>
                </a:lnTo>
                <a:lnTo>
                  <a:pt x="29146" y="248640"/>
                </a:lnTo>
                <a:lnTo>
                  <a:pt x="223291" y="52705"/>
                </a:lnTo>
                <a:lnTo>
                  <a:pt x="270789" y="25171"/>
                </a:lnTo>
                <a:lnTo>
                  <a:pt x="289585" y="23241"/>
                </a:lnTo>
                <a:lnTo>
                  <a:pt x="308686" y="25133"/>
                </a:lnTo>
                <a:lnTo>
                  <a:pt x="358038" y="50546"/>
                </a:lnTo>
                <a:lnTo>
                  <a:pt x="379374" y="82245"/>
                </a:lnTo>
                <a:lnTo>
                  <a:pt x="386080" y="117919"/>
                </a:lnTo>
                <a:lnTo>
                  <a:pt x="378764" y="153606"/>
                </a:lnTo>
                <a:lnTo>
                  <a:pt x="358038" y="185293"/>
                </a:lnTo>
                <a:lnTo>
                  <a:pt x="216814" y="322199"/>
                </a:lnTo>
                <a:lnTo>
                  <a:pt x="212623" y="326390"/>
                </a:lnTo>
                <a:lnTo>
                  <a:pt x="212623" y="334772"/>
                </a:lnTo>
                <a:lnTo>
                  <a:pt x="216814" y="338963"/>
                </a:lnTo>
                <a:lnTo>
                  <a:pt x="221132" y="341122"/>
                </a:lnTo>
                <a:lnTo>
                  <a:pt x="223291" y="343154"/>
                </a:lnTo>
                <a:lnTo>
                  <a:pt x="229641" y="343154"/>
                </a:lnTo>
                <a:lnTo>
                  <a:pt x="231800" y="341122"/>
                </a:lnTo>
                <a:lnTo>
                  <a:pt x="236118" y="338963"/>
                </a:lnTo>
                <a:lnTo>
                  <a:pt x="375056" y="202184"/>
                </a:lnTo>
                <a:lnTo>
                  <a:pt x="401548" y="162814"/>
                </a:lnTo>
                <a:lnTo>
                  <a:pt x="410387" y="117919"/>
                </a:lnTo>
                <a:close/>
              </a:path>
            </a:pathLst>
          </a:custGeom>
          <a:solidFill>
            <a:srgbClr val="5A31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325361" y="3098674"/>
            <a:ext cx="5207000" cy="1358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1500"/>
              </a:lnSpc>
              <a:spcBef>
                <a:spcPts val="90"/>
              </a:spcBef>
            </a:pP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对于森林：增加一个根结点，将森林 </a:t>
            </a:r>
            <a:r>
              <a:rPr sz="2400" spc="5" dirty="0">
                <a:solidFill>
                  <a:srgbClr val="404040"/>
                </a:solidFill>
                <a:latin typeface="微软雅黑"/>
                <a:cs typeface="微软雅黑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微软雅黑"/>
                <a:cs typeface="微软雅黑"/>
              </a:rPr>
              <a:t>中的每一棵树作为这个根结点的子树， </a:t>
            </a: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则森林就变成了一棵树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1" name="object 3"/>
          <p:cNvSpPr/>
          <p:nvPr/>
        </p:nvSpPr>
        <p:spPr>
          <a:xfrm>
            <a:off x="542924" y="100964"/>
            <a:ext cx="3456813" cy="540385"/>
          </a:xfrm>
          <a:custGeom>
            <a:avLst/>
            <a:gdLst/>
            <a:ahLst/>
            <a:cxnLst/>
            <a:rect l="l" t="t" r="r" b="b"/>
            <a:pathLst>
              <a:path w="2376170" h="540385">
                <a:moveTo>
                  <a:pt x="2286000" y="0"/>
                </a:moveTo>
                <a:lnTo>
                  <a:pt x="90004" y="0"/>
                </a:lnTo>
                <a:lnTo>
                  <a:pt x="54971" y="7068"/>
                </a:lnTo>
                <a:lnTo>
                  <a:pt x="26362" y="26352"/>
                </a:lnTo>
                <a:lnTo>
                  <a:pt x="7073" y="54971"/>
                </a:lnTo>
                <a:lnTo>
                  <a:pt x="0" y="90042"/>
                </a:lnTo>
                <a:lnTo>
                  <a:pt x="0" y="449960"/>
                </a:lnTo>
                <a:lnTo>
                  <a:pt x="7073" y="485032"/>
                </a:lnTo>
                <a:lnTo>
                  <a:pt x="26362" y="513651"/>
                </a:lnTo>
                <a:lnTo>
                  <a:pt x="54971" y="532935"/>
                </a:lnTo>
                <a:lnTo>
                  <a:pt x="90004" y="540003"/>
                </a:lnTo>
                <a:lnTo>
                  <a:pt x="2286000" y="540003"/>
                </a:lnTo>
                <a:lnTo>
                  <a:pt x="2321018" y="532935"/>
                </a:lnTo>
                <a:lnTo>
                  <a:pt x="2349642" y="513651"/>
                </a:lnTo>
                <a:lnTo>
                  <a:pt x="2368956" y="485032"/>
                </a:lnTo>
                <a:lnTo>
                  <a:pt x="2376043" y="449960"/>
                </a:lnTo>
                <a:lnTo>
                  <a:pt x="2376043" y="90042"/>
                </a:lnTo>
                <a:lnTo>
                  <a:pt x="2368956" y="54971"/>
                </a:lnTo>
                <a:lnTo>
                  <a:pt x="2349642" y="26352"/>
                </a:lnTo>
                <a:lnTo>
                  <a:pt x="2321018" y="7068"/>
                </a:lnTo>
                <a:lnTo>
                  <a:pt x="2286000" y="0"/>
                </a:lnTo>
                <a:close/>
              </a:path>
            </a:pathLst>
          </a:custGeom>
          <a:solidFill>
            <a:srgbClr val="5A31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4"/>
          <p:cNvSpPr txBox="1">
            <a:spLocks noGrp="1"/>
          </p:cNvSpPr>
          <p:nvPr>
            <p:ph type="title"/>
          </p:nvPr>
        </p:nvSpPr>
        <p:spPr>
          <a:xfrm>
            <a:off x="716991" y="141809"/>
            <a:ext cx="316569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solidFill>
                  <a:schemeClr val="bg1"/>
                </a:solidFill>
              </a:rPr>
              <a:t>森林</a:t>
            </a:r>
            <a:r>
              <a:rPr sz="2800" spc="-10" dirty="0">
                <a:solidFill>
                  <a:schemeClr val="bg1"/>
                </a:solidFill>
              </a:rPr>
              <a:t>的</a:t>
            </a:r>
            <a:r>
              <a:rPr sz="2800" spc="-5" dirty="0">
                <a:solidFill>
                  <a:schemeClr val="bg1"/>
                </a:solidFill>
              </a:rPr>
              <a:t>定</a:t>
            </a:r>
            <a:r>
              <a:rPr sz="2800" spc="-10" dirty="0">
                <a:solidFill>
                  <a:schemeClr val="bg1"/>
                </a:solidFill>
              </a:rPr>
              <a:t>义</a:t>
            </a:r>
          </a:p>
        </p:txBody>
      </p:sp>
    </p:spTree>
    <p:extLst>
      <p:ext uri="{BB962C8B-B14F-4D97-AF65-F5344CB8AC3E}">
        <p14:creationId xmlns:p14="http://schemas.microsoft.com/office/powerpoint/2010/main" val="9103693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48643" y="2017267"/>
            <a:ext cx="152400" cy="25355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algn="just">
              <a:lnSpc>
                <a:spcPts val="1000"/>
              </a:lnSpc>
              <a:spcBef>
                <a:spcPts val="2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数 据 结 构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880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（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从 概 念 到 实 现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975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640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清 华 大 学 出 版 社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10969" y="1060196"/>
            <a:ext cx="98869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285A31"/>
                </a:solidFill>
                <a:latin typeface="微软雅黑"/>
                <a:cs typeface="微软雅黑"/>
              </a:rPr>
              <a:t>森林的遍历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：按照某种</a:t>
            </a:r>
            <a:r>
              <a:rPr sz="2800" spc="-5" dirty="0">
                <a:solidFill>
                  <a:srgbClr val="B42C2C"/>
                </a:solidFill>
                <a:latin typeface="微软雅黑"/>
                <a:cs typeface="微软雅黑"/>
              </a:rPr>
              <a:t>次序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依次遍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历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构成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森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林的</a:t>
            </a:r>
            <a:r>
              <a:rPr sz="2800" spc="-155" dirty="0">
                <a:solidFill>
                  <a:srgbClr val="404040"/>
                </a:solidFill>
                <a:latin typeface="微软雅黑"/>
                <a:cs typeface="微软雅黑"/>
              </a:rPr>
              <a:t> </a:t>
            </a:r>
            <a:r>
              <a:rPr sz="2800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m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（</a:t>
            </a:r>
            <a:r>
              <a:rPr sz="2800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m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≥0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）棵树</a:t>
            </a:r>
            <a:endParaRPr sz="2800">
              <a:latin typeface="微软雅黑"/>
              <a:cs typeface="微软雅黑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40511" y="1128141"/>
            <a:ext cx="2708275" cy="2896235"/>
            <a:chOff x="840511" y="1128141"/>
            <a:chExt cx="2708275" cy="2896235"/>
          </a:xfrm>
        </p:grpSpPr>
        <p:sp>
          <p:nvSpPr>
            <p:cNvPr id="7" name="object 7"/>
            <p:cNvSpPr/>
            <p:nvPr/>
          </p:nvSpPr>
          <p:spPr>
            <a:xfrm>
              <a:off x="886790" y="1128141"/>
              <a:ext cx="386080" cy="387985"/>
            </a:xfrm>
            <a:custGeom>
              <a:avLst/>
              <a:gdLst/>
              <a:ahLst/>
              <a:cxnLst/>
              <a:rect l="l" t="t" r="r" b="b"/>
              <a:pathLst>
                <a:path w="386080" h="387984">
                  <a:moveTo>
                    <a:pt x="216966" y="385825"/>
                  </a:moveTo>
                  <a:lnTo>
                    <a:pt x="208203" y="385825"/>
                  </a:lnTo>
                  <a:lnTo>
                    <a:pt x="210388" y="387985"/>
                  </a:lnTo>
                  <a:lnTo>
                    <a:pt x="214769" y="387985"/>
                  </a:lnTo>
                  <a:lnTo>
                    <a:pt x="216966" y="385825"/>
                  </a:lnTo>
                  <a:close/>
                </a:path>
                <a:path w="386080" h="387984">
                  <a:moveTo>
                    <a:pt x="109575" y="123444"/>
                  </a:moveTo>
                  <a:lnTo>
                    <a:pt x="51776" y="134762"/>
                  </a:lnTo>
                  <a:lnTo>
                    <a:pt x="2197" y="167512"/>
                  </a:lnTo>
                  <a:lnTo>
                    <a:pt x="0" y="171958"/>
                  </a:lnTo>
                  <a:lnTo>
                    <a:pt x="0" y="176403"/>
                  </a:lnTo>
                  <a:lnTo>
                    <a:pt x="2197" y="180721"/>
                  </a:lnTo>
                  <a:lnTo>
                    <a:pt x="206006" y="385825"/>
                  </a:lnTo>
                  <a:lnTo>
                    <a:pt x="219163" y="385825"/>
                  </a:lnTo>
                  <a:lnTo>
                    <a:pt x="242890" y="353067"/>
                  </a:lnTo>
                  <a:lnTo>
                    <a:pt x="257784" y="315785"/>
                  </a:lnTo>
                  <a:lnTo>
                    <a:pt x="263230" y="276026"/>
                  </a:lnTo>
                  <a:lnTo>
                    <a:pt x="258610" y="235838"/>
                  </a:lnTo>
                  <a:lnTo>
                    <a:pt x="317779" y="176403"/>
                  </a:lnTo>
                  <a:lnTo>
                    <a:pt x="352278" y="176403"/>
                  </a:lnTo>
                  <a:lnTo>
                    <a:pt x="383463" y="143256"/>
                  </a:lnTo>
                  <a:lnTo>
                    <a:pt x="385749" y="141097"/>
                  </a:lnTo>
                  <a:lnTo>
                    <a:pt x="385749" y="136651"/>
                  </a:lnTo>
                  <a:lnTo>
                    <a:pt x="383463" y="134493"/>
                  </a:lnTo>
                  <a:lnTo>
                    <a:pt x="381330" y="134493"/>
                  </a:lnTo>
                  <a:lnTo>
                    <a:pt x="374764" y="127888"/>
                  </a:lnTo>
                  <a:lnTo>
                    <a:pt x="151218" y="127888"/>
                  </a:lnTo>
                  <a:lnTo>
                    <a:pt x="141324" y="126283"/>
                  </a:lnTo>
                  <a:lnTo>
                    <a:pt x="131221" y="124856"/>
                  </a:lnTo>
                  <a:lnTo>
                    <a:pt x="120706" y="123834"/>
                  </a:lnTo>
                  <a:lnTo>
                    <a:pt x="109575" y="123444"/>
                  </a:lnTo>
                  <a:close/>
                </a:path>
                <a:path w="386080" h="387984">
                  <a:moveTo>
                    <a:pt x="352278" y="176403"/>
                  </a:moveTo>
                  <a:lnTo>
                    <a:pt x="317779" y="176403"/>
                  </a:lnTo>
                  <a:lnTo>
                    <a:pt x="328739" y="187451"/>
                  </a:lnTo>
                  <a:lnTo>
                    <a:pt x="333121" y="189611"/>
                  </a:lnTo>
                  <a:lnTo>
                    <a:pt x="337502" y="189611"/>
                  </a:lnTo>
                  <a:lnTo>
                    <a:pt x="341884" y="187451"/>
                  </a:lnTo>
                  <a:lnTo>
                    <a:pt x="352278" y="176403"/>
                  </a:lnTo>
                  <a:close/>
                </a:path>
                <a:path w="386080" h="387984">
                  <a:moveTo>
                    <a:pt x="249847" y="0"/>
                  </a:moveTo>
                  <a:lnTo>
                    <a:pt x="243268" y="0"/>
                  </a:lnTo>
                  <a:lnTo>
                    <a:pt x="241071" y="4445"/>
                  </a:lnTo>
                  <a:lnTo>
                    <a:pt x="199440" y="44069"/>
                  </a:lnTo>
                  <a:lnTo>
                    <a:pt x="197243" y="46355"/>
                  </a:lnTo>
                  <a:lnTo>
                    <a:pt x="197243" y="55118"/>
                  </a:lnTo>
                  <a:lnTo>
                    <a:pt x="199440" y="57276"/>
                  </a:lnTo>
                  <a:lnTo>
                    <a:pt x="210388" y="68325"/>
                  </a:lnTo>
                  <a:lnTo>
                    <a:pt x="151218" y="127888"/>
                  </a:lnTo>
                  <a:lnTo>
                    <a:pt x="374764" y="127888"/>
                  </a:lnTo>
                  <a:lnTo>
                    <a:pt x="252031" y="4445"/>
                  </a:lnTo>
                  <a:lnTo>
                    <a:pt x="249847" y="0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0511" y="1390015"/>
              <a:ext cx="170891" cy="17018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312033" y="3397630"/>
              <a:ext cx="0" cy="612140"/>
            </a:xfrm>
            <a:custGeom>
              <a:avLst/>
              <a:gdLst/>
              <a:ahLst/>
              <a:cxnLst/>
              <a:rect l="l" t="t" r="r" b="b"/>
              <a:pathLst>
                <a:path h="612139">
                  <a:moveTo>
                    <a:pt x="0" y="0"/>
                  </a:moveTo>
                  <a:lnTo>
                    <a:pt x="0" y="612013"/>
                  </a:lnTo>
                </a:path>
              </a:pathLst>
            </a:custGeom>
            <a:ln w="28575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02356" y="2953639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215899" y="0"/>
                  </a:moveTo>
                  <a:lnTo>
                    <a:pt x="166391" y="5701"/>
                  </a:lnTo>
                  <a:lnTo>
                    <a:pt x="120946" y="21941"/>
                  </a:lnTo>
                  <a:lnTo>
                    <a:pt x="80859" y="47426"/>
                  </a:lnTo>
                  <a:lnTo>
                    <a:pt x="47426" y="80859"/>
                  </a:lnTo>
                  <a:lnTo>
                    <a:pt x="21941" y="120946"/>
                  </a:lnTo>
                  <a:lnTo>
                    <a:pt x="5701" y="166391"/>
                  </a:lnTo>
                  <a:lnTo>
                    <a:pt x="0" y="215900"/>
                  </a:lnTo>
                  <a:lnTo>
                    <a:pt x="5701" y="265455"/>
                  </a:lnTo>
                  <a:lnTo>
                    <a:pt x="21941" y="310934"/>
                  </a:lnTo>
                  <a:lnTo>
                    <a:pt x="47426" y="351043"/>
                  </a:lnTo>
                  <a:lnTo>
                    <a:pt x="80859" y="384490"/>
                  </a:lnTo>
                  <a:lnTo>
                    <a:pt x="120946" y="409982"/>
                  </a:lnTo>
                  <a:lnTo>
                    <a:pt x="166391" y="426225"/>
                  </a:lnTo>
                  <a:lnTo>
                    <a:pt x="215899" y="431926"/>
                  </a:lnTo>
                  <a:lnTo>
                    <a:pt x="265455" y="426225"/>
                  </a:lnTo>
                  <a:lnTo>
                    <a:pt x="310934" y="409982"/>
                  </a:lnTo>
                  <a:lnTo>
                    <a:pt x="351043" y="384490"/>
                  </a:lnTo>
                  <a:lnTo>
                    <a:pt x="384490" y="351043"/>
                  </a:lnTo>
                  <a:lnTo>
                    <a:pt x="409982" y="310934"/>
                  </a:lnTo>
                  <a:lnTo>
                    <a:pt x="426225" y="265455"/>
                  </a:lnTo>
                  <a:lnTo>
                    <a:pt x="431927" y="215900"/>
                  </a:lnTo>
                  <a:lnTo>
                    <a:pt x="426225" y="166391"/>
                  </a:lnTo>
                  <a:lnTo>
                    <a:pt x="409982" y="120946"/>
                  </a:lnTo>
                  <a:lnTo>
                    <a:pt x="384490" y="80859"/>
                  </a:lnTo>
                  <a:lnTo>
                    <a:pt x="351043" y="47426"/>
                  </a:lnTo>
                  <a:lnTo>
                    <a:pt x="310934" y="21941"/>
                  </a:lnTo>
                  <a:lnTo>
                    <a:pt x="265455" y="5701"/>
                  </a:lnTo>
                  <a:lnTo>
                    <a:pt x="215899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02356" y="2953639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5900"/>
                  </a:moveTo>
                  <a:lnTo>
                    <a:pt x="5701" y="166391"/>
                  </a:lnTo>
                  <a:lnTo>
                    <a:pt x="21941" y="120946"/>
                  </a:lnTo>
                  <a:lnTo>
                    <a:pt x="47426" y="80859"/>
                  </a:lnTo>
                  <a:lnTo>
                    <a:pt x="80859" y="47426"/>
                  </a:lnTo>
                  <a:lnTo>
                    <a:pt x="120946" y="21941"/>
                  </a:lnTo>
                  <a:lnTo>
                    <a:pt x="166391" y="5701"/>
                  </a:lnTo>
                  <a:lnTo>
                    <a:pt x="215899" y="0"/>
                  </a:lnTo>
                  <a:lnTo>
                    <a:pt x="265455" y="5701"/>
                  </a:lnTo>
                  <a:lnTo>
                    <a:pt x="310934" y="21941"/>
                  </a:lnTo>
                  <a:lnTo>
                    <a:pt x="351043" y="47426"/>
                  </a:lnTo>
                  <a:lnTo>
                    <a:pt x="384490" y="80859"/>
                  </a:lnTo>
                  <a:lnTo>
                    <a:pt x="409982" y="120946"/>
                  </a:lnTo>
                  <a:lnTo>
                    <a:pt x="426225" y="166391"/>
                  </a:lnTo>
                  <a:lnTo>
                    <a:pt x="431927" y="215900"/>
                  </a:lnTo>
                  <a:lnTo>
                    <a:pt x="426225" y="265455"/>
                  </a:lnTo>
                  <a:lnTo>
                    <a:pt x="409982" y="310934"/>
                  </a:lnTo>
                  <a:lnTo>
                    <a:pt x="384490" y="351043"/>
                  </a:lnTo>
                  <a:lnTo>
                    <a:pt x="351043" y="384490"/>
                  </a:lnTo>
                  <a:lnTo>
                    <a:pt x="310934" y="409982"/>
                  </a:lnTo>
                  <a:lnTo>
                    <a:pt x="265455" y="426225"/>
                  </a:lnTo>
                  <a:lnTo>
                    <a:pt x="215899" y="431926"/>
                  </a:lnTo>
                  <a:lnTo>
                    <a:pt x="166391" y="426225"/>
                  </a:lnTo>
                  <a:lnTo>
                    <a:pt x="120946" y="409982"/>
                  </a:lnTo>
                  <a:lnTo>
                    <a:pt x="80859" y="384490"/>
                  </a:lnTo>
                  <a:lnTo>
                    <a:pt x="47426" y="351043"/>
                  </a:lnTo>
                  <a:lnTo>
                    <a:pt x="21941" y="310934"/>
                  </a:lnTo>
                  <a:lnTo>
                    <a:pt x="5701" y="265455"/>
                  </a:lnTo>
                  <a:lnTo>
                    <a:pt x="0" y="215900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212973" y="2945384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088068" y="3973512"/>
            <a:ext cx="461009" cy="461009"/>
            <a:chOff x="3088068" y="3973512"/>
            <a:chExt cx="461009" cy="461009"/>
          </a:xfrm>
        </p:grpSpPr>
        <p:sp>
          <p:nvSpPr>
            <p:cNvPr id="14" name="object 14"/>
            <p:cNvSpPr/>
            <p:nvPr/>
          </p:nvSpPr>
          <p:spPr>
            <a:xfrm>
              <a:off x="3102355" y="3987800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215899" y="0"/>
                  </a:moveTo>
                  <a:lnTo>
                    <a:pt x="166391" y="5701"/>
                  </a:lnTo>
                  <a:lnTo>
                    <a:pt x="120946" y="21941"/>
                  </a:lnTo>
                  <a:lnTo>
                    <a:pt x="80859" y="47426"/>
                  </a:lnTo>
                  <a:lnTo>
                    <a:pt x="47426" y="80859"/>
                  </a:lnTo>
                  <a:lnTo>
                    <a:pt x="21941" y="120946"/>
                  </a:lnTo>
                  <a:lnTo>
                    <a:pt x="5701" y="166391"/>
                  </a:lnTo>
                  <a:lnTo>
                    <a:pt x="0" y="215900"/>
                  </a:lnTo>
                  <a:lnTo>
                    <a:pt x="5701" y="265455"/>
                  </a:lnTo>
                  <a:lnTo>
                    <a:pt x="21941" y="310934"/>
                  </a:lnTo>
                  <a:lnTo>
                    <a:pt x="47426" y="351043"/>
                  </a:lnTo>
                  <a:lnTo>
                    <a:pt x="80859" y="384490"/>
                  </a:lnTo>
                  <a:lnTo>
                    <a:pt x="120946" y="409982"/>
                  </a:lnTo>
                  <a:lnTo>
                    <a:pt x="166391" y="426225"/>
                  </a:lnTo>
                  <a:lnTo>
                    <a:pt x="215899" y="431926"/>
                  </a:lnTo>
                  <a:lnTo>
                    <a:pt x="265455" y="426225"/>
                  </a:lnTo>
                  <a:lnTo>
                    <a:pt x="310934" y="409982"/>
                  </a:lnTo>
                  <a:lnTo>
                    <a:pt x="351043" y="384490"/>
                  </a:lnTo>
                  <a:lnTo>
                    <a:pt x="384490" y="351043"/>
                  </a:lnTo>
                  <a:lnTo>
                    <a:pt x="409982" y="310934"/>
                  </a:lnTo>
                  <a:lnTo>
                    <a:pt x="426225" y="265455"/>
                  </a:lnTo>
                  <a:lnTo>
                    <a:pt x="431927" y="215900"/>
                  </a:lnTo>
                  <a:lnTo>
                    <a:pt x="426225" y="166391"/>
                  </a:lnTo>
                  <a:lnTo>
                    <a:pt x="409982" y="120946"/>
                  </a:lnTo>
                  <a:lnTo>
                    <a:pt x="384490" y="80859"/>
                  </a:lnTo>
                  <a:lnTo>
                    <a:pt x="351043" y="47426"/>
                  </a:lnTo>
                  <a:lnTo>
                    <a:pt x="310934" y="21941"/>
                  </a:lnTo>
                  <a:lnTo>
                    <a:pt x="265455" y="5701"/>
                  </a:lnTo>
                  <a:lnTo>
                    <a:pt x="215899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02355" y="3987800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5900"/>
                  </a:moveTo>
                  <a:lnTo>
                    <a:pt x="5701" y="166391"/>
                  </a:lnTo>
                  <a:lnTo>
                    <a:pt x="21941" y="120946"/>
                  </a:lnTo>
                  <a:lnTo>
                    <a:pt x="47426" y="80859"/>
                  </a:lnTo>
                  <a:lnTo>
                    <a:pt x="80859" y="47426"/>
                  </a:lnTo>
                  <a:lnTo>
                    <a:pt x="120946" y="21941"/>
                  </a:lnTo>
                  <a:lnTo>
                    <a:pt x="166391" y="5701"/>
                  </a:lnTo>
                  <a:lnTo>
                    <a:pt x="215899" y="0"/>
                  </a:lnTo>
                  <a:lnTo>
                    <a:pt x="265455" y="5701"/>
                  </a:lnTo>
                  <a:lnTo>
                    <a:pt x="310934" y="21941"/>
                  </a:lnTo>
                  <a:lnTo>
                    <a:pt x="351043" y="47426"/>
                  </a:lnTo>
                  <a:lnTo>
                    <a:pt x="384490" y="80859"/>
                  </a:lnTo>
                  <a:lnTo>
                    <a:pt x="409982" y="120946"/>
                  </a:lnTo>
                  <a:lnTo>
                    <a:pt x="426225" y="166391"/>
                  </a:lnTo>
                  <a:lnTo>
                    <a:pt x="431927" y="215900"/>
                  </a:lnTo>
                  <a:lnTo>
                    <a:pt x="426225" y="265455"/>
                  </a:lnTo>
                  <a:lnTo>
                    <a:pt x="409982" y="310934"/>
                  </a:lnTo>
                  <a:lnTo>
                    <a:pt x="384490" y="351043"/>
                  </a:lnTo>
                  <a:lnTo>
                    <a:pt x="351043" y="384490"/>
                  </a:lnTo>
                  <a:lnTo>
                    <a:pt x="310934" y="409982"/>
                  </a:lnTo>
                  <a:lnTo>
                    <a:pt x="265455" y="426225"/>
                  </a:lnTo>
                  <a:lnTo>
                    <a:pt x="215899" y="431926"/>
                  </a:lnTo>
                  <a:lnTo>
                    <a:pt x="166391" y="426225"/>
                  </a:lnTo>
                  <a:lnTo>
                    <a:pt x="120946" y="409982"/>
                  </a:lnTo>
                  <a:lnTo>
                    <a:pt x="80859" y="384490"/>
                  </a:lnTo>
                  <a:lnTo>
                    <a:pt x="47426" y="351043"/>
                  </a:lnTo>
                  <a:lnTo>
                    <a:pt x="21941" y="310934"/>
                  </a:lnTo>
                  <a:lnTo>
                    <a:pt x="5701" y="265455"/>
                  </a:lnTo>
                  <a:lnTo>
                    <a:pt x="0" y="215900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212973" y="3979240"/>
            <a:ext cx="2120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840668" y="2939351"/>
            <a:ext cx="802640" cy="871855"/>
            <a:chOff x="4840668" y="2939351"/>
            <a:chExt cx="802640" cy="871855"/>
          </a:xfrm>
        </p:grpSpPr>
        <p:sp>
          <p:nvSpPr>
            <p:cNvPr id="18" name="object 18"/>
            <p:cNvSpPr/>
            <p:nvPr/>
          </p:nvSpPr>
          <p:spPr>
            <a:xfrm>
              <a:off x="4854955" y="3275711"/>
              <a:ext cx="382905" cy="521334"/>
            </a:xfrm>
            <a:custGeom>
              <a:avLst/>
              <a:gdLst/>
              <a:ahLst/>
              <a:cxnLst/>
              <a:rect l="l" t="t" r="r" b="b"/>
              <a:pathLst>
                <a:path w="382904" h="521335">
                  <a:moveTo>
                    <a:pt x="382397" y="0"/>
                  </a:moveTo>
                  <a:lnTo>
                    <a:pt x="0" y="520953"/>
                  </a:lnTo>
                </a:path>
              </a:pathLst>
            </a:custGeom>
            <a:ln w="28575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196712" y="2953639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216026" y="0"/>
                  </a:moveTo>
                  <a:lnTo>
                    <a:pt x="166511" y="5701"/>
                  </a:lnTo>
                  <a:lnTo>
                    <a:pt x="121048" y="21941"/>
                  </a:lnTo>
                  <a:lnTo>
                    <a:pt x="80936" y="47426"/>
                  </a:lnTo>
                  <a:lnTo>
                    <a:pt x="47476" y="80859"/>
                  </a:lnTo>
                  <a:lnTo>
                    <a:pt x="21966" y="120946"/>
                  </a:lnTo>
                  <a:lnTo>
                    <a:pt x="5708" y="166391"/>
                  </a:lnTo>
                  <a:lnTo>
                    <a:pt x="0" y="215900"/>
                  </a:lnTo>
                  <a:lnTo>
                    <a:pt x="5708" y="265455"/>
                  </a:lnTo>
                  <a:lnTo>
                    <a:pt x="21966" y="310934"/>
                  </a:lnTo>
                  <a:lnTo>
                    <a:pt x="47476" y="351043"/>
                  </a:lnTo>
                  <a:lnTo>
                    <a:pt x="80936" y="384490"/>
                  </a:lnTo>
                  <a:lnTo>
                    <a:pt x="121048" y="409982"/>
                  </a:lnTo>
                  <a:lnTo>
                    <a:pt x="166511" y="426225"/>
                  </a:lnTo>
                  <a:lnTo>
                    <a:pt x="216026" y="431926"/>
                  </a:lnTo>
                  <a:lnTo>
                    <a:pt x="265542" y="426225"/>
                  </a:lnTo>
                  <a:lnTo>
                    <a:pt x="311005" y="409982"/>
                  </a:lnTo>
                  <a:lnTo>
                    <a:pt x="351117" y="384490"/>
                  </a:lnTo>
                  <a:lnTo>
                    <a:pt x="384577" y="351043"/>
                  </a:lnTo>
                  <a:lnTo>
                    <a:pt x="410087" y="310934"/>
                  </a:lnTo>
                  <a:lnTo>
                    <a:pt x="426345" y="265455"/>
                  </a:lnTo>
                  <a:lnTo>
                    <a:pt x="432053" y="215900"/>
                  </a:lnTo>
                  <a:lnTo>
                    <a:pt x="426345" y="166391"/>
                  </a:lnTo>
                  <a:lnTo>
                    <a:pt x="410087" y="120946"/>
                  </a:lnTo>
                  <a:lnTo>
                    <a:pt x="384577" y="80859"/>
                  </a:lnTo>
                  <a:lnTo>
                    <a:pt x="351117" y="47426"/>
                  </a:lnTo>
                  <a:lnTo>
                    <a:pt x="311005" y="21941"/>
                  </a:lnTo>
                  <a:lnTo>
                    <a:pt x="265542" y="5701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196712" y="2953639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5900"/>
                  </a:moveTo>
                  <a:lnTo>
                    <a:pt x="5708" y="166391"/>
                  </a:lnTo>
                  <a:lnTo>
                    <a:pt x="21966" y="120946"/>
                  </a:lnTo>
                  <a:lnTo>
                    <a:pt x="47476" y="80859"/>
                  </a:lnTo>
                  <a:lnTo>
                    <a:pt x="80936" y="47426"/>
                  </a:lnTo>
                  <a:lnTo>
                    <a:pt x="121048" y="21941"/>
                  </a:lnTo>
                  <a:lnTo>
                    <a:pt x="166511" y="5701"/>
                  </a:lnTo>
                  <a:lnTo>
                    <a:pt x="216026" y="0"/>
                  </a:lnTo>
                  <a:lnTo>
                    <a:pt x="265542" y="5701"/>
                  </a:lnTo>
                  <a:lnTo>
                    <a:pt x="311005" y="21941"/>
                  </a:lnTo>
                  <a:lnTo>
                    <a:pt x="351117" y="47426"/>
                  </a:lnTo>
                  <a:lnTo>
                    <a:pt x="384577" y="80859"/>
                  </a:lnTo>
                  <a:lnTo>
                    <a:pt x="410087" y="120946"/>
                  </a:lnTo>
                  <a:lnTo>
                    <a:pt x="426345" y="166391"/>
                  </a:lnTo>
                  <a:lnTo>
                    <a:pt x="432053" y="215900"/>
                  </a:lnTo>
                  <a:lnTo>
                    <a:pt x="426345" y="265455"/>
                  </a:lnTo>
                  <a:lnTo>
                    <a:pt x="410087" y="310934"/>
                  </a:lnTo>
                  <a:lnTo>
                    <a:pt x="384577" y="351043"/>
                  </a:lnTo>
                  <a:lnTo>
                    <a:pt x="351117" y="384490"/>
                  </a:lnTo>
                  <a:lnTo>
                    <a:pt x="311005" y="409982"/>
                  </a:lnTo>
                  <a:lnTo>
                    <a:pt x="265542" y="426225"/>
                  </a:lnTo>
                  <a:lnTo>
                    <a:pt x="216026" y="431926"/>
                  </a:lnTo>
                  <a:lnTo>
                    <a:pt x="166511" y="426225"/>
                  </a:lnTo>
                  <a:lnTo>
                    <a:pt x="121048" y="409982"/>
                  </a:lnTo>
                  <a:lnTo>
                    <a:pt x="80936" y="384490"/>
                  </a:lnTo>
                  <a:lnTo>
                    <a:pt x="47476" y="351043"/>
                  </a:lnTo>
                  <a:lnTo>
                    <a:pt x="21966" y="310934"/>
                  </a:lnTo>
                  <a:lnTo>
                    <a:pt x="5708" y="265455"/>
                  </a:lnTo>
                  <a:lnTo>
                    <a:pt x="0" y="215900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298440" y="2945384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469701" y="3736657"/>
            <a:ext cx="1894839" cy="461009"/>
            <a:chOff x="4469701" y="3736657"/>
            <a:chExt cx="1894839" cy="461009"/>
          </a:xfrm>
        </p:grpSpPr>
        <p:sp>
          <p:nvSpPr>
            <p:cNvPr id="23" name="object 23"/>
            <p:cNvSpPr/>
            <p:nvPr/>
          </p:nvSpPr>
          <p:spPr>
            <a:xfrm>
              <a:off x="5200904" y="3750945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216026" y="0"/>
                  </a:moveTo>
                  <a:lnTo>
                    <a:pt x="166511" y="5708"/>
                  </a:lnTo>
                  <a:lnTo>
                    <a:pt x="121048" y="21966"/>
                  </a:lnTo>
                  <a:lnTo>
                    <a:pt x="80936" y="47476"/>
                  </a:lnTo>
                  <a:lnTo>
                    <a:pt x="47476" y="80936"/>
                  </a:lnTo>
                  <a:lnTo>
                    <a:pt x="21966" y="121048"/>
                  </a:lnTo>
                  <a:lnTo>
                    <a:pt x="5708" y="166511"/>
                  </a:lnTo>
                  <a:lnTo>
                    <a:pt x="0" y="216026"/>
                  </a:lnTo>
                  <a:lnTo>
                    <a:pt x="5708" y="265542"/>
                  </a:lnTo>
                  <a:lnTo>
                    <a:pt x="21966" y="311005"/>
                  </a:lnTo>
                  <a:lnTo>
                    <a:pt x="47476" y="351117"/>
                  </a:lnTo>
                  <a:lnTo>
                    <a:pt x="80936" y="384577"/>
                  </a:lnTo>
                  <a:lnTo>
                    <a:pt x="121048" y="410087"/>
                  </a:lnTo>
                  <a:lnTo>
                    <a:pt x="166511" y="426345"/>
                  </a:lnTo>
                  <a:lnTo>
                    <a:pt x="216026" y="432053"/>
                  </a:lnTo>
                  <a:lnTo>
                    <a:pt x="265542" y="426345"/>
                  </a:lnTo>
                  <a:lnTo>
                    <a:pt x="311005" y="410087"/>
                  </a:lnTo>
                  <a:lnTo>
                    <a:pt x="351117" y="384577"/>
                  </a:lnTo>
                  <a:lnTo>
                    <a:pt x="384577" y="351117"/>
                  </a:lnTo>
                  <a:lnTo>
                    <a:pt x="410087" y="311005"/>
                  </a:lnTo>
                  <a:lnTo>
                    <a:pt x="426345" y="265542"/>
                  </a:lnTo>
                  <a:lnTo>
                    <a:pt x="432054" y="216026"/>
                  </a:lnTo>
                  <a:lnTo>
                    <a:pt x="426345" y="166511"/>
                  </a:lnTo>
                  <a:lnTo>
                    <a:pt x="410087" y="121048"/>
                  </a:lnTo>
                  <a:lnTo>
                    <a:pt x="384577" y="80936"/>
                  </a:lnTo>
                  <a:lnTo>
                    <a:pt x="351117" y="47476"/>
                  </a:lnTo>
                  <a:lnTo>
                    <a:pt x="311005" y="21966"/>
                  </a:lnTo>
                  <a:lnTo>
                    <a:pt x="265542" y="5708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200904" y="3750945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6026"/>
                  </a:moveTo>
                  <a:lnTo>
                    <a:pt x="5708" y="166511"/>
                  </a:lnTo>
                  <a:lnTo>
                    <a:pt x="21966" y="121048"/>
                  </a:lnTo>
                  <a:lnTo>
                    <a:pt x="47476" y="80936"/>
                  </a:lnTo>
                  <a:lnTo>
                    <a:pt x="80936" y="47476"/>
                  </a:lnTo>
                  <a:lnTo>
                    <a:pt x="121048" y="21966"/>
                  </a:lnTo>
                  <a:lnTo>
                    <a:pt x="166511" y="5708"/>
                  </a:lnTo>
                  <a:lnTo>
                    <a:pt x="216026" y="0"/>
                  </a:lnTo>
                  <a:lnTo>
                    <a:pt x="265542" y="5708"/>
                  </a:lnTo>
                  <a:lnTo>
                    <a:pt x="311005" y="21966"/>
                  </a:lnTo>
                  <a:lnTo>
                    <a:pt x="351117" y="47476"/>
                  </a:lnTo>
                  <a:lnTo>
                    <a:pt x="384577" y="80936"/>
                  </a:lnTo>
                  <a:lnTo>
                    <a:pt x="410087" y="121048"/>
                  </a:lnTo>
                  <a:lnTo>
                    <a:pt x="426345" y="166511"/>
                  </a:lnTo>
                  <a:lnTo>
                    <a:pt x="432054" y="216026"/>
                  </a:lnTo>
                  <a:lnTo>
                    <a:pt x="426345" y="265542"/>
                  </a:lnTo>
                  <a:lnTo>
                    <a:pt x="410087" y="311005"/>
                  </a:lnTo>
                  <a:lnTo>
                    <a:pt x="384577" y="351117"/>
                  </a:lnTo>
                  <a:lnTo>
                    <a:pt x="351117" y="384577"/>
                  </a:lnTo>
                  <a:lnTo>
                    <a:pt x="311005" y="410087"/>
                  </a:lnTo>
                  <a:lnTo>
                    <a:pt x="265542" y="426345"/>
                  </a:lnTo>
                  <a:lnTo>
                    <a:pt x="216026" y="432053"/>
                  </a:lnTo>
                  <a:lnTo>
                    <a:pt x="166511" y="426345"/>
                  </a:lnTo>
                  <a:lnTo>
                    <a:pt x="121048" y="410087"/>
                  </a:lnTo>
                  <a:lnTo>
                    <a:pt x="80936" y="384577"/>
                  </a:lnTo>
                  <a:lnTo>
                    <a:pt x="47476" y="351117"/>
                  </a:lnTo>
                  <a:lnTo>
                    <a:pt x="21966" y="311005"/>
                  </a:lnTo>
                  <a:lnTo>
                    <a:pt x="5708" y="265542"/>
                  </a:lnTo>
                  <a:lnTo>
                    <a:pt x="0" y="216026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917946" y="3750945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215900" y="0"/>
                  </a:moveTo>
                  <a:lnTo>
                    <a:pt x="166391" y="5708"/>
                  </a:lnTo>
                  <a:lnTo>
                    <a:pt x="120946" y="21966"/>
                  </a:lnTo>
                  <a:lnTo>
                    <a:pt x="80859" y="47476"/>
                  </a:lnTo>
                  <a:lnTo>
                    <a:pt x="47426" y="80936"/>
                  </a:lnTo>
                  <a:lnTo>
                    <a:pt x="21941" y="121048"/>
                  </a:lnTo>
                  <a:lnTo>
                    <a:pt x="5701" y="166511"/>
                  </a:lnTo>
                  <a:lnTo>
                    <a:pt x="0" y="216026"/>
                  </a:lnTo>
                  <a:lnTo>
                    <a:pt x="5701" y="265542"/>
                  </a:lnTo>
                  <a:lnTo>
                    <a:pt x="21941" y="311005"/>
                  </a:lnTo>
                  <a:lnTo>
                    <a:pt x="47426" y="351117"/>
                  </a:lnTo>
                  <a:lnTo>
                    <a:pt x="80859" y="384577"/>
                  </a:lnTo>
                  <a:lnTo>
                    <a:pt x="120946" y="410087"/>
                  </a:lnTo>
                  <a:lnTo>
                    <a:pt x="166391" y="426345"/>
                  </a:lnTo>
                  <a:lnTo>
                    <a:pt x="215900" y="432053"/>
                  </a:lnTo>
                  <a:lnTo>
                    <a:pt x="265455" y="426345"/>
                  </a:lnTo>
                  <a:lnTo>
                    <a:pt x="310934" y="410087"/>
                  </a:lnTo>
                  <a:lnTo>
                    <a:pt x="351043" y="384577"/>
                  </a:lnTo>
                  <a:lnTo>
                    <a:pt x="384490" y="351117"/>
                  </a:lnTo>
                  <a:lnTo>
                    <a:pt x="409982" y="311005"/>
                  </a:lnTo>
                  <a:lnTo>
                    <a:pt x="426225" y="265542"/>
                  </a:lnTo>
                  <a:lnTo>
                    <a:pt x="431926" y="216026"/>
                  </a:lnTo>
                  <a:lnTo>
                    <a:pt x="426225" y="166511"/>
                  </a:lnTo>
                  <a:lnTo>
                    <a:pt x="409982" y="121048"/>
                  </a:lnTo>
                  <a:lnTo>
                    <a:pt x="384490" y="80936"/>
                  </a:lnTo>
                  <a:lnTo>
                    <a:pt x="351043" y="47476"/>
                  </a:lnTo>
                  <a:lnTo>
                    <a:pt x="310934" y="21966"/>
                  </a:lnTo>
                  <a:lnTo>
                    <a:pt x="265455" y="5708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917946" y="3750945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6026"/>
                  </a:moveTo>
                  <a:lnTo>
                    <a:pt x="5701" y="166511"/>
                  </a:lnTo>
                  <a:lnTo>
                    <a:pt x="21941" y="121048"/>
                  </a:lnTo>
                  <a:lnTo>
                    <a:pt x="47426" y="80936"/>
                  </a:lnTo>
                  <a:lnTo>
                    <a:pt x="80859" y="47476"/>
                  </a:lnTo>
                  <a:lnTo>
                    <a:pt x="120946" y="21966"/>
                  </a:lnTo>
                  <a:lnTo>
                    <a:pt x="166391" y="5708"/>
                  </a:lnTo>
                  <a:lnTo>
                    <a:pt x="215900" y="0"/>
                  </a:lnTo>
                  <a:lnTo>
                    <a:pt x="265455" y="5708"/>
                  </a:lnTo>
                  <a:lnTo>
                    <a:pt x="310934" y="21966"/>
                  </a:lnTo>
                  <a:lnTo>
                    <a:pt x="351043" y="47476"/>
                  </a:lnTo>
                  <a:lnTo>
                    <a:pt x="384490" y="80936"/>
                  </a:lnTo>
                  <a:lnTo>
                    <a:pt x="409982" y="121048"/>
                  </a:lnTo>
                  <a:lnTo>
                    <a:pt x="426225" y="166511"/>
                  </a:lnTo>
                  <a:lnTo>
                    <a:pt x="431926" y="216026"/>
                  </a:lnTo>
                  <a:lnTo>
                    <a:pt x="426225" y="265542"/>
                  </a:lnTo>
                  <a:lnTo>
                    <a:pt x="409982" y="311005"/>
                  </a:lnTo>
                  <a:lnTo>
                    <a:pt x="384490" y="351117"/>
                  </a:lnTo>
                  <a:lnTo>
                    <a:pt x="351043" y="384577"/>
                  </a:lnTo>
                  <a:lnTo>
                    <a:pt x="310934" y="410087"/>
                  </a:lnTo>
                  <a:lnTo>
                    <a:pt x="265455" y="426345"/>
                  </a:lnTo>
                  <a:lnTo>
                    <a:pt x="215900" y="432053"/>
                  </a:lnTo>
                  <a:lnTo>
                    <a:pt x="166391" y="426345"/>
                  </a:lnTo>
                  <a:lnTo>
                    <a:pt x="120946" y="410087"/>
                  </a:lnTo>
                  <a:lnTo>
                    <a:pt x="80859" y="384577"/>
                  </a:lnTo>
                  <a:lnTo>
                    <a:pt x="47426" y="351117"/>
                  </a:lnTo>
                  <a:lnTo>
                    <a:pt x="21941" y="311005"/>
                  </a:lnTo>
                  <a:lnTo>
                    <a:pt x="5701" y="265542"/>
                  </a:lnTo>
                  <a:lnTo>
                    <a:pt x="0" y="216026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83989" y="3750945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216026" y="0"/>
                  </a:moveTo>
                  <a:lnTo>
                    <a:pt x="166471" y="5708"/>
                  </a:lnTo>
                  <a:lnTo>
                    <a:pt x="120992" y="21966"/>
                  </a:lnTo>
                  <a:lnTo>
                    <a:pt x="80883" y="47476"/>
                  </a:lnTo>
                  <a:lnTo>
                    <a:pt x="47436" y="80936"/>
                  </a:lnTo>
                  <a:lnTo>
                    <a:pt x="21944" y="121048"/>
                  </a:lnTo>
                  <a:lnTo>
                    <a:pt x="5701" y="166511"/>
                  </a:lnTo>
                  <a:lnTo>
                    <a:pt x="0" y="216026"/>
                  </a:lnTo>
                  <a:lnTo>
                    <a:pt x="5701" y="265542"/>
                  </a:lnTo>
                  <a:lnTo>
                    <a:pt x="21944" y="311005"/>
                  </a:lnTo>
                  <a:lnTo>
                    <a:pt x="47436" y="351117"/>
                  </a:lnTo>
                  <a:lnTo>
                    <a:pt x="80883" y="384577"/>
                  </a:lnTo>
                  <a:lnTo>
                    <a:pt x="120992" y="410087"/>
                  </a:lnTo>
                  <a:lnTo>
                    <a:pt x="166471" y="426345"/>
                  </a:lnTo>
                  <a:lnTo>
                    <a:pt x="216026" y="432053"/>
                  </a:lnTo>
                  <a:lnTo>
                    <a:pt x="265535" y="426345"/>
                  </a:lnTo>
                  <a:lnTo>
                    <a:pt x="310980" y="410087"/>
                  </a:lnTo>
                  <a:lnTo>
                    <a:pt x="351067" y="384577"/>
                  </a:lnTo>
                  <a:lnTo>
                    <a:pt x="384500" y="351117"/>
                  </a:lnTo>
                  <a:lnTo>
                    <a:pt x="409985" y="311005"/>
                  </a:lnTo>
                  <a:lnTo>
                    <a:pt x="426225" y="265542"/>
                  </a:lnTo>
                  <a:lnTo>
                    <a:pt x="431926" y="216026"/>
                  </a:lnTo>
                  <a:lnTo>
                    <a:pt x="426225" y="166511"/>
                  </a:lnTo>
                  <a:lnTo>
                    <a:pt x="409985" y="121048"/>
                  </a:lnTo>
                  <a:lnTo>
                    <a:pt x="384500" y="80936"/>
                  </a:lnTo>
                  <a:lnTo>
                    <a:pt x="351067" y="47476"/>
                  </a:lnTo>
                  <a:lnTo>
                    <a:pt x="310980" y="21966"/>
                  </a:lnTo>
                  <a:lnTo>
                    <a:pt x="265535" y="5708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483989" y="3750945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6026"/>
                  </a:moveTo>
                  <a:lnTo>
                    <a:pt x="5701" y="166511"/>
                  </a:lnTo>
                  <a:lnTo>
                    <a:pt x="21944" y="121048"/>
                  </a:lnTo>
                  <a:lnTo>
                    <a:pt x="47436" y="80936"/>
                  </a:lnTo>
                  <a:lnTo>
                    <a:pt x="80883" y="47476"/>
                  </a:lnTo>
                  <a:lnTo>
                    <a:pt x="120992" y="21966"/>
                  </a:lnTo>
                  <a:lnTo>
                    <a:pt x="166471" y="5708"/>
                  </a:lnTo>
                  <a:lnTo>
                    <a:pt x="216026" y="0"/>
                  </a:lnTo>
                  <a:lnTo>
                    <a:pt x="265535" y="5708"/>
                  </a:lnTo>
                  <a:lnTo>
                    <a:pt x="310980" y="21966"/>
                  </a:lnTo>
                  <a:lnTo>
                    <a:pt x="351067" y="47476"/>
                  </a:lnTo>
                  <a:lnTo>
                    <a:pt x="384500" y="80936"/>
                  </a:lnTo>
                  <a:lnTo>
                    <a:pt x="409985" y="121048"/>
                  </a:lnTo>
                  <a:lnTo>
                    <a:pt x="426225" y="166511"/>
                  </a:lnTo>
                  <a:lnTo>
                    <a:pt x="431926" y="216026"/>
                  </a:lnTo>
                  <a:lnTo>
                    <a:pt x="426225" y="265542"/>
                  </a:lnTo>
                  <a:lnTo>
                    <a:pt x="409985" y="311005"/>
                  </a:lnTo>
                  <a:lnTo>
                    <a:pt x="384500" y="351117"/>
                  </a:lnTo>
                  <a:lnTo>
                    <a:pt x="351067" y="384577"/>
                  </a:lnTo>
                  <a:lnTo>
                    <a:pt x="310980" y="410087"/>
                  </a:lnTo>
                  <a:lnTo>
                    <a:pt x="265535" y="426345"/>
                  </a:lnTo>
                  <a:lnTo>
                    <a:pt x="216026" y="432053"/>
                  </a:lnTo>
                  <a:lnTo>
                    <a:pt x="166471" y="426345"/>
                  </a:lnTo>
                  <a:lnTo>
                    <a:pt x="120992" y="410087"/>
                  </a:lnTo>
                  <a:lnTo>
                    <a:pt x="80883" y="384577"/>
                  </a:lnTo>
                  <a:lnTo>
                    <a:pt x="47436" y="351117"/>
                  </a:lnTo>
                  <a:lnTo>
                    <a:pt x="21944" y="311005"/>
                  </a:lnTo>
                  <a:lnTo>
                    <a:pt x="5701" y="265542"/>
                  </a:lnTo>
                  <a:lnTo>
                    <a:pt x="0" y="216026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578222" y="3742766"/>
            <a:ext cx="166306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6125" algn="l"/>
                <a:tab pos="1463040" algn="l"/>
              </a:tabLst>
            </a:pPr>
            <a:r>
              <a:rPr sz="2400" i="1" dirty="0">
                <a:latin typeface="Times New Roman"/>
                <a:cs typeface="Times New Roman"/>
              </a:rPr>
              <a:t>D	E	F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402643" y="2939351"/>
            <a:ext cx="2715895" cy="888365"/>
            <a:chOff x="5402643" y="2939351"/>
            <a:chExt cx="2715895" cy="888365"/>
          </a:xfrm>
        </p:grpSpPr>
        <p:sp>
          <p:nvSpPr>
            <p:cNvPr id="31" name="object 31"/>
            <p:cNvSpPr/>
            <p:nvPr/>
          </p:nvSpPr>
          <p:spPr>
            <a:xfrm>
              <a:off x="5416930" y="3292094"/>
              <a:ext cx="2353945" cy="521334"/>
            </a:xfrm>
            <a:custGeom>
              <a:avLst/>
              <a:gdLst/>
              <a:ahLst/>
              <a:cxnLst/>
              <a:rect l="l" t="t" r="r" b="b"/>
              <a:pathLst>
                <a:path w="2353945" h="521335">
                  <a:moveTo>
                    <a:pt x="562229" y="520953"/>
                  </a:moveTo>
                  <a:lnTo>
                    <a:pt x="179832" y="0"/>
                  </a:lnTo>
                </a:path>
                <a:path w="2353945" h="521335">
                  <a:moveTo>
                    <a:pt x="0" y="93471"/>
                  </a:moveTo>
                  <a:lnTo>
                    <a:pt x="0" y="453516"/>
                  </a:lnTo>
                </a:path>
                <a:path w="2353945" h="521335">
                  <a:moveTo>
                    <a:pt x="2353437" y="29336"/>
                  </a:moveTo>
                  <a:lnTo>
                    <a:pt x="2065527" y="497331"/>
                  </a:lnTo>
                </a:path>
              </a:pathLst>
            </a:custGeom>
            <a:ln w="28575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671688" y="2953639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216026" y="0"/>
                  </a:moveTo>
                  <a:lnTo>
                    <a:pt x="166511" y="5701"/>
                  </a:lnTo>
                  <a:lnTo>
                    <a:pt x="121048" y="21941"/>
                  </a:lnTo>
                  <a:lnTo>
                    <a:pt x="80936" y="47426"/>
                  </a:lnTo>
                  <a:lnTo>
                    <a:pt x="47476" y="80859"/>
                  </a:lnTo>
                  <a:lnTo>
                    <a:pt x="21966" y="120946"/>
                  </a:lnTo>
                  <a:lnTo>
                    <a:pt x="5708" y="166391"/>
                  </a:lnTo>
                  <a:lnTo>
                    <a:pt x="0" y="215900"/>
                  </a:lnTo>
                  <a:lnTo>
                    <a:pt x="5708" y="265455"/>
                  </a:lnTo>
                  <a:lnTo>
                    <a:pt x="21966" y="310934"/>
                  </a:lnTo>
                  <a:lnTo>
                    <a:pt x="47476" y="351043"/>
                  </a:lnTo>
                  <a:lnTo>
                    <a:pt x="80936" y="384490"/>
                  </a:lnTo>
                  <a:lnTo>
                    <a:pt x="121048" y="409982"/>
                  </a:lnTo>
                  <a:lnTo>
                    <a:pt x="166511" y="426225"/>
                  </a:lnTo>
                  <a:lnTo>
                    <a:pt x="216026" y="431926"/>
                  </a:lnTo>
                  <a:lnTo>
                    <a:pt x="265582" y="426225"/>
                  </a:lnTo>
                  <a:lnTo>
                    <a:pt x="311061" y="409982"/>
                  </a:lnTo>
                  <a:lnTo>
                    <a:pt x="351170" y="384490"/>
                  </a:lnTo>
                  <a:lnTo>
                    <a:pt x="384617" y="351043"/>
                  </a:lnTo>
                  <a:lnTo>
                    <a:pt x="410109" y="310934"/>
                  </a:lnTo>
                  <a:lnTo>
                    <a:pt x="426352" y="265455"/>
                  </a:lnTo>
                  <a:lnTo>
                    <a:pt x="432053" y="215900"/>
                  </a:lnTo>
                  <a:lnTo>
                    <a:pt x="426352" y="166391"/>
                  </a:lnTo>
                  <a:lnTo>
                    <a:pt x="410109" y="120946"/>
                  </a:lnTo>
                  <a:lnTo>
                    <a:pt x="384617" y="80859"/>
                  </a:lnTo>
                  <a:lnTo>
                    <a:pt x="351170" y="47426"/>
                  </a:lnTo>
                  <a:lnTo>
                    <a:pt x="311061" y="21941"/>
                  </a:lnTo>
                  <a:lnTo>
                    <a:pt x="265582" y="5701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671688" y="2953639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0" y="215900"/>
                  </a:moveTo>
                  <a:lnTo>
                    <a:pt x="5708" y="166391"/>
                  </a:lnTo>
                  <a:lnTo>
                    <a:pt x="21966" y="120946"/>
                  </a:lnTo>
                  <a:lnTo>
                    <a:pt x="47476" y="80859"/>
                  </a:lnTo>
                  <a:lnTo>
                    <a:pt x="80936" y="47426"/>
                  </a:lnTo>
                  <a:lnTo>
                    <a:pt x="121048" y="21941"/>
                  </a:lnTo>
                  <a:lnTo>
                    <a:pt x="166511" y="5701"/>
                  </a:lnTo>
                  <a:lnTo>
                    <a:pt x="216026" y="0"/>
                  </a:lnTo>
                  <a:lnTo>
                    <a:pt x="265582" y="5701"/>
                  </a:lnTo>
                  <a:lnTo>
                    <a:pt x="311061" y="21941"/>
                  </a:lnTo>
                  <a:lnTo>
                    <a:pt x="351170" y="47426"/>
                  </a:lnTo>
                  <a:lnTo>
                    <a:pt x="384617" y="80859"/>
                  </a:lnTo>
                  <a:lnTo>
                    <a:pt x="410109" y="120946"/>
                  </a:lnTo>
                  <a:lnTo>
                    <a:pt x="426352" y="166391"/>
                  </a:lnTo>
                  <a:lnTo>
                    <a:pt x="432053" y="215900"/>
                  </a:lnTo>
                  <a:lnTo>
                    <a:pt x="426352" y="265455"/>
                  </a:lnTo>
                  <a:lnTo>
                    <a:pt x="410109" y="310934"/>
                  </a:lnTo>
                  <a:lnTo>
                    <a:pt x="384617" y="351043"/>
                  </a:lnTo>
                  <a:lnTo>
                    <a:pt x="351170" y="384490"/>
                  </a:lnTo>
                  <a:lnTo>
                    <a:pt x="311061" y="409982"/>
                  </a:lnTo>
                  <a:lnTo>
                    <a:pt x="265582" y="426225"/>
                  </a:lnTo>
                  <a:lnTo>
                    <a:pt x="216026" y="431926"/>
                  </a:lnTo>
                  <a:lnTo>
                    <a:pt x="166511" y="426225"/>
                  </a:lnTo>
                  <a:lnTo>
                    <a:pt x="121048" y="409982"/>
                  </a:lnTo>
                  <a:lnTo>
                    <a:pt x="80936" y="384490"/>
                  </a:lnTo>
                  <a:lnTo>
                    <a:pt x="47476" y="351043"/>
                  </a:lnTo>
                  <a:lnTo>
                    <a:pt x="21966" y="310934"/>
                  </a:lnTo>
                  <a:lnTo>
                    <a:pt x="5708" y="265455"/>
                  </a:lnTo>
                  <a:lnTo>
                    <a:pt x="0" y="215900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766050" y="2945384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Times New Roman"/>
                <a:cs typeface="Times New Roman"/>
              </a:rPr>
              <a:t>G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8203501" y="4529137"/>
            <a:ext cx="461009" cy="461009"/>
            <a:chOff x="8203501" y="4529137"/>
            <a:chExt cx="461009" cy="461009"/>
          </a:xfrm>
        </p:grpSpPr>
        <p:sp>
          <p:nvSpPr>
            <p:cNvPr id="36" name="object 36"/>
            <p:cNvSpPr/>
            <p:nvPr/>
          </p:nvSpPr>
          <p:spPr>
            <a:xfrm>
              <a:off x="8217789" y="4543425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216026" y="0"/>
                  </a:moveTo>
                  <a:lnTo>
                    <a:pt x="166471" y="5708"/>
                  </a:lnTo>
                  <a:lnTo>
                    <a:pt x="120992" y="21966"/>
                  </a:lnTo>
                  <a:lnTo>
                    <a:pt x="80883" y="47476"/>
                  </a:lnTo>
                  <a:lnTo>
                    <a:pt x="47436" y="80936"/>
                  </a:lnTo>
                  <a:lnTo>
                    <a:pt x="21944" y="121048"/>
                  </a:lnTo>
                  <a:lnTo>
                    <a:pt x="5701" y="166511"/>
                  </a:lnTo>
                  <a:lnTo>
                    <a:pt x="0" y="216026"/>
                  </a:lnTo>
                  <a:lnTo>
                    <a:pt x="5701" y="265542"/>
                  </a:lnTo>
                  <a:lnTo>
                    <a:pt x="21944" y="311005"/>
                  </a:lnTo>
                  <a:lnTo>
                    <a:pt x="47436" y="351117"/>
                  </a:lnTo>
                  <a:lnTo>
                    <a:pt x="80883" y="384577"/>
                  </a:lnTo>
                  <a:lnTo>
                    <a:pt x="120992" y="410087"/>
                  </a:lnTo>
                  <a:lnTo>
                    <a:pt x="166471" y="426345"/>
                  </a:lnTo>
                  <a:lnTo>
                    <a:pt x="216026" y="432054"/>
                  </a:lnTo>
                  <a:lnTo>
                    <a:pt x="265535" y="426345"/>
                  </a:lnTo>
                  <a:lnTo>
                    <a:pt x="310980" y="410087"/>
                  </a:lnTo>
                  <a:lnTo>
                    <a:pt x="351067" y="384577"/>
                  </a:lnTo>
                  <a:lnTo>
                    <a:pt x="384500" y="351117"/>
                  </a:lnTo>
                  <a:lnTo>
                    <a:pt x="409985" y="311005"/>
                  </a:lnTo>
                  <a:lnTo>
                    <a:pt x="426225" y="265542"/>
                  </a:lnTo>
                  <a:lnTo>
                    <a:pt x="431926" y="216026"/>
                  </a:lnTo>
                  <a:lnTo>
                    <a:pt x="426225" y="166511"/>
                  </a:lnTo>
                  <a:lnTo>
                    <a:pt x="409985" y="121048"/>
                  </a:lnTo>
                  <a:lnTo>
                    <a:pt x="384500" y="80936"/>
                  </a:lnTo>
                  <a:lnTo>
                    <a:pt x="351067" y="47476"/>
                  </a:lnTo>
                  <a:lnTo>
                    <a:pt x="310980" y="21966"/>
                  </a:lnTo>
                  <a:lnTo>
                    <a:pt x="265535" y="5708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217789" y="4543425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0" y="216026"/>
                  </a:moveTo>
                  <a:lnTo>
                    <a:pt x="5701" y="166511"/>
                  </a:lnTo>
                  <a:lnTo>
                    <a:pt x="21944" y="121048"/>
                  </a:lnTo>
                  <a:lnTo>
                    <a:pt x="47436" y="80936"/>
                  </a:lnTo>
                  <a:lnTo>
                    <a:pt x="80883" y="47476"/>
                  </a:lnTo>
                  <a:lnTo>
                    <a:pt x="120992" y="21966"/>
                  </a:lnTo>
                  <a:lnTo>
                    <a:pt x="166471" y="5708"/>
                  </a:lnTo>
                  <a:lnTo>
                    <a:pt x="216026" y="0"/>
                  </a:lnTo>
                  <a:lnTo>
                    <a:pt x="265535" y="5708"/>
                  </a:lnTo>
                  <a:lnTo>
                    <a:pt x="310980" y="21966"/>
                  </a:lnTo>
                  <a:lnTo>
                    <a:pt x="351067" y="47476"/>
                  </a:lnTo>
                  <a:lnTo>
                    <a:pt x="384500" y="80936"/>
                  </a:lnTo>
                  <a:lnTo>
                    <a:pt x="409985" y="121048"/>
                  </a:lnTo>
                  <a:lnTo>
                    <a:pt x="426225" y="166511"/>
                  </a:lnTo>
                  <a:lnTo>
                    <a:pt x="431926" y="216026"/>
                  </a:lnTo>
                  <a:lnTo>
                    <a:pt x="426225" y="265542"/>
                  </a:lnTo>
                  <a:lnTo>
                    <a:pt x="409985" y="311005"/>
                  </a:lnTo>
                  <a:lnTo>
                    <a:pt x="384500" y="351117"/>
                  </a:lnTo>
                  <a:lnTo>
                    <a:pt x="351067" y="384577"/>
                  </a:lnTo>
                  <a:lnTo>
                    <a:pt x="310980" y="410087"/>
                  </a:lnTo>
                  <a:lnTo>
                    <a:pt x="265535" y="426345"/>
                  </a:lnTo>
                  <a:lnTo>
                    <a:pt x="216026" y="432054"/>
                  </a:lnTo>
                  <a:lnTo>
                    <a:pt x="166471" y="426345"/>
                  </a:lnTo>
                  <a:lnTo>
                    <a:pt x="120992" y="410087"/>
                  </a:lnTo>
                  <a:lnTo>
                    <a:pt x="80883" y="384577"/>
                  </a:lnTo>
                  <a:lnTo>
                    <a:pt x="47436" y="351117"/>
                  </a:lnTo>
                  <a:lnTo>
                    <a:pt x="21944" y="311005"/>
                  </a:lnTo>
                  <a:lnTo>
                    <a:pt x="5701" y="265542"/>
                  </a:lnTo>
                  <a:lnTo>
                    <a:pt x="0" y="216026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353425" y="4535551"/>
            <a:ext cx="161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J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195754" y="3736657"/>
            <a:ext cx="461009" cy="461009"/>
            <a:chOff x="8195754" y="3736657"/>
            <a:chExt cx="461009" cy="461009"/>
          </a:xfrm>
        </p:grpSpPr>
        <p:sp>
          <p:nvSpPr>
            <p:cNvPr id="40" name="object 40"/>
            <p:cNvSpPr/>
            <p:nvPr/>
          </p:nvSpPr>
          <p:spPr>
            <a:xfrm>
              <a:off x="8210042" y="3750945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216026" y="0"/>
                  </a:moveTo>
                  <a:lnTo>
                    <a:pt x="166471" y="5708"/>
                  </a:lnTo>
                  <a:lnTo>
                    <a:pt x="120992" y="21966"/>
                  </a:lnTo>
                  <a:lnTo>
                    <a:pt x="80883" y="47476"/>
                  </a:lnTo>
                  <a:lnTo>
                    <a:pt x="47436" y="80936"/>
                  </a:lnTo>
                  <a:lnTo>
                    <a:pt x="21944" y="121048"/>
                  </a:lnTo>
                  <a:lnTo>
                    <a:pt x="5701" y="166511"/>
                  </a:lnTo>
                  <a:lnTo>
                    <a:pt x="0" y="216026"/>
                  </a:lnTo>
                  <a:lnTo>
                    <a:pt x="5701" y="265542"/>
                  </a:lnTo>
                  <a:lnTo>
                    <a:pt x="21944" y="311005"/>
                  </a:lnTo>
                  <a:lnTo>
                    <a:pt x="47436" y="351117"/>
                  </a:lnTo>
                  <a:lnTo>
                    <a:pt x="80883" y="384577"/>
                  </a:lnTo>
                  <a:lnTo>
                    <a:pt x="120992" y="410087"/>
                  </a:lnTo>
                  <a:lnTo>
                    <a:pt x="166471" y="426345"/>
                  </a:lnTo>
                  <a:lnTo>
                    <a:pt x="216026" y="432053"/>
                  </a:lnTo>
                  <a:lnTo>
                    <a:pt x="265535" y="426345"/>
                  </a:lnTo>
                  <a:lnTo>
                    <a:pt x="310980" y="410087"/>
                  </a:lnTo>
                  <a:lnTo>
                    <a:pt x="351067" y="384577"/>
                  </a:lnTo>
                  <a:lnTo>
                    <a:pt x="384500" y="351117"/>
                  </a:lnTo>
                  <a:lnTo>
                    <a:pt x="409985" y="311005"/>
                  </a:lnTo>
                  <a:lnTo>
                    <a:pt x="426225" y="265542"/>
                  </a:lnTo>
                  <a:lnTo>
                    <a:pt x="431926" y="216026"/>
                  </a:lnTo>
                  <a:lnTo>
                    <a:pt x="426225" y="166511"/>
                  </a:lnTo>
                  <a:lnTo>
                    <a:pt x="409985" y="121048"/>
                  </a:lnTo>
                  <a:lnTo>
                    <a:pt x="384500" y="80936"/>
                  </a:lnTo>
                  <a:lnTo>
                    <a:pt x="351067" y="47476"/>
                  </a:lnTo>
                  <a:lnTo>
                    <a:pt x="310980" y="21966"/>
                  </a:lnTo>
                  <a:lnTo>
                    <a:pt x="265535" y="5708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210042" y="3750945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0" y="216026"/>
                  </a:moveTo>
                  <a:lnTo>
                    <a:pt x="5701" y="166511"/>
                  </a:lnTo>
                  <a:lnTo>
                    <a:pt x="21944" y="121048"/>
                  </a:lnTo>
                  <a:lnTo>
                    <a:pt x="47436" y="80936"/>
                  </a:lnTo>
                  <a:lnTo>
                    <a:pt x="80883" y="47476"/>
                  </a:lnTo>
                  <a:lnTo>
                    <a:pt x="120992" y="21966"/>
                  </a:lnTo>
                  <a:lnTo>
                    <a:pt x="166471" y="5708"/>
                  </a:lnTo>
                  <a:lnTo>
                    <a:pt x="216026" y="0"/>
                  </a:lnTo>
                  <a:lnTo>
                    <a:pt x="265535" y="5708"/>
                  </a:lnTo>
                  <a:lnTo>
                    <a:pt x="310980" y="21966"/>
                  </a:lnTo>
                  <a:lnTo>
                    <a:pt x="351067" y="47476"/>
                  </a:lnTo>
                  <a:lnTo>
                    <a:pt x="384500" y="80936"/>
                  </a:lnTo>
                  <a:lnTo>
                    <a:pt x="409985" y="121048"/>
                  </a:lnTo>
                  <a:lnTo>
                    <a:pt x="426225" y="166511"/>
                  </a:lnTo>
                  <a:lnTo>
                    <a:pt x="431926" y="216026"/>
                  </a:lnTo>
                  <a:lnTo>
                    <a:pt x="426225" y="265542"/>
                  </a:lnTo>
                  <a:lnTo>
                    <a:pt x="409985" y="311005"/>
                  </a:lnTo>
                  <a:lnTo>
                    <a:pt x="384500" y="351117"/>
                  </a:lnTo>
                  <a:lnTo>
                    <a:pt x="351067" y="384577"/>
                  </a:lnTo>
                  <a:lnTo>
                    <a:pt x="310980" y="410087"/>
                  </a:lnTo>
                  <a:lnTo>
                    <a:pt x="265535" y="426345"/>
                  </a:lnTo>
                  <a:lnTo>
                    <a:pt x="216026" y="432053"/>
                  </a:lnTo>
                  <a:lnTo>
                    <a:pt x="166471" y="426345"/>
                  </a:lnTo>
                  <a:lnTo>
                    <a:pt x="120992" y="410087"/>
                  </a:lnTo>
                  <a:lnTo>
                    <a:pt x="80883" y="384577"/>
                  </a:lnTo>
                  <a:lnTo>
                    <a:pt x="47436" y="351117"/>
                  </a:lnTo>
                  <a:lnTo>
                    <a:pt x="21944" y="311005"/>
                  </a:lnTo>
                  <a:lnTo>
                    <a:pt x="5701" y="265542"/>
                  </a:lnTo>
                  <a:lnTo>
                    <a:pt x="0" y="216026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8362568" y="3742766"/>
            <a:ext cx="1270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7127557" y="3736657"/>
            <a:ext cx="461009" cy="461009"/>
            <a:chOff x="7127557" y="3736657"/>
            <a:chExt cx="461009" cy="461009"/>
          </a:xfrm>
        </p:grpSpPr>
        <p:sp>
          <p:nvSpPr>
            <p:cNvPr id="44" name="object 44"/>
            <p:cNvSpPr/>
            <p:nvPr/>
          </p:nvSpPr>
          <p:spPr>
            <a:xfrm>
              <a:off x="7141844" y="3750945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216026" y="0"/>
                  </a:moveTo>
                  <a:lnTo>
                    <a:pt x="166511" y="5708"/>
                  </a:lnTo>
                  <a:lnTo>
                    <a:pt x="121048" y="21966"/>
                  </a:lnTo>
                  <a:lnTo>
                    <a:pt x="80936" y="47476"/>
                  </a:lnTo>
                  <a:lnTo>
                    <a:pt x="47476" y="80936"/>
                  </a:lnTo>
                  <a:lnTo>
                    <a:pt x="21966" y="121048"/>
                  </a:lnTo>
                  <a:lnTo>
                    <a:pt x="5708" y="166511"/>
                  </a:lnTo>
                  <a:lnTo>
                    <a:pt x="0" y="216026"/>
                  </a:lnTo>
                  <a:lnTo>
                    <a:pt x="5708" y="265542"/>
                  </a:lnTo>
                  <a:lnTo>
                    <a:pt x="21966" y="311005"/>
                  </a:lnTo>
                  <a:lnTo>
                    <a:pt x="47476" y="351117"/>
                  </a:lnTo>
                  <a:lnTo>
                    <a:pt x="80936" y="384577"/>
                  </a:lnTo>
                  <a:lnTo>
                    <a:pt x="121048" y="410087"/>
                  </a:lnTo>
                  <a:lnTo>
                    <a:pt x="166511" y="426345"/>
                  </a:lnTo>
                  <a:lnTo>
                    <a:pt x="216026" y="432053"/>
                  </a:lnTo>
                  <a:lnTo>
                    <a:pt x="265542" y="426345"/>
                  </a:lnTo>
                  <a:lnTo>
                    <a:pt x="311005" y="410087"/>
                  </a:lnTo>
                  <a:lnTo>
                    <a:pt x="351117" y="384577"/>
                  </a:lnTo>
                  <a:lnTo>
                    <a:pt x="384577" y="351117"/>
                  </a:lnTo>
                  <a:lnTo>
                    <a:pt x="410087" y="311005"/>
                  </a:lnTo>
                  <a:lnTo>
                    <a:pt x="426345" y="265542"/>
                  </a:lnTo>
                  <a:lnTo>
                    <a:pt x="432053" y="216026"/>
                  </a:lnTo>
                  <a:lnTo>
                    <a:pt x="426345" y="166511"/>
                  </a:lnTo>
                  <a:lnTo>
                    <a:pt x="410087" y="121048"/>
                  </a:lnTo>
                  <a:lnTo>
                    <a:pt x="384577" y="80936"/>
                  </a:lnTo>
                  <a:lnTo>
                    <a:pt x="351117" y="47476"/>
                  </a:lnTo>
                  <a:lnTo>
                    <a:pt x="311005" y="21966"/>
                  </a:lnTo>
                  <a:lnTo>
                    <a:pt x="265542" y="5708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141844" y="3750945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0" y="216026"/>
                  </a:moveTo>
                  <a:lnTo>
                    <a:pt x="5708" y="166511"/>
                  </a:lnTo>
                  <a:lnTo>
                    <a:pt x="21966" y="121048"/>
                  </a:lnTo>
                  <a:lnTo>
                    <a:pt x="47476" y="80936"/>
                  </a:lnTo>
                  <a:lnTo>
                    <a:pt x="80936" y="47476"/>
                  </a:lnTo>
                  <a:lnTo>
                    <a:pt x="121048" y="21966"/>
                  </a:lnTo>
                  <a:lnTo>
                    <a:pt x="166511" y="5708"/>
                  </a:lnTo>
                  <a:lnTo>
                    <a:pt x="216026" y="0"/>
                  </a:lnTo>
                  <a:lnTo>
                    <a:pt x="265542" y="5708"/>
                  </a:lnTo>
                  <a:lnTo>
                    <a:pt x="311005" y="21966"/>
                  </a:lnTo>
                  <a:lnTo>
                    <a:pt x="351117" y="47476"/>
                  </a:lnTo>
                  <a:lnTo>
                    <a:pt x="384577" y="80936"/>
                  </a:lnTo>
                  <a:lnTo>
                    <a:pt x="410087" y="121048"/>
                  </a:lnTo>
                  <a:lnTo>
                    <a:pt x="426345" y="166511"/>
                  </a:lnTo>
                  <a:lnTo>
                    <a:pt x="432053" y="216026"/>
                  </a:lnTo>
                  <a:lnTo>
                    <a:pt x="426345" y="265542"/>
                  </a:lnTo>
                  <a:lnTo>
                    <a:pt x="410087" y="311005"/>
                  </a:lnTo>
                  <a:lnTo>
                    <a:pt x="384577" y="351117"/>
                  </a:lnTo>
                  <a:lnTo>
                    <a:pt x="351117" y="384577"/>
                  </a:lnTo>
                  <a:lnTo>
                    <a:pt x="311005" y="410087"/>
                  </a:lnTo>
                  <a:lnTo>
                    <a:pt x="265542" y="426345"/>
                  </a:lnTo>
                  <a:lnTo>
                    <a:pt x="216026" y="432053"/>
                  </a:lnTo>
                  <a:lnTo>
                    <a:pt x="166511" y="426345"/>
                  </a:lnTo>
                  <a:lnTo>
                    <a:pt x="121048" y="410087"/>
                  </a:lnTo>
                  <a:lnTo>
                    <a:pt x="80936" y="384577"/>
                  </a:lnTo>
                  <a:lnTo>
                    <a:pt x="47476" y="351117"/>
                  </a:lnTo>
                  <a:lnTo>
                    <a:pt x="21966" y="311005"/>
                  </a:lnTo>
                  <a:lnTo>
                    <a:pt x="5708" y="265542"/>
                  </a:lnTo>
                  <a:lnTo>
                    <a:pt x="0" y="216026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236332" y="3742766"/>
            <a:ext cx="2457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H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5071046" y="1538414"/>
            <a:ext cx="3377565" cy="2999740"/>
            <a:chOff x="5071046" y="1538414"/>
            <a:chExt cx="3377565" cy="2999740"/>
          </a:xfrm>
        </p:grpSpPr>
        <p:sp>
          <p:nvSpPr>
            <p:cNvPr id="48" name="object 48"/>
            <p:cNvSpPr/>
            <p:nvPr/>
          </p:nvSpPr>
          <p:spPr>
            <a:xfrm>
              <a:off x="8033258" y="3326003"/>
              <a:ext cx="400685" cy="1212215"/>
            </a:xfrm>
            <a:custGeom>
              <a:avLst/>
              <a:gdLst/>
              <a:ahLst/>
              <a:cxnLst/>
              <a:rect l="l" t="t" r="r" b="b"/>
              <a:pathLst>
                <a:path w="400684" h="1212214">
                  <a:moveTo>
                    <a:pt x="400558" y="852043"/>
                  </a:moveTo>
                  <a:lnTo>
                    <a:pt x="400558" y="1212088"/>
                  </a:lnTo>
                </a:path>
                <a:path w="400684" h="1212214">
                  <a:moveTo>
                    <a:pt x="288036" y="467995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085334" y="1552702"/>
              <a:ext cx="324485" cy="575945"/>
            </a:xfrm>
            <a:custGeom>
              <a:avLst/>
              <a:gdLst/>
              <a:ahLst/>
              <a:cxnLst/>
              <a:rect l="l" t="t" r="r" b="b"/>
              <a:pathLst>
                <a:path w="324485" h="575944">
                  <a:moveTo>
                    <a:pt x="243077" y="0"/>
                  </a:moveTo>
                  <a:lnTo>
                    <a:pt x="243077" y="414020"/>
                  </a:lnTo>
                  <a:lnTo>
                    <a:pt x="323976" y="414020"/>
                  </a:lnTo>
                  <a:lnTo>
                    <a:pt x="162051" y="575945"/>
                  </a:lnTo>
                  <a:lnTo>
                    <a:pt x="0" y="414020"/>
                  </a:lnTo>
                  <a:lnTo>
                    <a:pt x="81025" y="414020"/>
                  </a:lnTo>
                  <a:lnTo>
                    <a:pt x="81025" y="0"/>
                  </a:lnTo>
                  <a:lnTo>
                    <a:pt x="243077" y="0"/>
                  </a:lnTo>
                  <a:close/>
                </a:path>
              </a:pathLst>
            </a:custGeom>
            <a:ln w="28575">
              <a:solidFill>
                <a:srgbClr val="B42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3691890" y="2223896"/>
            <a:ext cx="3378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前序（根）、后序（根）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36142" y="4809820"/>
            <a:ext cx="5462270" cy="1137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404040"/>
                </a:solidFill>
                <a:latin typeface="微软雅黑"/>
                <a:cs typeface="微软雅黑"/>
              </a:rPr>
              <a:t>前序遍历序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列：</a:t>
            </a:r>
            <a:r>
              <a:rPr sz="2800" i="1" spc="-5" dirty="0">
                <a:solidFill>
                  <a:srgbClr val="B42C2C"/>
                </a:solidFill>
                <a:latin typeface="Times New Roman"/>
                <a:cs typeface="Times New Roman"/>
              </a:rPr>
              <a:t>A</a:t>
            </a:r>
            <a:r>
              <a:rPr sz="2800" i="1" spc="-45" dirty="0">
                <a:solidFill>
                  <a:srgbClr val="B42C2C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B42C2C"/>
                </a:solidFill>
                <a:latin typeface="Times New Roman"/>
                <a:cs typeface="Times New Roman"/>
              </a:rPr>
              <a:t>B</a:t>
            </a:r>
            <a:r>
              <a:rPr sz="2800" i="1" dirty="0">
                <a:solidFill>
                  <a:srgbClr val="B42C2C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5C2F7C"/>
                </a:solidFill>
                <a:latin typeface="Times New Roman"/>
                <a:cs typeface="Times New Roman"/>
              </a:rPr>
              <a:t>C</a:t>
            </a:r>
            <a:r>
              <a:rPr sz="2800" i="1" spc="-10" dirty="0">
                <a:solidFill>
                  <a:srgbClr val="5C2F7C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5C2F7C"/>
                </a:solidFill>
                <a:latin typeface="Times New Roman"/>
                <a:cs typeface="Times New Roman"/>
              </a:rPr>
              <a:t>D</a:t>
            </a:r>
            <a:r>
              <a:rPr sz="2800" i="1" spc="-10" dirty="0">
                <a:solidFill>
                  <a:srgbClr val="5C2F7C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5C2F7C"/>
                </a:solidFill>
                <a:latin typeface="Times New Roman"/>
                <a:cs typeface="Times New Roman"/>
              </a:rPr>
              <a:t>E</a:t>
            </a:r>
            <a:r>
              <a:rPr sz="2800" i="1" dirty="0">
                <a:solidFill>
                  <a:srgbClr val="5C2F7C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5C2F7C"/>
                </a:solidFill>
                <a:latin typeface="Times New Roman"/>
                <a:cs typeface="Times New Roman"/>
              </a:rPr>
              <a:t>F</a:t>
            </a:r>
            <a:r>
              <a:rPr sz="2800" i="1" dirty="0">
                <a:solidFill>
                  <a:srgbClr val="5C2F7C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285A31"/>
                </a:solidFill>
                <a:latin typeface="Times New Roman"/>
                <a:cs typeface="Times New Roman"/>
              </a:rPr>
              <a:t>G</a:t>
            </a:r>
            <a:r>
              <a:rPr sz="2800" i="1" spc="-10" dirty="0">
                <a:solidFill>
                  <a:srgbClr val="285A31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285A31"/>
                </a:solidFill>
                <a:latin typeface="Times New Roman"/>
                <a:cs typeface="Times New Roman"/>
              </a:rPr>
              <a:t>H</a:t>
            </a:r>
            <a:r>
              <a:rPr sz="2800" i="1" spc="-10" dirty="0">
                <a:solidFill>
                  <a:srgbClr val="285A31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285A31"/>
                </a:solidFill>
                <a:latin typeface="Times New Roman"/>
                <a:cs typeface="Times New Roman"/>
              </a:rPr>
              <a:t>I</a:t>
            </a:r>
            <a:r>
              <a:rPr sz="2800" i="1" spc="5" dirty="0">
                <a:solidFill>
                  <a:srgbClr val="285A31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285A31"/>
                </a:solidFill>
                <a:latin typeface="Times New Roman"/>
                <a:cs typeface="Times New Roman"/>
              </a:rPr>
              <a:t>J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后序遍历序列：</a:t>
            </a:r>
            <a:r>
              <a:rPr sz="2800" i="1" spc="-5" dirty="0">
                <a:solidFill>
                  <a:srgbClr val="B42C2C"/>
                </a:solidFill>
                <a:latin typeface="Times New Roman"/>
                <a:cs typeface="Times New Roman"/>
              </a:rPr>
              <a:t>B</a:t>
            </a:r>
            <a:r>
              <a:rPr sz="2800" i="1" spc="-45" dirty="0">
                <a:solidFill>
                  <a:srgbClr val="B42C2C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B42C2C"/>
                </a:solidFill>
                <a:latin typeface="Times New Roman"/>
                <a:cs typeface="Times New Roman"/>
              </a:rPr>
              <a:t>A</a:t>
            </a:r>
            <a:r>
              <a:rPr sz="2800" i="1" spc="-50" dirty="0">
                <a:solidFill>
                  <a:srgbClr val="B42C2C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5C2F7C"/>
                </a:solidFill>
                <a:latin typeface="Times New Roman"/>
                <a:cs typeface="Times New Roman"/>
              </a:rPr>
              <a:t>D</a:t>
            </a:r>
            <a:r>
              <a:rPr sz="2800" i="1" spc="-15" dirty="0">
                <a:solidFill>
                  <a:srgbClr val="5C2F7C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5C2F7C"/>
                </a:solidFill>
                <a:latin typeface="Times New Roman"/>
                <a:cs typeface="Times New Roman"/>
              </a:rPr>
              <a:t>E</a:t>
            </a:r>
            <a:r>
              <a:rPr sz="2800" i="1" dirty="0">
                <a:solidFill>
                  <a:srgbClr val="5C2F7C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5C2F7C"/>
                </a:solidFill>
                <a:latin typeface="Times New Roman"/>
                <a:cs typeface="Times New Roman"/>
              </a:rPr>
              <a:t>F</a:t>
            </a:r>
            <a:r>
              <a:rPr sz="2800" i="1" spc="-15" dirty="0">
                <a:solidFill>
                  <a:srgbClr val="5C2F7C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5C2F7C"/>
                </a:solidFill>
                <a:latin typeface="Times New Roman"/>
                <a:cs typeface="Times New Roman"/>
              </a:rPr>
              <a:t>C</a:t>
            </a:r>
            <a:r>
              <a:rPr sz="2800" i="1" dirty="0">
                <a:solidFill>
                  <a:srgbClr val="5C2F7C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285A31"/>
                </a:solidFill>
                <a:latin typeface="Times New Roman"/>
                <a:cs typeface="Times New Roman"/>
              </a:rPr>
              <a:t>H</a:t>
            </a:r>
            <a:r>
              <a:rPr sz="2800" i="1" spc="-10" dirty="0">
                <a:solidFill>
                  <a:srgbClr val="285A31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285A31"/>
                </a:solidFill>
                <a:latin typeface="Times New Roman"/>
                <a:cs typeface="Times New Roman"/>
              </a:rPr>
              <a:t>J</a:t>
            </a:r>
            <a:r>
              <a:rPr sz="2800" i="1" spc="-15" dirty="0">
                <a:solidFill>
                  <a:srgbClr val="285A31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285A31"/>
                </a:solidFill>
                <a:latin typeface="Times New Roman"/>
                <a:cs typeface="Times New Roman"/>
              </a:rPr>
              <a:t>I</a:t>
            </a:r>
            <a:r>
              <a:rPr sz="2800" i="1" dirty="0">
                <a:solidFill>
                  <a:srgbClr val="285A31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285A31"/>
                </a:solidFill>
                <a:latin typeface="Times New Roman"/>
                <a:cs typeface="Times New Roman"/>
              </a:rPr>
              <a:t>G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3" name="object 3"/>
          <p:cNvSpPr/>
          <p:nvPr/>
        </p:nvSpPr>
        <p:spPr>
          <a:xfrm>
            <a:off x="542924" y="100964"/>
            <a:ext cx="3456813" cy="540385"/>
          </a:xfrm>
          <a:custGeom>
            <a:avLst/>
            <a:gdLst/>
            <a:ahLst/>
            <a:cxnLst/>
            <a:rect l="l" t="t" r="r" b="b"/>
            <a:pathLst>
              <a:path w="2376170" h="540385">
                <a:moveTo>
                  <a:pt x="2286000" y="0"/>
                </a:moveTo>
                <a:lnTo>
                  <a:pt x="90004" y="0"/>
                </a:lnTo>
                <a:lnTo>
                  <a:pt x="54971" y="7068"/>
                </a:lnTo>
                <a:lnTo>
                  <a:pt x="26362" y="26352"/>
                </a:lnTo>
                <a:lnTo>
                  <a:pt x="7073" y="54971"/>
                </a:lnTo>
                <a:lnTo>
                  <a:pt x="0" y="90042"/>
                </a:lnTo>
                <a:lnTo>
                  <a:pt x="0" y="449960"/>
                </a:lnTo>
                <a:lnTo>
                  <a:pt x="7073" y="485032"/>
                </a:lnTo>
                <a:lnTo>
                  <a:pt x="26362" y="513651"/>
                </a:lnTo>
                <a:lnTo>
                  <a:pt x="54971" y="532935"/>
                </a:lnTo>
                <a:lnTo>
                  <a:pt x="90004" y="540003"/>
                </a:lnTo>
                <a:lnTo>
                  <a:pt x="2286000" y="540003"/>
                </a:lnTo>
                <a:lnTo>
                  <a:pt x="2321018" y="532935"/>
                </a:lnTo>
                <a:lnTo>
                  <a:pt x="2349642" y="513651"/>
                </a:lnTo>
                <a:lnTo>
                  <a:pt x="2368956" y="485032"/>
                </a:lnTo>
                <a:lnTo>
                  <a:pt x="2376043" y="449960"/>
                </a:lnTo>
                <a:lnTo>
                  <a:pt x="2376043" y="90042"/>
                </a:lnTo>
                <a:lnTo>
                  <a:pt x="2368956" y="54971"/>
                </a:lnTo>
                <a:lnTo>
                  <a:pt x="2349642" y="26352"/>
                </a:lnTo>
                <a:lnTo>
                  <a:pt x="2321018" y="7068"/>
                </a:lnTo>
                <a:lnTo>
                  <a:pt x="2286000" y="0"/>
                </a:lnTo>
                <a:close/>
              </a:path>
            </a:pathLst>
          </a:custGeom>
          <a:solidFill>
            <a:srgbClr val="5A31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4"/>
          <p:cNvSpPr txBox="1">
            <a:spLocks noGrp="1"/>
          </p:cNvSpPr>
          <p:nvPr>
            <p:ph type="title"/>
          </p:nvPr>
        </p:nvSpPr>
        <p:spPr>
          <a:xfrm>
            <a:off x="716991" y="141809"/>
            <a:ext cx="316569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800" spc="-5" dirty="0" err="1">
                <a:solidFill>
                  <a:schemeClr val="bg1"/>
                </a:solidFill>
                <a:latin typeface="Arial Black" panose="020B0A04020102020204" pitchFamily="34" charset="0"/>
              </a:rPr>
              <a:t>森林的</a:t>
            </a:r>
            <a:r>
              <a:rPr lang="zh-CN" altLang="en-US" sz="2800" b="1" spc="-5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遍历</a:t>
            </a:r>
            <a:endParaRPr sz="2800" b="1" spc="-5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3773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931160" y="3899789"/>
            <a:ext cx="6569075" cy="725805"/>
          </a:xfrm>
          <a:custGeom>
            <a:avLst/>
            <a:gdLst/>
            <a:ahLst/>
            <a:cxnLst/>
            <a:rect l="l" t="t" r="r" b="b"/>
            <a:pathLst>
              <a:path w="6569075" h="725804">
                <a:moveTo>
                  <a:pt x="6447917" y="0"/>
                </a:moveTo>
                <a:lnTo>
                  <a:pt x="0" y="0"/>
                </a:lnTo>
                <a:lnTo>
                  <a:pt x="0" y="604774"/>
                </a:lnTo>
                <a:lnTo>
                  <a:pt x="120903" y="725678"/>
                </a:lnTo>
                <a:lnTo>
                  <a:pt x="6568821" y="725678"/>
                </a:lnTo>
                <a:lnTo>
                  <a:pt x="6568821" y="121031"/>
                </a:lnTo>
                <a:lnTo>
                  <a:pt x="6447917" y="0"/>
                </a:lnTo>
                <a:close/>
              </a:path>
            </a:pathLst>
          </a:custGeom>
          <a:solidFill>
            <a:srgbClr val="5C2F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40122" y="4126483"/>
            <a:ext cx="626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Microsoft YaHei UI"/>
                <a:cs typeface="Microsoft YaHei UI"/>
              </a:rPr>
              <a:t>5-6-2</a:t>
            </a:r>
            <a:endParaRPr sz="1800">
              <a:latin typeface="Microsoft YaHei UI"/>
              <a:cs typeface="Microsoft YaHei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40222" y="4126483"/>
            <a:ext cx="2540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Microsoft YaHei UI"/>
                <a:cs typeface="Microsoft YaHei UI"/>
              </a:rPr>
              <a:t>树、森林与二叉树的转换</a:t>
            </a:r>
            <a:endParaRPr sz="1800">
              <a:latin typeface="Microsoft YaHei UI"/>
              <a:cs typeface="Microsoft YaHei U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40482" y="1998345"/>
            <a:ext cx="7670800" cy="1345565"/>
          </a:xfrm>
          <a:custGeom>
            <a:avLst/>
            <a:gdLst/>
            <a:ahLst/>
            <a:cxnLst/>
            <a:rect l="l" t="t" r="r" b="b"/>
            <a:pathLst>
              <a:path w="7670800" h="1345564">
                <a:moveTo>
                  <a:pt x="7446137" y="0"/>
                </a:moveTo>
                <a:lnTo>
                  <a:pt x="224155" y="0"/>
                </a:lnTo>
                <a:lnTo>
                  <a:pt x="178972" y="4558"/>
                </a:lnTo>
                <a:lnTo>
                  <a:pt x="136892" y="17631"/>
                </a:lnTo>
                <a:lnTo>
                  <a:pt x="98815" y="38315"/>
                </a:lnTo>
                <a:lnTo>
                  <a:pt x="65643" y="65706"/>
                </a:lnTo>
                <a:lnTo>
                  <a:pt x="38274" y="98902"/>
                </a:lnTo>
                <a:lnTo>
                  <a:pt x="17611" y="136999"/>
                </a:lnTo>
                <a:lnTo>
                  <a:pt x="4552" y="179093"/>
                </a:lnTo>
                <a:lnTo>
                  <a:pt x="0" y="224281"/>
                </a:lnTo>
                <a:lnTo>
                  <a:pt x="0" y="1121028"/>
                </a:lnTo>
                <a:lnTo>
                  <a:pt x="4552" y="1166253"/>
                </a:lnTo>
                <a:lnTo>
                  <a:pt x="17611" y="1208365"/>
                </a:lnTo>
                <a:lnTo>
                  <a:pt x="38274" y="1246464"/>
                </a:lnTo>
                <a:lnTo>
                  <a:pt x="65643" y="1279652"/>
                </a:lnTo>
                <a:lnTo>
                  <a:pt x="98815" y="1307029"/>
                </a:lnTo>
                <a:lnTo>
                  <a:pt x="136892" y="1327697"/>
                </a:lnTo>
                <a:lnTo>
                  <a:pt x="178972" y="1340757"/>
                </a:lnTo>
                <a:lnTo>
                  <a:pt x="224155" y="1345310"/>
                </a:lnTo>
                <a:lnTo>
                  <a:pt x="7446137" y="1345310"/>
                </a:lnTo>
                <a:lnTo>
                  <a:pt x="7491319" y="1340757"/>
                </a:lnTo>
                <a:lnTo>
                  <a:pt x="7533399" y="1327697"/>
                </a:lnTo>
                <a:lnTo>
                  <a:pt x="7571476" y="1307029"/>
                </a:lnTo>
                <a:lnTo>
                  <a:pt x="7604648" y="1279652"/>
                </a:lnTo>
                <a:lnTo>
                  <a:pt x="7632017" y="1246464"/>
                </a:lnTo>
                <a:lnTo>
                  <a:pt x="7652680" y="1208365"/>
                </a:lnTo>
                <a:lnTo>
                  <a:pt x="7665739" y="1166253"/>
                </a:lnTo>
                <a:lnTo>
                  <a:pt x="7670292" y="1121028"/>
                </a:lnTo>
                <a:lnTo>
                  <a:pt x="7670292" y="224281"/>
                </a:lnTo>
                <a:lnTo>
                  <a:pt x="7665739" y="179093"/>
                </a:lnTo>
                <a:lnTo>
                  <a:pt x="7652680" y="136999"/>
                </a:lnTo>
                <a:lnTo>
                  <a:pt x="7632017" y="98902"/>
                </a:lnTo>
                <a:lnTo>
                  <a:pt x="7604648" y="65706"/>
                </a:lnTo>
                <a:lnTo>
                  <a:pt x="7571476" y="38315"/>
                </a:lnTo>
                <a:lnTo>
                  <a:pt x="7533399" y="17631"/>
                </a:lnTo>
                <a:lnTo>
                  <a:pt x="7491319" y="4558"/>
                </a:lnTo>
                <a:lnTo>
                  <a:pt x="74461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295395" y="2325840"/>
            <a:ext cx="5840603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33245" algn="l"/>
              </a:tabLst>
            </a:pPr>
            <a:r>
              <a:rPr dirty="0">
                <a:solidFill>
                  <a:srgbClr val="5C2F7C"/>
                </a:solidFill>
                <a:latin typeface="Microsoft YaHei UI"/>
                <a:cs typeface="Microsoft YaHei UI"/>
              </a:rPr>
              <a:t>第五章	</a:t>
            </a:r>
            <a:r>
              <a:rPr lang="en-US" dirty="0">
                <a:solidFill>
                  <a:srgbClr val="5C2F7C"/>
                </a:solidFill>
                <a:latin typeface="Microsoft YaHei UI"/>
                <a:cs typeface="Microsoft YaHei UI"/>
              </a:rPr>
              <a:t>  </a:t>
            </a:r>
            <a:r>
              <a:rPr dirty="0" err="1">
                <a:solidFill>
                  <a:srgbClr val="5C2F7C"/>
                </a:solidFill>
                <a:latin typeface="Microsoft YaHei UI"/>
                <a:cs typeface="Microsoft YaHei UI"/>
              </a:rPr>
              <a:t>树和二叉树</a:t>
            </a:r>
            <a:endParaRPr dirty="0">
              <a:solidFill>
                <a:srgbClr val="5C2F7C"/>
              </a:solidFill>
              <a:latin typeface="Microsoft YaHei UI"/>
              <a:cs typeface="Microsoft YaHei UI"/>
            </a:endParaRPr>
          </a:p>
        </p:txBody>
      </p:sp>
    </p:spTree>
    <p:extLst>
      <p:ext uri="{BB962C8B-B14F-4D97-AF65-F5344CB8AC3E}">
        <p14:creationId xmlns:p14="http://schemas.microsoft.com/office/powerpoint/2010/main" val="23181925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48643" y="2017267"/>
            <a:ext cx="152400" cy="25355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algn="just">
              <a:lnSpc>
                <a:spcPts val="1000"/>
              </a:lnSpc>
              <a:spcBef>
                <a:spcPts val="2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数 据 结 构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880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（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从 概 念 到 实 现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975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640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清 华 大 学 出 版 社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64690" y="2648330"/>
            <a:ext cx="517525" cy="1240790"/>
          </a:xfrm>
          <a:custGeom>
            <a:avLst/>
            <a:gdLst/>
            <a:ahLst/>
            <a:cxnLst/>
            <a:rect l="l" t="t" r="r" b="b"/>
            <a:pathLst>
              <a:path w="517525" h="1240789">
                <a:moveTo>
                  <a:pt x="220726" y="1202309"/>
                </a:moveTo>
                <a:lnTo>
                  <a:pt x="215265" y="1199515"/>
                </a:lnTo>
                <a:lnTo>
                  <a:pt x="2794" y="1199515"/>
                </a:lnTo>
                <a:lnTo>
                  <a:pt x="0" y="1202309"/>
                </a:lnTo>
                <a:lnTo>
                  <a:pt x="0" y="1216152"/>
                </a:lnTo>
                <a:lnTo>
                  <a:pt x="2794" y="1221740"/>
                </a:lnTo>
                <a:lnTo>
                  <a:pt x="209804" y="1221740"/>
                </a:lnTo>
                <a:lnTo>
                  <a:pt x="215265" y="1221740"/>
                </a:lnTo>
                <a:lnTo>
                  <a:pt x="220726" y="1216152"/>
                </a:lnTo>
                <a:lnTo>
                  <a:pt x="220726" y="1202309"/>
                </a:lnTo>
                <a:close/>
              </a:path>
              <a:path w="517525" h="1240789">
                <a:moveTo>
                  <a:pt x="220726" y="348869"/>
                </a:moveTo>
                <a:lnTo>
                  <a:pt x="215265" y="346075"/>
                </a:lnTo>
                <a:lnTo>
                  <a:pt x="2794" y="346075"/>
                </a:lnTo>
                <a:lnTo>
                  <a:pt x="0" y="348869"/>
                </a:lnTo>
                <a:lnTo>
                  <a:pt x="0" y="362712"/>
                </a:lnTo>
                <a:lnTo>
                  <a:pt x="2794" y="368300"/>
                </a:lnTo>
                <a:lnTo>
                  <a:pt x="209804" y="368300"/>
                </a:lnTo>
                <a:lnTo>
                  <a:pt x="215265" y="368300"/>
                </a:lnTo>
                <a:lnTo>
                  <a:pt x="220726" y="362712"/>
                </a:lnTo>
                <a:lnTo>
                  <a:pt x="220726" y="348869"/>
                </a:lnTo>
                <a:close/>
              </a:path>
              <a:path w="517525" h="1240789">
                <a:moveTo>
                  <a:pt x="422275" y="858901"/>
                </a:moveTo>
                <a:lnTo>
                  <a:pt x="416941" y="853440"/>
                </a:lnTo>
                <a:lnTo>
                  <a:pt x="351409" y="853440"/>
                </a:lnTo>
                <a:lnTo>
                  <a:pt x="351409" y="913511"/>
                </a:lnTo>
                <a:lnTo>
                  <a:pt x="351409" y="927239"/>
                </a:lnTo>
                <a:lnTo>
                  <a:pt x="351409" y="965454"/>
                </a:lnTo>
                <a:lnTo>
                  <a:pt x="351409" y="979170"/>
                </a:lnTo>
                <a:lnTo>
                  <a:pt x="345948" y="984631"/>
                </a:lnTo>
                <a:lnTo>
                  <a:pt x="318770" y="984631"/>
                </a:lnTo>
                <a:lnTo>
                  <a:pt x="318770" y="1020191"/>
                </a:lnTo>
                <a:lnTo>
                  <a:pt x="318770" y="1031113"/>
                </a:lnTo>
                <a:lnTo>
                  <a:pt x="315976" y="1036574"/>
                </a:lnTo>
                <a:lnTo>
                  <a:pt x="185166" y="1036574"/>
                </a:lnTo>
                <a:lnTo>
                  <a:pt x="179705" y="1031113"/>
                </a:lnTo>
                <a:lnTo>
                  <a:pt x="179705" y="1020191"/>
                </a:lnTo>
                <a:lnTo>
                  <a:pt x="185166" y="1014603"/>
                </a:lnTo>
                <a:lnTo>
                  <a:pt x="315976" y="1014603"/>
                </a:lnTo>
                <a:lnTo>
                  <a:pt x="318770" y="1020191"/>
                </a:lnTo>
                <a:lnTo>
                  <a:pt x="318770" y="984631"/>
                </a:lnTo>
                <a:lnTo>
                  <a:pt x="185166" y="984631"/>
                </a:lnTo>
                <a:lnTo>
                  <a:pt x="179705" y="979170"/>
                </a:lnTo>
                <a:lnTo>
                  <a:pt x="179705" y="965454"/>
                </a:lnTo>
                <a:lnTo>
                  <a:pt x="185166" y="962787"/>
                </a:lnTo>
                <a:lnTo>
                  <a:pt x="345948" y="962787"/>
                </a:lnTo>
                <a:lnTo>
                  <a:pt x="351409" y="965454"/>
                </a:lnTo>
                <a:lnTo>
                  <a:pt x="351409" y="927239"/>
                </a:lnTo>
                <a:lnTo>
                  <a:pt x="345948" y="929894"/>
                </a:lnTo>
                <a:lnTo>
                  <a:pt x="185166" y="929894"/>
                </a:lnTo>
                <a:lnTo>
                  <a:pt x="179705" y="927239"/>
                </a:lnTo>
                <a:lnTo>
                  <a:pt x="179705" y="913511"/>
                </a:lnTo>
                <a:lnTo>
                  <a:pt x="185166" y="908050"/>
                </a:lnTo>
                <a:lnTo>
                  <a:pt x="345948" y="908050"/>
                </a:lnTo>
                <a:lnTo>
                  <a:pt x="351409" y="913511"/>
                </a:lnTo>
                <a:lnTo>
                  <a:pt x="351409" y="853440"/>
                </a:lnTo>
                <a:lnTo>
                  <a:pt x="29718" y="853440"/>
                </a:lnTo>
                <a:lnTo>
                  <a:pt x="27051" y="858901"/>
                </a:lnTo>
                <a:lnTo>
                  <a:pt x="27051" y="1162304"/>
                </a:lnTo>
                <a:lnTo>
                  <a:pt x="29718" y="1167765"/>
                </a:lnTo>
                <a:lnTo>
                  <a:pt x="201549" y="1167765"/>
                </a:lnTo>
                <a:lnTo>
                  <a:pt x="177038" y="1132205"/>
                </a:lnTo>
                <a:lnTo>
                  <a:pt x="173913" y="1125562"/>
                </a:lnTo>
                <a:lnTo>
                  <a:pt x="172593" y="1118158"/>
                </a:lnTo>
                <a:lnTo>
                  <a:pt x="172783" y="1110259"/>
                </a:lnTo>
                <a:lnTo>
                  <a:pt x="174244" y="1102106"/>
                </a:lnTo>
                <a:lnTo>
                  <a:pt x="108839" y="1003681"/>
                </a:lnTo>
                <a:lnTo>
                  <a:pt x="106045" y="998220"/>
                </a:lnTo>
                <a:lnTo>
                  <a:pt x="106045" y="990092"/>
                </a:lnTo>
                <a:lnTo>
                  <a:pt x="111506" y="987298"/>
                </a:lnTo>
                <a:lnTo>
                  <a:pt x="116967" y="984631"/>
                </a:lnTo>
                <a:lnTo>
                  <a:pt x="125222" y="984631"/>
                </a:lnTo>
                <a:lnTo>
                  <a:pt x="127889" y="990092"/>
                </a:lnTo>
                <a:lnTo>
                  <a:pt x="190627" y="1088517"/>
                </a:lnTo>
                <a:lnTo>
                  <a:pt x="201168" y="1084821"/>
                </a:lnTo>
                <a:lnTo>
                  <a:pt x="211721" y="1085748"/>
                </a:lnTo>
                <a:lnTo>
                  <a:pt x="221246" y="1090790"/>
                </a:lnTo>
                <a:lnTo>
                  <a:pt x="228727" y="1099439"/>
                </a:lnTo>
                <a:lnTo>
                  <a:pt x="272415" y="1162304"/>
                </a:lnTo>
                <a:lnTo>
                  <a:pt x="324231" y="1143127"/>
                </a:lnTo>
                <a:lnTo>
                  <a:pt x="348742" y="1126744"/>
                </a:lnTo>
                <a:lnTo>
                  <a:pt x="341147" y="1117142"/>
                </a:lnTo>
                <a:lnTo>
                  <a:pt x="335114" y="1105204"/>
                </a:lnTo>
                <a:lnTo>
                  <a:pt x="331127" y="1091730"/>
                </a:lnTo>
                <a:lnTo>
                  <a:pt x="330428" y="1084821"/>
                </a:lnTo>
                <a:lnTo>
                  <a:pt x="329692" y="1077468"/>
                </a:lnTo>
                <a:lnTo>
                  <a:pt x="335419" y="1049820"/>
                </a:lnTo>
                <a:lnTo>
                  <a:pt x="367690" y="1014603"/>
                </a:lnTo>
                <a:lnTo>
                  <a:pt x="403225" y="1003681"/>
                </a:lnTo>
                <a:lnTo>
                  <a:pt x="408686" y="1003681"/>
                </a:lnTo>
                <a:lnTo>
                  <a:pt x="416941" y="1006475"/>
                </a:lnTo>
                <a:lnTo>
                  <a:pt x="422275" y="1009142"/>
                </a:lnTo>
                <a:lnTo>
                  <a:pt x="422275" y="1003681"/>
                </a:lnTo>
                <a:lnTo>
                  <a:pt x="422275" y="962787"/>
                </a:lnTo>
                <a:lnTo>
                  <a:pt x="422275" y="929894"/>
                </a:lnTo>
                <a:lnTo>
                  <a:pt x="422275" y="908050"/>
                </a:lnTo>
                <a:lnTo>
                  <a:pt x="422275" y="858901"/>
                </a:lnTo>
                <a:close/>
              </a:path>
              <a:path w="517525" h="1240789">
                <a:moveTo>
                  <a:pt x="422275" y="5461"/>
                </a:moveTo>
                <a:lnTo>
                  <a:pt x="416941" y="0"/>
                </a:lnTo>
                <a:lnTo>
                  <a:pt x="351409" y="0"/>
                </a:lnTo>
                <a:lnTo>
                  <a:pt x="351409" y="60071"/>
                </a:lnTo>
                <a:lnTo>
                  <a:pt x="351409" y="73787"/>
                </a:lnTo>
                <a:lnTo>
                  <a:pt x="351409" y="112014"/>
                </a:lnTo>
                <a:lnTo>
                  <a:pt x="351409" y="125730"/>
                </a:lnTo>
                <a:lnTo>
                  <a:pt x="345948" y="131191"/>
                </a:lnTo>
                <a:lnTo>
                  <a:pt x="318770" y="131191"/>
                </a:lnTo>
                <a:lnTo>
                  <a:pt x="318770" y="166751"/>
                </a:lnTo>
                <a:lnTo>
                  <a:pt x="318770" y="177673"/>
                </a:lnTo>
                <a:lnTo>
                  <a:pt x="315976" y="183134"/>
                </a:lnTo>
                <a:lnTo>
                  <a:pt x="185166" y="183134"/>
                </a:lnTo>
                <a:lnTo>
                  <a:pt x="179705" y="177673"/>
                </a:lnTo>
                <a:lnTo>
                  <a:pt x="179705" y="166751"/>
                </a:lnTo>
                <a:lnTo>
                  <a:pt x="185166" y="161163"/>
                </a:lnTo>
                <a:lnTo>
                  <a:pt x="315976" y="161163"/>
                </a:lnTo>
                <a:lnTo>
                  <a:pt x="318770" y="166751"/>
                </a:lnTo>
                <a:lnTo>
                  <a:pt x="318770" y="131191"/>
                </a:lnTo>
                <a:lnTo>
                  <a:pt x="185166" y="131191"/>
                </a:lnTo>
                <a:lnTo>
                  <a:pt x="179705" y="125730"/>
                </a:lnTo>
                <a:lnTo>
                  <a:pt x="179705" y="112014"/>
                </a:lnTo>
                <a:lnTo>
                  <a:pt x="185166" y="109347"/>
                </a:lnTo>
                <a:lnTo>
                  <a:pt x="345948" y="109347"/>
                </a:lnTo>
                <a:lnTo>
                  <a:pt x="351409" y="112014"/>
                </a:lnTo>
                <a:lnTo>
                  <a:pt x="351409" y="73787"/>
                </a:lnTo>
                <a:lnTo>
                  <a:pt x="345948" y="76454"/>
                </a:lnTo>
                <a:lnTo>
                  <a:pt x="185166" y="76454"/>
                </a:lnTo>
                <a:lnTo>
                  <a:pt x="179705" y="73787"/>
                </a:lnTo>
                <a:lnTo>
                  <a:pt x="179705" y="60071"/>
                </a:lnTo>
                <a:lnTo>
                  <a:pt x="185166" y="54610"/>
                </a:lnTo>
                <a:lnTo>
                  <a:pt x="345948" y="54610"/>
                </a:lnTo>
                <a:lnTo>
                  <a:pt x="351409" y="60071"/>
                </a:lnTo>
                <a:lnTo>
                  <a:pt x="351409" y="0"/>
                </a:lnTo>
                <a:lnTo>
                  <a:pt x="29718" y="0"/>
                </a:lnTo>
                <a:lnTo>
                  <a:pt x="27051" y="5461"/>
                </a:lnTo>
                <a:lnTo>
                  <a:pt x="27051" y="308864"/>
                </a:lnTo>
                <a:lnTo>
                  <a:pt x="29718" y="314325"/>
                </a:lnTo>
                <a:lnTo>
                  <a:pt x="201549" y="314325"/>
                </a:lnTo>
                <a:lnTo>
                  <a:pt x="177038" y="278765"/>
                </a:lnTo>
                <a:lnTo>
                  <a:pt x="173913" y="272122"/>
                </a:lnTo>
                <a:lnTo>
                  <a:pt x="172593" y="264718"/>
                </a:lnTo>
                <a:lnTo>
                  <a:pt x="172783" y="256819"/>
                </a:lnTo>
                <a:lnTo>
                  <a:pt x="174244" y="248666"/>
                </a:lnTo>
                <a:lnTo>
                  <a:pt x="108839" y="150241"/>
                </a:lnTo>
                <a:lnTo>
                  <a:pt x="106045" y="144780"/>
                </a:lnTo>
                <a:lnTo>
                  <a:pt x="106045" y="136652"/>
                </a:lnTo>
                <a:lnTo>
                  <a:pt x="111506" y="133858"/>
                </a:lnTo>
                <a:lnTo>
                  <a:pt x="116967" y="131191"/>
                </a:lnTo>
                <a:lnTo>
                  <a:pt x="125222" y="131191"/>
                </a:lnTo>
                <a:lnTo>
                  <a:pt x="127889" y="136652"/>
                </a:lnTo>
                <a:lnTo>
                  <a:pt x="190627" y="235077"/>
                </a:lnTo>
                <a:lnTo>
                  <a:pt x="201168" y="231381"/>
                </a:lnTo>
                <a:lnTo>
                  <a:pt x="211721" y="232308"/>
                </a:lnTo>
                <a:lnTo>
                  <a:pt x="221246" y="237350"/>
                </a:lnTo>
                <a:lnTo>
                  <a:pt x="228727" y="245999"/>
                </a:lnTo>
                <a:lnTo>
                  <a:pt x="272415" y="308864"/>
                </a:lnTo>
                <a:lnTo>
                  <a:pt x="324231" y="289687"/>
                </a:lnTo>
                <a:lnTo>
                  <a:pt x="348742" y="273304"/>
                </a:lnTo>
                <a:lnTo>
                  <a:pt x="341147" y="263702"/>
                </a:lnTo>
                <a:lnTo>
                  <a:pt x="335114" y="251764"/>
                </a:lnTo>
                <a:lnTo>
                  <a:pt x="331127" y="238290"/>
                </a:lnTo>
                <a:lnTo>
                  <a:pt x="330428" y="231381"/>
                </a:lnTo>
                <a:lnTo>
                  <a:pt x="329692" y="224028"/>
                </a:lnTo>
                <a:lnTo>
                  <a:pt x="335419" y="196380"/>
                </a:lnTo>
                <a:lnTo>
                  <a:pt x="367690" y="161163"/>
                </a:lnTo>
                <a:lnTo>
                  <a:pt x="403225" y="150241"/>
                </a:lnTo>
                <a:lnTo>
                  <a:pt x="408686" y="150241"/>
                </a:lnTo>
                <a:lnTo>
                  <a:pt x="416941" y="153035"/>
                </a:lnTo>
                <a:lnTo>
                  <a:pt x="422275" y="155702"/>
                </a:lnTo>
                <a:lnTo>
                  <a:pt x="422275" y="150241"/>
                </a:lnTo>
                <a:lnTo>
                  <a:pt x="422275" y="109347"/>
                </a:lnTo>
                <a:lnTo>
                  <a:pt x="422275" y="76454"/>
                </a:lnTo>
                <a:lnTo>
                  <a:pt x="422275" y="54610"/>
                </a:lnTo>
                <a:lnTo>
                  <a:pt x="422275" y="5461"/>
                </a:lnTo>
                <a:close/>
              </a:path>
              <a:path w="517525" h="1240789">
                <a:moveTo>
                  <a:pt x="517525" y="1240790"/>
                </a:moveTo>
                <a:lnTo>
                  <a:pt x="513054" y="1209014"/>
                </a:lnTo>
                <a:lnTo>
                  <a:pt x="512660" y="1208151"/>
                </a:lnTo>
                <a:lnTo>
                  <a:pt x="500151" y="1180020"/>
                </a:lnTo>
                <a:lnTo>
                  <a:pt x="496354" y="1175512"/>
                </a:lnTo>
                <a:lnTo>
                  <a:pt x="479590" y="1155611"/>
                </a:lnTo>
                <a:lnTo>
                  <a:pt x="452120" y="1137539"/>
                </a:lnTo>
                <a:lnTo>
                  <a:pt x="438531" y="1132078"/>
                </a:lnTo>
                <a:lnTo>
                  <a:pt x="449453" y="1121283"/>
                </a:lnTo>
                <a:lnTo>
                  <a:pt x="455422" y="1112177"/>
                </a:lnTo>
                <a:lnTo>
                  <a:pt x="460629" y="1101572"/>
                </a:lnTo>
                <a:lnTo>
                  <a:pt x="464312" y="1089964"/>
                </a:lnTo>
                <a:lnTo>
                  <a:pt x="465709" y="1077849"/>
                </a:lnTo>
                <a:lnTo>
                  <a:pt x="462305" y="1058189"/>
                </a:lnTo>
                <a:lnTo>
                  <a:pt x="452767" y="1040803"/>
                </a:lnTo>
                <a:lnTo>
                  <a:pt x="438111" y="1026985"/>
                </a:lnTo>
                <a:lnTo>
                  <a:pt x="419354" y="1018032"/>
                </a:lnTo>
                <a:lnTo>
                  <a:pt x="414020" y="1018032"/>
                </a:lnTo>
                <a:lnTo>
                  <a:pt x="408559" y="1015365"/>
                </a:lnTo>
                <a:lnTo>
                  <a:pt x="403098" y="1015365"/>
                </a:lnTo>
                <a:lnTo>
                  <a:pt x="378282" y="1020546"/>
                </a:lnTo>
                <a:lnTo>
                  <a:pt x="358394" y="1034376"/>
                </a:lnTo>
                <a:lnTo>
                  <a:pt x="345160" y="1054328"/>
                </a:lnTo>
                <a:lnTo>
                  <a:pt x="340360" y="1077849"/>
                </a:lnTo>
                <a:lnTo>
                  <a:pt x="341376" y="1089964"/>
                </a:lnTo>
                <a:lnTo>
                  <a:pt x="344449" y="1101572"/>
                </a:lnTo>
                <a:lnTo>
                  <a:pt x="349567" y="1112177"/>
                </a:lnTo>
                <a:lnTo>
                  <a:pt x="356743" y="1121283"/>
                </a:lnTo>
                <a:lnTo>
                  <a:pt x="367538" y="1132078"/>
                </a:lnTo>
                <a:lnTo>
                  <a:pt x="353949" y="1137539"/>
                </a:lnTo>
                <a:lnTo>
                  <a:pt x="347865" y="1141209"/>
                </a:lnTo>
                <a:lnTo>
                  <a:pt x="342023" y="1144346"/>
                </a:lnTo>
                <a:lnTo>
                  <a:pt x="336677" y="1147470"/>
                </a:lnTo>
                <a:lnTo>
                  <a:pt x="332105" y="1151128"/>
                </a:lnTo>
                <a:lnTo>
                  <a:pt x="329438" y="1151128"/>
                </a:lnTo>
                <a:lnTo>
                  <a:pt x="266700" y="1175512"/>
                </a:lnTo>
                <a:lnTo>
                  <a:pt x="220345" y="1104900"/>
                </a:lnTo>
                <a:lnTo>
                  <a:pt x="214884" y="1099566"/>
                </a:lnTo>
                <a:lnTo>
                  <a:pt x="209423" y="1096772"/>
                </a:lnTo>
                <a:lnTo>
                  <a:pt x="195834" y="1096772"/>
                </a:lnTo>
                <a:lnTo>
                  <a:pt x="193040" y="1099566"/>
                </a:lnTo>
                <a:lnTo>
                  <a:pt x="186436" y="1104531"/>
                </a:lnTo>
                <a:lnTo>
                  <a:pt x="183159" y="1111059"/>
                </a:lnTo>
                <a:lnTo>
                  <a:pt x="183464" y="1118641"/>
                </a:lnTo>
                <a:lnTo>
                  <a:pt x="187579" y="1126744"/>
                </a:lnTo>
                <a:lnTo>
                  <a:pt x="242189" y="1210818"/>
                </a:lnTo>
                <a:lnTo>
                  <a:pt x="244856" y="1216279"/>
                </a:lnTo>
                <a:lnTo>
                  <a:pt x="253111" y="1219073"/>
                </a:lnTo>
                <a:lnTo>
                  <a:pt x="266700" y="1219073"/>
                </a:lnTo>
                <a:lnTo>
                  <a:pt x="291211" y="1208151"/>
                </a:lnTo>
                <a:lnTo>
                  <a:pt x="288544" y="1227201"/>
                </a:lnTo>
                <a:lnTo>
                  <a:pt x="288544" y="1240790"/>
                </a:lnTo>
                <a:lnTo>
                  <a:pt x="517525" y="1240790"/>
                </a:lnTo>
                <a:close/>
              </a:path>
              <a:path w="517525" h="1240789">
                <a:moveTo>
                  <a:pt x="517525" y="387350"/>
                </a:moveTo>
                <a:lnTo>
                  <a:pt x="513054" y="355574"/>
                </a:lnTo>
                <a:lnTo>
                  <a:pt x="512660" y="354711"/>
                </a:lnTo>
                <a:lnTo>
                  <a:pt x="500151" y="326580"/>
                </a:lnTo>
                <a:lnTo>
                  <a:pt x="496354" y="322072"/>
                </a:lnTo>
                <a:lnTo>
                  <a:pt x="479590" y="302171"/>
                </a:lnTo>
                <a:lnTo>
                  <a:pt x="452120" y="284099"/>
                </a:lnTo>
                <a:lnTo>
                  <a:pt x="438531" y="278638"/>
                </a:lnTo>
                <a:lnTo>
                  <a:pt x="449453" y="267843"/>
                </a:lnTo>
                <a:lnTo>
                  <a:pt x="455422" y="258737"/>
                </a:lnTo>
                <a:lnTo>
                  <a:pt x="460629" y="248132"/>
                </a:lnTo>
                <a:lnTo>
                  <a:pt x="464312" y="236524"/>
                </a:lnTo>
                <a:lnTo>
                  <a:pt x="465709" y="224409"/>
                </a:lnTo>
                <a:lnTo>
                  <a:pt x="462305" y="204749"/>
                </a:lnTo>
                <a:lnTo>
                  <a:pt x="452767" y="187363"/>
                </a:lnTo>
                <a:lnTo>
                  <a:pt x="438111" y="173545"/>
                </a:lnTo>
                <a:lnTo>
                  <a:pt x="419354" y="164592"/>
                </a:lnTo>
                <a:lnTo>
                  <a:pt x="414020" y="164592"/>
                </a:lnTo>
                <a:lnTo>
                  <a:pt x="408559" y="161925"/>
                </a:lnTo>
                <a:lnTo>
                  <a:pt x="403098" y="161925"/>
                </a:lnTo>
                <a:lnTo>
                  <a:pt x="378282" y="167106"/>
                </a:lnTo>
                <a:lnTo>
                  <a:pt x="358394" y="180936"/>
                </a:lnTo>
                <a:lnTo>
                  <a:pt x="345160" y="200888"/>
                </a:lnTo>
                <a:lnTo>
                  <a:pt x="340360" y="224409"/>
                </a:lnTo>
                <a:lnTo>
                  <a:pt x="341376" y="236524"/>
                </a:lnTo>
                <a:lnTo>
                  <a:pt x="344449" y="248132"/>
                </a:lnTo>
                <a:lnTo>
                  <a:pt x="349567" y="258737"/>
                </a:lnTo>
                <a:lnTo>
                  <a:pt x="356743" y="267843"/>
                </a:lnTo>
                <a:lnTo>
                  <a:pt x="367538" y="278638"/>
                </a:lnTo>
                <a:lnTo>
                  <a:pt x="353949" y="284099"/>
                </a:lnTo>
                <a:lnTo>
                  <a:pt x="347865" y="287769"/>
                </a:lnTo>
                <a:lnTo>
                  <a:pt x="342023" y="290893"/>
                </a:lnTo>
                <a:lnTo>
                  <a:pt x="336677" y="294030"/>
                </a:lnTo>
                <a:lnTo>
                  <a:pt x="332105" y="297688"/>
                </a:lnTo>
                <a:lnTo>
                  <a:pt x="329438" y="297688"/>
                </a:lnTo>
                <a:lnTo>
                  <a:pt x="266700" y="322072"/>
                </a:lnTo>
                <a:lnTo>
                  <a:pt x="220345" y="251460"/>
                </a:lnTo>
                <a:lnTo>
                  <a:pt x="214884" y="246126"/>
                </a:lnTo>
                <a:lnTo>
                  <a:pt x="209423" y="243332"/>
                </a:lnTo>
                <a:lnTo>
                  <a:pt x="195834" y="243332"/>
                </a:lnTo>
                <a:lnTo>
                  <a:pt x="193040" y="246126"/>
                </a:lnTo>
                <a:lnTo>
                  <a:pt x="186436" y="251091"/>
                </a:lnTo>
                <a:lnTo>
                  <a:pt x="183159" y="257619"/>
                </a:lnTo>
                <a:lnTo>
                  <a:pt x="183464" y="265201"/>
                </a:lnTo>
                <a:lnTo>
                  <a:pt x="187579" y="273304"/>
                </a:lnTo>
                <a:lnTo>
                  <a:pt x="242189" y="357378"/>
                </a:lnTo>
                <a:lnTo>
                  <a:pt x="244856" y="362839"/>
                </a:lnTo>
                <a:lnTo>
                  <a:pt x="253111" y="365633"/>
                </a:lnTo>
                <a:lnTo>
                  <a:pt x="266700" y="365633"/>
                </a:lnTo>
                <a:lnTo>
                  <a:pt x="291211" y="354711"/>
                </a:lnTo>
                <a:lnTo>
                  <a:pt x="288544" y="373761"/>
                </a:lnTo>
                <a:lnTo>
                  <a:pt x="288544" y="387350"/>
                </a:lnTo>
                <a:lnTo>
                  <a:pt x="517525" y="387350"/>
                </a:lnTo>
                <a:close/>
              </a:path>
            </a:pathLst>
          </a:custGeom>
          <a:solidFill>
            <a:srgbClr val="5A31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789047" y="1749298"/>
            <a:ext cx="286639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树转换为二叉树</a:t>
            </a:r>
            <a:endParaRPr sz="280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森林转换为二叉树</a:t>
            </a:r>
            <a:endParaRPr sz="2800" dirty="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94466" y="6016379"/>
            <a:ext cx="5499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5" dirty="0">
                <a:solidFill>
                  <a:srgbClr val="FFFFFF"/>
                </a:solidFill>
                <a:latin typeface="Times New Roman"/>
                <a:cs typeface="Times New Roman"/>
              </a:rPr>
              <a:t>Page</a:t>
            </a:r>
            <a:r>
              <a:rPr sz="12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01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89047" y="3456559"/>
            <a:ext cx="39319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二叉树转换为树（森林）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" name="object 3"/>
          <p:cNvSpPr/>
          <p:nvPr/>
        </p:nvSpPr>
        <p:spPr>
          <a:xfrm>
            <a:off x="542925" y="100964"/>
            <a:ext cx="1997075" cy="2081530"/>
          </a:xfrm>
          <a:custGeom>
            <a:avLst/>
            <a:gdLst/>
            <a:ahLst/>
            <a:cxnLst/>
            <a:rect l="l" t="t" r="r" b="b"/>
            <a:pathLst>
              <a:path w="1997075" h="2081530">
                <a:moveTo>
                  <a:pt x="1642491" y="2042795"/>
                </a:moveTo>
                <a:lnTo>
                  <a:pt x="1637030" y="2040001"/>
                </a:lnTo>
                <a:lnTo>
                  <a:pt x="1424559" y="2040001"/>
                </a:lnTo>
                <a:lnTo>
                  <a:pt x="1421765" y="2042795"/>
                </a:lnTo>
                <a:lnTo>
                  <a:pt x="1421765" y="2056638"/>
                </a:lnTo>
                <a:lnTo>
                  <a:pt x="1424559" y="2062226"/>
                </a:lnTo>
                <a:lnTo>
                  <a:pt x="1631569" y="2062226"/>
                </a:lnTo>
                <a:lnTo>
                  <a:pt x="1637030" y="2062226"/>
                </a:lnTo>
                <a:lnTo>
                  <a:pt x="1642491" y="2056638"/>
                </a:lnTo>
                <a:lnTo>
                  <a:pt x="1642491" y="2042795"/>
                </a:lnTo>
                <a:close/>
              </a:path>
              <a:path w="1997075" h="2081530">
                <a:moveTo>
                  <a:pt x="1844040" y="1699387"/>
                </a:moveTo>
                <a:lnTo>
                  <a:pt x="1838706" y="1693926"/>
                </a:lnTo>
                <a:lnTo>
                  <a:pt x="1773174" y="1693926"/>
                </a:lnTo>
                <a:lnTo>
                  <a:pt x="1773174" y="1753997"/>
                </a:lnTo>
                <a:lnTo>
                  <a:pt x="1773174" y="1767713"/>
                </a:lnTo>
                <a:lnTo>
                  <a:pt x="1773174" y="1805940"/>
                </a:lnTo>
                <a:lnTo>
                  <a:pt x="1773174" y="1819656"/>
                </a:lnTo>
                <a:lnTo>
                  <a:pt x="1767713" y="1825117"/>
                </a:lnTo>
                <a:lnTo>
                  <a:pt x="1740535" y="1825117"/>
                </a:lnTo>
                <a:lnTo>
                  <a:pt x="1740535" y="1860677"/>
                </a:lnTo>
                <a:lnTo>
                  <a:pt x="1740535" y="1871599"/>
                </a:lnTo>
                <a:lnTo>
                  <a:pt x="1737741" y="1877060"/>
                </a:lnTo>
                <a:lnTo>
                  <a:pt x="1606931" y="1877060"/>
                </a:lnTo>
                <a:lnTo>
                  <a:pt x="1601470" y="1871599"/>
                </a:lnTo>
                <a:lnTo>
                  <a:pt x="1601470" y="1860677"/>
                </a:lnTo>
                <a:lnTo>
                  <a:pt x="1606931" y="1855089"/>
                </a:lnTo>
                <a:lnTo>
                  <a:pt x="1737741" y="1855089"/>
                </a:lnTo>
                <a:lnTo>
                  <a:pt x="1740535" y="1860677"/>
                </a:lnTo>
                <a:lnTo>
                  <a:pt x="1740535" y="1825117"/>
                </a:lnTo>
                <a:lnTo>
                  <a:pt x="1606931" y="1825117"/>
                </a:lnTo>
                <a:lnTo>
                  <a:pt x="1601470" y="1819656"/>
                </a:lnTo>
                <a:lnTo>
                  <a:pt x="1601470" y="1805940"/>
                </a:lnTo>
                <a:lnTo>
                  <a:pt x="1606931" y="1803273"/>
                </a:lnTo>
                <a:lnTo>
                  <a:pt x="1767713" y="1803273"/>
                </a:lnTo>
                <a:lnTo>
                  <a:pt x="1773174" y="1805940"/>
                </a:lnTo>
                <a:lnTo>
                  <a:pt x="1773174" y="1767713"/>
                </a:lnTo>
                <a:lnTo>
                  <a:pt x="1767713" y="1770380"/>
                </a:lnTo>
                <a:lnTo>
                  <a:pt x="1606931" y="1770380"/>
                </a:lnTo>
                <a:lnTo>
                  <a:pt x="1601470" y="1767713"/>
                </a:lnTo>
                <a:lnTo>
                  <a:pt x="1601470" y="1753997"/>
                </a:lnTo>
                <a:lnTo>
                  <a:pt x="1606931" y="1748536"/>
                </a:lnTo>
                <a:lnTo>
                  <a:pt x="1767713" y="1748536"/>
                </a:lnTo>
                <a:lnTo>
                  <a:pt x="1773174" y="1753997"/>
                </a:lnTo>
                <a:lnTo>
                  <a:pt x="1773174" y="1693926"/>
                </a:lnTo>
                <a:lnTo>
                  <a:pt x="1451483" y="1693926"/>
                </a:lnTo>
                <a:lnTo>
                  <a:pt x="1448816" y="1699387"/>
                </a:lnTo>
                <a:lnTo>
                  <a:pt x="1448816" y="2002790"/>
                </a:lnTo>
                <a:lnTo>
                  <a:pt x="1451483" y="2008251"/>
                </a:lnTo>
                <a:lnTo>
                  <a:pt x="1623314" y="2008251"/>
                </a:lnTo>
                <a:lnTo>
                  <a:pt x="1598803" y="1972691"/>
                </a:lnTo>
                <a:lnTo>
                  <a:pt x="1595678" y="1966048"/>
                </a:lnTo>
                <a:lnTo>
                  <a:pt x="1594358" y="1958644"/>
                </a:lnTo>
                <a:lnTo>
                  <a:pt x="1594548" y="1950745"/>
                </a:lnTo>
                <a:lnTo>
                  <a:pt x="1596009" y="1942592"/>
                </a:lnTo>
                <a:lnTo>
                  <a:pt x="1530604" y="1844167"/>
                </a:lnTo>
                <a:lnTo>
                  <a:pt x="1527810" y="1838706"/>
                </a:lnTo>
                <a:lnTo>
                  <a:pt x="1527810" y="1830578"/>
                </a:lnTo>
                <a:lnTo>
                  <a:pt x="1533271" y="1827784"/>
                </a:lnTo>
                <a:lnTo>
                  <a:pt x="1538732" y="1825117"/>
                </a:lnTo>
                <a:lnTo>
                  <a:pt x="1546987" y="1825117"/>
                </a:lnTo>
                <a:lnTo>
                  <a:pt x="1549654" y="1830578"/>
                </a:lnTo>
                <a:lnTo>
                  <a:pt x="1612392" y="1929003"/>
                </a:lnTo>
                <a:lnTo>
                  <a:pt x="1622933" y="1925307"/>
                </a:lnTo>
                <a:lnTo>
                  <a:pt x="1633486" y="1926234"/>
                </a:lnTo>
                <a:lnTo>
                  <a:pt x="1643011" y="1931276"/>
                </a:lnTo>
                <a:lnTo>
                  <a:pt x="1650492" y="1939925"/>
                </a:lnTo>
                <a:lnTo>
                  <a:pt x="1694180" y="2002790"/>
                </a:lnTo>
                <a:lnTo>
                  <a:pt x="1745996" y="1983613"/>
                </a:lnTo>
                <a:lnTo>
                  <a:pt x="1770507" y="1967230"/>
                </a:lnTo>
                <a:lnTo>
                  <a:pt x="1762912" y="1957628"/>
                </a:lnTo>
                <a:lnTo>
                  <a:pt x="1756879" y="1945690"/>
                </a:lnTo>
                <a:lnTo>
                  <a:pt x="1752892" y="1932216"/>
                </a:lnTo>
                <a:lnTo>
                  <a:pt x="1752193" y="1925307"/>
                </a:lnTo>
                <a:lnTo>
                  <a:pt x="1751457" y="1917954"/>
                </a:lnTo>
                <a:lnTo>
                  <a:pt x="1757184" y="1890306"/>
                </a:lnTo>
                <a:lnTo>
                  <a:pt x="1789455" y="1855089"/>
                </a:lnTo>
                <a:lnTo>
                  <a:pt x="1824990" y="1844167"/>
                </a:lnTo>
                <a:lnTo>
                  <a:pt x="1830451" y="1844167"/>
                </a:lnTo>
                <a:lnTo>
                  <a:pt x="1838706" y="1846961"/>
                </a:lnTo>
                <a:lnTo>
                  <a:pt x="1844040" y="1849628"/>
                </a:lnTo>
                <a:lnTo>
                  <a:pt x="1844040" y="1844167"/>
                </a:lnTo>
                <a:lnTo>
                  <a:pt x="1844040" y="1803273"/>
                </a:lnTo>
                <a:lnTo>
                  <a:pt x="1844040" y="1770380"/>
                </a:lnTo>
                <a:lnTo>
                  <a:pt x="1844040" y="1748536"/>
                </a:lnTo>
                <a:lnTo>
                  <a:pt x="1844040" y="1699387"/>
                </a:lnTo>
                <a:close/>
              </a:path>
              <a:path w="1997075" h="2081530">
                <a:moveTo>
                  <a:pt x="1939290" y="2081276"/>
                </a:moveTo>
                <a:lnTo>
                  <a:pt x="1934819" y="2049500"/>
                </a:lnTo>
                <a:lnTo>
                  <a:pt x="1934425" y="2048637"/>
                </a:lnTo>
                <a:lnTo>
                  <a:pt x="1921916" y="2020506"/>
                </a:lnTo>
                <a:lnTo>
                  <a:pt x="1918119" y="2015998"/>
                </a:lnTo>
                <a:lnTo>
                  <a:pt x="1901355" y="1996097"/>
                </a:lnTo>
                <a:lnTo>
                  <a:pt x="1873885" y="1978025"/>
                </a:lnTo>
                <a:lnTo>
                  <a:pt x="1860296" y="1972564"/>
                </a:lnTo>
                <a:lnTo>
                  <a:pt x="1871218" y="1961769"/>
                </a:lnTo>
                <a:lnTo>
                  <a:pt x="1877187" y="1952663"/>
                </a:lnTo>
                <a:lnTo>
                  <a:pt x="1882394" y="1942058"/>
                </a:lnTo>
                <a:lnTo>
                  <a:pt x="1886077" y="1930450"/>
                </a:lnTo>
                <a:lnTo>
                  <a:pt x="1887474" y="1918335"/>
                </a:lnTo>
                <a:lnTo>
                  <a:pt x="1884070" y="1898675"/>
                </a:lnTo>
                <a:lnTo>
                  <a:pt x="1874532" y="1881289"/>
                </a:lnTo>
                <a:lnTo>
                  <a:pt x="1859876" y="1867471"/>
                </a:lnTo>
                <a:lnTo>
                  <a:pt x="1841119" y="1858518"/>
                </a:lnTo>
                <a:lnTo>
                  <a:pt x="1835785" y="1858518"/>
                </a:lnTo>
                <a:lnTo>
                  <a:pt x="1830324" y="1855851"/>
                </a:lnTo>
                <a:lnTo>
                  <a:pt x="1824863" y="1855851"/>
                </a:lnTo>
                <a:lnTo>
                  <a:pt x="1800047" y="1861032"/>
                </a:lnTo>
                <a:lnTo>
                  <a:pt x="1780159" y="1874862"/>
                </a:lnTo>
                <a:lnTo>
                  <a:pt x="1766925" y="1894814"/>
                </a:lnTo>
                <a:lnTo>
                  <a:pt x="1762125" y="1918335"/>
                </a:lnTo>
                <a:lnTo>
                  <a:pt x="1763141" y="1930450"/>
                </a:lnTo>
                <a:lnTo>
                  <a:pt x="1766214" y="1942058"/>
                </a:lnTo>
                <a:lnTo>
                  <a:pt x="1771332" y="1952663"/>
                </a:lnTo>
                <a:lnTo>
                  <a:pt x="1778508" y="1961769"/>
                </a:lnTo>
                <a:lnTo>
                  <a:pt x="1789303" y="1972564"/>
                </a:lnTo>
                <a:lnTo>
                  <a:pt x="1775714" y="1978025"/>
                </a:lnTo>
                <a:lnTo>
                  <a:pt x="1769630" y="1981695"/>
                </a:lnTo>
                <a:lnTo>
                  <a:pt x="1763788" y="1984819"/>
                </a:lnTo>
                <a:lnTo>
                  <a:pt x="1758442" y="1987956"/>
                </a:lnTo>
                <a:lnTo>
                  <a:pt x="1753870" y="1991614"/>
                </a:lnTo>
                <a:lnTo>
                  <a:pt x="1751203" y="1991614"/>
                </a:lnTo>
                <a:lnTo>
                  <a:pt x="1688465" y="2015998"/>
                </a:lnTo>
                <a:lnTo>
                  <a:pt x="1642110" y="1945386"/>
                </a:lnTo>
                <a:lnTo>
                  <a:pt x="1636649" y="1940052"/>
                </a:lnTo>
                <a:lnTo>
                  <a:pt x="1631188" y="1937258"/>
                </a:lnTo>
                <a:lnTo>
                  <a:pt x="1617599" y="1937258"/>
                </a:lnTo>
                <a:lnTo>
                  <a:pt x="1614805" y="1940052"/>
                </a:lnTo>
                <a:lnTo>
                  <a:pt x="1608201" y="1945017"/>
                </a:lnTo>
                <a:lnTo>
                  <a:pt x="1604924" y="1951545"/>
                </a:lnTo>
                <a:lnTo>
                  <a:pt x="1605229" y="1959127"/>
                </a:lnTo>
                <a:lnTo>
                  <a:pt x="1609344" y="1967230"/>
                </a:lnTo>
                <a:lnTo>
                  <a:pt x="1663954" y="2051304"/>
                </a:lnTo>
                <a:lnTo>
                  <a:pt x="1666621" y="2056765"/>
                </a:lnTo>
                <a:lnTo>
                  <a:pt x="1674876" y="2059559"/>
                </a:lnTo>
                <a:lnTo>
                  <a:pt x="1688465" y="2059559"/>
                </a:lnTo>
                <a:lnTo>
                  <a:pt x="1712976" y="2048637"/>
                </a:lnTo>
                <a:lnTo>
                  <a:pt x="1710309" y="2067687"/>
                </a:lnTo>
                <a:lnTo>
                  <a:pt x="1710309" y="2081276"/>
                </a:lnTo>
                <a:lnTo>
                  <a:pt x="1939290" y="2081276"/>
                </a:lnTo>
                <a:close/>
              </a:path>
              <a:path w="1997075" h="2081530">
                <a:moveTo>
                  <a:pt x="1997075" y="90043"/>
                </a:moveTo>
                <a:lnTo>
                  <a:pt x="1990001" y="54978"/>
                </a:lnTo>
                <a:lnTo>
                  <a:pt x="1970709" y="26365"/>
                </a:lnTo>
                <a:lnTo>
                  <a:pt x="1942096" y="7073"/>
                </a:lnTo>
                <a:lnTo>
                  <a:pt x="1907032" y="0"/>
                </a:lnTo>
                <a:lnTo>
                  <a:pt x="90004" y="0"/>
                </a:lnTo>
                <a:lnTo>
                  <a:pt x="54965" y="7073"/>
                </a:lnTo>
                <a:lnTo>
                  <a:pt x="26352" y="26365"/>
                </a:lnTo>
                <a:lnTo>
                  <a:pt x="7061" y="54978"/>
                </a:lnTo>
                <a:lnTo>
                  <a:pt x="0" y="90043"/>
                </a:lnTo>
                <a:lnTo>
                  <a:pt x="0" y="449961"/>
                </a:lnTo>
                <a:lnTo>
                  <a:pt x="7061" y="485038"/>
                </a:lnTo>
                <a:lnTo>
                  <a:pt x="26352" y="513664"/>
                </a:lnTo>
                <a:lnTo>
                  <a:pt x="54965" y="532942"/>
                </a:lnTo>
                <a:lnTo>
                  <a:pt x="90004" y="540004"/>
                </a:lnTo>
                <a:lnTo>
                  <a:pt x="1907032" y="540004"/>
                </a:lnTo>
                <a:lnTo>
                  <a:pt x="1942096" y="532942"/>
                </a:lnTo>
                <a:lnTo>
                  <a:pt x="1970722" y="513664"/>
                </a:lnTo>
                <a:lnTo>
                  <a:pt x="1990001" y="485038"/>
                </a:lnTo>
                <a:lnTo>
                  <a:pt x="1997075" y="449961"/>
                </a:lnTo>
                <a:lnTo>
                  <a:pt x="1997075" y="90043"/>
                </a:lnTo>
                <a:close/>
              </a:path>
            </a:pathLst>
          </a:custGeom>
          <a:solidFill>
            <a:srgbClr val="5A317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321561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48643" y="2017267"/>
            <a:ext cx="152400" cy="25355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algn="just">
              <a:lnSpc>
                <a:spcPts val="1000"/>
              </a:lnSpc>
              <a:spcBef>
                <a:spcPts val="2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数 据 结 构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880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（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从 概 念 到 实 现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975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640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清 华 大 学 出 版 社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42925" y="100964"/>
            <a:ext cx="4485894" cy="540385"/>
          </a:xfrm>
          <a:custGeom>
            <a:avLst/>
            <a:gdLst/>
            <a:ahLst/>
            <a:cxnLst/>
            <a:rect l="l" t="t" r="r" b="b"/>
            <a:pathLst>
              <a:path w="4428490" h="540385">
                <a:moveTo>
                  <a:pt x="4337939" y="0"/>
                </a:moveTo>
                <a:lnTo>
                  <a:pt x="90004" y="0"/>
                </a:lnTo>
                <a:lnTo>
                  <a:pt x="54971" y="7068"/>
                </a:lnTo>
                <a:lnTo>
                  <a:pt x="26362" y="26352"/>
                </a:lnTo>
                <a:lnTo>
                  <a:pt x="7073" y="54971"/>
                </a:lnTo>
                <a:lnTo>
                  <a:pt x="0" y="90042"/>
                </a:lnTo>
                <a:lnTo>
                  <a:pt x="0" y="449960"/>
                </a:lnTo>
                <a:lnTo>
                  <a:pt x="7073" y="485032"/>
                </a:lnTo>
                <a:lnTo>
                  <a:pt x="26362" y="513651"/>
                </a:lnTo>
                <a:lnTo>
                  <a:pt x="54971" y="532935"/>
                </a:lnTo>
                <a:lnTo>
                  <a:pt x="90004" y="540003"/>
                </a:lnTo>
                <a:lnTo>
                  <a:pt x="4337939" y="540003"/>
                </a:lnTo>
                <a:lnTo>
                  <a:pt x="4373010" y="532935"/>
                </a:lnTo>
                <a:lnTo>
                  <a:pt x="4401629" y="513651"/>
                </a:lnTo>
                <a:lnTo>
                  <a:pt x="4420913" y="485032"/>
                </a:lnTo>
                <a:lnTo>
                  <a:pt x="4427982" y="449960"/>
                </a:lnTo>
                <a:lnTo>
                  <a:pt x="4427982" y="90042"/>
                </a:lnTo>
                <a:lnTo>
                  <a:pt x="4420913" y="54971"/>
                </a:lnTo>
                <a:lnTo>
                  <a:pt x="4401629" y="26352"/>
                </a:lnTo>
                <a:lnTo>
                  <a:pt x="4373010" y="7068"/>
                </a:lnTo>
                <a:lnTo>
                  <a:pt x="4337939" y="0"/>
                </a:lnTo>
                <a:close/>
              </a:path>
            </a:pathLst>
          </a:custGeom>
          <a:solidFill>
            <a:srgbClr val="5A317C"/>
          </a:solidFill>
        </p:spPr>
        <p:txBody>
          <a:bodyPr wrap="square" lIns="0" tIns="0" rIns="0" bIns="0" rtlCol="0"/>
          <a:lstStyle/>
          <a:p>
            <a:endParaRPr>
              <a:solidFill>
                <a:schemeClr val="bg1"/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6990" y="141808"/>
            <a:ext cx="662119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solidFill>
                  <a:schemeClr val="bg1"/>
                </a:solidFill>
              </a:rPr>
              <a:t>树与</a:t>
            </a:r>
            <a:r>
              <a:rPr sz="2800" spc="-10" dirty="0">
                <a:solidFill>
                  <a:schemeClr val="bg1"/>
                </a:solidFill>
              </a:rPr>
              <a:t>二</a:t>
            </a:r>
            <a:r>
              <a:rPr sz="2800" spc="-5" dirty="0">
                <a:solidFill>
                  <a:schemeClr val="bg1"/>
                </a:solidFill>
              </a:rPr>
              <a:t>叉树</a:t>
            </a:r>
            <a:r>
              <a:rPr sz="2800" spc="-10" dirty="0">
                <a:solidFill>
                  <a:schemeClr val="bg1"/>
                </a:solidFill>
              </a:rPr>
              <a:t>的</a:t>
            </a:r>
            <a:r>
              <a:rPr sz="2800" spc="-5" dirty="0">
                <a:solidFill>
                  <a:schemeClr val="bg1"/>
                </a:solidFill>
              </a:rPr>
              <a:t>对应</a:t>
            </a:r>
            <a:r>
              <a:rPr sz="2800" spc="-10" dirty="0">
                <a:solidFill>
                  <a:schemeClr val="bg1"/>
                </a:solidFill>
              </a:rPr>
              <a:t>关系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424112" y="2080717"/>
          <a:ext cx="1143000" cy="374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507C7C"/>
                      </a:solidFill>
                      <a:prstDash val="solid"/>
                    </a:lnL>
                    <a:lnR w="28575">
                      <a:solidFill>
                        <a:srgbClr val="507C7C"/>
                      </a:solidFill>
                      <a:prstDash val="solid"/>
                    </a:lnR>
                    <a:lnT w="28575">
                      <a:solidFill>
                        <a:srgbClr val="507C7C"/>
                      </a:solidFill>
                      <a:prstDash val="solid"/>
                    </a:lnT>
                    <a:lnB w="28575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ts val="2845"/>
                        </a:lnSpc>
                      </a:pPr>
                      <a:r>
                        <a:rPr sz="2400" b="1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507C7C"/>
                      </a:solidFill>
                      <a:prstDash val="solid"/>
                    </a:lnL>
                    <a:lnR w="28575">
                      <a:solidFill>
                        <a:srgbClr val="507C7C"/>
                      </a:solidFill>
                      <a:prstDash val="solid"/>
                    </a:lnR>
                    <a:lnT w="28575">
                      <a:solidFill>
                        <a:srgbClr val="507C7C"/>
                      </a:solidFill>
                      <a:prstDash val="solid"/>
                    </a:lnT>
                    <a:lnB w="28575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ts val="2810"/>
                        </a:lnSpc>
                        <a:spcBef>
                          <a:spcPts val="40"/>
                        </a:spcBef>
                      </a:pPr>
                      <a:r>
                        <a:rPr sz="2400" b="1" dirty="0">
                          <a:solidFill>
                            <a:srgbClr val="404040"/>
                          </a:solidFill>
                          <a:latin typeface="宋体"/>
                          <a:cs typeface="宋体"/>
                        </a:rPr>
                        <a:t>∧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5080" marB="0">
                    <a:lnL w="28575">
                      <a:solidFill>
                        <a:srgbClr val="507C7C"/>
                      </a:solidFill>
                      <a:prstDash val="solid"/>
                    </a:lnL>
                    <a:lnR w="28575">
                      <a:solidFill>
                        <a:srgbClr val="507C7C"/>
                      </a:solidFill>
                      <a:prstDash val="solid"/>
                    </a:lnR>
                    <a:lnT w="28575">
                      <a:solidFill>
                        <a:srgbClr val="507C7C"/>
                      </a:solidFill>
                      <a:prstDash val="solid"/>
                    </a:lnT>
                    <a:lnB w="28575">
                      <a:solidFill>
                        <a:srgbClr val="507C7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781175" y="2977400"/>
            <a:ext cx="381000" cy="375285"/>
          </a:xfrm>
          <a:prstGeom prst="rect">
            <a:avLst/>
          </a:prstGeom>
          <a:ln w="28575">
            <a:solidFill>
              <a:srgbClr val="507C7C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00175" y="2977400"/>
            <a:ext cx="1143000" cy="375285"/>
          </a:xfrm>
          <a:custGeom>
            <a:avLst/>
            <a:gdLst/>
            <a:ahLst/>
            <a:cxnLst/>
            <a:rect l="l" t="t" r="r" b="b"/>
            <a:pathLst>
              <a:path w="1143000" h="375285">
                <a:moveTo>
                  <a:pt x="762000" y="374764"/>
                </a:moveTo>
                <a:lnTo>
                  <a:pt x="1143000" y="374764"/>
                </a:lnTo>
                <a:lnTo>
                  <a:pt x="1143000" y="0"/>
                </a:lnTo>
                <a:lnTo>
                  <a:pt x="762000" y="0"/>
                </a:lnTo>
                <a:lnTo>
                  <a:pt x="762000" y="374764"/>
                </a:lnTo>
                <a:close/>
              </a:path>
              <a:path w="1143000" h="375285">
                <a:moveTo>
                  <a:pt x="0" y="374764"/>
                </a:moveTo>
                <a:lnTo>
                  <a:pt x="381000" y="374764"/>
                </a:lnTo>
                <a:lnTo>
                  <a:pt x="381000" y="0"/>
                </a:lnTo>
                <a:lnTo>
                  <a:pt x="0" y="0"/>
                </a:lnTo>
                <a:lnTo>
                  <a:pt x="0" y="374764"/>
                </a:lnTo>
                <a:close/>
              </a:path>
            </a:pathLst>
          </a:custGeom>
          <a:ln w="28575">
            <a:solidFill>
              <a:srgbClr val="507C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243137" y="3845636"/>
          <a:ext cx="1143000" cy="374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 marL="17780">
                        <a:lnSpc>
                          <a:spcPts val="2805"/>
                        </a:lnSpc>
                        <a:spcBef>
                          <a:spcPts val="40"/>
                        </a:spcBef>
                      </a:pPr>
                      <a:r>
                        <a:rPr sz="2400" b="1" dirty="0">
                          <a:solidFill>
                            <a:srgbClr val="404040"/>
                          </a:solidFill>
                          <a:latin typeface="宋体"/>
                          <a:cs typeface="宋体"/>
                        </a:rPr>
                        <a:t>∧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5080" marB="0">
                    <a:lnL w="28575">
                      <a:solidFill>
                        <a:srgbClr val="507C7C"/>
                      </a:solidFill>
                      <a:prstDash val="solid"/>
                    </a:lnL>
                    <a:lnR w="28575">
                      <a:solidFill>
                        <a:srgbClr val="507C7C"/>
                      </a:solidFill>
                      <a:prstDash val="solid"/>
                    </a:lnR>
                    <a:lnT w="28575">
                      <a:solidFill>
                        <a:srgbClr val="507C7C"/>
                      </a:solidFill>
                      <a:prstDash val="solid"/>
                    </a:lnT>
                    <a:lnB w="28575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ts val="2845"/>
                        </a:lnSpc>
                        <a:spcBef>
                          <a:spcPts val="5"/>
                        </a:spcBef>
                      </a:pPr>
                      <a:r>
                        <a:rPr sz="2400" b="1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28575">
                      <a:solidFill>
                        <a:srgbClr val="507C7C"/>
                      </a:solidFill>
                      <a:prstDash val="solid"/>
                    </a:lnL>
                    <a:lnR w="28575">
                      <a:solidFill>
                        <a:srgbClr val="507C7C"/>
                      </a:solidFill>
                      <a:prstDash val="solid"/>
                    </a:lnR>
                    <a:lnT w="28575">
                      <a:solidFill>
                        <a:srgbClr val="507C7C"/>
                      </a:solidFill>
                      <a:prstDash val="solid"/>
                    </a:lnT>
                    <a:lnB w="28575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507C7C"/>
                      </a:solidFill>
                      <a:prstDash val="solid"/>
                    </a:lnL>
                    <a:lnR w="28575">
                      <a:solidFill>
                        <a:srgbClr val="507C7C"/>
                      </a:solidFill>
                      <a:prstDash val="solid"/>
                    </a:lnR>
                    <a:lnT w="28575">
                      <a:solidFill>
                        <a:srgbClr val="507C7C"/>
                      </a:solidFill>
                      <a:prstDash val="solid"/>
                    </a:lnT>
                    <a:lnB w="28575">
                      <a:solidFill>
                        <a:srgbClr val="507C7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623874" y="3845636"/>
          <a:ext cx="1143000" cy="374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 marL="17780">
                        <a:lnSpc>
                          <a:spcPts val="2805"/>
                        </a:lnSpc>
                        <a:spcBef>
                          <a:spcPts val="40"/>
                        </a:spcBef>
                      </a:pPr>
                      <a:r>
                        <a:rPr sz="2400" b="1" dirty="0">
                          <a:solidFill>
                            <a:srgbClr val="404040"/>
                          </a:solidFill>
                          <a:latin typeface="宋体"/>
                          <a:cs typeface="宋体"/>
                        </a:rPr>
                        <a:t>∧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5080" marB="0">
                    <a:lnL w="28575">
                      <a:solidFill>
                        <a:srgbClr val="507C7C"/>
                      </a:solidFill>
                      <a:prstDash val="solid"/>
                    </a:lnL>
                    <a:lnR w="28575">
                      <a:solidFill>
                        <a:srgbClr val="507C7C"/>
                      </a:solidFill>
                      <a:prstDash val="solid"/>
                    </a:lnR>
                    <a:lnT w="28575">
                      <a:solidFill>
                        <a:srgbClr val="507C7C"/>
                      </a:solidFill>
                      <a:prstDash val="solid"/>
                    </a:lnT>
                    <a:lnB w="28575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ts val="2845"/>
                        </a:lnSpc>
                        <a:spcBef>
                          <a:spcPts val="5"/>
                        </a:spcBef>
                      </a:pPr>
                      <a:r>
                        <a:rPr sz="2400" b="1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28575">
                      <a:solidFill>
                        <a:srgbClr val="507C7C"/>
                      </a:solidFill>
                      <a:prstDash val="solid"/>
                    </a:lnL>
                    <a:lnR w="38100">
                      <a:solidFill>
                        <a:srgbClr val="507C7C"/>
                      </a:solidFill>
                      <a:prstDash val="solid"/>
                    </a:lnR>
                    <a:lnT w="28575">
                      <a:solidFill>
                        <a:srgbClr val="507C7C"/>
                      </a:solidFill>
                      <a:prstDash val="solid"/>
                    </a:lnT>
                    <a:lnB w="28575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507C7C"/>
                      </a:solidFill>
                      <a:prstDash val="solid"/>
                    </a:lnL>
                    <a:lnR w="28575">
                      <a:solidFill>
                        <a:srgbClr val="507C7C"/>
                      </a:solidFill>
                      <a:prstDash val="solid"/>
                    </a:lnR>
                    <a:lnT w="28575">
                      <a:solidFill>
                        <a:srgbClr val="507C7C"/>
                      </a:solidFill>
                      <a:prstDash val="solid"/>
                    </a:lnT>
                    <a:lnB w="28575">
                      <a:solidFill>
                        <a:srgbClr val="507C7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052762" y="4728032"/>
          <a:ext cx="1143000" cy="374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507C7C"/>
                      </a:solidFill>
                      <a:prstDash val="solid"/>
                    </a:lnL>
                    <a:lnR w="28575">
                      <a:solidFill>
                        <a:srgbClr val="507C7C"/>
                      </a:solidFill>
                      <a:prstDash val="solid"/>
                    </a:lnR>
                    <a:lnT w="28575">
                      <a:solidFill>
                        <a:srgbClr val="507C7C"/>
                      </a:solidFill>
                      <a:prstDash val="solid"/>
                    </a:lnT>
                    <a:lnB w="28575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ts val="2840"/>
                        </a:lnSpc>
                        <a:spcBef>
                          <a:spcPts val="10"/>
                        </a:spcBef>
                      </a:pPr>
                      <a:r>
                        <a:rPr sz="2400" b="1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28575">
                      <a:solidFill>
                        <a:srgbClr val="507C7C"/>
                      </a:solidFill>
                      <a:prstDash val="solid"/>
                    </a:lnL>
                    <a:lnR w="28575">
                      <a:solidFill>
                        <a:srgbClr val="507C7C"/>
                      </a:solidFill>
                      <a:prstDash val="solid"/>
                    </a:lnR>
                    <a:lnT w="28575">
                      <a:solidFill>
                        <a:srgbClr val="507C7C"/>
                      </a:solidFill>
                      <a:prstDash val="solid"/>
                    </a:lnT>
                    <a:lnB w="28575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ts val="2805"/>
                        </a:lnSpc>
                        <a:spcBef>
                          <a:spcPts val="45"/>
                        </a:spcBef>
                      </a:pPr>
                      <a:r>
                        <a:rPr sz="2400" b="1" dirty="0">
                          <a:solidFill>
                            <a:srgbClr val="404040"/>
                          </a:solidFill>
                          <a:latin typeface="宋体"/>
                          <a:cs typeface="宋体"/>
                        </a:rPr>
                        <a:t>∧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5715" marB="0">
                    <a:lnL w="28575">
                      <a:solidFill>
                        <a:srgbClr val="507C7C"/>
                      </a:solidFill>
                      <a:prstDash val="solid"/>
                    </a:lnL>
                    <a:lnR w="28575">
                      <a:solidFill>
                        <a:srgbClr val="507C7C"/>
                      </a:solidFill>
                      <a:prstDash val="solid"/>
                    </a:lnR>
                    <a:lnT w="28575">
                      <a:solidFill>
                        <a:srgbClr val="507C7C"/>
                      </a:solidFill>
                      <a:prstDash val="solid"/>
                    </a:lnT>
                    <a:lnB w="28575">
                      <a:solidFill>
                        <a:srgbClr val="507C7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257236" y="4728032"/>
          <a:ext cx="1143000" cy="374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 marL="17780">
                        <a:lnSpc>
                          <a:spcPts val="2805"/>
                        </a:lnSpc>
                        <a:spcBef>
                          <a:spcPts val="45"/>
                        </a:spcBef>
                      </a:pPr>
                      <a:r>
                        <a:rPr sz="2400" b="1" dirty="0">
                          <a:solidFill>
                            <a:srgbClr val="404040"/>
                          </a:solidFill>
                          <a:latin typeface="宋体"/>
                          <a:cs typeface="宋体"/>
                        </a:rPr>
                        <a:t>∧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5715" marB="0">
                    <a:lnL w="28575">
                      <a:solidFill>
                        <a:srgbClr val="507C7C"/>
                      </a:solidFill>
                      <a:prstDash val="solid"/>
                    </a:lnL>
                    <a:lnR w="28575">
                      <a:solidFill>
                        <a:srgbClr val="507C7C"/>
                      </a:solidFill>
                      <a:prstDash val="solid"/>
                    </a:lnR>
                    <a:lnT w="28575">
                      <a:solidFill>
                        <a:srgbClr val="507C7C"/>
                      </a:solidFill>
                      <a:prstDash val="solid"/>
                    </a:lnT>
                    <a:lnB w="28575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ts val="2840"/>
                        </a:lnSpc>
                        <a:spcBef>
                          <a:spcPts val="10"/>
                        </a:spcBef>
                      </a:pPr>
                      <a:r>
                        <a:rPr sz="2400" b="1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28575">
                      <a:solidFill>
                        <a:srgbClr val="507C7C"/>
                      </a:solidFill>
                      <a:prstDash val="solid"/>
                    </a:lnL>
                    <a:lnR w="28575">
                      <a:solidFill>
                        <a:srgbClr val="507C7C"/>
                      </a:solidFill>
                      <a:prstDash val="solid"/>
                    </a:lnR>
                    <a:lnT w="28575">
                      <a:solidFill>
                        <a:srgbClr val="507C7C"/>
                      </a:solidFill>
                      <a:prstDash val="solid"/>
                    </a:lnT>
                    <a:lnB w="28575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ts val="2805"/>
                        </a:lnSpc>
                        <a:spcBef>
                          <a:spcPts val="45"/>
                        </a:spcBef>
                      </a:pPr>
                      <a:r>
                        <a:rPr sz="2400" b="1" dirty="0">
                          <a:solidFill>
                            <a:srgbClr val="404040"/>
                          </a:solidFill>
                          <a:latin typeface="宋体"/>
                          <a:cs typeface="宋体"/>
                        </a:rPr>
                        <a:t>∧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5715" marB="0">
                    <a:lnL w="28575">
                      <a:solidFill>
                        <a:srgbClr val="507C7C"/>
                      </a:solidFill>
                      <a:prstDash val="solid"/>
                    </a:lnL>
                    <a:lnR w="28575">
                      <a:solidFill>
                        <a:srgbClr val="507C7C"/>
                      </a:solidFill>
                      <a:prstDash val="solid"/>
                    </a:lnR>
                    <a:lnT w="28575">
                      <a:solidFill>
                        <a:srgbClr val="507C7C"/>
                      </a:solidFill>
                      <a:prstDash val="solid"/>
                    </a:lnT>
                    <a:lnB w="28575">
                      <a:solidFill>
                        <a:srgbClr val="507C7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2195512" y="5568073"/>
          <a:ext cx="1143000" cy="374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 marL="17780">
                        <a:lnSpc>
                          <a:spcPts val="2805"/>
                        </a:lnSpc>
                        <a:spcBef>
                          <a:spcPts val="45"/>
                        </a:spcBef>
                      </a:pPr>
                      <a:r>
                        <a:rPr sz="2400" b="1" dirty="0">
                          <a:solidFill>
                            <a:srgbClr val="404040"/>
                          </a:solidFill>
                          <a:latin typeface="宋体"/>
                          <a:cs typeface="宋体"/>
                        </a:rPr>
                        <a:t>∧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5715" marB="0">
                    <a:lnL w="28575">
                      <a:solidFill>
                        <a:srgbClr val="507C7C"/>
                      </a:solidFill>
                      <a:prstDash val="solid"/>
                    </a:lnL>
                    <a:lnR w="28575">
                      <a:solidFill>
                        <a:srgbClr val="507C7C"/>
                      </a:solidFill>
                      <a:prstDash val="solid"/>
                    </a:lnR>
                    <a:lnT w="28575">
                      <a:solidFill>
                        <a:srgbClr val="507C7C"/>
                      </a:solidFill>
                      <a:prstDash val="solid"/>
                    </a:lnT>
                    <a:lnB w="28575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ts val="2840"/>
                        </a:lnSpc>
                        <a:spcBef>
                          <a:spcPts val="10"/>
                        </a:spcBef>
                      </a:pPr>
                      <a:r>
                        <a:rPr sz="2400" b="1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28575">
                      <a:solidFill>
                        <a:srgbClr val="507C7C"/>
                      </a:solidFill>
                      <a:prstDash val="solid"/>
                    </a:lnL>
                    <a:lnR w="28575">
                      <a:solidFill>
                        <a:srgbClr val="507C7C"/>
                      </a:solidFill>
                      <a:prstDash val="solid"/>
                    </a:lnR>
                    <a:lnT w="28575">
                      <a:solidFill>
                        <a:srgbClr val="507C7C"/>
                      </a:solidFill>
                      <a:prstDash val="solid"/>
                    </a:lnT>
                    <a:lnB w="28575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ts val="2805"/>
                        </a:lnSpc>
                        <a:spcBef>
                          <a:spcPts val="45"/>
                        </a:spcBef>
                      </a:pPr>
                      <a:r>
                        <a:rPr sz="2400" b="1" dirty="0">
                          <a:solidFill>
                            <a:srgbClr val="404040"/>
                          </a:solidFill>
                          <a:latin typeface="宋体"/>
                          <a:cs typeface="宋体"/>
                        </a:rPr>
                        <a:t>∧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5715" marB="0">
                    <a:lnL w="28575">
                      <a:solidFill>
                        <a:srgbClr val="507C7C"/>
                      </a:solidFill>
                      <a:prstDash val="solid"/>
                    </a:lnL>
                    <a:lnR w="28575">
                      <a:solidFill>
                        <a:srgbClr val="507C7C"/>
                      </a:solidFill>
                      <a:prstDash val="solid"/>
                    </a:lnR>
                    <a:lnT w="28575">
                      <a:solidFill>
                        <a:srgbClr val="507C7C"/>
                      </a:solidFill>
                      <a:prstDash val="solid"/>
                    </a:lnT>
                    <a:lnB w="28575">
                      <a:solidFill>
                        <a:srgbClr val="507C7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3" name="object 13"/>
          <p:cNvGrpSpPr/>
          <p:nvPr/>
        </p:nvGrpSpPr>
        <p:grpSpPr>
          <a:xfrm>
            <a:off x="1247762" y="1482407"/>
            <a:ext cx="8945880" cy="4100195"/>
            <a:chOff x="1247762" y="1482407"/>
            <a:chExt cx="8945880" cy="4100195"/>
          </a:xfrm>
        </p:grpSpPr>
        <p:sp>
          <p:nvSpPr>
            <p:cNvPr id="14" name="object 14"/>
            <p:cNvSpPr/>
            <p:nvPr/>
          </p:nvSpPr>
          <p:spPr>
            <a:xfrm>
              <a:off x="1247762" y="2426334"/>
              <a:ext cx="2359660" cy="3156585"/>
            </a:xfrm>
            <a:custGeom>
              <a:avLst/>
              <a:gdLst/>
              <a:ahLst/>
              <a:cxnLst/>
              <a:rect l="l" t="t" r="r" b="b"/>
              <a:pathLst>
                <a:path w="2359660" h="3156585">
                  <a:moveTo>
                    <a:pt x="424192" y="889127"/>
                  </a:moveTo>
                  <a:lnTo>
                    <a:pt x="401332" y="871982"/>
                  </a:lnTo>
                  <a:lnTo>
                    <a:pt x="51396" y="1340815"/>
                  </a:lnTo>
                  <a:lnTo>
                    <a:pt x="51396" y="1364869"/>
                  </a:lnTo>
                  <a:lnTo>
                    <a:pt x="51396" y="1340815"/>
                  </a:lnTo>
                  <a:lnTo>
                    <a:pt x="46685" y="1347127"/>
                  </a:lnTo>
                  <a:lnTo>
                    <a:pt x="28206" y="1276350"/>
                  </a:lnTo>
                  <a:lnTo>
                    <a:pt x="0" y="1433576"/>
                  </a:lnTo>
                  <a:lnTo>
                    <a:pt x="119761" y="1373378"/>
                  </a:lnTo>
                  <a:lnTo>
                    <a:pt x="142760" y="1361821"/>
                  </a:lnTo>
                  <a:lnTo>
                    <a:pt x="69545" y="1364272"/>
                  </a:lnTo>
                  <a:lnTo>
                    <a:pt x="424192" y="889127"/>
                  </a:lnTo>
                  <a:close/>
                </a:path>
                <a:path w="2359660" h="3156585">
                  <a:moveTo>
                    <a:pt x="646061" y="2328672"/>
                  </a:moveTo>
                  <a:lnTo>
                    <a:pt x="641248" y="2262378"/>
                  </a:lnTo>
                  <a:lnTo>
                    <a:pt x="634504" y="2169414"/>
                  </a:lnTo>
                  <a:lnTo>
                    <a:pt x="608685" y="2237905"/>
                  </a:lnTo>
                  <a:lnTo>
                    <a:pt x="321830" y="1755775"/>
                  </a:lnTo>
                  <a:lnTo>
                    <a:pt x="297319" y="1770380"/>
                  </a:lnTo>
                  <a:lnTo>
                    <a:pt x="584174" y="2252510"/>
                  </a:lnTo>
                  <a:lnTo>
                    <a:pt x="511695" y="2242439"/>
                  </a:lnTo>
                  <a:lnTo>
                    <a:pt x="646061" y="2328672"/>
                  </a:lnTo>
                  <a:close/>
                </a:path>
                <a:path w="2359660" h="3156585">
                  <a:moveTo>
                    <a:pt x="1395234" y="21717"/>
                  </a:moveTo>
                  <a:lnTo>
                    <a:pt x="1376565" y="0"/>
                  </a:lnTo>
                  <a:lnTo>
                    <a:pt x="826071" y="476719"/>
                  </a:lnTo>
                  <a:lnTo>
                    <a:pt x="823226" y="403606"/>
                  </a:lnTo>
                  <a:lnTo>
                    <a:pt x="762012" y="551053"/>
                  </a:lnTo>
                  <a:lnTo>
                    <a:pt x="916825" y="511556"/>
                  </a:lnTo>
                  <a:lnTo>
                    <a:pt x="885202" y="505714"/>
                  </a:lnTo>
                  <a:lnTo>
                    <a:pt x="844791" y="498259"/>
                  </a:lnTo>
                  <a:lnTo>
                    <a:pt x="1395234" y="21717"/>
                  </a:lnTo>
                  <a:close/>
                </a:path>
                <a:path w="2359660" h="3156585">
                  <a:moveTo>
                    <a:pt x="1514487" y="1433576"/>
                  </a:moveTo>
                  <a:lnTo>
                    <a:pt x="1503476" y="1373632"/>
                  </a:lnTo>
                  <a:lnTo>
                    <a:pt x="1485658" y="1276477"/>
                  </a:lnTo>
                  <a:lnTo>
                    <a:pt x="1467459" y="1347343"/>
                  </a:lnTo>
                  <a:lnTo>
                    <a:pt x="1098816" y="857885"/>
                  </a:lnTo>
                  <a:lnTo>
                    <a:pt x="1076083" y="875030"/>
                  </a:lnTo>
                  <a:lnTo>
                    <a:pt x="1444586" y="1364462"/>
                  </a:lnTo>
                  <a:lnTo>
                    <a:pt x="1371485" y="1362329"/>
                  </a:lnTo>
                  <a:lnTo>
                    <a:pt x="1514487" y="1433576"/>
                  </a:lnTo>
                  <a:close/>
                </a:path>
                <a:path w="2359660" h="3156585">
                  <a:moveTo>
                    <a:pt x="2039251" y="2679319"/>
                  </a:moveTo>
                  <a:lnTo>
                    <a:pt x="2018423" y="2659761"/>
                  </a:lnTo>
                  <a:lnTo>
                    <a:pt x="1627720" y="3075495"/>
                  </a:lnTo>
                  <a:lnTo>
                    <a:pt x="1617357" y="3003042"/>
                  </a:lnTo>
                  <a:lnTo>
                    <a:pt x="1571637" y="3156077"/>
                  </a:lnTo>
                  <a:lnTo>
                    <a:pt x="1714601" y="3103372"/>
                  </a:lnTo>
                  <a:lnTo>
                    <a:pt x="1721497" y="3100832"/>
                  </a:lnTo>
                  <a:lnTo>
                    <a:pt x="1648548" y="3095053"/>
                  </a:lnTo>
                  <a:lnTo>
                    <a:pt x="2039251" y="2679319"/>
                  </a:lnTo>
                  <a:close/>
                </a:path>
                <a:path w="2359660" h="3156585">
                  <a:moveTo>
                    <a:pt x="2359037" y="2341499"/>
                  </a:moveTo>
                  <a:lnTo>
                    <a:pt x="2347772" y="2281809"/>
                  </a:lnTo>
                  <a:lnTo>
                    <a:pt x="2329446" y="2184527"/>
                  </a:lnTo>
                  <a:lnTo>
                    <a:pt x="2311565" y="2255405"/>
                  </a:lnTo>
                  <a:lnTo>
                    <a:pt x="1940191" y="1767078"/>
                  </a:lnTo>
                  <a:lnTo>
                    <a:pt x="1917458" y="1784477"/>
                  </a:lnTo>
                  <a:lnTo>
                    <a:pt x="2288883" y="2272754"/>
                  </a:lnTo>
                  <a:lnTo>
                    <a:pt x="2215654" y="2271014"/>
                  </a:lnTo>
                  <a:lnTo>
                    <a:pt x="2359037" y="2341499"/>
                  </a:lnTo>
                  <a:close/>
                </a:path>
              </a:pathLst>
            </a:custGeom>
            <a:solidFill>
              <a:srgbClr val="285A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08402" y="1681225"/>
              <a:ext cx="228600" cy="403225"/>
            </a:xfrm>
            <a:custGeom>
              <a:avLst/>
              <a:gdLst/>
              <a:ahLst/>
              <a:cxnLst/>
              <a:rect l="l" t="t" r="r" b="b"/>
              <a:pathLst>
                <a:path w="228600" h="403225">
                  <a:moveTo>
                    <a:pt x="97409" y="311658"/>
                  </a:moveTo>
                  <a:lnTo>
                    <a:pt x="228600" y="402844"/>
                  </a:lnTo>
                  <a:lnTo>
                    <a:pt x="226153" y="334518"/>
                  </a:lnTo>
                  <a:lnTo>
                    <a:pt x="175006" y="334518"/>
                  </a:lnTo>
                  <a:lnTo>
                    <a:pt x="169526" y="324474"/>
                  </a:lnTo>
                  <a:lnTo>
                    <a:pt x="97409" y="311658"/>
                  </a:lnTo>
                  <a:close/>
                </a:path>
                <a:path w="228600" h="403225">
                  <a:moveTo>
                    <a:pt x="169526" y="324474"/>
                  </a:moveTo>
                  <a:lnTo>
                    <a:pt x="175006" y="334518"/>
                  </a:lnTo>
                  <a:lnTo>
                    <a:pt x="187515" y="327660"/>
                  </a:lnTo>
                  <a:lnTo>
                    <a:pt x="169526" y="324474"/>
                  </a:lnTo>
                  <a:close/>
                </a:path>
                <a:path w="228600" h="403225">
                  <a:moveTo>
                    <a:pt x="222885" y="243204"/>
                  </a:moveTo>
                  <a:lnTo>
                    <a:pt x="194546" y="310751"/>
                  </a:lnTo>
                  <a:lnTo>
                    <a:pt x="200025" y="320801"/>
                  </a:lnTo>
                  <a:lnTo>
                    <a:pt x="175006" y="334518"/>
                  </a:lnTo>
                  <a:lnTo>
                    <a:pt x="226153" y="334518"/>
                  </a:lnTo>
                  <a:lnTo>
                    <a:pt x="222885" y="243204"/>
                  </a:lnTo>
                  <a:close/>
                </a:path>
                <a:path w="228600" h="403225">
                  <a:moveTo>
                    <a:pt x="25146" y="0"/>
                  </a:moveTo>
                  <a:lnTo>
                    <a:pt x="0" y="13715"/>
                  </a:lnTo>
                  <a:lnTo>
                    <a:pt x="169526" y="324474"/>
                  </a:lnTo>
                  <a:lnTo>
                    <a:pt x="187452" y="327660"/>
                  </a:lnTo>
                  <a:lnTo>
                    <a:pt x="194546" y="310751"/>
                  </a:lnTo>
                  <a:lnTo>
                    <a:pt x="25146" y="0"/>
                  </a:lnTo>
                  <a:close/>
                </a:path>
                <a:path w="228600" h="403225">
                  <a:moveTo>
                    <a:pt x="194546" y="310751"/>
                  </a:moveTo>
                  <a:lnTo>
                    <a:pt x="187452" y="327660"/>
                  </a:lnTo>
                  <a:lnTo>
                    <a:pt x="200025" y="320801"/>
                  </a:lnTo>
                  <a:lnTo>
                    <a:pt x="194546" y="310751"/>
                  </a:lnTo>
                  <a:close/>
                </a:path>
              </a:pathLst>
            </a:custGeom>
            <a:solidFill>
              <a:srgbClr val="B4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710800" y="1496694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234060" y="0"/>
                  </a:moveTo>
                  <a:lnTo>
                    <a:pt x="186884" y="4760"/>
                  </a:lnTo>
                  <a:lnTo>
                    <a:pt x="142946" y="18411"/>
                  </a:lnTo>
                  <a:lnTo>
                    <a:pt x="103187" y="40009"/>
                  </a:lnTo>
                  <a:lnTo>
                    <a:pt x="68548" y="68611"/>
                  </a:lnTo>
                  <a:lnTo>
                    <a:pt x="39969" y="103274"/>
                  </a:lnTo>
                  <a:lnTo>
                    <a:pt x="18391" y="143053"/>
                  </a:lnTo>
                  <a:lnTo>
                    <a:pt x="4754" y="187006"/>
                  </a:lnTo>
                  <a:lnTo>
                    <a:pt x="0" y="234187"/>
                  </a:lnTo>
                  <a:lnTo>
                    <a:pt x="4754" y="281369"/>
                  </a:lnTo>
                  <a:lnTo>
                    <a:pt x="18391" y="325322"/>
                  </a:lnTo>
                  <a:lnTo>
                    <a:pt x="39969" y="365101"/>
                  </a:lnTo>
                  <a:lnTo>
                    <a:pt x="68548" y="399764"/>
                  </a:lnTo>
                  <a:lnTo>
                    <a:pt x="103187" y="428366"/>
                  </a:lnTo>
                  <a:lnTo>
                    <a:pt x="142946" y="449964"/>
                  </a:lnTo>
                  <a:lnTo>
                    <a:pt x="186884" y="463615"/>
                  </a:lnTo>
                  <a:lnTo>
                    <a:pt x="234060" y="468375"/>
                  </a:lnTo>
                  <a:lnTo>
                    <a:pt x="281279" y="463615"/>
                  </a:lnTo>
                  <a:lnTo>
                    <a:pt x="325248" y="449964"/>
                  </a:lnTo>
                  <a:lnTo>
                    <a:pt x="365030" y="428366"/>
                  </a:lnTo>
                  <a:lnTo>
                    <a:pt x="399684" y="399764"/>
                  </a:lnTo>
                  <a:lnTo>
                    <a:pt x="428273" y="365101"/>
                  </a:lnTo>
                  <a:lnTo>
                    <a:pt x="449855" y="325322"/>
                  </a:lnTo>
                  <a:lnTo>
                    <a:pt x="463494" y="281369"/>
                  </a:lnTo>
                  <a:lnTo>
                    <a:pt x="468249" y="234187"/>
                  </a:lnTo>
                  <a:lnTo>
                    <a:pt x="463494" y="187006"/>
                  </a:lnTo>
                  <a:lnTo>
                    <a:pt x="449855" y="143053"/>
                  </a:lnTo>
                  <a:lnTo>
                    <a:pt x="428273" y="103274"/>
                  </a:lnTo>
                  <a:lnTo>
                    <a:pt x="399684" y="68611"/>
                  </a:lnTo>
                  <a:lnTo>
                    <a:pt x="365030" y="40009"/>
                  </a:lnTo>
                  <a:lnTo>
                    <a:pt x="325248" y="18411"/>
                  </a:lnTo>
                  <a:lnTo>
                    <a:pt x="281279" y="4760"/>
                  </a:lnTo>
                  <a:lnTo>
                    <a:pt x="234060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710800" y="1496694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0" y="234187"/>
                  </a:moveTo>
                  <a:lnTo>
                    <a:pt x="4754" y="187006"/>
                  </a:lnTo>
                  <a:lnTo>
                    <a:pt x="18391" y="143053"/>
                  </a:lnTo>
                  <a:lnTo>
                    <a:pt x="39969" y="103274"/>
                  </a:lnTo>
                  <a:lnTo>
                    <a:pt x="68548" y="68611"/>
                  </a:lnTo>
                  <a:lnTo>
                    <a:pt x="103187" y="40009"/>
                  </a:lnTo>
                  <a:lnTo>
                    <a:pt x="142946" y="18411"/>
                  </a:lnTo>
                  <a:lnTo>
                    <a:pt x="186884" y="4760"/>
                  </a:lnTo>
                  <a:lnTo>
                    <a:pt x="234060" y="0"/>
                  </a:lnTo>
                  <a:lnTo>
                    <a:pt x="281279" y="4760"/>
                  </a:lnTo>
                  <a:lnTo>
                    <a:pt x="325248" y="18411"/>
                  </a:lnTo>
                  <a:lnTo>
                    <a:pt x="365030" y="40009"/>
                  </a:lnTo>
                  <a:lnTo>
                    <a:pt x="399684" y="68611"/>
                  </a:lnTo>
                  <a:lnTo>
                    <a:pt x="428273" y="103274"/>
                  </a:lnTo>
                  <a:lnTo>
                    <a:pt x="449855" y="143053"/>
                  </a:lnTo>
                  <a:lnTo>
                    <a:pt x="463494" y="187006"/>
                  </a:lnTo>
                  <a:lnTo>
                    <a:pt x="468249" y="234187"/>
                  </a:lnTo>
                  <a:lnTo>
                    <a:pt x="463494" y="281369"/>
                  </a:lnTo>
                  <a:lnTo>
                    <a:pt x="449855" y="325322"/>
                  </a:lnTo>
                  <a:lnTo>
                    <a:pt x="428273" y="365101"/>
                  </a:lnTo>
                  <a:lnTo>
                    <a:pt x="399684" y="399764"/>
                  </a:lnTo>
                  <a:lnTo>
                    <a:pt x="365030" y="428366"/>
                  </a:lnTo>
                  <a:lnTo>
                    <a:pt x="325248" y="449964"/>
                  </a:lnTo>
                  <a:lnTo>
                    <a:pt x="281279" y="463615"/>
                  </a:lnTo>
                  <a:lnTo>
                    <a:pt x="234060" y="468375"/>
                  </a:lnTo>
                  <a:lnTo>
                    <a:pt x="186884" y="463615"/>
                  </a:lnTo>
                  <a:lnTo>
                    <a:pt x="142946" y="449964"/>
                  </a:lnTo>
                  <a:lnTo>
                    <a:pt x="103187" y="428366"/>
                  </a:lnTo>
                  <a:lnTo>
                    <a:pt x="68548" y="399764"/>
                  </a:lnTo>
                  <a:lnTo>
                    <a:pt x="39969" y="365101"/>
                  </a:lnTo>
                  <a:lnTo>
                    <a:pt x="18391" y="325322"/>
                  </a:lnTo>
                  <a:lnTo>
                    <a:pt x="4754" y="281369"/>
                  </a:lnTo>
                  <a:lnTo>
                    <a:pt x="0" y="234187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831069" y="1525270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523287" y="1469707"/>
            <a:ext cx="497205" cy="497205"/>
            <a:chOff x="8523287" y="1469707"/>
            <a:chExt cx="497205" cy="497205"/>
          </a:xfrm>
        </p:grpSpPr>
        <p:sp>
          <p:nvSpPr>
            <p:cNvPr id="20" name="object 20"/>
            <p:cNvSpPr/>
            <p:nvPr/>
          </p:nvSpPr>
          <p:spPr>
            <a:xfrm>
              <a:off x="8537575" y="1483994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234188" y="0"/>
                  </a:moveTo>
                  <a:lnTo>
                    <a:pt x="187006" y="4760"/>
                  </a:lnTo>
                  <a:lnTo>
                    <a:pt x="143053" y="18411"/>
                  </a:lnTo>
                  <a:lnTo>
                    <a:pt x="103274" y="40009"/>
                  </a:lnTo>
                  <a:lnTo>
                    <a:pt x="68611" y="68611"/>
                  </a:lnTo>
                  <a:lnTo>
                    <a:pt x="40009" y="103274"/>
                  </a:lnTo>
                  <a:lnTo>
                    <a:pt x="18411" y="143053"/>
                  </a:lnTo>
                  <a:lnTo>
                    <a:pt x="4760" y="187006"/>
                  </a:lnTo>
                  <a:lnTo>
                    <a:pt x="0" y="234187"/>
                  </a:lnTo>
                  <a:lnTo>
                    <a:pt x="4760" y="281369"/>
                  </a:lnTo>
                  <a:lnTo>
                    <a:pt x="18411" y="325322"/>
                  </a:lnTo>
                  <a:lnTo>
                    <a:pt x="40009" y="365101"/>
                  </a:lnTo>
                  <a:lnTo>
                    <a:pt x="68611" y="399764"/>
                  </a:lnTo>
                  <a:lnTo>
                    <a:pt x="103274" y="428366"/>
                  </a:lnTo>
                  <a:lnTo>
                    <a:pt x="143053" y="449964"/>
                  </a:lnTo>
                  <a:lnTo>
                    <a:pt x="187006" y="463615"/>
                  </a:lnTo>
                  <a:lnTo>
                    <a:pt x="234188" y="468375"/>
                  </a:lnTo>
                  <a:lnTo>
                    <a:pt x="281369" y="463615"/>
                  </a:lnTo>
                  <a:lnTo>
                    <a:pt x="325322" y="449964"/>
                  </a:lnTo>
                  <a:lnTo>
                    <a:pt x="365101" y="428366"/>
                  </a:lnTo>
                  <a:lnTo>
                    <a:pt x="399764" y="399764"/>
                  </a:lnTo>
                  <a:lnTo>
                    <a:pt x="428366" y="365101"/>
                  </a:lnTo>
                  <a:lnTo>
                    <a:pt x="449964" y="325322"/>
                  </a:lnTo>
                  <a:lnTo>
                    <a:pt x="463615" y="281369"/>
                  </a:lnTo>
                  <a:lnTo>
                    <a:pt x="468375" y="234187"/>
                  </a:lnTo>
                  <a:lnTo>
                    <a:pt x="463615" y="187006"/>
                  </a:lnTo>
                  <a:lnTo>
                    <a:pt x="449964" y="143053"/>
                  </a:lnTo>
                  <a:lnTo>
                    <a:pt x="428366" y="103274"/>
                  </a:lnTo>
                  <a:lnTo>
                    <a:pt x="399764" y="68611"/>
                  </a:lnTo>
                  <a:lnTo>
                    <a:pt x="365101" y="40009"/>
                  </a:lnTo>
                  <a:lnTo>
                    <a:pt x="325322" y="18411"/>
                  </a:lnTo>
                  <a:lnTo>
                    <a:pt x="281369" y="4760"/>
                  </a:lnTo>
                  <a:lnTo>
                    <a:pt x="234188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537575" y="1483994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0" y="234187"/>
                  </a:moveTo>
                  <a:lnTo>
                    <a:pt x="4760" y="187006"/>
                  </a:lnTo>
                  <a:lnTo>
                    <a:pt x="18411" y="143053"/>
                  </a:lnTo>
                  <a:lnTo>
                    <a:pt x="40009" y="103274"/>
                  </a:lnTo>
                  <a:lnTo>
                    <a:pt x="68611" y="68611"/>
                  </a:lnTo>
                  <a:lnTo>
                    <a:pt x="103274" y="40009"/>
                  </a:lnTo>
                  <a:lnTo>
                    <a:pt x="143053" y="18411"/>
                  </a:lnTo>
                  <a:lnTo>
                    <a:pt x="187006" y="4760"/>
                  </a:lnTo>
                  <a:lnTo>
                    <a:pt x="234188" y="0"/>
                  </a:lnTo>
                  <a:lnTo>
                    <a:pt x="281369" y="4760"/>
                  </a:lnTo>
                  <a:lnTo>
                    <a:pt x="325322" y="18411"/>
                  </a:lnTo>
                  <a:lnTo>
                    <a:pt x="365101" y="40009"/>
                  </a:lnTo>
                  <a:lnTo>
                    <a:pt x="399764" y="68611"/>
                  </a:lnTo>
                  <a:lnTo>
                    <a:pt x="428366" y="103274"/>
                  </a:lnTo>
                  <a:lnTo>
                    <a:pt x="449964" y="143053"/>
                  </a:lnTo>
                  <a:lnTo>
                    <a:pt x="463615" y="187006"/>
                  </a:lnTo>
                  <a:lnTo>
                    <a:pt x="468375" y="234187"/>
                  </a:lnTo>
                  <a:lnTo>
                    <a:pt x="463615" y="281369"/>
                  </a:lnTo>
                  <a:lnTo>
                    <a:pt x="449964" y="325322"/>
                  </a:lnTo>
                  <a:lnTo>
                    <a:pt x="428366" y="365101"/>
                  </a:lnTo>
                  <a:lnTo>
                    <a:pt x="399764" y="399764"/>
                  </a:lnTo>
                  <a:lnTo>
                    <a:pt x="365101" y="428366"/>
                  </a:lnTo>
                  <a:lnTo>
                    <a:pt x="325322" y="449964"/>
                  </a:lnTo>
                  <a:lnTo>
                    <a:pt x="281369" y="463615"/>
                  </a:lnTo>
                  <a:lnTo>
                    <a:pt x="234188" y="468375"/>
                  </a:lnTo>
                  <a:lnTo>
                    <a:pt x="187006" y="463615"/>
                  </a:lnTo>
                  <a:lnTo>
                    <a:pt x="143053" y="449964"/>
                  </a:lnTo>
                  <a:lnTo>
                    <a:pt x="103274" y="428366"/>
                  </a:lnTo>
                  <a:lnTo>
                    <a:pt x="68611" y="399764"/>
                  </a:lnTo>
                  <a:lnTo>
                    <a:pt x="40009" y="365101"/>
                  </a:lnTo>
                  <a:lnTo>
                    <a:pt x="18411" y="325322"/>
                  </a:lnTo>
                  <a:lnTo>
                    <a:pt x="4760" y="281369"/>
                  </a:lnTo>
                  <a:lnTo>
                    <a:pt x="0" y="234187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657970" y="1512570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138348" y="2501582"/>
            <a:ext cx="497205" cy="497205"/>
            <a:chOff x="9138348" y="2501582"/>
            <a:chExt cx="497205" cy="497205"/>
          </a:xfrm>
        </p:grpSpPr>
        <p:sp>
          <p:nvSpPr>
            <p:cNvPr id="24" name="object 24"/>
            <p:cNvSpPr/>
            <p:nvPr/>
          </p:nvSpPr>
          <p:spPr>
            <a:xfrm>
              <a:off x="9152635" y="2515870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234061" y="0"/>
                  </a:moveTo>
                  <a:lnTo>
                    <a:pt x="186884" y="4760"/>
                  </a:lnTo>
                  <a:lnTo>
                    <a:pt x="142946" y="18411"/>
                  </a:lnTo>
                  <a:lnTo>
                    <a:pt x="103187" y="40009"/>
                  </a:lnTo>
                  <a:lnTo>
                    <a:pt x="68548" y="68611"/>
                  </a:lnTo>
                  <a:lnTo>
                    <a:pt x="39969" y="103274"/>
                  </a:lnTo>
                  <a:lnTo>
                    <a:pt x="18391" y="143053"/>
                  </a:lnTo>
                  <a:lnTo>
                    <a:pt x="4754" y="187006"/>
                  </a:lnTo>
                  <a:lnTo>
                    <a:pt x="0" y="234187"/>
                  </a:lnTo>
                  <a:lnTo>
                    <a:pt x="4754" y="281369"/>
                  </a:lnTo>
                  <a:lnTo>
                    <a:pt x="18391" y="325322"/>
                  </a:lnTo>
                  <a:lnTo>
                    <a:pt x="39969" y="365101"/>
                  </a:lnTo>
                  <a:lnTo>
                    <a:pt x="68548" y="399764"/>
                  </a:lnTo>
                  <a:lnTo>
                    <a:pt x="103187" y="428366"/>
                  </a:lnTo>
                  <a:lnTo>
                    <a:pt x="142946" y="449964"/>
                  </a:lnTo>
                  <a:lnTo>
                    <a:pt x="186884" y="463615"/>
                  </a:lnTo>
                  <a:lnTo>
                    <a:pt x="234061" y="468375"/>
                  </a:lnTo>
                  <a:lnTo>
                    <a:pt x="281279" y="463615"/>
                  </a:lnTo>
                  <a:lnTo>
                    <a:pt x="325248" y="449964"/>
                  </a:lnTo>
                  <a:lnTo>
                    <a:pt x="365030" y="428366"/>
                  </a:lnTo>
                  <a:lnTo>
                    <a:pt x="399684" y="399764"/>
                  </a:lnTo>
                  <a:lnTo>
                    <a:pt x="428273" y="365101"/>
                  </a:lnTo>
                  <a:lnTo>
                    <a:pt x="449855" y="325322"/>
                  </a:lnTo>
                  <a:lnTo>
                    <a:pt x="463494" y="281369"/>
                  </a:lnTo>
                  <a:lnTo>
                    <a:pt x="468249" y="234187"/>
                  </a:lnTo>
                  <a:lnTo>
                    <a:pt x="463494" y="187006"/>
                  </a:lnTo>
                  <a:lnTo>
                    <a:pt x="449855" y="143053"/>
                  </a:lnTo>
                  <a:lnTo>
                    <a:pt x="428273" y="103274"/>
                  </a:lnTo>
                  <a:lnTo>
                    <a:pt x="399684" y="68611"/>
                  </a:lnTo>
                  <a:lnTo>
                    <a:pt x="365030" y="40009"/>
                  </a:lnTo>
                  <a:lnTo>
                    <a:pt x="325248" y="18411"/>
                  </a:lnTo>
                  <a:lnTo>
                    <a:pt x="281279" y="4760"/>
                  </a:lnTo>
                  <a:lnTo>
                    <a:pt x="234061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152635" y="2515870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0" y="234187"/>
                  </a:moveTo>
                  <a:lnTo>
                    <a:pt x="4754" y="187006"/>
                  </a:lnTo>
                  <a:lnTo>
                    <a:pt x="18391" y="143053"/>
                  </a:lnTo>
                  <a:lnTo>
                    <a:pt x="39969" y="103274"/>
                  </a:lnTo>
                  <a:lnTo>
                    <a:pt x="68548" y="68611"/>
                  </a:lnTo>
                  <a:lnTo>
                    <a:pt x="103187" y="40009"/>
                  </a:lnTo>
                  <a:lnTo>
                    <a:pt x="142946" y="18411"/>
                  </a:lnTo>
                  <a:lnTo>
                    <a:pt x="186884" y="4760"/>
                  </a:lnTo>
                  <a:lnTo>
                    <a:pt x="234061" y="0"/>
                  </a:lnTo>
                  <a:lnTo>
                    <a:pt x="281279" y="4760"/>
                  </a:lnTo>
                  <a:lnTo>
                    <a:pt x="325248" y="18411"/>
                  </a:lnTo>
                  <a:lnTo>
                    <a:pt x="365030" y="40009"/>
                  </a:lnTo>
                  <a:lnTo>
                    <a:pt x="399684" y="68611"/>
                  </a:lnTo>
                  <a:lnTo>
                    <a:pt x="428273" y="103274"/>
                  </a:lnTo>
                  <a:lnTo>
                    <a:pt x="449855" y="143053"/>
                  </a:lnTo>
                  <a:lnTo>
                    <a:pt x="463494" y="187006"/>
                  </a:lnTo>
                  <a:lnTo>
                    <a:pt x="468249" y="234187"/>
                  </a:lnTo>
                  <a:lnTo>
                    <a:pt x="463494" y="281369"/>
                  </a:lnTo>
                  <a:lnTo>
                    <a:pt x="449855" y="325322"/>
                  </a:lnTo>
                  <a:lnTo>
                    <a:pt x="428273" y="365101"/>
                  </a:lnTo>
                  <a:lnTo>
                    <a:pt x="399684" y="399764"/>
                  </a:lnTo>
                  <a:lnTo>
                    <a:pt x="365030" y="428366"/>
                  </a:lnTo>
                  <a:lnTo>
                    <a:pt x="325248" y="449964"/>
                  </a:lnTo>
                  <a:lnTo>
                    <a:pt x="281279" y="463615"/>
                  </a:lnTo>
                  <a:lnTo>
                    <a:pt x="234061" y="468375"/>
                  </a:lnTo>
                  <a:lnTo>
                    <a:pt x="186884" y="463615"/>
                  </a:lnTo>
                  <a:lnTo>
                    <a:pt x="142946" y="449964"/>
                  </a:lnTo>
                  <a:lnTo>
                    <a:pt x="103187" y="428366"/>
                  </a:lnTo>
                  <a:lnTo>
                    <a:pt x="68548" y="399764"/>
                  </a:lnTo>
                  <a:lnTo>
                    <a:pt x="39969" y="365101"/>
                  </a:lnTo>
                  <a:lnTo>
                    <a:pt x="18391" y="325322"/>
                  </a:lnTo>
                  <a:lnTo>
                    <a:pt x="4754" y="281369"/>
                  </a:lnTo>
                  <a:lnTo>
                    <a:pt x="0" y="234187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273031" y="2544571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834693" y="2501582"/>
            <a:ext cx="497205" cy="497205"/>
            <a:chOff x="7834693" y="2501582"/>
            <a:chExt cx="497205" cy="497205"/>
          </a:xfrm>
        </p:grpSpPr>
        <p:sp>
          <p:nvSpPr>
            <p:cNvPr id="28" name="object 28"/>
            <p:cNvSpPr/>
            <p:nvPr/>
          </p:nvSpPr>
          <p:spPr>
            <a:xfrm>
              <a:off x="7848981" y="2515870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234061" y="0"/>
                  </a:moveTo>
                  <a:lnTo>
                    <a:pt x="186884" y="4760"/>
                  </a:lnTo>
                  <a:lnTo>
                    <a:pt x="142946" y="18411"/>
                  </a:lnTo>
                  <a:lnTo>
                    <a:pt x="103187" y="40009"/>
                  </a:lnTo>
                  <a:lnTo>
                    <a:pt x="68548" y="68611"/>
                  </a:lnTo>
                  <a:lnTo>
                    <a:pt x="39969" y="103274"/>
                  </a:lnTo>
                  <a:lnTo>
                    <a:pt x="18391" y="143053"/>
                  </a:lnTo>
                  <a:lnTo>
                    <a:pt x="4754" y="187006"/>
                  </a:lnTo>
                  <a:lnTo>
                    <a:pt x="0" y="234187"/>
                  </a:lnTo>
                  <a:lnTo>
                    <a:pt x="4754" y="281369"/>
                  </a:lnTo>
                  <a:lnTo>
                    <a:pt x="18391" y="325322"/>
                  </a:lnTo>
                  <a:lnTo>
                    <a:pt x="39969" y="365101"/>
                  </a:lnTo>
                  <a:lnTo>
                    <a:pt x="68548" y="399764"/>
                  </a:lnTo>
                  <a:lnTo>
                    <a:pt x="103187" y="428366"/>
                  </a:lnTo>
                  <a:lnTo>
                    <a:pt x="142946" y="449964"/>
                  </a:lnTo>
                  <a:lnTo>
                    <a:pt x="186884" y="463615"/>
                  </a:lnTo>
                  <a:lnTo>
                    <a:pt x="234061" y="468375"/>
                  </a:lnTo>
                  <a:lnTo>
                    <a:pt x="281279" y="463615"/>
                  </a:lnTo>
                  <a:lnTo>
                    <a:pt x="325248" y="449964"/>
                  </a:lnTo>
                  <a:lnTo>
                    <a:pt x="365030" y="428366"/>
                  </a:lnTo>
                  <a:lnTo>
                    <a:pt x="399684" y="399764"/>
                  </a:lnTo>
                  <a:lnTo>
                    <a:pt x="428273" y="365101"/>
                  </a:lnTo>
                  <a:lnTo>
                    <a:pt x="449855" y="325322"/>
                  </a:lnTo>
                  <a:lnTo>
                    <a:pt x="463494" y="281369"/>
                  </a:lnTo>
                  <a:lnTo>
                    <a:pt x="468249" y="234187"/>
                  </a:lnTo>
                  <a:lnTo>
                    <a:pt x="463494" y="187006"/>
                  </a:lnTo>
                  <a:lnTo>
                    <a:pt x="449855" y="143053"/>
                  </a:lnTo>
                  <a:lnTo>
                    <a:pt x="428273" y="103274"/>
                  </a:lnTo>
                  <a:lnTo>
                    <a:pt x="399684" y="68611"/>
                  </a:lnTo>
                  <a:lnTo>
                    <a:pt x="365030" y="40009"/>
                  </a:lnTo>
                  <a:lnTo>
                    <a:pt x="325248" y="18411"/>
                  </a:lnTo>
                  <a:lnTo>
                    <a:pt x="281279" y="4760"/>
                  </a:lnTo>
                  <a:lnTo>
                    <a:pt x="234061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848981" y="2515870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0" y="234187"/>
                  </a:moveTo>
                  <a:lnTo>
                    <a:pt x="4754" y="187006"/>
                  </a:lnTo>
                  <a:lnTo>
                    <a:pt x="18391" y="143053"/>
                  </a:lnTo>
                  <a:lnTo>
                    <a:pt x="39969" y="103274"/>
                  </a:lnTo>
                  <a:lnTo>
                    <a:pt x="68548" y="68611"/>
                  </a:lnTo>
                  <a:lnTo>
                    <a:pt x="103187" y="40009"/>
                  </a:lnTo>
                  <a:lnTo>
                    <a:pt x="142946" y="18411"/>
                  </a:lnTo>
                  <a:lnTo>
                    <a:pt x="186884" y="4760"/>
                  </a:lnTo>
                  <a:lnTo>
                    <a:pt x="234061" y="0"/>
                  </a:lnTo>
                  <a:lnTo>
                    <a:pt x="281279" y="4760"/>
                  </a:lnTo>
                  <a:lnTo>
                    <a:pt x="325248" y="18411"/>
                  </a:lnTo>
                  <a:lnTo>
                    <a:pt x="365030" y="40009"/>
                  </a:lnTo>
                  <a:lnTo>
                    <a:pt x="399684" y="68611"/>
                  </a:lnTo>
                  <a:lnTo>
                    <a:pt x="428273" y="103274"/>
                  </a:lnTo>
                  <a:lnTo>
                    <a:pt x="449855" y="143053"/>
                  </a:lnTo>
                  <a:lnTo>
                    <a:pt x="463494" y="187006"/>
                  </a:lnTo>
                  <a:lnTo>
                    <a:pt x="468249" y="234187"/>
                  </a:lnTo>
                  <a:lnTo>
                    <a:pt x="463494" y="281369"/>
                  </a:lnTo>
                  <a:lnTo>
                    <a:pt x="449855" y="325322"/>
                  </a:lnTo>
                  <a:lnTo>
                    <a:pt x="428273" y="365101"/>
                  </a:lnTo>
                  <a:lnTo>
                    <a:pt x="399684" y="399764"/>
                  </a:lnTo>
                  <a:lnTo>
                    <a:pt x="365030" y="428366"/>
                  </a:lnTo>
                  <a:lnTo>
                    <a:pt x="325248" y="449964"/>
                  </a:lnTo>
                  <a:lnTo>
                    <a:pt x="281279" y="463615"/>
                  </a:lnTo>
                  <a:lnTo>
                    <a:pt x="234061" y="468375"/>
                  </a:lnTo>
                  <a:lnTo>
                    <a:pt x="186884" y="463615"/>
                  </a:lnTo>
                  <a:lnTo>
                    <a:pt x="142946" y="449964"/>
                  </a:lnTo>
                  <a:lnTo>
                    <a:pt x="103187" y="428366"/>
                  </a:lnTo>
                  <a:lnTo>
                    <a:pt x="68548" y="399764"/>
                  </a:lnTo>
                  <a:lnTo>
                    <a:pt x="39969" y="365101"/>
                  </a:lnTo>
                  <a:lnTo>
                    <a:pt x="18391" y="325322"/>
                  </a:lnTo>
                  <a:lnTo>
                    <a:pt x="4754" y="281369"/>
                  </a:lnTo>
                  <a:lnTo>
                    <a:pt x="0" y="234187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969122" y="2544571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8182038" y="1503743"/>
            <a:ext cx="3043555" cy="1050290"/>
            <a:chOff x="8182038" y="1503743"/>
            <a:chExt cx="3043555" cy="1050290"/>
          </a:xfrm>
        </p:grpSpPr>
        <p:sp>
          <p:nvSpPr>
            <p:cNvPr id="32" name="object 32"/>
            <p:cNvSpPr/>
            <p:nvPr/>
          </p:nvSpPr>
          <p:spPr>
            <a:xfrm>
              <a:off x="8196326" y="1876170"/>
              <a:ext cx="1062355" cy="663575"/>
            </a:xfrm>
            <a:custGeom>
              <a:avLst/>
              <a:gdLst/>
              <a:ahLst/>
              <a:cxnLst/>
              <a:rect l="l" t="t" r="r" b="b"/>
              <a:pathLst>
                <a:path w="1062354" h="663575">
                  <a:moveTo>
                    <a:pt x="708025" y="12700"/>
                  </a:moveTo>
                  <a:lnTo>
                    <a:pt x="1061974" y="663575"/>
                  </a:lnTo>
                </a:path>
                <a:path w="1062354" h="663575">
                  <a:moveTo>
                    <a:pt x="412750" y="0"/>
                  </a:moveTo>
                  <a:lnTo>
                    <a:pt x="0" y="649224"/>
                  </a:lnTo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0742930" y="1518030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234188" y="0"/>
                  </a:moveTo>
                  <a:lnTo>
                    <a:pt x="187006" y="4754"/>
                  </a:lnTo>
                  <a:lnTo>
                    <a:pt x="143053" y="18391"/>
                  </a:lnTo>
                  <a:lnTo>
                    <a:pt x="103274" y="39969"/>
                  </a:lnTo>
                  <a:lnTo>
                    <a:pt x="68611" y="68548"/>
                  </a:lnTo>
                  <a:lnTo>
                    <a:pt x="40009" y="103187"/>
                  </a:lnTo>
                  <a:lnTo>
                    <a:pt x="18411" y="142946"/>
                  </a:lnTo>
                  <a:lnTo>
                    <a:pt x="4760" y="186884"/>
                  </a:lnTo>
                  <a:lnTo>
                    <a:pt x="0" y="234061"/>
                  </a:lnTo>
                  <a:lnTo>
                    <a:pt x="4760" y="281279"/>
                  </a:lnTo>
                  <a:lnTo>
                    <a:pt x="18411" y="325248"/>
                  </a:lnTo>
                  <a:lnTo>
                    <a:pt x="40009" y="365030"/>
                  </a:lnTo>
                  <a:lnTo>
                    <a:pt x="68611" y="399684"/>
                  </a:lnTo>
                  <a:lnTo>
                    <a:pt x="103274" y="428273"/>
                  </a:lnTo>
                  <a:lnTo>
                    <a:pt x="143053" y="449855"/>
                  </a:lnTo>
                  <a:lnTo>
                    <a:pt x="187006" y="463494"/>
                  </a:lnTo>
                  <a:lnTo>
                    <a:pt x="234188" y="468249"/>
                  </a:lnTo>
                  <a:lnTo>
                    <a:pt x="281369" y="463494"/>
                  </a:lnTo>
                  <a:lnTo>
                    <a:pt x="325322" y="449855"/>
                  </a:lnTo>
                  <a:lnTo>
                    <a:pt x="365101" y="428273"/>
                  </a:lnTo>
                  <a:lnTo>
                    <a:pt x="399764" y="399684"/>
                  </a:lnTo>
                  <a:lnTo>
                    <a:pt x="428366" y="365030"/>
                  </a:lnTo>
                  <a:lnTo>
                    <a:pt x="449964" y="325248"/>
                  </a:lnTo>
                  <a:lnTo>
                    <a:pt x="463615" y="281279"/>
                  </a:lnTo>
                  <a:lnTo>
                    <a:pt x="468375" y="234061"/>
                  </a:lnTo>
                  <a:lnTo>
                    <a:pt x="463615" y="186884"/>
                  </a:lnTo>
                  <a:lnTo>
                    <a:pt x="449964" y="142946"/>
                  </a:lnTo>
                  <a:lnTo>
                    <a:pt x="428366" y="103187"/>
                  </a:lnTo>
                  <a:lnTo>
                    <a:pt x="399764" y="68548"/>
                  </a:lnTo>
                  <a:lnTo>
                    <a:pt x="365101" y="39969"/>
                  </a:lnTo>
                  <a:lnTo>
                    <a:pt x="325322" y="18391"/>
                  </a:lnTo>
                  <a:lnTo>
                    <a:pt x="281369" y="4754"/>
                  </a:lnTo>
                  <a:lnTo>
                    <a:pt x="234188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0742930" y="1518030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0" y="234061"/>
                  </a:moveTo>
                  <a:lnTo>
                    <a:pt x="4760" y="186884"/>
                  </a:lnTo>
                  <a:lnTo>
                    <a:pt x="18411" y="142946"/>
                  </a:lnTo>
                  <a:lnTo>
                    <a:pt x="40009" y="103187"/>
                  </a:lnTo>
                  <a:lnTo>
                    <a:pt x="68611" y="68548"/>
                  </a:lnTo>
                  <a:lnTo>
                    <a:pt x="103274" y="39969"/>
                  </a:lnTo>
                  <a:lnTo>
                    <a:pt x="143053" y="18391"/>
                  </a:lnTo>
                  <a:lnTo>
                    <a:pt x="187006" y="4754"/>
                  </a:lnTo>
                  <a:lnTo>
                    <a:pt x="234188" y="0"/>
                  </a:lnTo>
                  <a:lnTo>
                    <a:pt x="281369" y="4754"/>
                  </a:lnTo>
                  <a:lnTo>
                    <a:pt x="325322" y="18391"/>
                  </a:lnTo>
                  <a:lnTo>
                    <a:pt x="365101" y="39969"/>
                  </a:lnTo>
                  <a:lnTo>
                    <a:pt x="399764" y="68548"/>
                  </a:lnTo>
                  <a:lnTo>
                    <a:pt x="428366" y="103187"/>
                  </a:lnTo>
                  <a:lnTo>
                    <a:pt x="449964" y="142946"/>
                  </a:lnTo>
                  <a:lnTo>
                    <a:pt x="463615" y="186884"/>
                  </a:lnTo>
                  <a:lnTo>
                    <a:pt x="468375" y="234061"/>
                  </a:lnTo>
                  <a:lnTo>
                    <a:pt x="463615" y="281279"/>
                  </a:lnTo>
                  <a:lnTo>
                    <a:pt x="449964" y="325248"/>
                  </a:lnTo>
                  <a:lnTo>
                    <a:pt x="428366" y="365030"/>
                  </a:lnTo>
                  <a:lnTo>
                    <a:pt x="399764" y="399684"/>
                  </a:lnTo>
                  <a:lnTo>
                    <a:pt x="365101" y="428273"/>
                  </a:lnTo>
                  <a:lnTo>
                    <a:pt x="325322" y="449855"/>
                  </a:lnTo>
                  <a:lnTo>
                    <a:pt x="281369" y="463494"/>
                  </a:lnTo>
                  <a:lnTo>
                    <a:pt x="234188" y="468249"/>
                  </a:lnTo>
                  <a:lnTo>
                    <a:pt x="187006" y="463494"/>
                  </a:lnTo>
                  <a:lnTo>
                    <a:pt x="143053" y="449855"/>
                  </a:lnTo>
                  <a:lnTo>
                    <a:pt x="103274" y="428273"/>
                  </a:lnTo>
                  <a:lnTo>
                    <a:pt x="68611" y="399684"/>
                  </a:lnTo>
                  <a:lnTo>
                    <a:pt x="40009" y="365030"/>
                  </a:lnTo>
                  <a:lnTo>
                    <a:pt x="18411" y="325248"/>
                  </a:lnTo>
                  <a:lnTo>
                    <a:pt x="4760" y="281279"/>
                  </a:lnTo>
                  <a:lnTo>
                    <a:pt x="0" y="234061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0855832" y="1546301"/>
            <a:ext cx="2457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0270807" y="2522918"/>
            <a:ext cx="497205" cy="497205"/>
            <a:chOff x="10270807" y="2522918"/>
            <a:chExt cx="497205" cy="497205"/>
          </a:xfrm>
        </p:grpSpPr>
        <p:sp>
          <p:nvSpPr>
            <p:cNvPr id="37" name="object 37"/>
            <p:cNvSpPr/>
            <p:nvPr/>
          </p:nvSpPr>
          <p:spPr>
            <a:xfrm>
              <a:off x="10285094" y="2537205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234187" y="0"/>
                  </a:moveTo>
                  <a:lnTo>
                    <a:pt x="187006" y="4754"/>
                  </a:lnTo>
                  <a:lnTo>
                    <a:pt x="143053" y="18391"/>
                  </a:lnTo>
                  <a:lnTo>
                    <a:pt x="103274" y="39969"/>
                  </a:lnTo>
                  <a:lnTo>
                    <a:pt x="68611" y="68548"/>
                  </a:lnTo>
                  <a:lnTo>
                    <a:pt x="40009" y="103187"/>
                  </a:lnTo>
                  <a:lnTo>
                    <a:pt x="18411" y="142946"/>
                  </a:lnTo>
                  <a:lnTo>
                    <a:pt x="4760" y="186884"/>
                  </a:lnTo>
                  <a:lnTo>
                    <a:pt x="0" y="234061"/>
                  </a:lnTo>
                  <a:lnTo>
                    <a:pt x="4760" y="281279"/>
                  </a:lnTo>
                  <a:lnTo>
                    <a:pt x="18411" y="325248"/>
                  </a:lnTo>
                  <a:lnTo>
                    <a:pt x="40009" y="365030"/>
                  </a:lnTo>
                  <a:lnTo>
                    <a:pt x="68611" y="399684"/>
                  </a:lnTo>
                  <a:lnTo>
                    <a:pt x="103274" y="428273"/>
                  </a:lnTo>
                  <a:lnTo>
                    <a:pt x="143053" y="449855"/>
                  </a:lnTo>
                  <a:lnTo>
                    <a:pt x="187006" y="463494"/>
                  </a:lnTo>
                  <a:lnTo>
                    <a:pt x="234187" y="468249"/>
                  </a:lnTo>
                  <a:lnTo>
                    <a:pt x="281369" y="463494"/>
                  </a:lnTo>
                  <a:lnTo>
                    <a:pt x="325322" y="449855"/>
                  </a:lnTo>
                  <a:lnTo>
                    <a:pt x="365101" y="428273"/>
                  </a:lnTo>
                  <a:lnTo>
                    <a:pt x="399764" y="399684"/>
                  </a:lnTo>
                  <a:lnTo>
                    <a:pt x="428366" y="365030"/>
                  </a:lnTo>
                  <a:lnTo>
                    <a:pt x="449964" y="325248"/>
                  </a:lnTo>
                  <a:lnTo>
                    <a:pt x="463615" y="281279"/>
                  </a:lnTo>
                  <a:lnTo>
                    <a:pt x="468375" y="234061"/>
                  </a:lnTo>
                  <a:lnTo>
                    <a:pt x="463615" y="186884"/>
                  </a:lnTo>
                  <a:lnTo>
                    <a:pt x="449964" y="142946"/>
                  </a:lnTo>
                  <a:lnTo>
                    <a:pt x="428366" y="103187"/>
                  </a:lnTo>
                  <a:lnTo>
                    <a:pt x="399764" y="68548"/>
                  </a:lnTo>
                  <a:lnTo>
                    <a:pt x="365101" y="39969"/>
                  </a:lnTo>
                  <a:lnTo>
                    <a:pt x="325322" y="18391"/>
                  </a:lnTo>
                  <a:lnTo>
                    <a:pt x="281369" y="4754"/>
                  </a:lnTo>
                  <a:lnTo>
                    <a:pt x="234187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0285094" y="2537205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0" y="234061"/>
                  </a:moveTo>
                  <a:lnTo>
                    <a:pt x="4760" y="186884"/>
                  </a:lnTo>
                  <a:lnTo>
                    <a:pt x="18411" y="142946"/>
                  </a:lnTo>
                  <a:lnTo>
                    <a:pt x="40009" y="103187"/>
                  </a:lnTo>
                  <a:lnTo>
                    <a:pt x="68611" y="68548"/>
                  </a:lnTo>
                  <a:lnTo>
                    <a:pt x="103274" y="39969"/>
                  </a:lnTo>
                  <a:lnTo>
                    <a:pt x="143053" y="18391"/>
                  </a:lnTo>
                  <a:lnTo>
                    <a:pt x="187006" y="4754"/>
                  </a:lnTo>
                  <a:lnTo>
                    <a:pt x="234187" y="0"/>
                  </a:lnTo>
                  <a:lnTo>
                    <a:pt x="281369" y="4754"/>
                  </a:lnTo>
                  <a:lnTo>
                    <a:pt x="325322" y="18391"/>
                  </a:lnTo>
                  <a:lnTo>
                    <a:pt x="365101" y="39969"/>
                  </a:lnTo>
                  <a:lnTo>
                    <a:pt x="399764" y="68548"/>
                  </a:lnTo>
                  <a:lnTo>
                    <a:pt x="428366" y="103187"/>
                  </a:lnTo>
                  <a:lnTo>
                    <a:pt x="449964" y="142946"/>
                  </a:lnTo>
                  <a:lnTo>
                    <a:pt x="463615" y="186884"/>
                  </a:lnTo>
                  <a:lnTo>
                    <a:pt x="468375" y="234061"/>
                  </a:lnTo>
                  <a:lnTo>
                    <a:pt x="463615" y="281279"/>
                  </a:lnTo>
                  <a:lnTo>
                    <a:pt x="449964" y="325248"/>
                  </a:lnTo>
                  <a:lnTo>
                    <a:pt x="428366" y="365030"/>
                  </a:lnTo>
                  <a:lnTo>
                    <a:pt x="399764" y="399684"/>
                  </a:lnTo>
                  <a:lnTo>
                    <a:pt x="365101" y="428273"/>
                  </a:lnTo>
                  <a:lnTo>
                    <a:pt x="325322" y="449855"/>
                  </a:lnTo>
                  <a:lnTo>
                    <a:pt x="281369" y="463494"/>
                  </a:lnTo>
                  <a:lnTo>
                    <a:pt x="234187" y="468249"/>
                  </a:lnTo>
                  <a:lnTo>
                    <a:pt x="187006" y="463494"/>
                  </a:lnTo>
                  <a:lnTo>
                    <a:pt x="143053" y="449855"/>
                  </a:lnTo>
                  <a:lnTo>
                    <a:pt x="103274" y="428273"/>
                  </a:lnTo>
                  <a:lnTo>
                    <a:pt x="68611" y="399684"/>
                  </a:lnTo>
                  <a:lnTo>
                    <a:pt x="40009" y="365030"/>
                  </a:lnTo>
                  <a:lnTo>
                    <a:pt x="18411" y="325248"/>
                  </a:lnTo>
                  <a:lnTo>
                    <a:pt x="4760" y="281279"/>
                  </a:lnTo>
                  <a:lnTo>
                    <a:pt x="0" y="234061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0397997" y="2565908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G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9680003" y="421068"/>
            <a:ext cx="1200785" cy="2133600"/>
            <a:chOff x="9680003" y="421068"/>
            <a:chExt cx="1200785" cy="2133600"/>
          </a:xfrm>
        </p:grpSpPr>
        <p:sp>
          <p:nvSpPr>
            <p:cNvPr id="41" name="object 41"/>
            <p:cNvSpPr/>
            <p:nvPr/>
          </p:nvSpPr>
          <p:spPr>
            <a:xfrm>
              <a:off x="10569321" y="1936750"/>
              <a:ext cx="297180" cy="603250"/>
            </a:xfrm>
            <a:custGeom>
              <a:avLst/>
              <a:gdLst/>
              <a:ahLst/>
              <a:cxnLst/>
              <a:rect l="l" t="t" r="r" b="b"/>
              <a:pathLst>
                <a:path w="297179" h="603250">
                  <a:moveTo>
                    <a:pt x="296799" y="0"/>
                  </a:moveTo>
                  <a:lnTo>
                    <a:pt x="0" y="603250"/>
                  </a:lnTo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694291" y="435355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234060" y="0"/>
                  </a:moveTo>
                  <a:lnTo>
                    <a:pt x="186884" y="4754"/>
                  </a:lnTo>
                  <a:lnTo>
                    <a:pt x="142946" y="18391"/>
                  </a:lnTo>
                  <a:lnTo>
                    <a:pt x="103187" y="39969"/>
                  </a:lnTo>
                  <a:lnTo>
                    <a:pt x="68548" y="68548"/>
                  </a:lnTo>
                  <a:lnTo>
                    <a:pt x="39969" y="103187"/>
                  </a:lnTo>
                  <a:lnTo>
                    <a:pt x="18391" y="142946"/>
                  </a:lnTo>
                  <a:lnTo>
                    <a:pt x="4754" y="186884"/>
                  </a:lnTo>
                  <a:lnTo>
                    <a:pt x="0" y="234061"/>
                  </a:lnTo>
                  <a:lnTo>
                    <a:pt x="4754" y="281279"/>
                  </a:lnTo>
                  <a:lnTo>
                    <a:pt x="18391" y="325248"/>
                  </a:lnTo>
                  <a:lnTo>
                    <a:pt x="39969" y="365030"/>
                  </a:lnTo>
                  <a:lnTo>
                    <a:pt x="68548" y="399684"/>
                  </a:lnTo>
                  <a:lnTo>
                    <a:pt x="103187" y="428273"/>
                  </a:lnTo>
                  <a:lnTo>
                    <a:pt x="142946" y="449855"/>
                  </a:lnTo>
                  <a:lnTo>
                    <a:pt x="186884" y="463494"/>
                  </a:lnTo>
                  <a:lnTo>
                    <a:pt x="234060" y="468249"/>
                  </a:lnTo>
                  <a:lnTo>
                    <a:pt x="281279" y="463494"/>
                  </a:lnTo>
                  <a:lnTo>
                    <a:pt x="325248" y="449855"/>
                  </a:lnTo>
                  <a:lnTo>
                    <a:pt x="365030" y="428273"/>
                  </a:lnTo>
                  <a:lnTo>
                    <a:pt x="399684" y="399684"/>
                  </a:lnTo>
                  <a:lnTo>
                    <a:pt x="428273" y="365030"/>
                  </a:lnTo>
                  <a:lnTo>
                    <a:pt x="449855" y="325248"/>
                  </a:lnTo>
                  <a:lnTo>
                    <a:pt x="463494" y="281279"/>
                  </a:lnTo>
                  <a:lnTo>
                    <a:pt x="468249" y="234061"/>
                  </a:lnTo>
                  <a:lnTo>
                    <a:pt x="463494" y="186884"/>
                  </a:lnTo>
                  <a:lnTo>
                    <a:pt x="449855" y="142946"/>
                  </a:lnTo>
                  <a:lnTo>
                    <a:pt x="428273" y="103187"/>
                  </a:lnTo>
                  <a:lnTo>
                    <a:pt x="399684" y="68548"/>
                  </a:lnTo>
                  <a:lnTo>
                    <a:pt x="365030" y="39969"/>
                  </a:lnTo>
                  <a:lnTo>
                    <a:pt x="325248" y="18391"/>
                  </a:lnTo>
                  <a:lnTo>
                    <a:pt x="281279" y="4754"/>
                  </a:lnTo>
                  <a:lnTo>
                    <a:pt x="234060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9694291" y="435355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0" y="234061"/>
                  </a:moveTo>
                  <a:lnTo>
                    <a:pt x="4754" y="186884"/>
                  </a:lnTo>
                  <a:lnTo>
                    <a:pt x="18391" y="142946"/>
                  </a:lnTo>
                  <a:lnTo>
                    <a:pt x="39969" y="103187"/>
                  </a:lnTo>
                  <a:lnTo>
                    <a:pt x="68548" y="68548"/>
                  </a:lnTo>
                  <a:lnTo>
                    <a:pt x="103187" y="39969"/>
                  </a:lnTo>
                  <a:lnTo>
                    <a:pt x="142946" y="18391"/>
                  </a:lnTo>
                  <a:lnTo>
                    <a:pt x="186884" y="4754"/>
                  </a:lnTo>
                  <a:lnTo>
                    <a:pt x="234060" y="0"/>
                  </a:lnTo>
                  <a:lnTo>
                    <a:pt x="281279" y="4754"/>
                  </a:lnTo>
                  <a:lnTo>
                    <a:pt x="325248" y="18391"/>
                  </a:lnTo>
                  <a:lnTo>
                    <a:pt x="365030" y="39969"/>
                  </a:lnTo>
                  <a:lnTo>
                    <a:pt x="399684" y="68548"/>
                  </a:lnTo>
                  <a:lnTo>
                    <a:pt x="428273" y="103187"/>
                  </a:lnTo>
                  <a:lnTo>
                    <a:pt x="449855" y="142946"/>
                  </a:lnTo>
                  <a:lnTo>
                    <a:pt x="463494" y="186884"/>
                  </a:lnTo>
                  <a:lnTo>
                    <a:pt x="468249" y="234061"/>
                  </a:lnTo>
                  <a:lnTo>
                    <a:pt x="463494" y="281279"/>
                  </a:lnTo>
                  <a:lnTo>
                    <a:pt x="449855" y="325248"/>
                  </a:lnTo>
                  <a:lnTo>
                    <a:pt x="428273" y="365030"/>
                  </a:lnTo>
                  <a:lnTo>
                    <a:pt x="399684" y="399684"/>
                  </a:lnTo>
                  <a:lnTo>
                    <a:pt x="365030" y="428273"/>
                  </a:lnTo>
                  <a:lnTo>
                    <a:pt x="325248" y="449855"/>
                  </a:lnTo>
                  <a:lnTo>
                    <a:pt x="281279" y="463494"/>
                  </a:lnTo>
                  <a:lnTo>
                    <a:pt x="234060" y="468249"/>
                  </a:lnTo>
                  <a:lnTo>
                    <a:pt x="186884" y="463494"/>
                  </a:lnTo>
                  <a:lnTo>
                    <a:pt x="142946" y="449855"/>
                  </a:lnTo>
                  <a:lnTo>
                    <a:pt x="103187" y="428273"/>
                  </a:lnTo>
                  <a:lnTo>
                    <a:pt x="68548" y="399684"/>
                  </a:lnTo>
                  <a:lnTo>
                    <a:pt x="39969" y="365030"/>
                  </a:lnTo>
                  <a:lnTo>
                    <a:pt x="18391" y="325248"/>
                  </a:lnTo>
                  <a:lnTo>
                    <a:pt x="4754" y="281279"/>
                  </a:lnTo>
                  <a:lnTo>
                    <a:pt x="0" y="234061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9814686" y="463677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4751323" y="421068"/>
            <a:ext cx="6233795" cy="3926204"/>
            <a:chOff x="4751323" y="421068"/>
            <a:chExt cx="6233795" cy="3926204"/>
          </a:xfrm>
        </p:grpSpPr>
        <p:sp>
          <p:nvSpPr>
            <p:cNvPr id="46" name="object 46"/>
            <p:cNvSpPr/>
            <p:nvPr/>
          </p:nvSpPr>
          <p:spPr>
            <a:xfrm>
              <a:off x="8889110" y="774572"/>
              <a:ext cx="2081530" cy="768985"/>
            </a:xfrm>
            <a:custGeom>
              <a:avLst/>
              <a:gdLst/>
              <a:ahLst/>
              <a:cxnLst/>
              <a:rect l="l" t="t" r="r" b="b"/>
              <a:pathLst>
                <a:path w="2081529" h="768985">
                  <a:moveTo>
                    <a:pt x="836930" y="24891"/>
                  </a:moveTo>
                  <a:lnTo>
                    <a:pt x="0" y="768476"/>
                  </a:lnTo>
                </a:path>
                <a:path w="2081529" h="768985">
                  <a:moveTo>
                    <a:pt x="1042670" y="116331"/>
                  </a:moveTo>
                  <a:lnTo>
                    <a:pt x="1042670" y="706881"/>
                  </a:lnTo>
                </a:path>
                <a:path w="2081529" h="768985">
                  <a:moveTo>
                    <a:pt x="2081149" y="743585"/>
                  </a:moveTo>
                  <a:lnTo>
                    <a:pt x="1244219" y="0"/>
                  </a:lnTo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770373" y="756665"/>
              <a:ext cx="1452245" cy="3571240"/>
            </a:xfrm>
            <a:custGeom>
              <a:avLst/>
              <a:gdLst/>
              <a:ahLst/>
              <a:cxnLst/>
              <a:rect l="l" t="t" r="r" b="b"/>
              <a:pathLst>
                <a:path w="1452245" h="3571240">
                  <a:moveTo>
                    <a:pt x="1133475" y="0"/>
                  </a:moveTo>
                  <a:lnTo>
                    <a:pt x="622300" y="575945"/>
                  </a:lnTo>
                </a:path>
                <a:path w="1452245" h="3571240">
                  <a:moveTo>
                    <a:pt x="360045" y="895985"/>
                  </a:moveTo>
                  <a:lnTo>
                    <a:pt x="0" y="1543939"/>
                  </a:lnTo>
                </a:path>
                <a:path w="1452245" h="3571240">
                  <a:moveTo>
                    <a:pt x="60071" y="1976120"/>
                  </a:moveTo>
                  <a:lnTo>
                    <a:pt x="375285" y="2537206"/>
                  </a:lnTo>
                </a:path>
                <a:path w="1452245" h="3571240">
                  <a:moveTo>
                    <a:pt x="1436751" y="2923032"/>
                  </a:moveTo>
                  <a:lnTo>
                    <a:pt x="1148714" y="3571113"/>
                  </a:lnTo>
                </a:path>
                <a:path w="1452245" h="3571240">
                  <a:moveTo>
                    <a:pt x="1163954" y="1941830"/>
                  </a:moveTo>
                  <a:lnTo>
                    <a:pt x="1451990" y="2517775"/>
                  </a:lnTo>
                </a:path>
              </a:pathLst>
            </a:custGeom>
            <a:ln w="38100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884163" y="435355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4">
                  <a:moveTo>
                    <a:pt x="0" y="215900"/>
                  </a:moveTo>
                  <a:lnTo>
                    <a:pt x="5708" y="166391"/>
                  </a:lnTo>
                  <a:lnTo>
                    <a:pt x="21966" y="120946"/>
                  </a:lnTo>
                  <a:lnTo>
                    <a:pt x="47476" y="80859"/>
                  </a:lnTo>
                  <a:lnTo>
                    <a:pt x="80936" y="47426"/>
                  </a:lnTo>
                  <a:lnTo>
                    <a:pt x="121048" y="21941"/>
                  </a:lnTo>
                  <a:lnTo>
                    <a:pt x="166511" y="5701"/>
                  </a:lnTo>
                  <a:lnTo>
                    <a:pt x="216026" y="0"/>
                  </a:lnTo>
                  <a:lnTo>
                    <a:pt x="265542" y="5701"/>
                  </a:lnTo>
                  <a:lnTo>
                    <a:pt x="311005" y="21941"/>
                  </a:lnTo>
                  <a:lnTo>
                    <a:pt x="351117" y="47426"/>
                  </a:lnTo>
                  <a:lnTo>
                    <a:pt x="384577" y="80859"/>
                  </a:lnTo>
                  <a:lnTo>
                    <a:pt x="410087" y="120946"/>
                  </a:lnTo>
                  <a:lnTo>
                    <a:pt x="426345" y="166391"/>
                  </a:lnTo>
                  <a:lnTo>
                    <a:pt x="432053" y="215900"/>
                  </a:lnTo>
                  <a:lnTo>
                    <a:pt x="426345" y="265455"/>
                  </a:lnTo>
                  <a:lnTo>
                    <a:pt x="410087" y="310934"/>
                  </a:lnTo>
                  <a:lnTo>
                    <a:pt x="384577" y="351043"/>
                  </a:lnTo>
                  <a:lnTo>
                    <a:pt x="351117" y="384490"/>
                  </a:lnTo>
                  <a:lnTo>
                    <a:pt x="311005" y="409982"/>
                  </a:lnTo>
                  <a:lnTo>
                    <a:pt x="265542" y="426225"/>
                  </a:lnTo>
                  <a:lnTo>
                    <a:pt x="216026" y="431927"/>
                  </a:lnTo>
                  <a:lnTo>
                    <a:pt x="166511" y="426225"/>
                  </a:lnTo>
                  <a:lnTo>
                    <a:pt x="121048" y="409982"/>
                  </a:lnTo>
                  <a:lnTo>
                    <a:pt x="80936" y="384490"/>
                  </a:lnTo>
                  <a:lnTo>
                    <a:pt x="47476" y="351043"/>
                  </a:lnTo>
                  <a:lnTo>
                    <a:pt x="21966" y="310934"/>
                  </a:lnTo>
                  <a:lnTo>
                    <a:pt x="5708" y="265455"/>
                  </a:lnTo>
                  <a:lnTo>
                    <a:pt x="0" y="215900"/>
                  </a:lnTo>
                  <a:close/>
                </a:path>
              </a:pathLst>
            </a:custGeom>
            <a:ln w="28575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5995161" y="426465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5586348" y="2305811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5" h="432435">
                <a:moveTo>
                  <a:pt x="0" y="215900"/>
                </a:moveTo>
                <a:lnTo>
                  <a:pt x="5708" y="166391"/>
                </a:lnTo>
                <a:lnTo>
                  <a:pt x="21966" y="120946"/>
                </a:lnTo>
                <a:lnTo>
                  <a:pt x="47476" y="80859"/>
                </a:lnTo>
                <a:lnTo>
                  <a:pt x="80936" y="47426"/>
                </a:lnTo>
                <a:lnTo>
                  <a:pt x="121048" y="21941"/>
                </a:lnTo>
                <a:lnTo>
                  <a:pt x="166511" y="5701"/>
                </a:lnTo>
                <a:lnTo>
                  <a:pt x="216026" y="0"/>
                </a:lnTo>
                <a:lnTo>
                  <a:pt x="265542" y="5701"/>
                </a:lnTo>
                <a:lnTo>
                  <a:pt x="311005" y="21941"/>
                </a:lnTo>
                <a:lnTo>
                  <a:pt x="351117" y="47426"/>
                </a:lnTo>
                <a:lnTo>
                  <a:pt x="384577" y="80859"/>
                </a:lnTo>
                <a:lnTo>
                  <a:pt x="410087" y="120946"/>
                </a:lnTo>
                <a:lnTo>
                  <a:pt x="426345" y="166391"/>
                </a:lnTo>
                <a:lnTo>
                  <a:pt x="432053" y="215900"/>
                </a:lnTo>
                <a:lnTo>
                  <a:pt x="426345" y="265455"/>
                </a:lnTo>
                <a:lnTo>
                  <a:pt x="410087" y="310934"/>
                </a:lnTo>
                <a:lnTo>
                  <a:pt x="384577" y="351043"/>
                </a:lnTo>
                <a:lnTo>
                  <a:pt x="351117" y="384490"/>
                </a:lnTo>
                <a:lnTo>
                  <a:pt x="311005" y="409982"/>
                </a:lnTo>
                <a:lnTo>
                  <a:pt x="265542" y="426225"/>
                </a:lnTo>
                <a:lnTo>
                  <a:pt x="216026" y="431926"/>
                </a:lnTo>
                <a:lnTo>
                  <a:pt x="166511" y="426225"/>
                </a:lnTo>
                <a:lnTo>
                  <a:pt x="121048" y="409982"/>
                </a:lnTo>
                <a:lnTo>
                  <a:pt x="80936" y="384490"/>
                </a:lnTo>
                <a:lnTo>
                  <a:pt x="47476" y="351043"/>
                </a:lnTo>
                <a:lnTo>
                  <a:pt x="21966" y="310934"/>
                </a:lnTo>
                <a:lnTo>
                  <a:pt x="5708" y="265455"/>
                </a:lnTo>
                <a:lnTo>
                  <a:pt x="0" y="215900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5688329" y="2297429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5028819" y="1251585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5" h="432435">
                <a:moveTo>
                  <a:pt x="0" y="216026"/>
                </a:moveTo>
                <a:lnTo>
                  <a:pt x="5708" y="166511"/>
                </a:lnTo>
                <a:lnTo>
                  <a:pt x="21966" y="121048"/>
                </a:lnTo>
                <a:lnTo>
                  <a:pt x="47476" y="80936"/>
                </a:lnTo>
                <a:lnTo>
                  <a:pt x="80936" y="47476"/>
                </a:lnTo>
                <a:lnTo>
                  <a:pt x="121048" y="21966"/>
                </a:lnTo>
                <a:lnTo>
                  <a:pt x="166511" y="5708"/>
                </a:lnTo>
                <a:lnTo>
                  <a:pt x="216026" y="0"/>
                </a:lnTo>
                <a:lnTo>
                  <a:pt x="265542" y="5708"/>
                </a:lnTo>
                <a:lnTo>
                  <a:pt x="311005" y="21966"/>
                </a:lnTo>
                <a:lnTo>
                  <a:pt x="351117" y="47476"/>
                </a:lnTo>
                <a:lnTo>
                  <a:pt x="384577" y="80936"/>
                </a:lnTo>
                <a:lnTo>
                  <a:pt x="410087" y="121048"/>
                </a:lnTo>
                <a:lnTo>
                  <a:pt x="426345" y="166511"/>
                </a:lnTo>
                <a:lnTo>
                  <a:pt x="432053" y="216026"/>
                </a:lnTo>
                <a:lnTo>
                  <a:pt x="426345" y="265542"/>
                </a:lnTo>
                <a:lnTo>
                  <a:pt x="410087" y="311005"/>
                </a:lnTo>
                <a:lnTo>
                  <a:pt x="384577" y="351117"/>
                </a:lnTo>
                <a:lnTo>
                  <a:pt x="351117" y="384577"/>
                </a:lnTo>
                <a:lnTo>
                  <a:pt x="311005" y="410087"/>
                </a:lnTo>
                <a:lnTo>
                  <a:pt x="265542" y="426345"/>
                </a:lnTo>
                <a:lnTo>
                  <a:pt x="216026" y="432053"/>
                </a:lnTo>
                <a:lnTo>
                  <a:pt x="166511" y="426345"/>
                </a:lnTo>
                <a:lnTo>
                  <a:pt x="121048" y="410087"/>
                </a:lnTo>
                <a:lnTo>
                  <a:pt x="80936" y="384577"/>
                </a:lnTo>
                <a:lnTo>
                  <a:pt x="47476" y="351117"/>
                </a:lnTo>
                <a:lnTo>
                  <a:pt x="21966" y="311005"/>
                </a:lnTo>
                <a:lnTo>
                  <a:pt x="5708" y="265542"/>
                </a:lnTo>
                <a:lnTo>
                  <a:pt x="0" y="216026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5139944" y="1243076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4536185" y="2305811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5" h="432435">
                <a:moveTo>
                  <a:pt x="0" y="215900"/>
                </a:moveTo>
                <a:lnTo>
                  <a:pt x="5708" y="166391"/>
                </a:lnTo>
                <a:lnTo>
                  <a:pt x="21966" y="120946"/>
                </a:lnTo>
                <a:lnTo>
                  <a:pt x="47476" y="80859"/>
                </a:lnTo>
                <a:lnTo>
                  <a:pt x="80936" y="47426"/>
                </a:lnTo>
                <a:lnTo>
                  <a:pt x="121048" y="21941"/>
                </a:lnTo>
                <a:lnTo>
                  <a:pt x="166511" y="5701"/>
                </a:lnTo>
                <a:lnTo>
                  <a:pt x="216026" y="0"/>
                </a:lnTo>
                <a:lnTo>
                  <a:pt x="265582" y="5701"/>
                </a:lnTo>
                <a:lnTo>
                  <a:pt x="311061" y="21941"/>
                </a:lnTo>
                <a:lnTo>
                  <a:pt x="351170" y="47426"/>
                </a:lnTo>
                <a:lnTo>
                  <a:pt x="384617" y="80859"/>
                </a:lnTo>
                <a:lnTo>
                  <a:pt x="410109" y="120946"/>
                </a:lnTo>
                <a:lnTo>
                  <a:pt x="426352" y="166391"/>
                </a:lnTo>
                <a:lnTo>
                  <a:pt x="432053" y="215900"/>
                </a:lnTo>
                <a:lnTo>
                  <a:pt x="426352" y="265455"/>
                </a:lnTo>
                <a:lnTo>
                  <a:pt x="410109" y="310934"/>
                </a:lnTo>
                <a:lnTo>
                  <a:pt x="384617" y="351043"/>
                </a:lnTo>
                <a:lnTo>
                  <a:pt x="351170" y="384490"/>
                </a:lnTo>
                <a:lnTo>
                  <a:pt x="311061" y="409982"/>
                </a:lnTo>
                <a:lnTo>
                  <a:pt x="265582" y="426225"/>
                </a:lnTo>
                <a:lnTo>
                  <a:pt x="216026" y="431926"/>
                </a:lnTo>
                <a:lnTo>
                  <a:pt x="166511" y="426225"/>
                </a:lnTo>
                <a:lnTo>
                  <a:pt x="121048" y="409982"/>
                </a:lnTo>
                <a:lnTo>
                  <a:pt x="80936" y="384490"/>
                </a:lnTo>
                <a:lnTo>
                  <a:pt x="47476" y="351043"/>
                </a:lnTo>
                <a:lnTo>
                  <a:pt x="21966" y="310934"/>
                </a:lnTo>
                <a:lnTo>
                  <a:pt x="5708" y="265455"/>
                </a:lnTo>
                <a:lnTo>
                  <a:pt x="0" y="215900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4647057" y="2297429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5651119" y="4308475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5" h="432435">
                <a:moveTo>
                  <a:pt x="0" y="216026"/>
                </a:moveTo>
                <a:lnTo>
                  <a:pt x="5708" y="166511"/>
                </a:lnTo>
                <a:lnTo>
                  <a:pt x="21966" y="121048"/>
                </a:lnTo>
                <a:lnTo>
                  <a:pt x="47476" y="80936"/>
                </a:lnTo>
                <a:lnTo>
                  <a:pt x="80936" y="47476"/>
                </a:lnTo>
                <a:lnTo>
                  <a:pt x="121048" y="21966"/>
                </a:lnTo>
                <a:lnTo>
                  <a:pt x="166511" y="5708"/>
                </a:lnTo>
                <a:lnTo>
                  <a:pt x="216026" y="0"/>
                </a:lnTo>
                <a:lnTo>
                  <a:pt x="265542" y="5708"/>
                </a:lnTo>
                <a:lnTo>
                  <a:pt x="311005" y="21966"/>
                </a:lnTo>
                <a:lnTo>
                  <a:pt x="351117" y="47476"/>
                </a:lnTo>
                <a:lnTo>
                  <a:pt x="384577" y="80936"/>
                </a:lnTo>
                <a:lnTo>
                  <a:pt x="410087" y="121048"/>
                </a:lnTo>
                <a:lnTo>
                  <a:pt x="426345" y="166511"/>
                </a:lnTo>
                <a:lnTo>
                  <a:pt x="432053" y="216026"/>
                </a:lnTo>
                <a:lnTo>
                  <a:pt x="426345" y="265582"/>
                </a:lnTo>
                <a:lnTo>
                  <a:pt x="410087" y="311061"/>
                </a:lnTo>
                <a:lnTo>
                  <a:pt x="384577" y="351170"/>
                </a:lnTo>
                <a:lnTo>
                  <a:pt x="351117" y="384617"/>
                </a:lnTo>
                <a:lnTo>
                  <a:pt x="311005" y="410109"/>
                </a:lnTo>
                <a:lnTo>
                  <a:pt x="265542" y="426352"/>
                </a:lnTo>
                <a:lnTo>
                  <a:pt x="216026" y="432054"/>
                </a:lnTo>
                <a:lnTo>
                  <a:pt x="166511" y="426352"/>
                </a:lnTo>
                <a:lnTo>
                  <a:pt x="121048" y="410109"/>
                </a:lnTo>
                <a:lnTo>
                  <a:pt x="80936" y="384617"/>
                </a:lnTo>
                <a:lnTo>
                  <a:pt x="47476" y="351170"/>
                </a:lnTo>
                <a:lnTo>
                  <a:pt x="21966" y="311061"/>
                </a:lnTo>
                <a:lnTo>
                  <a:pt x="5708" y="265582"/>
                </a:lnTo>
                <a:lnTo>
                  <a:pt x="0" y="216026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5745226" y="4300473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Times New Roman"/>
                <a:cs typeface="Times New Roman"/>
              </a:rPr>
              <a:t>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6069965" y="3278251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5">
                <a:moveTo>
                  <a:pt x="0" y="215900"/>
                </a:moveTo>
                <a:lnTo>
                  <a:pt x="5701" y="166391"/>
                </a:lnTo>
                <a:lnTo>
                  <a:pt x="21944" y="120946"/>
                </a:lnTo>
                <a:lnTo>
                  <a:pt x="47436" y="80859"/>
                </a:lnTo>
                <a:lnTo>
                  <a:pt x="80883" y="47426"/>
                </a:lnTo>
                <a:lnTo>
                  <a:pt x="120992" y="21941"/>
                </a:lnTo>
                <a:lnTo>
                  <a:pt x="166471" y="5701"/>
                </a:lnTo>
                <a:lnTo>
                  <a:pt x="216026" y="0"/>
                </a:lnTo>
                <a:lnTo>
                  <a:pt x="265535" y="5701"/>
                </a:lnTo>
                <a:lnTo>
                  <a:pt x="310980" y="21941"/>
                </a:lnTo>
                <a:lnTo>
                  <a:pt x="351067" y="47426"/>
                </a:lnTo>
                <a:lnTo>
                  <a:pt x="384500" y="80859"/>
                </a:lnTo>
                <a:lnTo>
                  <a:pt x="409985" y="120946"/>
                </a:lnTo>
                <a:lnTo>
                  <a:pt x="426225" y="166391"/>
                </a:lnTo>
                <a:lnTo>
                  <a:pt x="431926" y="215900"/>
                </a:lnTo>
                <a:lnTo>
                  <a:pt x="426225" y="265455"/>
                </a:lnTo>
                <a:lnTo>
                  <a:pt x="409985" y="310934"/>
                </a:lnTo>
                <a:lnTo>
                  <a:pt x="384500" y="351043"/>
                </a:lnTo>
                <a:lnTo>
                  <a:pt x="351067" y="384490"/>
                </a:lnTo>
                <a:lnTo>
                  <a:pt x="310980" y="409982"/>
                </a:lnTo>
                <a:lnTo>
                  <a:pt x="265535" y="426225"/>
                </a:lnTo>
                <a:lnTo>
                  <a:pt x="216026" y="431926"/>
                </a:lnTo>
                <a:lnTo>
                  <a:pt x="166471" y="426225"/>
                </a:lnTo>
                <a:lnTo>
                  <a:pt x="120992" y="409982"/>
                </a:lnTo>
                <a:lnTo>
                  <a:pt x="80883" y="384490"/>
                </a:lnTo>
                <a:lnTo>
                  <a:pt x="47436" y="351043"/>
                </a:lnTo>
                <a:lnTo>
                  <a:pt x="21944" y="310934"/>
                </a:lnTo>
                <a:lnTo>
                  <a:pt x="5701" y="265455"/>
                </a:lnTo>
                <a:lnTo>
                  <a:pt x="0" y="215900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6164326" y="3269996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5035550" y="3278251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5" h="432435">
                <a:moveTo>
                  <a:pt x="0" y="215900"/>
                </a:moveTo>
                <a:lnTo>
                  <a:pt x="5701" y="166391"/>
                </a:lnTo>
                <a:lnTo>
                  <a:pt x="21944" y="120946"/>
                </a:lnTo>
                <a:lnTo>
                  <a:pt x="47436" y="80859"/>
                </a:lnTo>
                <a:lnTo>
                  <a:pt x="80883" y="47426"/>
                </a:lnTo>
                <a:lnTo>
                  <a:pt x="120992" y="21941"/>
                </a:lnTo>
                <a:lnTo>
                  <a:pt x="166471" y="5701"/>
                </a:lnTo>
                <a:lnTo>
                  <a:pt x="216026" y="0"/>
                </a:lnTo>
                <a:lnTo>
                  <a:pt x="265535" y="5701"/>
                </a:lnTo>
                <a:lnTo>
                  <a:pt x="310980" y="21941"/>
                </a:lnTo>
                <a:lnTo>
                  <a:pt x="351067" y="47426"/>
                </a:lnTo>
                <a:lnTo>
                  <a:pt x="384500" y="80859"/>
                </a:lnTo>
                <a:lnTo>
                  <a:pt x="409985" y="120946"/>
                </a:lnTo>
                <a:lnTo>
                  <a:pt x="426225" y="166391"/>
                </a:lnTo>
                <a:lnTo>
                  <a:pt x="431926" y="215900"/>
                </a:lnTo>
                <a:lnTo>
                  <a:pt x="426225" y="265455"/>
                </a:lnTo>
                <a:lnTo>
                  <a:pt x="409985" y="310934"/>
                </a:lnTo>
                <a:lnTo>
                  <a:pt x="384500" y="351043"/>
                </a:lnTo>
                <a:lnTo>
                  <a:pt x="351067" y="384490"/>
                </a:lnTo>
                <a:lnTo>
                  <a:pt x="310980" y="409982"/>
                </a:lnTo>
                <a:lnTo>
                  <a:pt x="265535" y="426225"/>
                </a:lnTo>
                <a:lnTo>
                  <a:pt x="216026" y="431926"/>
                </a:lnTo>
                <a:lnTo>
                  <a:pt x="166471" y="426225"/>
                </a:lnTo>
                <a:lnTo>
                  <a:pt x="120992" y="409982"/>
                </a:lnTo>
                <a:lnTo>
                  <a:pt x="80883" y="384490"/>
                </a:lnTo>
                <a:lnTo>
                  <a:pt x="47436" y="351043"/>
                </a:lnTo>
                <a:lnTo>
                  <a:pt x="21944" y="310934"/>
                </a:lnTo>
                <a:lnTo>
                  <a:pt x="5701" y="265455"/>
                </a:lnTo>
                <a:lnTo>
                  <a:pt x="0" y="215900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5146294" y="3269996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5345684" y="1615947"/>
            <a:ext cx="3054985" cy="3495675"/>
            <a:chOff x="5345684" y="1615947"/>
            <a:chExt cx="3054985" cy="3495675"/>
          </a:xfrm>
        </p:grpSpPr>
        <p:sp>
          <p:nvSpPr>
            <p:cNvPr id="63" name="object 63"/>
            <p:cNvSpPr/>
            <p:nvPr/>
          </p:nvSpPr>
          <p:spPr>
            <a:xfrm>
              <a:off x="5364734" y="1634997"/>
              <a:ext cx="360045" cy="684530"/>
            </a:xfrm>
            <a:custGeom>
              <a:avLst/>
              <a:gdLst/>
              <a:ahLst/>
              <a:cxnLst/>
              <a:rect l="l" t="t" r="r" b="b"/>
              <a:pathLst>
                <a:path w="360045" h="684530">
                  <a:moveTo>
                    <a:pt x="359917" y="684022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190486" y="3865016"/>
              <a:ext cx="1181100" cy="414020"/>
            </a:xfrm>
            <a:custGeom>
              <a:avLst/>
              <a:gdLst/>
              <a:ahLst/>
              <a:cxnLst/>
              <a:rect l="l" t="t" r="r" b="b"/>
              <a:pathLst>
                <a:path w="1181100" h="414020">
                  <a:moveTo>
                    <a:pt x="0" y="413994"/>
                  </a:moveTo>
                  <a:lnTo>
                    <a:pt x="1181100" y="413994"/>
                  </a:lnTo>
                  <a:lnTo>
                    <a:pt x="1181100" y="0"/>
                  </a:lnTo>
                  <a:lnTo>
                    <a:pt x="0" y="0"/>
                  </a:lnTo>
                  <a:lnTo>
                    <a:pt x="0" y="413994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573137" y="3852037"/>
              <a:ext cx="412750" cy="428625"/>
            </a:xfrm>
            <a:custGeom>
              <a:avLst/>
              <a:gdLst/>
              <a:ahLst/>
              <a:cxnLst/>
              <a:rect l="l" t="t" r="r" b="b"/>
              <a:pathLst>
                <a:path w="412750" h="428625">
                  <a:moveTo>
                    <a:pt x="0" y="0"/>
                  </a:moveTo>
                  <a:lnTo>
                    <a:pt x="0" y="415417"/>
                  </a:lnTo>
                </a:path>
                <a:path w="412750" h="428625">
                  <a:moveTo>
                    <a:pt x="412750" y="12954"/>
                  </a:moveTo>
                  <a:lnTo>
                    <a:pt x="412750" y="428370"/>
                  </a:lnTo>
                </a:path>
              </a:pathLst>
            </a:custGeom>
            <a:ln w="28575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204837" y="4682896"/>
              <a:ext cx="1181100" cy="414020"/>
            </a:xfrm>
            <a:custGeom>
              <a:avLst/>
              <a:gdLst/>
              <a:ahLst/>
              <a:cxnLst/>
              <a:rect l="l" t="t" r="r" b="b"/>
              <a:pathLst>
                <a:path w="1181100" h="414020">
                  <a:moveTo>
                    <a:pt x="0" y="413994"/>
                  </a:moveTo>
                  <a:lnTo>
                    <a:pt x="1181100" y="413994"/>
                  </a:lnTo>
                  <a:lnTo>
                    <a:pt x="1181100" y="0"/>
                  </a:lnTo>
                  <a:lnTo>
                    <a:pt x="0" y="0"/>
                  </a:lnTo>
                  <a:lnTo>
                    <a:pt x="0" y="413994"/>
                  </a:lnTo>
                  <a:close/>
                </a:path>
              </a:pathLst>
            </a:custGeom>
            <a:ln w="28574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7601648" y="4658995"/>
            <a:ext cx="3841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7190549" y="4653597"/>
            <a:ext cx="4044950" cy="1346835"/>
            <a:chOff x="7190549" y="4653597"/>
            <a:chExt cx="4044950" cy="1346835"/>
          </a:xfrm>
        </p:grpSpPr>
        <p:sp>
          <p:nvSpPr>
            <p:cNvPr id="69" name="object 69"/>
            <p:cNvSpPr/>
            <p:nvPr/>
          </p:nvSpPr>
          <p:spPr>
            <a:xfrm>
              <a:off x="7587360" y="4669916"/>
              <a:ext cx="412750" cy="428625"/>
            </a:xfrm>
            <a:custGeom>
              <a:avLst/>
              <a:gdLst/>
              <a:ahLst/>
              <a:cxnLst/>
              <a:rect l="l" t="t" r="r" b="b"/>
              <a:pathLst>
                <a:path w="412750" h="428625">
                  <a:moveTo>
                    <a:pt x="0" y="0"/>
                  </a:moveTo>
                  <a:lnTo>
                    <a:pt x="0" y="415416"/>
                  </a:lnTo>
                </a:path>
                <a:path w="412750" h="428625">
                  <a:moveTo>
                    <a:pt x="412750" y="12953"/>
                  </a:moveTo>
                  <a:lnTo>
                    <a:pt x="412750" y="428370"/>
                  </a:lnTo>
                </a:path>
              </a:pathLst>
            </a:custGeom>
            <a:ln w="28575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0040111" y="4681740"/>
              <a:ext cx="1181100" cy="391795"/>
            </a:xfrm>
            <a:custGeom>
              <a:avLst/>
              <a:gdLst/>
              <a:ahLst/>
              <a:cxnLst/>
              <a:rect l="l" t="t" r="r" b="b"/>
              <a:pathLst>
                <a:path w="1181100" h="391795">
                  <a:moveTo>
                    <a:pt x="0" y="391528"/>
                  </a:moveTo>
                  <a:lnTo>
                    <a:pt x="1181100" y="391528"/>
                  </a:lnTo>
                  <a:lnTo>
                    <a:pt x="1181100" y="0"/>
                  </a:lnTo>
                  <a:lnTo>
                    <a:pt x="0" y="0"/>
                  </a:lnTo>
                  <a:lnTo>
                    <a:pt x="0" y="391528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0422635" y="4667884"/>
              <a:ext cx="412750" cy="416559"/>
            </a:xfrm>
            <a:custGeom>
              <a:avLst/>
              <a:gdLst/>
              <a:ahLst/>
              <a:cxnLst/>
              <a:rect l="l" t="t" r="r" b="b"/>
              <a:pathLst>
                <a:path w="412750" h="416560">
                  <a:moveTo>
                    <a:pt x="0" y="888"/>
                  </a:moveTo>
                  <a:lnTo>
                    <a:pt x="0" y="416306"/>
                  </a:lnTo>
                </a:path>
                <a:path w="412750" h="416560">
                  <a:moveTo>
                    <a:pt x="412750" y="0"/>
                  </a:moveTo>
                  <a:lnTo>
                    <a:pt x="412750" y="415416"/>
                  </a:lnTo>
                </a:path>
              </a:pathLst>
            </a:custGeom>
            <a:ln w="28575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7204836" y="5594514"/>
              <a:ext cx="1181100" cy="391795"/>
            </a:xfrm>
            <a:custGeom>
              <a:avLst/>
              <a:gdLst/>
              <a:ahLst/>
              <a:cxnLst/>
              <a:rect l="l" t="t" r="r" b="b"/>
              <a:pathLst>
                <a:path w="1181100" h="391795">
                  <a:moveTo>
                    <a:pt x="0" y="391528"/>
                  </a:moveTo>
                  <a:lnTo>
                    <a:pt x="1181100" y="391528"/>
                  </a:lnTo>
                  <a:lnTo>
                    <a:pt x="1181100" y="0"/>
                  </a:lnTo>
                  <a:lnTo>
                    <a:pt x="0" y="0"/>
                  </a:lnTo>
                  <a:lnTo>
                    <a:pt x="0" y="391528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7601648" y="5570626"/>
            <a:ext cx="3841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7587360" y="5580634"/>
            <a:ext cx="412750" cy="416559"/>
          </a:xfrm>
          <a:custGeom>
            <a:avLst/>
            <a:gdLst/>
            <a:ahLst/>
            <a:cxnLst/>
            <a:rect l="l" t="t" r="r" b="b"/>
            <a:pathLst>
              <a:path w="412750" h="416560">
                <a:moveTo>
                  <a:pt x="0" y="888"/>
                </a:moveTo>
                <a:lnTo>
                  <a:pt x="0" y="416331"/>
                </a:lnTo>
              </a:path>
              <a:path w="412750" h="416560">
                <a:moveTo>
                  <a:pt x="412750" y="0"/>
                </a:moveTo>
                <a:lnTo>
                  <a:pt x="412750" y="415467"/>
                </a:lnTo>
              </a:path>
            </a:pathLst>
          </a:custGeom>
          <a:ln w="28575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7307960" y="4117466"/>
            <a:ext cx="142875" cy="564515"/>
          </a:xfrm>
          <a:custGeom>
            <a:avLst/>
            <a:gdLst/>
            <a:ahLst/>
            <a:cxnLst/>
            <a:rect l="l" t="t" r="r" b="b"/>
            <a:pathLst>
              <a:path w="142875" h="564514">
                <a:moveTo>
                  <a:pt x="0" y="421131"/>
                </a:moveTo>
                <a:lnTo>
                  <a:pt x="71500" y="564006"/>
                </a:lnTo>
                <a:lnTo>
                  <a:pt x="114325" y="478281"/>
                </a:lnTo>
                <a:lnTo>
                  <a:pt x="57150" y="478281"/>
                </a:lnTo>
                <a:lnTo>
                  <a:pt x="57150" y="466811"/>
                </a:lnTo>
                <a:lnTo>
                  <a:pt x="0" y="421131"/>
                </a:lnTo>
                <a:close/>
              </a:path>
              <a:path w="142875" h="564514">
                <a:moveTo>
                  <a:pt x="57150" y="466811"/>
                </a:moveTo>
                <a:lnTo>
                  <a:pt x="57150" y="478281"/>
                </a:lnTo>
                <a:lnTo>
                  <a:pt x="71500" y="478281"/>
                </a:lnTo>
                <a:lnTo>
                  <a:pt x="57150" y="466811"/>
                </a:lnTo>
                <a:close/>
              </a:path>
              <a:path w="142875" h="564514">
                <a:moveTo>
                  <a:pt x="85725" y="0"/>
                </a:moveTo>
                <a:lnTo>
                  <a:pt x="57150" y="0"/>
                </a:lnTo>
                <a:lnTo>
                  <a:pt x="57251" y="466892"/>
                </a:lnTo>
                <a:lnTo>
                  <a:pt x="71500" y="478281"/>
                </a:lnTo>
                <a:lnTo>
                  <a:pt x="85725" y="466892"/>
                </a:lnTo>
                <a:lnTo>
                  <a:pt x="85725" y="0"/>
                </a:lnTo>
                <a:close/>
              </a:path>
              <a:path w="142875" h="564514">
                <a:moveTo>
                  <a:pt x="85725" y="466892"/>
                </a:moveTo>
                <a:lnTo>
                  <a:pt x="71500" y="478281"/>
                </a:lnTo>
                <a:lnTo>
                  <a:pt x="85725" y="478281"/>
                </a:lnTo>
                <a:lnTo>
                  <a:pt x="85725" y="466892"/>
                </a:lnTo>
                <a:close/>
              </a:path>
              <a:path w="142875" h="564514">
                <a:moveTo>
                  <a:pt x="142875" y="421131"/>
                </a:moveTo>
                <a:lnTo>
                  <a:pt x="85826" y="466811"/>
                </a:lnTo>
                <a:lnTo>
                  <a:pt x="85725" y="478281"/>
                </a:lnTo>
                <a:lnTo>
                  <a:pt x="114325" y="478281"/>
                </a:lnTo>
                <a:lnTo>
                  <a:pt x="142875" y="421131"/>
                </a:lnTo>
                <a:close/>
              </a:path>
            </a:pathLst>
          </a:custGeom>
          <a:solidFill>
            <a:srgbClr val="285A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7587424" y="3840860"/>
            <a:ext cx="770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Times New Roman"/>
                <a:cs typeface="Times New Roman"/>
              </a:rPr>
              <a:t>A</a:t>
            </a:r>
            <a:r>
              <a:rPr sz="2800" b="1" spc="-12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宋体"/>
                <a:cs typeface="宋体"/>
              </a:rPr>
              <a:t>∧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7338186" y="5014595"/>
            <a:ext cx="142875" cy="564515"/>
          </a:xfrm>
          <a:custGeom>
            <a:avLst/>
            <a:gdLst/>
            <a:ahLst/>
            <a:cxnLst/>
            <a:rect l="l" t="t" r="r" b="b"/>
            <a:pathLst>
              <a:path w="142875" h="564514">
                <a:moveTo>
                  <a:pt x="0" y="421131"/>
                </a:moveTo>
                <a:lnTo>
                  <a:pt x="71374" y="564006"/>
                </a:lnTo>
                <a:lnTo>
                  <a:pt x="114274" y="478281"/>
                </a:lnTo>
                <a:lnTo>
                  <a:pt x="57150" y="478281"/>
                </a:lnTo>
                <a:lnTo>
                  <a:pt x="57048" y="466811"/>
                </a:lnTo>
                <a:lnTo>
                  <a:pt x="0" y="421131"/>
                </a:lnTo>
                <a:close/>
              </a:path>
              <a:path w="142875" h="564514">
                <a:moveTo>
                  <a:pt x="57150" y="466892"/>
                </a:moveTo>
                <a:lnTo>
                  <a:pt x="57150" y="478281"/>
                </a:lnTo>
                <a:lnTo>
                  <a:pt x="71374" y="478281"/>
                </a:lnTo>
                <a:lnTo>
                  <a:pt x="57150" y="466892"/>
                </a:lnTo>
                <a:close/>
              </a:path>
              <a:path w="142875" h="564514">
                <a:moveTo>
                  <a:pt x="85725" y="0"/>
                </a:moveTo>
                <a:lnTo>
                  <a:pt x="57150" y="0"/>
                </a:lnTo>
                <a:lnTo>
                  <a:pt x="57150" y="466892"/>
                </a:lnTo>
                <a:lnTo>
                  <a:pt x="71374" y="478281"/>
                </a:lnTo>
                <a:lnTo>
                  <a:pt x="85623" y="466892"/>
                </a:lnTo>
                <a:lnTo>
                  <a:pt x="85725" y="0"/>
                </a:lnTo>
                <a:close/>
              </a:path>
              <a:path w="142875" h="564514">
                <a:moveTo>
                  <a:pt x="85725" y="466811"/>
                </a:moveTo>
                <a:lnTo>
                  <a:pt x="71374" y="478281"/>
                </a:lnTo>
                <a:lnTo>
                  <a:pt x="85725" y="478281"/>
                </a:lnTo>
                <a:lnTo>
                  <a:pt x="85725" y="466811"/>
                </a:lnTo>
                <a:close/>
              </a:path>
              <a:path w="142875" h="564514">
                <a:moveTo>
                  <a:pt x="142875" y="421131"/>
                </a:moveTo>
                <a:lnTo>
                  <a:pt x="85725" y="466811"/>
                </a:lnTo>
                <a:lnTo>
                  <a:pt x="85725" y="478281"/>
                </a:lnTo>
                <a:lnTo>
                  <a:pt x="114274" y="478281"/>
                </a:lnTo>
                <a:lnTo>
                  <a:pt x="142875" y="421131"/>
                </a:lnTo>
                <a:close/>
              </a:path>
            </a:pathLst>
          </a:custGeom>
          <a:solidFill>
            <a:srgbClr val="285A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8219185" y="5757633"/>
            <a:ext cx="414655" cy="142875"/>
          </a:xfrm>
          <a:custGeom>
            <a:avLst/>
            <a:gdLst/>
            <a:ahLst/>
            <a:cxnLst/>
            <a:rect l="l" t="t" r="r" b="b"/>
            <a:pathLst>
              <a:path w="414654" h="142875">
                <a:moveTo>
                  <a:pt x="328675" y="71437"/>
                </a:moveTo>
                <a:lnTo>
                  <a:pt x="271525" y="142875"/>
                </a:lnTo>
                <a:lnTo>
                  <a:pt x="385825" y="85725"/>
                </a:lnTo>
                <a:lnTo>
                  <a:pt x="328675" y="85725"/>
                </a:lnTo>
                <a:lnTo>
                  <a:pt x="328675" y="71437"/>
                </a:lnTo>
                <a:close/>
              </a:path>
              <a:path w="414654" h="142875">
                <a:moveTo>
                  <a:pt x="317246" y="57150"/>
                </a:moveTo>
                <a:lnTo>
                  <a:pt x="0" y="57150"/>
                </a:lnTo>
                <a:lnTo>
                  <a:pt x="0" y="85725"/>
                </a:lnTo>
                <a:lnTo>
                  <a:pt x="317246" y="85725"/>
                </a:lnTo>
                <a:lnTo>
                  <a:pt x="328675" y="71437"/>
                </a:lnTo>
                <a:lnTo>
                  <a:pt x="317246" y="57150"/>
                </a:lnTo>
                <a:close/>
              </a:path>
              <a:path w="414654" h="142875">
                <a:moveTo>
                  <a:pt x="385825" y="57150"/>
                </a:moveTo>
                <a:lnTo>
                  <a:pt x="328675" y="57150"/>
                </a:lnTo>
                <a:lnTo>
                  <a:pt x="328675" y="85725"/>
                </a:lnTo>
                <a:lnTo>
                  <a:pt x="385825" y="85725"/>
                </a:lnTo>
                <a:lnTo>
                  <a:pt x="414400" y="71437"/>
                </a:lnTo>
                <a:lnTo>
                  <a:pt x="385825" y="57150"/>
                </a:lnTo>
                <a:close/>
              </a:path>
              <a:path w="414654" h="142875">
                <a:moveTo>
                  <a:pt x="271525" y="0"/>
                </a:moveTo>
                <a:lnTo>
                  <a:pt x="328675" y="71437"/>
                </a:lnTo>
                <a:lnTo>
                  <a:pt x="328675" y="57150"/>
                </a:lnTo>
                <a:lnTo>
                  <a:pt x="385825" y="57150"/>
                </a:lnTo>
                <a:lnTo>
                  <a:pt x="271525" y="0"/>
                </a:lnTo>
                <a:close/>
              </a:path>
            </a:pathLst>
          </a:custGeom>
          <a:solidFill>
            <a:srgbClr val="285A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0165333" y="4970907"/>
            <a:ext cx="142875" cy="564515"/>
          </a:xfrm>
          <a:custGeom>
            <a:avLst/>
            <a:gdLst/>
            <a:ahLst/>
            <a:cxnLst/>
            <a:rect l="l" t="t" r="r" b="b"/>
            <a:pathLst>
              <a:path w="142875" h="564514">
                <a:moveTo>
                  <a:pt x="0" y="421132"/>
                </a:moveTo>
                <a:lnTo>
                  <a:pt x="71374" y="564007"/>
                </a:lnTo>
                <a:lnTo>
                  <a:pt x="114274" y="478282"/>
                </a:lnTo>
                <a:lnTo>
                  <a:pt x="57150" y="478282"/>
                </a:lnTo>
                <a:lnTo>
                  <a:pt x="57048" y="466811"/>
                </a:lnTo>
                <a:lnTo>
                  <a:pt x="0" y="421132"/>
                </a:lnTo>
                <a:close/>
              </a:path>
              <a:path w="142875" h="564514">
                <a:moveTo>
                  <a:pt x="57150" y="466892"/>
                </a:moveTo>
                <a:lnTo>
                  <a:pt x="57150" y="478282"/>
                </a:lnTo>
                <a:lnTo>
                  <a:pt x="71374" y="478282"/>
                </a:lnTo>
                <a:lnTo>
                  <a:pt x="57150" y="466892"/>
                </a:lnTo>
                <a:close/>
              </a:path>
              <a:path w="142875" h="564514">
                <a:moveTo>
                  <a:pt x="85725" y="0"/>
                </a:moveTo>
                <a:lnTo>
                  <a:pt x="57150" y="0"/>
                </a:lnTo>
                <a:lnTo>
                  <a:pt x="57150" y="466892"/>
                </a:lnTo>
                <a:lnTo>
                  <a:pt x="71374" y="478282"/>
                </a:lnTo>
                <a:lnTo>
                  <a:pt x="85623" y="466892"/>
                </a:lnTo>
                <a:lnTo>
                  <a:pt x="85725" y="0"/>
                </a:lnTo>
                <a:close/>
              </a:path>
              <a:path w="142875" h="564514">
                <a:moveTo>
                  <a:pt x="85725" y="466811"/>
                </a:moveTo>
                <a:lnTo>
                  <a:pt x="71374" y="478282"/>
                </a:lnTo>
                <a:lnTo>
                  <a:pt x="85725" y="478282"/>
                </a:lnTo>
                <a:lnTo>
                  <a:pt x="85725" y="466811"/>
                </a:lnTo>
                <a:close/>
              </a:path>
              <a:path w="142875" h="564514">
                <a:moveTo>
                  <a:pt x="142875" y="421132"/>
                </a:moveTo>
                <a:lnTo>
                  <a:pt x="85725" y="466811"/>
                </a:lnTo>
                <a:lnTo>
                  <a:pt x="85725" y="478282"/>
                </a:lnTo>
                <a:lnTo>
                  <a:pt x="114274" y="478282"/>
                </a:lnTo>
                <a:lnTo>
                  <a:pt x="142875" y="421132"/>
                </a:lnTo>
                <a:close/>
              </a:path>
            </a:pathLst>
          </a:custGeom>
          <a:solidFill>
            <a:srgbClr val="285A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10436923" y="4658105"/>
            <a:ext cx="770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Times New Roman"/>
                <a:cs typeface="Times New Roman"/>
              </a:rPr>
              <a:t>D</a:t>
            </a:r>
            <a:r>
              <a:rPr sz="2800" b="1" spc="-9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宋体"/>
                <a:cs typeface="宋体"/>
              </a:rPr>
              <a:t>∧</a:t>
            </a:r>
            <a:endParaRPr sz="2400">
              <a:latin typeface="宋体"/>
              <a:cs typeface="宋体"/>
            </a:endParaRPr>
          </a:p>
        </p:txBody>
      </p:sp>
      <p:graphicFrame>
        <p:nvGraphicFramePr>
          <p:cNvPr id="81" name="object 81"/>
          <p:cNvGraphicFramePr>
            <a:graphicFrameLocks noGrp="1"/>
          </p:cNvGraphicFramePr>
          <p:nvPr/>
        </p:nvGraphicFramePr>
        <p:xfrm>
          <a:off x="10031920" y="5580113"/>
          <a:ext cx="1181100" cy="392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2430">
                <a:tc>
                  <a:txBody>
                    <a:bodyPr/>
                    <a:lstStyle/>
                    <a:p>
                      <a:pPr marL="18415">
                        <a:lnSpc>
                          <a:spcPts val="2535"/>
                        </a:lnSpc>
                        <a:spcBef>
                          <a:spcPts val="455"/>
                        </a:spcBef>
                      </a:pPr>
                      <a:r>
                        <a:rPr sz="2400" b="1" dirty="0">
                          <a:latin typeface="宋体"/>
                          <a:cs typeface="宋体"/>
                        </a:rPr>
                        <a:t>∧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57785" marB="0">
                    <a:lnL w="28575">
                      <a:solidFill>
                        <a:srgbClr val="507C7C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T w="28575">
                      <a:solidFill>
                        <a:srgbClr val="507C7C"/>
                      </a:solidFill>
                      <a:prstDash val="solid"/>
                    </a:lnT>
                    <a:lnB w="28575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ts val="2990"/>
                        </a:lnSpc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G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F81BC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T w="28575">
                      <a:solidFill>
                        <a:srgbClr val="507C7C"/>
                      </a:solidFill>
                      <a:prstDash val="solid"/>
                    </a:lnT>
                    <a:lnB w="28575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2535"/>
                        </a:lnSpc>
                        <a:spcBef>
                          <a:spcPts val="455"/>
                        </a:spcBef>
                      </a:pPr>
                      <a:r>
                        <a:rPr sz="2400" b="1" dirty="0">
                          <a:latin typeface="宋体"/>
                          <a:cs typeface="宋体"/>
                        </a:rPr>
                        <a:t>∧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57785" marB="0">
                    <a:lnL w="28575">
                      <a:solidFill>
                        <a:srgbClr val="4F81BC"/>
                      </a:solidFill>
                      <a:prstDash val="solid"/>
                    </a:lnL>
                    <a:lnR w="28575">
                      <a:solidFill>
                        <a:srgbClr val="507C7C"/>
                      </a:solidFill>
                      <a:prstDash val="solid"/>
                    </a:lnR>
                    <a:lnT w="28575">
                      <a:solidFill>
                        <a:srgbClr val="507C7C"/>
                      </a:solidFill>
                      <a:prstDash val="solid"/>
                    </a:lnT>
                    <a:lnB w="28575">
                      <a:solidFill>
                        <a:srgbClr val="507C7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2" name="object 82"/>
          <p:cNvSpPr txBox="1"/>
          <p:nvPr/>
        </p:nvSpPr>
        <p:spPr>
          <a:xfrm>
            <a:off x="7219124" y="5598058"/>
            <a:ext cx="354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宋体"/>
                <a:cs typeface="宋体"/>
              </a:rPr>
              <a:t>∧</a:t>
            </a:r>
            <a:endParaRPr sz="2400">
              <a:latin typeface="宋体"/>
              <a:cs typeface="宋体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7573898" y="3456559"/>
            <a:ext cx="2237740" cy="1656714"/>
            <a:chOff x="7573898" y="3456559"/>
            <a:chExt cx="2237740" cy="1656714"/>
          </a:xfrm>
        </p:grpSpPr>
        <p:sp>
          <p:nvSpPr>
            <p:cNvPr id="84" name="object 84"/>
            <p:cNvSpPr/>
            <p:nvPr/>
          </p:nvSpPr>
          <p:spPr>
            <a:xfrm>
              <a:off x="7573898" y="3456559"/>
              <a:ext cx="167640" cy="395605"/>
            </a:xfrm>
            <a:custGeom>
              <a:avLst/>
              <a:gdLst/>
              <a:ahLst/>
              <a:cxnLst/>
              <a:rect l="l" t="t" r="r" b="b"/>
              <a:pathLst>
                <a:path w="167640" h="395604">
                  <a:moveTo>
                    <a:pt x="31876" y="282828"/>
                  </a:moveTo>
                  <a:lnTo>
                    <a:pt x="145287" y="395477"/>
                  </a:lnTo>
                  <a:lnTo>
                    <a:pt x="155938" y="318769"/>
                  </a:lnTo>
                  <a:lnTo>
                    <a:pt x="104267" y="318769"/>
                  </a:lnTo>
                  <a:lnTo>
                    <a:pt x="100608" y="307905"/>
                  </a:lnTo>
                  <a:lnTo>
                    <a:pt x="31876" y="282828"/>
                  </a:lnTo>
                  <a:close/>
                </a:path>
                <a:path w="167640" h="395604">
                  <a:moveTo>
                    <a:pt x="100608" y="307905"/>
                  </a:moveTo>
                  <a:lnTo>
                    <a:pt x="104267" y="318769"/>
                  </a:lnTo>
                  <a:lnTo>
                    <a:pt x="117855" y="314198"/>
                  </a:lnTo>
                  <a:lnTo>
                    <a:pt x="100608" y="307905"/>
                  </a:lnTo>
                  <a:close/>
                </a:path>
                <a:path w="167640" h="395604">
                  <a:moveTo>
                    <a:pt x="167258" y="237235"/>
                  </a:moveTo>
                  <a:lnTo>
                    <a:pt x="127776" y="298744"/>
                  </a:lnTo>
                  <a:lnTo>
                    <a:pt x="131445" y="309625"/>
                  </a:lnTo>
                  <a:lnTo>
                    <a:pt x="104267" y="318769"/>
                  </a:lnTo>
                  <a:lnTo>
                    <a:pt x="155938" y="318769"/>
                  </a:lnTo>
                  <a:lnTo>
                    <a:pt x="167258" y="237235"/>
                  </a:lnTo>
                  <a:close/>
                </a:path>
                <a:path w="167640" h="395604">
                  <a:moveTo>
                    <a:pt x="27050" y="0"/>
                  </a:moveTo>
                  <a:lnTo>
                    <a:pt x="0" y="9143"/>
                  </a:lnTo>
                  <a:lnTo>
                    <a:pt x="100608" y="307905"/>
                  </a:lnTo>
                  <a:lnTo>
                    <a:pt x="117855" y="314198"/>
                  </a:lnTo>
                  <a:lnTo>
                    <a:pt x="127776" y="298744"/>
                  </a:lnTo>
                  <a:lnTo>
                    <a:pt x="27050" y="0"/>
                  </a:lnTo>
                  <a:close/>
                </a:path>
                <a:path w="167640" h="395604">
                  <a:moveTo>
                    <a:pt x="127776" y="298744"/>
                  </a:moveTo>
                  <a:lnTo>
                    <a:pt x="117855" y="314198"/>
                  </a:lnTo>
                  <a:lnTo>
                    <a:pt x="131445" y="309625"/>
                  </a:lnTo>
                  <a:lnTo>
                    <a:pt x="127776" y="298744"/>
                  </a:lnTo>
                  <a:close/>
                </a:path>
              </a:pathLst>
            </a:custGeom>
            <a:solidFill>
              <a:srgbClr val="B4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8615933" y="4684928"/>
              <a:ext cx="1181100" cy="414020"/>
            </a:xfrm>
            <a:custGeom>
              <a:avLst/>
              <a:gdLst/>
              <a:ahLst/>
              <a:cxnLst/>
              <a:rect l="l" t="t" r="r" b="b"/>
              <a:pathLst>
                <a:path w="1181100" h="414020">
                  <a:moveTo>
                    <a:pt x="0" y="413994"/>
                  </a:moveTo>
                  <a:lnTo>
                    <a:pt x="1181100" y="413994"/>
                  </a:lnTo>
                  <a:lnTo>
                    <a:pt x="1181100" y="0"/>
                  </a:lnTo>
                  <a:lnTo>
                    <a:pt x="0" y="0"/>
                  </a:lnTo>
                  <a:lnTo>
                    <a:pt x="0" y="413994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9012745" y="4660849"/>
            <a:ext cx="3841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87" name="object 87"/>
          <p:cNvGraphicFramePr>
            <a:graphicFrameLocks noGrp="1"/>
          </p:cNvGraphicFramePr>
          <p:nvPr/>
        </p:nvGraphicFramePr>
        <p:xfrm>
          <a:off x="8595423" y="5580227"/>
          <a:ext cx="1181100" cy="391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160">
                <a:tc>
                  <a:txBody>
                    <a:bodyPr/>
                    <a:lstStyle/>
                    <a:p>
                      <a:pPr marL="27305">
                        <a:lnSpc>
                          <a:spcPts val="2855"/>
                        </a:lnSpc>
                        <a:spcBef>
                          <a:spcPts val="125"/>
                        </a:spcBef>
                      </a:pPr>
                      <a:r>
                        <a:rPr sz="2400" b="1" dirty="0">
                          <a:latin typeface="宋体"/>
                          <a:cs typeface="宋体"/>
                        </a:rPr>
                        <a:t>∧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5875" marB="0">
                    <a:lnL w="28575">
                      <a:solidFill>
                        <a:srgbClr val="507C7C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T w="28575">
                      <a:solidFill>
                        <a:srgbClr val="507C7C"/>
                      </a:solidFill>
                      <a:prstDash val="solid"/>
                    </a:lnT>
                    <a:lnB w="28575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2985"/>
                        </a:lnSpc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F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F81BC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T w="28575">
                      <a:solidFill>
                        <a:srgbClr val="507C7C"/>
                      </a:solidFill>
                      <a:prstDash val="solid"/>
                    </a:lnT>
                    <a:lnB w="28575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ts val="2855"/>
                        </a:lnSpc>
                        <a:spcBef>
                          <a:spcPts val="125"/>
                        </a:spcBef>
                      </a:pPr>
                      <a:r>
                        <a:rPr sz="2400" b="1" dirty="0">
                          <a:latin typeface="宋体"/>
                          <a:cs typeface="宋体"/>
                        </a:rPr>
                        <a:t>∧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5875" marB="0">
                    <a:lnL w="28575">
                      <a:solidFill>
                        <a:srgbClr val="4F81BC"/>
                      </a:solidFill>
                      <a:prstDash val="solid"/>
                    </a:lnL>
                    <a:lnR w="28575">
                      <a:solidFill>
                        <a:srgbClr val="507C7C"/>
                      </a:solidFill>
                      <a:prstDash val="solid"/>
                    </a:lnR>
                    <a:lnT w="28575">
                      <a:solidFill>
                        <a:srgbClr val="507C7C"/>
                      </a:solidFill>
                      <a:prstDash val="solid"/>
                    </a:lnT>
                    <a:lnB w="28575">
                      <a:solidFill>
                        <a:srgbClr val="507C7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8" name="object 88"/>
          <p:cNvSpPr/>
          <p:nvPr/>
        </p:nvSpPr>
        <p:spPr>
          <a:xfrm>
            <a:off x="8219185" y="4831334"/>
            <a:ext cx="414655" cy="142875"/>
          </a:xfrm>
          <a:custGeom>
            <a:avLst/>
            <a:gdLst/>
            <a:ahLst/>
            <a:cxnLst/>
            <a:rect l="l" t="t" r="r" b="b"/>
            <a:pathLst>
              <a:path w="414654" h="142875">
                <a:moveTo>
                  <a:pt x="328675" y="71374"/>
                </a:moveTo>
                <a:lnTo>
                  <a:pt x="271525" y="142875"/>
                </a:lnTo>
                <a:lnTo>
                  <a:pt x="385724" y="85725"/>
                </a:lnTo>
                <a:lnTo>
                  <a:pt x="328675" y="85725"/>
                </a:lnTo>
                <a:lnTo>
                  <a:pt x="328675" y="71374"/>
                </a:lnTo>
                <a:close/>
              </a:path>
              <a:path w="414654" h="142875">
                <a:moveTo>
                  <a:pt x="317286" y="57150"/>
                </a:moveTo>
                <a:lnTo>
                  <a:pt x="0" y="57150"/>
                </a:lnTo>
                <a:lnTo>
                  <a:pt x="0" y="85725"/>
                </a:lnTo>
                <a:lnTo>
                  <a:pt x="317205" y="85725"/>
                </a:lnTo>
                <a:lnTo>
                  <a:pt x="328675" y="71374"/>
                </a:lnTo>
                <a:lnTo>
                  <a:pt x="317286" y="57150"/>
                </a:lnTo>
                <a:close/>
              </a:path>
              <a:path w="414654" h="142875">
                <a:moveTo>
                  <a:pt x="385927" y="57150"/>
                </a:moveTo>
                <a:lnTo>
                  <a:pt x="328675" y="57150"/>
                </a:lnTo>
                <a:lnTo>
                  <a:pt x="328675" y="85725"/>
                </a:lnTo>
                <a:lnTo>
                  <a:pt x="385724" y="85725"/>
                </a:lnTo>
                <a:lnTo>
                  <a:pt x="414400" y="71374"/>
                </a:lnTo>
                <a:lnTo>
                  <a:pt x="385927" y="57150"/>
                </a:lnTo>
                <a:close/>
              </a:path>
              <a:path w="414654" h="142875">
                <a:moveTo>
                  <a:pt x="271525" y="0"/>
                </a:moveTo>
                <a:lnTo>
                  <a:pt x="328675" y="71374"/>
                </a:lnTo>
                <a:lnTo>
                  <a:pt x="328675" y="57150"/>
                </a:lnTo>
                <a:lnTo>
                  <a:pt x="385927" y="57150"/>
                </a:lnTo>
                <a:lnTo>
                  <a:pt x="271525" y="0"/>
                </a:lnTo>
                <a:close/>
              </a:path>
            </a:pathLst>
          </a:custGeom>
          <a:solidFill>
            <a:srgbClr val="285A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9649332" y="4817998"/>
            <a:ext cx="414655" cy="142875"/>
          </a:xfrm>
          <a:custGeom>
            <a:avLst/>
            <a:gdLst/>
            <a:ahLst/>
            <a:cxnLst/>
            <a:rect l="l" t="t" r="r" b="b"/>
            <a:pathLst>
              <a:path w="414654" h="142875">
                <a:moveTo>
                  <a:pt x="328675" y="71500"/>
                </a:moveTo>
                <a:lnTo>
                  <a:pt x="271525" y="142875"/>
                </a:lnTo>
                <a:lnTo>
                  <a:pt x="385927" y="85725"/>
                </a:lnTo>
                <a:lnTo>
                  <a:pt x="328675" y="85725"/>
                </a:lnTo>
                <a:lnTo>
                  <a:pt x="328675" y="71500"/>
                </a:lnTo>
                <a:close/>
              </a:path>
              <a:path w="414654" h="142875">
                <a:moveTo>
                  <a:pt x="317205" y="57150"/>
                </a:moveTo>
                <a:lnTo>
                  <a:pt x="0" y="57150"/>
                </a:lnTo>
                <a:lnTo>
                  <a:pt x="0" y="85725"/>
                </a:lnTo>
                <a:lnTo>
                  <a:pt x="317286" y="85725"/>
                </a:lnTo>
                <a:lnTo>
                  <a:pt x="328675" y="71500"/>
                </a:lnTo>
                <a:lnTo>
                  <a:pt x="317205" y="57150"/>
                </a:lnTo>
                <a:close/>
              </a:path>
              <a:path w="414654" h="142875">
                <a:moveTo>
                  <a:pt x="385724" y="57150"/>
                </a:moveTo>
                <a:lnTo>
                  <a:pt x="328675" y="57150"/>
                </a:lnTo>
                <a:lnTo>
                  <a:pt x="328675" y="85725"/>
                </a:lnTo>
                <a:lnTo>
                  <a:pt x="385927" y="85725"/>
                </a:lnTo>
                <a:lnTo>
                  <a:pt x="414400" y="71500"/>
                </a:lnTo>
                <a:lnTo>
                  <a:pt x="385724" y="57150"/>
                </a:lnTo>
                <a:close/>
              </a:path>
              <a:path w="414654" h="142875">
                <a:moveTo>
                  <a:pt x="271525" y="0"/>
                </a:moveTo>
                <a:lnTo>
                  <a:pt x="328675" y="71500"/>
                </a:lnTo>
                <a:lnTo>
                  <a:pt x="328675" y="57150"/>
                </a:lnTo>
                <a:lnTo>
                  <a:pt x="385724" y="57150"/>
                </a:lnTo>
                <a:lnTo>
                  <a:pt x="271525" y="0"/>
                </a:lnTo>
                <a:close/>
              </a:path>
            </a:pathLst>
          </a:custGeom>
          <a:solidFill>
            <a:srgbClr val="285A3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0" name="object 90"/>
          <p:cNvGrpSpPr/>
          <p:nvPr/>
        </p:nvGrpSpPr>
        <p:grpSpPr>
          <a:xfrm>
            <a:off x="4791011" y="1566354"/>
            <a:ext cx="4634865" cy="4218305"/>
            <a:chOff x="4791011" y="1566354"/>
            <a:chExt cx="4634865" cy="4218305"/>
          </a:xfrm>
        </p:grpSpPr>
        <p:sp>
          <p:nvSpPr>
            <p:cNvPr id="91" name="object 91"/>
            <p:cNvSpPr/>
            <p:nvPr/>
          </p:nvSpPr>
          <p:spPr>
            <a:xfrm>
              <a:off x="8998458" y="4671949"/>
              <a:ext cx="412750" cy="428625"/>
            </a:xfrm>
            <a:custGeom>
              <a:avLst/>
              <a:gdLst/>
              <a:ahLst/>
              <a:cxnLst/>
              <a:rect l="l" t="t" r="r" b="b"/>
              <a:pathLst>
                <a:path w="412750" h="428625">
                  <a:moveTo>
                    <a:pt x="0" y="0"/>
                  </a:moveTo>
                  <a:lnTo>
                    <a:pt x="0" y="415417"/>
                  </a:lnTo>
                </a:path>
                <a:path w="412750" h="428625">
                  <a:moveTo>
                    <a:pt x="412750" y="12953"/>
                  </a:moveTo>
                  <a:lnTo>
                    <a:pt x="412750" y="428370"/>
                  </a:lnTo>
                </a:path>
              </a:pathLst>
            </a:custGeom>
            <a:ln w="28575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805298" y="1580641"/>
              <a:ext cx="3187065" cy="4189729"/>
            </a:xfrm>
            <a:custGeom>
              <a:avLst/>
              <a:gdLst/>
              <a:ahLst/>
              <a:cxnLst/>
              <a:rect l="l" t="t" r="r" b="b"/>
              <a:pathLst>
                <a:path w="3187065" h="4189729">
                  <a:moveTo>
                    <a:pt x="1891029" y="270002"/>
                  </a:moveTo>
                  <a:lnTo>
                    <a:pt x="2161031" y="0"/>
                  </a:lnTo>
                  <a:lnTo>
                    <a:pt x="2161031" y="135000"/>
                  </a:lnTo>
                  <a:lnTo>
                    <a:pt x="2916935" y="135000"/>
                  </a:lnTo>
                  <a:lnTo>
                    <a:pt x="2916935" y="0"/>
                  </a:lnTo>
                  <a:lnTo>
                    <a:pt x="3186937" y="270002"/>
                  </a:lnTo>
                  <a:lnTo>
                    <a:pt x="2916935" y="540004"/>
                  </a:lnTo>
                  <a:lnTo>
                    <a:pt x="2916935" y="405003"/>
                  </a:lnTo>
                  <a:lnTo>
                    <a:pt x="2161031" y="405003"/>
                  </a:lnTo>
                  <a:lnTo>
                    <a:pt x="2161031" y="540004"/>
                  </a:lnTo>
                  <a:lnTo>
                    <a:pt x="1891029" y="270002"/>
                  </a:lnTo>
                  <a:close/>
                </a:path>
                <a:path w="3187065" h="4189729">
                  <a:moveTo>
                    <a:pt x="0" y="3919093"/>
                  </a:moveTo>
                  <a:lnTo>
                    <a:pt x="270001" y="3649091"/>
                  </a:lnTo>
                  <a:lnTo>
                    <a:pt x="270001" y="3784092"/>
                  </a:lnTo>
                  <a:lnTo>
                    <a:pt x="1025905" y="3784092"/>
                  </a:lnTo>
                  <a:lnTo>
                    <a:pt x="1025905" y="3649091"/>
                  </a:lnTo>
                  <a:lnTo>
                    <a:pt x="1295908" y="3919093"/>
                  </a:lnTo>
                  <a:lnTo>
                    <a:pt x="1025905" y="4189107"/>
                  </a:lnTo>
                  <a:lnTo>
                    <a:pt x="1025905" y="4054106"/>
                  </a:lnTo>
                  <a:lnTo>
                    <a:pt x="270001" y="4054106"/>
                  </a:lnTo>
                  <a:lnTo>
                    <a:pt x="270001" y="4189107"/>
                  </a:lnTo>
                  <a:lnTo>
                    <a:pt x="0" y="3919093"/>
                  </a:lnTo>
                  <a:close/>
                </a:path>
              </a:pathLst>
            </a:custGeom>
            <a:ln w="28575">
              <a:solidFill>
                <a:srgbClr val="B42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3" name="object 93"/>
          <p:cNvSpPr txBox="1"/>
          <p:nvPr/>
        </p:nvSpPr>
        <p:spPr>
          <a:xfrm>
            <a:off x="11094466" y="6016379"/>
            <a:ext cx="5499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5" dirty="0">
                <a:solidFill>
                  <a:srgbClr val="FFFFFF"/>
                </a:solidFill>
                <a:latin typeface="Times New Roman"/>
                <a:cs typeface="Times New Roman"/>
              </a:rPr>
              <a:t>Page</a:t>
            </a:r>
            <a:r>
              <a:rPr sz="12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02</a:t>
            </a:r>
            <a:endParaRPr sz="12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022852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48643" y="2017267"/>
            <a:ext cx="152400" cy="25355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algn="just">
              <a:lnSpc>
                <a:spcPts val="1000"/>
              </a:lnSpc>
              <a:spcBef>
                <a:spcPts val="2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数 据 结 构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880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（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从 概 念 到 实 现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975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640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清 华 大 学 出 版 社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42925" y="100964"/>
            <a:ext cx="4428490" cy="540385"/>
          </a:xfrm>
          <a:custGeom>
            <a:avLst/>
            <a:gdLst/>
            <a:ahLst/>
            <a:cxnLst/>
            <a:rect l="l" t="t" r="r" b="b"/>
            <a:pathLst>
              <a:path w="4428490" h="540385">
                <a:moveTo>
                  <a:pt x="4337939" y="0"/>
                </a:moveTo>
                <a:lnTo>
                  <a:pt x="90004" y="0"/>
                </a:lnTo>
                <a:lnTo>
                  <a:pt x="54971" y="7068"/>
                </a:lnTo>
                <a:lnTo>
                  <a:pt x="26362" y="26352"/>
                </a:lnTo>
                <a:lnTo>
                  <a:pt x="7073" y="54971"/>
                </a:lnTo>
                <a:lnTo>
                  <a:pt x="0" y="90042"/>
                </a:lnTo>
                <a:lnTo>
                  <a:pt x="0" y="449960"/>
                </a:lnTo>
                <a:lnTo>
                  <a:pt x="7073" y="485032"/>
                </a:lnTo>
                <a:lnTo>
                  <a:pt x="26362" y="513651"/>
                </a:lnTo>
                <a:lnTo>
                  <a:pt x="54971" y="532935"/>
                </a:lnTo>
                <a:lnTo>
                  <a:pt x="90004" y="540003"/>
                </a:lnTo>
                <a:lnTo>
                  <a:pt x="4337939" y="540003"/>
                </a:lnTo>
                <a:lnTo>
                  <a:pt x="4373010" y="532935"/>
                </a:lnTo>
                <a:lnTo>
                  <a:pt x="4401629" y="513651"/>
                </a:lnTo>
                <a:lnTo>
                  <a:pt x="4420913" y="485032"/>
                </a:lnTo>
                <a:lnTo>
                  <a:pt x="4427982" y="449960"/>
                </a:lnTo>
                <a:lnTo>
                  <a:pt x="4427982" y="90042"/>
                </a:lnTo>
                <a:lnTo>
                  <a:pt x="4420913" y="54971"/>
                </a:lnTo>
                <a:lnTo>
                  <a:pt x="4401629" y="26352"/>
                </a:lnTo>
                <a:lnTo>
                  <a:pt x="4373010" y="7068"/>
                </a:lnTo>
                <a:lnTo>
                  <a:pt x="4337939" y="0"/>
                </a:lnTo>
                <a:close/>
              </a:path>
            </a:pathLst>
          </a:custGeom>
          <a:solidFill>
            <a:srgbClr val="5A31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6991" y="141809"/>
            <a:ext cx="41021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solidFill>
                  <a:schemeClr val="bg1"/>
                </a:solidFill>
              </a:rPr>
              <a:t>树与</a:t>
            </a:r>
            <a:r>
              <a:rPr sz="2800" spc="-10" dirty="0">
                <a:solidFill>
                  <a:schemeClr val="bg1"/>
                </a:solidFill>
              </a:rPr>
              <a:t>二</a:t>
            </a:r>
            <a:r>
              <a:rPr sz="2800" spc="-5" dirty="0">
                <a:solidFill>
                  <a:schemeClr val="bg1"/>
                </a:solidFill>
              </a:rPr>
              <a:t>叉树</a:t>
            </a:r>
            <a:r>
              <a:rPr sz="2800" spc="-10" dirty="0">
                <a:solidFill>
                  <a:schemeClr val="bg1"/>
                </a:solidFill>
              </a:rPr>
              <a:t>的</a:t>
            </a:r>
            <a:r>
              <a:rPr sz="2800" spc="-5" dirty="0">
                <a:solidFill>
                  <a:schemeClr val="bg1"/>
                </a:solidFill>
              </a:rPr>
              <a:t>对应</a:t>
            </a:r>
            <a:r>
              <a:rPr sz="2800" spc="-10" dirty="0">
                <a:solidFill>
                  <a:schemeClr val="bg1"/>
                </a:solidFill>
              </a:rPr>
              <a:t>关系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88186" y="972058"/>
            <a:ext cx="33934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逻辑关系有什么变化?</a:t>
            </a:r>
            <a:endParaRPr sz="2800">
              <a:latin typeface="微软雅黑"/>
              <a:cs typeface="微软雅黑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50353" y="1018158"/>
            <a:ext cx="2473325" cy="2168525"/>
            <a:chOff x="850353" y="1018158"/>
            <a:chExt cx="2473325" cy="2168525"/>
          </a:xfrm>
        </p:grpSpPr>
        <p:sp>
          <p:nvSpPr>
            <p:cNvPr id="7" name="object 7"/>
            <p:cNvSpPr/>
            <p:nvPr/>
          </p:nvSpPr>
          <p:spPr>
            <a:xfrm>
              <a:off x="937056" y="1387093"/>
              <a:ext cx="292735" cy="63500"/>
            </a:xfrm>
            <a:custGeom>
              <a:avLst/>
              <a:gdLst/>
              <a:ahLst/>
              <a:cxnLst/>
              <a:rect l="l" t="t" r="r" b="b"/>
              <a:pathLst>
                <a:path w="292734" h="63500">
                  <a:moveTo>
                    <a:pt x="251586" y="0"/>
                  </a:moveTo>
                  <a:lnTo>
                    <a:pt x="40741" y="0"/>
                  </a:lnTo>
                  <a:lnTo>
                    <a:pt x="35940" y="2031"/>
                  </a:lnTo>
                  <a:lnTo>
                    <a:pt x="35940" y="4190"/>
                  </a:lnTo>
                  <a:lnTo>
                    <a:pt x="2400" y="50418"/>
                  </a:lnTo>
                  <a:lnTo>
                    <a:pt x="0" y="54736"/>
                  </a:lnTo>
                  <a:lnTo>
                    <a:pt x="0" y="58927"/>
                  </a:lnTo>
                  <a:lnTo>
                    <a:pt x="4800" y="60959"/>
                  </a:lnTo>
                  <a:lnTo>
                    <a:pt x="7188" y="63118"/>
                  </a:lnTo>
                  <a:lnTo>
                    <a:pt x="14376" y="63118"/>
                  </a:lnTo>
                  <a:lnTo>
                    <a:pt x="16776" y="60959"/>
                  </a:lnTo>
                  <a:lnTo>
                    <a:pt x="19176" y="58927"/>
                  </a:lnTo>
                  <a:lnTo>
                    <a:pt x="47929" y="16763"/>
                  </a:lnTo>
                  <a:lnTo>
                    <a:pt x="265497" y="16763"/>
                  </a:lnTo>
                  <a:lnTo>
                    <a:pt x="256374" y="4190"/>
                  </a:lnTo>
                  <a:lnTo>
                    <a:pt x="253974" y="2031"/>
                  </a:lnTo>
                  <a:lnTo>
                    <a:pt x="251586" y="0"/>
                  </a:lnTo>
                  <a:close/>
                </a:path>
                <a:path w="292734" h="63500">
                  <a:moveTo>
                    <a:pt x="265497" y="16763"/>
                  </a:moveTo>
                  <a:lnTo>
                    <a:pt x="244398" y="16763"/>
                  </a:lnTo>
                  <a:lnTo>
                    <a:pt x="273138" y="58927"/>
                  </a:lnTo>
                  <a:lnTo>
                    <a:pt x="275539" y="60959"/>
                  </a:lnTo>
                  <a:lnTo>
                    <a:pt x="277939" y="63118"/>
                  </a:lnTo>
                  <a:lnTo>
                    <a:pt x="285127" y="63118"/>
                  </a:lnTo>
                  <a:lnTo>
                    <a:pt x="287515" y="60959"/>
                  </a:lnTo>
                  <a:lnTo>
                    <a:pt x="292315" y="58927"/>
                  </a:lnTo>
                  <a:lnTo>
                    <a:pt x="292315" y="54736"/>
                  </a:lnTo>
                  <a:lnTo>
                    <a:pt x="289915" y="50418"/>
                  </a:lnTo>
                  <a:lnTo>
                    <a:pt x="265497" y="16763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0353" y="1018158"/>
              <a:ext cx="145453" cy="11404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9225" y="1018158"/>
              <a:ext cx="146875" cy="11404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00696" y="1059433"/>
              <a:ext cx="362585" cy="316865"/>
            </a:xfrm>
            <a:custGeom>
              <a:avLst/>
              <a:gdLst/>
              <a:ahLst/>
              <a:cxnLst/>
              <a:rect l="l" t="t" r="r" b="b"/>
              <a:pathLst>
                <a:path w="362584" h="316865">
                  <a:moveTo>
                    <a:pt x="182321" y="0"/>
                  </a:moveTo>
                  <a:lnTo>
                    <a:pt x="133829" y="5654"/>
                  </a:lnTo>
                  <a:lnTo>
                    <a:pt x="90269" y="21613"/>
                  </a:lnTo>
                  <a:lnTo>
                    <a:pt x="53374" y="46370"/>
                  </a:lnTo>
                  <a:lnTo>
                    <a:pt x="24876" y="78420"/>
                  </a:lnTo>
                  <a:lnTo>
                    <a:pt x="6507" y="116254"/>
                  </a:lnTo>
                  <a:lnTo>
                    <a:pt x="0" y="158368"/>
                  </a:lnTo>
                  <a:lnTo>
                    <a:pt x="6507" y="200483"/>
                  </a:lnTo>
                  <a:lnTo>
                    <a:pt x="24876" y="238317"/>
                  </a:lnTo>
                  <a:lnTo>
                    <a:pt x="53374" y="270367"/>
                  </a:lnTo>
                  <a:lnTo>
                    <a:pt x="90269" y="295124"/>
                  </a:lnTo>
                  <a:lnTo>
                    <a:pt x="133829" y="311083"/>
                  </a:lnTo>
                  <a:lnTo>
                    <a:pt x="182321" y="316738"/>
                  </a:lnTo>
                  <a:lnTo>
                    <a:pt x="230631" y="311083"/>
                  </a:lnTo>
                  <a:lnTo>
                    <a:pt x="273744" y="295124"/>
                  </a:lnTo>
                  <a:lnTo>
                    <a:pt x="310062" y="270367"/>
                  </a:lnTo>
                  <a:lnTo>
                    <a:pt x="337984" y="238317"/>
                  </a:lnTo>
                  <a:lnTo>
                    <a:pt x="355911" y="200483"/>
                  </a:lnTo>
                  <a:lnTo>
                    <a:pt x="360371" y="170814"/>
                  </a:lnTo>
                  <a:lnTo>
                    <a:pt x="175120" y="170814"/>
                  </a:lnTo>
                  <a:lnTo>
                    <a:pt x="170319" y="164591"/>
                  </a:lnTo>
                  <a:lnTo>
                    <a:pt x="170319" y="43814"/>
                  </a:lnTo>
                  <a:lnTo>
                    <a:pt x="175120" y="37464"/>
                  </a:lnTo>
                  <a:lnTo>
                    <a:pt x="296998" y="37464"/>
                  </a:lnTo>
                  <a:lnTo>
                    <a:pt x="273744" y="21613"/>
                  </a:lnTo>
                  <a:lnTo>
                    <a:pt x="230631" y="5654"/>
                  </a:lnTo>
                  <a:lnTo>
                    <a:pt x="182321" y="0"/>
                  </a:lnTo>
                  <a:close/>
                </a:path>
                <a:path w="362584" h="316865">
                  <a:moveTo>
                    <a:pt x="296998" y="37464"/>
                  </a:moveTo>
                  <a:lnTo>
                    <a:pt x="191909" y="37464"/>
                  </a:lnTo>
                  <a:lnTo>
                    <a:pt x="199110" y="43814"/>
                  </a:lnTo>
                  <a:lnTo>
                    <a:pt x="199110" y="145923"/>
                  </a:lnTo>
                  <a:lnTo>
                    <a:pt x="256679" y="145923"/>
                  </a:lnTo>
                  <a:lnTo>
                    <a:pt x="263880" y="149987"/>
                  </a:lnTo>
                  <a:lnTo>
                    <a:pt x="263880" y="164591"/>
                  </a:lnTo>
                  <a:lnTo>
                    <a:pt x="256679" y="170814"/>
                  </a:lnTo>
                  <a:lnTo>
                    <a:pt x="360371" y="170814"/>
                  </a:lnTo>
                  <a:lnTo>
                    <a:pt x="362242" y="158368"/>
                  </a:lnTo>
                  <a:lnTo>
                    <a:pt x="355911" y="116254"/>
                  </a:lnTo>
                  <a:lnTo>
                    <a:pt x="337984" y="78420"/>
                  </a:lnTo>
                  <a:lnTo>
                    <a:pt x="310062" y="46370"/>
                  </a:lnTo>
                  <a:lnTo>
                    <a:pt x="296998" y="37464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949067" y="2380233"/>
              <a:ext cx="360045" cy="792480"/>
            </a:xfrm>
            <a:custGeom>
              <a:avLst/>
              <a:gdLst/>
              <a:ahLst/>
              <a:cxnLst/>
              <a:rect l="l" t="t" r="r" b="b"/>
              <a:pathLst>
                <a:path w="360045" h="792480">
                  <a:moveTo>
                    <a:pt x="179958" y="0"/>
                  </a:moveTo>
                  <a:lnTo>
                    <a:pt x="360044" y="180086"/>
                  </a:lnTo>
                  <a:lnTo>
                    <a:pt x="270001" y="180086"/>
                  </a:lnTo>
                  <a:lnTo>
                    <a:pt x="270001" y="612013"/>
                  </a:lnTo>
                  <a:lnTo>
                    <a:pt x="360044" y="612013"/>
                  </a:lnTo>
                  <a:lnTo>
                    <a:pt x="179958" y="791971"/>
                  </a:lnTo>
                  <a:lnTo>
                    <a:pt x="0" y="612013"/>
                  </a:lnTo>
                  <a:lnTo>
                    <a:pt x="90043" y="612013"/>
                  </a:lnTo>
                  <a:lnTo>
                    <a:pt x="90043" y="180086"/>
                  </a:lnTo>
                  <a:lnTo>
                    <a:pt x="0" y="180086"/>
                  </a:lnTo>
                  <a:lnTo>
                    <a:pt x="179958" y="0"/>
                  </a:lnTo>
                  <a:close/>
                </a:path>
              </a:pathLst>
            </a:custGeom>
            <a:ln w="28575">
              <a:solidFill>
                <a:srgbClr val="B42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772157" y="1902713"/>
            <a:ext cx="21564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285A31"/>
                </a:solidFill>
                <a:latin typeface="微软雅黑"/>
                <a:cs typeface="微软雅黑"/>
              </a:rPr>
              <a:t>树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：</a:t>
            </a:r>
            <a:r>
              <a:rPr sz="2800" spc="-5" dirty="0">
                <a:solidFill>
                  <a:srgbClr val="B42C2C"/>
                </a:solidFill>
                <a:latin typeface="微软雅黑"/>
                <a:cs typeface="微软雅黑"/>
              </a:rPr>
              <a:t>兄弟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关系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61719" y="3181604"/>
            <a:ext cx="357695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285A31"/>
                </a:solidFill>
                <a:latin typeface="微软雅黑"/>
                <a:cs typeface="微软雅黑"/>
              </a:rPr>
              <a:t>二叉树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：双亲和</a:t>
            </a:r>
            <a:r>
              <a:rPr sz="2800" spc="-5" dirty="0">
                <a:solidFill>
                  <a:srgbClr val="B42C2C"/>
                </a:solidFill>
                <a:latin typeface="微软雅黑"/>
                <a:cs typeface="微软雅黑"/>
              </a:rPr>
              <a:t>右孩子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32533" y="4081398"/>
            <a:ext cx="2511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285A31"/>
                </a:solidFill>
                <a:latin typeface="微软雅黑"/>
                <a:cs typeface="微软雅黑"/>
              </a:rPr>
              <a:t>树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：双亲和</a:t>
            </a:r>
            <a:r>
              <a:rPr sz="2800" spc="-5" dirty="0">
                <a:solidFill>
                  <a:srgbClr val="B42C2C"/>
                </a:solidFill>
                <a:latin typeface="微软雅黑"/>
                <a:cs typeface="微软雅黑"/>
              </a:rPr>
              <a:t>长子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00760" y="5361838"/>
            <a:ext cx="357695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285A31"/>
                </a:solidFill>
                <a:latin typeface="微软雅黑"/>
                <a:cs typeface="微软雅黑"/>
              </a:rPr>
              <a:t>二叉树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：双亲和</a:t>
            </a:r>
            <a:r>
              <a:rPr sz="2800" spc="-5" dirty="0">
                <a:solidFill>
                  <a:srgbClr val="B42C2C"/>
                </a:solidFill>
                <a:latin typeface="微软雅黑"/>
                <a:cs typeface="微软雅黑"/>
              </a:rPr>
              <a:t>左孩子</a:t>
            </a:r>
            <a:endParaRPr sz="2800">
              <a:latin typeface="微软雅黑"/>
              <a:cs typeface="微软雅黑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020123" y="1482407"/>
            <a:ext cx="7173595" cy="3896995"/>
            <a:chOff x="3020123" y="1482407"/>
            <a:chExt cx="7173595" cy="3896995"/>
          </a:xfrm>
        </p:grpSpPr>
        <p:sp>
          <p:nvSpPr>
            <p:cNvPr id="17" name="object 17"/>
            <p:cNvSpPr/>
            <p:nvPr/>
          </p:nvSpPr>
          <p:spPr>
            <a:xfrm>
              <a:off x="3034410" y="4573143"/>
              <a:ext cx="360045" cy="792480"/>
            </a:xfrm>
            <a:custGeom>
              <a:avLst/>
              <a:gdLst/>
              <a:ahLst/>
              <a:cxnLst/>
              <a:rect l="l" t="t" r="r" b="b"/>
              <a:pathLst>
                <a:path w="360045" h="792479">
                  <a:moveTo>
                    <a:pt x="179958" y="0"/>
                  </a:moveTo>
                  <a:lnTo>
                    <a:pt x="359917" y="179958"/>
                  </a:lnTo>
                  <a:lnTo>
                    <a:pt x="269875" y="179958"/>
                  </a:lnTo>
                  <a:lnTo>
                    <a:pt x="269875" y="612012"/>
                  </a:lnTo>
                  <a:lnTo>
                    <a:pt x="359917" y="612012"/>
                  </a:lnTo>
                  <a:lnTo>
                    <a:pt x="179958" y="791971"/>
                  </a:lnTo>
                  <a:lnTo>
                    <a:pt x="0" y="612012"/>
                  </a:lnTo>
                  <a:lnTo>
                    <a:pt x="89915" y="612012"/>
                  </a:lnTo>
                  <a:lnTo>
                    <a:pt x="89915" y="179958"/>
                  </a:lnTo>
                  <a:lnTo>
                    <a:pt x="0" y="179958"/>
                  </a:lnTo>
                  <a:lnTo>
                    <a:pt x="179958" y="0"/>
                  </a:lnTo>
                  <a:close/>
                </a:path>
              </a:pathLst>
            </a:custGeom>
            <a:ln w="28575">
              <a:solidFill>
                <a:srgbClr val="B42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710801" y="1496694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234060" y="0"/>
                  </a:moveTo>
                  <a:lnTo>
                    <a:pt x="186884" y="4760"/>
                  </a:lnTo>
                  <a:lnTo>
                    <a:pt x="142946" y="18411"/>
                  </a:lnTo>
                  <a:lnTo>
                    <a:pt x="103187" y="40009"/>
                  </a:lnTo>
                  <a:lnTo>
                    <a:pt x="68548" y="68611"/>
                  </a:lnTo>
                  <a:lnTo>
                    <a:pt x="39969" y="103274"/>
                  </a:lnTo>
                  <a:lnTo>
                    <a:pt x="18391" y="143053"/>
                  </a:lnTo>
                  <a:lnTo>
                    <a:pt x="4754" y="187006"/>
                  </a:lnTo>
                  <a:lnTo>
                    <a:pt x="0" y="234187"/>
                  </a:lnTo>
                  <a:lnTo>
                    <a:pt x="4754" y="281369"/>
                  </a:lnTo>
                  <a:lnTo>
                    <a:pt x="18391" y="325322"/>
                  </a:lnTo>
                  <a:lnTo>
                    <a:pt x="39969" y="365101"/>
                  </a:lnTo>
                  <a:lnTo>
                    <a:pt x="68548" y="399764"/>
                  </a:lnTo>
                  <a:lnTo>
                    <a:pt x="103187" y="428366"/>
                  </a:lnTo>
                  <a:lnTo>
                    <a:pt x="142946" y="449964"/>
                  </a:lnTo>
                  <a:lnTo>
                    <a:pt x="186884" y="463615"/>
                  </a:lnTo>
                  <a:lnTo>
                    <a:pt x="234060" y="468375"/>
                  </a:lnTo>
                  <a:lnTo>
                    <a:pt x="281279" y="463615"/>
                  </a:lnTo>
                  <a:lnTo>
                    <a:pt x="325248" y="449964"/>
                  </a:lnTo>
                  <a:lnTo>
                    <a:pt x="365030" y="428366"/>
                  </a:lnTo>
                  <a:lnTo>
                    <a:pt x="399684" y="399764"/>
                  </a:lnTo>
                  <a:lnTo>
                    <a:pt x="428273" y="365101"/>
                  </a:lnTo>
                  <a:lnTo>
                    <a:pt x="449855" y="325322"/>
                  </a:lnTo>
                  <a:lnTo>
                    <a:pt x="463494" y="281369"/>
                  </a:lnTo>
                  <a:lnTo>
                    <a:pt x="468249" y="234187"/>
                  </a:lnTo>
                  <a:lnTo>
                    <a:pt x="463494" y="187006"/>
                  </a:lnTo>
                  <a:lnTo>
                    <a:pt x="449855" y="143053"/>
                  </a:lnTo>
                  <a:lnTo>
                    <a:pt x="428273" y="103274"/>
                  </a:lnTo>
                  <a:lnTo>
                    <a:pt x="399684" y="68611"/>
                  </a:lnTo>
                  <a:lnTo>
                    <a:pt x="365030" y="40009"/>
                  </a:lnTo>
                  <a:lnTo>
                    <a:pt x="325248" y="18411"/>
                  </a:lnTo>
                  <a:lnTo>
                    <a:pt x="281279" y="4760"/>
                  </a:lnTo>
                  <a:lnTo>
                    <a:pt x="234060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710801" y="1496694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0" y="234187"/>
                  </a:moveTo>
                  <a:lnTo>
                    <a:pt x="4754" y="187006"/>
                  </a:lnTo>
                  <a:lnTo>
                    <a:pt x="18391" y="143053"/>
                  </a:lnTo>
                  <a:lnTo>
                    <a:pt x="39969" y="103274"/>
                  </a:lnTo>
                  <a:lnTo>
                    <a:pt x="68548" y="68611"/>
                  </a:lnTo>
                  <a:lnTo>
                    <a:pt x="103187" y="40009"/>
                  </a:lnTo>
                  <a:lnTo>
                    <a:pt x="142946" y="18411"/>
                  </a:lnTo>
                  <a:lnTo>
                    <a:pt x="186884" y="4760"/>
                  </a:lnTo>
                  <a:lnTo>
                    <a:pt x="234060" y="0"/>
                  </a:lnTo>
                  <a:lnTo>
                    <a:pt x="281279" y="4760"/>
                  </a:lnTo>
                  <a:lnTo>
                    <a:pt x="325248" y="18411"/>
                  </a:lnTo>
                  <a:lnTo>
                    <a:pt x="365030" y="40009"/>
                  </a:lnTo>
                  <a:lnTo>
                    <a:pt x="399684" y="68611"/>
                  </a:lnTo>
                  <a:lnTo>
                    <a:pt x="428273" y="103274"/>
                  </a:lnTo>
                  <a:lnTo>
                    <a:pt x="449855" y="143053"/>
                  </a:lnTo>
                  <a:lnTo>
                    <a:pt x="463494" y="187006"/>
                  </a:lnTo>
                  <a:lnTo>
                    <a:pt x="468249" y="234187"/>
                  </a:lnTo>
                  <a:lnTo>
                    <a:pt x="463494" y="281369"/>
                  </a:lnTo>
                  <a:lnTo>
                    <a:pt x="449855" y="325322"/>
                  </a:lnTo>
                  <a:lnTo>
                    <a:pt x="428273" y="365101"/>
                  </a:lnTo>
                  <a:lnTo>
                    <a:pt x="399684" y="399764"/>
                  </a:lnTo>
                  <a:lnTo>
                    <a:pt x="365030" y="428366"/>
                  </a:lnTo>
                  <a:lnTo>
                    <a:pt x="325248" y="449964"/>
                  </a:lnTo>
                  <a:lnTo>
                    <a:pt x="281279" y="463615"/>
                  </a:lnTo>
                  <a:lnTo>
                    <a:pt x="234060" y="468375"/>
                  </a:lnTo>
                  <a:lnTo>
                    <a:pt x="186884" y="463615"/>
                  </a:lnTo>
                  <a:lnTo>
                    <a:pt x="142946" y="449964"/>
                  </a:lnTo>
                  <a:lnTo>
                    <a:pt x="103187" y="428366"/>
                  </a:lnTo>
                  <a:lnTo>
                    <a:pt x="68548" y="399764"/>
                  </a:lnTo>
                  <a:lnTo>
                    <a:pt x="39969" y="365101"/>
                  </a:lnTo>
                  <a:lnTo>
                    <a:pt x="18391" y="325322"/>
                  </a:lnTo>
                  <a:lnTo>
                    <a:pt x="4754" y="281369"/>
                  </a:lnTo>
                  <a:lnTo>
                    <a:pt x="0" y="234187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831069" y="1525270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523287" y="1469707"/>
            <a:ext cx="497205" cy="497205"/>
            <a:chOff x="8523287" y="1469707"/>
            <a:chExt cx="497205" cy="497205"/>
          </a:xfrm>
        </p:grpSpPr>
        <p:sp>
          <p:nvSpPr>
            <p:cNvPr id="22" name="object 22"/>
            <p:cNvSpPr/>
            <p:nvPr/>
          </p:nvSpPr>
          <p:spPr>
            <a:xfrm>
              <a:off x="8537575" y="1483994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234188" y="0"/>
                  </a:moveTo>
                  <a:lnTo>
                    <a:pt x="187006" y="4760"/>
                  </a:lnTo>
                  <a:lnTo>
                    <a:pt x="143053" y="18411"/>
                  </a:lnTo>
                  <a:lnTo>
                    <a:pt x="103274" y="40009"/>
                  </a:lnTo>
                  <a:lnTo>
                    <a:pt x="68611" y="68611"/>
                  </a:lnTo>
                  <a:lnTo>
                    <a:pt x="40009" y="103274"/>
                  </a:lnTo>
                  <a:lnTo>
                    <a:pt x="18411" y="143053"/>
                  </a:lnTo>
                  <a:lnTo>
                    <a:pt x="4760" y="187006"/>
                  </a:lnTo>
                  <a:lnTo>
                    <a:pt x="0" y="234187"/>
                  </a:lnTo>
                  <a:lnTo>
                    <a:pt x="4760" y="281369"/>
                  </a:lnTo>
                  <a:lnTo>
                    <a:pt x="18411" y="325322"/>
                  </a:lnTo>
                  <a:lnTo>
                    <a:pt x="40009" y="365101"/>
                  </a:lnTo>
                  <a:lnTo>
                    <a:pt x="68611" y="399764"/>
                  </a:lnTo>
                  <a:lnTo>
                    <a:pt x="103274" y="428366"/>
                  </a:lnTo>
                  <a:lnTo>
                    <a:pt x="143053" y="449964"/>
                  </a:lnTo>
                  <a:lnTo>
                    <a:pt x="187006" y="463615"/>
                  </a:lnTo>
                  <a:lnTo>
                    <a:pt x="234188" y="468375"/>
                  </a:lnTo>
                  <a:lnTo>
                    <a:pt x="281369" y="463615"/>
                  </a:lnTo>
                  <a:lnTo>
                    <a:pt x="325322" y="449964"/>
                  </a:lnTo>
                  <a:lnTo>
                    <a:pt x="365101" y="428366"/>
                  </a:lnTo>
                  <a:lnTo>
                    <a:pt x="399764" y="399764"/>
                  </a:lnTo>
                  <a:lnTo>
                    <a:pt x="428366" y="365101"/>
                  </a:lnTo>
                  <a:lnTo>
                    <a:pt x="449964" y="325322"/>
                  </a:lnTo>
                  <a:lnTo>
                    <a:pt x="463615" y="281369"/>
                  </a:lnTo>
                  <a:lnTo>
                    <a:pt x="468375" y="234187"/>
                  </a:lnTo>
                  <a:lnTo>
                    <a:pt x="463615" y="187006"/>
                  </a:lnTo>
                  <a:lnTo>
                    <a:pt x="449964" y="143053"/>
                  </a:lnTo>
                  <a:lnTo>
                    <a:pt x="428366" y="103274"/>
                  </a:lnTo>
                  <a:lnTo>
                    <a:pt x="399764" y="68611"/>
                  </a:lnTo>
                  <a:lnTo>
                    <a:pt x="365101" y="40009"/>
                  </a:lnTo>
                  <a:lnTo>
                    <a:pt x="325322" y="18411"/>
                  </a:lnTo>
                  <a:lnTo>
                    <a:pt x="281369" y="4760"/>
                  </a:lnTo>
                  <a:lnTo>
                    <a:pt x="234188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537575" y="1483994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0" y="234187"/>
                  </a:moveTo>
                  <a:lnTo>
                    <a:pt x="4760" y="187006"/>
                  </a:lnTo>
                  <a:lnTo>
                    <a:pt x="18411" y="143053"/>
                  </a:lnTo>
                  <a:lnTo>
                    <a:pt x="40009" y="103274"/>
                  </a:lnTo>
                  <a:lnTo>
                    <a:pt x="68611" y="68611"/>
                  </a:lnTo>
                  <a:lnTo>
                    <a:pt x="103274" y="40009"/>
                  </a:lnTo>
                  <a:lnTo>
                    <a:pt x="143053" y="18411"/>
                  </a:lnTo>
                  <a:lnTo>
                    <a:pt x="187006" y="4760"/>
                  </a:lnTo>
                  <a:lnTo>
                    <a:pt x="234188" y="0"/>
                  </a:lnTo>
                  <a:lnTo>
                    <a:pt x="281369" y="4760"/>
                  </a:lnTo>
                  <a:lnTo>
                    <a:pt x="325322" y="18411"/>
                  </a:lnTo>
                  <a:lnTo>
                    <a:pt x="365101" y="40009"/>
                  </a:lnTo>
                  <a:lnTo>
                    <a:pt x="399764" y="68611"/>
                  </a:lnTo>
                  <a:lnTo>
                    <a:pt x="428366" y="103274"/>
                  </a:lnTo>
                  <a:lnTo>
                    <a:pt x="449964" y="143053"/>
                  </a:lnTo>
                  <a:lnTo>
                    <a:pt x="463615" y="187006"/>
                  </a:lnTo>
                  <a:lnTo>
                    <a:pt x="468375" y="234187"/>
                  </a:lnTo>
                  <a:lnTo>
                    <a:pt x="463615" y="281369"/>
                  </a:lnTo>
                  <a:lnTo>
                    <a:pt x="449964" y="325322"/>
                  </a:lnTo>
                  <a:lnTo>
                    <a:pt x="428366" y="365101"/>
                  </a:lnTo>
                  <a:lnTo>
                    <a:pt x="399764" y="399764"/>
                  </a:lnTo>
                  <a:lnTo>
                    <a:pt x="365101" y="428366"/>
                  </a:lnTo>
                  <a:lnTo>
                    <a:pt x="325322" y="449964"/>
                  </a:lnTo>
                  <a:lnTo>
                    <a:pt x="281369" y="463615"/>
                  </a:lnTo>
                  <a:lnTo>
                    <a:pt x="234188" y="468375"/>
                  </a:lnTo>
                  <a:lnTo>
                    <a:pt x="187006" y="463615"/>
                  </a:lnTo>
                  <a:lnTo>
                    <a:pt x="143053" y="449964"/>
                  </a:lnTo>
                  <a:lnTo>
                    <a:pt x="103274" y="428366"/>
                  </a:lnTo>
                  <a:lnTo>
                    <a:pt x="68611" y="399764"/>
                  </a:lnTo>
                  <a:lnTo>
                    <a:pt x="40009" y="365101"/>
                  </a:lnTo>
                  <a:lnTo>
                    <a:pt x="18411" y="325322"/>
                  </a:lnTo>
                  <a:lnTo>
                    <a:pt x="4760" y="281369"/>
                  </a:lnTo>
                  <a:lnTo>
                    <a:pt x="0" y="234187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657970" y="1512570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138348" y="2501582"/>
            <a:ext cx="497205" cy="497205"/>
            <a:chOff x="9138348" y="2501582"/>
            <a:chExt cx="497205" cy="497205"/>
          </a:xfrm>
        </p:grpSpPr>
        <p:sp>
          <p:nvSpPr>
            <p:cNvPr id="26" name="object 26"/>
            <p:cNvSpPr/>
            <p:nvPr/>
          </p:nvSpPr>
          <p:spPr>
            <a:xfrm>
              <a:off x="9152635" y="2515870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234061" y="0"/>
                  </a:moveTo>
                  <a:lnTo>
                    <a:pt x="186884" y="4760"/>
                  </a:lnTo>
                  <a:lnTo>
                    <a:pt x="142946" y="18411"/>
                  </a:lnTo>
                  <a:lnTo>
                    <a:pt x="103187" y="40009"/>
                  </a:lnTo>
                  <a:lnTo>
                    <a:pt x="68548" y="68611"/>
                  </a:lnTo>
                  <a:lnTo>
                    <a:pt x="39969" y="103274"/>
                  </a:lnTo>
                  <a:lnTo>
                    <a:pt x="18391" y="143053"/>
                  </a:lnTo>
                  <a:lnTo>
                    <a:pt x="4754" y="187006"/>
                  </a:lnTo>
                  <a:lnTo>
                    <a:pt x="0" y="234187"/>
                  </a:lnTo>
                  <a:lnTo>
                    <a:pt x="4754" y="281369"/>
                  </a:lnTo>
                  <a:lnTo>
                    <a:pt x="18391" y="325322"/>
                  </a:lnTo>
                  <a:lnTo>
                    <a:pt x="39969" y="365101"/>
                  </a:lnTo>
                  <a:lnTo>
                    <a:pt x="68548" y="399764"/>
                  </a:lnTo>
                  <a:lnTo>
                    <a:pt x="103187" y="428366"/>
                  </a:lnTo>
                  <a:lnTo>
                    <a:pt x="142946" y="449964"/>
                  </a:lnTo>
                  <a:lnTo>
                    <a:pt x="186884" y="463615"/>
                  </a:lnTo>
                  <a:lnTo>
                    <a:pt x="234061" y="468375"/>
                  </a:lnTo>
                  <a:lnTo>
                    <a:pt x="281279" y="463615"/>
                  </a:lnTo>
                  <a:lnTo>
                    <a:pt x="325248" y="449964"/>
                  </a:lnTo>
                  <a:lnTo>
                    <a:pt x="365030" y="428366"/>
                  </a:lnTo>
                  <a:lnTo>
                    <a:pt x="399684" y="399764"/>
                  </a:lnTo>
                  <a:lnTo>
                    <a:pt x="428273" y="365101"/>
                  </a:lnTo>
                  <a:lnTo>
                    <a:pt x="449855" y="325322"/>
                  </a:lnTo>
                  <a:lnTo>
                    <a:pt x="463494" y="281369"/>
                  </a:lnTo>
                  <a:lnTo>
                    <a:pt x="468249" y="234187"/>
                  </a:lnTo>
                  <a:lnTo>
                    <a:pt x="463494" y="187006"/>
                  </a:lnTo>
                  <a:lnTo>
                    <a:pt x="449855" y="143053"/>
                  </a:lnTo>
                  <a:lnTo>
                    <a:pt x="428273" y="103274"/>
                  </a:lnTo>
                  <a:lnTo>
                    <a:pt x="399684" y="68611"/>
                  </a:lnTo>
                  <a:lnTo>
                    <a:pt x="365030" y="40009"/>
                  </a:lnTo>
                  <a:lnTo>
                    <a:pt x="325248" y="18411"/>
                  </a:lnTo>
                  <a:lnTo>
                    <a:pt x="281279" y="4760"/>
                  </a:lnTo>
                  <a:lnTo>
                    <a:pt x="234061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152635" y="2515870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0" y="234187"/>
                  </a:moveTo>
                  <a:lnTo>
                    <a:pt x="4754" y="187006"/>
                  </a:lnTo>
                  <a:lnTo>
                    <a:pt x="18391" y="143053"/>
                  </a:lnTo>
                  <a:lnTo>
                    <a:pt x="39969" y="103274"/>
                  </a:lnTo>
                  <a:lnTo>
                    <a:pt x="68548" y="68611"/>
                  </a:lnTo>
                  <a:lnTo>
                    <a:pt x="103187" y="40009"/>
                  </a:lnTo>
                  <a:lnTo>
                    <a:pt x="142946" y="18411"/>
                  </a:lnTo>
                  <a:lnTo>
                    <a:pt x="186884" y="4760"/>
                  </a:lnTo>
                  <a:lnTo>
                    <a:pt x="234061" y="0"/>
                  </a:lnTo>
                  <a:lnTo>
                    <a:pt x="281279" y="4760"/>
                  </a:lnTo>
                  <a:lnTo>
                    <a:pt x="325248" y="18411"/>
                  </a:lnTo>
                  <a:lnTo>
                    <a:pt x="365030" y="40009"/>
                  </a:lnTo>
                  <a:lnTo>
                    <a:pt x="399684" y="68611"/>
                  </a:lnTo>
                  <a:lnTo>
                    <a:pt x="428273" y="103274"/>
                  </a:lnTo>
                  <a:lnTo>
                    <a:pt x="449855" y="143053"/>
                  </a:lnTo>
                  <a:lnTo>
                    <a:pt x="463494" y="187006"/>
                  </a:lnTo>
                  <a:lnTo>
                    <a:pt x="468249" y="234187"/>
                  </a:lnTo>
                  <a:lnTo>
                    <a:pt x="463494" y="281369"/>
                  </a:lnTo>
                  <a:lnTo>
                    <a:pt x="449855" y="325322"/>
                  </a:lnTo>
                  <a:lnTo>
                    <a:pt x="428273" y="365101"/>
                  </a:lnTo>
                  <a:lnTo>
                    <a:pt x="399684" y="399764"/>
                  </a:lnTo>
                  <a:lnTo>
                    <a:pt x="365030" y="428366"/>
                  </a:lnTo>
                  <a:lnTo>
                    <a:pt x="325248" y="449964"/>
                  </a:lnTo>
                  <a:lnTo>
                    <a:pt x="281279" y="463615"/>
                  </a:lnTo>
                  <a:lnTo>
                    <a:pt x="234061" y="468375"/>
                  </a:lnTo>
                  <a:lnTo>
                    <a:pt x="186884" y="463615"/>
                  </a:lnTo>
                  <a:lnTo>
                    <a:pt x="142946" y="449964"/>
                  </a:lnTo>
                  <a:lnTo>
                    <a:pt x="103187" y="428366"/>
                  </a:lnTo>
                  <a:lnTo>
                    <a:pt x="68548" y="399764"/>
                  </a:lnTo>
                  <a:lnTo>
                    <a:pt x="39969" y="365101"/>
                  </a:lnTo>
                  <a:lnTo>
                    <a:pt x="18391" y="325322"/>
                  </a:lnTo>
                  <a:lnTo>
                    <a:pt x="4754" y="281369"/>
                  </a:lnTo>
                  <a:lnTo>
                    <a:pt x="0" y="234187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9273031" y="2544571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834693" y="2501582"/>
            <a:ext cx="497205" cy="497205"/>
            <a:chOff x="7834693" y="2501582"/>
            <a:chExt cx="497205" cy="497205"/>
          </a:xfrm>
        </p:grpSpPr>
        <p:sp>
          <p:nvSpPr>
            <p:cNvPr id="30" name="object 30"/>
            <p:cNvSpPr/>
            <p:nvPr/>
          </p:nvSpPr>
          <p:spPr>
            <a:xfrm>
              <a:off x="7848981" y="2515870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234061" y="0"/>
                  </a:moveTo>
                  <a:lnTo>
                    <a:pt x="186884" y="4760"/>
                  </a:lnTo>
                  <a:lnTo>
                    <a:pt x="142946" y="18411"/>
                  </a:lnTo>
                  <a:lnTo>
                    <a:pt x="103187" y="40009"/>
                  </a:lnTo>
                  <a:lnTo>
                    <a:pt x="68548" y="68611"/>
                  </a:lnTo>
                  <a:lnTo>
                    <a:pt x="39969" y="103274"/>
                  </a:lnTo>
                  <a:lnTo>
                    <a:pt x="18391" y="143053"/>
                  </a:lnTo>
                  <a:lnTo>
                    <a:pt x="4754" y="187006"/>
                  </a:lnTo>
                  <a:lnTo>
                    <a:pt x="0" y="234187"/>
                  </a:lnTo>
                  <a:lnTo>
                    <a:pt x="4754" y="281369"/>
                  </a:lnTo>
                  <a:lnTo>
                    <a:pt x="18391" y="325322"/>
                  </a:lnTo>
                  <a:lnTo>
                    <a:pt x="39969" y="365101"/>
                  </a:lnTo>
                  <a:lnTo>
                    <a:pt x="68548" y="399764"/>
                  </a:lnTo>
                  <a:lnTo>
                    <a:pt x="103187" y="428366"/>
                  </a:lnTo>
                  <a:lnTo>
                    <a:pt x="142946" y="449964"/>
                  </a:lnTo>
                  <a:lnTo>
                    <a:pt x="186884" y="463615"/>
                  </a:lnTo>
                  <a:lnTo>
                    <a:pt x="234061" y="468375"/>
                  </a:lnTo>
                  <a:lnTo>
                    <a:pt x="281279" y="463615"/>
                  </a:lnTo>
                  <a:lnTo>
                    <a:pt x="325248" y="449964"/>
                  </a:lnTo>
                  <a:lnTo>
                    <a:pt x="365030" y="428366"/>
                  </a:lnTo>
                  <a:lnTo>
                    <a:pt x="399684" y="399764"/>
                  </a:lnTo>
                  <a:lnTo>
                    <a:pt x="428273" y="365101"/>
                  </a:lnTo>
                  <a:lnTo>
                    <a:pt x="449855" y="325322"/>
                  </a:lnTo>
                  <a:lnTo>
                    <a:pt x="463494" y="281369"/>
                  </a:lnTo>
                  <a:lnTo>
                    <a:pt x="468249" y="234187"/>
                  </a:lnTo>
                  <a:lnTo>
                    <a:pt x="463494" y="187006"/>
                  </a:lnTo>
                  <a:lnTo>
                    <a:pt x="449855" y="143053"/>
                  </a:lnTo>
                  <a:lnTo>
                    <a:pt x="428273" y="103274"/>
                  </a:lnTo>
                  <a:lnTo>
                    <a:pt x="399684" y="68611"/>
                  </a:lnTo>
                  <a:lnTo>
                    <a:pt x="365030" y="40009"/>
                  </a:lnTo>
                  <a:lnTo>
                    <a:pt x="325248" y="18411"/>
                  </a:lnTo>
                  <a:lnTo>
                    <a:pt x="281279" y="4760"/>
                  </a:lnTo>
                  <a:lnTo>
                    <a:pt x="234061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848981" y="2515870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0" y="234187"/>
                  </a:moveTo>
                  <a:lnTo>
                    <a:pt x="4754" y="187006"/>
                  </a:lnTo>
                  <a:lnTo>
                    <a:pt x="18391" y="143053"/>
                  </a:lnTo>
                  <a:lnTo>
                    <a:pt x="39969" y="103274"/>
                  </a:lnTo>
                  <a:lnTo>
                    <a:pt x="68548" y="68611"/>
                  </a:lnTo>
                  <a:lnTo>
                    <a:pt x="103187" y="40009"/>
                  </a:lnTo>
                  <a:lnTo>
                    <a:pt x="142946" y="18411"/>
                  </a:lnTo>
                  <a:lnTo>
                    <a:pt x="186884" y="4760"/>
                  </a:lnTo>
                  <a:lnTo>
                    <a:pt x="234061" y="0"/>
                  </a:lnTo>
                  <a:lnTo>
                    <a:pt x="281279" y="4760"/>
                  </a:lnTo>
                  <a:lnTo>
                    <a:pt x="325248" y="18411"/>
                  </a:lnTo>
                  <a:lnTo>
                    <a:pt x="365030" y="40009"/>
                  </a:lnTo>
                  <a:lnTo>
                    <a:pt x="399684" y="68611"/>
                  </a:lnTo>
                  <a:lnTo>
                    <a:pt x="428273" y="103274"/>
                  </a:lnTo>
                  <a:lnTo>
                    <a:pt x="449855" y="143053"/>
                  </a:lnTo>
                  <a:lnTo>
                    <a:pt x="463494" y="187006"/>
                  </a:lnTo>
                  <a:lnTo>
                    <a:pt x="468249" y="234187"/>
                  </a:lnTo>
                  <a:lnTo>
                    <a:pt x="463494" y="281369"/>
                  </a:lnTo>
                  <a:lnTo>
                    <a:pt x="449855" y="325322"/>
                  </a:lnTo>
                  <a:lnTo>
                    <a:pt x="428273" y="365101"/>
                  </a:lnTo>
                  <a:lnTo>
                    <a:pt x="399684" y="399764"/>
                  </a:lnTo>
                  <a:lnTo>
                    <a:pt x="365030" y="428366"/>
                  </a:lnTo>
                  <a:lnTo>
                    <a:pt x="325248" y="449964"/>
                  </a:lnTo>
                  <a:lnTo>
                    <a:pt x="281279" y="463615"/>
                  </a:lnTo>
                  <a:lnTo>
                    <a:pt x="234061" y="468375"/>
                  </a:lnTo>
                  <a:lnTo>
                    <a:pt x="186884" y="463615"/>
                  </a:lnTo>
                  <a:lnTo>
                    <a:pt x="142946" y="449964"/>
                  </a:lnTo>
                  <a:lnTo>
                    <a:pt x="103187" y="428366"/>
                  </a:lnTo>
                  <a:lnTo>
                    <a:pt x="68548" y="399764"/>
                  </a:lnTo>
                  <a:lnTo>
                    <a:pt x="39969" y="365101"/>
                  </a:lnTo>
                  <a:lnTo>
                    <a:pt x="18391" y="325322"/>
                  </a:lnTo>
                  <a:lnTo>
                    <a:pt x="4754" y="281369"/>
                  </a:lnTo>
                  <a:lnTo>
                    <a:pt x="0" y="234187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969122" y="2544571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8182038" y="1503743"/>
            <a:ext cx="3043555" cy="1050290"/>
            <a:chOff x="8182038" y="1503743"/>
            <a:chExt cx="3043555" cy="1050290"/>
          </a:xfrm>
        </p:grpSpPr>
        <p:sp>
          <p:nvSpPr>
            <p:cNvPr id="34" name="object 34"/>
            <p:cNvSpPr/>
            <p:nvPr/>
          </p:nvSpPr>
          <p:spPr>
            <a:xfrm>
              <a:off x="8196326" y="1876170"/>
              <a:ext cx="1062355" cy="663575"/>
            </a:xfrm>
            <a:custGeom>
              <a:avLst/>
              <a:gdLst/>
              <a:ahLst/>
              <a:cxnLst/>
              <a:rect l="l" t="t" r="r" b="b"/>
              <a:pathLst>
                <a:path w="1062354" h="663575">
                  <a:moveTo>
                    <a:pt x="708025" y="12700"/>
                  </a:moveTo>
                  <a:lnTo>
                    <a:pt x="1061974" y="663575"/>
                  </a:lnTo>
                </a:path>
                <a:path w="1062354" h="663575">
                  <a:moveTo>
                    <a:pt x="412750" y="0"/>
                  </a:moveTo>
                  <a:lnTo>
                    <a:pt x="0" y="649224"/>
                  </a:lnTo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0742930" y="1518030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234188" y="0"/>
                  </a:moveTo>
                  <a:lnTo>
                    <a:pt x="187006" y="4754"/>
                  </a:lnTo>
                  <a:lnTo>
                    <a:pt x="143053" y="18391"/>
                  </a:lnTo>
                  <a:lnTo>
                    <a:pt x="103274" y="39969"/>
                  </a:lnTo>
                  <a:lnTo>
                    <a:pt x="68611" y="68548"/>
                  </a:lnTo>
                  <a:lnTo>
                    <a:pt x="40009" y="103187"/>
                  </a:lnTo>
                  <a:lnTo>
                    <a:pt x="18411" y="142946"/>
                  </a:lnTo>
                  <a:lnTo>
                    <a:pt x="4760" y="186884"/>
                  </a:lnTo>
                  <a:lnTo>
                    <a:pt x="0" y="234061"/>
                  </a:lnTo>
                  <a:lnTo>
                    <a:pt x="4760" y="281279"/>
                  </a:lnTo>
                  <a:lnTo>
                    <a:pt x="18411" y="325248"/>
                  </a:lnTo>
                  <a:lnTo>
                    <a:pt x="40009" y="365030"/>
                  </a:lnTo>
                  <a:lnTo>
                    <a:pt x="68611" y="399684"/>
                  </a:lnTo>
                  <a:lnTo>
                    <a:pt x="103274" y="428273"/>
                  </a:lnTo>
                  <a:lnTo>
                    <a:pt x="143053" y="449855"/>
                  </a:lnTo>
                  <a:lnTo>
                    <a:pt x="187006" y="463494"/>
                  </a:lnTo>
                  <a:lnTo>
                    <a:pt x="234188" y="468249"/>
                  </a:lnTo>
                  <a:lnTo>
                    <a:pt x="281369" y="463494"/>
                  </a:lnTo>
                  <a:lnTo>
                    <a:pt x="325322" y="449855"/>
                  </a:lnTo>
                  <a:lnTo>
                    <a:pt x="365101" y="428273"/>
                  </a:lnTo>
                  <a:lnTo>
                    <a:pt x="399764" y="399684"/>
                  </a:lnTo>
                  <a:lnTo>
                    <a:pt x="428366" y="365030"/>
                  </a:lnTo>
                  <a:lnTo>
                    <a:pt x="449964" y="325248"/>
                  </a:lnTo>
                  <a:lnTo>
                    <a:pt x="463615" y="281279"/>
                  </a:lnTo>
                  <a:lnTo>
                    <a:pt x="468375" y="234061"/>
                  </a:lnTo>
                  <a:lnTo>
                    <a:pt x="463615" y="186884"/>
                  </a:lnTo>
                  <a:lnTo>
                    <a:pt x="449964" y="142946"/>
                  </a:lnTo>
                  <a:lnTo>
                    <a:pt x="428366" y="103187"/>
                  </a:lnTo>
                  <a:lnTo>
                    <a:pt x="399764" y="68548"/>
                  </a:lnTo>
                  <a:lnTo>
                    <a:pt x="365101" y="39969"/>
                  </a:lnTo>
                  <a:lnTo>
                    <a:pt x="325322" y="18391"/>
                  </a:lnTo>
                  <a:lnTo>
                    <a:pt x="281369" y="4754"/>
                  </a:lnTo>
                  <a:lnTo>
                    <a:pt x="234188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0742930" y="1518030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0" y="234061"/>
                  </a:moveTo>
                  <a:lnTo>
                    <a:pt x="4760" y="186884"/>
                  </a:lnTo>
                  <a:lnTo>
                    <a:pt x="18411" y="142946"/>
                  </a:lnTo>
                  <a:lnTo>
                    <a:pt x="40009" y="103187"/>
                  </a:lnTo>
                  <a:lnTo>
                    <a:pt x="68611" y="68548"/>
                  </a:lnTo>
                  <a:lnTo>
                    <a:pt x="103274" y="39969"/>
                  </a:lnTo>
                  <a:lnTo>
                    <a:pt x="143053" y="18391"/>
                  </a:lnTo>
                  <a:lnTo>
                    <a:pt x="187006" y="4754"/>
                  </a:lnTo>
                  <a:lnTo>
                    <a:pt x="234188" y="0"/>
                  </a:lnTo>
                  <a:lnTo>
                    <a:pt x="281369" y="4754"/>
                  </a:lnTo>
                  <a:lnTo>
                    <a:pt x="325322" y="18391"/>
                  </a:lnTo>
                  <a:lnTo>
                    <a:pt x="365101" y="39969"/>
                  </a:lnTo>
                  <a:lnTo>
                    <a:pt x="399764" y="68548"/>
                  </a:lnTo>
                  <a:lnTo>
                    <a:pt x="428366" y="103187"/>
                  </a:lnTo>
                  <a:lnTo>
                    <a:pt x="449964" y="142946"/>
                  </a:lnTo>
                  <a:lnTo>
                    <a:pt x="463615" y="186884"/>
                  </a:lnTo>
                  <a:lnTo>
                    <a:pt x="468375" y="234061"/>
                  </a:lnTo>
                  <a:lnTo>
                    <a:pt x="463615" y="281279"/>
                  </a:lnTo>
                  <a:lnTo>
                    <a:pt x="449964" y="325248"/>
                  </a:lnTo>
                  <a:lnTo>
                    <a:pt x="428366" y="365030"/>
                  </a:lnTo>
                  <a:lnTo>
                    <a:pt x="399764" y="399684"/>
                  </a:lnTo>
                  <a:lnTo>
                    <a:pt x="365101" y="428273"/>
                  </a:lnTo>
                  <a:lnTo>
                    <a:pt x="325322" y="449855"/>
                  </a:lnTo>
                  <a:lnTo>
                    <a:pt x="281369" y="463494"/>
                  </a:lnTo>
                  <a:lnTo>
                    <a:pt x="234188" y="468249"/>
                  </a:lnTo>
                  <a:lnTo>
                    <a:pt x="187006" y="463494"/>
                  </a:lnTo>
                  <a:lnTo>
                    <a:pt x="143053" y="449855"/>
                  </a:lnTo>
                  <a:lnTo>
                    <a:pt x="103274" y="428273"/>
                  </a:lnTo>
                  <a:lnTo>
                    <a:pt x="68611" y="399684"/>
                  </a:lnTo>
                  <a:lnTo>
                    <a:pt x="40009" y="365030"/>
                  </a:lnTo>
                  <a:lnTo>
                    <a:pt x="18411" y="325248"/>
                  </a:lnTo>
                  <a:lnTo>
                    <a:pt x="4760" y="281279"/>
                  </a:lnTo>
                  <a:lnTo>
                    <a:pt x="0" y="234061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0855832" y="1546301"/>
            <a:ext cx="2457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0270807" y="2522918"/>
            <a:ext cx="497205" cy="497205"/>
            <a:chOff x="10270807" y="2522918"/>
            <a:chExt cx="497205" cy="497205"/>
          </a:xfrm>
        </p:grpSpPr>
        <p:sp>
          <p:nvSpPr>
            <p:cNvPr id="39" name="object 39"/>
            <p:cNvSpPr/>
            <p:nvPr/>
          </p:nvSpPr>
          <p:spPr>
            <a:xfrm>
              <a:off x="10285094" y="2537205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234187" y="0"/>
                  </a:moveTo>
                  <a:lnTo>
                    <a:pt x="187006" y="4754"/>
                  </a:lnTo>
                  <a:lnTo>
                    <a:pt x="143053" y="18391"/>
                  </a:lnTo>
                  <a:lnTo>
                    <a:pt x="103274" y="39969"/>
                  </a:lnTo>
                  <a:lnTo>
                    <a:pt x="68611" y="68548"/>
                  </a:lnTo>
                  <a:lnTo>
                    <a:pt x="40009" y="103187"/>
                  </a:lnTo>
                  <a:lnTo>
                    <a:pt x="18411" y="142946"/>
                  </a:lnTo>
                  <a:lnTo>
                    <a:pt x="4760" y="186884"/>
                  </a:lnTo>
                  <a:lnTo>
                    <a:pt x="0" y="234061"/>
                  </a:lnTo>
                  <a:lnTo>
                    <a:pt x="4760" y="281279"/>
                  </a:lnTo>
                  <a:lnTo>
                    <a:pt x="18411" y="325248"/>
                  </a:lnTo>
                  <a:lnTo>
                    <a:pt x="40009" y="365030"/>
                  </a:lnTo>
                  <a:lnTo>
                    <a:pt x="68611" y="399684"/>
                  </a:lnTo>
                  <a:lnTo>
                    <a:pt x="103274" y="428273"/>
                  </a:lnTo>
                  <a:lnTo>
                    <a:pt x="143053" y="449855"/>
                  </a:lnTo>
                  <a:lnTo>
                    <a:pt x="187006" y="463494"/>
                  </a:lnTo>
                  <a:lnTo>
                    <a:pt x="234187" y="468249"/>
                  </a:lnTo>
                  <a:lnTo>
                    <a:pt x="281369" y="463494"/>
                  </a:lnTo>
                  <a:lnTo>
                    <a:pt x="325322" y="449855"/>
                  </a:lnTo>
                  <a:lnTo>
                    <a:pt x="365101" y="428273"/>
                  </a:lnTo>
                  <a:lnTo>
                    <a:pt x="399764" y="399684"/>
                  </a:lnTo>
                  <a:lnTo>
                    <a:pt x="428366" y="365030"/>
                  </a:lnTo>
                  <a:lnTo>
                    <a:pt x="449964" y="325248"/>
                  </a:lnTo>
                  <a:lnTo>
                    <a:pt x="463615" y="281279"/>
                  </a:lnTo>
                  <a:lnTo>
                    <a:pt x="468375" y="234061"/>
                  </a:lnTo>
                  <a:lnTo>
                    <a:pt x="463615" y="186884"/>
                  </a:lnTo>
                  <a:lnTo>
                    <a:pt x="449964" y="142946"/>
                  </a:lnTo>
                  <a:lnTo>
                    <a:pt x="428366" y="103187"/>
                  </a:lnTo>
                  <a:lnTo>
                    <a:pt x="399764" y="68548"/>
                  </a:lnTo>
                  <a:lnTo>
                    <a:pt x="365101" y="39969"/>
                  </a:lnTo>
                  <a:lnTo>
                    <a:pt x="325322" y="18391"/>
                  </a:lnTo>
                  <a:lnTo>
                    <a:pt x="281369" y="4754"/>
                  </a:lnTo>
                  <a:lnTo>
                    <a:pt x="234187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0285094" y="2537205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0" y="234061"/>
                  </a:moveTo>
                  <a:lnTo>
                    <a:pt x="4760" y="186884"/>
                  </a:lnTo>
                  <a:lnTo>
                    <a:pt x="18411" y="142946"/>
                  </a:lnTo>
                  <a:lnTo>
                    <a:pt x="40009" y="103187"/>
                  </a:lnTo>
                  <a:lnTo>
                    <a:pt x="68611" y="68548"/>
                  </a:lnTo>
                  <a:lnTo>
                    <a:pt x="103274" y="39969"/>
                  </a:lnTo>
                  <a:lnTo>
                    <a:pt x="143053" y="18391"/>
                  </a:lnTo>
                  <a:lnTo>
                    <a:pt x="187006" y="4754"/>
                  </a:lnTo>
                  <a:lnTo>
                    <a:pt x="234187" y="0"/>
                  </a:lnTo>
                  <a:lnTo>
                    <a:pt x="281369" y="4754"/>
                  </a:lnTo>
                  <a:lnTo>
                    <a:pt x="325322" y="18391"/>
                  </a:lnTo>
                  <a:lnTo>
                    <a:pt x="365101" y="39969"/>
                  </a:lnTo>
                  <a:lnTo>
                    <a:pt x="399764" y="68548"/>
                  </a:lnTo>
                  <a:lnTo>
                    <a:pt x="428366" y="103187"/>
                  </a:lnTo>
                  <a:lnTo>
                    <a:pt x="449964" y="142946"/>
                  </a:lnTo>
                  <a:lnTo>
                    <a:pt x="463615" y="186884"/>
                  </a:lnTo>
                  <a:lnTo>
                    <a:pt x="468375" y="234061"/>
                  </a:lnTo>
                  <a:lnTo>
                    <a:pt x="463615" y="281279"/>
                  </a:lnTo>
                  <a:lnTo>
                    <a:pt x="449964" y="325248"/>
                  </a:lnTo>
                  <a:lnTo>
                    <a:pt x="428366" y="365030"/>
                  </a:lnTo>
                  <a:lnTo>
                    <a:pt x="399764" y="399684"/>
                  </a:lnTo>
                  <a:lnTo>
                    <a:pt x="365101" y="428273"/>
                  </a:lnTo>
                  <a:lnTo>
                    <a:pt x="325322" y="449855"/>
                  </a:lnTo>
                  <a:lnTo>
                    <a:pt x="281369" y="463494"/>
                  </a:lnTo>
                  <a:lnTo>
                    <a:pt x="234187" y="468249"/>
                  </a:lnTo>
                  <a:lnTo>
                    <a:pt x="187006" y="463494"/>
                  </a:lnTo>
                  <a:lnTo>
                    <a:pt x="143053" y="449855"/>
                  </a:lnTo>
                  <a:lnTo>
                    <a:pt x="103274" y="428273"/>
                  </a:lnTo>
                  <a:lnTo>
                    <a:pt x="68611" y="399684"/>
                  </a:lnTo>
                  <a:lnTo>
                    <a:pt x="40009" y="365030"/>
                  </a:lnTo>
                  <a:lnTo>
                    <a:pt x="18411" y="325248"/>
                  </a:lnTo>
                  <a:lnTo>
                    <a:pt x="4760" y="281279"/>
                  </a:lnTo>
                  <a:lnTo>
                    <a:pt x="0" y="234061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0397997" y="2565908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G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9680003" y="421068"/>
            <a:ext cx="1200785" cy="2133600"/>
            <a:chOff x="9680003" y="421068"/>
            <a:chExt cx="1200785" cy="2133600"/>
          </a:xfrm>
        </p:grpSpPr>
        <p:sp>
          <p:nvSpPr>
            <p:cNvPr id="43" name="object 43"/>
            <p:cNvSpPr/>
            <p:nvPr/>
          </p:nvSpPr>
          <p:spPr>
            <a:xfrm>
              <a:off x="10569321" y="1936750"/>
              <a:ext cx="297180" cy="603250"/>
            </a:xfrm>
            <a:custGeom>
              <a:avLst/>
              <a:gdLst/>
              <a:ahLst/>
              <a:cxnLst/>
              <a:rect l="l" t="t" r="r" b="b"/>
              <a:pathLst>
                <a:path w="297179" h="603250">
                  <a:moveTo>
                    <a:pt x="296799" y="0"/>
                  </a:moveTo>
                  <a:lnTo>
                    <a:pt x="0" y="603250"/>
                  </a:lnTo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694291" y="435355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234060" y="0"/>
                  </a:moveTo>
                  <a:lnTo>
                    <a:pt x="186884" y="4754"/>
                  </a:lnTo>
                  <a:lnTo>
                    <a:pt x="142946" y="18391"/>
                  </a:lnTo>
                  <a:lnTo>
                    <a:pt x="103187" y="39969"/>
                  </a:lnTo>
                  <a:lnTo>
                    <a:pt x="68548" y="68548"/>
                  </a:lnTo>
                  <a:lnTo>
                    <a:pt x="39969" y="103187"/>
                  </a:lnTo>
                  <a:lnTo>
                    <a:pt x="18391" y="142946"/>
                  </a:lnTo>
                  <a:lnTo>
                    <a:pt x="4754" y="186884"/>
                  </a:lnTo>
                  <a:lnTo>
                    <a:pt x="0" y="234061"/>
                  </a:lnTo>
                  <a:lnTo>
                    <a:pt x="4754" y="281279"/>
                  </a:lnTo>
                  <a:lnTo>
                    <a:pt x="18391" y="325248"/>
                  </a:lnTo>
                  <a:lnTo>
                    <a:pt x="39969" y="365030"/>
                  </a:lnTo>
                  <a:lnTo>
                    <a:pt x="68548" y="399684"/>
                  </a:lnTo>
                  <a:lnTo>
                    <a:pt x="103187" y="428273"/>
                  </a:lnTo>
                  <a:lnTo>
                    <a:pt x="142946" y="449855"/>
                  </a:lnTo>
                  <a:lnTo>
                    <a:pt x="186884" y="463494"/>
                  </a:lnTo>
                  <a:lnTo>
                    <a:pt x="234060" y="468249"/>
                  </a:lnTo>
                  <a:lnTo>
                    <a:pt x="281279" y="463494"/>
                  </a:lnTo>
                  <a:lnTo>
                    <a:pt x="325248" y="449855"/>
                  </a:lnTo>
                  <a:lnTo>
                    <a:pt x="365030" y="428273"/>
                  </a:lnTo>
                  <a:lnTo>
                    <a:pt x="399684" y="399684"/>
                  </a:lnTo>
                  <a:lnTo>
                    <a:pt x="428273" y="365030"/>
                  </a:lnTo>
                  <a:lnTo>
                    <a:pt x="449855" y="325248"/>
                  </a:lnTo>
                  <a:lnTo>
                    <a:pt x="463494" y="281279"/>
                  </a:lnTo>
                  <a:lnTo>
                    <a:pt x="468249" y="234061"/>
                  </a:lnTo>
                  <a:lnTo>
                    <a:pt x="463494" y="186884"/>
                  </a:lnTo>
                  <a:lnTo>
                    <a:pt x="449855" y="142946"/>
                  </a:lnTo>
                  <a:lnTo>
                    <a:pt x="428273" y="103187"/>
                  </a:lnTo>
                  <a:lnTo>
                    <a:pt x="399684" y="68548"/>
                  </a:lnTo>
                  <a:lnTo>
                    <a:pt x="365030" y="39969"/>
                  </a:lnTo>
                  <a:lnTo>
                    <a:pt x="325248" y="18391"/>
                  </a:lnTo>
                  <a:lnTo>
                    <a:pt x="281279" y="4754"/>
                  </a:lnTo>
                  <a:lnTo>
                    <a:pt x="234060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694291" y="435355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0" y="234061"/>
                  </a:moveTo>
                  <a:lnTo>
                    <a:pt x="4754" y="186884"/>
                  </a:lnTo>
                  <a:lnTo>
                    <a:pt x="18391" y="142946"/>
                  </a:lnTo>
                  <a:lnTo>
                    <a:pt x="39969" y="103187"/>
                  </a:lnTo>
                  <a:lnTo>
                    <a:pt x="68548" y="68548"/>
                  </a:lnTo>
                  <a:lnTo>
                    <a:pt x="103187" y="39969"/>
                  </a:lnTo>
                  <a:lnTo>
                    <a:pt x="142946" y="18391"/>
                  </a:lnTo>
                  <a:lnTo>
                    <a:pt x="186884" y="4754"/>
                  </a:lnTo>
                  <a:lnTo>
                    <a:pt x="234060" y="0"/>
                  </a:lnTo>
                  <a:lnTo>
                    <a:pt x="281279" y="4754"/>
                  </a:lnTo>
                  <a:lnTo>
                    <a:pt x="325248" y="18391"/>
                  </a:lnTo>
                  <a:lnTo>
                    <a:pt x="365030" y="39969"/>
                  </a:lnTo>
                  <a:lnTo>
                    <a:pt x="399684" y="68548"/>
                  </a:lnTo>
                  <a:lnTo>
                    <a:pt x="428273" y="103187"/>
                  </a:lnTo>
                  <a:lnTo>
                    <a:pt x="449855" y="142946"/>
                  </a:lnTo>
                  <a:lnTo>
                    <a:pt x="463494" y="186884"/>
                  </a:lnTo>
                  <a:lnTo>
                    <a:pt x="468249" y="234061"/>
                  </a:lnTo>
                  <a:lnTo>
                    <a:pt x="463494" y="281279"/>
                  </a:lnTo>
                  <a:lnTo>
                    <a:pt x="449855" y="325248"/>
                  </a:lnTo>
                  <a:lnTo>
                    <a:pt x="428273" y="365030"/>
                  </a:lnTo>
                  <a:lnTo>
                    <a:pt x="399684" y="399684"/>
                  </a:lnTo>
                  <a:lnTo>
                    <a:pt x="365030" y="428273"/>
                  </a:lnTo>
                  <a:lnTo>
                    <a:pt x="325248" y="449855"/>
                  </a:lnTo>
                  <a:lnTo>
                    <a:pt x="281279" y="463494"/>
                  </a:lnTo>
                  <a:lnTo>
                    <a:pt x="234060" y="468249"/>
                  </a:lnTo>
                  <a:lnTo>
                    <a:pt x="186884" y="463494"/>
                  </a:lnTo>
                  <a:lnTo>
                    <a:pt x="142946" y="449855"/>
                  </a:lnTo>
                  <a:lnTo>
                    <a:pt x="103187" y="428273"/>
                  </a:lnTo>
                  <a:lnTo>
                    <a:pt x="68548" y="399684"/>
                  </a:lnTo>
                  <a:lnTo>
                    <a:pt x="39969" y="365030"/>
                  </a:lnTo>
                  <a:lnTo>
                    <a:pt x="18391" y="325248"/>
                  </a:lnTo>
                  <a:lnTo>
                    <a:pt x="4754" y="281279"/>
                  </a:lnTo>
                  <a:lnTo>
                    <a:pt x="0" y="234061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9814686" y="463677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4751323" y="421068"/>
            <a:ext cx="6233795" cy="3926204"/>
            <a:chOff x="4751323" y="421068"/>
            <a:chExt cx="6233795" cy="3926204"/>
          </a:xfrm>
        </p:grpSpPr>
        <p:sp>
          <p:nvSpPr>
            <p:cNvPr id="48" name="object 48"/>
            <p:cNvSpPr/>
            <p:nvPr/>
          </p:nvSpPr>
          <p:spPr>
            <a:xfrm>
              <a:off x="8889110" y="774572"/>
              <a:ext cx="2081530" cy="768985"/>
            </a:xfrm>
            <a:custGeom>
              <a:avLst/>
              <a:gdLst/>
              <a:ahLst/>
              <a:cxnLst/>
              <a:rect l="l" t="t" r="r" b="b"/>
              <a:pathLst>
                <a:path w="2081529" h="768985">
                  <a:moveTo>
                    <a:pt x="836930" y="24891"/>
                  </a:moveTo>
                  <a:lnTo>
                    <a:pt x="0" y="768476"/>
                  </a:lnTo>
                </a:path>
                <a:path w="2081529" h="768985">
                  <a:moveTo>
                    <a:pt x="1042670" y="116331"/>
                  </a:moveTo>
                  <a:lnTo>
                    <a:pt x="1042670" y="706881"/>
                  </a:lnTo>
                </a:path>
                <a:path w="2081529" h="768985">
                  <a:moveTo>
                    <a:pt x="2081149" y="743585"/>
                  </a:moveTo>
                  <a:lnTo>
                    <a:pt x="1244219" y="0"/>
                  </a:lnTo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770373" y="756665"/>
              <a:ext cx="1452245" cy="3571240"/>
            </a:xfrm>
            <a:custGeom>
              <a:avLst/>
              <a:gdLst/>
              <a:ahLst/>
              <a:cxnLst/>
              <a:rect l="l" t="t" r="r" b="b"/>
              <a:pathLst>
                <a:path w="1452245" h="3571240">
                  <a:moveTo>
                    <a:pt x="1133475" y="0"/>
                  </a:moveTo>
                  <a:lnTo>
                    <a:pt x="622300" y="575945"/>
                  </a:lnTo>
                </a:path>
                <a:path w="1452245" h="3571240">
                  <a:moveTo>
                    <a:pt x="360045" y="895985"/>
                  </a:moveTo>
                  <a:lnTo>
                    <a:pt x="0" y="1543939"/>
                  </a:lnTo>
                </a:path>
                <a:path w="1452245" h="3571240">
                  <a:moveTo>
                    <a:pt x="60071" y="1976120"/>
                  </a:moveTo>
                  <a:lnTo>
                    <a:pt x="375285" y="2537206"/>
                  </a:lnTo>
                </a:path>
                <a:path w="1452245" h="3571240">
                  <a:moveTo>
                    <a:pt x="1436751" y="2923032"/>
                  </a:moveTo>
                  <a:lnTo>
                    <a:pt x="1148714" y="3571113"/>
                  </a:lnTo>
                </a:path>
                <a:path w="1452245" h="3571240">
                  <a:moveTo>
                    <a:pt x="1163954" y="1941830"/>
                  </a:moveTo>
                  <a:lnTo>
                    <a:pt x="1451990" y="2517775"/>
                  </a:lnTo>
                </a:path>
              </a:pathLst>
            </a:custGeom>
            <a:ln w="38100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884163" y="435355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4">
                  <a:moveTo>
                    <a:pt x="0" y="215900"/>
                  </a:moveTo>
                  <a:lnTo>
                    <a:pt x="5708" y="166391"/>
                  </a:lnTo>
                  <a:lnTo>
                    <a:pt x="21966" y="120946"/>
                  </a:lnTo>
                  <a:lnTo>
                    <a:pt x="47476" y="80859"/>
                  </a:lnTo>
                  <a:lnTo>
                    <a:pt x="80936" y="47426"/>
                  </a:lnTo>
                  <a:lnTo>
                    <a:pt x="121048" y="21941"/>
                  </a:lnTo>
                  <a:lnTo>
                    <a:pt x="166511" y="5701"/>
                  </a:lnTo>
                  <a:lnTo>
                    <a:pt x="216026" y="0"/>
                  </a:lnTo>
                  <a:lnTo>
                    <a:pt x="265542" y="5701"/>
                  </a:lnTo>
                  <a:lnTo>
                    <a:pt x="311005" y="21941"/>
                  </a:lnTo>
                  <a:lnTo>
                    <a:pt x="351117" y="47426"/>
                  </a:lnTo>
                  <a:lnTo>
                    <a:pt x="384577" y="80859"/>
                  </a:lnTo>
                  <a:lnTo>
                    <a:pt x="410087" y="120946"/>
                  </a:lnTo>
                  <a:lnTo>
                    <a:pt x="426345" y="166391"/>
                  </a:lnTo>
                  <a:lnTo>
                    <a:pt x="432053" y="215900"/>
                  </a:lnTo>
                  <a:lnTo>
                    <a:pt x="426345" y="265455"/>
                  </a:lnTo>
                  <a:lnTo>
                    <a:pt x="410087" y="310934"/>
                  </a:lnTo>
                  <a:lnTo>
                    <a:pt x="384577" y="351043"/>
                  </a:lnTo>
                  <a:lnTo>
                    <a:pt x="351117" y="384490"/>
                  </a:lnTo>
                  <a:lnTo>
                    <a:pt x="311005" y="409982"/>
                  </a:lnTo>
                  <a:lnTo>
                    <a:pt x="265542" y="426225"/>
                  </a:lnTo>
                  <a:lnTo>
                    <a:pt x="216026" y="431927"/>
                  </a:lnTo>
                  <a:lnTo>
                    <a:pt x="166511" y="426225"/>
                  </a:lnTo>
                  <a:lnTo>
                    <a:pt x="121048" y="409982"/>
                  </a:lnTo>
                  <a:lnTo>
                    <a:pt x="80936" y="384490"/>
                  </a:lnTo>
                  <a:lnTo>
                    <a:pt x="47476" y="351043"/>
                  </a:lnTo>
                  <a:lnTo>
                    <a:pt x="21966" y="310934"/>
                  </a:lnTo>
                  <a:lnTo>
                    <a:pt x="5708" y="265455"/>
                  </a:lnTo>
                  <a:lnTo>
                    <a:pt x="0" y="215900"/>
                  </a:lnTo>
                  <a:close/>
                </a:path>
              </a:pathLst>
            </a:custGeom>
            <a:ln w="28575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5995161" y="426465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5586348" y="2305811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5" h="432435">
                <a:moveTo>
                  <a:pt x="0" y="215900"/>
                </a:moveTo>
                <a:lnTo>
                  <a:pt x="5708" y="166391"/>
                </a:lnTo>
                <a:lnTo>
                  <a:pt x="21966" y="120946"/>
                </a:lnTo>
                <a:lnTo>
                  <a:pt x="47476" y="80859"/>
                </a:lnTo>
                <a:lnTo>
                  <a:pt x="80936" y="47426"/>
                </a:lnTo>
                <a:lnTo>
                  <a:pt x="121048" y="21941"/>
                </a:lnTo>
                <a:lnTo>
                  <a:pt x="166511" y="5701"/>
                </a:lnTo>
                <a:lnTo>
                  <a:pt x="216026" y="0"/>
                </a:lnTo>
                <a:lnTo>
                  <a:pt x="265542" y="5701"/>
                </a:lnTo>
                <a:lnTo>
                  <a:pt x="311005" y="21941"/>
                </a:lnTo>
                <a:lnTo>
                  <a:pt x="351117" y="47426"/>
                </a:lnTo>
                <a:lnTo>
                  <a:pt x="384577" y="80859"/>
                </a:lnTo>
                <a:lnTo>
                  <a:pt x="410087" y="120946"/>
                </a:lnTo>
                <a:lnTo>
                  <a:pt x="426345" y="166391"/>
                </a:lnTo>
                <a:lnTo>
                  <a:pt x="432053" y="215900"/>
                </a:lnTo>
                <a:lnTo>
                  <a:pt x="426345" y="265455"/>
                </a:lnTo>
                <a:lnTo>
                  <a:pt x="410087" y="310934"/>
                </a:lnTo>
                <a:lnTo>
                  <a:pt x="384577" y="351043"/>
                </a:lnTo>
                <a:lnTo>
                  <a:pt x="351117" y="384490"/>
                </a:lnTo>
                <a:lnTo>
                  <a:pt x="311005" y="409982"/>
                </a:lnTo>
                <a:lnTo>
                  <a:pt x="265542" y="426225"/>
                </a:lnTo>
                <a:lnTo>
                  <a:pt x="216026" y="431926"/>
                </a:lnTo>
                <a:lnTo>
                  <a:pt x="166511" y="426225"/>
                </a:lnTo>
                <a:lnTo>
                  <a:pt x="121048" y="409982"/>
                </a:lnTo>
                <a:lnTo>
                  <a:pt x="80936" y="384490"/>
                </a:lnTo>
                <a:lnTo>
                  <a:pt x="47476" y="351043"/>
                </a:lnTo>
                <a:lnTo>
                  <a:pt x="21966" y="310934"/>
                </a:lnTo>
                <a:lnTo>
                  <a:pt x="5708" y="265455"/>
                </a:lnTo>
                <a:lnTo>
                  <a:pt x="0" y="215900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5688329" y="2297429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5028819" y="1251585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5" h="432435">
                <a:moveTo>
                  <a:pt x="0" y="216026"/>
                </a:moveTo>
                <a:lnTo>
                  <a:pt x="5708" y="166511"/>
                </a:lnTo>
                <a:lnTo>
                  <a:pt x="21966" y="121048"/>
                </a:lnTo>
                <a:lnTo>
                  <a:pt x="47476" y="80936"/>
                </a:lnTo>
                <a:lnTo>
                  <a:pt x="80936" y="47476"/>
                </a:lnTo>
                <a:lnTo>
                  <a:pt x="121048" y="21966"/>
                </a:lnTo>
                <a:lnTo>
                  <a:pt x="166511" y="5708"/>
                </a:lnTo>
                <a:lnTo>
                  <a:pt x="216026" y="0"/>
                </a:lnTo>
                <a:lnTo>
                  <a:pt x="265542" y="5708"/>
                </a:lnTo>
                <a:lnTo>
                  <a:pt x="311005" y="21966"/>
                </a:lnTo>
                <a:lnTo>
                  <a:pt x="351117" y="47476"/>
                </a:lnTo>
                <a:lnTo>
                  <a:pt x="384577" y="80936"/>
                </a:lnTo>
                <a:lnTo>
                  <a:pt x="410087" y="121048"/>
                </a:lnTo>
                <a:lnTo>
                  <a:pt x="426345" y="166511"/>
                </a:lnTo>
                <a:lnTo>
                  <a:pt x="432053" y="216026"/>
                </a:lnTo>
                <a:lnTo>
                  <a:pt x="426345" y="265542"/>
                </a:lnTo>
                <a:lnTo>
                  <a:pt x="410087" y="311005"/>
                </a:lnTo>
                <a:lnTo>
                  <a:pt x="384577" y="351117"/>
                </a:lnTo>
                <a:lnTo>
                  <a:pt x="351117" y="384577"/>
                </a:lnTo>
                <a:lnTo>
                  <a:pt x="311005" y="410087"/>
                </a:lnTo>
                <a:lnTo>
                  <a:pt x="265542" y="426345"/>
                </a:lnTo>
                <a:lnTo>
                  <a:pt x="216026" y="432053"/>
                </a:lnTo>
                <a:lnTo>
                  <a:pt x="166511" y="426345"/>
                </a:lnTo>
                <a:lnTo>
                  <a:pt x="121048" y="410087"/>
                </a:lnTo>
                <a:lnTo>
                  <a:pt x="80936" y="384577"/>
                </a:lnTo>
                <a:lnTo>
                  <a:pt x="47476" y="351117"/>
                </a:lnTo>
                <a:lnTo>
                  <a:pt x="21966" y="311005"/>
                </a:lnTo>
                <a:lnTo>
                  <a:pt x="5708" y="265542"/>
                </a:lnTo>
                <a:lnTo>
                  <a:pt x="0" y="216026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5139944" y="1243076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4536185" y="2305811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5" h="432435">
                <a:moveTo>
                  <a:pt x="0" y="215900"/>
                </a:moveTo>
                <a:lnTo>
                  <a:pt x="5708" y="166391"/>
                </a:lnTo>
                <a:lnTo>
                  <a:pt x="21966" y="120946"/>
                </a:lnTo>
                <a:lnTo>
                  <a:pt x="47476" y="80859"/>
                </a:lnTo>
                <a:lnTo>
                  <a:pt x="80936" y="47426"/>
                </a:lnTo>
                <a:lnTo>
                  <a:pt x="121048" y="21941"/>
                </a:lnTo>
                <a:lnTo>
                  <a:pt x="166511" y="5701"/>
                </a:lnTo>
                <a:lnTo>
                  <a:pt x="216026" y="0"/>
                </a:lnTo>
                <a:lnTo>
                  <a:pt x="265582" y="5701"/>
                </a:lnTo>
                <a:lnTo>
                  <a:pt x="311061" y="21941"/>
                </a:lnTo>
                <a:lnTo>
                  <a:pt x="351170" y="47426"/>
                </a:lnTo>
                <a:lnTo>
                  <a:pt x="384617" y="80859"/>
                </a:lnTo>
                <a:lnTo>
                  <a:pt x="410109" y="120946"/>
                </a:lnTo>
                <a:lnTo>
                  <a:pt x="426352" y="166391"/>
                </a:lnTo>
                <a:lnTo>
                  <a:pt x="432053" y="215900"/>
                </a:lnTo>
                <a:lnTo>
                  <a:pt x="426352" y="265455"/>
                </a:lnTo>
                <a:lnTo>
                  <a:pt x="410109" y="310934"/>
                </a:lnTo>
                <a:lnTo>
                  <a:pt x="384617" y="351043"/>
                </a:lnTo>
                <a:lnTo>
                  <a:pt x="351170" y="384490"/>
                </a:lnTo>
                <a:lnTo>
                  <a:pt x="311061" y="409982"/>
                </a:lnTo>
                <a:lnTo>
                  <a:pt x="265582" y="426225"/>
                </a:lnTo>
                <a:lnTo>
                  <a:pt x="216026" y="431926"/>
                </a:lnTo>
                <a:lnTo>
                  <a:pt x="166511" y="426225"/>
                </a:lnTo>
                <a:lnTo>
                  <a:pt x="121048" y="409982"/>
                </a:lnTo>
                <a:lnTo>
                  <a:pt x="80936" y="384490"/>
                </a:lnTo>
                <a:lnTo>
                  <a:pt x="47476" y="351043"/>
                </a:lnTo>
                <a:lnTo>
                  <a:pt x="21966" y="310934"/>
                </a:lnTo>
                <a:lnTo>
                  <a:pt x="5708" y="265455"/>
                </a:lnTo>
                <a:lnTo>
                  <a:pt x="0" y="215900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4647057" y="2297429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5651119" y="4308475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5" h="432435">
                <a:moveTo>
                  <a:pt x="0" y="216026"/>
                </a:moveTo>
                <a:lnTo>
                  <a:pt x="5708" y="166511"/>
                </a:lnTo>
                <a:lnTo>
                  <a:pt x="21966" y="121048"/>
                </a:lnTo>
                <a:lnTo>
                  <a:pt x="47476" y="80936"/>
                </a:lnTo>
                <a:lnTo>
                  <a:pt x="80936" y="47476"/>
                </a:lnTo>
                <a:lnTo>
                  <a:pt x="121048" y="21966"/>
                </a:lnTo>
                <a:lnTo>
                  <a:pt x="166511" y="5708"/>
                </a:lnTo>
                <a:lnTo>
                  <a:pt x="216026" y="0"/>
                </a:lnTo>
                <a:lnTo>
                  <a:pt x="265542" y="5708"/>
                </a:lnTo>
                <a:lnTo>
                  <a:pt x="311005" y="21966"/>
                </a:lnTo>
                <a:lnTo>
                  <a:pt x="351117" y="47476"/>
                </a:lnTo>
                <a:lnTo>
                  <a:pt x="384577" y="80936"/>
                </a:lnTo>
                <a:lnTo>
                  <a:pt x="410087" y="121048"/>
                </a:lnTo>
                <a:lnTo>
                  <a:pt x="426345" y="166511"/>
                </a:lnTo>
                <a:lnTo>
                  <a:pt x="432053" y="216026"/>
                </a:lnTo>
                <a:lnTo>
                  <a:pt x="426345" y="265582"/>
                </a:lnTo>
                <a:lnTo>
                  <a:pt x="410087" y="311061"/>
                </a:lnTo>
                <a:lnTo>
                  <a:pt x="384577" y="351170"/>
                </a:lnTo>
                <a:lnTo>
                  <a:pt x="351117" y="384617"/>
                </a:lnTo>
                <a:lnTo>
                  <a:pt x="311005" y="410109"/>
                </a:lnTo>
                <a:lnTo>
                  <a:pt x="265542" y="426352"/>
                </a:lnTo>
                <a:lnTo>
                  <a:pt x="216026" y="432054"/>
                </a:lnTo>
                <a:lnTo>
                  <a:pt x="166511" y="426352"/>
                </a:lnTo>
                <a:lnTo>
                  <a:pt x="121048" y="410109"/>
                </a:lnTo>
                <a:lnTo>
                  <a:pt x="80936" y="384617"/>
                </a:lnTo>
                <a:lnTo>
                  <a:pt x="47476" y="351170"/>
                </a:lnTo>
                <a:lnTo>
                  <a:pt x="21966" y="311061"/>
                </a:lnTo>
                <a:lnTo>
                  <a:pt x="5708" y="265582"/>
                </a:lnTo>
                <a:lnTo>
                  <a:pt x="0" y="216026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5745226" y="4300473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Times New Roman"/>
                <a:cs typeface="Times New Roman"/>
              </a:rPr>
              <a:t>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6069965" y="3278251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5">
                <a:moveTo>
                  <a:pt x="0" y="215900"/>
                </a:moveTo>
                <a:lnTo>
                  <a:pt x="5701" y="166391"/>
                </a:lnTo>
                <a:lnTo>
                  <a:pt x="21944" y="120946"/>
                </a:lnTo>
                <a:lnTo>
                  <a:pt x="47436" y="80859"/>
                </a:lnTo>
                <a:lnTo>
                  <a:pt x="80883" y="47426"/>
                </a:lnTo>
                <a:lnTo>
                  <a:pt x="120992" y="21941"/>
                </a:lnTo>
                <a:lnTo>
                  <a:pt x="166471" y="5701"/>
                </a:lnTo>
                <a:lnTo>
                  <a:pt x="216026" y="0"/>
                </a:lnTo>
                <a:lnTo>
                  <a:pt x="265535" y="5701"/>
                </a:lnTo>
                <a:lnTo>
                  <a:pt x="310980" y="21941"/>
                </a:lnTo>
                <a:lnTo>
                  <a:pt x="351067" y="47426"/>
                </a:lnTo>
                <a:lnTo>
                  <a:pt x="384500" y="80859"/>
                </a:lnTo>
                <a:lnTo>
                  <a:pt x="409985" y="120946"/>
                </a:lnTo>
                <a:lnTo>
                  <a:pt x="426225" y="166391"/>
                </a:lnTo>
                <a:lnTo>
                  <a:pt x="431926" y="215900"/>
                </a:lnTo>
                <a:lnTo>
                  <a:pt x="426225" y="265455"/>
                </a:lnTo>
                <a:lnTo>
                  <a:pt x="409985" y="310934"/>
                </a:lnTo>
                <a:lnTo>
                  <a:pt x="384500" y="351043"/>
                </a:lnTo>
                <a:lnTo>
                  <a:pt x="351067" y="384490"/>
                </a:lnTo>
                <a:lnTo>
                  <a:pt x="310980" y="409982"/>
                </a:lnTo>
                <a:lnTo>
                  <a:pt x="265535" y="426225"/>
                </a:lnTo>
                <a:lnTo>
                  <a:pt x="216026" y="431926"/>
                </a:lnTo>
                <a:lnTo>
                  <a:pt x="166471" y="426225"/>
                </a:lnTo>
                <a:lnTo>
                  <a:pt x="120992" y="409982"/>
                </a:lnTo>
                <a:lnTo>
                  <a:pt x="80883" y="384490"/>
                </a:lnTo>
                <a:lnTo>
                  <a:pt x="47436" y="351043"/>
                </a:lnTo>
                <a:lnTo>
                  <a:pt x="21944" y="310934"/>
                </a:lnTo>
                <a:lnTo>
                  <a:pt x="5701" y="265455"/>
                </a:lnTo>
                <a:lnTo>
                  <a:pt x="0" y="215900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6164326" y="3269996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5035550" y="3278251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5" h="432435">
                <a:moveTo>
                  <a:pt x="0" y="215900"/>
                </a:moveTo>
                <a:lnTo>
                  <a:pt x="5701" y="166391"/>
                </a:lnTo>
                <a:lnTo>
                  <a:pt x="21944" y="120946"/>
                </a:lnTo>
                <a:lnTo>
                  <a:pt x="47436" y="80859"/>
                </a:lnTo>
                <a:lnTo>
                  <a:pt x="80883" y="47426"/>
                </a:lnTo>
                <a:lnTo>
                  <a:pt x="120992" y="21941"/>
                </a:lnTo>
                <a:lnTo>
                  <a:pt x="166471" y="5701"/>
                </a:lnTo>
                <a:lnTo>
                  <a:pt x="216026" y="0"/>
                </a:lnTo>
                <a:lnTo>
                  <a:pt x="265535" y="5701"/>
                </a:lnTo>
                <a:lnTo>
                  <a:pt x="310980" y="21941"/>
                </a:lnTo>
                <a:lnTo>
                  <a:pt x="351067" y="47426"/>
                </a:lnTo>
                <a:lnTo>
                  <a:pt x="384500" y="80859"/>
                </a:lnTo>
                <a:lnTo>
                  <a:pt x="409985" y="120946"/>
                </a:lnTo>
                <a:lnTo>
                  <a:pt x="426225" y="166391"/>
                </a:lnTo>
                <a:lnTo>
                  <a:pt x="431926" y="215900"/>
                </a:lnTo>
                <a:lnTo>
                  <a:pt x="426225" y="265455"/>
                </a:lnTo>
                <a:lnTo>
                  <a:pt x="409985" y="310934"/>
                </a:lnTo>
                <a:lnTo>
                  <a:pt x="384500" y="351043"/>
                </a:lnTo>
                <a:lnTo>
                  <a:pt x="351067" y="384490"/>
                </a:lnTo>
                <a:lnTo>
                  <a:pt x="310980" y="409982"/>
                </a:lnTo>
                <a:lnTo>
                  <a:pt x="265535" y="426225"/>
                </a:lnTo>
                <a:lnTo>
                  <a:pt x="216026" y="431926"/>
                </a:lnTo>
                <a:lnTo>
                  <a:pt x="166471" y="426225"/>
                </a:lnTo>
                <a:lnTo>
                  <a:pt x="120992" y="409982"/>
                </a:lnTo>
                <a:lnTo>
                  <a:pt x="80883" y="384490"/>
                </a:lnTo>
                <a:lnTo>
                  <a:pt x="47436" y="351043"/>
                </a:lnTo>
                <a:lnTo>
                  <a:pt x="21944" y="310934"/>
                </a:lnTo>
                <a:lnTo>
                  <a:pt x="5701" y="265455"/>
                </a:lnTo>
                <a:lnTo>
                  <a:pt x="0" y="215900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5146294" y="3269996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5345684" y="1566354"/>
            <a:ext cx="2661285" cy="772160"/>
            <a:chOff x="5345684" y="1566354"/>
            <a:chExt cx="2661285" cy="772160"/>
          </a:xfrm>
        </p:grpSpPr>
        <p:sp>
          <p:nvSpPr>
            <p:cNvPr id="65" name="object 65"/>
            <p:cNvSpPr/>
            <p:nvPr/>
          </p:nvSpPr>
          <p:spPr>
            <a:xfrm>
              <a:off x="5364734" y="1634997"/>
              <a:ext cx="360045" cy="684530"/>
            </a:xfrm>
            <a:custGeom>
              <a:avLst/>
              <a:gdLst/>
              <a:ahLst/>
              <a:cxnLst/>
              <a:rect l="l" t="t" r="r" b="b"/>
              <a:pathLst>
                <a:path w="360045" h="684530">
                  <a:moveTo>
                    <a:pt x="359917" y="684022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696329" y="1580641"/>
              <a:ext cx="1296035" cy="540385"/>
            </a:xfrm>
            <a:custGeom>
              <a:avLst/>
              <a:gdLst/>
              <a:ahLst/>
              <a:cxnLst/>
              <a:rect l="l" t="t" r="r" b="b"/>
              <a:pathLst>
                <a:path w="1296034" h="540385">
                  <a:moveTo>
                    <a:pt x="0" y="270002"/>
                  </a:moveTo>
                  <a:lnTo>
                    <a:pt x="270001" y="0"/>
                  </a:lnTo>
                  <a:lnTo>
                    <a:pt x="270001" y="135000"/>
                  </a:lnTo>
                  <a:lnTo>
                    <a:pt x="1025905" y="135000"/>
                  </a:lnTo>
                  <a:lnTo>
                    <a:pt x="1025905" y="0"/>
                  </a:lnTo>
                  <a:lnTo>
                    <a:pt x="1295907" y="270002"/>
                  </a:lnTo>
                  <a:lnTo>
                    <a:pt x="1025905" y="540004"/>
                  </a:lnTo>
                  <a:lnTo>
                    <a:pt x="1025905" y="405003"/>
                  </a:lnTo>
                  <a:lnTo>
                    <a:pt x="270001" y="405003"/>
                  </a:lnTo>
                  <a:lnTo>
                    <a:pt x="270001" y="540004"/>
                  </a:lnTo>
                  <a:lnTo>
                    <a:pt x="0" y="270002"/>
                  </a:lnTo>
                  <a:close/>
                </a:path>
              </a:pathLst>
            </a:custGeom>
            <a:ln w="28575">
              <a:solidFill>
                <a:srgbClr val="B42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310898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48643" y="2017267"/>
            <a:ext cx="152400" cy="25355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algn="just">
              <a:lnSpc>
                <a:spcPts val="1000"/>
              </a:lnSpc>
              <a:spcBef>
                <a:spcPts val="2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数 据 结 构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880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（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从 概 念 到 实 现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975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640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清 华 大 学 出 版 社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42925" y="100964"/>
            <a:ext cx="3240405" cy="540385"/>
          </a:xfrm>
          <a:custGeom>
            <a:avLst/>
            <a:gdLst/>
            <a:ahLst/>
            <a:cxnLst/>
            <a:rect l="l" t="t" r="r" b="b"/>
            <a:pathLst>
              <a:path w="3240404" h="540385">
                <a:moveTo>
                  <a:pt x="3149980" y="0"/>
                </a:moveTo>
                <a:lnTo>
                  <a:pt x="90004" y="0"/>
                </a:lnTo>
                <a:lnTo>
                  <a:pt x="54971" y="7068"/>
                </a:lnTo>
                <a:lnTo>
                  <a:pt x="26362" y="26352"/>
                </a:lnTo>
                <a:lnTo>
                  <a:pt x="7073" y="54971"/>
                </a:lnTo>
                <a:lnTo>
                  <a:pt x="0" y="90042"/>
                </a:lnTo>
                <a:lnTo>
                  <a:pt x="0" y="449960"/>
                </a:lnTo>
                <a:lnTo>
                  <a:pt x="7073" y="485032"/>
                </a:lnTo>
                <a:lnTo>
                  <a:pt x="26362" y="513651"/>
                </a:lnTo>
                <a:lnTo>
                  <a:pt x="54971" y="532935"/>
                </a:lnTo>
                <a:lnTo>
                  <a:pt x="90004" y="540003"/>
                </a:lnTo>
                <a:lnTo>
                  <a:pt x="3149980" y="540003"/>
                </a:lnTo>
                <a:lnTo>
                  <a:pt x="3185052" y="532935"/>
                </a:lnTo>
                <a:lnTo>
                  <a:pt x="3213671" y="513651"/>
                </a:lnTo>
                <a:lnTo>
                  <a:pt x="3232955" y="485032"/>
                </a:lnTo>
                <a:lnTo>
                  <a:pt x="3240024" y="449960"/>
                </a:lnTo>
                <a:lnTo>
                  <a:pt x="3240024" y="90042"/>
                </a:lnTo>
                <a:lnTo>
                  <a:pt x="3232955" y="54971"/>
                </a:lnTo>
                <a:lnTo>
                  <a:pt x="3213671" y="26352"/>
                </a:lnTo>
                <a:lnTo>
                  <a:pt x="3185052" y="7068"/>
                </a:lnTo>
                <a:lnTo>
                  <a:pt x="3149980" y="0"/>
                </a:lnTo>
                <a:close/>
              </a:path>
            </a:pathLst>
          </a:custGeom>
          <a:solidFill>
            <a:srgbClr val="5A31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6991" y="141808"/>
            <a:ext cx="287909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solidFill>
                  <a:schemeClr val="bg1"/>
                </a:solidFill>
              </a:rPr>
              <a:t>树转</a:t>
            </a:r>
            <a:r>
              <a:rPr sz="2800" spc="-10" dirty="0">
                <a:solidFill>
                  <a:schemeClr val="bg1"/>
                </a:solidFill>
              </a:rPr>
              <a:t>换</a:t>
            </a:r>
            <a:r>
              <a:rPr sz="2800" spc="-5" dirty="0">
                <a:solidFill>
                  <a:schemeClr val="bg1"/>
                </a:solidFill>
              </a:rPr>
              <a:t>为二</a:t>
            </a:r>
            <a:r>
              <a:rPr sz="2800" spc="-10" dirty="0">
                <a:solidFill>
                  <a:schemeClr val="bg1"/>
                </a:solidFill>
              </a:rPr>
              <a:t>叉树</a:t>
            </a:r>
            <a:endParaRPr spc="-10" dirty="0">
              <a:solidFill>
                <a:schemeClr val="bg1"/>
              </a:solidFill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970833" y="1976945"/>
            <a:ext cx="497205" cy="497205"/>
            <a:chOff x="9970833" y="1976945"/>
            <a:chExt cx="497205" cy="497205"/>
          </a:xfrm>
        </p:grpSpPr>
        <p:sp>
          <p:nvSpPr>
            <p:cNvPr id="6" name="object 6"/>
            <p:cNvSpPr/>
            <p:nvPr/>
          </p:nvSpPr>
          <p:spPr>
            <a:xfrm>
              <a:off x="9985120" y="1991232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234060" y="0"/>
                  </a:moveTo>
                  <a:lnTo>
                    <a:pt x="186884" y="4754"/>
                  </a:lnTo>
                  <a:lnTo>
                    <a:pt x="142946" y="18393"/>
                  </a:lnTo>
                  <a:lnTo>
                    <a:pt x="103187" y="39975"/>
                  </a:lnTo>
                  <a:lnTo>
                    <a:pt x="68548" y="68564"/>
                  </a:lnTo>
                  <a:lnTo>
                    <a:pt x="39969" y="103218"/>
                  </a:lnTo>
                  <a:lnTo>
                    <a:pt x="18391" y="143000"/>
                  </a:lnTo>
                  <a:lnTo>
                    <a:pt x="4754" y="186969"/>
                  </a:lnTo>
                  <a:lnTo>
                    <a:pt x="0" y="234187"/>
                  </a:lnTo>
                  <a:lnTo>
                    <a:pt x="4754" y="281364"/>
                  </a:lnTo>
                  <a:lnTo>
                    <a:pt x="18391" y="325302"/>
                  </a:lnTo>
                  <a:lnTo>
                    <a:pt x="39969" y="365061"/>
                  </a:lnTo>
                  <a:lnTo>
                    <a:pt x="68548" y="399700"/>
                  </a:lnTo>
                  <a:lnTo>
                    <a:pt x="103187" y="428279"/>
                  </a:lnTo>
                  <a:lnTo>
                    <a:pt x="142946" y="449857"/>
                  </a:lnTo>
                  <a:lnTo>
                    <a:pt x="186884" y="463494"/>
                  </a:lnTo>
                  <a:lnTo>
                    <a:pt x="234060" y="468249"/>
                  </a:lnTo>
                  <a:lnTo>
                    <a:pt x="281279" y="463494"/>
                  </a:lnTo>
                  <a:lnTo>
                    <a:pt x="325248" y="449857"/>
                  </a:lnTo>
                  <a:lnTo>
                    <a:pt x="365030" y="428279"/>
                  </a:lnTo>
                  <a:lnTo>
                    <a:pt x="399684" y="399700"/>
                  </a:lnTo>
                  <a:lnTo>
                    <a:pt x="428273" y="365061"/>
                  </a:lnTo>
                  <a:lnTo>
                    <a:pt x="449855" y="325302"/>
                  </a:lnTo>
                  <a:lnTo>
                    <a:pt x="463494" y="281364"/>
                  </a:lnTo>
                  <a:lnTo>
                    <a:pt x="468249" y="234187"/>
                  </a:lnTo>
                  <a:lnTo>
                    <a:pt x="463494" y="186969"/>
                  </a:lnTo>
                  <a:lnTo>
                    <a:pt x="449855" y="143000"/>
                  </a:lnTo>
                  <a:lnTo>
                    <a:pt x="428273" y="103218"/>
                  </a:lnTo>
                  <a:lnTo>
                    <a:pt x="399684" y="68564"/>
                  </a:lnTo>
                  <a:lnTo>
                    <a:pt x="365030" y="39975"/>
                  </a:lnTo>
                  <a:lnTo>
                    <a:pt x="325248" y="18393"/>
                  </a:lnTo>
                  <a:lnTo>
                    <a:pt x="281279" y="4754"/>
                  </a:lnTo>
                  <a:lnTo>
                    <a:pt x="234060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985120" y="1991232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0" y="234187"/>
                  </a:moveTo>
                  <a:lnTo>
                    <a:pt x="4754" y="186969"/>
                  </a:lnTo>
                  <a:lnTo>
                    <a:pt x="18391" y="143000"/>
                  </a:lnTo>
                  <a:lnTo>
                    <a:pt x="39969" y="103218"/>
                  </a:lnTo>
                  <a:lnTo>
                    <a:pt x="68548" y="68564"/>
                  </a:lnTo>
                  <a:lnTo>
                    <a:pt x="103187" y="39975"/>
                  </a:lnTo>
                  <a:lnTo>
                    <a:pt x="142946" y="18393"/>
                  </a:lnTo>
                  <a:lnTo>
                    <a:pt x="186884" y="4754"/>
                  </a:lnTo>
                  <a:lnTo>
                    <a:pt x="234060" y="0"/>
                  </a:lnTo>
                  <a:lnTo>
                    <a:pt x="281279" y="4754"/>
                  </a:lnTo>
                  <a:lnTo>
                    <a:pt x="325248" y="18393"/>
                  </a:lnTo>
                  <a:lnTo>
                    <a:pt x="365030" y="39975"/>
                  </a:lnTo>
                  <a:lnTo>
                    <a:pt x="399684" y="68564"/>
                  </a:lnTo>
                  <a:lnTo>
                    <a:pt x="428273" y="103218"/>
                  </a:lnTo>
                  <a:lnTo>
                    <a:pt x="449855" y="143000"/>
                  </a:lnTo>
                  <a:lnTo>
                    <a:pt x="463494" y="186969"/>
                  </a:lnTo>
                  <a:lnTo>
                    <a:pt x="468249" y="234187"/>
                  </a:lnTo>
                  <a:lnTo>
                    <a:pt x="463494" y="281364"/>
                  </a:lnTo>
                  <a:lnTo>
                    <a:pt x="449855" y="325302"/>
                  </a:lnTo>
                  <a:lnTo>
                    <a:pt x="428273" y="365061"/>
                  </a:lnTo>
                  <a:lnTo>
                    <a:pt x="399684" y="399700"/>
                  </a:lnTo>
                  <a:lnTo>
                    <a:pt x="365030" y="428279"/>
                  </a:lnTo>
                  <a:lnTo>
                    <a:pt x="325248" y="449857"/>
                  </a:lnTo>
                  <a:lnTo>
                    <a:pt x="281279" y="463494"/>
                  </a:lnTo>
                  <a:lnTo>
                    <a:pt x="234060" y="468249"/>
                  </a:lnTo>
                  <a:lnTo>
                    <a:pt x="186884" y="463494"/>
                  </a:lnTo>
                  <a:lnTo>
                    <a:pt x="142946" y="449857"/>
                  </a:lnTo>
                  <a:lnTo>
                    <a:pt x="103187" y="428279"/>
                  </a:lnTo>
                  <a:lnTo>
                    <a:pt x="68548" y="399700"/>
                  </a:lnTo>
                  <a:lnTo>
                    <a:pt x="39969" y="365061"/>
                  </a:lnTo>
                  <a:lnTo>
                    <a:pt x="18391" y="325302"/>
                  </a:lnTo>
                  <a:lnTo>
                    <a:pt x="4754" y="281364"/>
                  </a:lnTo>
                  <a:lnTo>
                    <a:pt x="0" y="234187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105390" y="2019680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797607" y="1964245"/>
            <a:ext cx="497205" cy="497205"/>
            <a:chOff x="8797607" y="1964245"/>
            <a:chExt cx="497205" cy="497205"/>
          </a:xfrm>
        </p:grpSpPr>
        <p:sp>
          <p:nvSpPr>
            <p:cNvPr id="10" name="object 10"/>
            <p:cNvSpPr/>
            <p:nvPr/>
          </p:nvSpPr>
          <p:spPr>
            <a:xfrm>
              <a:off x="8811894" y="1978532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234187" y="0"/>
                  </a:moveTo>
                  <a:lnTo>
                    <a:pt x="187006" y="4754"/>
                  </a:lnTo>
                  <a:lnTo>
                    <a:pt x="143053" y="18393"/>
                  </a:lnTo>
                  <a:lnTo>
                    <a:pt x="103274" y="39975"/>
                  </a:lnTo>
                  <a:lnTo>
                    <a:pt x="68611" y="68564"/>
                  </a:lnTo>
                  <a:lnTo>
                    <a:pt x="40009" y="103218"/>
                  </a:lnTo>
                  <a:lnTo>
                    <a:pt x="18411" y="143000"/>
                  </a:lnTo>
                  <a:lnTo>
                    <a:pt x="4760" y="186969"/>
                  </a:lnTo>
                  <a:lnTo>
                    <a:pt x="0" y="234187"/>
                  </a:lnTo>
                  <a:lnTo>
                    <a:pt x="4760" y="281364"/>
                  </a:lnTo>
                  <a:lnTo>
                    <a:pt x="18411" y="325302"/>
                  </a:lnTo>
                  <a:lnTo>
                    <a:pt x="40009" y="365061"/>
                  </a:lnTo>
                  <a:lnTo>
                    <a:pt x="68611" y="399700"/>
                  </a:lnTo>
                  <a:lnTo>
                    <a:pt x="103274" y="428279"/>
                  </a:lnTo>
                  <a:lnTo>
                    <a:pt x="143053" y="449857"/>
                  </a:lnTo>
                  <a:lnTo>
                    <a:pt x="187006" y="463494"/>
                  </a:lnTo>
                  <a:lnTo>
                    <a:pt x="234187" y="468249"/>
                  </a:lnTo>
                  <a:lnTo>
                    <a:pt x="281369" y="463494"/>
                  </a:lnTo>
                  <a:lnTo>
                    <a:pt x="325322" y="449857"/>
                  </a:lnTo>
                  <a:lnTo>
                    <a:pt x="365101" y="428279"/>
                  </a:lnTo>
                  <a:lnTo>
                    <a:pt x="399764" y="399700"/>
                  </a:lnTo>
                  <a:lnTo>
                    <a:pt x="428366" y="365061"/>
                  </a:lnTo>
                  <a:lnTo>
                    <a:pt x="449964" y="325302"/>
                  </a:lnTo>
                  <a:lnTo>
                    <a:pt x="463615" y="281364"/>
                  </a:lnTo>
                  <a:lnTo>
                    <a:pt x="468375" y="234187"/>
                  </a:lnTo>
                  <a:lnTo>
                    <a:pt x="463615" y="186969"/>
                  </a:lnTo>
                  <a:lnTo>
                    <a:pt x="449964" y="143000"/>
                  </a:lnTo>
                  <a:lnTo>
                    <a:pt x="428366" y="103218"/>
                  </a:lnTo>
                  <a:lnTo>
                    <a:pt x="399764" y="68564"/>
                  </a:lnTo>
                  <a:lnTo>
                    <a:pt x="365101" y="39975"/>
                  </a:lnTo>
                  <a:lnTo>
                    <a:pt x="325322" y="18393"/>
                  </a:lnTo>
                  <a:lnTo>
                    <a:pt x="281369" y="4754"/>
                  </a:lnTo>
                  <a:lnTo>
                    <a:pt x="234187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811894" y="1978532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0" y="234187"/>
                  </a:moveTo>
                  <a:lnTo>
                    <a:pt x="4760" y="186969"/>
                  </a:lnTo>
                  <a:lnTo>
                    <a:pt x="18411" y="143000"/>
                  </a:lnTo>
                  <a:lnTo>
                    <a:pt x="40009" y="103218"/>
                  </a:lnTo>
                  <a:lnTo>
                    <a:pt x="68611" y="68564"/>
                  </a:lnTo>
                  <a:lnTo>
                    <a:pt x="103274" y="39975"/>
                  </a:lnTo>
                  <a:lnTo>
                    <a:pt x="143053" y="18393"/>
                  </a:lnTo>
                  <a:lnTo>
                    <a:pt x="187006" y="4754"/>
                  </a:lnTo>
                  <a:lnTo>
                    <a:pt x="234187" y="0"/>
                  </a:lnTo>
                  <a:lnTo>
                    <a:pt x="281369" y="4754"/>
                  </a:lnTo>
                  <a:lnTo>
                    <a:pt x="325322" y="18393"/>
                  </a:lnTo>
                  <a:lnTo>
                    <a:pt x="365101" y="39975"/>
                  </a:lnTo>
                  <a:lnTo>
                    <a:pt x="399764" y="68564"/>
                  </a:lnTo>
                  <a:lnTo>
                    <a:pt x="428366" y="103218"/>
                  </a:lnTo>
                  <a:lnTo>
                    <a:pt x="449964" y="143000"/>
                  </a:lnTo>
                  <a:lnTo>
                    <a:pt x="463615" y="186969"/>
                  </a:lnTo>
                  <a:lnTo>
                    <a:pt x="468375" y="234187"/>
                  </a:lnTo>
                  <a:lnTo>
                    <a:pt x="463615" y="281364"/>
                  </a:lnTo>
                  <a:lnTo>
                    <a:pt x="449964" y="325302"/>
                  </a:lnTo>
                  <a:lnTo>
                    <a:pt x="428366" y="365061"/>
                  </a:lnTo>
                  <a:lnTo>
                    <a:pt x="399764" y="399700"/>
                  </a:lnTo>
                  <a:lnTo>
                    <a:pt x="365101" y="428279"/>
                  </a:lnTo>
                  <a:lnTo>
                    <a:pt x="325322" y="449857"/>
                  </a:lnTo>
                  <a:lnTo>
                    <a:pt x="281369" y="463494"/>
                  </a:lnTo>
                  <a:lnTo>
                    <a:pt x="234187" y="468249"/>
                  </a:lnTo>
                  <a:lnTo>
                    <a:pt x="187006" y="463494"/>
                  </a:lnTo>
                  <a:lnTo>
                    <a:pt x="143053" y="449857"/>
                  </a:lnTo>
                  <a:lnTo>
                    <a:pt x="103274" y="428279"/>
                  </a:lnTo>
                  <a:lnTo>
                    <a:pt x="68611" y="399700"/>
                  </a:lnTo>
                  <a:lnTo>
                    <a:pt x="40009" y="365061"/>
                  </a:lnTo>
                  <a:lnTo>
                    <a:pt x="18411" y="325302"/>
                  </a:lnTo>
                  <a:lnTo>
                    <a:pt x="4760" y="281364"/>
                  </a:lnTo>
                  <a:lnTo>
                    <a:pt x="0" y="234187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932291" y="2007234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412668" y="2996120"/>
            <a:ext cx="497205" cy="497205"/>
            <a:chOff x="9412668" y="2996120"/>
            <a:chExt cx="497205" cy="497205"/>
          </a:xfrm>
        </p:grpSpPr>
        <p:sp>
          <p:nvSpPr>
            <p:cNvPr id="14" name="object 14"/>
            <p:cNvSpPr/>
            <p:nvPr/>
          </p:nvSpPr>
          <p:spPr>
            <a:xfrm>
              <a:off x="9426956" y="3010407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29">
                  <a:moveTo>
                    <a:pt x="234061" y="0"/>
                  </a:moveTo>
                  <a:lnTo>
                    <a:pt x="186884" y="4754"/>
                  </a:lnTo>
                  <a:lnTo>
                    <a:pt x="142946" y="18393"/>
                  </a:lnTo>
                  <a:lnTo>
                    <a:pt x="103187" y="39975"/>
                  </a:lnTo>
                  <a:lnTo>
                    <a:pt x="68548" y="68564"/>
                  </a:lnTo>
                  <a:lnTo>
                    <a:pt x="39969" y="103218"/>
                  </a:lnTo>
                  <a:lnTo>
                    <a:pt x="18391" y="143000"/>
                  </a:lnTo>
                  <a:lnTo>
                    <a:pt x="4754" y="186969"/>
                  </a:lnTo>
                  <a:lnTo>
                    <a:pt x="0" y="234187"/>
                  </a:lnTo>
                  <a:lnTo>
                    <a:pt x="4754" y="281364"/>
                  </a:lnTo>
                  <a:lnTo>
                    <a:pt x="18391" y="325302"/>
                  </a:lnTo>
                  <a:lnTo>
                    <a:pt x="39969" y="365061"/>
                  </a:lnTo>
                  <a:lnTo>
                    <a:pt x="68548" y="399700"/>
                  </a:lnTo>
                  <a:lnTo>
                    <a:pt x="103187" y="428279"/>
                  </a:lnTo>
                  <a:lnTo>
                    <a:pt x="142946" y="449857"/>
                  </a:lnTo>
                  <a:lnTo>
                    <a:pt x="186884" y="463494"/>
                  </a:lnTo>
                  <a:lnTo>
                    <a:pt x="234061" y="468249"/>
                  </a:lnTo>
                  <a:lnTo>
                    <a:pt x="281279" y="463494"/>
                  </a:lnTo>
                  <a:lnTo>
                    <a:pt x="325248" y="449857"/>
                  </a:lnTo>
                  <a:lnTo>
                    <a:pt x="365030" y="428279"/>
                  </a:lnTo>
                  <a:lnTo>
                    <a:pt x="399684" y="399700"/>
                  </a:lnTo>
                  <a:lnTo>
                    <a:pt x="428273" y="365061"/>
                  </a:lnTo>
                  <a:lnTo>
                    <a:pt x="449855" y="325302"/>
                  </a:lnTo>
                  <a:lnTo>
                    <a:pt x="463494" y="281364"/>
                  </a:lnTo>
                  <a:lnTo>
                    <a:pt x="468249" y="234187"/>
                  </a:lnTo>
                  <a:lnTo>
                    <a:pt x="463494" y="186969"/>
                  </a:lnTo>
                  <a:lnTo>
                    <a:pt x="449855" y="143000"/>
                  </a:lnTo>
                  <a:lnTo>
                    <a:pt x="428273" y="103218"/>
                  </a:lnTo>
                  <a:lnTo>
                    <a:pt x="399684" y="68564"/>
                  </a:lnTo>
                  <a:lnTo>
                    <a:pt x="365030" y="39975"/>
                  </a:lnTo>
                  <a:lnTo>
                    <a:pt x="325248" y="18393"/>
                  </a:lnTo>
                  <a:lnTo>
                    <a:pt x="281279" y="4754"/>
                  </a:lnTo>
                  <a:lnTo>
                    <a:pt x="234061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426956" y="3010407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29">
                  <a:moveTo>
                    <a:pt x="0" y="234187"/>
                  </a:moveTo>
                  <a:lnTo>
                    <a:pt x="4754" y="186969"/>
                  </a:lnTo>
                  <a:lnTo>
                    <a:pt x="18391" y="143000"/>
                  </a:lnTo>
                  <a:lnTo>
                    <a:pt x="39969" y="103218"/>
                  </a:lnTo>
                  <a:lnTo>
                    <a:pt x="68548" y="68564"/>
                  </a:lnTo>
                  <a:lnTo>
                    <a:pt x="103187" y="39975"/>
                  </a:lnTo>
                  <a:lnTo>
                    <a:pt x="142946" y="18393"/>
                  </a:lnTo>
                  <a:lnTo>
                    <a:pt x="186884" y="4754"/>
                  </a:lnTo>
                  <a:lnTo>
                    <a:pt x="234061" y="0"/>
                  </a:lnTo>
                  <a:lnTo>
                    <a:pt x="281279" y="4754"/>
                  </a:lnTo>
                  <a:lnTo>
                    <a:pt x="325248" y="18393"/>
                  </a:lnTo>
                  <a:lnTo>
                    <a:pt x="365030" y="39975"/>
                  </a:lnTo>
                  <a:lnTo>
                    <a:pt x="399684" y="68564"/>
                  </a:lnTo>
                  <a:lnTo>
                    <a:pt x="428273" y="103218"/>
                  </a:lnTo>
                  <a:lnTo>
                    <a:pt x="449855" y="143000"/>
                  </a:lnTo>
                  <a:lnTo>
                    <a:pt x="463494" y="186969"/>
                  </a:lnTo>
                  <a:lnTo>
                    <a:pt x="468249" y="234187"/>
                  </a:lnTo>
                  <a:lnTo>
                    <a:pt x="463494" y="281364"/>
                  </a:lnTo>
                  <a:lnTo>
                    <a:pt x="449855" y="325302"/>
                  </a:lnTo>
                  <a:lnTo>
                    <a:pt x="428273" y="365061"/>
                  </a:lnTo>
                  <a:lnTo>
                    <a:pt x="399684" y="399700"/>
                  </a:lnTo>
                  <a:lnTo>
                    <a:pt x="365030" y="428279"/>
                  </a:lnTo>
                  <a:lnTo>
                    <a:pt x="325248" y="449857"/>
                  </a:lnTo>
                  <a:lnTo>
                    <a:pt x="281279" y="463494"/>
                  </a:lnTo>
                  <a:lnTo>
                    <a:pt x="234061" y="468249"/>
                  </a:lnTo>
                  <a:lnTo>
                    <a:pt x="186884" y="463494"/>
                  </a:lnTo>
                  <a:lnTo>
                    <a:pt x="142946" y="449857"/>
                  </a:lnTo>
                  <a:lnTo>
                    <a:pt x="103187" y="428279"/>
                  </a:lnTo>
                  <a:lnTo>
                    <a:pt x="68548" y="399700"/>
                  </a:lnTo>
                  <a:lnTo>
                    <a:pt x="39969" y="365061"/>
                  </a:lnTo>
                  <a:lnTo>
                    <a:pt x="18391" y="325302"/>
                  </a:lnTo>
                  <a:lnTo>
                    <a:pt x="4754" y="281364"/>
                  </a:lnTo>
                  <a:lnTo>
                    <a:pt x="0" y="234187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547352" y="3039236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109013" y="2996120"/>
            <a:ext cx="497205" cy="497205"/>
            <a:chOff x="8109013" y="2996120"/>
            <a:chExt cx="497205" cy="497205"/>
          </a:xfrm>
        </p:grpSpPr>
        <p:sp>
          <p:nvSpPr>
            <p:cNvPr id="18" name="object 18"/>
            <p:cNvSpPr/>
            <p:nvPr/>
          </p:nvSpPr>
          <p:spPr>
            <a:xfrm>
              <a:off x="8123301" y="3010407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29">
                  <a:moveTo>
                    <a:pt x="234060" y="0"/>
                  </a:moveTo>
                  <a:lnTo>
                    <a:pt x="186884" y="4754"/>
                  </a:lnTo>
                  <a:lnTo>
                    <a:pt x="142946" y="18393"/>
                  </a:lnTo>
                  <a:lnTo>
                    <a:pt x="103187" y="39975"/>
                  </a:lnTo>
                  <a:lnTo>
                    <a:pt x="68548" y="68564"/>
                  </a:lnTo>
                  <a:lnTo>
                    <a:pt x="39969" y="103218"/>
                  </a:lnTo>
                  <a:lnTo>
                    <a:pt x="18391" y="143000"/>
                  </a:lnTo>
                  <a:lnTo>
                    <a:pt x="4754" y="186969"/>
                  </a:lnTo>
                  <a:lnTo>
                    <a:pt x="0" y="234187"/>
                  </a:lnTo>
                  <a:lnTo>
                    <a:pt x="4754" y="281364"/>
                  </a:lnTo>
                  <a:lnTo>
                    <a:pt x="18391" y="325302"/>
                  </a:lnTo>
                  <a:lnTo>
                    <a:pt x="39969" y="365061"/>
                  </a:lnTo>
                  <a:lnTo>
                    <a:pt x="68548" y="399700"/>
                  </a:lnTo>
                  <a:lnTo>
                    <a:pt x="103187" y="428279"/>
                  </a:lnTo>
                  <a:lnTo>
                    <a:pt x="142946" y="449857"/>
                  </a:lnTo>
                  <a:lnTo>
                    <a:pt x="186884" y="463494"/>
                  </a:lnTo>
                  <a:lnTo>
                    <a:pt x="234060" y="468249"/>
                  </a:lnTo>
                  <a:lnTo>
                    <a:pt x="281279" y="463494"/>
                  </a:lnTo>
                  <a:lnTo>
                    <a:pt x="325248" y="449857"/>
                  </a:lnTo>
                  <a:lnTo>
                    <a:pt x="365030" y="428279"/>
                  </a:lnTo>
                  <a:lnTo>
                    <a:pt x="399684" y="399700"/>
                  </a:lnTo>
                  <a:lnTo>
                    <a:pt x="428273" y="365061"/>
                  </a:lnTo>
                  <a:lnTo>
                    <a:pt x="449855" y="325302"/>
                  </a:lnTo>
                  <a:lnTo>
                    <a:pt x="463494" y="281364"/>
                  </a:lnTo>
                  <a:lnTo>
                    <a:pt x="468249" y="234187"/>
                  </a:lnTo>
                  <a:lnTo>
                    <a:pt x="463494" y="186969"/>
                  </a:lnTo>
                  <a:lnTo>
                    <a:pt x="449855" y="143000"/>
                  </a:lnTo>
                  <a:lnTo>
                    <a:pt x="428273" y="103218"/>
                  </a:lnTo>
                  <a:lnTo>
                    <a:pt x="399684" y="68564"/>
                  </a:lnTo>
                  <a:lnTo>
                    <a:pt x="365030" y="39975"/>
                  </a:lnTo>
                  <a:lnTo>
                    <a:pt x="325248" y="18393"/>
                  </a:lnTo>
                  <a:lnTo>
                    <a:pt x="281279" y="4754"/>
                  </a:lnTo>
                  <a:lnTo>
                    <a:pt x="234060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123301" y="3010407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29">
                  <a:moveTo>
                    <a:pt x="0" y="234187"/>
                  </a:moveTo>
                  <a:lnTo>
                    <a:pt x="4754" y="186969"/>
                  </a:lnTo>
                  <a:lnTo>
                    <a:pt x="18391" y="143000"/>
                  </a:lnTo>
                  <a:lnTo>
                    <a:pt x="39969" y="103218"/>
                  </a:lnTo>
                  <a:lnTo>
                    <a:pt x="68548" y="68564"/>
                  </a:lnTo>
                  <a:lnTo>
                    <a:pt x="103187" y="39975"/>
                  </a:lnTo>
                  <a:lnTo>
                    <a:pt x="142946" y="18393"/>
                  </a:lnTo>
                  <a:lnTo>
                    <a:pt x="186884" y="4754"/>
                  </a:lnTo>
                  <a:lnTo>
                    <a:pt x="234060" y="0"/>
                  </a:lnTo>
                  <a:lnTo>
                    <a:pt x="281279" y="4754"/>
                  </a:lnTo>
                  <a:lnTo>
                    <a:pt x="325248" y="18393"/>
                  </a:lnTo>
                  <a:lnTo>
                    <a:pt x="365030" y="39975"/>
                  </a:lnTo>
                  <a:lnTo>
                    <a:pt x="399684" y="68564"/>
                  </a:lnTo>
                  <a:lnTo>
                    <a:pt x="428273" y="103218"/>
                  </a:lnTo>
                  <a:lnTo>
                    <a:pt x="449855" y="143000"/>
                  </a:lnTo>
                  <a:lnTo>
                    <a:pt x="463494" y="186969"/>
                  </a:lnTo>
                  <a:lnTo>
                    <a:pt x="468249" y="234187"/>
                  </a:lnTo>
                  <a:lnTo>
                    <a:pt x="463494" y="281364"/>
                  </a:lnTo>
                  <a:lnTo>
                    <a:pt x="449855" y="325302"/>
                  </a:lnTo>
                  <a:lnTo>
                    <a:pt x="428273" y="365061"/>
                  </a:lnTo>
                  <a:lnTo>
                    <a:pt x="399684" y="399700"/>
                  </a:lnTo>
                  <a:lnTo>
                    <a:pt x="365030" y="428279"/>
                  </a:lnTo>
                  <a:lnTo>
                    <a:pt x="325248" y="449857"/>
                  </a:lnTo>
                  <a:lnTo>
                    <a:pt x="281279" y="463494"/>
                  </a:lnTo>
                  <a:lnTo>
                    <a:pt x="234060" y="468249"/>
                  </a:lnTo>
                  <a:lnTo>
                    <a:pt x="186884" y="463494"/>
                  </a:lnTo>
                  <a:lnTo>
                    <a:pt x="142946" y="449857"/>
                  </a:lnTo>
                  <a:lnTo>
                    <a:pt x="103187" y="428279"/>
                  </a:lnTo>
                  <a:lnTo>
                    <a:pt x="68548" y="399700"/>
                  </a:lnTo>
                  <a:lnTo>
                    <a:pt x="39969" y="365061"/>
                  </a:lnTo>
                  <a:lnTo>
                    <a:pt x="18391" y="325302"/>
                  </a:lnTo>
                  <a:lnTo>
                    <a:pt x="4754" y="281364"/>
                  </a:lnTo>
                  <a:lnTo>
                    <a:pt x="0" y="234187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243443" y="3039236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441118" y="1998154"/>
            <a:ext cx="3058795" cy="1051560"/>
            <a:chOff x="8441118" y="1998154"/>
            <a:chExt cx="3058795" cy="1051560"/>
          </a:xfrm>
        </p:grpSpPr>
        <p:sp>
          <p:nvSpPr>
            <p:cNvPr id="22" name="object 22"/>
            <p:cNvSpPr/>
            <p:nvPr/>
          </p:nvSpPr>
          <p:spPr>
            <a:xfrm>
              <a:off x="8455406" y="2385822"/>
              <a:ext cx="412750" cy="649605"/>
            </a:xfrm>
            <a:custGeom>
              <a:avLst/>
              <a:gdLst/>
              <a:ahLst/>
              <a:cxnLst/>
              <a:rect l="l" t="t" r="r" b="b"/>
              <a:pathLst>
                <a:path w="412750" h="649605">
                  <a:moveTo>
                    <a:pt x="412750" y="0"/>
                  </a:moveTo>
                  <a:lnTo>
                    <a:pt x="0" y="649351"/>
                  </a:lnTo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1017250" y="2012442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234188" y="0"/>
                  </a:moveTo>
                  <a:lnTo>
                    <a:pt x="187006" y="4760"/>
                  </a:lnTo>
                  <a:lnTo>
                    <a:pt x="143053" y="18411"/>
                  </a:lnTo>
                  <a:lnTo>
                    <a:pt x="103274" y="40009"/>
                  </a:lnTo>
                  <a:lnTo>
                    <a:pt x="68611" y="68611"/>
                  </a:lnTo>
                  <a:lnTo>
                    <a:pt x="40009" y="103274"/>
                  </a:lnTo>
                  <a:lnTo>
                    <a:pt x="18411" y="143053"/>
                  </a:lnTo>
                  <a:lnTo>
                    <a:pt x="4760" y="187006"/>
                  </a:lnTo>
                  <a:lnTo>
                    <a:pt x="0" y="234187"/>
                  </a:lnTo>
                  <a:lnTo>
                    <a:pt x="4760" y="281369"/>
                  </a:lnTo>
                  <a:lnTo>
                    <a:pt x="18411" y="325322"/>
                  </a:lnTo>
                  <a:lnTo>
                    <a:pt x="40009" y="365101"/>
                  </a:lnTo>
                  <a:lnTo>
                    <a:pt x="68611" y="399764"/>
                  </a:lnTo>
                  <a:lnTo>
                    <a:pt x="103274" y="428366"/>
                  </a:lnTo>
                  <a:lnTo>
                    <a:pt x="143053" y="449964"/>
                  </a:lnTo>
                  <a:lnTo>
                    <a:pt x="187006" y="463615"/>
                  </a:lnTo>
                  <a:lnTo>
                    <a:pt x="234188" y="468375"/>
                  </a:lnTo>
                  <a:lnTo>
                    <a:pt x="281369" y="463615"/>
                  </a:lnTo>
                  <a:lnTo>
                    <a:pt x="325322" y="449964"/>
                  </a:lnTo>
                  <a:lnTo>
                    <a:pt x="365101" y="428366"/>
                  </a:lnTo>
                  <a:lnTo>
                    <a:pt x="399764" y="399764"/>
                  </a:lnTo>
                  <a:lnTo>
                    <a:pt x="428366" y="365101"/>
                  </a:lnTo>
                  <a:lnTo>
                    <a:pt x="449964" y="325322"/>
                  </a:lnTo>
                  <a:lnTo>
                    <a:pt x="463615" y="281369"/>
                  </a:lnTo>
                  <a:lnTo>
                    <a:pt x="468375" y="234187"/>
                  </a:lnTo>
                  <a:lnTo>
                    <a:pt x="463615" y="187006"/>
                  </a:lnTo>
                  <a:lnTo>
                    <a:pt x="449964" y="143053"/>
                  </a:lnTo>
                  <a:lnTo>
                    <a:pt x="428366" y="103274"/>
                  </a:lnTo>
                  <a:lnTo>
                    <a:pt x="399764" y="68611"/>
                  </a:lnTo>
                  <a:lnTo>
                    <a:pt x="365101" y="40009"/>
                  </a:lnTo>
                  <a:lnTo>
                    <a:pt x="325322" y="18411"/>
                  </a:lnTo>
                  <a:lnTo>
                    <a:pt x="281369" y="4760"/>
                  </a:lnTo>
                  <a:lnTo>
                    <a:pt x="234188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1017250" y="2012442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0" y="234187"/>
                  </a:moveTo>
                  <a:lnTo>
                    <a:pt x="4760" y="187006"/>
                  </a:lnTo>
                  <a:lnTo>
                    <a:pt x="18411" y="143053"/>
                  </a:lnTo>
                  <a:lnTo>
                    <a:pt x="40009" y="103274"/>
                  </a:lnTo>
                  <a:lnTo>
                    <a:pt x="68611" y="68611"/>
                  </a:lnTo>
                  <a:lnTo>
                    <a:pt x="103274" y="40009"/>
                  </a:lnTo>
                  <a:lnTo>
                    <a:pt x="143053" y="18411"/>
                  </a:lnTo>
                  <a:lnTo>
                    <a:pt x="187006" y="4760"/>
                  </a:lnTo>
                  <a:lnTo>
                    <a:pt x="234188" y="0"/>
                  </a:lnTo>
                  <a:lnTo>
                    <a:pt x="281369" y="4760"/>
                  </a:lnTo>
                  <a:lnTo>
                    <a:pt x="325322" y="18411"/>
                  </a:lnTo>
                  <a:lnTo>
                    <a:pt x="365101" y="40009"/>
                  </a:lnTo>
                  <a:lnTo>
                    <a:pt x="399764" y="68611"/>
                  </a:lnTo>
                  <a:lnTo>
                    <a:pt x="428366" y="103274"/>
                  </a:lnTo>
                  <a:lnTo>
                    <a:pt x="449964" y="143053"/>
                  </a:lnTo>
                  <a:lnTo>
                    <a:pt x="463615" y="187006"/>
                  </a:lnTo>
                  <a:lnTo>
                    <a:pt x="468375" y="234187"/>
                  </a:lnTo>
                  <a:lnTo>
                    <a:pt x="463615" y="281369"/>
                  </a:lnTo>
                  <a:lnTo>
                    <a:pt x="449964" y="325322"/>
                  </a:lnTo>
                  <a:lnTo>
                    <a:pt x="428366" y="365101"/>
                  </a:lnTo>
                  <a:lnTo>
                    <a:pt x="399764" y="399764"/>
                  </a:lnTo>
                  <a:lnTo>
                    <a:pt x="365101" y="428366"/>
                  </a:lnTo>
                  <a:lnTo>
                    <a:pt x="325322" y="449964"/>
                  </a:lnTo>
                  <a:lnTo>
                    <a:pt x="281369" y="463615"/>
                  </a:lnTo>
                  <a:lnTo>
                    <a:pt x="234188" y="468375"/>
                  </a:lnTo>
                  <a:lnTo>
                    <a:pt x="187006" y="463615"/>
                  </a:lnTo>
                  <a:lnTo>
                    <a:pt x="143053" y="449964"/>
                  </a:lnTo>
                  <a:lnTo>
                    <a:pt x="103274" y="428366"/>
                  </a:lnTo>
                  <a:lnTo>
                    <a:pt x="68611" y="399764"/>
                  </a:lnTo>
                  <a:lnTo>
                    <a:pt x="40009" y="365101"/>
                  </a:lnTo>
                  <a:lnTo>
                    <a:pt x="18411" y="325322"/>
                  </a:lnTo>
                  <a:lnTo>
                    <a:pt x="4760" y="281369"/>
                  </a:lnTo>
                  <a:lnTo>
                    <a:pt x="0" y="234187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1130153" y="2041016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0545127" y="3017329"/>
            <a:ext cx="497205" cy="497205"/>
            <a:chOff x="10545127" y="3017329"/>
            <a:chExt cx="497205" cy="497205"/>
          </a:xfrm>
        </p:grpSpPr>
        <p:sp>
          <p:nvSpPr>
            <p:cNvPr id="27" name="object 27"/>
            <p:cNvSpPr/>
            <p:nvPr/>
          </p:nvSpPr>
          <p:spPr>
            <a:xfrm>
              <a:off x="10559415" y="3031617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29">
                  <a:moveTo>
                    <a:pt x="234187" y="0"/>
                  </a:moveTo>
                  <a:lnTo>
                    <a:pt x="187006" y="4760"/>
                  </a:lnTo>
                  <a:lnTo>
                    <a:pt x="143053" y="18411"/>
                  </a:lnTo>
                  <a:lnTo>
                    <a:pt x="103274" y="40009"/>
                  </a:lnTo>
                  <a:lnTo>
                    <a:pt x="68611" y="68611"/>
                  </a:lnTo>
                  <a:lnTo>
                    <a:pt x="40009" y="103274"/>
                  </a:lnTo>
                  <a:lnTo>
                    <a:pt x="18411" y="143053"/>
                  </a:lnTo>
                  <a:lnTo>
                    <a:pt x="4760" y="187006"/>
                  </a:lnTo>
                  <a:lnTo>
                    <a:pt x="0" y="234187"/>
                  </a:lnTo>
                  <a:lnTo>
                    <a:pt x="4760" y="281369"/>
                  </a:lnTo>
                  <a:lnTo>
                    <a:pt x="18411" y="325322"/>
                  </a:lnTo>
                  <a:lnTo>
                    <a:pt x="40009" y="365101"/>
                  </a:lnTo>
                  <a:lnTo>
                    <a:pt x="68611" y="399764"/>
                  </a:lnTo>
                  <a:lnTo>
                    <a:pt x="103274" y="428366"/>
                  </a:lnTo>
                  <a:lnTo>
                    <a:pt x="143053" y="449964"/>
                  </a:lnTo>
                  <a:lnTo>
                    <a:pt x="187006" y="463615"/>
                  </a:lnTo>
                  <a:lnTo>
                    <a:pt x="234187" y="468375"/>
                  </a:lnTo>
                  <a:lnTo>
                    <a:pt x="281369" y="463615"/>
                  </a:lnTo>
                  <a:lnTo>
                    <a:pt x="325322" y="449964"/>
                  </a:lnTo>
                  <a:lnTo>
                    <a:pt x="365101" y="428366"/>
                  </a:lnTo>
                  <a:lnTo>
                    <a:pt x="399764" y="399764"/>
                  </a:lnTo>
                  <a:lnTo>
                    <a:pt x="428366" y="365101"/>
                  </a:lnTo>
                  <a:lnTo>
                    <a:pt x="449964" y="325322"/>
                  </a:lnTo>
                  <a:lnTo>
                    <a:pt x="463615" y="281369"/>
                  </a:lnTo>
                  <a:lnTo>
                    <a:pt x="468375" y="234187"/>
                  </a:lnTo>
                  <a:lnTo>
                    <a:pt x="463615" y="187006"/>
                  </a:lnTo>
                  <a:lnTo>
                    <a:pt x="449964" y="143053"/>
                  </a:lnTo>
                  <a:lnTo>
                    <a:pt x="428366" y="103274"/>
                  </a:lnTo>
                  <a:lnTo>
                    <a:pt x="399764" y="68611"/>
                  </a:lnTo>
                  <a:lnTo>
                    <a:pt x="365101" y="40009"/>
                  </a:lnTo>
                  <a:lnTo>
                    <a:pt x="325322" y="18411"/>
                  </a:lnTo>
                  <a:lnTo>
                    <a:pt x="281369" y="4760"/>
                  </a:lnTo>
                  <a:lnTo>
                    <a:pt x="234187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559415" y="3031617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29">
                  <a:moveTo>
                    <a:pt x="0" y="234187"/>
                  </a:moveTo>
                  <a:lnTo>
                    <a:pt x="4760" y="187006"/>
                  </a:lnTo>
                  <a:lnTo>
                    <a:pt x="18411" y="143053"/>
                  </a:lnTo>
                  <a:lnTo>
                    <a:pt x="40009" y="103274"/>
                  </a:lnTo>
                  <a:lnTo>
                    <a:pt x="68611" y="68611"/>
                  </a:lnTo>
                  <a:lnTo>
                    <a:pt x="103274" y="40009"/>
                  </a:lnTo>
                  <a:lnTo>
                    <a:pt x="143053" y="18411"/>
                  </a:lnTo>
                  <a:lnTo>
                    <a:pt x="187006" y="4760"/>
                  </a:lnTo>
                  <a:lnTo>
                    <a:pt x="234187" y="0"/>
                  </a:lnTo>
                  <a:lnTo>
                    <a:pt x="281369" y="4760"/>
                  </a:lnTo>
                  <a:lnTo>
                    <a:pt x="325322" y="18411"/>
                  </a:lnTo>
                  <a:lnTo>
                    <a:pt x="365101" y="40009"/>
                  </a:lnTo>
                  <a:lnTo>
                    <a:pt x="399764" y="68611"/>
                  </a:lnTo>
                  <a:lnTo>
                    <a:pt x="428366" y="103274"/>
                  </a:lnTo>
                  <a:lnTo>
                    <a:pt x="449964" y="143053"/>
                  </a:lnTo>
                  <a:lnTo>
                    <a:pt x="463615" y="187006"/>
                  </a:lnTo>
                  <a:lnTo>
                    <a:pt x="468375" y="234187"/>
                  </a:lnTo>
                  <a:lnTo>
                    <a:pt x="463615" y="281369"/>
                  </a:lnTo>
                  <a:lnTo>
                    <a:pt x="449964" y="325322"/>
                  </a:lnTo>
                  <a:lnTo>
                    <a:pt x="428366" y="365101"/>
                  </a:lnTo>
                  <a:lnTo>
                    <a:pt x="399764" y="399764"/>
                  </a:lnTo>
                  <a:lnTo>
                    <a:pt x="365101" y="428366"/>
                  </a:lnTo>
                  <a:lnTo>
                    <a:pt x="325322" y="449964"/>
                  </a:lnTo>
                  <a:lnTo>
                    <a:pt x="281369" y="463615"/>
                  </a:lnTo>
                  <a:lnTo>
                    <a:pt x="234187" y="468375"/>
                  </a:lnTo>
                  <a:lnTo>
                    <a:pt x="187006" y="463615"/>
                  </a:lnTo>
                  <a:lnTo>
                    <a:pt x="143053" y="449964"/>
                  </a:lnTo>
                  <a:lnTo>
                    <a:pt x="103274" y="428366"/>
                  </a:lnTo>
                  <a:lnTo>
                    <a:pt x="68611" y="399764"/>
                  </a:lnTo>
                  <a:lnTo>
                    <a:pt x="40009" y="365101"/>
                  </a:lnTo>
                  <a:lnTo>
                    <a:pt x="18411" y="325322"/>
                  </a:lnTo>
                  <a:lnTo>
                    <a:pt x="4760" y="281369"/>
                  </a:lnTo>
                  <a:lnTo>
                    <a:pt x="0" y="234187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0672318" y="3060572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G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954323" y="915479"/>
            <a:ext cx="1185545" cy="2148840"/>
            <a:chOff x="9954323" y="915479"/>
            <a:chExt cx="1185545" cy="2148840"/>
          </a:xfrm>
        </p:grpSpPr>
        <p:sp>
          <p:nvSpPr>
            <p:cNvPr id="31" name="object 31"/>
            <p:cNvSpPr/>
            <p:nvPr/>
          </p:nvSpPr>
          <p:spPr>
            <a:xfrm>
              <a:off x="10828400" y="2446527"/>
              <a:ext cx="297180" cy="603250"/>
            </a:xfrm>
            <a:custGeom>
              <a:avLst/>
              <a:gdLst/>
              <a:ahLst/>
              <a:cxnLst/>
              <a:rect l="l" t="t" r="r" b="b"/>
              <a:pathLst>
                <a:path w="297179" h="603250">
                  <a:moveTo>
                    <a:pt x="296799" y="0"/>
                  </a:moveTo>
                  <a:lnTo>
                    <a:pt x="0" y="603250"/>
                  </a:lnTo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968610" y="929766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234061" y="0"/>
                  </a:moveTo>
                  <a:lnTo>
                    <a:pt x="186884" y="4760"/>
                  </a:lnTo>
                  <a:lnTo>
                    <a:pt x="142946" y="18411"/>
                  </a:lnTo>
                  <a:lnTo>
                    <a:pt x="103187" y="40009"/>
                  </a:lnTo>
                  <a:lnTo>
                    <a:pt x="68548" y="68611"/>
                  </a:lnTo>
                  <a:lnTo>
                    <a:pt x="39969" y="103274"/>
                  </a:lnTo>
                  <a:lnTo>
                    <a:pt x="18391" y="143053"/>
                  </a:lnTo>
                  <a:lnTo>
                    <a:pt x="4754" y="187006"/>
                  </a:lnTo>
                  <a:lnTo>
                    <a:pt x="0" y="234187"/>
                  </a:lnTo>
                  <a:lnTo>
                    <a:pt x="4754" y="281369"/>
                  </a:lnTo>
                  <a:lnTo>
                    <a:pt x="18391" y="325322"/>
                  </a:lnTo>
                  <a:lnTo>
                    <a:pt x="39969" y="365101"/>
                  </a:lnTo>
                  <a:lnTo>
                    <a:pt x="68548" y="399764"/>
                  </a:lnTo>
                  <a:lnTo>
                    <a:pt x="103187" y="428366"/>
                  </a:lnTo>
                  <a:lnTo>
                    <a:pt x="142946" y="449964"/>
                  </a:lnTo>
                  <a:lnTo>
                    <a:pt x="186884" y="463615"/>
                  </a:lnTo>
                  <a:lnTo>
                    <a:pt x="234061" y="468375"/>
                  </a:lnTo>
                  <a:lnTo>
                    <a:pt x="281279" y="463615"/>
                  </a:lnTo>
                  <a:lnTo>
                    <a:pt x="325248" y="449964"/>
                  </a:lnTo>
                  <a:lnTo>
                    <a:pt x="365030" y="428366"/>
                  </a:lnTo>
                  <a:lnTo>
                    <a:pt x="399684" y="399764"/>
                  </a:lnTo>
                  <a:lnTo>
                    <a:pt x="428273" y="365101"/>
                  </a:lnTo>
                  <a:lnTo>
                    <a:pt x="449855" y="325322"/>
                  </a:lnTo>
                  <a:lnTo>
                    <a:pt x="463494" y="281369"/>
                  </a:lnTo>
                  <a:lnTo>
                    <a:pt x="468249" y="234187"/>
                  </a:lnTo>
                  <a:lnTo>
                    <a:pt x="463494" y="187006"/>
                  </a:lnTo>
                  <a:lnTo>
                    <a:pt x="449855" y="143053"/>
                  </a:lnTo>
                  <a:lnTo>
                    <a:pt x="428273" y="103274"/>
                  </a:lnTo>
                  <a:lnTo>
                    <a:pt x="399684" y="68611"/>
                  </a:lnTo>
                  <a:lnTo>
                    <a:pt x="365030" y="40009"/>
                  </a:lnTo>
                  <a:lnTo>
                    <a:pt x="325248" y="18411"/>
                  </a:lnTo>
                  <a:lnTo>
                    <a:pt x="281279" y="4760"/>
                  </a:lnTo>
                  <a:lnTo>
                    <a:pt x="234061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968610" y="929766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0" y="234187"/>
                  </a:moveTo>
                  <a:lnTo>
                    <a:pt x="4754" y="187006"/>
                  </a:lnTo>
                  <a:lnTo>
                    <a:pt x="18391" y="143053"/>
                  </a:lnTo>
                  <a:lnTo>
                    <a:pt x="39969" y="103274"/>
                  </a:lnTo>
                  <a:lnTo>
                    <a:pt x="68548" y="68611"/>
                  </a:lnTo>
                  <a:lnTo>
                    <a:pt x="103187" y="40009"/>
                  </a:lnTo>
                  <a:lnTo>
                    <a:pt x="142946" y="18411"/>
                  </a:lnTo>
                  <a:lnTo>
                    <a:pt x="186884" y="4760"/>
                  </a:lnTo>
                  <a:lnTo>
                    <a:pt x="234061" y="0"/>
                  </a:lnTo>
                  <a:lnTo>
                    <a:pt x="281279" y="4760"/>
                  </a:lnTo>
                  <a:lnTo>
                    <a:pt x="325248" y="18411"/>
                  </a:lnTo>
                  <a:lnTo>
                    <a:pt x="365030" y="40009"/>
                  </a:lnTo>
                  <a:lnTo>
                    <a:pt x="399684" y="68611"/>
                  </a:lnTo>
                  <a:lnTo>
                    <a:pt x="428273" y="103274"/>
                  </a:lnTo>
                  <a:lnTo>
                    <a:pt x="449855" y="143053"/>
                  </a:lnTo>
                  <a:lnTo>
                    <a:pt x="463494" y="187006"/>
                  </a:lnTo>
                  <a:lnTo>
                    <a:pt x="468249" y="234187"/>
                  </a:lnTo>
                  <a:lnTo>
                    <a:pt x="463494" y="281369"/>
                  </a:lnTo>
                  <a:lnTo>
                    <a:pt x="449855" y="325322"/>
                  </a:lnTo>
                  <a:lnTo>
                    <a:pt x="428273" y="365101"/>
                  </a:lnTo>
                  <a:lnTo>
                    <a:pt x="399684" y="399764"/>
                  </a:lnTo>
                  <a:lnTo>
                    <a:pt x="365030" y="428366"/>
                  </a:lnTo>
                  <a:lnTo>
                    <a:pt x="325248" y="449964"/>
                  </a:lnTo>
                  <a:lnTo>
                    <a:pt x="281279" y="463615"/>
                  </a:lnTo>
                  <a:lnTo>
                    <a:pt x="234061" y="468375"/>
                  </a:lnTo>
                  <a:lnTo>
                    <a:pt x="186884" y="463615"/>
                  </a:lnTo>
                  <a:lnTo>
                    <a:pt x="142946" y="449964"/>
                  </a:lnTo>
                  <a:lnTo>
                    <a:pt x="103187" y="428366"/>
                  </a:lnTo>
                  <a:lnTo>
                    <a:pt x="68548" y="399764"/>
                  </a:lnTo>
                  <a:lnTo>
                    <a:pt x="39969" y="365101"/>
                  </a:lnTo>
                  <a:lnTo>
                    <a:pt x="18391" y="325322"/>
                  </a:lnTo>
                  <a:lnTo>
                    <a:pt x="4754" y="281369"/>
                  </a:lnTo>
                  <a:lnTo>
                    <a:pt x="0" y="234187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0089006" y="957783"/>
            <a:ext cx="2292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714362" y="1026160"/>
            <a:ext cx="10484485" cy="2254250"/>
            <a:chOff x="714362" y="1026160"/>
            <a:chExt cx="10484485" cy="2254250"/>
          </a:xfrm>
        </p:grpSpPr>
        <p:sp>
          <p:nvSpPr>
            <p:cNvPr id="36" name="object 36"/>
            <p:cNvSpPr/>
            <p:nvPr/>
          </p:nvSpPr>
          <p:spPr>
            <a:xfrm>
              <a:off x="9193911" y="1309243"/>
              <a:ext cx="1990725" cy="1740535"/>
            </a:xfrm>
            <a:custGeom>
              <a:avLst/>
              <a:gdLst/>
              <a:ahLst/>
              <a:cxnLst/>
              <a:rect l="l" t="t" r="r" b="b"/>
              <a:pathLst>
                <a:path w="1990725" h="1740535">
                  <a:moveTo>
                    <a:pt x="827913" y="0"/>
                  </a:moveTo>
                  <a:lnTo>
                    <a:pt x="0" y="719963"/>
                  </a:lnTo>
                </a:path>
                <a:path w="1990725" h="1740535">
                  <a:moveTo>
                    <a:pt x="0" y="1089279"/>
                  </a:moveTo>
                  <a:lnTo>
                    <a:pt x="353949" y="1740154"/>
                  </a:lnTo>
                </a:path>
                <a:path w="1990725" h="1740535">
                  <a:moveTo>
                    <a:pt x="1012190" y="91440"/>
                  </a:moveTo>
                  <a:lnTo>
                    <a:pt x="1012190" y="681990"/>
                  </a:lnTo>
                </a:path>
                <a:path w="1990725" h="1740535">
                  <a:moveTo>
                    <a:pt x="1990471" y="725551"/>
                  </a:moveTo>
                  <a:lnTo>
                    <a:pt x="1198499" y="5587"/>
                  </a:lnTo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60653" y="1026160"/>
              <a:ext cx="386080" cy="387985"/>
            </a:xfrm>
            <a:custGeom>
              <a:avLst/>
              <a:gdLst/>
              <a:ahLst/>
              <a:cxnLst/>
              <a:rect l="l" t="t" r="r" b="b"/>
              <a:pathLst>
                <a:path w="386080" h="387984">
                  <a:moveTo>
                    <a:pt x="216966" y="385699"/>
                  </a:moveTo>
                  <a:lnTo>
                    <a:pt x="208191" y="385699"/>
                  </a:lnTo>
                  <a:lnTo>
                    <a:pt x="210388" y="387985"/>
                  </a:lnTo>
                  <a:lnTo>
                    <a:pt x="214769" y="387985"/>
                  </a:lnTo>
                  <a:lnTo>
                    <a:pt x="216966" y="385699"/>
                  </a:lnTo>
                  <a:close/>
                </a:path>
                <a:path w="386080" h="387984">
                  <a:moveTo>
                    <a:pt x="109575" y="123443"/>
                  </a:moveTo>
                  <a:lnTo>
                    <a:pt x="51774" y="134715"/>
                  </a:lnTo>
                  <a:lnTo>
                    <a:pt x="2184" y="167512"/>
                  </a:lnTo>
                  <a:lnTo>
                    <a:pt x="0" y="171957"/>
                  </a:lnTo>
                  <a:lnTo>
                    <a:pt x="0" y="176402"/>
                  </a:lnTo>
                  <a:lnTo>
                    <a:pt x="2184" y="180720"/>
                  </a:lnTo>
                  <a:lnTo>
                    <a:pt x="206006" y="385699"/>
                  </a:lnTo>
                  <a:lnTo>
                    <a:pt x="219151" y="385699"/>
                  </a:lnTo>
                  <a:lnTo>
                    <a:pt x="242884" y="353014"/>
                  </a:lnTo>
                  <a:lnTo>
                    <a:pt x="257781" y="315769"/>
                  </a:lnTo>
                  <a:lnTo>
                    <a:pt x="263224" y="276024"/>
                  </a:lnTo>
                  <a:lnTo>
                    <a:pt x="258597" y="235838"/>
                  </a:lnTo>
                  <a:lnTo>
                    <a:pt x="317779" y="176402"/>
                  </a:lnTo>
                  <a:lnTo>
                    <a:pt x="352195" y="176402"/>
                  </a:lnTo>
                  <a:lnTo>
                    <a:pt x="381330" y="145541"/>
                  </a:lnTo>
                  <a:lnTo>
                    <a:pt x="383527" y="143255"/>
                  </a:lnTo>
                  <a:lnTo>
                    <a:pt x="385711" y="141097"/>
                  </a:lnTo>
                  <a:lnTo>
                    <a:pt x="385711" y="136651"/>
                  </a:lnTo>
                  <a:lnTo>
                    <a:pt x="383527" y="134492"/>
                  </a:lnTo>
                  <a:lnTo>
                    <a:pt x="381330" y="134492"/>
                  </a:lnTo>
                  <a:lnTo>
                    <a:pt x="374764" y="127888"/>
                  </a:lnTo>
                  <a:lnTo>
                    <a:pt x="151218" y="127888"/>
                  </a:lnTo>
                  <a:lnTo>
                    <a:pt x="141318" y="126230"/>
                  </a:lnTo>
                  <a:lnTo>
                    <a:pt x="131216" y="124809"/>
                  </a:lnTo>
                  <a:lnTo>
                    <a:pt x="120704" y="123817"/>
                  </a:lnTo>
                  <a:lnTo>
                    <a:pt x="109575" y="123443"/>
                  </a:lnTo>
                  <a:close/>
                </a:path>
                <a:path w="386080" h="387984">
                  <a:moveTo>
                    <a:pt x="352195" y="176402"/>
                  </a:moveTo>
                  <a:lnTo>
                    <a:pt x="317779" y="176402"/>
                  </a:lnTo>
                  <a:lnTo>
                    <a:pt x="328726" y="187325"/>
                  </a:lnTo>
                  <a:lnTo>
                    <a:pt x="333120" y="189611"/>
                  </a:lnTo>
                  <a:lnTo>
                    <a:pt x="337502" y="189611"/>
                  </a:lnTo>
                  <a:lnTo>
                    <a:pt x="341883" y="187325"/>
                  </a:lnTo>
                  <a:lnTo>
                    <a:pt x="352195" y="176402"/>
                  </a:lnTo>
                  <a:close/>
                </a:path>
                <a:path w="386080" h="387984">
                  <a:moveTo>
                    <a:pt x="249834" y="0"/>
                  </a:moveTo>
                  <a:lnTo>
                    <a:pt x="243255" y="0"/>
                  </a:lnTo>
                  <a:lnTo>
                    <a:pt x="241071" y="4444"/>
                  </a:lnTo>
                  <a:lnTo>
                    <a:pt x="199428" y="44068"/>
                  </a:lnTo>
                  <a:lnTo>
                    <a:pt x="197243" y="46227"/>
                  </a:lnTo>
                  <a:lnTo>
                    <a:pt x="197243" y="55117"/>
                  </a:lnTo>
                  <a:lnTo>
                    <a:pt x="199428" y="57276"/>
                  </a:lnTo>
                  <a:lnTo>
                    <a:pt x="210388" y="68325"/>
                  </a:lnTo>
                  <a:lnTo>
                    <a:pt x="151218" y="127888"/>
                  </a:lnTo>
                  <a:lnTo>
                    <a:pt x="374764" y="127888"/>
                  </a:lnTo>
                  <a:lnTo>
                    <a:pt x="252031" y="4444"/>
                  </a:lnTo>
                  <a:lnTo>
                    <a:pt x="249834" y="0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4362" y="1288034"/>
              <a:ext cx="170903" cy="170179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8605900" y="2246630"/>
              <a:ext cx="2398395" cy="1019175"/>
            </a:xfrm>
            <a:custGeom>
              <a:avLst/>
              <a:gdLst/>
              <a:ahLst/>
              <a:cxnLst/>
              <a:rect l="l" t="t" r="r" b="b"/>
              <a:pathLst>
                <a:path w="2398395" h="1019175">
                  <a:moveTo>
                    <a:pt x="699134" y="0"/>
                  </a:moveTo>
                  <a:lnTo>
                    <a:pt x="1347724" y="0"/>
                  </a:lnTo>
                </a:path>
                <a:path w="2398395" h="1019175">
                  <a:moveTo>
                    <a:pt x="1857502" y="0"/>
                  </a:moveTo>
                  <a:lnTo>
                    <a:pt x="2397887" y="0"/>
                  </a:lnTo>
                </a:path>
                <a:path w="2398395" h="1019175">
                  <a:moveTo>
                    <a:pt x="0" y="1019175"/>
                  </a:moveTo>
                  <a:lnTo>
                    <a:pt x="832612" y="1019175"/>
                  </a:lnTo>
                </a:path>
              </a:pathLst>
            </a:custGeom>
            <a:ln w="28575">
              <a:solidFill>
                <a:srgbClr val="B42C2C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118310" y="1025739"/>
            <a:ext cx="6749910" cy="41363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432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404040"/>
                </a:solidFill>
                <a:latin typeface="微软雅黑"/>
                <a:cs typeface="微软雅黑"/>
              </a:rPr>
              <a:t>将一棵树转换为二叉树的方法是</a:t>
            </a:r>
            <a:endParaRPr sz="3200" dirty="0">
              <a:latin typeface="微软雅黑"/>
              <a:cs typeface="微软雅黑"/>
            </a:endParaRPr>
          </a:p>
          <a:p>
            <a:pPr marL="800735" indent="-788670">
              <a:lnSpc>
                <a:spcPct val="100000"/>
              </a:lnSpc>
              <a:spcBef>
                <a:spcPts val="1975"/>
              </a:spcBef>
              <a:buClr>
                <a:srgbClr val="404040"/>
              </a:buClr>
              <a:buSzPct val="95833"/>
              <a:buAutoNum type="arabicPlain"/>
              <a:tabLst>
                <a:tab pos="801370" algn="l"/>
              </a:tabLst>
            </a:pPr>
            <a:r>
              <a:rPr sz="2800" b="1" dirty="0">
                <a:solidFill>
                  <a:srgbClr val="FF0000"/>
                </a:solidFill>
                <a:latin typeface="微软雅黑"/>
                <a:cs typeface="微软雅黑"/>
              </a:rPr>
              <a:t>加线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—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—树中所有相邻兄弟之间加一条连线</a:t>
            </a:r>
            <a:endParaRPr sz="2800" dirty="0">
              <a:latin typeface="微软雅黑"/>
              <a:cs typeface="微软雅黑"/>
            </a:endParaRPr>
          </a:p>
          <a:p>
            <a:pPr marL="12700" marR="5080" algn="just">
              <a:lnSpc>
                <a:spcPct val="100000"/>
              </a:lnSpc>
              <a:spcBef>
                <a:spcPts val="1445"/>
              </a:spcBef>
              <a:buClr>
                <a:srgbClr val="404040"/>
              </a:buClr>
              <a:buSzPct val="95833"/>
              <a:buAutoNum type="arabicPlain"/>
              <a:tabLst>
                <a:tab pos="802005" algn="l"/>
              </a:tabLst>
            </a:pPr>
            <a:r>
              <a:rPr lang="en-US" altLang="zh-CN" sz="2800" spc="-5" dirty="0">
                <a:solidFill>
                  <a:srgbClr val="285A31"/>
                </a:solidFill>
                <a:latin typeface="微软雅黑"/>
                <a:cs typeface="微软雅黑"/>
              </a:rPr>
              <a:t>     </a:t>
            </a:r>
            <a:r>
              <a:rPr sz="2800" b="1" spc="-5" dirty="0" err="1">
                <a:solidFill>
                  <a:srgbClr val="FF0000"/>
                </a:solidFill>
                <a:latin typeface="微软雅黑"/>
                <a:cs typeface="微软雅黑"/>
              </a:rPr>
              <a:t>去线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——</a:t>
            </a:r>
            <a:r>
              <a:rPr sz="2800" spc="-5" dirty="0" err="1">
                <a:solidFill>
                  <a:srgbClr val="404040"/>
                </a:solidFill>
                <a:latin typeface="微软雅黑"/>
                <a:cs typeface="微软雅黑"/>
              </a:rPr>
              <a:t>对树中的每个结点，只保留它与第</a:t>
            </a:r>
            <a:r>
              <a:rPr sz="2800" dirty="0" err="1">
                <a:solidFill>
                  <a:srgbClr val="404040"/>
                </a:solidFill>
                <a:latin typeface="微软雅黑"/>
                <a:cs typeface="微软雅黑"/>
              </a:rPr>
              <a:t>一个孩子结点之间的连线，删去它与其它孩子结点之间的连线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。</a:t>
            </a:r>
            <a:endParaRPr sz="2800" dirty="0">
              <a:latin typeface="微软雅黑"/>
              <a:cs typeface="微软雅黑"/>
            </a:endParaRPr>
          </a:p>
          <a:p>
            <a:pPr marL="12700" marR="82550">
              <a:lnSpc>
                <a:spcPct val="100000"/>
              </a:lnSpc>
              <a:spcBef>
                <a:spcPts val="1440"/>
              </a:spcBef>
              <a:buClr>
                <a:srgbClr val="404040"/>
              </a:buClr>
              <a:buSzPct val="95833"/>
              <a:buAutoNum type="arabicPlain"/>
              <a:tabLst>
                <a:tab pos="801370" algn="l"/>
              </a:tabLst>
            </a:pPr>
            <a:r>
              <a:rPr lang="en-US" altLang="zh-CN" sz="2800" dirty="0">
                <a:solidFill>
                  <a:srgbClr val="285A31"/>
                </a:solidFill>
                <a:latin typeface="微软雅黑"/>
                <a:cs typeface="微软雅黑"/>
              </a:rPr>
              <a:t>     </a:t>
            </a:r>
            <a:r>
              <a:rPr sz="2800" b="1" dirty="0" err="1">
                <a:solidFill>
                  <a:srgbClr val="FF0000"/>
                </a:solidFill>
                <a:latin typeface="微软雅黑"/>
                <a:cs typeface="微软雅黑"/>
              </a:rPr>
              <a:t>层次调整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——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以根结点为轴心，将树顺时针 转动一定的角度，使之层次分明。</a:t>
            </a:r>
            <a:endParaRPr sz="2800" dirty="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5642242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48643" y="2017267"/>
            <a:ext cx="152400" cy="25355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algn="just">
              <a:lnSpc>
                <a:spcPts val="1000"/>
              </a:lnSpc>
              <a:spcBef>
                <a:spcPts val="2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数 据 结 构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880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（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从 概 念 到 实 现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975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640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清 华 大 学 出 版 社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42925" y="100964"/>
            <a:ext cx="3240405" cy="540385"/>
          </a:xfrm>
          <a:custGeom>
            <a:avLst/>
            <a:gdLst/>
            <a:ahLst/>
            <a:cxnLst/>
            <a:rect l="l" t="t" r="r" b="b"/>
            <a:pathLst>
              <a:path w="3240404" h="540385">
                <a:moveTo>
                  <a:pt x="3149980" y="0"/>
                </a:moveTo>
                <a:lnTo>
                  <a:pt x="90004" y="0"/>
                </a:lnTo>
                <a:lnTo>
                  <a:pt x="54971" y="7068"/>
                </a:lnTo>
                <a:lnTo>
                  <a:pt x="26362" y="26352"/>
                </a:lnTo>
                <a:lnTo>
                  <a:pt x="7073" y="54971"/>
                </a:lnTo>
                <a:lnTo>
                  <a:pt x="0" y="90042"/>
                </a:lnTo>
                <a:lnTo>
                  <a:pt x="0" y="449960"/>
                </a:lnTo>
                <a:lnTo>
                  <a:pt x="7073" y="485032"/>
                </a:lnTo>
                <a:lnTo>
                  <a:pt x="26362" y="513651"/>
                </a:lnTo>
                <a:lnTo>
                  <a:pt x="54971" y="532935"/>
                </a:lnTo>
                <a:lnTo>
                  <a:pt x="90004" y="540003"/>
                </a:lnTo>
                <a:lnTo>
                  <a:pt x="3149980" y="540003"/>
                </a:lnTo>
                <a:lnTo>
                  <a:pt x="3185052" y="532935"/>
                </a:lnTo>
                <a:lnTo>
                  <a:pt x="3213671" y="513651"/>
                </a:lnTo>
                <a:lnTo>
                  <a:pt x="3232955" y="485032"/>
                </a:lnTo>
                <a:lnTo>
                  <a:pt x="3240024" y="449960"/>
                </a:lnTo>
                <a:lnTo>
                  <a:pt x="3240024" y="90042"/>
                </a:lnTo>
                <a:lnTo>
                  <a:pt x="3232955" y="54971"/>
                </a:lnTo>
                <a:lnTo>
                  <a:pt x="3213671" y="26352"/>
                </a:lnTo>
                <a:lnTo>
                  <a:pt x="3185052" y="7068"/>
                </a:lnTo>
                <a:lnTo>
                  <a:pt x="3149980" y="0"/>
                </a:lnTo>
                <a:close/>
              </a:path>
            </a:pathLst>
          </a:custGeom>
          <a:solidFill>
            <a:srgbClr val="5A31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6991" y="141809"/>
            <a:ext cx="287909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solidFill>
                  <a:schemeClr val="bg1"/>
                </a:solidFill>
              </a:rPr>
              <a:t>树转</a:t>
            </a:r>
            <a:r>
              <a:rPr sz="2800" spc="-10" dirty="0">
                <a:solidFill>
                  <a:schemeClr val="bg1"/>
                </a:solidFill>
              </a:rPr>
              <a:t>换</a:t>
            </a:r>
            <a:r>
              <a:rPr sz="2800" spc="-5" dirty="0">
                <a:solidFill>
                  <a:schemeClr val="bg1"/>
                </a:solidFill>
              </a:rPr>
              <a:t>为二</a:t>
            </a:r>
            <a:r>
              <a:rPr sz="2800" spc="-10" dirty="0">
                <a:solidFill>
                  <a:schemeClr val="bg1"/>
                </a:solidFill>
              </a:rPr>
              <a:t>叉树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8786621" y="1102296"/>
            <a:ext cx="1579245" cy="3910965"/>
            <a:chOff x="8786621" y="1102296"/>
            <a:chExt cx="1579245" cy="3910965"/>
          </a:xfrm>
        </p:grpSpPr>
        <p:sp>
          <p:nvSpPr>
            <p:cNvPr id="6" name="object 6"/>
            <p:cNvSpPr/>
            <p:nvPr/>
          </p:nvSpPr>
          <p:spPr>
            <a:xfrm>
              <a:off x="8805671" y="1453133"/>
              <a:ext cx="1437005" cy="3540760"/>
            </a:xfrm>
            <a:custGeom>
              <a:avLst/>
              <a:gdLst/>
              <a:ahLst/>
              <a:cxnLst/>
              <a:rect l="l" t="t" r="r" b="b"/>
              <a:pathLst>
                <a:path w="1437004" h="3540760">
                  <a:moveTo>
                    <a:pt x="1133475" y="0"/>
                  </a:moveTo>
                  <a:lnTo>
                    <a:pt x="622300" y="540003"/>
                  </a:lnTo>
                </a:path>
                <a:path w="1437004" h="3540760">
                  <a:moveTo>
                    <a:pt x="360045" y="880744"/>
                  </a:moveTo>
                  <a:lnTo>
                    <a:pt x="0" y="1528699"/>
                  </a:lnTo>
                </a:path>
                <a:path w="1437004" h="3540760">
                  <a:moveTo>
                    <a:pt x="44830" y="1945639"/>
                  </a:moveTo>
                  <a:lnTo>
                    <a:pt x="360045" y="2506726"/>
                  </a:lnTo>
                </a:path>
                <a:path w="1437004" h="3540760">
                  <a:moveTo>
                    <a:pt x="1436751" y="2892552"/>
                  </a:moveTo>
                  <a:lnTo>
                    <a:pt x="1148714" y="3540632"/>
                  </a:lnTo>
                </a:path>
                <a:path w="1437004" h="3540760">
                  <a:moveTo>
                    <a:pt x="1148714" y="1880869"/>
                  </a:moveTo>
                  <a:lnTo>
                    <a:pt x="1436751" y="2506726"/>
                  </a:lnTo>
                </a:path>
              </a:pathLst>
            </a:custGeom>
            <a:ln w="38100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919461" y="1116583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8" y="166471"/>
                  </a:lnTo>
                  <a:lnTo>
                    <a:pt x="21966" y="120992"/>
                  </a:lnTo>
                  <a:lnTo>
                    <a:pt x="47476" y="80883"/>
                  </a:lnTo>
                  <a:lnTo>
                    <a:pt x="80936" y="47436"/>
                  </a:lnTo>
                  <a:lnTo>
                    <a:pt x="121048" y="21944"/>
                  </a:lnTo>
                  <a:lnTo>
                    <a:pt x="166511" y="5701"/>
                  </a:lnTo>
                  <a:lnTo>
                    <a:pt x="216027" y="0"/>
                  </a:lnTo>
                  <a:lnTo>
                    <a:pt x="265542" y="5701"/>
                  </a:lnTo>
                  <a:lnTo>
                    <a:pt x="311005" y="21944"/>
                  </a:lnTo>
                  <a:lnTo>
                    <a:pt x="351117" y="47436"/>
                  </a:lnTo>
                  <a:lnTo>
                    <a:pt x="384577" y="80883"/>
                  </a:lnTo>
                  <a:lnTo>
                    <a:pt x="410087" y="120992"/>
                  </a:lnTo>
                  <a:lnTo>
                    <a:pt x="426345" y="166471"/>
                  </a:lnTo>
                  <a:lnTo>
                    <a:pt x="432054" y="216026"/>
                  </a:lnTo>
                  <a:lnTo>
                    <a:pt x="426345" y="265535"/>
                  </a:lnTo>
                  <a:lnTo>
                    <a:pt x="410087" y="310980"/>
                  </a:lnTo>
                  <a:lnTo>
                    <a:pt x="384577" y="351067"/>
                  </a:lnTo>
                  <a:lnTo>
                    <a:pt x="351117" y="384500"/>
                  </a:lnTo>
                  <a:lnTo>
                    <a:pt x="311005" y="409985"/>
                  </a:lnTo>
                  <a:lnTo>
                    <a:pt x="265542" y="426225"/>
                  </a:lnTo>
                  <a:lnTo>
                    <a:pt x="216027" y="431926"/>
                  </a:lnTo>
                  <a:lnTo>
                    <a:pt x="166511" y="426225"/>
                  </a:lnTo>
                  <a:lnTo>
                    <a:pt x="121048" y="409985"/>
                  </a:lnTo>
                  <a:lnTo>
                    <a:pt x="80936" y="384500"/>
                  </a:lnTo>
                  <a:lnTo>
                    <a:pt x="47476" y="351067"/>
                  </a:lnTo>
                  <a:lnTo>
                    <a:pt x="21966" y="310980"/>
                  </a:lnTo>
                  <a:lnTo>
                    <a:pt x="5708" y="265535"/>
                  </a:lnTo>
                  <a:lnTo>
                    <a:pt x="0" y="216026"/>
                  </a:lnTo>
                  <a:close/>
                </a:path>
              </a:pathLst>
            </a:custGeom>
            <a:ln w="28575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031094" y="1108075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621646" y="2987039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5">
                <a:moveTo>
                  <a:pt x="0" y="216026"/>
                </a:moveTo>
                <a:lnTo>
                  <a:pt x="5708" y="166471"/>
                </a:lnTo>
                <a:lnTo>
                  <a:pt x="21966" y="120992"/>
                </a:lnTo>
                <a:lnTo>
                  <a:pt x="47476" y="80883"/>
                </a:lnTo>
                <a:lnTo>
                  <a:pt x="80936" y="47436"/>
                </a:lnTo>
                <a:lnTo>
                  <a:pt x="121048" y="21944"/>
                </a:lnTo>
                <a:lnTo>
                  <a:pt x="166511" y="5701"/>
                </a:lnTo>
                <a:lnTo>
                  <a:pt x="216026" y="0"/>
                </a:lnTo>
                <a:lnTo>
                  <a:pt x="265542" y="5701"/>
                </a:lnTo>
                <a:lnTo>
                  <a:pt x="311005" y="21944"/>
                </a:lnTo>
                <a:lnTo>
                  <a:pt x="351117" y="47436"/>
                </a:lnTo>
                <a:lnTo>
                  <a:pt x="384577" y="80883"/>
                </a:lnTo>
                <a:lnTo>
                  <a:pt x="410087" y="120992"/>
                </a:lnTo>
                <a:lnTo>
                  <a:pt x="426345" y="166471"/>
                </a:lnTo>
                <a:lnTo>
                  <a:pt x="432053" y="216026"/>
                </a:lnTo>
                <a:lnTo>
                  <a:pt x="426345" y="265535"/>
                </a:lnTo>
                <a:lnTo>
                  <a:pt x="410087" y="310980"/>
                </a:lnTo>
                <a:lnTo>
                  <a:pt x="384577" y="351067"/>
                </a:lnTo>
                <a:lnTo>
                  <a:pt x="351117" y="384500"/>
                </a:lnTo>
                <a:lnTo>
                  <a:pt x="311005" y="409985"/>
                </a:lnTo>
                <a:lnTo>
                  <a:pt x="265542" y="426225"/>
                </a:lnTo>
                <a:lnTo>
                  <a:pt x="216026" y="431926"/>
                </a:lnTo>
                <a:lnTo>
                  <a:pt x="166511" y="426225"/>
                </a:lnTo>
                <a:lnTo>
                  <a:pt x="121048" y="409985"/>
                </a:lnTo>
                <a:lnTo>
                  <a:pt x="80936" y="384500"/>
                </a:lnTo>
                <a:lnTo>
                  <a:pt x="47476" y="351067"/>
                </a:lnTo>
                <a:lnTo>
                  <a:pt x="21966" y="310980"/>
                </a:lnTo>
                <a:lnTo>
                  <a:pt x="5708" y="265535"/>
                </a:lnTo>
                <a:lnTo>
                  <a:pt x="0" y="216026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723881" y="2978607"/>
            <a:ext cx="2292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064117" y="1932813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5">
                <a:moveTo>
                  <a:pt x="0" y="216026"/>
                </a:moveTo>
                <a:lnTo>
                  <a:pt x="5708" y="166511"/>
                </a:lnTo>
                <a:lnTo>
                  <a:pt x="21966" y="121048"/>
                </a:lnTo>
                <a:lnTo>
                  <a:pt x="47476" y="80936"/>
                </a:lnTo>
                <a:lnTo>
                  <a:pt x="80936" y="47476"/>
                </a:lnTo>
                <a:lnTo>
                  <a:pt x="121048" y="21966"/>
                </a:lnTo>
                <a:lnTo>
                  <a:pt x="166511" y="5708"/>
                </a:lnTo>
                <a:lnTo>
                  <a:pt x="216026" y="0"/>
                </a:lnTo>
                <a:lnTo>
                  <a:pt x="265542" y="5708"/>
                </a:lnTo>
                <a:lnTo>
                  <a:pt x="311005" y="21966"/>
                </a:lnTo>
                <a:lnTo>
                  <a:pt x="351117" y="47476"/>
                </a:lnTo>
                <a:lnTo>
                  <a:pt x="384577" y="80936"/>
                </a:lnTo>
                <a:lnTo>
                  <a:pt x="410087" y="121048"/>
                </a:lnTo>
                <a:lnTo>
                  <a:pt x="426345" y="166511"/>
                </a:lnTo>
                <a:lnTo>
                  <a:pt x="432053" y="216026"/>
                </a:lnTo>
                <a:lnTo>
                  <a:pt x="426345" y="265542"/>
                </a:lnTo>
                <a:lnTo>
                  <a:pt x="410087" y="311005"/>
                </a:lnTo>
                <a:lnTo>
                  <a:pt x="384577" y="351117"/>
                </a:lnTo>
                <a:lnTo>
                  <a:pt x="351117" y="384577"/>
                </a:lnTo>
                <a:lnTo>
                  <a:pt x="311005" y="410087"/>
                </a:lnTo>
                <a:lnTo>
                  <a:pt x="265542" y="426345"/>
                </a:lnTo>
                <a:lnTo>
                  <a:pt x="216026" y="432053"/>
                </a:lnTo>
                <a:lnTo>
                  <a:pt x="166511" y="426345"/>
                </a:lnTo>
                <a:lnTo>
                  <a:pt x="121048" y="410087"/>
                </a:lnTo>
                <a:lnTo>
                  <a:pt x="80936" y="384577"/>
                </a:lnTo>
                <a:lnTo>
                  <a:pt x="47476" y="351117"/>
                </a:lnTo>
                <a:lnTo>
                  <a:pt x="21966" y="311005"/>
                </a:lnTo>
                <a:lnTo>
                  <a:pt x="5708" y="265542"/>
                </a:lnTo>
                <a:lnTo>
                  <a:pt x="0" y="216026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175495" y="1924303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571483" y="2987039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5">
                <a:moveTo>
                  <a:pt x="0" y="216026"/>
                </a:moveTo>
                <a:lnTo>
                  <a:pt x="5708" y="166471"/>
                </a:lnTo>
                <a:lnTo>
                  <a:pt x="21966" y="120992"/>
                </a:lnTo>
                <a:lnTo>
                  <a:pt x="47476" y="80883"/>
                </a:lnTo>
                <a:lnTo>
                  <a:pt x="80936" y="47436"/>
                </a:lnTo>
                <a:lnTo>
                  <a:pt x="121048" y="21944"/>
                </a:lnTo>
                <a:lnTo>
                  <a:pt x="166511" y="5701"/>
                </a:lnTo>
                <a:lnTo>
                  <a:pt x="216026" y="0"/>
                </a:lnTo>
                <a:lnTo>
                  <a:pt x="265542" y="5701"/>
                </a:lnTo>
                <a:lnTo>
                  <a:pt x="311005" y="21944"/>
                </a:lnTo>
                <a:lnTo>
                  <a:pt x="351117" y="47436"/>
                </a:lnTo>
                <a:lnTo>
                  <a:pt x="384577" y="80883"/>
                </a:lnTo>
                <a:lnTo>
                  <a:pt x="410087" y="120992"/>
                </a:lnTo>
                <a:lnTo>
                  <a:pt x="426345" y="166471"/>
                </a:lnTo>
                <a:lnTo>
                  <a:pt x="432054" y="216026"/>
                </a:lnTo>
                <a:lnTo>
                  <a:pt x="426345" y="265535"/>
                </a:lnTo>
                <a:lnTo>
                  <a:pt x="410087" y="310980"/>
                </a:lnTo>
                <a:lnTo>
                  <a:pt x="384577" y="351067"/>
                </a:lnTo>
                <a:lnTo>
                  <a:pt x="351117" y="384500"/>
                </a:lnTo>
                <a:lnTo>
                  <a:pt x="311005" y="409985"/>
                </a:lnTo>
                <a:lnTo>
                  <a:pt x="265542" y="426225"/>
                </a:lnTo>
                <a:lnTo>
                  <a:pt x="216026" y="431926"/>
                </a:lnTo>
                <a:lnTo>
                  <a:pt x="166511" y="426225"/>
                </a:lnTo>
                <a:lnTo>
                  <a:pt x="121048" y="409985"/>
                </a:lnTo>
                <a:lnTo>
                  <a:pt x="80936" y="384500"/>
                </a:lnTo>
                <a:lnTo>
                  <a:pt x="47476" y="351067"/>
                </a:lnTo>
                <a:lnTo>
                  <a:pt x="21966" y="310980"/>
                </a:lnTo>
                <a:lnTo>
                  <a:pt x="5708" y="265535"/>
                </a:lnTo>
                <a:lnTo>
                  <a:pt x="0" y="216026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682990" y="2978607"/>
            <a:ext cx="2120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686417" y="4989829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5">
                <a:moveTo>
                  <a:pt x="0" y="215900"/>
                </a:moveTo>
                <a:lnTo>
                  <a:pt x="5708" y="166391"/>
                </a:lnTo>
                <a:lnTo>
                  <a:pt x="21966" y="120946"/>
                </a:lnTo>
                <a:lnTo>
                  <a:pt x="47476" y="80859"/>
                </a:lnTo>
                <a:lnTo>
                  <a:pt x="80936" y="47426"/>
                </a:lnTo>
                <a:lnTo>
                  <a:pt x="121048" y="21941"/>
                </a:lnTo>
                <a:lnTo>
                  <a:pt x="166511" y="5701"/>
                </a:lnTo>
                <a:lnTo>
                  <a:pt x="216026" y="0"/>
                </a:lnTo>
                <a:lnTo>
                  <a:pt x="265542" y="5701"/>
                </a:lnTo>
                <a:lnTo>
                  <a:pt x="311005" y="21941"/>
                </a:lnTo>
                <a:lnTo>
                  <a:pt x="351117" y="47426"/>
                </a:lnTo>
                <a:lnTo>
                  <a:pt x="384577" y="80859"/>
                </a:lnTo>
                <a:lnTo>
                  <a:pt x="410087" y="120946"/>
                </a:lnTo>
                <a:lnTo>
                  <a:pt x="426345" y="166391"/>
                </a:lnTo>
                <a:lnTo>
                  <a:pt x="432053" y="215900"/>
                </a:lnTo>
                <a:lnTo>
                  <a:pt x="426345" y="265455"/>
                </a:lnTo>
                <a:lnTo>
                  <a:pt x="410087" y="310934"/>
                </a:lnTo>
                <a:lnTo>
                  <a:pt x="384577" y="351043"/>
                </a:lnTo>
                <a:lnTo>
                  <a:pt x="351117" y="384490"/>
                </a:lnTo>
                <a:lnTo>
                  <a:pt x="311005" y="409982"/>
                </a:lnTo>
                <a:lnTo>
                  <a:pt x="265542" y="426225"/>
                </a:lnTo>
                <a:lnTo>
                  <a:pt x="216026" y="431927"/>
                </a:lnTo>
                <a:lnTo>
                  <a:pt x="166511" y="426225"/>
                </a:lnTo>
                <a:lnTo>
                  <a:pt x="121048" y="409982"/>
                </a:lnTo>
                <a:lnTo>
                  <a:pt x="80936" y="384490"/>
                </a:lnTo>
                <a:lnTo>
                  <a:pt x="47476" y="351043"/>
                </a:lnTo>
                <a:lnTo>
                  <a:pt x="21966" y="310934"/>
                </a:lnTo>
                <a:lnTo>
                  <a:pt x="5708" y="265455"/>
                </a:lnTo>
                <a:lnTo>
                  <a:pt x="0" y="215900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781158" y="4982083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Times New Roman"/>
                <a:cs typeface="Times New Roman"/>
              </a:rPr>
              <a:t>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105263" y="3959478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5">
                <a:moveTo>
                  <a:pt x="0" y="216027"/>
                </a:moveTo>
                <a:lnTo>
                  <a:pt x="5701" y="166471"/>
                </a:lnTo>
                <a:lnTo>
                  <a:pt x="21941" y="120992"/>
                </a:lnTo>
                <a:lnTo>
                  <a:pt x="47426" y="80883"/>
                </a:lnTo>
                <a:lnTo>
                  <a:pt x="80859" y="47436"/>
                </a:lnTo>
                <a:lnTo>
                  <a:pt x="120946" y="21944"/>
                </a:lnTo>
                <a:lnTo>
                  <a:pt x="166391" y="5701"/>
                </a:lnTo>
                <a:lnTo>
                  <a:pt x="215900" y="0"/>
                </a:lnTo>
                <a:lnTo>
                  <a:pt x="265455" y="5701"/>
                </a:lnTo>
                <a:lnTo>
                  <a:pt x="310934" y="21944"/>
                </a:lnTo>
                <a:lnTo>
                  <a:pt x="351043" y="47436"/>
                </a:lnTo>
                <a:lnTo>
                  <a:pt x="384490" y="80883"/>
                </a:lnTo>
                <a:lnTo>
                  <a:pt x="409982" y="120992"/>
                </a:lnTo>
                <a:lnTo>
                  <a:pt x="426225" y="166471"/>
                </a:lnTo>
                <a:lnTo>
                  <a:pt x="431926" y="216027"/>
                </a:lnTo>
                <a:lnTo>
                  <a:pt x="426225" y="265535"/>
                </a:lnTo>
                <a:lnTo>
                  <a:pt x="409982" y="310980"/>
                </a:lnTo>
                <a:lnTo>
                  <a:pt x="384490" y="351067"/>
                </a:lnTo>
                <a:lnTo>
                  <a:pt x="351043" y="384500"/>
                </a:lnTo>
                <a:lnTo>
                  <a:pt x="310934" y="409985"/>
                </a:lnTo>
                <a:lnTo>
                  <a:pt x="265455" y="426225"/>
                </a:lnTo>
                <a:lnTo>
                  <a:pt x="215900" y="431927"/>
                </a:lnTo>
                <a:lnTo>
                  <a:pt x="166391" y="426225"/>
                </a:lnTo>
                <a:lnTo>
                  <a:pt x="120946" y="409985"/>
                </a:lnTo>
                <a:lnTo>
                  <a:pt x="80859" y="384500"/>
                </a:lnTo>
                <a:lnTo>
                  <a:pt x="47426" y="351067"/>
                </a:lnTo>
                <a:lnTo>
                  <a:pt x="21941" y="310980"/>
                </a:lnTo>
                <a:lnTo>
                  <a:pt x="5701" y="265535"/>
                </a:lnTo>
                <a:lnTo>
                  <a:pt x="0" y="216027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0199878" y="3951478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070847" y="3959478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5">
                <a:moveTo>
                  <a:pt x="0" y="216027"/>
                </a:moveTo>
                <a:lnTo>
                  <a:pt x="5701" y="166471"/>
                </a:lnTo>
                <a:lnTo>
                  <a:pt x="21941" y="120992"/>
                </a:lnTo>
                <a:lnTo>
                  <a:pt x="47426" y="80883"/>
                </a:lnTo>
                <a:lnTo>
                  <a:pt x="80859" y="47436"/>
                </a:lnTo>
                <a:lnTo>
                  <a:pt x="120946" y="21944"/>
                </a:lnTo>
                <a:lnTo>
                  <a:pt x="166391" y="5701"/>
                </a:lnTo>
                <a:lnTo>
                  <a:pt x="215900" y="0"/>
                </a:lnTo>
                <a:lnTo>
                  <a:pt x="265455" y="5701"/>
                </a:lnTo>
                <a:lnTo>
                  <a:pt x="310934" y="21944"/>
                </a:lnTo>
                <a:lnTo>
                  <a:pt x="351043" y="47436"/>
                </a:lnTo>
                <a:lnTo>
                  <a:pt x="384490" y="80883"/>
                </a:lnTo>
                <a:lnTo>
                  <a:pt x="409982" y="120992"/>
                </a:lnTo>
                <a:lnTo>
                  <a:pt x="426225" y="166471"/>
                </a:lnTo>
                <a:lnTo>
                  <a:pt x="431926" y="216027"/>
                </a:lnTo>
                <a:lnTo>
                  <a:pt x="426225" y="265535"/>
                </a:lnTo>
                <a:lnTo>
                  <a:pt x="409982" y="310980"/>
                </a:lnTo>
                <a:lnTo>
                  <a:pt x="384490" y="351067"/>
                </a:lnTo>
                <a:lnTo>
                  <a:pt x="351043" y="384500"/>
                </a:lnTo>
                <a:lnTo>
                  <a:pt x="310934" y="409985"/>
                </a:lnTo>
                <a:lnTo>
                  <a:pt x="265455" y="426225"/>
                </a:lnTo>
                <a:lnTo>
                  <a:pt x="215900" y="431927"/>
                </a:lnTo>
                <a:lnTo>
                  <a:pt x="166391" y="426225"/>
                </a:lnTo>
                <a:lnTo>
                  <a:pt x="120946" y="409985"/>
                </a:lnTo>
                <a:lnTo>
                  <a:pt x="80859" y="384500"/>
                </a:lnTo>
                <a:lnTo>
                  <a:pt x="47426" y="351067"/>
                </a:lnTo>
                <a:lnTo>
                  <a:pt x="21941" y="310980"/>
                </a:lnTo>
                <a:lnTo>
                  <a:pt x="5701" y="265535"/>
                </a:lnTo>
                <a:lnTo>
                  <a:pt x="0" y="216027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182227" y="3951478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400031" y="2331592"/>
            <a:ext cx="360045" cy="648335"/>
          </a:xfrm>
          <a:custGeom>
            <a:avLst/>
            <a:gdLst/>
            <a:ahLst/>
            <a:cxnLst/>
            <a:rect l="l" t="t" r="r" b="b"/>
            <a:pathLst>
              <a:path w="360045" h="648335">
                <a:moveTo>
                  <a:pt x="359918" y="647954"/>
                </a:moveTo>
                <a:lnTo>
                  <a:pt x="0" y="0"/>
                </a:lnTo>
              </a:path>
            </a:pathLst>
          </a:custGeom>
          <a:ln w="38099">
            <a:solidFill>
              <a:srgbClr val="285A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131824" y="972058"/>
            <a:ext cx="6731000" cy="41363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432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404040"/>
                </a:solidFill>
                <a:latin typeface="微软雅黑"/>
                <a:cs typeface="微软雅黑"/>
              </a:rPr>
              <a:t>将一棵树转换为二叉树的方法是</a:t>
            </a:r>
            <a:endParaRPr sz="3200" dirty="0">
              <a:latin typeface="微软雅黑"/>
              <a:cs typeface="微软雅黑"/>
            </a:endParaRPr>
          </a:p>
          <a:p>
            <a:pPr marL="800735" indent="-788670">
              <a:lnSpc>
                <a:spcPct val="100000"/>
              </a:lnSpc>
              <a:spcBef>
                <a:spcPts val="1975"/>
              </a:spcBef>
              <a:buClr>
                <a:srgbClr val="404040"/>
              </a:buClr>
              <a:buSzPct val="95833"/>
              <a:buAutoNum type="arabicPlain"/>
              <a:tabLst>
                <a:tab pos="801370" algn="l"/>
              </a:tabLst>
            </a:pPr>
            <a:r>
              <a:rPr sz="2800" dirty="0">
                <a:solidFill>
                  <a:srgbClr val="FF0000"/>
                </a:solidFill>
                <a:latin typeface="微软雅黑"/>
                <a:cs typeface="微软雅黑"/>
              </a:rPr>
              <a:t>加线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—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—树中所有相邻兄弟之间加一条连线</a:t>
            </a:r>
            <a:endParaRPr sz="2800" dirty="0">
              <a:latin typeface="微软雅黑"/>
              <a:cs typeface="微软雅黑"/>
            </a:endParaRPr>
          </a:p>
          <a:p>
            <a:pPr marL="12700" marR="5080" algn="just">
              <a:lnSpc>
                <a:spcPct val="100000"/>
              </a:lnSpc>
              <a:spcBef>
                <a:spcPts val="1445"/>
              </a:spcBef>
              <a:buClr>
                <a:srgbClr val="404040"/>
              </a:buClr>
              <a:buSzPct val="95833"/>
              <a:buAutoNum type="arabicPlain"/>
              <a:tabLst>
                <a:tab pos="802005" algn="l"/>
              </a:tabLst>
            </a:pPr>
            <a:r>
              <a:rPr lang="en-US" altLang="zh-CN" sz="2800" spc="-5" dirty="0">
                <a:solidFill>
                  <a:srgbClr val="285A31"/>
                </a:solidFill>
                <a:latin typeface="微软雅黑"/>
                <a:cs typeface="微软雅黑"/>
              </a:rPr>
              <a:t>     </a:t>
            </a:r>
            <a:r>
              <a:rPr sz="2800" spc="-5" dirty="0" err="1">
                <a:solidFill>
                  <a:srgbClr val="FF0000"/>
                </a:solidFill>
                <a:latin typeface="微软雅黑"/>
                <a:cs typeface="微软雅黑"/>
              </a:rPr>
              <a:t>去线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——</a:t>
            </a:r>
            <a:r>
              <a:rPr sz="2800" spc="-5" dirty="0" err="1">
                <a:solidFill>
                  <a:srgbClr val="404040"/>
                </a:solidFill>
                <a:latin typeface="微软雅黑"/>
                <a:cs typeface="微软雅黑"/>
              </a:rPr>
              <a:t>对树中的每个结点，只保留它与第</a:t>
            </a:r>
            <a:r>
              <a:rPr sz="2800" dirty="0" err="1">
                <a:solidFill>
                  <a:srgbClr val="404040"/>
                </a:solidFill>
                <a:latin typeface="微软雅黑"/>
                <a:cs typeface="微软雅黑"/>
              </a:rPr>
              <a:t>一个孩子结点之间的连线，删去它与其它孩子结点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 之间的连线。</a:t>
            </a:r>
            <a:endParaRPr sz="2800" dirty="0">
              <a:latin typeface="微软雅黑"/>
              <a:cs typeface="微软雅黑"/>
            </a:endParaRPr>
          </a:p>
          <a:p>
            <a:pPr marL="12700" marR="82550">
              <a:lnSpc>
                <a:spcPct val="100000"/>
              </a:lnSpc>
              <a:spcBef>
                <a:spcPts val="1440"/>
              </a:spcBef>
              <a:buClr>
                <a:srgbClr val="404040"/>
              </a:buClr>
              <a:buSzPct val="95833"/>
              <a:buAutoNum type="arabicPlain"/>
              <a:tabLst>
                <a:tab pos="801370" algn="l"/>
              </a:tabLst>
            </a:pPr>
            <a:r>
              <a:rPr lang="en-US" altLang="zh-CN" sz="2800" dirty="0">
                <a:solidFill>
                  <a:srgbClr val="285A31"/>
                </a:solidFill>
                <a:latin typeface="微软雅黑"/>
                <a:cs typeface="微软雅黑"/>
              </a:rPr>
              <a:t>     </a:t>
            </a:r>
            <a:r>
              <a:rPr sz="2800" dirty="0" err="1">
                <a:solidFill>
                  <a:srgbClr val="FF0000"/>
                </a:solidFill>
                <a:latin typeface="微软雅黑"/>
                <a:cs typeface="微软雅黑"/>
              </a:rPr>
              <a:t>层次调整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——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以根结点为轴心，将树顺时针 转动一定的角度，使之层次分明。</a:t>
            </a:r>
            <a:endParaRPr sz="2800" dirty="0">
              <a:latin typeface="微软雅黑"/>
              <a:cs typeface="微软雅黑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14362" y="1026160"/>
            <a:ext cx="432434" cy="432434"/>
            <a:chOff x="714362" y="1026160"/>
            <a:chExt cx="432434" cy="432434"/>
          </a:xfrm>
        </p:grpSpPr>
        <p:sp>
          <p:nvSpPr>
            <p:cNvPr id="24" name="object 24"/>
            <p:cNvSpPr/>
            <p:nvPr/>
          </p:nvSpPr>
          <p:spPr>
            <a:xfrm>
              <a:off x="760653" y="1026160"/>
              <a:ext cx="386080" cy="387985"/>
            </a:xfrm>
            <a:custGeom>
              <a:avLst/>
              <a:gdLst/>
              <a:ahLst/>
              <a:cxnLst/>
              <a:rect l="l" t="t" r="r" b="b"/>
              <a:pathLst>
                <a:path w="386080" h="387984">
                  <a:moveTo>
                    <a:pt x="216966" y="385699"/>
                  </a:moveTo>
                  <a:lnTo>
                    <a:pt x="208191" y="385699"/>
                  </a:lnTo>
                  <a:lnTo>
                    <a:pt x="210388" y="387985"/>
                  </a:lnTo>
                  <a:lnTo>
                    <a:pt x="214769" y="387985"/>
                  </a:lnTo>
                  <a:lnTo>
                    <a:pt x="216966" y="385699"/>
                  </a:lnTo>
                  <a:close/>
                </a:path>
                <a:path w="386080" h="387984">
                  <a:moveTo>
                    <a:pt x="109575" y="123443"/>
                  </a:moveTo>
                  <a:lnTo>
                    <a:pt x="51774" y="134715"/>
                  </a:lnTo>
                  <a:lnTo>
                    <a:pt x="2184" y="167512"/>
                  </a:lnTo>
                  <a:lnTo>
                    <a:pt x="0" y="171957"/>
                  </a:lnTo>
                  <a:lnTo>
                    <a:pt x="0" y="176402"/>
                  </a:lnTo>
                  <a:lnTo>
                    <a:pt x="2184" y="180720"/>
                  </a:lnTo>
                  <a:lnTo>
                    <a:pt x="206006" y="385699"/>
                  </a:lnTo>
                  <a:lnTo>
                    <a:pt x="219151" y="385699"/>
                  </a:lnTo>
                  <a:lnTo>
                    <a:pt x="242884" y="353014"/>
                  </a:lnTo>
                  <a:lnTo>
                    <a:pt x="257781" y="315769"/>
                  </a:lnTo>
                  <a:lnTo>
                    <a:pt x="263224" y="276024"/>
                  </a:lnTo>
                  <a:lnTo>
                    <a:pt x="258597" y="235838"/>
                  </a:lnTo>
                  <a:lnTo>
                    <a:pt x="317779" y="176402"/>
                  </a:lnTo>
                  <a:lnTo>
                    <a:pt x="352195" y="176402"/>
                  </a:lnTo>
                  <a:lnTo>
                    <a:pt x="381330" y="145541"/>
                  </a:lnTo>
                  <a:lnTo>
                    <a:pt x="383527" y="143255"/>
                  </a:lnTo>
                  <a:lnTo>
                    <a:pt x="385711" y="141097"/>
                  </a:lnTo>
                  <a:lnTo>
                    <a:pt x="385711" y="136651"/>
                  </a:lnTo>
                  <a:lnTo>
                    <a:pt x="383527" y="134492"/>
                  </a:lnTo>
                  <a:lnTo>
                    <a:pt x="381330" y="134492"/>
                  </a:lnTo>
                  <a:lnTo>
                    <a:pt x="374764" y="127888"/>
                  </a:lnTo>
                  <a:lnTo>
                    <a:pt x="151218" y="127888"/>
                  </a:lnTo>
                  <a:lnTo>
                    <a:pt x="141318" y="126230"/>
                  </a:lnTo>
                  <a:lnTo>
                    <a:pt x="131216" y="124809"/>
                  </a:lnTo>
                  <a:lnTo>
                    <a:pt x="120704" y="123817"/>
                  </a:lnTo>
                  <a:lnTo>
                    <a:pt x="109575" y="123443"/>
                  </a:lnTo>
                  <a:close/>
                </a:path>
                <a:path w="386080" h="387984">
                  <a:moveTo>
                    <a:pt x="352195" y="176402"/>
                  </a:moveTo>
                  <a:lnTo>
                    <a:pt x="317779" y="176402"/>
                  </a:lnTo>
                  <a:lnTo>
                    <a:pt x="328726" y="187325"/>
                  </a:lnTo>
                  <a:lnTo>
                    <a:pt x="333120" y="189611"/>
                  </a:lnTo>
                  <a:lnTo>
                    <a:pt x="337502" y="189611"/>
                  </a:lnTo>
                  <a:lnTo>
                    <a:pt x="341883" y="187325"/>
                  </a:lnTo>
                  <a:lnTo>
                    <a:pt x="352195" y="176402"/>
                  </a:lnTo>
                  <a:close/>
                </a:path>
                <a:path w="386080" h="387984">
                  <a:moveTo>
                    <a:pt x="249834" y="0"/>
                  </a:moveTo>
                  <a:lnTo>
                    <a:pt x="243255" y="0"/>
                  </a:lnTo>
                  <a:lnTo>
                    <a:pt x="241071" y="4444"/>
                  </a:lnTo>
                  <a:lnTo>
                    <a:pt x="199428" y="44068"/>
                  </a:lnTo>
                  <a:lnTo>
                    <a:pt x="197243" y="46227"/>
                  </a:lnTo>
                  <a:lnTo>
                    <a:pt x="197243" y="55117"/>
                  </a:lnTo>
                  <a:lnTo>
                    <a:pt x="199428" y="57276"/>
                  </a:lnTo>
                  <a:lnTo>
                    <a:pt x="210388" y="68325"/>
                  </a:lnTo>
                  <a:lnTo>
                    <a:pt x="151218" y="127888"/>
                  </a:lnTo>
                  <a:lnTo>
                    <a:pt x="374764" y="127888"/>
                  </a:lnTo>
                  <a:lnTo>
                    <a:pt x="252031" y="4444"/>
                  </a:lnTo>
                  <a:lnTo>
                    <a:pt x="249834" y="0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62" y="1288034"/>
              <a:ext cx="170903" cy="1701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12225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48643" y="2017267"/>
            <a:ext cx="152400" cy="25355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algn="just">
              <a:lnSpc>
                <a:spcPts val="1000"/>
              </a:lnSpc>
              <a:spcBef>
                <a:spcPts val="2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数 据 结 构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880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（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从 概 念 到 实 现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975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640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清 华 大 学 出 版 社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42925" y="100964"/>
            <a:ext cx="3240405" cy="540385"/>
          </a:xfrm>
          <a:custGeom>
            <a:avLst/>
            <a:gdLst/>
            <a:ahLst/>
            <a:cxnLst/>
            <a:rect l="l" t="t" r="r" b="b"/>
            <a:pathLst>
              <a:path w="3240404" h="540385">
                <a:moveTo>
                  <a:pt x="3149980" y="0"/>
                </a:moveTo>
                <a:lnTo>
                  <a:pt x="90004" y="0"/>
                </a:lnTo>
                <a:lnTo>
                  <a:pt x="54971" y="7068"/>
                </a:lnTo>
                <a:lnTo>
                  <a:pt x="26362" y="26352"/>
                </a:lnTo>
                <a:lnTo>
                  <a:pt x="7073" y="54971"/>
                </a:lnTo>
                <a:lnTo>
                  <a:pt x="0" y="90042"/>
                </a:lnTo>
                <a:lnTo>
                  <a:pt x="0" y="449960"/>
                </a:lnTo>
                <a:lnTo>
                  <a:pt x="7073" y="485032"/>
                </a:lnTo>
                <a:lnTo>
                  <a:pt x="26362" y="513651"/>
                </a:lnTo>
                <a:lnTo>
                  <a:pt x="54971" y="532935"/>
                </a:lnTo>
                <a:lnTo>
                  <a:pt x="90004" y="540003"/>
                </a:lnTo>
                <a:lnTo>
                  <a:pt x="3149980" y="540003"/>
                </a:lnTo>
                <a:lnTo>
                  <a:pt x="3185052" y="532935"/>
                </a:lnTo>
                <a:lnTo>
                  <a:pt x="3213671" y="513651"/>
                </a:lnTo>
                <a:lnTo>
                  <a:pt x="3232955" y="485032"/>
                </a:lnTo>
                <a:lnTo>
                  <a:pt x="3240024" y="449960"/>
                </a:lnTo>
                <a:lnTo>
                  <a:pt x="3240024" y="90042"/>
                </a:lnTo>
                <a:lnTo>
                  <a:pt x="3232955" y="54971"/>
                </a:lnTo>
                <a:lnTo>
                  <a:pt x="3213671" y="26352"/>
                </a:lnTo>
                <a:lnTo>
                  <a:pt x="3185052" y="7068"/>
                </a:lnTo>
                <a:lnTo>
                  <a:pt x="3149980" y="0"/>
                </a:lnTo>
                <a:close/>
              </a:path>
            </a:pathLst>
          </a:custGeom>
          <a:solidFill>
            <a:srgbClr val="5A31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6991" y="141809"/>
            <a:ext cx="287909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solidFill>
                  <a:schemeClr val="bg1"/>
                </a:solidFill>
              </a:rPr>
              <a:t>树转</a:t>
            </a:r>
            <a:r>
              <a:rPr sz="2800" spc="-10" dirty="0">
                <a:solidFill>
                  <a:schemeClr val="bg1"/>
                </a:solidFill>
              </a:rPr>
              <a:t>换</a:t>
            </a:r>
            <a:r>
              <a:rPr sz="2800" spc="-5" dirty="0">
                <a:solidFill>
                  <a:schemeClr val="bg1"/>
                </a:solidFill>
              </a:rPr>
              <a:t>为二</a:t>
            </a:r>
            <a:r>
              <a:rPr sz="2800" spc="-10" dirty="0">
                <a:solidFill>
                  <a:schemeClr val="bg1"/>
                </a:solidFill>
              </a:rPr>
              <a:t>叉树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8786621" y="1102296"/>
            <a:ext cx="1579245" cy="3910965"/>
            <a:chOff x="8786621" y="1102296"/>
            <a:chExt cx="1579245" cy="3910965"/>
          </a:xfrm>
        </p:grpSpPr>
        <p:sp>
          <p:nvSpPr>
            <p:cNvPr id="6" name="object 6"/>
            <p:cNvSpPr/>
            <p:nvPr/>
          </p:nvSpPr>
          <p:spPr>
            <a:xfrm>
              <a:off x="8805671" y="1453133"/>
              <a:ext cx="1437005" cy="3540760"/>
            </a:xfrm>
            <a:custGeom>
              <a:avLst/>
              <a:gdLst/>
              <a:ahLst/>
              <a:cxnLst/>
              <a:rect l="l" t="t" r="r" b="b"/>
              <a:pathLst>
                <a:path w="1437004" h="3540760">
                  <a:moveTo>
                    <a:pt x="1133475" y="0"/>
                  </a:moveTo>
                  <a:lnTo>
                    <a:pt x="622300" y="540003"/>
                  </a:lnTo>
                </a:path>
                <a:path w="1437004" h="3540760">
                  <a:moveTo>
                    <a:pt x="360045" y="880744"/>
                  </a:moveTo>
                  <a:lnTo>
                    <a:pt x="0" y="1528699"/>
                  </a:lnTo>
                </a:path>
                <a:path w="1437004" h="3540760">
                  <a:moveTo>
                    <a:pt x="44830" y="1945639"/>
                  </a:moveTo>
                  <a:lnTo>
                    <a:pt x="360045" y="2506726"/>
                  </a:lnTo>
                </a:path>
                <a:path w="1437004" h="3540760">
                  <a:moveTo>
                    <a:pt x="1436751" y="2892552"/>
                  </a:moveTo>
                  <a:lnTo>
                    <a:pt x="1148714" y="3540632"/>
                  </a:lnTo>
                </a:path>
                <a:path w="1437004" h="3540760">
                  <a:moveTo>
                    <a:pt x="1148714" y="1880869"/>
                  </a:moveTo>
                  <a:lnTo>
                    <a:pt x="1436751" y="2506726"/>
                  </a:lnTo>
                </a:path>
              </a:pathLst>
            </a:custGeom>
            <a:ln w="38100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919461" y="1116583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8" y="166471"/>
                  </a:lnTo>
                  <a:lnTo>
                    <a:pt x="21966" y="120992"/>
                  </a:lnTo>
                  <a:lnTo>
                    <a:pt x="47476" y="80883"/>
                  </a:lnTo>
                  <a:lnTo>
                    <a:pt x="80936" y="47436"/>
                  </a:lnTo>
                  <a:lnTo>
                    <a:pt x="121048" y="21944"/>
                  </a:lnTo>
                  <a:lnTo>
                    <a:pt x="166511" y="5701"/>
                  </a:lnTo>
                  <a:lnTo>
                    <a:pt x="216027" y="0"/>
                  </a:lnTo>
                  <a:lnTo>
                    <a:pt x="265542" y="5701"/>
                  </a:lnTo>
                  <a:lnTo>
                    <a:pt x="311005" y="21944"/>
                  </a:lnTo>
                  <a:lnTo>
                    <a:pt x="351117" y="47436"/>
                  </a:lnTo>
                  <a:lnTo>
                    <a:pt x="384577" y="80883"/>
                  </a:lnTo>
                  <a:lnTo>
                    <a:pt x="410087" y="120992"/>
                  </a:lnTo>
                  <a:lnTo>
                    <a:pt x="426345" y="166471"/>
                  </a:lnTo>
                  <a:lnTo>
                    <a:pt x="432054" y="216026"/>
                  </a:lnTo>
                  <a:lnTo>
                    <a:pt x="426345" y="265535"/>
                  </a:lnTo>
                  <a:lnTo>
                    <a:pt x="410087" y="310980"/>
                  </a:lnTo>
                  <a:lnTo>
                    <a:pt x="384577" y="351067"/>
                  </a:lnTo>
                  <a:lnTo>
                    <a:pt x="351117" y="384500"/>
                  </a:lnTo>
                  <a:lnTo>
                    <a:pt x="311005" y="409985"/>
                  </a:lnTo>
                  <a:lnTo>
                    <a:pt x="265542" y="426225"/>
                  </a:lnTo>
                  <a:lnTo>
                    <a:pt x="216027" y="431926"/>
                  </a:lnTo>
                  <a:lnTo>
                    <a:pt x="166511" y="426225"/>
                  </a:lnTo>
                  <a:lnTo>
                    <a:pt x="121048" y="409985"/>
                  </a:lnTo>
                  <a:lnTo>
                    <a:pt x="80936" y="384500"/>
                  </a:lnTo>
                  <a:lnTo>
                    <a:pt x="47476" y="351067"/>
                  </a:lnTo>
                  <a:lnTo>
                    <a:pt x="21966" y="310980"/>
                  </a:lnTo>
                  <a:lnTo>
                    <a:pt x="5708" y="265535"/>
                  </a:lnTo>
                  <a:lnTo>
                    <a:pt x="0" y="216026"/>
                  </a:lnTo>
                  <a:close/>
                </a:path>
              </a:pathLst>
            </a:custGeom>
            <a:ln w="28575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031094" y="1108075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621646" y="2987039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5">
                <a:moveTo>
                  <a:pt x="0" y="216026"/>
                </a:moveTo>
                <a:lnTo>
                  <a:pt x="5708" y="166471"/>
                </a:lnTo>
                <a:lnTo>
                  <a:pt x="21966" y="120992"/>
                </a:lnTo>
                <a:lnTo>
                  <a:pt x="47476" y="80883"/>
                </a:lnTo>
                <a:lnTo>
                  <a:pt x="80936" y="47436"/>
                </a:lnTo>
                <a:lnTo>
                  <a:pt x="121048" y="21944"/>
                </a:lnTo>
                <a:lnTo>
                  <a:pt x="166511" y="5701"/>
                </a:lnTo>
                <a:lnTo>
                  <a:pt x="216026" y="0"/>
                </a:lnTo>
                <a:lnTo>
                  <a:pt x="265542" y="5701"/>
                </a:lnTo>
                <a:lnTo>
                  <a:pt x="311005" y="21944"/>
                </a:lnTo>
                <a:lnTo>
                  <a:pt x="351117" y="47436"/>
                </a:lnTo>
                <a:lnTo>
                  <a:pt x="384577" y="80883"/>
                </a:lnTo>
                <a:lnTo>
                  <a:pt x="410087" y="120992"/>
                </a:lnTo>
                <a:lnTo>
                  <a:pt x="426345" y="166471"/>
                </a:lnTo>
                <a:lnTo>
                  <a:pt x="432053" y="216026"/>
                </a:lnTo>
                <a:lnTo>
                  <a:pt x="426345" y="265535"/>
                </a:lnTo>
                <a:lnTo>
                  <a:pt x="410087" y="310980"/>
                </a:lnTo>
                <a:lnTo>
                  <a:pt x="384577" y="351067"/>
                </a:lnTo>
                <a:lnTo>
                  <a:pt x="351117" y="384500"/>
                </a:lnTo>
                <a:lnTo>
                  <a:pt x="311005" y="409985"/>
                </a:lnTo>
                <a:lnTo>
                  <a:pt x="265542" y="426225"/>
                </a:lnTo>
                <a:lnTo>
                  <a:pt x="216026" y="431926"/>
                </a:lnTo>
                <a:lnTo>
                  <a:pt x="166511" y="426225"/>
                </a:lnTo>
                <a:lnTo>
                  <a:pt x="121048" y="409985"/>
                </a:lnTo>
                <a:lnTo>
                  <a:pt x="80936" y="384500"/>
                </a:lnTo>
                <a:lnTo>
                  <a:pt x="47476" y="351067"/>
                </a:lnTo>
                <a:lnTo>
                  <a:pt x="21966" y="310980"/>
                </a:lnTo>
                <a:lnTo>
                  <a:pt x="5708" y="265535"/>
                </a:lnTo>
                <a:lnTo>
                  <a:pt x="0" y="216026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723881" y="2978607"/>
            <a:ext cx="2292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064117" y="1932813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5">
                <a:moveTo>
                  <a:pt x="0" y="216026"/>
                </a:moveTo>
                <a:lnTo>
                  <a:pt x="5708" y="166511"/>
                </a:lnTo>
                <a:lnTo>
                  <a:pt x="21966" y="121048"/>
                </a:lnTo>
                <a:lnTo>
                  <a:pt x="47476" y="80936"/>
                </a:lnTo>
                <a:lnTo>
                  <a:pt x="80936" y="47476"/>
                </a:lnTo>
                <a:lnTo>
                  <a:pt x="121048" y="21966"/>
                </a:lnTo>
                <a:lnTo>
                  <a:pt x="166511" y="5708"/>
                </a:lnTo>
                <a:lnTo>
                  <a:pt x="216026" y="0"/>
                </a:lnTo>
                <a:lnTo>
                  <a:pt x="265542" y="5708"/>
                </a:lnTo>
                <a:lnTo>
                  <a:pt x="311005" y="21966"/>
                </a:lnTo>
                <a:lnTo>
                  <a:pt x="351117" y="47476"/>
                </a:lnTo>
                <a:lnTo>
                  <a:pt x="384577" y="80936"/>
                </a:lnTo>
                <a:lnTo>
                  <a:pt x="410087" y="121048"/>
                </a:lnTo>
                <a:lnTo>
                  <a:pt x="426345" y="166511"/>
                </a:lnTo>
                <a:lnTo>
                  <a:pt x="432053" y="216026"/>
                </a:lnTo>
                <a:lnTo>
                  <a:pt x="426345" y="265542"/>
                </a:lnTo>
                <a:lnTo>
                  <a:pt x="410087" y="311005"/>
                </a:lnTo>
                <a:lnTo>
                  <a:pt x="384577" y="351117"/>
                </a:lnTo>
                <a:lnTo>
                  <a:pt x="351117" y="384577"/>
                </a:lnTo>
                <a:lnTo>
                  <a:pt x="311005" y="410087"/>
                </a:lnTo>
                <a:lnTo>
                  <a:pt x="265542" y="426345"/>
                </a:lnTo>
                <a:lnTo>
                  <a:pt x="216026" y="432053"/>
                </a:lnTo>
                <a:lnTo>
                  <a:pt x="166511" y="426345"/>
                </a:lnTo>
                <a:lnTo>
                  <a:pt x="121048" y="410087"/>
                </a:lnTo>
                <a:lnTo>
                  <a:pt x="80936" y="384577"/>
                </a:lnTo>
                <a:lnTo>
                  <a:pt x="47476" y="351117"/>
                </a:lnTo>
                <a:lnTo>
                  <a:pt x="21966" y="311005"/>
                </a:lnTo>
                <a:lnTo>
                  <a:pt x="5708" y="265542"/>
                </a:lnTo>
                <a:lnTo>
                  <a:pt x="0" y="216026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175495" y="1924303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571483" y="2987039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5">
                <a:moveTo>
                  <a:pt x="0" y="216026"/>
                </a:moveTo>
                <a:lnTo>
                  <a:pt x="5708" y="166471"/>
                </a:lnTo>
                <a:lnTo>
                  <a:pt x="21966" y="120992"/>
                </a:lnTo>
                <a:lnTo>
                  <a:pt x="47476" y="80883"/>
                </a:lnTo>
                <a:lnTo>
                  <a:pt x="80936" y="47436"/>
                </a:lnTo>
                <a:lnTo>
                  <a:pt x="121048" y="21944"/>
                </a:lnTo>
                <a:lnTo>
                  <a:pt x="166511" y="5701"/>
                </a:lnTo>
                <a:lnTo>
                  <a:pt x="216026" y="0"/>
                </a:lnTo>
                <a:lnTo>
                  <a:pt x="265542" y="5701"/>
                </a:lnTo>
                <a:lnTo>
                  <a:pt x="311005" y="21944"/>
                </a:lnTo>
                <a:lnTo>
                  <a:pt x="351117" y="47436"/>
                </a:lnTo>
                <a:lnTo>
                  <a:pt x="384577" y="80883"/>
                </a:lnTo>
                <a:lnTo>
                  <a:pt x="410087" y="120992"/>
                </a:lnTo>
                <a:lnTo>
                  <a:pt x="426345" y="166471"/>
                </a:lnTo>
                <a:lnTo>
                  <a:pt x="432054" y="216026"/>
                </a:lnTo>
                <a:lnTo>
                  <a:pt x="426345" y="265535"/>
                </a:lnTo>
                <a:lnTo>
                  <a:pt x="410087" y="310980"/>
                </a:lnTo>
                <a:lnTo>
                  <a:pt x="384577" y="351067"/>
                </a:lnTo>
                <a:lnTo>
                  <a:pt x="351117" y="384500"/>
                </a:lnTo>
                <a:lnTo>
                  <a:pt x="311005" y="409985"/>
                </a:lnTo>
                <a:lnTo>
                  <a:pt x="265542" y="426225"/>
                </a:lnTo>
                <a:lnTo>
                  <a:pt x="216026" y="431926"/>
                </a:lnTo>
                <a:lnTo>
                  <a:pt x="166511" y="426225"/>
                </a:lnTo>
                <a:lnTo>
                  <a:pt x="121048" y="409985"/>
                </a:lnTo>
                <a:lnTo>
                  <a:pt x="80936" y="384500"/>
                </a:lnTo>
                <a:lnTo>
                  <a:pt x="47476" y="351067"/>
                </a:lnTo>
                <a:lnTo>
                  <a:pt x="21966" y="310980"/>
                </a:lnTo>
                <a:lnTo>
                  <a:pt x="5708" y="265535"/>
                </a:lnTo>
                <a:lnTo>
                  <a:pt x="0" y="216026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682990" y="2978607"/>
            <a:ext cx="2120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686417" y="4989829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5">
                <a:moveTo>
                  <a:pt x="0" y="215900"/>
                </a:moveTo>
                <a:lnTo>
                  <a:pt x="5708" y="166391"/>
                </a:lnTo>
                <a:lnTo>
                  <a:pt x="21966" y="120946"/>
                </a:lnTo>
                <a:lnTo>
                  <a:pt x="47476" y="80859"/>
                </a:lnTo>
                <a:lnTo>
                  <a:pt x="80936" y="47426"/>
                </a:lnTo>
                <a:lnTo>
                  <a:pt x="121048" y="21941"/>
                </a:lnTo>
                <a:lnTo>
                  <a:pt x="166511" y="5701"/>
                </a:lnTo>
                <a:lnTo>
                  <a:pt x="216026" y="0"/>
                </a:lnTo>
                <a:lnTo>
                  <a:pt x="265542" y="5701"/>
                </a:lnTo>
                <a:lnTo>
                  <a:pt x="311005" y="21941"/>
                </a:lnTo>
                <a:lnTo>
                  <a:pt x="351117" y="47426"/>
                </a:lnTo>
                <a:lnTo>
                  <a:pt x="384577" y="80859"/>
                </a:lnTo>
                <a:lnTo>
                  <a:pt x="410087" y="120946"/>
                </a:lnTo>
                <a:lnTo>
                  <a:pt x="426345" y="166391"/>
                </a:lnTo>
                <a:lnTo>
                  <a:pt x="432053" y="215900"/>
                </a:lnTo>
                <a:lnTo>
                  <a:pt x="426345" y="265455"/>
                </a:lnTo>
                <a:lnTo>
                  <a:pt x="410087" y="310934"/>
                </a:lnTo>
                <a:lnTo>
                  <a:pt x="384577" y="351043"/>
                </a:lnTo>
                <a:lnTo>
                  <a:pt x="351117" y="384490"/>
                </a:lnTo>
                <a:lnTo>
                  <a:pt x="311005" y="409982"/>
                </a:lnTo>
                <a:lnTo>
                  <a:pt x="265542" y="426225"/>
                </a:lnTo>
                <a:lnTo>
                  <a:pt x="216026" y="431927"/>
                </a:lnTo>
                <a:lnTo>
                  <a:pt x="166511" y="426225"/>
                </a:lnTo>
                <a:lnTo>
                  <a:pt x="121048" y="409982"/>
                </a:lnTo>
                <a:lnTo>
                  <a:pt x="80936" y="384490"/>
                </a:lnTo>
                <a:lnTo>
                  <a:pt x="47476" y="351043"/>
                </a:lnTo>
                <a:lnTo>
                  <a:pt x="21966" y="310934"/>
                </a:lnTo>
                <a:lnTo>
                  <a:pt x="5708" y="265455"/>
                </a:lnTo>
                <a:lnTo>
                  <a:pt x="0" y="215900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781158" y="4982083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Times New Roman"/>
                <a:cs typeface="Times New Roman"/>
              </a:rPr>
              <a:t>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105263" y="3959478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5">
                <a:moveTo>
                  <a:pt x="0" y="216027"/>
                </a:moveTo>
                <a:lnTo>
                  <a:pt x="5701" y="166471"/>
                </a:lnTo>
                <a:lnTo>
                  <a:pt x="21941" y="120992"/>
                </a:lnTo>
                <a:lnTo>
                  <a:pt x="47426" y="80883"/>
                </a:lnTo>
                <a:lnTo>
                  <a:pt x="80859" y="47436"/>
                </a:lnTo>
                <a:lnTo>
                  <a:pt x="120946" y="21944"/>
                </a:lnTo>
                <a:lnTo>
                  <a:pt x="166391" y="5701"/>
                </a:lnTo>
                <a:lnTo>
                  <a:pt x="215900" y="0"/>
                </a:lnTo>
                <a:lnTo>
                  <a:pt x="265455" y="5701"/>
                </a:lnTo>
                <a:lnTo>
                  <a:pt x="310934" y="21944"/>
                </a:lnTo>
                <a:lnTo>
                  <a:pt x="351043" y="47436"/>
                </a:lnTo>
                <a:lnTo>
                  <a:pt x="384490" y="80883"/>
                </a:lnTo>
                <a:lnTo>
                  <a:pt x="409982" y="120992"/>
                </a:lnTo>
                <a:lnTo>
                  <a:pt x="426225" y="166471"/>
                </a:lnTo>
                <a:lnTo>
                  <a:pt x="431926" y="216027"/>
                </a:lnTo>
                <a:lnTo>
                  <a:pt x="426225" y="265535"/>
                </a:lnTo>
                <a:lnTo>
                  <a:pt x="409982" y="310980"/>
                </a:lnTo>
                <a:lnTo>
                  <a:pt x="384490" y="351067"/>
                </a:lnTo>
                <a:lnTo>
                  <a:pt x="351043" y="384500"/>
                </a:lnTo>
                <a:lnTo>
                  <a:pt x="310934" y="409985"/>
                </a:lnTo>
                <a:lnTo>
                  <a:pt x="265455" y="426225"/>
                </a:lnTo>
                <a:lnTo>
                  <a:pt x="215900" y="431927"/>
                </a:lnTo>
                <a:lnTo>
                  <a:pt x="166391" y="426225"/>
                </a:lnTo>
                <a:lnTo>
                  <a:pt x="120946" y="409985"/>
                </a:lnTo>
                <a:lnTo>
                  <a:pt x="80859" y="384500"/>
                </a:lnTo>
                <a:lnTo>
                  <a:pt x="47426" y="351067"/>
                </a:lnTo>
                <a:lnTo>
                  <a:pt x="21941" y="310980"/>
                </a:lnTo>
                <a:lnTo>
                  <a:pt x="5701" y="265535"/>
                </a:lnTo>
                <a:lnTo>
                  <a:pt x="0" y="216027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0199878" y="3951478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070847" y="3959478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5">
                <a:moveTo>
                  <a:pt x="0" y="216027"/>
                </a:moveTo>
                <a:lnTo>
                  <a:pt x="5701" y="166471"/>
                </a:lnTo>
                <a:lnTo>
                  <a:pt x="21941" y="120992"/>
                </a:lnTo>
                <a:lnTo>
                  <a:pt x="47426" y="80883"/>
                </a:lnTo>
                <a:lnTo>
                  <a:pt x="80859" y="47436"/>
                </a:lnTo>
                <a:lnTo>
                  <a:pt x="120946" y="21944"/>
                </a:lnTo>
                <a:lnTo>
                  <a:pt x="166391" y="5701"/>
                </a:lnTo>
                <a:lnTo>
                  <a:pt x="215900" y="0"/>
                </a:lnTo>
                <a:lnTo>
                  <a:pt x="265455" y="5701"/>
                </a:lnTo>
                <a:lnTo>
                  <a:pt x="310934" y="21944"/>
                </a:lnTo>
                <a:lnTo>
                  <a:pt x="351043" y="47436"/>
                </a:lnTo>
                <a:lnTo>
                  <a:pt x="384490" y="80883"/>
                </a:lnTo>
                <a:lnTo>
                  <a:pt x="409982" y="120992"/>
                </a:lnTo>
                <a:lnTo>
                  <a:pt x="426225" y="166471"/>
                </a:lnTo>
                <a:lnTo>
                  <a:pt x="431926" y="216027"/>
                </a:lnTo>
                <a:lnTo>
                  <a:pt x="426225" y="265535"/>
                </a:lnTo>
                <a:lnTo>
                  <a:pt x="409982" y="310980"/>
                </a:lnTo>
                <a:lnTo>
                  <a:pt x="384490" y="351067"/>
                </a:lnTo>
                <a:lnTo>
                  <a:pt x="351043" y="384500"/>
                </a:lnTo>
                <a:lnTo>
                  <a:pt x="310934" y="409985"/>
                </a:lnTo>
                <a:lnTo>
                  <a:pt x="265455" y="426225"/>
                </a:lnTo>
                <a:lnTo>
                  <a:pt x="215900" y="431927"/>
                </a:lnTo>
                <a:lnTo>
                  <a:pt x="166391" y="426225"/>
                </a:lnTo>
                <a:lnTo>
                  <a:pt x="120946" y="409985"/>
                </a:lnTo>
                <a:lnTo>
                  <a:pt x="80859" y="384500"/>
                </a:lnTo>
                <a:lnTo>
                  <a:pt x="47426" y="351067"/>
                </a:lnTo>
                <a:lnTo>
                  <a:pt x="21941" y="310980"/>
                </a:lnTo>
                <a:lnTo>
                  <a:pt x="5701" y="265535"/>
                </a:lnTo>
                <a:lnTo>
                  <a:pt x="0" y="216027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182227" y="3951478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61518" y="1876488"/>
            <a:ext cx="9017635" cy="3545840"/>
            <a:chOff x="761518" y="1876488"/>
            <a:chExt cx="9017635" cy="3545840"/>
          </a:xfrm>
        </p:grpSpPr>
        <p:sp>
          <p:nvSpPr>
            <p:cNvPr id="22" name="object 22"/>
            <p:cNvSpPr/>
            <p:nvPr/>
          </p:nvSpPr>
          <p:spPr>
            <a:xfrm>
              <a:off x="9400031" y="2331593"/>
              <a:ext cx="360045" cy="648335"/>
            </a:xfrm>
            <a:custGeom>
              <a:avLst/>
              <a:gdLst/>
              <a:ahLst/>
              <a:cxnLst/>
              <a:rect l="l" t="t" r="r" b="b"/>
              <a:pathLst>
                <a:path w="360045" h="648335">
                  <a:moveTo>
                    <a:pt x="359918" y="647954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61517" y="4236338"/>
              <a:ext cx="410845" cy="1185545"/>
            </a:xfrm>
            <a:custGeom>
              <a:avLst/>
              <a:gdLst/>
              <a:ahLst/>
              <a:cxnLst/>
              <a:rect l="l" t="t" r="r" b="b"/>
              <a:pathLst>
                <a:path w="410844" h="1185545">
                  <a:moveTo>
                    <a:pt x="410337" y="117843"/>
                  </a:moveTo>
                  <a:lnTo>
                    <a:pt x="401523" y="73012"/>
                  </a:lnTo>
                  <a:lnTo>
                    <a:pt x="375069" y="33655"/>
                  </a:lnTo>
                  <a:lnTo>
                    <a:pt x="362546" y="23114"/>
                  </a:lnTo>
                  <a:lnTo>
                    <a:pt x="357187" y="18592"/>
                  </a:lnTo>
                  <a:lnTo>
                    <a:pt x="336296" y="8115"/>
                  </a:lnTo>
                  <a:lnTo>
                    <a:pt x="313410" y="1993"/>
                  </a:lnTo>
                  <a:lnTo>
                    <a:pt x="289521" y="0"/>
                  </a:lnTo>
                  <a:lnTo>
                    <a:pt x="265925" y="2298"/>
                  </a:lnTo>
                  <a:lnTo>
                    <a:pt x="243535" y="8928"/>
                  </a:lnTo>
                  <a:lnTo>
                    <a:pt x="222745" y="19507"/>
                  </a:lnTo>
                  <a:lnTo>
                    <a:pt x="203974" y="33655"/>
                  </a:lnTo>
                  <a:lnTo>
                    <a:pt x="99187" y="138938"/>
                  </a:lnTo>
                  <a:lnTo>
                    <a:pt x="26466" y="210439"/>
                  </a:lnTo>
                  <a:lnTo>
                    <a:pt x="6908" y="239369"/>
                  </a:lnTo>
                  <a:lnTo>
                    <a:pt x="0" y="272618"/>
                  </a:lnTo>
                  <a:lnTo>
                    <a:pt x="6311" y="305790"/>
                  </a:lnTo>
                  <a:lnTo>
                    <a:pt x="40055" y="345732"/>
                  </a:lnTo>
                  <a:lnTo>
                    <a:pt x="88493" y="359918"/>
                  </a:lnTo>
                  <a:lnTo>
                    <a:pt x="106032" y="358317"/>
                  </a:lnTo>
                  <a:lnTo>
                    <a:pt x="149059" y="335762"/>
                  </a:lnTo>
                  <a:lnTo>
                    <a:pt x="285242" y="202057"/>
                  </a:lnTo>
                  <a:lnTo>
                    <a:pt x="332295" y="157861"/>
                  </a:lnTo>
                  <a:lnTo>
                    <a:pt x="349402" y="113665"/>
                  </a:lnTo>
                  <a:lnTo>
                    <a:pt x="349427" y="101409"/>
                  </a:lnTo>
                  <a:lnTo>
                    <a:pt x="346456" y="89954"/>
                  </a:lnTo>
                  <a:lnTo>
                    <a:pt x="340677" y="79311"/>
                  </a:lnTo>
                  <a:lnTo>
                    <a:pt x="338772" y="77076"/>
                  </a:lnTo>
                  <a:lnTo>
                    <a:pt x="332295" y="69469"/>
                  </a:lnTo>
                  <a:lnTo>
                    <a:pt x="311937" y="56438"/>
                  </a:lnTo>
                  <a:lnTo>
                    <a:pt x="288175" y="52298"/>
                  </a:lnTo>
                  <a:lnTo>
                    <a:pt x="264020" y="57264"/>
                  </a:lnTo>
                  <a:lnTo>
                    <a:pt x="242468" y="71501"/>
                  </a:lnTo>
                  <a:lnTo>
                    <a:pt x="82067" y="229362"/>
                  </a:lnTo>
                  <a:lnTo>
                    <a:pt x="77800" y="233680"/>
                  </a:lnTo>
                  <a:lnTo>
                    <a:pt x="77800" y="242062"/>
                  </a:lnTo>
                  <a:lnTo>
                    <a:pt x="82067" y="246253"/>
                  </a:lnTo>
                  <a:lnTo>
                    <a:pt x="84213" y="248412"/>
                  </a:lnTo>
                  <a:lnTo>
                    <a:pt x="88493" y="250444"/>
                  </a:lnTo>
                  <a:lnTo>
                    <a:pt x="94907" y="250444"/>
                  </a:lnTo>
                  <a:lnTo>
                    <a:pt x="97040" y="248412"/>
                  </a:lnTo>
                  <a:lnTo>
                    <a:pt x="99187" y="246253"/>
                  </a:lnTo>
                  <a:lnTo>
                    <a:pt x="261721" y="88392"/>
                  </a:lnTo>
                  <a:lnTo>
                    <a:pt x="302615" y="79197"/>
                  </a:lnTo>
                  <a:lnTo>
                    <a:pt x="325869" y="113665"/>
                  </a:lnTo>
                  <a:lnTo>
                    <a:pt x="135534" y="315722"/>
                  </a:lnTo>
                  <a:lnTo>
                    <a:pt x="88747" y="335762"/>
                  </a:lnTo>
                  <a:lnTo>
                    <a:pt x="64262" y="331762"/>
                  </a:lnTo>
                  <a:lnTo>
                    <a:pt x="43573" y="317881"/>
                  </a:lnTo>
                  <a:lnTo>
                    <a:pt x="29133" y="296633"/>
                  </a:lnTo>
                  <a:lnTo>
                    <a:pt x="24333" y="272592"/>
                  </a:lnTo>
                  <a:lnTo>
                    <a:pt x="29133" y="248589"/>
                  </a:lnTo>
                  <a:lnTo>
                    <a:pt x="223215" y="52578"/>
                  </a:lnTo>
                  <a:lnTo>
                    <a:pt x="270738" y="25057"/>
                  </a:lnTo>
                  <a:lnTo>
                    <a:pt x="289521" y="23114"/>
                  </a:lnTo>
                  <a:lnTo>
                    <a:pt x="308622" y="25031"/>
                  </a:lnTo>
                  <a:lnTo>
                    <a:pt x="357949" y="50419"/>
                  </a:lnTo>
                  <a:lnTo>
                    <a:pt x="379298" y="82181"/>
                  </a:lnTo>
                  <a:lnTo>
                    <a:pt x="386003" y="117856"/>
                  </a:lnTo>
                  <a:lnTo>
                    <a:pt x="378701" y="153492"/>
                  </a:lnTo>
                  <a:lnTo>
                    <a:pt x="357949" y="185166"/>
                  </a:lnTo>
                  <a:lnTo>
                    <a:pt x="216801" y="322072"/>
                  </a:lnTo>
                  <a:lnTo>
                    <a:pt x="212534" y="326263"/>
                  </a:lnTo>
                  <a:lnTo>
                    <a:pt x="212534" y="334645"/>
                  </a:lnTo>
                  <a:lnTo>
                    <a:pt x="216801" y="338836"/>
                  </a:lnTo>
                  <a:lnTo>
                    <a:pt x="221081" y="340995"/>
                  </a:lnTo>
                  <a:lnTo>
                    <a:pt x="223215" y="343154"/>
                  </a:lnTo>
                  <a:lnTo>
                    <a:pt x="229641" y="343154"/>
                  </a:lnTo>
                  <a:lnTo>
                    <a:pt x="231775" y="340995"/>
                  </a:lnTo>
                  <a:lnTo>
                    <a:pt x="236054" y="338836"/>
                  </a:lnTo>
                  <a:lnTo>
                    <a:pt x="375069" y="202057"/>
                  </a:lnTo>
                  <a:lnTo>
                    <a:pt x="401523" y="162712"/>
                  </a:lnTo>
                  <a:lnTo>
                    <a:pt x="410337" y="117843"/>
                  </a:lnTo>
                  <a:close/>
                </a:path>
                <a:path w="410844" h="1185545">
                  <a:moveTo>
                    <a:pt x="410349" y="943317"/>
                  </a:moveTo>
                  <a:lnTo>
                    <a:pt x="401523" y="898461"/>
                  </a:lnTo>
                  <a:lnTo>
                    <a:pt x="375069" y="859155"/>
                  </a:lnTo>
                  <a:lnTo>
                    <a:pt x="362546" y="848614"/>
                  </a:lnTo>
                  <a:lnTo>
                    <a:pt x="357187" y="844092"/>
                  </a:lnTo>
                  <a:lnTo>
                    <a:pt x="336296" y="833615"/>
                  </a:lnTo>
                  <a:lnTo>
                    <a:pt x="313410" y="827493"/>
                  </a:lnTo>
                  <a:lnTo>
                    <a:pt x="289521" y="825500"/>
                  </a:lnTo>
                  <a:lnTo>
                    <a:pt x="265925" y="827798"/>
                  </a:lnTo>
                  <a:lnTo>
                    <a:pt x="243535" y="834428"/>
                  </a:lnTo>
                  <a:lnTo>
                    <a:pt x="222745" y="845007"/>
                  </a:lnTo>
                  <a:lnTo>
                    <a:pt x="203974" y="859155"/>
                  </a:lnTo>
                  <a:lnTo>
                    <a:pt x="99187" y="964438"/>
                  </a:lnTo>
                  <a:lnTo>
                    <a:pt x="26466" y="1035939"/>
                  </a:lnTo>
                  <a:lnTo>
                    <a:pt x="6908" y="1064818"/>
                  </a:lnTo>
                  <a:lnTo>
                    <a:pt x="0" y="1098042"/>
                  </a:lnTo>
                  <a:lnTo>
                    <a:pt x="6311" y="1131277"/>
                  </a:lnTo>
                  <a:lnTo>
                    <a:pt x="40055" y="1171232"/>
                  </a:lnTo>
                  <a:lnTo>
                    <a:pt x="88493" y="1185418"/>
                  </a:lnTo>
                  <a:lnTo>
                    <a:pt x="106032" y="1183817"/>
                  </a:lnTo>
                  <a:lnTo>
                    <a:pt x="149059" y="1161262"/>
                  </a:lnTo>
                  <a:lnTo>
                    <a:pt x="285242" y="1027557"/>
                  </a:lnTo>
                  <a:lnTo>
                    <a:pt x="332295" y="983361"/>
                  </a:lnTo>
                  <a:lnTo>
                    <a:pt x="349402" y="939165"/>
                  </a:lnTo>
                  <a:lnTo>
                    <a:pt x="349427" y="926909"/>
                  </a:lnTo>
                  <a:lnTo>
                    <a:pt x="346456" y="915454"/>
                  </a:lnTo>
                  <a:lnTo>
                    <a:pt x="340677" y="904811"/>
                  </a:lnTo>
                  <a:lnTo>
                    <a:pt x="338772" y="902576"/>
                  </a:lnTo>
                  <a:lnTo>
                    <a:pt x="332295" y="894969"/>
                  </a:lnTo>
                  <a:lnTo>
                    <a:pt x="311937" y="881938"/>
                  </a:lnTo>
                  <a:lnTo>
                    <a:pt x="288175" y="877798"/>
                  </a:lnTo>
                  <a:lnTo>
                    <a:pt x="264020" y="882764"/>
                  </a:lnTo>
                  <a:lnTo>
                    <a:pt x="242468" y="897001"/>
                  </a:lnTo>
                  <a:lnTo>
                    <a:pt x="82067" y="1054862"/>
                  </a:lnTo>
                  <a:lnTo>
                    <a:pt x="77800" y="1059180"/>
                  </a:lnTo>
                  <a:lnTo>
                    <a:pt x="77800" y="1067562"/>
                  </a:lnTo>
                  <a:lnTo>
                    <a:pt x="82067" y="1071753"/>
                  </a:lnTo>
                  <a:lnTo>
                    <a:pt x="84213" y="1073912"/>
                  </a:lnTo>
                  <a:lnTo>
                    <a:pt x="88493" y="1075944"/>
                  </a:lnTo>
                  <a:lnTo>
                    <a:pt x="94907" y="1075944"/>
                  </a:lnTo>
                  <a:lnTo>
                    <a:pt x="97040" y="1073912"/>
                  </a:lnTo>
                  <a:lnTo>
                    <a:pt x="99187" y="1071753"/>
                  </a:lnTo>
                  <a:lnTo>
                    <a:pt x="261721" y="913892"/>
                  </a:lnTo>
                  <a:lnTo>
                    <a:pt x="302615" y="904697"/>
                  </a:lnTo>
                  <a:lnTo>
                    <a:pt x="325869" y="939165"/>
                  </a:lnTo>
                  <a:lnTo>
                    <a:pt x="135534" y="1141222"/>
                  </a:lnTo>
                  <a:lnTo>
                    <a:pt x="88747" y="1161262"/>
                  </a:lnTo>
                  <a:lnTo>
                    <a:pt x="64262" y="1157262"/>
                  </a:lnTo>
                  <a:lnTo>
                    <a:pt x="43573" y="1143381"/>
                  </a:lnTo>
                  <a:lnTo>
                    <a:pt x="29133" y="1122133"/>
                  </a:lnTo>
                  <a:lnTo>
                    <a:pt x="24320" y="1098105"/>
                  </a:lnTo>
                  <a:lnTo>
                    <a:pt x="29133" y="1074089"/>
                  </a:lnTo>
                  <a:lnTo>
                    <a:pt x="223215" y="878078"/>
                  </a:lnTo>
                  <a:lnTo>
                    <a:pt x="270738" y="850557"/>
                  </a:lnTo>
                  <a:lnTo>
                    <a:pt x="289521" y="848614"/>
                  </a:lnTo>
                  <a:lnTo>
                    <a:pt x="308622" y="850531"/>
                  </a:lnTo>
                  <a:lnTo>
                    <a:pt x="357949" y="875919"/>
                  </a:lnTo>
                  <a:lnTo>
                    <a:pt x="379298" y="907681"/>
                  </a:lnTo>
                  <a:lnTo>
                    <a:pt x="386016" y="943343"/>
                  </a:lnTo>
                  <a:lnTo>
                    <a:pt x="378701" y="978992"/>
                  </a:lnTo>
                  <a:lnTo>
                    <a:pt x="357949" y="1010666"/>
                  </a:lnTo>
                  <a:lnTo>
                    <a:pt x="216801" y="1147572"/>
                  </a:lnTo>
                  <a:lnTo>
                    <a:pt x="212534" y="1151763"/>
                  </a:lnTo>
                  <a:lnTo>
                    <a:pt x="212534" y="1160145"/>
                  </a:lnTo>
                  <a:lnTo>
                    <a:pt x="216801" y="1164336"/>
                  </a:lnTo>
                  <a:lnTo>
                    <a:pt x="221081" y="1166495"/>
                  </a:lnTo>
                  <a:lnTo>
                    <a:pt x="223215" y="1168654"/>
                  </a:lnTo>
                  <a:lnTo>
                    <a:pt x="229641" y="1168654"/>
                  </a:lnTo>
                  <a:lnTo>
                    <a:pt x="231775" y="1166495"/>
                  </a:lnTo>
                  <a:lnTo>
                    <a:pt x="236054" y="1164336"/>
                  </a:lnTo>
                  <a:lnTo>
                    <a:pt x="375069" y="1027557"/>
                  </a:lnTo>
                  <a:lnTo>
                    <a:pt x="401523" y="988199"/>
                  </a:lnTo>
                  <a:lnTo>
                    <a:pt x="410349" y="943317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992241" y="1890776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234061" y="0"/>
                  </a:moveTo>
                  <a:lnTo>
                    <a:pt x="186884" y="4760"/>
                  </a:lnTo>
                  <a:lnTo>
                    <a:pt x="142946" y="18411"/>
                  </a:lnTo>
                  <a:lnTo>
                    <a:pt x="103187" y="40009"/>
                  </a:lnTo>
                  <a:lnTo>
                    <a:pt x="68548" y="68611"/>
                  </a:lnTo>
                  <a:lnTo>
                    <a:pt x="39969" y="103274"/>
                  </a:lnTo>
                  <a:lnTo>
                    <a:pt x="18391" y="143053"/>
                  </a:lnTo>
                  <a:lnTo>
                    <a:pt x="4754" y="187006"/>
                  </a:lnTo>
                  <a:lnTo>
                    <a:pt x="0" y="234187"/>
                  </a:lnTo>
                  <a:lnTo>
                    <a:pt x="4754" y="281369"/>
                  </a:lnTo>
                  <a:lnTo>
                    <a:pt x="18391" y="325322"/>
                  </a:lnTo>
                  <a:lnTo>
                    <a:pt x="39969" y="365101"/>
                  </a:lnTo>
                  <a:lnTo>
                    <a:pt x="68548" y="399764"/>
                  </a:lnTo>
                  <a:lnTo>
                    <a:pt x="103187" y="428366"/>
                  </a:lnTo>
                  <a:lnTo>
                    <a:pt x="142946" y="449964"/>
                  </a:lnTo>
                  <a:lnTo>
                    <a:pt x="186884" y="463615"/>
                  </a:lnTo>
                  <a:lnTo>
                    <a:pt x="234061" y="468375"/>
                  </a:lnTo>
                  <a:lnTo>
                    <a:pt x="281279" y="463615"/>
                  </a:lnTo>
                  <a:lnTo>
                    <a:pt x="325248" y="449964"/>
                  </a:lnTo>
                  <a:lnTo>
                    <a:pt x="365030" y="428366"/>
                  </a:lnTo>
                  <a:lnTo>
                    <a:pt x="399684" y="399764"/>
                  </a:lnTo>
                  <a:lnTo>
                    <a:pt x="428273" y="365101"/>
                  </a:lnTo>
                  <a:lnTo>
                    <a:pt x="449855" y="325322"/>
                  </a:lnTo>
                  <a:lnTo>
                    <a:pt x="463494" y="281369"/>
                  </a:lnTo>
                  <a:lnTo>
                    <a:pt x="468249" y="234187"/>
                  </a:lnTo>
                  <a:lnTo>
                    <a:pt x="463494" y="187006"/>
                  </a:lnTo>
                  <a:lnTo>
                    <a:pt x="449855" y="143053"/>
                  </a:lnTo>
                  <a:lnTo>
                    <a:pt x="428273" y="103274"/>
                  </a:lnTo>
                  <a:lnTo>
                    <a:pt x="399684" y="68611"/>
                  </a:lnTo>
                  <a:lnTo>
                    <a:pt x="365030" y="40009"/>
                  </a:lnTo>
                  <a:lnTo>
                    <a:pt x="325248" y="18411"/>
                  </a:lnTo>
                  <a:lnTo>
                    <a:pt x="281279" y="4760"/>
                  </a:lnTo>
                  <a:lnTo>
                    <a:pt x="234061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992241" y="1890776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0" y="234187"/>
                  </a:moveTo>
                  <a:lnTo>
                    <a:pt x="4754" y="187006"/>
                  </a:lnTo>
                  <a:lnTo>
                    <a:pt x="18391" y="143053"/>
                  </a:lnTo>
                  <a:lnTo>
                    <a:pt x="39969" y="103274"/>
                  </a:lnTo>
                  <a:lnTo>
                    <a:pt x="68548" y="68611"/>
                  </a:lnTo>
                  <a:lnTo>
                    <a:pt x="103187" y="40009"/>
                  </a:lnTo>
                  <a:lnTo>
                    <a:pt x="142946" y="18411"/>
                  </a:lnTo>
                  <a:lnTo>
                    <a:pt x="186884" y="4760"/>
                  </a:lnTo>
                  <a:lnTo>
                    <a:pt x="234061" y="0"/>
                  </a:lnTo>
                  <a:lnTo>
                    <a:pt x="281279" y="4760"/>
                  </a:lnTo>
                  <a:lnTo>
                    <a:pt x="325248" y="18411"/>
                  </a:lnTo>
                  <a:lnTo>
                    <a:pt x="365030" y="40009"/>
                  </a:lnTo>
                  <a:lnTo>
                    <a:pt x="399684" y="68611"/>
                  </a:lnTo>
                  <a:lnTo>
                    <a:pt x="428273" y="103274"/>
                  </a:lnTo>
                  <a:lnTo>
                    <a:pt x="449855" y="143053"/>
                  </a:lnTo>
                  <a:lnTo>
                    <a:pt x="463494" y="187006"/>
                  </a:lnTo>
                  <a:lnTo>
                    <a:pt x="468249" y="234187"/>
                  </a:lnTo>
                  <a:lnTo>
                    <a:pt x="463494" y="281369"/>
                  </a:lnTo>
                  <a:lnTo>
                    <a:pt x="449855" y="325322"/>
                  </a:lnTo>
                  <a:lnTo>
                    <a:pt x="428273" y="365101"/>
                  </a:lnTo>
                  <a:lnTo>
                    <a:pt x="399684" y="399764"/>
                  </a:lnTo>
                  <a:lnTo>
                    <a:pt x="365030" y="428366"/>
                  </a:lnTo>
                  <a:lnTo>
                    <a:pt x="325248" y="449964"/>
                  </a:lnTo>
                  <a:lnTo>
                    <a:pt x="281279" y="463615"/>
                  </a:lnTo>
                  <a:lnTo>
                    <a:pt x="234061" y="468375"/>
                  </a:lnTo>
                  <a:lnTo>
                    <a:pt x="186884" y="463615"/>
                  </a:lnTo>
                  <a:lnTo>
                    <a:pt x="142946" y="449964"/>
                  </a:lnTo>
                  <a:lnTo>
                    <a:pt x="103187" y="428366"/>
                  </a:lnTo>
                  <a:lnTo>
                    <a:pt x="68548" y="399764"/>
                  </a:lnTo>
                  <a:lnTo>
                    <a:pt x="39969" y="365101"/>
                  </a:lnTo>
                  <a:lnTo>
                    <a:pt x="18391" y="325322"/>
                  </a:lnTo>
                  <a:lnTo>
                    <a:pt x="4754" y="281369"/>
                  </a:lnTo>
                  <a:lnTo>
                    <a:pt x="0" y="234187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370202" y="4189857"/>
            <a:ext cx="6419850" cy="12465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树的</a:t>
            </a:r>
            <a:r>
              <a:rPr sz="2800" spc="-5" dirty="0">
                <a:solidFill>
                  <a:srgbClr val="FF0000"/>
                </a:solidFill>
                <a:latin typeface="微软雅黑"/>
                <a:cs typeface="微软雅黑"/>
              </a:rPr>
              <a:t>前序遍历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等价于二叉树的</a:t>
            </a:r>
            <a:r>
              <a:rPr sz="2800" spc="-5" dirty="0">
                <a:solidFill>
                  <a:srgbClr val="FF0000"/>
                </a:solidFill>
                <a:latin typeface="微软雅黑"/>
                <a:cs typeface="微软雅黑"/>
              </a:rPr>
              <a:t>前序</a:t>
            </a:r>
            <a:r>
              <a:rPr sz="2800" spc="5" dirty="0">
                <a:solidFill>
                  <a:srgbClr val="FF0000"/>
                </a:solidFill>
                <a:latin typeface="微软雅黑"/>
                <a:cs typeface="微软雅黑"/>
              </a:rPr>
              <a:t>遍</a:t>
            </a:r>
            <a:r>
              <a:rPr sz="2800" spc="-35" dirty="0">
                <a:solidFill>
                  <a:srgbClr val="FF0000"/>
                </a:solidFill>
                <a:latin typeface="微软雅黑"/>
                <a:cs typeface="微软雅黑"/>
              </a:rPr>
              <a:t>历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！</a:t>
            </a:r>
            <a:endParaRPr sz="2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895"/>
              </a:spcBef>
            </a:pPr>
            <a:r>
              <a:rPr sz="2800" spc="-10" dirty="0">
                <a:solidFill>
                  <a:srgbClr val="404040"/>
                </a:solidFill>
                <a:latin typeface="微软雅黑"/>
                <a:cs typeface="微软雅黑"/>
              </a:rPr>
              <a:t>树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的</a:t>
            </a:r>
            <a:r>
              <a:rPr sz="2800" spc="-5" dirty="0">
                <a:solidFill>
                  <a:srgbClr val="FF0000"/>
                </a:solidFill>
                <a:latin typeface="微软雅黑"/>
                <a:cs typeface="微软雅黑"/>
              </a:rPr>
              <a:t>后</a:t>
            </a:r>
            <a:r>
              <a:rPr sz="2800" spc="-15" dirty="0">
                <a:solidFill>
                  <a:srgbClr val="FF0000"/>
                </a:solidFill>
                <a:latin typeface="微软雅黑"/>
                <a:cs typeface="微软雅黑"/>
              </a:rPr>
              <a:t>序</a:t>
            </a:r>
            <a:r>
              <a:rPr sz="2800" spc="-5" dirty="0">
                <a:solidFill>
                  <a:srgbClr val="FF0000"/>
                </a:solidFill>
                <a:latin typeface="微软雅黑"/>
                <a:cs typeface="微软雅黑"/>
              </a:rPr>
              <a:t>遍历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等价于二叉</a:t>
            </a:r>
            <a:r>
              <a:rPr sz="2800" spc="-25" dirty="0">
                <a:solidFill>
                  <a:srgbClr val="404040"/>
                </a:solidFill>
                <a:latin typeface="微软雅黑"/>
                <a:cs typeface="微软雅黑"/>
              </a:rPr>
              <a:t>树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的</a:t>
            </a:r>
            <a:r>
              <a:rPr sz="2800" spc="-5" dirty="0">
                <a:solidFill>
                  <a:srgbClr val="FF0000"/>
                </a:solidFill>
                <a:latin typeface="微软雅黑"/>
                <a:cs typeface="微软雅黑"/>
              </a:rPr>
              <a:t>中</a:t>
            </a:r>
            <a:r>
              <a:rPr sz="2800" spc="-15" dirty="0">
                <a:solidFill>
                  <a:srgbClr val="FF0000"/>
                </a:solidFill>
                <a:latin typeface="微软雅黑"/>
                <a:cs typeface="微软雅黑"/>
              </a:rPr>
              <a:t>序</a:t>
            </a:r>
            <a:r>
              <a:rPr sz="2800" spc="5" dirty="0">
                <a:solidFill>
                  <a:srgbClr val="FF0000"/>
                </a:solidFill>
                <a:latin typeface="微软雅黑"/>
                <a:cs typeface="微软雅黑"/>
              </a:rPr>
              <a:t>遍</a:t>
            </a:r>
            <a:r>
              <a:rPr sz="2800" spc="-10" dirty="0">
                <a:solidFill>
                  <a:srgbClr val="FF0000"/>
                </a:solidFill>
                <a:latin typeface="微软雅黑"/>
                <a:cs typeface="微软雅黑"/>
              </a:rPr>
              <a:t>历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！</a:t>
            </a:r>
            <a:endParaRPr sz="2800" dirty="0">
              <a:latin typeface="微软雅黑"/>
              <a:cs typeface="微软雅黑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112255" y="1919478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804727" y="1863788"/>
            <a:ext cx="497205" cy="497205"/>
            <a:chOff x="4804727" y="1863788"/>
            <a:chExt cx="497205" cy="497205"/>
          </a:xfrm>
        </p:grpSpPr>
        <p:sp>
          <p:nvSpPr>
            <p:cNvPr id="29" name="object 29"/>
            <p:cNvSpPr/>
            <p:nvPr/>
          </p:nvSpPr>
          <p:spPr>
            <a:xfrm>
              <a:off x="4819015" y="1878076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234187" y="0"/>
                  </a:moveTo>
                  <a:lnTo>
                    <a:pt x="187006" y="4760"/>
                  </a:lnTo>
                  <a:lnTo>
                    <a:pt x="143053" y="18411"/>
                  </a:lnTo>
                  <a:lnTo>
                    <a:pt x="103274" y="40009"/>
                  </a:lnTo>
                  <a:lnTo>
                    <a:pt x="68611" y="68611"/>
                  </a:lnTo>
                  <a:lnTo>
                    <a:pt x="40009" y="103274"/>
                  </a:lnTo>
                  <a:lnTo>
                    <a:pt x="18411" y="143053"/>
                  </a:lnTo>
                  <a:lnTo>
                    <a:pt x="4760" y="187006"/>
                  </a:lnTo>
                  <a:lnTo>
                    <a:pt x="0" y="234187"/>
                  </a:lnTo>
                  <a:lnTo>
                    <a:pt x="4760" y="281369"/>
                  </a:lnTo>
                  <a:lnTo>
                    <a:pt x="18411" y="325322"/>
                  </a:lnTo>
                  <a:lnTo>
                    <a:pt x="40009" y="365101"/>
                  </a:lnTo>
                  <a:lnTo>
                    <a:pt x="68611" y="399764"/>
                  </a:lnTo>
                  <a:lnTo>
                    <a:pt x="103274" y="428366"/>
                  </a:lnTo>
                  <a:lnTo>
                    <a:pt x="143053" y="449964"/>
                  </a:lnTo>
                  <a:lnTo>
                    <a:pt x="187006" y="463615"/>
                  </a:lnTo>
                  <a:lnTo>
                    <a:pt x="234187" y="468375"/>
                  </a:lnTo>
                  <a:lnTo>
                    <a:pt x="281369" y="463615"/>
                  </a:lnTo>
                  <a:lnTo>
                    <a:pt x="325322" y="449964"/>
                  </a:lnTo>
                  <a:lnTo>
                    <a:pt x="365101" y="428366"/>
                  </a:lnTo>
                  <a:lnTo>
                    <a:pt x="399764" y="399764"/>
                  </a:lnTo>
                  <a:lnTo>
                    <a:pt x="428366" y="365101"/>
                  </a:lnTo>
                  <a:lnTo>
                    <a:pt x="449964" y="325322"/>
                  </a:lnTo>
                  <a:lnTo>
                    <a:pt x="463615" y="281369"/>
                  </a:lnTo>
                  <a:lnTo>
                    <a:pt x="468375" y="234187"/>
                  </a:lnTo>
                  <a:lnTo>
                    <a:pt x="463615" y="187006"/>
                  </a:lnTo>
                  <a:lnTo>
                    <a:pt x="449964" y="143053"/>
                  </a:lnTo>
                  <a:lnTo>
                    <a:pt x="428366" y="103274"/>
                  </a:lnTo>
                  <a:lnTo>
                    <a:pt x="399764" y="68611"/>
                  </a:lnTo>
                  <a:lnTo>
                    <a:pt x="365101" y="40009"/>
                  </a:lnTo>
                  <a:lnTo>
                    <a:pt x="325322" y="18411"/>
                  </a:lnTo>
                  <a:lnTo>
                    <a:pt x="281369" y="4760"/>
                  </a:lnTo>
                  <a:lnTo>
                    <a:pt x="234187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819015" y="1878076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0" y="234187"/>
                  </a:moveTo>
                  <a:lnTo>
                    <a:pt x="4760" y="187006"/>
                  </a:lnTo>
                  <a:lnTo>
                    <a:pt x="18411" y="143053"/>
                  </a:lnTo>
                  <a:lnTo>
                    <a:pt x="40009" y="103274"/>
                  </a:lnTo>
                  <a:lnTo>
                    <a:pt x="68611" y="68611"/>
                  </a:lnTo>
                  <a:lnTo>
                    <a:pt x="103274" y="40009"/>
                  </a:lnTo>
                  <a:lnTo>
                    <a:pt x="143053" y="18411"/>
                  </a:lnTo>
                  <a:lnTo>
                    <a:pt x="187006" y="4760"/>
                  </a:lnTo>
                  <a:lnTo>
                    <a:pt x="234187" y="0"/>
                  </a:lnTo>
                  <a:lnTo>
                    <a:pt x="281369" y="4760"/>
                  </a:lnTo>
                  <a:lnTo>
                    <a:pt x="325322" y="18411"/>
                  </a:lnTo>
                  <a:lnTo>
                    <a:pt x="365101" y="40009"/>
                  </a:lnTo>
                  <a:lnTo>
                    <a:pt x="399764" y="68611"/>
                  </a:lnTo>
                  <a:lnTo>
                    <a:pt x="428366" y="103274"/>
                  </a:lnTo>
                  <a:lnTo>
                    <a:pt x="449964" y="143053"/>
                  </a:lnTo>
                  <a:lnTo>
                    <a:pt x="463615" y="187006"/>
                  </a:lnTo>
                  <a:lnTo>
                    <a:pt x="468375" y="234187"/>
                  </a:lnTo>
                  <a:lnTo>
                    <a:pt x="463615" y="281369"/>
                  </a:lnTo>
                  <a:lnTo>
                    <a:pt x="449964" y="325322"/>
                  </a:lnTo>
                  <a:lnTo>
                    <a:pt x="428366" y="365101"/>
                  </a:lnTo>
                  <a:lnTo>
                    <a:pt x="399764" y="399764"/>
                  </a:lnTo>
                  <a:lnTo>
                    <a:pt x="365101" y="428366"/>
                  </a:lnTo>
                  <a:lnTo>
                    <a:pt x="325322" y="449964"/>
                  </a:lnTo>
                  <a:lnTo>
                    <a:pt x="281369" y="463615"/>
                  </a:lnTo>
                  <a:lnTo>
                    <a:pt x="234187" y="468375"/>
                  </a:lnTo>
                  <a:lnTo>
                    <a:pt x="187006" y="463615"/>
                  </a:lnTo>
                  <a:lnTo>
                    <a:pt x="143053" y="449964"/>
                  </a:lnTo>
                  <a:lnTo>
                    <a:pt x="103274" y="428366"/>
                  </a:lnTo>
                  <a:lnTo>
                    <a:pt x="68611" y="399764"/>
                  </a:lnTo>
                  <a:lnTo>
                    <a:pt x="40009" y="365101"/>
                  </a:lnTo>
                  <a:lnTo>
                    <a:pt x="18411" y="325322"/>
                  </a:lnTo>
                  <a:lnTo>
                    <a:pt x="4760" y="281369"/>
                  </a:lnTo>
                  <a:lnTo>
                    <a:pt x="0" y="234187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939029" y="1906651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419788" y="2895663"/>
            <a:ext cx="497205" cy="497205"/>
            <a:chOff x="5419788" y="2895663"/>
            <a:chExt cx="497205" cy="497205"/>
          </a:xfrm>
        </p:grpSpPr>
        <p:sp>
          <p:nvSpPr>
            <p:cNvPr id="33" name="object 33"/>
            <p:cNvSpPr/>
            <p:nvPr/>
          </p:nvSpPr>
          <p:spPr>
            <a:xfrm>
              <a:off x="5434076" y="2909951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29">
                  <a:moveTo>
                    <a:pt x="234061" y="0"/>
                  </a:moveTo>
                  <a:lnTo>
                    <a:pt x="186884" y="4760"/>
                  </a:lnTo>
                  <a:lnTo>
                    <a:pt x="142946" y="18411"/>
                  </a:lnTo>
                  <a:lnTo>
                    <a:pt x="103187" y="40009"/>
                  </a:lnTo>
                  <a:lnTo>
                    <a:pt x="68548" y="68611"/>
                  </a:lnTo>
                  <a:lnTo>
                    <a:pt x="39969" y="103274"/>
                  </a:lnTo>
                  <a:lnTo>
                    <a:pt x="18391" y="143053"/>
                  </a:lnTo>
                  <a:lnTo>
                    <a:pt x="4754" y="187006"/>
                  </a:lnTo>
                  <a:lnTo>
                    <a:pt x="0" y="234187"/>
                  </a:lnTo>
                  <a:lnTo>
                    <a:pt x="4754" y="281369"/>
                  </a:lnTo>
                  <a:lnTo>
                    <a:pt x="18391" y="325322"/>
                  </a:lnTo>
                  <a:lnTo>
                    <a:pt x="39969" y="365101"/>
                  </a:lnTo>
                  <a:lnTo>
                    <a:pt x="68548" y="399764"/>
                  </a:lnTo>
                  <a:lnTo>
                    <a:pt x="103187" y="428366"/>
                  </a:lnTo>
                  <a:lnTo>
                    <a:pt x="142946" y="449964"/>
                  </a:lnTo>
                  <a:lnTo>
                    <a:pt x="186884" y="463615"/>
                  </a:lnTo>
                  <a:lnTo>
                    <a:pt x="234061" y="468375"/>
                  </a:lnTo>
                  <a:lnTo>
                    <a:pt x="281279" y="463615"/>
                  </a:lnTo>
                  <a:lnTo>
                    <a:pt x="325248" y="449964"/>
                  </a:lnTo>
                  <a:lnTo>
                    <a:pt x="365030" y="428366"/>
                  </a:lnTo>
                  <a:lnTo>
                    <a:pt x="399684" y="399764"/>
                  </a:lnTo>
                  <a:lnTo>
                    <a:pt x="428273" y="365101"/>
                  </a:lnTo>
                  <a:lnTo>
                    <a:pt x="449855" y="325322"/>
                  </a:lnTo>
                  <a:lnTo>
                    <a:pt x="463494" y="281369"/>
                  </a:lnTo>
                  <a:lnTo>
                    <a:pt x="468249" y="234187"/>
                  </a:lnTo>
                  <a:lnTo>
                    <a:pt x="463494" y="187006"/>
                  </a:lnTo>
                  <a:lnTo>
                    <a:pt x="449855" y="143053"/>
                  </a:lnTo>
                  <a:lnTo>
                    <a:pt x="428273" y="103274"/>
                  </a:lnTo>
                  <a:lnTo>
                    <a:pt x="399684" y="68611"/>
                  </a:lnTo>
                  <a:lnTo>
                    <a:pt x="365030" y="40009"/>
                  </a:lnTo>
                  <a:lnTo>
                    <a:pt x="325248" y="18411"/>
                  </a:lnTo>
                  <a:lnTo>
                    <a:pt x="281279" y="4760"/>
                  </a:lnTo>
                  <a:lnTo>
                    <a:pt x="234061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434076" y="2909951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29">
                  <a:moveTo>
                    <a:pt x="0" y="234187"/>
                  </a:moveTo>
                  <a:lnTo>
                    <a:pt x="4754" y="187006"/>
                  </a:lnTo>
                  <a:lnTo>
                    <a:pt x="18391" y="143053"/>
                  </a:lnTo>
                  <a:lnTo>
                    <a:pt x="39969" y="103274"/>
                  </a:lnTo>
                  <a:lnTo>
                    <a:pt x="68548" y="68611"/>
                  </a:lnTo>
                  <a:lnTo>
                    <a:pt x="103187" y="40009"/>
                  </a:lnTo>
                  <a:lnTo>
                    <a:pt x="142946" y="18411"/>
                  </a:lnTo>
                  <a:lnTo>
                    <a:pt x="186884" y="4760"/>
                  </a:lnTo>
                  <a:lnTo>
                    <a:pt x="234061" y="0"/>
                  </a:lnTo>
                  <a:lnTo>
                    <a:pt x="281279" y="4760"/>
                  </a:lnTo>
                  <a:lnTo>
                    <a:pt x="325248" y="18411"/>
                  </a:lnTo>
                  <a:lnTo>
                    <a:pt x="365030" y="40009"/>
                  </a:lnTo>
                  <a:lnTo>
                    <a:pt x="399684" y="68611"/>
                  </a:lnTo>
                  <a:lnTo>
                    <a:pt x="428273" y="103274"/>
                  </a:lnTo>
                  <a:lnTo>
                    <a:pt x="449855" y="143053"/>
                  </a:lnTo>
                  <a:lnTo>
                    <a:pt x="463494" y="187006"/>
                  </a:lnTo>
                  <a:lnTo>
                    <a:pt x="468249" y="234187"/>
                  </a:lnTo>
                  <a:lnTo>
                    <a:pt x="463494" y="281369"/>
                  </a:lnTo>
                  <a:lnTo>
                    <a:pt x="449855" y="325322"/>
                  </a:lnTo>
                  <a:lnTo>
                    <a:pt x="428273" y="365101"/>
                  </a:lnTo>
                  <a:lnTo>
                    <a:pt x="399684" y="399764"/>
                  </a:lnTo>
                  <a:lnTo>
                    <a:pt x="365030" y="428366"/>
                  </a:lnTo>
                  <a:lnTo>
                    <a:pt x="325248" y="449964"/>
                  </a:lnTo>
                  <a:lnTo>
                    <a:pt x="281279" y="463615"/>
                  </a:lnTo>
                  <a:lnTo>
                    <a:pt x="234061" y="468375"/>
                  </a:lnTo>
                  <a:lnTo>
                    <a:pt x="186884" y="463615"/>
                  </a:lnTo>
                  <a:lnTo>
                    <a:pt x="142946" y="449964"/>
                  </a:lnTo>
                  <a:lnTo>
                    <a:pt x="103187" y="428366"/>
                  </a:lnTo>
                  <a:lnTo>
                    <a:pt x="68548" y="399764"/>
                  </a:lnTo>
                  <a:lnTo>
                    <a:pt x="39969" y="365101"/>
                  </a:lnTo>
                  <a:lnTo>
                    <a:pt x="18391" y="325322"/>
                  </a:lnTo>
                  <a:lnTo>
                    <a:pt x="4754" y="281369"/>
                  </a:lnTo>
                  <a:lnTo>
                    <a:pt x="0" y="234187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553836" y="2938653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116133" y="2895663"/>
            <a:ext cx="497205" cy="497205"/>
            <a:chOff x="4116133" y="2895663"/>
            <a:chExt cx="497205" cy="497205"/>
          </a:xfrm>
        </p:grpSpPr>
        <p:sp>
          <p:nvSpPr>
            <p:cNvPr id="37" name="object 37"/>
            <p:cNvSpPr/>
            <p:nvPr/>
          </p:nvSpPr>
          <p:spPr>
            <a:xfrm>
              <a:off x="4130421" y="2909951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29">
                  <a:moveTo>
                    <a:pt x="234061" y="0"/>
                  </a:moveTo>
                  <a:lnTo>
                    <a:pt x="186884" y="4760"/>
                  </a:lnTo>
                  <a:lnTo>
                    <a:pt x="142946" y="18411"/>
                  </a:lnTo>
                  <a:lnTo>
                    <a:pt x="103187" y="40009"/>
                  </a:lnTo>
                  <a:lnTo>
                    <a:pt x="68548" y="68611"/>
                  </a:lnTo>
                  <a:lnTo>
                    <a:pt x="39969" y="103274"/>
                  </a:lnTo>
                  <a:lnTo>
                    <a:pt x="18391" y="143053"/>
                  </a:lnTo>
                  <a:lnTo>
                    <a:pt x="4754" y="187006"/>
                  </a:lnTo>
                  <a:lnTo>
                    <a:pt x="0" y="234187"/>
                  </a:lnTo>
                  <a:lnTo>
                    <a:pt x="4754" y="281369"/>
                  </a:lnTo>
                  <a:lnTo>
                    <a:pt x="18391" y="325322"/>
                  </a:lnTo>
                  <a:lnTo>
                    <a:pt x="39969" y="365101"/>
                  </a:lnTo>
                  <a:lnTo>
                    <a:pt x="68548" y="399764"/>
                  </a:lnTo>
                  <a:lnTo>
                    <a:pt x="103187" y="428366"/>
                  </a:lnTo>
                  <a:lnTo>
                    <a:pt x="142946" y="449964"/>
                  </a:lnTo>
                  <a:lnTo>
                    <a:pt x="186884" y="463615"/>
                  </a:lnTo>
                  <a:lnTo>
                    <a:pt x="234061" y="468375"/>
                  </a:lnTo>
                  <a:lnTo>
                    <a:pt x="281279" y="463615"/>
                  </a:lnTo>
                  <a:lnTo>
                    <a:pt x="325248" y="449964"/>
                  </a:lnTo>
                  <a:lnTo>
                    <a:pt x="365030" y="428366"/>
                  </a:lnTo>
                  <a:lnTo>
                    <a:pt x="399684" y="399764"/>
                  </a:lnTo>
                  <a:lnTo>
                    <a:pt x="428273" y="365101"/>
                  </a:lnTo>
                  <a:lnTo>
                    <a:pt x="449855" y="325322"/>
                  </a:lnTo>
                  <a:lnTo>
                    <a:pt x="463494" y="281369"/>
                  </a:lnTo>
                  <a:lnTo>
                    <a:pt x="468249" y="234187"/>
                  </a:lnTo>
                  <a:lnTo>
                    <a:pt x="463494" y="187006"/>
                  </a:lnTo>
                  <a:lnTo>
                    <a:pt x="449855" y="143053"/>
                  </a:lnTo>
                  <a:lnTo>
                    <a:pt x="428273" y="103274"/>
                  </a:lnTo>
                  <a:lnTo>
                    <a:pt x="399684" y="68611"/>
                  </a:lnTo>
                  <a:lnTo>
                    <a:pt x="365030" y="40009"/>
                  </a:lnTo>
                  <a:lnTo>
                    <a:pt x="325248" y="18411"/>
                  </a:lnTo>
                  <a:lnTo>
                    <a:pt x="281279" y="4760"/>
                  </a:lnTo>
                  <a:lnTo>
                    <a:pt x="234061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130421" y="2909951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29">
                  <a:moveTo>
                    <a:pt x="0" y="234187"/>
                  </a:moveTo>
                  <a:lnTo>
                    <a:pt x="4754" y="187006"/>
                  </a:lnTo>
                  <a:lnTo>
                    <a:pt x="18391" y="143053"/>
                  </a:lnTo>
                  <a:lnTo>
                    <a:pt x="39969" y="103274"/>
                  </a:lnTo>
                  <a:lnTo>
                    <a:pt x="68548" y="68611"/>
                  </a:lnTo>
                  <a:lnTo>
                    <a:pt x="103187" y="40009"/>
                  </a:lnTo>
                  <a:lnTo>
                    <a:pt x="142946" y="18411"/>
                  </a:lnTo>
                  <a:lnTo>
                    <a:pt x="186884" y="4760"/>
                  </a:lnTo>
                  <a:lnTo>
                    <a:pt x="234061" y="0"/>
                  </a:lnTo>
                  <a:lnTo>
                    <a:pt x="281279" y="4760"/>
                  </a:lnTo>
                  <a:lnTo>
                    <a:pt x="325248" y="18411"/>
                  </a:lnTo>
                  <a:lnTo>
                    <a:pt x="365030" y="40009"/>
                  </a:lnTo>
                  <a:lnTo>
                    <a:pt x="399684" y="68611"/>
                  </a:lnTo>
                  <a:lnTo>
                    <a:pt x="428273" y="103274"/>
                  </a:lnTo>
                  <a:lnTo>
                    <a:pt x="449855" y="143053"/>
                  </a:lnTo>
                  <a:lnTo>
                    <a:pt x="463494" y="187006"/>
                  </a:lnTo>
                  <a:lnTo>
                    <a:pt x="468249" y="234187"/>
                  </a:lnTo>
                  <a:lnTo>
                    <a:pt x="463494" y="281369"/>
                  </a:lnTo>
                  <a:lnTo>
                    <a:pt x="449855" y="325322"/>
                  </a:lnTo>
                  <a:lnTo>
                    <a:pt x="428273" y="365101"/>
                  </a:lnTo>
                  <a:lnTo>
                    <a:pt x="399684" y="399764"/>
                  </a:lnTo>
                  <a:lnTo>
                    <a:pt x="365030" y="428366"/>
                  </a:lnTo>
                  <a:lnTo>
                    <a:pt x="325248" y="449964"/>
                  </a:lnTo>
                  <a:lnTo>
                    <a:pt x="281279" y="463615"/>
                  </a:lnTo>
                  <a:lnTo>
                    <a:pt x="234061" y="468375"/>
                  </a:lnTo>
                  <a:lnTo>
                    <a:pt x="186884" y="463615"/>
                  </a:lnTo>
                  <a:lnTo>
                    <a:pt x="142946" y="449964"/>
                  </a:lnTo>
                  <a:lnTo>
                    <a:pt x="103187" y="428366"/>
                  </a:lnTo>
                  <a:lnTo>
                    <a:pt x="68548" y="399764"/>
                  </a:lnTo>
                  <a:lnTo>
                    <a:pt x="39969" y="365101"/>
                  </a:lnTo>
                  <a:lnTo>
                    <a:pt x="18391" y="325322"/>
                  </a:lnTo>
                  <a:lnTo>
                    <a:pt x="4754" y="281369"/>
                  </a:lnTo>
                  <a:lnTo>
                    <a:pt x="0" y="234187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250182" y="2938653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448238" y="1897824"/>
            <a:ext cx="3058795" cy="1051560"/>
            <a:chOff x="4448238" y="1897824"/>
            <a:chExt cx="3058795" cy="1051560"/>
          </a:xfrm>
        </p:grpSpPr>
        <p:sp>
          <p:nvSpPr>
            <p:cNvPr id="41" name="object 41"/>
            <p:cNvSpPr/>
            <p:nvPr/>
          </p:nvSpPr>
          <p:spPr>
            <a:xfrm>
              <a:off x="4462526" y="2285491"/>
              <a:ext cx="412750" cy="649605"/>
            </a:xfrm>
            <a:custGeom>
              <a:avLst/>
              <a:gdLst/>
              <a:ahLst/>
              <a:cxnLst/>
              <a:rect l="l" t="t" r="r" b="b"/>
              <a:pathLst>
                <a:path w="412750" h="649605">
                  <a:moveTo>
                    <a:pt x="412750" y="0"/>
                  </a:moveTo>
                  <a:lnTo>
                    <a:pt x="0" y="649224"/>
                  </a:lnTo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024370" y="1912111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234187" y="0"/>
                  </a:moveTo>
                  <a:lnTo>
                    <a:pt x="187006" y="4754"/>
                  </a:lnTo>
                  <a:lnTo>
                    <a:pt x="143053" y="18393"/>
                  </a:lnTo>
                  <a:lnTo>
                    <a:pt x="103274" y="39975"/>
                  </a:lnTo>
                  <a:lnTo>
                    <a:pt x="68611" y="68564"/>
                  </a:lnTo>
                  <a:lnTo>
                    <a:pt x="40009" y="103218"/>
                  </a:lnTo>
                  <a:lnTo>
                    <a:pt x="18411" y="143000"/>
                  </a:lnTo>
                  <a:lnTo>
                    <a:pt x="4760" y="186969"/>
                  </a:lnTo>
                  <a:lnTo>
                    <a:pt x="0" y="234187"/>
                  </a:lnTo>
                  <a:lnTo>
                    <a:pt x="4760" y="281364"/>
                  </a:lnTo>
                  <a:lnTo>
                    <a:pt x="18411" y="325302"/>
                  </a:lnTo>
                  <a:lnTo>
                    <a:pt x="40009" y="365061"/>
                  </a:lnTo>
                  <a:lnTo>
                    <a:pt x="68611" y="399700"/>
                  </a:lnTo>
                  <a:lnTo>
                    <a:pt x="103274" y="428279"/>
                  </a:lnTo>
                  <a:lnTo>
                    <a:pt x="143053" y="449857"/>
                  </a:lnTo>
                  <a:lnTo>
                    <a:pt x="187006" y="463494"/>
                  </a:lnTo>
                  <a:lnTo>
                    <a:pt x="234187" y="468249"/>
                  </a:lnTo>
                  <a:lnTo>
                    <a:pt x="281369" y="463494"/>
                  </a:lnTo>
                  <a:lnTo>
                    <a:pt x="325322" y="449857"/>
                  </a:lnTo>
                  <a:lnTo>
                    <a:pt x="365101" y="428279"/>
                  </a:lnTo>
                  <a:lnTo>
                    <a:pt x="399764" y="399700"/>
                  </a:lnTo>
                  <a:lnTo>
                    <a:pt x="428366" y="365061"/>
                  </a:lnTo>
                  <a:lnTo>
                    <a:pt x="449964" y="325302"/>
                  </a:lnTo>
                  <a:lnTo>
                    <a:pt x="463615" y="281364"/>
                  </a:lnTo>
                  <a:lnTo>
                    <a:pt x="468375" y="234187"/>
                  </a:lnTo>
                  <a:lnTo>
                    <a:pt x="463615" y="186969"/>
                  </a:lnTo>
                  <a:lnTo>
                    <a:pt x="449964" y="143000"/>
                  </a:lnTo>
                  <a:lnTo>
                    <a:pt x="428366" y="103218"/>
                  </a:lnTo>
                  <a:lnTo>
                    <a:pt x="399764" y="68564"/>
                  </a:lnTo>
                  <a:lnTo>
                    <a:pt x="365101" y="39975"/>
                  </a:lnTo>
                  <a:lnTo>
                    <a:pt x="325322" y="18393"/>
                  </a:lnTo>
                  <a:lnTo>
                    <a:pt x="281369" y="4754"/>
                  </a:lnTo>
                  <a:lnTo>
                    <a:pt x="234187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024370" y="1912111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0" y="234187"/>
                  </a:moveTo>
                  <a:lnTo>
                    <a:pt x="4760" y="186969"/>
                  </a:lnTo>
                  <a:lnTo>
                    <a:pt x="18411" y="143000"/>
                  </a:lnTo>
                  <a:lnTo>
                    <a:pt x="40009" y="103218"/>
                  </a:lnTo>
                  <a:lnTo>
                    <a:pt x="68611" y="68564"/>
                  </a:lnTo>
                  <a:lnTo>
                    <a:pt x="103274" y="39975"/>
                  </a:lnTo>
                  <a:lnTo>
                    <a:pt x="143053" y="18393"/>
                  </a:lnTo>
                  <a:lnTo>
                    <a:pt x="187006" y="4754"/>
                  </a:lnTo>
                  <a:lnTo>
                    <a:pt x="234187" y="0"/>
                  </a:lnTo>
                  <a:lnTo>
                    <a:pt x="281369" y="4754"/>
                  </a:lnTo>
                  <a:lnTo>
                    <a:pt x="325322" y="18393"/>
                  </a:lnTo>
                  <a:lnTo>
                    <a:pt x="365101" y="39975"/>
                  </a:lnTo>
                  <a:lnTo>
                    <a:pt x="399764" y="68564"/>
                  </a:lnTo>
                  <a:lnTo>
                    <a:pt x="428366" y="103218"/>
                  </a:lnTo>
                  <a:lnTo>
                    <a:pt x="449964" y="143000"/>
                  </a:lnTo>
                  <a:lnTo>
                    <a:pt x="463615" y="186969"/>
                  </a:lnTo>
                  <a:lnTo>
                    <a:pt x="468375" y="234187"/>
                  </a:lnTo>
                  <a:lnTo>
                    <a:pt x="463615" y="281364"/>
                  </a:lnTo>
                  <a:lnTo>
                    <a:pt x="449964" y="325302"/>
                  </a:lnTo>
                  <a:lnTo>
                    <a:pt x="428366" y="365061"/>
                  </a:lnTo>
                  <a:lnTo>
                    <a:pt x="399764" y="399700"/>
                  </a:lnTo>
                  <a:lnTo>
                    <a:pt x="365101" y="428279"/>
                  </a:lnTo>
                  <a:lnTo>
                    <a:pt x="325322" y="449857"/>
                  </a:lnTo>
                  <a:lnTo>
                    <a:pt x="281369" y="463494"/>
                  </a:lnTo>
                  <a:lnTo>
                    <a:pt x="234187" y="468249"/>
                  </a:lnTo>
                  <a:lnTo>
                    <a:pt x="187006" y="463494"/>
                  </a:lnTo>
                  <a:lnTo>
                    <a:pt x="143053" y="449857"/>
                  </a:lnTo>
                  <a:lnTo>
                    <a:pt x="103274" y="428279"/>
                  </a:lnTo>
                  <a:lnTo>
                    <a:pt x="68611" y="399700"/>
                  </a:lnTo>
                  <a:lnTo>
                    <a:pt x="40009" y="365061"/>
                  </a:lnTo>
                  <a:lnTo>
                    <a:pt x="18411" y="325302"/>
                  </a:lnTo>
                  <a:lnTo>
                    <a:pt x="4760" y="281364"/>
                  </a:lnTo>
                  <a:lnTo>
                    <a:pt x="0" y="234187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7137018" y="1940814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552247" y="2916999"/>
            <a:ext cx="497205" cy="497205"/>
            <a:chOff x="6552247" y="2916999"/>
            <a:chExt cx="497205" cy="497205"/>
          </a:xfrm>
        </p:grpSpPr>
        <p:sp>
          <p:nvSpPr>
            <p:cNvPr id="46" name="object 46"/>
            <p:cNvSpPr/>
            <p:nvPr/>
          </p:nvSpPr>
          <p:spPr>
            <a:xfrm>
              <a:off x="6566534" y="2931286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29">
                  <a:moveTo>
                    <a:pt x="234188" y="0"/>
                  </a:moveTo>
                  <a:lnTo>
                    <a:pt x="187006" y="4754"/>
                  </a:lnTo>
                  <a:lnTo>
                    <a:pt x="143053" y="18393"/>
                  </a:lnTo>
                  <a:lnTo>
                    <a:pt x="103274" y="39975"/>
                  </a:lnTo>
                  <a:lnTo>
                    <a:pt x="68611" y="68564"/>
                  </a:lnTo>
                  <a:lnTo>
                    <a:pt x="40009" y="103218"/>
                  </a:lnTo>
                  <a:lnTo>
                    <a:pt x="18411" y="143000"/>
                  </a:lnTo>
                  <a:lnTo>
                    <a:pt x="4760" y="186969"/>
                  </a:lnTo>
                  <a:lnTo>
                    <a:pt x="0" y="234187"/>
                  </a:lnTo>
                  <a:lnTo>
                    <a:pt x="4760" y="281364"/>
                  </a:lnTo>
                  <a:lnTo>
                    <a:pt x="18411" y="325302"/>
                  </a:lnTo>
                  <a:lnTo>
                    <a:pt x="40009" y="365061"/>
                  </a:lnTo>
                  <a:lnTo>
                    <a:pt x="68611" y="399700"/>
                  </a:lnTo>
                  <a:lnTo>
                    <a:pt x="103274" y="428279"/>
                  </a:lnTo>
                  <a:lnTo>
                    <a:pt x="143053" y="449857"/>
                  </a:lnTo>
                  <a:lnTo>
                    <a:pt x="187006" y="463494"/>
                  </a:lnTo>
                  <a:lnTo>
                    <a:pt x="234188" y="468249"/>
                  </a:lnTo>
                  <a:lnTo>
                    <a:pt x="281369" y="463494"/>
                  </a:lnTo>
                  <a:lnTo>
                    <a:pt x="325322" y="449857"/>
                  </a:lnTo>
                  <a:lnTo>
                    <a:pt x="365101" y="428279"/>
                  </a:lnTo>
                  <a:lnTo>
                    <a:pt x="399764" y="399700"/>
                  </a:lnTo>
                  <a:lnTo>
                    <a:pt x="428366" y="365061"/>
                  </a:lnTo>
                  <a:lnTo>
                    <a:pt x="449964" y="325302"/>
                  </a:lnTo>
                  <a:lnTo>
                    <a:pt x="463615" y="281364"/>
                  </a:lnTo>
                  <a:lnTo>
                    <a:pt x="468375" y="234187"/>
                  </a:lnTo>
                  <a:lnTo>
                    <a:pt x="463615" y="186969"/>
                  </a:lnTo>
                  <a:lnTo>
                    <a:pt x="449964" y="143000"/>
                  </a:lnTo>
                  <a:lnTo>
                    <a:pt x="428366" y="103218"/>
                  </a:lnTo>
                  <a:lnTo>
                    <a:pt x="399764" y="68564"/>
                  </a:lnTo>
                  <a:lnTo>
                    <a:pt x="365101" y="39975"/>
                  </a:lnTo>
                  <a:lnTo>
                    <a:pt x="325322" y="18393"/>
                  </a:lnTo>
                  <a:lnTo>
                    <a:pt x="281369" y="4754"/>
                  </a:lnTo>
                  <a:lnTo>
                    <a:pt x="234188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566534" y="2931286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29">
                  <a:moveTo>
                    <a:pt x="0" y="234187"/>
                  </a:moveTo>
                  <a:lnTo>
                    <a:pt x="4760" y="186969"/>
                  </a:lnTo>
                  <a:lnTo>
                    <a:pt x="18411" y="143000"/>
                  </a:lnTo>
                  <a:lnTo>
                    <a:pt x="40009" y="103218"/>
                  </a:lnTo>
                  <a:lnTo>
                    <a:pt x="68611" y="68564"/>
                  </a:lnTo>
                  <a:lnTo>
                    <a:pt x="103274" y="39975"/>
                  </a:lnTo>
                  <a:lnTo>
                    <a:pt x="143053" y="18393"/>
                  </a:lnTo>
                  <a:lnTo>
                    <a:pt x="187006" y="4754"/>
                  </a:lnTo>
                  <a:lnTo>
                    <a:pt x="234188" y="0"/>
                  </a:lnTo>
                  <a:lnTo>
                    <a:pt x="281369" y="4754"/>
                  </a:lnTo>
                  <a:lnTo>
                    <a:pt x="325322" y="18393"/>
                  </a:lnTo>
                  <a:lnTo>
                    <a:pt x="365101" y="39975"/>
                  </a:lnTo>
                  <a:lnTo>
                    <a:pt x="399764" y="68564"/>
                  </a:lnTo>
                  <a:lnTo>
                    <a:pt x="428366" y="103218"/>
                  </a:lnTo>
                  <a:lnTo>
                    <a:pt x="449964" y="143000"/>
                  </a:lnTo>
                  <a:lnTo>
                    <a:pt x="463615" y="186969"/>
                  </a:lnTo>
                  <a:lnTo>
                    <a:pt x="468375" y="234187"/>
                  </a:lnTo>
                  <a:lnTo>
                    <a:pt x="463615" y="281364"/>
                  </a:lnTo>
                  <a:lnTo>
                    <a:pt x="449964" y="325302"/>
                  </a:lnTo>
                  <a:lnTo>
                    <a:pt x="428366" y="365061"/>
                  </a:lnTo>
                  <a:lnTo>
                    <a:pt x="399764" y="399700"/>
                  </a:lnTo>
                  <a:lnTo>
                    <a:pt x="365101" y="428279"/>
                  </a:lnTo>
                  <a:lnTo>
                    <a:pt x="325322" y="449857"/>
                  </a:lnTo>
                  <a:lnTo>
                    <a:pt x="281369" y="463494"/>
                  </a:lnTo>
                  <a:lnTo>
                    <a:pt x="234188" y="468249"/>
                  </a:lnTo>
                  <a:lnTo>
                    <a:pt x="187006" y="463494"/>
                  </a:lnTo>
                  <a:lnTo>
                    <a:pt x="143053" y="449857"/>
                  </a:lnTo>
                  <a:lnTo>
                    <a:pt x="103274" y="428279"/>
                  </a:lnTo>
                  <a:lnTo>
                    <a:pt x="68611" y="399700"/>
                  </a:lnTo>
                  <a:lnTo>
                    <a:pt x="40009" y="365061"/>
                  </a:lnTo>
                  <a:lnTo>
                    <a:pt x="18411" y="325302"/>
                  </a:lnTo>
                  <a:lnTo>
                    <a:pt x="4760" y="281364"/>
                  </a:lnTo>
                  <a:lnTo>
                    <a:pt x="0" y="234187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6679183" y="2959989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G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5961443" y="815149"/>
            <a:ext cx="1185545" cy="2148840"/>
            <a:chOff x="5961443" y="815149"/>
            <a:chExt cx="1185545" cy="2148840"/>
          </a:xfrm>
        </p:grpSpPr>
        <p:sp>
          <p:nvSpPr>
            <p:cNvPr id="50" name="object 50"/>
            <p:cNvSpPr/>
            <p:nvPr/>
          </p:nvSpPr>
          <p:spPr>
            <a:xfrm>
              <a:off x="6835520" y="2346070"/>
              <a:ext cx="297180" cy="603250"/>
            </a:xfrm>
            <a:custGeom>
              <a:avLst/>
              <a:gdLst/>
              <a:ahLst/>
              <a:cxnLst/>
              <a:rect l="l" t="t" r="r" b="b"/>
              <a:pathLst>
                <a:path w="297179" h="603250">
                  <a:moveTo>
                    <a:pt x="296799" y="0"/>
                  </a:moveTo>
                  <a:lnTo>
                    <a:pt x="0" y="603250"/>
                  </a:lnTo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975730" y="829436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234061" y="0"/>
                  </a:moveTo>
                  <a:lnTo>
                    <a:pt x="186884" y="4754"/>
                  </a:lnTo>
                  <a:lnTo>
                    <a:pt x="142946" y="18393"/>
                  </a:lnTo>
                  <a:lnTo>
                    <a:pt x="103187" y="39975"/>
                  </a:lnTo>
                  <a:lnTo>
                    <a:pt x="68548" y="68564"/>
                  </a:lnTo>
                  <a:lnTo>
                    <a:pt x="39969" y="103218"/>
                  </a:lnTo>
                  <a:lnTo>
                    <a:pt x="18391" y="143000"/>
                  </a:lnTo>
                  <a:lnTo>
                    <a:pt x="4754" y="186969"/>
                  </a:lnTo>
                  <a:lnTo>
                    <a:pt x="0" y="234187"/>
                  </a:lnTo>
                  <a:lnTo>
                    <a:pt x="4754" y="281364"/>
                  </a:lnTo>
                  <a:lnTo>
                    <a:pt x="18391" y="325302"/>
                  </a:lnTo>
                  <a:lnTo>
                    <a:pt x="39969" y="365061"/>
                  </a:lnTo>
                  <a:lnTo>
                    <a:pt x="68548" y="399700"/>
                  </a:lnTo>
                  <a:lnTo>
                    <a:pt x="103187" y="428279"/>
                  </a:lnTo>
                  <a:lnTo>
                    <a:pt x="142946" y="449857"/>
                  </a:lnTo>
                  <a:lnTo>
                    <a:pt x="186884" y="463494"/>
                  </a:lnTo>
                  <a:lnTo>
                    <a:pt x="234061" y="468249"/>
                  </a:lnTo>
                  <a:lnTo>
                    <a:pt x="281279" y="463494"/>
                  </a:lnTo>
                  <a:lnTo>
                    <a:pt x="325248" y="449857"/>
                  </a:lnTo>
                  <a:lnTo>
                    <a:pt x="365030" y="428279"/>
                  </a:lnTo>
                  <a:lnTo>
                    <a:pt x="399684" y="399700"/>
                  </a:lnTo>
                  <a:lnTo>
                    <a:pt x="428273" y="365061"/>
                  </a:lnTo>
                  <a:lnTo>
                    <a:pt x="449855" y="325302"/>
                  </a:lnTo>
                  <a:lnTo>
                    <a:pt x="463494" y="281364"/>
                  </a:lnTo>
                  <a:lnTo>
                    <a:pt x="468249" y="234187"/>
                  </a:lnTo>
                  <a:lnTo>
                    <a:pt x="463494" y="186969"/>
                  </a:lnTo>
                  <a:lnTo>
                    <a:pt x="449855" y="143000"/>
                  </a:lnTo>
                  <a:lnTo>
                    <a:pt x="428273" y="103218"/>
                  </a:lnTo>
                  <a:lnTo>
                    <a:pt x="399684" y="68564"/>
                  </a:lnTo>
                  <a:lnTo>
                    <a:pt x="365030" y="39975"/>
                  </a:lnTo>
                  <a:lnTo>
                    <a:pt x="325248" y="18393"/>
                  </a:lnTo>
                  <a:lnTo>
                    <a:pt x="281279" y="4754"/>
                  </a:lnTo>
                  <a:lnTo>
                    <a:pt x="234061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975730" y="829436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0" y="234187"/>
                  </a:moveTo>
                  <a:lnTo>
                    <a:pt x="4754" y="186969"/>
                  </a:lnTo>
                  <a:lnTo>
                    <a:pt x="18391" y="143000"/>
                  </a:lnTo>
                  <a:lnTo>
                    <a:pt x="39969" y="103218"/>
                  </a:lnTo>
                  <a:lnTo>
                    <a:pt x="68548" y="68564"/>
                  </a:lnTo>
                  <a:lnTo>
                    <a:pt x="103187" y="39975"/>
                  </a:lnTo>
                  <a:lnTo>
                    <a:pt x="142946" y="18393"/>
                  </a:lnTo>
                  <a:lnTo>
                    <a:pt x="186884" y="4754"/>
                  </a:lnTo>
                  <a:lnTo>
                    <a:pt x="234061" y="0"/>
                  </a:lnTo>
                  <a:lnTo>
                    <a:pt x="281279" y="4754"/>
                  </a:lnTo>
                  <a:lnTo>
                    <a:pt x="325248" y="18393"/>
                  </a:lnTo>
                  <a:lnTo>
                    <a:pt x="365030" y="39975"/>
                  </a:lnTo>
                  <a:lnTo>
                    <a:pt x="399684" y="68564"/>
                  </a:lnTo>
                  <a:lnTo>
                    <a:pt x="428273" y="103218"/>
                  </a:lnTo>
                  <a:lnTo>
                    <a:pt x="449855" y="143000"/>
                  </a:lnTo>
                  <a:lnTo>
                    <a:pt x="463494" y="186969"/>
                  </a:lnTo>
                  <a:lnTo>
                    <a:pt x="468249" y="234187"/>
                  </a:lnTo>
                  <a:lnTo>
                    <a:pt x="463494" y="281364"/>
                  </a:lnTo>
                  <a:lnTo>
                    <a:pt x="449855" y="325302"/>
                  </a:lnTo>
                  <a:lnTo>
                    <a:pt x="428273" y="365061"/>
                  </a:lnTo>
                  <a:lnTo>
                    <a:pt x="399684" y="399700"/>
                  </a:lnTo>
                  <a:lnTo>
                    <a:pt x="365030" y="428279"/>
                  </a:lnTo>
                  <a:lnTo>
                    <a:pt x="325248" y="449857"/>
                  </a:lnTo>
                  <a:lnTo>
                    <a:pt x="281279" y="463494"/>
                  </a:lnTo>
                  <a:lnTo>
                    <a:pt x="234061" y="468249"/>
                  </a:lnTo>
                  <a:lnTo>
                    <a:pt x="186884" y="463494"/>
                  </a:lnTo>
                  <a:lnTo>
                    <a:pt x="142946" y="449857"/>
                  </a:lnTo>
                  <a:lnTo>
                    <a:pt x="103187" y="428279"/>
                  </a:lnTo>
                  <a:lnTo>
                    <a:pt x="68548" y="399700"/>
                  </a:lnTo>
                  <a:lnTo>
                    <a:pt x="39969" y="365061"/>
                  </a:lnTo>
                  <a:lnTo>
                    <a:pt x="18391" y="325302"/>
                  </a:lnTo>
                  <a:lnTo>
                    <a:pt x="4754" y="281364"/>
                  </a:lnTo>
                  <a:lnTo>
                    <a:pt x="0" y="234187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6095746" y="857758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5201030" y="1208786"/>
            <a:ext cx="1990725" cy="1740535"/>
          </a:xfrm>
          <a:custGeom>
            <a:avLst/>
            <a:gdLst/>
            <a:ahLst/>
            <a:cxnLst/>
            <a:rect l="l" t="t" r="r" b="b"/>
            <a:pathLst>
              <a:path w="1990725" h="1740535">
                <a:moveTo>
                  <a:pt x="827913" y="0"/>
                </a:moveTo>
                <a:lnTo>
                  <a:pt x="0" y="720089"/>
                </a:lnTo>
              </a:path>
              <a:path w="1990725" h="1740535">
                <a:moveTo>
                  <a:pt x="0" y="1089405"/>
                </a:moveTo>
                <a:lnTo>
                  <a:pt x="353949" y="1740280"/>
                </a:lnTo>
              </a:path>
              <a:path w="1990725" h="1740535">
                <a:moveTo>
                  <a:pt x="1012190" y="91439"/>
                </a:moveTo>
                <a:lnTo>
                  <a:pt x="1012190" y="681989"/>
                </a:lnTo>
              </a:path>
              <a:path w="1990725" h="1740535">
                <a:moveTo>
                  <a:pt x="1990471" y="725677"/>
                </a:moveTo>
                <a:lnTo>
                  <a:pt x="1198499" y="5587"/>
                </a:lnTo>
              </a:path>
            </a:pathLst>
          </a:custGeom>
          <a:ln w="28575">
            <a:solidFill>
              <a:srgbClr val="507C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65450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48643" y="2017267"/>
            <a:ext cx="152400" cy="25355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algn="just">
              <a:lnSpc>
                <a:spcPts val="1000"/>
              </a:lnSpc>
              <a:spcBef>
                <a:spcPts val="2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数 据 结 构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880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（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从 概 念 到 实 现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975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640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清 华 大 学 出 版 社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42925" y="100964"/>
            <a:ext cx="3600450" cy="540385"/>
          </a:xfrm>
          <a:custGeom>
            <a:avLst/>
            <a:gdLst/>
            <a:ahLst/>
            <a:cxnLst/>
            <a:rect l="l" t="t" r="r" b="b"/>
            <a:pathLst>
              <a:path w="3600450" h="540385">
                <a:moveTo>
                  <a:pt x="3510026" y="0"/>
                </a:moveTo>
                <a:lnTo>
                  <a:pt x="90004" y="0"/>
                </a:lnTo>
                <a:lnTo>
                  <a:pt x="54971" y="7068"/>
                </a:lnTo>
                <a:lnTo>
                  <a:pt x="26362" y="26352"/>
                </a:lnTo>
                <a:lnTo>
                  <a:pt x="7073" y="54971"/>
                </a:lnTo>
                <a:lnTo>
                  <a:pt x="0" y="90042"/>
                </a:lnTo>
                <a:lnTo>
                  <a:pt x="0" y="449960"/>
                </a:lnTo>
                <a:lnTo>
                  <a:pt x="7073" y="485032"/>
                </a:lnTo>
                <a:lnTo>
                  <a:pt x="26362" y="513651"/>
                </a:lnTo>
                <a:lnTo>
                  <a:pt x="54971" y="532935"/>
                </a:lnTo>
                <a:lnTo>
                  <a:pt x="90004" y="540003"/>
                </a:lnTo>
                <a:lnTo>
                  <a:pt x="3510026" y="540003"/>
                </a:lnTo>
                <a:lnTo>
                  <a:pt x="3545024" y="532935"/>
                </a:lnTo>
                <a:lnTo>
                  <a:pt x="3573605" y="513651"/>
                </a:lnTo>
                <a:lnTo>
                  <a:pt x="3592875" y="485032"/>
                </a:lnTo>
                <a:lnTo>
                  <a:pt x="3599941" y="449960"/>
                </a:lnTo>
                <a:lnTo>
                  <a:pt x="3599941" y="90042"/>
                </a:lnTo>
                <a:lnTo>
                  <a:pt x="3592875" y="54971"/>
                </a:lnTo>
                <a:lnTo>
                  <a:pt x="3573605" y="26352"/>
                </a:lnTo>
                <a:lnTo>
                  <a:pt x="3545024" y="7068"/>
                </a:lnTo>
                <a:lnTo>
                  <a:pt x="3510026" y="0"/>
                </a:lnTo>
                <a:close/>
              </a:path>
            </a:pathLst>
          </a:custGeom>
          <a:solidFill>
            <a:srgbClr val="5A31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6991" y="141809"/>
            <a:ext cx="328802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chemeClr val="bg1"/>
                </a:solidFill>
              </a:rPr>
              <a:t>森林</a:t>
            </a:r>
            <a:r>
              <a:rPr sz="2800" spc="-10" dirty="0">
                <a:solidFill>
                  <a:schemeClr val="bg1"/>
                </a:solidFill>
              </a:rPr>
              <a:t>转</a:t>
            </a:r>
            <a:r>
              <a:rPr sz="2800" spc="-5" dirty="0">
                <a:solidFill>
                  <a:schemeClr val="bg1"/>
                </a:solidFill>
              </a:rPr>
              <a:t>换为</a:t>
            </a:r>
            <a:r>
              <a:rPr sz="2800" spc="-10" dirty="0">
                <a:solidFill>
                  <a:schemeClr val="bg1"/>
                </a:solidFill>
              </a:rPr>
              <a:t>二</a:t>
            </a:r>
            <a:r>
              <a:rPr sz="2800" spc="-5" dirty="0">
                <a:solidFill>
                  <a:schemeClr val="bg1"/>
                </a:solidFill>
              </a:rPr>
              <a:t>叉</a:t>
            </a:r>
            <a:r>
              <a:rPr sz="2800" spc="-10" dirty="0">
                <a:solidFill>
                  <a:schemeClr val="bg1"/>
                </a:solidFill>
              </a:rPr>
              <a:t>树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8786621" y="1102296"/>
            <a:ext cx="1579245" cy="3910965"/>
            <a:chOff x="8786621" y="1102296"/>
            <a:chExt cx="1579245" cy="3910965"/>
          </a:xfrm>
        </p:grpSpPr>
        <p:sp>
          <p:nvSpPr>
            <p:cNvPr id="6" name="object 6"/>
            <p:cNvSpPr/>
            <p:nvPr/>
          </p:nvSpPr>
          <p:spPr>
            <a:xfrm>
              <a:off x="8805671" y="1453133"/>
              <a:ext cx="1437005" cy="3540760"/>
            </a:xfrm>
            <a:custGeom>
              <a:avLst/>
              <a:gdLst/>
              <a:ahLst/>
              <a:cxnLst/>
              <a:rect l="l" t="t" r="r" b="b"/>
              <a:pathLst>
                <a:path w="1437004" h="3540760">
                  <a:moveTo>
                    <a:pt x="1133475" y="0"/>
                  </a:moveTo>
                  <a:lnTo>
                    <a:pt x="622300" y="540003"/>
                  </a:lnTo>
                </a:path>
                <a:path w="1437004" h="3540760">
                  <a:moveTo>
                    <a:pt x="360045" y="880744"/>
                  </a:moveTo>
                  <a:lnTo>
                    <a:pt x="0" y="1528699"/>
                  </a:lnTo>
                </a:path>
                <a:path w="1437004" h="3540760">
                  <a:moveTo>
                    <a:pt x="44830" y="1945639"/>
                  </a:moveTo>
                  <a:lnTo>
                    <a:pt x="360045" y="2506726"/>
                  </a:lnTo>
                </a:path>
                <a:path w="1437004" h="3540760">
                  <a:moveTo>
                    <a:pt x="1436751" y="2892552"/>
                  </a:moveTo>
                  <a:lnTo>
                    <a:pt x="1148714" y="3540632"/>
                  </a:lnTo>
                </a:path>
                <a:path w="1437004" h="3540760">
                  <a:moveTo>
                    <a:pt x="1148714" y="1880869"/>
                  </a:moveTo>
                  <a:lnTo>
                    <a:pt x="1436751" y="2506726"/>
                  </a:lnTo>
                </a:path>
              </a:pathLst>
            </a:custGeom>
            <a:ln w="38100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919461" y="1116583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8" y="166471"/>
                  </a:lnTo>
                  <a:lnTo>
                    <a:pt x="21966" y="120992"/>
                  </a:lnTo>
                  <a:lnTo>
                    <a:pt x="47476" y="80883"/>
                  </a:lnTo>
                  <a:lnTo>
                    <a:pt x="80936" y="47436"/>
                  </a:lnTo>
                  <a:lnTo>
                    <a:pt x="121048" y="21944"/>
                  </a:lnTo>
                  <a:lnTo>
                    <a:pt x="166511" y="5701"/>
                  </a:lnTo>
                  <a:lnTo>
                    <a:pt x="216027" y="0"/>
                  </a:lnTo>
                  <a:lnTo>
                    <a:pt x="265542" y="5701"/>
                  </a:lnTo>
                  <a:lnTo>
                    <a:pt x="311005" y="21944"/>
                  </a:lnTo>
                  <a:lnTo>
                    <a:pt x="351117" y="47436"/>
                  </a:lnTo>
                  <a:lnTo>
                    <a:pt x="384577" y="80883"/>
                  </a:lnTo>
                  <a:lnTo>
                    <a:pt x="410087" y="120992"/>
                  </a:lnTo>
                  <a:lnTo>
                    <a:pt x="426345" y="166471"/>
                  </a:lnTo>
                  <a:lnTo>
                    <a:pt x="432054" y="216026"/>
                  </a:lnTo>
                  <a:lnTo>
                    <a:pt x="426345" y="265535"/>
                  </a:lnTo>
                  <a:lnTo>
                    <a:pt x="410087" y="310980"/>
                  </a:lnTo>
                  <a:lnTo>
                    <a:pt x="384577" y="351067"/>
                  </a:lnTo>
                  <a:lnTo>
                    <a:pt x="351117" y="384500"/>
                  </a:lnTo>
                  <a:lnTo>
                    <a:pt x="311005" y="409985"/>
                  </a:lnTo>
                  <a:lnTo>
                    <a:pt x="265542" y="426225"/>
                  </a:lnTo>
                  <a:lnTo>
                    <a:pt x="216027" y="431926"/>
                  </a:lnTo>
                  <a:lnTo>
                    <a:pt x="166511" y="426225"/>
                  </a:lnTo>
                  <a:lnTo>
                    <a:pt x="121048" y="409985"/>
                  </a:lnTo>
                  <a:lnTo>
                    <a:pt x="80936" y="384500"/>
                  </a:lnTo>
                  <a:lnTo>
                    <a:pt x="47476" y="351067"/>
                  </a:lnTo>
                  <a:lnTo>
                    <a:pt x="21966" y="310980"/>
                  </a:lnTo>
                  <a:lnTo>
                    <a:pt x="5708" y="265535"/>
                  </a:lnTo>
                  <a:lnTo>
                    <a:pt x="0" y="216026"/>
                  </a:lnTo>
                  <a:close/>
                </a:path>
              </a:pathLst>
            </a:custGeom>
            <a:ln w="28575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031094" y="1108075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621646" y="2987039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5">
                <a:moveTo>
                  <a:pt x="0" y="216026"/>
                </a:moveTo>
                <a:lnTo>
                  <a:pt x="5708" y="166471"/>
                </a:lnTo>
                <a:lnTo>
                  <a:pt x="21966" y="120992"/>
                </a:lnTo>
                <a:lnTo>
                  <a:pt x="47476" y="80883"/>
                </a:lnTo>
                <a:lnTo>
                  <a:pt x="80936" y="47436"/>
                </a:lnTo>
                <a:lnTo>
                  <a:pt x="121048" y="21944"/>
                </a:lnTo>
                <a:lnTo>
                  <a:pt x="166511" y="5701"/>
                </a:lnTo>
                <a:lnTo>
                  <a:pt x="216026" y="0"/>
                </a:lnTo>
                <a:lnTo>
                  <a:pt x="265542" y="5701"/>
                </a:lnTo>
                <a:lnTo>
                  <a:pt x="311005" y="21944"/>
                </a:lnTo>
                <a:lnTo>
                  <a:pt x="351117" y="47436"/>
                </a:lnTo>
                <a:lnTo>
                  <a:pt x="384577" y="80883"/>
                </a:lnTo>
                <a:lnTo>
                  <a:pt x="410087" y="120992"/>
                </a:lnTo>
                <a:lnTo>
                  <a:pt x="426345" y="166471"/>
                </a:lnTo>
                <a:lnTo>
                  <a:pt x="432053" y="216026"/>
                </a:lnTo>
                <a:lnTo>
                  <a:pt x="426345" y="265535"/>
                </a:lnTo>
                <a:lnTo>
                  <a:pt x="410087" y="310980"/>
                </a:lnTo>
                <a:lnTo>
                  <a:pt x="384577" y="351067"/>
                </a:lnTo>
                <a:lnTo>
                  <a:pt x="351117" y="384500"/>
                </a:lnTo>
                <a:lnTo>
                  <a:pt x="311005" y="409985"/>
                </a:lnTo>
                <a:lnTo>
                  <a:pt x="265542" y="426225"/>
                </a:lnTo>
                <a:lnTo>
                  <a:pt x="216026" y="431926"/>
                </a:lnTo>
                <a:lnTo>
                  <a:pt x="166511" y="426225"/>
                </a:lnTo>
                <a:lnTo>
                  <a:pt x="121048" y="409985"/>
                </a:lnTo>
                <a:lnTo>
                  <a:pt x="80936" y="384500"/>
                </a:lnTo>
                <a:lnTo>
                  <a:pt x="47476" y="351067"/>
                </a:lnTo>
                <a:lnTo>
                  <a:pt x="21966" y="310980"/>
                </a:lnTo>
                <a:lnTo>
                  <a:pt x="5708" y="265535"/>
                </a:lnTo>
                <a:lnTo>
                  <a:pt x="0" y="216026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723881" y="2978607"/>
            <a:ext cx="2292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064117" y="1932813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5">
                <a:moveTo>
                  <a:pt x="0" y="216026"/>
                </a:moveTo>
                <a:lnTo>
                  <a:pt x="5708" y="166511"/>
                </a:lnTo>
                <a:lnTo>
                  <a:pt x="21966" y="121048"/>
                </a:lnTo>
                <a:lnTo>
                  <a:pt x="47476" y="80936"/>
                </a:lnTo>
                <a:lnTo>
                  <a:pt x="80936" y="47476"/>
                </a:lnTo>
                <a:lnTo>
                  <a:pt x="121048" y="21966"/>
                </a:lnTo>
                <a:lnTo>
                  <a:pt x="166511" y="5708"/>
                </a:lnTo>
                <a:lnTo>
                  <a:pt x="216026" y="0"/>
                </a:lnTo>
                <a:lnTo>
                  <a:pt x="265542" y="5708"/>
                </a:lnTo>
                <a:lnTo>
                  <a:pt x="311005" y="21966"/>
                </a:lnTo>
                <a:lnTo>
                  <a:pt x="351117" y="47476"/>
                </a:lnTo>
                <a:lnTo>
                  <a:pt x="384577" y="80936"/>
                </a:lnTo>
                <a:lnTo>
                  <a:pt x="410087" y="121048"/>
                </a:lnTo>
                <a:lnTo>
                  <a:pt x="426345" y="166511"/>
                </a:lnTo>
                <a:lnTo>
                  <a:pt x="432053" y="216026"/>
                </a:lnTo>
                <a:lnTo>
                  <a:pt x="426345" y="265542"/>
                </a:lnTo>
                <a:lnTo>
                  <a:pt x="410087" y="311005"/>
                </a:lnTo>
                <a:lnTo>
                  <a:pt x="384577" y="351117"/>
                </a:lnTo>
                <a:lnTo>
                  <a:pt x="351117" y="384577"/>
                </a:lnTo>
                <a:lnTo>
                  <a:pt x="311005" y="410087"/>
                </a:lnTo>
                <a:lnTo>
                  <a:pt x="265542" y="426345"/>
                </a:lnTo>
                <a:lnTo>
                  <a:pt x="216026" y="432053"/>
                </a:lnTo>
                <a:lnTo>
                  <a:pt x="166511" y="426345"/>
                </a:lnTo>
                <a:lnTo>
                  <a:pt x="121048" y="410087"/>
                </a:lnTo>
                <a:lnTo>
                  <a:pt x="80936" y="384577"/>
                </a:lnTo>
                <a:lnTo>
                  <a:pt x="47476" y="351117"/>
                </a:lnTo>
                <a:lnTo>
                  <a:pt x="21966" y="311005"/>
                </a:lnTo>
                <a:lnTo>
                  <a:pt x="5708" y="265542"/>
                </a:lnTo>
                <a:lnTo>
                  <a:pt x="0" y="216026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175495" y="1924303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571483" y="2987039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5">
                <a:moveTo>
                  <a:pt x="0" y="216026"/>
                </a:moveTo>
                <a:lnTo>
                  <a:pt x="5708" y="166471"/>
                </a:lnTo>
                <a:lnTo>
                  <a:pt x="21966" y="120992"/>
                </a:lnTo>
                <a:lnTo>
                  <a:pt x="47476" y="80883"/>
                </a:lnTo>
                <a:lnTo>
                  <a:pt x="80936" y="47436"/>
                </a:lnTo>
                <a:lnTo>
                  <a:pt x="121048" y="21944"/>
                </a:lnTo>
                <a:lnTo>
                  <a:pt x="166511" y="5701"/>
                </a:lnTo>
                <a:lnTo>
                  <a:pt x="216026" y="0"/>
                </a:lnTo>
                <a:lnTo>
                  <a:pt x="265542" y="5701"/>
                </a:lnTo>
                <a:lnTo>
                  <a:pt x="311005" y="21944"/>
                </a:lnTo>
                <a:lnTo>
                  <a:pt x="351117" y="47436"/>
                </a:lnTo>
                <a:lnTo>
                  <a:pt x="384577" y="80883"/>
                </a:lnTo>
                <a:lnTo>
                  <a:pt x="410087" y="120992"/>
                </a:lnTo>
                <a:lnTo>
                  <a:pt x="426345" y="166471"/>
                </a:lnTo>
                <a:lnTo>
                  <a:pt x="432054" y="216026"/>
                </a:lnTo>
                <a:lnTo>
                  <a:pt x="426345" y="265535"/>
                </a:lnTo>
                <a:lnTo>
                  <a:pt x="410087" y="310980"/>
                </a:lnTo>
                <a:lnTo>
                  <a:pt x="384577" y="351067"/>
                </a:lnTo>
                <a:lnTo>
                  <a:pt x="351117" y="384500"/>
                </a:lnTo>
                <a:lnTo>
                  <a:pt x="311005" y="409985"/>
                </a:lnTo>
                <a:lnTo>
                  <a:pt x="265542" y="426225"/>
                </a:lnTo>
                <a:lnTo>
                  <a:pt x="216026" y="431926"/>
                </a:lnTo>
                <a:lnTo>
                  <a:pt x="166511" y="426225"/>
                </a:lnTo>
                <a:lnTo>
                  <a:pt x="121048" y="409985"/>
                </a:lnTo>
                <a:lnTo>
                  <a:pt x="80936" y="384500"/>
                </a:lnTo>
                <a:lnTo>
                  <a:pt x="47476" y="351067"/>
                </a:lnTo>
                <a:lnTo>
                  <a:pt x="21966" y="310980"/>
                </a:lnTo>
                <a:lnTo>
                  <a:pt x="5708" y="265535"/>
                </a:lnTo>
                <a:lnTo>
                  <a:pt x="0" y="216026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682990" y="2978607"/>
            <a:ext cx="2120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686417" y="4989829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5">
                <a:moveTo>
                  <a:pt x="0" y="215900"/>
                </a:moveTo>
                <a:lnTo>
                  <a:pt x="5708" y="166391"/>
                </a:lnTo>
                <a:lnTo>
                  <a:pt x="21966" y="120946"/>
                </a:lnTo>
                <a:lnTo>
                  <a:pt x="47476" y="80859"/>
                </a:lnTo>
                <a:lnTo>
                  <a:pt x="80936" y="47426"/>
                </a:lnTo>
                <a:lnTo>
                  <a:pt x="121048" y="21941"/>
                </a:lnTo>
                <a:lnTo>
                  <a:pt x="166511" y="5701"/>
                </a:lnTo>
                <a:lnTo>
                  <a:pt x="216026" y="0"/>
                </a:lnTo>
                <a:lnTo>
                  <a:pt x="265542" y="5701"/>
                </a:lnTo>
                <a:lnTo>
                  <a:pt x="311005" y="21941"/>
                </a:lnTo>
                <a:lnTo>
                  <a:pt x="351117" y="47426"/>
                </a:lnTo>
                <a:lnTo>
                  <a:pt x="384577" y="80859"/>
                </a:lnTo>
                <a:lnTo>
                  <a:pt x="410087" y="120946"/>
                </a:lnTo>
                <a:lnTo>
                  <a:pt x="426345" y="166391"/>
                </a:lnTo>
                <a:lnTo>
                  <a:pt x="432053" y="215900"/>
                </a:lnTo>
                <a:lnTo>
                  <a:pt x="426345" y="265455"/>
                </a:lnTo>
                <a:lnTo>
                  <a:pt x="410087" y="310934"/>
                </a:lnTo>
                <a:lnTo>
                  <a:pt x="384577" y="351043"/>
                </a:lnTo>
                <a:lnTo>
                  <a:pt x="351117" y="384490"/>
                </a:lnTo>
                <a:lnTo>
                  <a:pt x="311005" y="409982"/>
                </a:lnTo>
                <a:lnTo>
                  <a:pt x="265542" y="426225"/>
                </a:lnTo>
                <a:lnTo>
                  <a:pt x="216026" y="431927"/>
                </a:lnTo>
                <a:lnTo>
                  <a:pt x="166511" y="426225"/>
                </a:lnTo>
                <a:lnTo>
                  <a:pt x="121048" y="409982"/>
                </a:lnTo>
                <a:lnTo>
                  <a:pt x="80936" y="384490"/>
                </a:lnTo>
                <a:lnTo>
                  <a:pt x="47476" y="351043"/>
                </a:lnTo>
                <a:lnTo>
                  <a:pt x="21966" y="310934"/>
                </a:lnTo>
                <a:lnTo>
                  <a:pt x="5708" y="265455"/>
                </a:lnTo>
                <a:lnTo>
                  <a:pt x="0" y="215900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781158" y="4982083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Times New Roman"/>
                <a:cs typeface="Times New Roman"/>
              </a:rPr>
              <a:t>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105263" y="3959478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5">
                <a:moveTo>
                  <a:pt x="0" y="216027"/>
                </a:moveTo>
                <a:lnTo>
                  <a:pt x="5701" y="166471"/>
                </a:lnTo>
                <a:lnTo>
                  <a:pt x="21941" y="120992"/>
                </a:lnTo>
                <a:lnTo>
                  <a:pt x="47426" y="80883"/>
                </a:lnTo>
                <a:lnTo>
                  <a:pt x="80859" y="47436"/>
                </a:lnTo>
                <a:lnTo>
                  <a:pt x="120946" y="21944"/>
                </a:lnTo>
                <a:lnTo>
                  <a:pt x="166391" y="5701"/>
                </a:lnTo>
                <a:lnTo>
                  <a:pt x="215900" y="0"/>
                </a:lnTo>
                <a:lnTo>
                  <a:pt x="265455" y="5701"/>
                </a:lnTo>
                <a:lnTo>
                  <a:pt x="310934" y="21944"/>
                </a:lnTo>
                <a:lnTo>
                  <a:pt x="351043" y="47436"/>
                </a:lnTo>
                <a:lnTo>
                  <a:pt x="384490" y="80883"/>
                </a:lnTo>
                <a:lnTo>
                  <a:pt x="409982" y="120992"/>
                </a:lnTo>
                <a:lnTo>
                  <a:pt x="426225" y="166471"/>
                </a:lnTo>
                <a:lnTo>
                  <a:pt x="431926" y="216027"/>
                </a:lnTo>
                <a:lnTo>
                  <a:pt x="426225" y="265535"/>
                </a:lnTo>
                <a:lnTo>
                  <a:pt x="409982" y="310980"/>
                </a:lnTo>
                <a:lnTo>
                  <a:pt x="384490" y="351067"/>
                </a:lnTo>
                <a:lnTo>
                  <a:pt x="351043" y="384500"/>
                </a:lnTo>
                <a:lnTo>
                  <a:pt x="310934" y="409985"/>
                </a:lnTo>
                <a:lnTo>
                  <a:pt x="265455" y="426225"/>
                </a:lnTo>
                <a:lnTo>
                  <a:pt x="215900" y="431927"/>
                </a:lnTo>
                <a:lnTo>
                  <a:pt x="166391" y="426225"/>
                </a:lnTo>
                <a:lnTo>
                  <a:pt x="120946" y="409985"/>
                </a:lnTo>
                <a:lnTo>
                  <a:pt x="80859" y="384500"/>
                </a:lnTo>
                <a:lnTo>
                  <a:pt x="47426" y="351067"/>
                </a:lnTo>
                <a:lnTo>
                  <a:pt x="21941" y="310980"/>
                </a:lnTo>
                <a:lnTo>
                  <a:pt x="5701" y="265535"/>
                </a:lnTo>
                <a:lnTo>
                  <a:pt x="0" y="216027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0199878" y="3951478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070847" y="3959478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5">
                <a:moveTo>
                  <a:pt x="0" y="216027"/>
                </a:moveTo>
                <a:lnTo>
                  <a:pt x="5701" y="166471"/>
                </a:lnTo>
                <a:lnTo>
                  <a:pt x="21941" y="120992"/>
                </a:lnTo>
                <a:lnTo>
                  <a:pt x="47426" y="80883"/>
                </a:lnTo>
                <a:lnTo>
                  <a:pt x="80859" y="47436"/>
                </a:lnTo>
                <a:lnTo>
                  <a:pt x="120946" y="21944"/>
                </a:lnTo>
                <a:lnTo>
                  <a:pt x="166391" y="5701"/>
                </a:lnTo>
                <a:lnTo>
                  <a:pt x="215900" y="0"/>
                </a:lnTo>
                <a:lnTo>
                  <a:pt x="265455" y="5701"/>
                </a:lnTo>
                <a:lnTo>
                  <a:pt x="310934" y="21944"/>
                </a:lnTo>
                <a:lnTo>
                  <a:pt x="351043" y="47436"/>
                </a:lnTo>
                <a:lnTo>
                  <a:pt x="384490" y="80883"/>
                </a:lnTo>
                <a:lnTo>
                  <a:pt x="409982" y="120992"/>
                </a:lnTo>
                <a:lnTo>
                  <a:pt x="426225" y="166471"/>
                </a:lnTo>
                <a:lnTo>
                  <a:pt x="431926" y="216027"/>
                </a:lnTo>
                <a:lnTo>
                  <a:pt x="426225" y="265535"/>
                </a:lnTo>
                <a:lnTo>
                  <a:pt x="409982" y="310980"/>
                </a:lnTo>
                <a:lnTo>
                  <a:pt x="384490" y="351067"/>
                </a:lnTo>
                <a:lnTo>
                  <a:pt x="351043" y="384500"/>
                </a:lnTo>
                <a:lnTo>
                  <a:pt x="310934" y="409985"/>
                </a:lnTo>
                <a:lnTo>
                  <a:pt x="265455" y="426225"/>
                </a:lnTo>
                <a:lnTo>
                  <a:pt x="215900" y="431927"/>
                </a:lnTo>
                <a:lnTo>
                  <a:pt x="166391" y="426225"/>
                </a:lnTo>
                <a:lnTo>
                  <a:pt x="120946" y="409985"/>
                </a:lnTo>
                <a:lnTo>
                  <a:pt x="80859" y="384500"/>
                </a:lnTo>
                <a:lnTo>
                  <a:pt x="47426" y="351067"/>
                </a:lnTo>
                <a:lnTo>
                  <a:pt x="21941" y="310980"/>
                </a:lnTo>
                <a:lnTo>
                  <a:pt x="5701" y="265535"/>
                </a:lnTo>
                <a:lnTo>
                  <a:pt x="0" y="216027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182227" y="3951478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400031" y="2331592"/>
            <a:ext cx="360045" cy="648335"/>
          </a:xfrm>
          <a:custGeom>
            <a:avLst/>
            <a:gdLst/>
            <a:ahLst/>
            <a:cxnLst/>
            <a:rect l="l" t="t" r="r" b="b"/>
            <a:pathLst>
              <a:path w="360045" h="648335">
                <a:moveTo>
                  <a:pt x="359918" y="647954"/>
                </a:moveTo>
                <a:lnTo>
                  <a:pt x="0" y="0"/>
                </a:lnTo>
              </a:path>
            </a:pathLst>
          </a:custGeom>
          <a:ln w="38099">
            <a:solidFill>
              <a:srgbClr val="285A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714245" y="5219446"/>
            <a:ext cx="46450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二叉</a:t>
            </a:r>
            <a:r>
              <a:rPr sz="2800" spc="-10" dirty="0">
                <a:solidFill>
                  <a:srgbClr val="404040"/>
                </a:solidFill>
                <a:latin typeface="微软雅黑"/>
                <a:cs typeface="微软雅黑"/>
              </a:rPr>
              <a:t>树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根结点的</a:t>
            </a:r>
            <a:r>
              <a:rPr sz="2800" spc="-5" dirty="0">
                <a:solidFill>
                  <a:srgbClr val="FF0000"/>
                </a:solidFill>
                <a:latin typeface="微软雅黑"/>
                <a:cs typeface="微软雅黑"/>
              </a:rPr>
              <a:t>右子树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必为空</a:t>
            </a:r>
            <a:endParaRPr sz="2800" dirty="0">
              <a:latin typeface="微软雅黑"/>
              <a:cs typeface="微软雅黑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472689" y="4095369"/>
            <a:ext cx="32219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树的根结点</a:t>
            </a:r>
            <a:r>
              <a:rPr sz="2800" spc="-5" dirty="0">
                <a:solidFill>
                  <a:srgbClr val="FF0000"/>
                </a:solidFill>
                <a:latin typeface="微软雅黑"/>
                <a:cs typeface="微软雅黑"/>
              </a:rPr>
              <a:t>没有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兄弟</a:t>
            </a:r>
            <a:endParaRPr sz="2800" dirty="0">
              <a:latin typeface="微软雅黑"/>
              <a:cs typeface="微软雅黑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863911" y="1876488"/>
            <a:ext cx="2611120" cy="3328035"/>
            <a:chOff x="3863911" y="1876488"/>
            <a:chExt cx="2611120" cy="3328035"/>
          </a:xfrm>
        </p:grpSpPr>
        <p:sp>
          <p:nvSpPr>
            <p:cNvPr id="25" name="object 25"/>
            <p:cNvSpPr/>
            <p:nvPr/>
          </p:nvSpPr>
          <p:spPr>
            <a:xfrm>
              <a:off x="3878198" y="4614291"/>
              <a:ext cx="324485" cy="575945"/>
            </a:xfrm>
            <a:custGeom>
              <a:avLst/>
              <a:gdLst/>
              <a:ahLst/>
              <a:cxnLst/>
              <a:rect l="l" t="t" r="r" b="b"/>
              <a:pathLst>
                <a:path w="324485" h="575945">
                  <a:moveTo>
                    <a:pt x="243077" y="0"/>
                  </a:moveTo>
                  <a:lnTo>
                    <a:pt x="243077" y="413892"/>
                  </a:lnTo>
                  <a:lnTo>
                    <a:pt x="324103" y="413892"/>
                  </a:lnTo>
                  <a:lnTo>
                    <a:pt x="162051" y="575944"/>
                  </a:lnTo>
                  <a:lnTo>
                    <a:pt x="0" y="413892"/>
                  </a:lnTo>
                  <a:lnTo>
                    <a:pt x="81025" y="413892"/>
                  </a:lnTo>
                  <a:lnTo>
                    <a:pt x="81025" y="0"/>
                  </a:lnTo>
                  <a:lnTo>
                    <a:pt x="243077" y="0"/>
                  </a:lnTo>
                  <a:close/>
                </a:path>
              </a:pathLst>
            </a:custGeom>
            <a:ln w="28575">
              <a:solidFill>
                <a:srgbClr val="B42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992241" y="1890776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234061" y="0"/>
                  </a:moveTo>
                  <a:lnTo>
                    <a:pt x="186884" y="4760"/>
                  </a:lnTo>
                  <a:lnTo>
                    <a:pt x="142946" y="18411"/>
                  </a:lnTo>
                  <a:lnTo>
                    <a:pt x="103187" y="40009"/>
                  </a:lnTo>
                  <a:lnTo>
                    <a:pt x="68548" y="68611"/>
                  </a:lnTo>
                  <a:lnTo>
                    <a:pt x="39969" y="103274"/>
                  </a:lnTo>
                  <a:lnTo>
                    <a:pt x="18391" y="143053"/>
                  </a:lnTo>
                  <a:lnTo>
                    <a:pt x="4754" y="187006"/>
                  </a:lnTo>
                  <a:lnTo>
                    <a:pt x="0" y="234187"/>
                  </a:lnTo>
                  <a:lnTo>
                    <a:pt x="4754" y="281369"/>
                  </a:lnTo>
                  <a:lnTo>
                    <a:pt x="18391" y="325322"/>
                  </a:lnTo>
                  <a:lnTo>
                    <a:pt x="39969" y="365101"/>
                  </a:lnTo>
                  <a:lnTo>
                    <a:pt x="68548" y="399764"/>
                  </a:lnTo>
                  <a:lnTo>
                    <a:pt x="103187" y="428366"/>
                  </a:lnTo>
                  <a:lnTo>
                    <a:pt x="142946" y="449964"/>
                  </a:lnTo>
                  <a:lnTo>
                    <a:pt x="186884" y="463615"/>
                  </a:lnTo>
                  <a:lnTo>
                    <a:pt x="234061" y="468375"/>
                  </a:lnTo>
                  <a:lnTo>
                    <a:pt x="281279" y="463615"/>
                  </a:lnTo>
                  <a:lnTo>
                    <a:pt x="325248" y="449964"/>
                  </a:lnTo>
                  <a:lnTo>
                    <a:pt x="365030" y="428366"/>
                  </a:lnTo>
                  <a:lnTo>
                    <a:pt x="399684" y="399764"/>
                  </a:lnTo>
                  <a:lnTo>
                    <a:pt x="428273" y="365101"/>
                  </a:lnTo>
                  <a:lnTo>
                    <a:pt x="449855" y="325322"/>
                  </a:lnTo>
                  <a:lnTo>
                    <a:pt x="463494" y="281369"/>
                  </a:lnTo>
                  <a:lnTo>
                    <a:pt x="468249" y="234187"/>
                  </a:lnTo>
                  <a:lnTo>
                    <a:pt x="463494" y="187006"/>
                  </a:lnTo>
                  <a:lnTo>
                    <a:pt x="449855" y="143053"/>
                  </a:lnTo>
                  <a:lnTo>
                    <a:pt x="428273" y="103274"/>
                  </a:lnTo>
                  <a:lnTo>
                    <a:pt x="399684" y="68611"/>
                  </a:lnTo>
                  <a:lnTo>
                    <a:pt x="365030" y="40009"/>
                  </a:lnTo>
                  <a:lnTo>
                    <a:pt x="325248" y="18411"/>
                  </a:lnTo>
                  <a:lnTo>
                    <a:pt x="281279" y="4760"/>
                  </a:lnTo>
                  <a:lnTo>
                    <a:pt x="234061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992241" y="1890776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0" y="234187"/>
                  </a:moveTo>
                  <a:lnTo>
                    <a:pt x="4754" y="187006"/>
                  </a:lnTo>
                  <a:lnTo>
                    <a:pt x="18391" y="143053"/>
                  </a:lnTo>
                  <a:lnTo>
                    <a:pt x="39969" y="103274"/>
                  </a:lnTo>
                  <a:lnTo>
                    <a:pt x="68548" y="68611"/>
                  </a:lnTo>
                  <a:lnTo>
                    <a:pt x="103187" y="40009"/>
                  </a:lnTo>
                  <a:lnTo>
                    <a:pt x="142946" y="18411"/>
                  </a:lnTo>
                  <a:lnTo>
                    <a:pt x="186884" y="4760"/>
                  </a:lnTo>
                  <a:lnTo>
                    <a:pt x="234061" y="0"/>
                  </a:lnTo>
                  <a:lnTo>
                    <a:pt x="281279" y="4760"/>
                  </a:lnTo>
                  <a:lnTo>
                    <a:pt x="325248" y="18411"/>
                  </a:lnTo>
                  <a:lnTo>
                    <a:pt x="365030" y="40009"/>
                  </a:lnTo>
                  <a:lnTo>
                    <a:pt x="399684" y="68611"/>
                  </a:lnTo>
                  <a:lnTo>
                    <a:pt x="428273" y="103274"/>
                  </a:lnTo>
                  <a:lnTo>
                    <a:pt x="449855" y="143053"/>
                  </a:lnTo>
                  <a:lnTo>
                    <a:pt x="463494" y="187006"/>
                  </a:lnTo>
                  <a:lnTo>
                    <a:pt x="468249" y="234187"/>
                  </a:lnTo>
                  <a:lnTo>
                    <a:pt x="463494" y="281369"/>
                  </a:lnTo>
                  <a:lnTo>
                    <a:pt x="449855" y="325322"/>
                  </a:lnTo>
                  <a:lnTo>
                    <a:pt x="428273" y="365101"/>
                  </a:lnTo>
                  <a:lnTo>
                    <a:pt x="399684" y="399764"/>
                  </a:lnTo>
                  <a:lnTo>
                    <a:pt x="365030" y="428366"/>
                  </a:lnTo>
                  <a:lnTo>
                    <a:pt x="325248" y="449964"/>
                  </a:lnTo>
                  <a:lnTo>
                    <a:pt x="281279" y="463615"/>
                  </a:lnTo>
                  <a:lnTo>
                    <a:pt x="234061" y="468375"/>
                  </a:lnTo>
                  <a:lnTo>
                    <a:pt x="186884" y="463615"/>
                  </a:lnTo>
                  <a:lnTo>
                    <a:pt x="142946" y="449964"/>
                  </a:lnTo>
                  <a:lnTo>
                    <a:pt x="103187" y="428366"/>
                  </a:lnTo>
                  <a:lnTo>
                    <a:pt x="68548" y="399764"/>
                  </a:lnTo>
                  <a:lnTo>
                    <a:pt x="39969" y="365101"/>
                  </a:lnTo>
                  <a:lnTo>
                    <a:pt x="18391" y="325322"/>
                  </a:lnTo>
                  <a:lnTo>
                    <a:pt x="4754" y="281369"/>
                  </a:lnTo>
                  <a:lnTo>
                    <a:pt x="0" y="234187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112255" y="1919478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804727" y="1863788"/>
            <a:ext cx="497205" cy="497205"/>
            <a:chOff x="4804727" y="1863788"/>
            <a:chExt cx="497205" cy="497205"/>
          </a:xfrm>
        </p:grpSpPr>
        <p:sp>
          <p:nvSpPr>
            <p:cNvPr id="30" name="object 30"/>
            <p:cNvSpPr/>
            <p:nvPr/>
          </p:nvSpPr>
          <p:spPr>
            <a:xfrm>
              <a:off x="4819015" y="1878076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234187" y="0"/>
                  </a:moveTo>
                  <a:lnTo>
                    <a:pt x="187006" y="4760"/>
                  </a:lnTo>
                  <a:lnTo>
                    <a:pt x="143053" y="18411"/>
                  </a:lnTo>
                  <a:lnTo>
                    <a:pt x="103274" y="40009"/>
                  </a:lnTo>
                  <a:lnTo>
                    <a:pt x="68611" y="68611"/>
                  </a:lnTo>
                  <a:lnTo>
                    <a:pt x="40009" y="103274"/>
                  </a:lnTo>
                  <a:lnTo>
                    <a:pt x="18411" y="143053"/>
                  </a:lnTo>
                  <a:lnTo>
                    <a:pt x="4760" y="187006"/>
                  </a:lnTo>
                  <a:lnTo>
                    <a:pt x="0" y="234187"/>
                  </a:lnTo>
                  <a:lnTo>
                    <a:pt x="4760" y="281369"/>
                  </a:lnTo>
                  <a:lnTo>
                    <a:pt x="18411" y="325322"/>
                  </a:lnTo>
                  <a:lnTo>
                    <a:pt x="40009" y="365101"/>
                  </a:lnTo>
                  <a:lnTo>
                    <a:pt x="68611" y="399764"/>
                  </a:lnTo>
                  <a:lnTo>
                    <a:pt x="103274" y="428366"/>
                  </a:lnTo>
                  <a:lnTo>
                    <a:pt x="143053" y="449964"/>
                  </a:lnTo>
                  <a:lnTo>
                    <a:pt x="187006" y="463615"/>
                  </a:lnTo>
                  <a:lnTo>
                    <a:pt x="234187" y="468375"/>
                  </a:lnTo>
                  <a:lnTo>
                    <a:pt x="281369" y="463615"/>
                  </a:lnTo>
                  <a:lnTo>
                    <a:pt x="325322" y="449964"/>
                  </a:lnTo>
                  <a:lnTo>
                    <a:pt x="365101" y="428366"/>
                  </a:lnTo>
                  <a:lnTo>
                    <a:pt x="399764" y="399764"/>
                  </a:lnTo>
                  <a:lnTo>
                    <a:pt x="428366" y="365101"/>
                  </a:lnTo>
                  <a:lnTo>
                    <a:pt x="449964" y="325322"/>
                  </a:lnTo>
                  <a:lnTo>
                    <a:pt x="463615" y="281369"/>
                  </a:lnTo>
                  <a:lnTo>
                    <a:pt x="468375" y="234187"/>
                  </a:lnTo>
                  <a:lnTo>
                    <a:pt x="463615" y="187006"/>
                  </a:lnTo>
                  <a:lnTo>
                    <a:pt x="449964" y="143053"/>
                  </a:lnTo>
                  <a:lnTo>
                    <a:pt x="428366" y="103274"/>
                  </a:lnTo>
                  <a:lnTo>
                    <a:pt x="399764" y="68611"/>
                  </a:lnTo>
                  <a:lnTo>
                    <a:pt x="365101" y="40009"/>
                  </a:lnTo>
                  <a:lnTo>
                    <a:pt x="325322" y="18411"/>
                  </a:lnTo>
                  <a:lnTo>
                    <a:pt x="281369" y="4760"/>
                  </a:lnTo>
                  <a:lnTo>
                    <a:pt x="234187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819015" y="1878076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0" y="234187"/>
                  </a:moveTo>
                  <a:lnTo>
                    <a:pt x="4760" y="187006"/>
                  </a:lnTo>
                  <a:lnTo>
                    <a:pt x="18411" y="143053"/>
                  </a:lnTo>
                  <a:lnTo>
                    <a:pt x="40009" y="103274"/>
                  </a:lnTo>
                  <a:lnTo>
                    <a:pt x="68611" y="68611"/>
                  </a:lnTo>
                  <a:lnTo>
                    <a:pt x="103274" y="40009"/>
                  </a:lnTo>
                  <a:lnTo>
                    <a:pt x="143053" y="18411"/>
                  </a:lnTo>
                  <a:lnTo>
                    <a:pt x="187006" y="4760"/>
                  </a:lnTo>
                  <a:lnTo>
                    <a:pt x="234187" y="0"/>
                  </a:lnTo>
                  <a:lnTo>
                    <a:pt x="281369" y="4760"/>
                  </a:lnTo>
                  <a:lnTo>
                    <a:pt x="325322" y="18411"/>
                  </a:lnTo>
                  <a:lnTo>
                    <a:pt x="365101" y="40009"/>
                  </a:lnTo>
                  <a:lnTo>
                    <a:pt x="399764" y="68611"/>
                  </a:lnTo>
                  <a:lnTo>
                    <a:pt x="428366" y="103274"/>
                  </a:lnTo>
                  <a:lnTo>
                    <a:pt x="449964" y="143053"/>
                  </a:lnTo>
                  <a:lnTo>
                    <a:pt x="463615" y="187006"/>
                  </a:lnTo>
                  <a:lnTo>
                    <a:pt x="468375" y="234187"/>
                  </a:lnTo>
                  <a:lnTo>
                    <a:pt x="463615" y="281369"/>
                  </a:lnTo>
                  <a:lnTo>
                    <a:pt x="449964" y="325322"/>
                  </a:lnTo>
                  <a:lnTo>
                    <a:pt x="428366" y="365101"/>
                  </a:lnTo>
                  <a:lnTo>
                    <a:pt x="399764" y="399764"/>
                  </a:lnTo>
                  <a:lnTo>
                    <a:pt x="365101" y="428366"/>
                  </a:lnTo>
                  <a:lnTo>
                    <a:pt x="325322" y="449964"/>
                  </a:lnTo>
                  <a:lnTo>
                    <a:pt x="281369" y="463615"/>
                  </a:lnTo>
                  <a:lnTo>
                    <a:pt x="234187" y="468375"/>
                  </a:lnTo>
                  <a:lnTo>
                    <a:pt x="187006" y="463615"/>
                  </a:lnTo>
                  <a:lnTo>
                    <a:pt x="143053" y="449964"/>
                  </a:lnTo>
                  <a:lnTo>
                    <a:pt x="103274" y="428366"/>
                  </a:lnTo>
                  <a:lnTo>
                    <a:pt x="68611" y="399764"/>
                  </a:lnTo>
                  <a:lnTo>
                    <a:pt x="40009" y="365101"/>
                  </a:lnTo>
                  <a:lnTo>
                    <a:pt x="18411" y="325322"/>
                  </a:lnTo>
                  <a:lnTo>
                    <a:pt x="4760" y="281369"/>
                  </a:lnTo>
                  <a:lnTo>
                    <a:pt x="0" y="234187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939029" y="1906651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419788" y="2895663"/>
            <a:ext cx="497205" cy="497205"/>
            <a:chOff x="5419788" y="2895663"/>
            <a:chExt cx="497205" cy="497205"/>
          </a:xfrm>
        </p:grpSpPr>
        <p:sp>
          <p:nvSpPr>
            <p:cNvPr id="34" name="object 34"/>
            <p:cNvSpPr/>
            <p:nvPr/>
          </p:nvSpPr>
          <p:spPr>
            <a:xfrm>
              <a:off x="5434076" y="2909951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29">
                  <a:moveTo>
                    <a:pt x="234061" y="0"/>
                  </a:moveTo>
                  <a:lnTo>
                    <a:pt x="186884" y="4760"/>
                  </a:lnTo>
                  <a:lnTo>
                    <a:pt x="142946" y="18411"/>
                  </a:lnTo>
                  <a:lnTo>
                    <a:pt x="103187" y="40009"/>
                  </a:lnTo>
                  <a:lnTo>
                    <a:pt x="68548" y="68611"/>
                  </a:lnTo>
                  <a:lnTo>
                    <a:pt x="39969" y="103274"/>
                  </a:lnTo>
                  <a:lnTo>
                    <a:pt x="18391" y="143053"/>
                  </a:lnTo>
                  <a:lnTo>
                    <a:pt x="4754" y="187006"/>
                  </a:lnTo>
                  <a:lnTo>
                    <a:pt x="0" y="234187"/>
                  </a:lnTo>
                  <a:lnTo>
                    <a:pt x="4754" y="281369"/>
                  </a:lnTo>
                  <a:lnTo>
                    <a:pt x="18391" y="325322"/>
                  </a:lnTo>
                  <a:lnTo>
                    <a:pt x="39969" y="365101"/>
                  </a:lnTo>
                  <a:lnTo>
                    <a:pt x="68548" y="399764"/>
                  </a:lnTo>
                  <a:lnTo>
                    <a:pt x="103187" y="428366"/>
                  </a:lnTo>
                  <a:lnTo>
                    <a:pt x="142946" y="449964"/>
                  </a:lnTo>
                  <a:lnTo>
                    <a:pt x="186884" y="463615"/>
                  </a:lnTo>
                  <a:lnTo>
                    <a:pt x="234061" y="468375"/>
                  </a:lnTo>
                  <a:lnTo>
                    <a:pt x="281279" y="463615"/>
                  </a:lnTo>
                  <a:lnTo>
                    <a:pt x="325248" y="449964"/>
                  </a:lnTo>
                  <a:lnTo>
                    <a:pt x="365030" y="428366"/>
                  </a:lnTo>
                  <a:lnTo>
                    <a:pt x="399684" y="399764"/>
                  </a:lnTo>
                  <a:lnTo>
                    <a:pt x="428273" y="365101"/>
                  </a:lnTo>
                  <a:lnTo>
                    <a:pt x="449855" y="325322"/>
                  </a:lnTo>
                  <a:lnTo>
                    <a:pt x="463494" y="281369"/>
                  </a:lnTo>
                  <a:lnTo>
                    <a:pt x="468249" y="234187"/>
                  </a:lnTo>
                  <a:lnTo>
                    <a:pt x="463494" y="187006"/>
                  </a:lnTo>
                  <a:lnTo>
                    <a:pt x="449855" y="143053"/>
                  </a:lnTo>
                  <a:lnTo>
                    <a:pt x="428273" y="103274"/>
                  </a:lnTo>
                  <a:lnTo>
                    <a:pt x="399684" y="68611"/>
                  </a:lnTo>
                  <a:lnTo>
                    <a:pt x="365030" y="40009"/>
                  </a:lnTo>
                  <a:lnTo>
                    <a:pt x="325248" y="18411"/>
                  </a:lnTo>
                  <a:lnTo>
                    <a:pt x="281279" y="4760"/>
                  </a:lnTo>
                  <a:lnTo>
                    <a:pt x="234061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434076" y="2909951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29">
                  <a:moveTo>
                    <a:pt x="0" y="234187"/>
                  </a:moveTo>
                  <a:lnTo>
                    <a:pt x="4754" y="187006"/>
                  </a:lnTo>
                  <a:lnTo>
                    <a:pt x="18391" y="143053"/>
                  </a:lnTo>
                  <a:lnTo>
                    <a:pt x="39969" y="103274"/>
                  </a:lnTo>
                  <a:lnTo>
                    <a:pt x="68548" y="68611"/>
                  </a:lnTo>
                  <a:lnTo>
                    <a:pt x="103187" y="40009"/>
                  </a:lnTo>
                  <a:lnTo>
                    <a:pt x="142946" y="18411"/>
                  </a:lnTo>
                  <a:lnTo>
                    <a:pt x="186884" y="4760"/>
                  </a:lnTo>
                  <a:lnTo>
                    <a:pt x="234061" y="0"/>
                  </a:lnTo>
                  <a:lnTo>
                    <a:pt x="281279" y="4760"/>
                  </a:lnTo>
                  <a:lnTo>
                    <a:pt x="325248" y="18411"/>
                  </a:lnTo>
                  <a:lnTo>
                    <a:pt x="365030" y="40009"/>
                  </a:lnTo>
                  <a:lnTo>
                    <a:pt x="399684" y="68611"/>
                  </a:lnTo>
                  <a:lnTo>
                    <a:pt x="428273" y="103274"/>
                  </a:lnTo>
                  <a:lnTo>
                    <a:pt x="449855" y="143053"/>
                  </a:lnTo>
                  <a:lnTo>
                    <a:pt x="463494" y="187006"/>
                  </a:lnTo>
                  <a:lnTo>
                    <a:pt x="468249" y="234187"/>
                  </a:lnTo>
                  <a:lnTo>
                    <a:pt x="463494" y="281369"/>
                  </a:lnTo>
                  <a:lnTo>
                    <a:pt x="449855" y="325322"/>
                  </a:lnTo>
                  <a:lnTo>
                    <a:pt x="428273" y="365101"/>
                  </a:lnTo>
                  <a:lnTo>
                    <a:pt x="399684" y="399764"/>
                  </a:lnTo>
                  <a:lnTo>
                    <a:pt x="365030" y="428366"/>
                  </a:lnTo>
                  <a:lnTo>
                    <a:pt x="325248" y="449964"/>
                  </a:lnTo>
                  <a:lnTo>
                    <a:pt x="281279" y="463615"/>
                  </a:lnTo>
                  <a:lnTo>
                    <a:pt x="234061" y="468375"/>
                  </a:lnTo>
                  <a:lnTo>
                    <a:pt x="186884" y="463615"/>
                  </a:lnTo>
                  <a:lnTo>
                    <a:pt x="142946" y="449964"/>
                  </a:lnTo>
                  <a:lnTo>
                    <a:pt x="103187" y="428366"/>
                  </a:lnTo>
                  <a:lnTo>
                    <a:pt x="68548" y="399764"/>
                  </a:lnTo>
                  <a:lnTo>
                    <a:pt x="39969" y="365101"/>
                  </a:lnTo>
                  <a:lnTo>
                    <a:pt x="18391" y="325322"/>
                  </a:lnTo>
                  <a:lnTo>
                    <a:pt x="4754" y="281369"/>
                  </a:lnTo>
                  <a:lnTo>
                    <a:pt x="0" y="234187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5553836" y="2938653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116133" y="2895663"/>
            <a:ext cx="497205" cy="497205"/>
            <a:chOff x="4116133" y="2895663"/>
            <a:chExt cx="497205" cy="497205"/>
          </a:xfrm>
        </p:grpSpPr>
        <p:sp>
          <p:nvSpPr>
            <p:cNvPr id="38" name="object 38"/>
            <p:cNvSpPr/>
            <p:nvPr/>
          </p:nvSpPr>
          <p:spPr>
            <a:xfrm>
              <a:off x="4130421" y="2909951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29">
                  <a:moveTo>
                    <a:pt x="234061" y="0"/>
                  </a:moveTo>
                  <a:lnTo>
                    <a:pt x="186884" y="4760"/>
                  </a:lnTo>
                  <a:lnTo>
                    <a:pt x="142946" y="18411"/>
                  </a:lnTo>
                  <a:lnTo>
                    <a:pt x="103187" y="40009"/>
                  </a:lnTo>
                  <a:lnTo>
                    <a:pt x="68548" y="68611"/>
                  </a:lnTo>
                  <a:lnTo>
                    <a:pt x="39969" y="103274"/>
                  </a:lnTo>
                  <a:lnTo>
                    <a:pt x="18391" y="143053"/>
                  </a:lnTo>
                  <a:lnTo>
                    <a:pt x="4754" y="187006"/>
                  </a:lnTo>
                  <a:lnTo>
                    <a:pt x="0" y="234187"/>
                  </a:lnTo>
                  <a:lnTo>
                    <a:pt x="4754" y="281369"/>
                  </a:lnTo>
                  <a:lnTo>
                    <a:pt x="18391" y="325322"/>
                  </a:lnTo>
                  <a:lnTo>
                    <a:pt x="39969" y="365101"/>
                  </a:lnTo>
                  <a:lnTo>
                    <a:pt x="68548" y="399764"/>
                  </a:lnTo>
                  <a:lnTo>
                    <a:pt x="103187" y="428366"/>
                  </a:lnTo>
                  <a:lnTo>
                    <a:pt x="142946" y="449964"/>
                  </a:lnTo>
                  <a:lnTo>
                    <a:pt x="186884" y="463615"/>
                  </a:lnTo>
                  <a:lnTo>
                    <a:pt x="234061" y="468375"/>
                  </a:lnTo>
                  <a:lnTo>
                    <a:pt x="281279" y="463615"/>
                  </a:lnTo>
                  <a:lnTo>
                    <a:pt x="325248" y="449964"/>
                  </a:lnTo>
                  <a:lnTo>
                    <a:pt x="365030" y="428366"/>
                  </a:lnTo>
                  <a:lnTo>
                    <a:pt x="399684" y="399764"/>
                  </a:lnTo>
                  <a:lnTo>
                    <a:pt x="428273" y="365101"/>
                  </a:lnTo>
                  <a:lnTo>
                    <a:pt x="449855" y="325322"/>
                  </a:lnTo>
                  <a:lnTo>
                    <a:pt x="463494" y="281369"/>
                  </a:lnTo>
                  <a:lnTo>
                    <a:pt x="468249" y="234187"/>
                  </a:lnTo>
                  <a:lnTo>
                    <a:pt x="463494" y="187006"/>
                  </a:lnTo>
                  <a:lnTo>
                    <a:pt x="449855" y="143053"/>
                  </a:lnTo>
                  <a:lnTo>
                    <a:pt x="428273" y="103274"/>
                  </a:lnTo>
                  <a:lnTo>
                    <a:pt x="399684" y="68611"/>
                  </a:lnTo>
                  <a:lnTo>
                    <a:pt x="365030" y="40009"/>
                  </a:lnTo>
                  <a:lnTo>
                    <a:pt x="325248" y="18411"/>
                  </a:lnTo>
                  <a:lnTo>
                    <a:pt x="281279" y="4760"/>
                  </a:lnTo>
                  <a:lnTo>
                    <a:pt x="234061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130421" y="2909951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29">
                  <a:moveTo>
                    <a:pt x="0" y="234187"/>
                  </a:moveTo>
                  <a:lnTo>
                    <a:pt x="4754" y="187006"/>
                  </a:lnTo>
                  <a:lnTo>
                    <a:pt x="18391" y="143053"/>
                  </a:lnTo>
                  <a:lnTo>
                    <a:pt x="39969" y="103274"/>
                  </a:lnTo>
                  <a:lnTo>
                    <a:pt x="68548" y="68611"/>
                  </a:lnTo>
                  <a:lnTo>
                    <a:pt x="103187" y="40009"/>
                  </a:lnTo>
                  <a:lnTo>
                    <a:pt x="142946" y="18411"/>
                  </a:lnTo>
                  <a:lnTo>
                    <a:pt x="186884" y="4760"/>
                  </a:lnTo>
                  <a:lnTo>
                    <a:pt x="234061" y="0"/>
                  </a:lnTo>
                  <a:lnTo>
                    <a:pt x="281279" y="4760"/>
                  </a:lnTo>
                  <a:lnTo>
                    <a:pt x="325248" y="18411"/>
                  </a:lnTo>
                  <a:lnTo>
                    <a:pt x="365030" y="40009"/>
                  </a:lnTo>
                  <a:lnTo>
                    <a:pt x="399684" y="68611"/>
                  </a:lnTo>
                  <a:lnTo>
                    <a:pt x="428273" y="103274"/>
                  </a:lnTo>
                  <a:lnTo>
                    <a:pt x="449855" y="143053"/>
                  </a:lnTo>
                  <a:lnTo>
                    <a:pt x="463494" y="187006"/>
                  </a:lnTo>
                  <a:lnTo>
                    <a:pt x="468249" y="234187"/>
                  </a:lnTo>
                  <a:lnTo>
                    <a:pt x="463494" y="281369"/>
                  </a:lnTo>
                  <a:lnTo>
                    <a:pt x="449855" y="325322"/>
                  </a:lnTo>
                  <a:lnTo>
                    <a:pt x="428273" y="365101"/>
                  </a:lnTo>
                  <a:lnTo>
                    <a:pt x="399684" y="399764"/>
                  </a:lnTo>
                  <a:lnTo>
                    <a:pt x="365030" y="428366"/>
                  </a:lnTo>
                  <a:lnTo>
                    <a:pt x="325248" y="449964"/>
                  </a:lnTo>
                  <a:lnTo>
                    <a:pt x="281279" y="463615"/>
                  </a:lnTo>
                  <a:lnTo>
                    <a:pt x="234061" y="468375"/>
                  </a:lnTo>
                  <a:lnTo>
                    <a:pt x="186884" y="463615"/>
                  </a:lnTo>
                  <a:lnTo>
                    <a:pt x="142946" y="449964"/>
                  </a:lnTo>
                  <a:lnTo>
                    <a:pt x="103187" y="428366"/>
                  </a:lnTo>
                  <a:lnTo>
                    <a:pt x="68548" y="399764"/>
                  </a:lnTo>
                  <a:lnTo>
                    <a:pt x="39969" y="365101"/>
                  </a:lnTo>
                  <a:lnTo>
                    <a:pt x="18391" y="325322"/>
                  </a:lnTo>
                  <a:lnTo>
                    <a:pt x="4754" y="281369"/>
                  </a:lnTo>
                  <a:lnTo>
                    <a:pt x="0" y="234187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4250182" y="2938653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4448238" y="1897824"/>
            <a:ext cx="3058795" cy="1051560"/>
            <a:chOff x="4448238" y="1897824"/>
            <a:chExt cx="3058795" cy="1051560"/>
          </a:xfrm>
        </p:grpSpPr>
        <p:sp>
          <p:nvSpPr>
            <p:cNvPr id="42" name="object 42"/>
            <p:cNvSpPr/>
            <p:nvPr/>
          </p:nvSpPr>
          <p:spPr>
            <a:xfrm>
              <a:off x="4462526" y="2285491"/>
              <a:ext cx="412750" cy="649605"/>
            </a:xfrm>
            <a:custGeom>
              <a:avLst/>
              <a:gdLst/>
              <a:ahLst/>
              <a:cxnLst/>
              <a:rect l="l" t="t" r="r" b="b"/>
              <a:pathLst>
                <a:path w="412750" h="649605">
                  <a:moveTo>
                    <a:pt x="412750" y="0"/>
                  </a:moveTo>
                  <a:lnTo>
                    <a:pt x="0" y="649224"/>
                  </a:lnTo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024370" y="1912111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234187" y="0"/>
                  </a:moveTo>
                  <a:lnTo>
                    <a:pt x="187006" y="4754"/>
                  </a:lnTo>
                  <a:lnTo>
                    <a:pt x="143053" y="18393"/>
                  </a:lnTo>
                  <a:lnTo>
                    <a:pt x="103274" y="39975"/>
                  </a:lnTo>
                  <a:lnTo>
                    <a:pt x="68611" y="68564"/>
                  </a:lnTo>
                  <a:lnTo>
                    <a:pt x="40009" y="103218"/>
                  </a:lnTo>
                  <a:lnTo>
                    <a:pt x="18411" y="143000"/>
                  </a:lnTo>
                  <a:lnTo>
                    <a:pt x="4760" y="186969"/>
                  </a:lnTo>
                  <a:lnTo>
                    <a:pt x="0" y="234187"/>
                  </a:lnTo>
                  <a:lnTo>
                    <a:pt x="4760" y="281364"/>
                  </a:lnTo>
                  <a:lnTo>
                    <a:pt x="18411" y="325302"/>
                  </a:lnTo>
                  <a:lnTo>
                    <a:pt x="40009" y="365061"/>
                  </a:lnTo>
                  <a:lnTo>
                    <a:pt x="68611" y="399700"/>
                  </a:lnTo>
                  <a:lnTo>
                    <a:pt x="103274" y="428279"/>
                  </a:lnTo>
                  <a:lnTo>
                    <a:pt x="143053" y="449857"/>
                  </a:lnTo>
                  <a:lnTo>
                    <a:pt x="187006" y="463494"/>
                  </a:lnTo>
                  <a:lnTo>
                    <a:pt x="234187" y="468249"/>
                  </a:lnTo>
                  <a:lnTo>
                    <a:pt x="281369" y="463494"/>
                  </a:lnTo>
                  <a:lnTo>
                    <a:pt x="325322" y="449857"/>
                  </a:lnTo>
                  <a:lnTo>
                    <a:pt x="365101" y="428279"/>
                  </a:lnTo>
                  <a:lnTo>
                    <a:pt x="399764" y="399700"/>
                  </a:lnTo>
                  <a:lnTo>
                    <a:pt x="428366" y="365061"/>
                  </a:lnTo>
                  <a:lnTo>
                    <a:pt x="449964" y="325302"/>
                  </a:lnTo>
                  <a:lnTo>
                    <a:pt x="463615" y="281364"/>
                  </a:lnTo>
                  <a:lnTo>
                    <a:pt x="468375" y="234187"/>
                  </a:lnTo>
                  <a:lnTo>
                    <a:pt x="463615" y="186969"/>
                  </a:lnTo>
                  <a:lnTo>
                    <a:pt x="449964" y="143000"/>
                  </a:lnTo>
                  <a:lnTo>
                    <a:pt x="428366" y="103218"/>
                  </a:lnTo>
                  <a:lnTo>
                    <a:pt x="399764" y="68564"/>
                  </a:lnTo>
                  <a:lnTo>
                    <a:pt x="365101" y="39975"/>
                  </a:lnTo>
                  <a:lnTo>
                    <a:pt x="325322" y="18393"/>
                  </a:lnTo>
                  <a:lnTo>
                    <a:pt x="281369" y="4754"/>
                  </a:lnTo>
                  <a:lnTo>
                    <a:pt x="234187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024370" y="1912111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0" y="234187"/>
                  </a:moveTo>
                  <a:lnTo>
                    <a:pt x="4760" y="186969"/>
                  </a:lnTo>
                  <a:lnTo>
                    <a:pt x="18411" y="143000"/>
                  </a:lnTo>
                  <a:lnTo>
                    <a:pt x="40009" y="103218"/>
                  </a:lnTo>
                  <a:lnTo>
                    <a:pt x="68611" y="68564"/>
                  </a:lnTo>
                  <a:lnTo>
                    <a:pt x="103274" y="39975"/>
                  </a:lnTo>
                  <a:lnTo>
                    <a:pt x="143053" y="18393"/>
                  </a:lnTo>
                  <a:lnTo>
                    <a:pt x="187006" y="4754"/>
                  </a:lnTo>
                  <a:lnTo>
                    <a:pt x="234187" y="0"/>
                  </a:lnTo>
                  <a:lnTo>
                    <a:pt x="281369" y="4754"/>
                  </a:lnTo>
                  <a:lnTo>
                    <a:pt x="325322" y="18393"/>
                  </a:lnTo>
                  <a:lnTo>
                    <a:pt x="365101" y="39975"/>
                  </a:lnTo>
                  <a:lnTo>
                    <a:pt x="399764" y="68564"/>
                  </a:lnTo>
                  <a:lnTo>
                    <a:pt x="428366" y="103218"/>
                  </a:lnTo>
                  <a:lnTo>
                    <a:pt x="449964" y="143000"/>
                  </a:lnTo>
                  <a:lnTo>
                    <a:pt x="463615" y="186969"/>
                  </a:lnTo>
                  <a:lnTo>
                    <a:pt x="468375" y="234187"/>
                  </a:lnTo>
                  <a:lnTo>
                    <a:pt x="463615" y="281364"/>
                  </a:lnTo>
                  <a:lnTo>
                    <a:pt x="449964" y="325302"/>
                  </a:lnTo>
                  <a:lnTo>
                    <a:pt x="428366" y="365061"/>
                  </a:lnTo>
                  <a:lnTo>
                    <a:pt x="399764" y="399700"/>
                  </a:lnTo>
                  <a:lnTo>
                    <a:pt x="365101" y="428279"/>
                  </a:lnTo>
                  <a:lnTo>
                    <a:pt x="325322" y="449857"/>
                  </a:lnTo>
                  <a:lnTo>
                    <a:pt x="281369" y="463494"/>
                  </a:lnTo>
                  <a:lnTo>
                    <a:pt x="234187" y="468249"/>
                  </a:lnTo>
                  <a:lnTo>
                    <a:pt x="187006" y="463494"/>
                  </a:lnTo>
                  <a:lnTo>
                    <a:pt x="143053" y="449857"/>
                  </a:lnTo>
                  <a:lnTo>
                    <a:pt x="103274" y="428279"/>
                  </a:lnTo>
                  <a:lnTo>
                    <a:pt x="68611" y="399700"/>
                  </a:lnTo>
                  <a:lnTo>
                    <a:pt x="40009" y="365061"/>
                  </a:lnTo>
                  <a:lnTo>
                    <a:pt x="18411" y="325302"/>
                  </a:lnTo>
                  <a:lnTo>
                    <a:pt x="4760" y="281364"/>
                  </a:lnTo>
                  <a:lnTo>
                    <a:pt x="0" y="234187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7137018" y="1940814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552247" y="2916999"/>
            <a:ext cx="497205" cy="497205"/>
            <a:chOff x="6552247" y="2916999"/>
            <a:chExt cx="497205" cy="497205"/>
          </a:xfrm>
        </p:grpSpPr>
        <p:sp>
          <p:nvSpPr>
            <p:cNvPr id="47" name="object 47"/>
            <p:cNvSpPr/>
            <p:nvPr/>
          </p:nvSpPr>
          <p:spPr>
            <a:xfrm>
              <a:off x="6566534" y="2931286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29">
                  <a:moveTo>
                    <a:pt x="234188" y="0"/>
                  </a:moveTo>
                  <a:lnTo>
                    <a:pt x="187006" y="4754"/>
                  </a:lnTo>
                  <a:lnTo>
                    <a:pt x="143053" y="18393"/>
                  </a:lnTo>
                  <a:lnTo>
                    <a:pt x="103274" y="39975"/>
                  </a:lnTo>
                  <a:lnTo>
                    <a:pt x="68611" y="68564"/>
                  </a:lnTo>
                  <a:lnTo>
                    <a:pt x="40009" y="103218"/>
                  </a:lnTo>
                  <a:lnTo>
                    <a:pt x="18411" y="143000"/>
                  </a:lnTo>
                  <a:lnTo>
                    <a:pt x="4760" y="186969"/>
                  </a:lnTo>
                  <a:lnTo>
                    <a:pt x="0" y="234187"/>
                  </a:lnTo>
                  <a:lnTo>
                    <a:pt x="4760" y="281364"/>
                  </a:lnTo>
                  <a:lnTo>
                    <a:pt x="18411" y="325302"/>
                  </a:lnTo>
                  <a:lnTo>
                    <a:pt x="40009" y="365061"/>
                  </a:lnTo>
                  <a:lnTo>
                    <a:pt x="68611" y="399700"/>
                  </a:lnTo>
                  <a:lnTo>
                    <a:pt x="103274" y="428279"/>
                  </a:lnTo>
                  <a:lnTo>
                    <a:pt x="143053" y="449857"/>
                  </a:lnTo>
                  <a:lnTo>
                    <a:pt x="187006" y="463494"/>
                  </a:lnTo>
                  <a:lnTo>
                    <a:pt x="234188" y="468249"/>
                  </a:lnTo>
                  <a:lnTo>
                    <a:pt x="281369" y="463494"/>
                  </a:lnTo>
                  <a:lnTo>
                    <a:pt x="325322" y="449857"/>
                  </a:lnTo>
                  <a:lnTo>
                    <a:pt x="365101" y="428279"/>
                  </a:lnTo>
                  <a:lnTo>
                    <a:pt x="399764" y="399700"/>
                  </a:lnTo>
                  <a:lnTo>
                    <a:pt x="428366" y="365061"/>
                  </a:lnTo>
                  <a:lnTo>
                    <a:pt x="449964" y="325302"/>
                  </a:lnTo>
                  <a:lnTo>
                    <a:pt x="463615" y="281364"/>
                  </a:lnTo>
                  <a:lnTo>
                    <a:pt x="468375" y="234187"/>
                  </a:lnTo>
                  <a:lnTo>
                    <a:pt x="463615" y="186969"/>
                  </a:lnTo>
                  <a:lnTo>
                    <a:pt x="449964" y="143000"/>
                  </a:lnTo>
                  <a:lnTo>
                    <a:pt x="428366" y="103218"/>
                  </a:lnTo>
                  <a:lnTo>
                    <a:pt x="399764" y="68564"/>
                  </a:lnTo>
                  <a:lnTo>
                    <a:pt x="365101" y="39975"/>
                  </a:lnTo>
                  <a:lnTo>
                    <a:pt x="325322" y="18393"/>
                  </a:lnTo>
                  <a:lnTo>
                    <a:pt x="281369" y="4754"/>
                  </a:lnTo>
                  <a:lnTo>
                    <a:pt x="234188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566534" y="2931286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29">
                  <a:moveTo>
                    <a:pt x="0" y="234187"/>
                  </a:moveTo>
                  <a:lnTo>
                    <a:pt x="4760" y="186969"/>
                  </a:lnTo>
                  <a:lnTo>
                    <a:pt x="18411" y="143000"/>
                  </a:lnTo>
                  <a:lnTo>
                    <a:pt x="40009" y="103218"/>
                  </a:lnTo>
                  <a:lnTo>
                    <a:pt x="68611" y="68564"/>
                  </a:lnTo>
                  <a:lnTo>
                    <a:pt x="103274" y="39975"/>
                  </a:lnTo>
                  <a:lnTo>
                    <a:pt x="143053" y="18393"/>
                  </a:lnTo>
                  <a:lnTo>
                    <a:pt x="187006" y="4754"/>
                  </a:lnTo>
                  <a:lnTo>
                    <a:pt x="234188" y="0"/>
                  </a:lnTo>
                  <a:lnTo>
                    <a:pt x="281369" y="4754"/>
                  </a:lnTo>
                  <a:lnTo>
                    <a:pt x="325322" y="18393"/>
                  </a:lnTo>
                  <a:lnTo>
                    <a:pt x="365101" y="39975"/>
                  </a:lnTo>
                  <a:lnTo>
                    <a:pt x="399764" y="68564"/>
                  </a:lnTo>
                  <a:lnTo>
                    <a:pt x="428366" y="103218"/>
                  </a:lnTo>
                  <a:lnTo>
                    <a:pt x="449964" y="143000"/>
                  </a:lnTo>
                  <a:lnTo>
                    <a:pt x="463615" y="186969"/>
                  </a:lnTo>
                  <a:lnTo>
                    <a:pt x="468375" y="234187"/>
                  </a:lnTo>
                  <a:lnTo>
                    <a:pt x="463615" y="281364"/>
                  </a:lnTo>
                  <a:lnTo>
                    <a:pt x="449964" y="325302"/>
                  </a:lnTo>
                  <a:lnTo>
                    <a:pt x="428366" y="365061"/>
                  </a:lnTo>
                  <a:lnTo>
                    <a:pt x="399764" y="399700"/>
                  </a:lnTo>
                  <a:lnTo>
                    <a:pt x="365101" y="428279"/>
                  </a:lnTo>
                  <a:lnTo>
                    <a:pt x="325322" y="449857"/>
                  </a:lnTo>
                  <a:lnTo>
                    <a:pt x="281369" y="463494"/>
                  </a:lnTo>
                  <a:lnTo>
                    <a:pt x="234188" y="468249"/>
                  </a:lnTo>
                  <a:lnTo>
                    <a:pt x="187006" y="463494"/>
                  </a:lnTo>
                  <a:lnTo>
                    <a:pt x="143053" y="449857"/>
                  </a:lnTo>
                  <a:lnTo>
                    <a:pt x="103274" y="428279"/>
                  </a:lnTo>
                  <a:lnTo>
                    <a:pt x="68611" y="399700"/>
                  </a:lnTo>
                  <a:lnTo>
                    <a:pt x="40009" y="365061"/>
                  </a:lnTo>
                  <a:lnTo>
                    <a:pt x="18411" y="325302"/>
                  </a:lnTo>
                  <a:lnTo>
                    <a:pt x="4760" y="281364"/>
                  </a:lnTo>
                  <a:lnTo>
                    <a:pt x="0" y="234187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6679183" y="2959989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G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961443" y="815149"/>
            <a:ext cx="1185545" cy="2148840"/>
            <a:chOff x="5961443" y="815149"/>
            <a:chExt cx="1185545" cy="2148840"/>
          </a:xfrm>
        </p:grpSpPr>
        <p:sp>
          <p:nvSpPr>
            <p:cNvPr id="51" name="object 51"/>
            <p:cNvSpPr/>
            <p:nvPr/>
          </p:nvSpPr>
          <p:spPr>
            <a:xfrm>
              <a:off x="6835520" y="2346070"/>
              <a:ext cx="297180" cy="603250"/>
            </a:xfrm>
            <a:custGeom>
              <a:avLst/>
              <a:gdLst/>
              <a:ahLst/>
              <a:cxnLst/>
              <a:rect l="l" t="t" r="r" b="b"/>
              <a:pathLst>
                <a:path w="297179" h="603250">
                  <a:moveTo>
                    <a:pt x="296799" y="0"/>
                  </a:moveTo>
                  <a:lnTo>
                    <a:pt x="0" y="603250"/>
                  </a:lnTo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975730" y="829436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234061" y="0"/>
                  </a:moveTo>
                  <a:lnTo>
                    <a:pt x="186884" y="4754"/>
                  </a:lnTo>
                  <a:lnTo>
                    <a:pt x="142946" y="18393"/>
                  </a:lnTo>
                  <a:lnTo>
                    <a:pt x="103187" y="39975"/>
                  </a:lnTo>
                  <a:lnTo>
                    <a:pt x="68548" y="68564"/>
                  </a:lnTo>
                  <a:lnTo>
                    <a:pt x="39969" y="103218"/>
                  </a:lnTo>
                  <a:lnTo>
                    <a:pt x="18391" y="143000"/>
                  </a:lnTo>
                  <a:lnTo>
                    <a:pt x="4754" y="186969"/>
                  </a:lnTo>
                  <a:lnTo>
                    <a:pt x="0" y="234187"/>
                  </a:lnTo>
                  <a:lnTo>
                    <a:pt x="4754" y="281364"/>
                  </a:lnTo>
                  <a:lnTo>
                    <a:pt x="18391" y="325302"/>
                  </a:lnTo>
                  <a:lnTo>
                    <a:pt x="39969" y="365061"/>
                  </a:lnTo>
                  <a:lnTo>
                    <a:pt x="68548" y="399700"/>
                  </a:lnTo>
                  <a:lnTo>
                    <a:pt x="103187" y="428279"/>
                  </a:lnTo>
                  <a:lnTo>
                    <a:pt x="142946" y="449857"/>
                  </a:lnTo>
                  <a:lnTo>
                    <a:pt x="186884" y="463494"/>
                  </a:lnTo>
                  <a:lnTo>
                    <a:pt x="234061" y="468249"/>
                  </a:lnTo>
                  <a:lnTo>
                    <a:pt x="281279" y="463494"/>
                  </a:lnTo>
                  <a:lnTo>
                    <a:pt x="325248" y="449857"/>
                  </a:lnTo>
                  <a:lnTo>
                    <a:pt x="365030" y="428279"/>
                  </a:lnTo>
                  <a:lnTo>
                    <a:pt x="399684" y="399700"/>
                  </a:lnTo>
                  <a:lnTo>
                    <a:pt x="428273" y="365061"/>
                  </a:lnTo>
                  <a:lnTo>
                    <a:pt x="449855" y="325302"/>
                  </a:lnTo>
                  <a:lnTo>
                    <a:pt x="463494" y="281364"/>
                  </a:lnTo>
                  <a:lnTo>
                    <a:pt x="468249" y="234187"/>
                  </a:lnTo>
                  <a:lnTo>
                    <a:pt x="463494" y="186969"/>
                  </a:lnTo>
                  <a:lnTo>
                    <a:pt x="449855" y="143000"/>
                  </a:lnTo>
                  <a:lnTo>
                    <a:pt x="428273" y="103218"/>
                  </a:lnTo>
                  <a:lnTo>
                    <a:pt x="399684" y="68564"/>
                  </a:lnTo>
                  <a:lnTo>
                    <a:pt x="365030" y="39975"/>
                  </a:lnTo>
                  <a:lnTo>
                    <a:pt x="325248" y="18393"/>
                  </a:lnTo>
                  <a:lnTo>
                    <a:pt x="281279" y="4754"/>
                  </a:lnTo>
                  <a:lnTo>
                    <a:pt x="234061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975730" y="829436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30">
                  <a:moveTo>
                    <a:pt x="0" y="234187"/>
                  </a:moveTo>
                  <a:lnTo>
                    <a:pt x="4754" y="186969"/>
                  </a:lnTo>
                  <a:lnTo>
                    <a:pt x="18391" y="143000"/>
                  </a:lnTo>
                  <a:lnTo>
                    <a:pt x="39969" y="103218"/>
                  </a:lnTo>
                  <a:lnTo>
                    <a:pt x="68548" y="68564"/>
                  </a:lnTo>
                  <a:lnTo>
                    <a:pt x="103187" y="39975"/>
                  </a:lnTo>
                  <a:lnTo>
                    <a:pt x="142946" y="18393"/>
                  </a:lnTo>
                  <a:lnTo>
                    <a:pt x="186884" y="4754"/>
                  </a:lnTo>
                  <a:lnTo>
                    <a:pt x="234061" y="0"/>
                  </a:lnTo>
                  <a:lnTo>
                    <a:pt x="281279" y="4754"/>
                  </a:lnTo>
                  <a:lnTo>
                    <a:pt x="325248" y="18393"/>
                  </a:lnTo>
                  <a:lnTo>
                    <a:pt x="365030" y="39975"/>
                  </a:lnTo>
                  <a:lnTo>
                    <a:pt x="399684" y="68564"/>
                  </a:lnTo>
                  <a:lnTo>
                    <a:pt x="428273" y="103218"/>
                  </a:lnTo>
                  <a:lnTo>
                    <a:pt x="449855" y="143000"/>
                  </a:lnTo>
                  <a:lnTo>
                    <a:pt x="463494" y="186969"/>
                  </a:lnTo>
                  <a:lnTo>
                    <a:pt x="468249" y="234187"/>
                  </a:lnTo>
                  <a:lnTo>
                    <a:pt x="463494" y="281364"/>
                  </a:lnTo>
                  <a:lnTo>
                    <a:pt x="449855" y="325302"/>
                  </a:lnTo>
                  <a:lnTo>
                    <a:pt x="428273" y="365061"/>
                  </a:lnTo>
                  <a:lnTo>
                    <a:pt x="399684" y="399700"/>
                  </a:lnTo>
                  <a:lnTo>
                    <a:pt x="365030" y="428279"/>
                  </a:lnTo>
                  <a:lnTo>
                    <a:pt x="325248" y="449857"/>
                  </a:lnTo>
                  <a:lnTo>
                    <a:pt x="281279" y="463494"/>
                  </a:lnTo>
                  <a:lnTo>
                    <a:pt x="234061" y="468249"/>
                  </a:lnTo>
                  <a:lnTo>
                    <a:pt x="186884" y="463494"/>
                  </a:lnTo>
                  <a:lnTo>
                    <a:pt x="142946" y="449857"/>
                  </a:lnTo>
                  <a:lnTo>
                    <a:pt x="103187" y="428279"/>
                  </a:lnTo>
                  <a:lnTo>
                    <a:pt x="68548" y="399700"/>
                  </a:lnTo>
                  <a:lnTo>
                    <a:pt x="39969" y="365061"/>
                  </a:lnTo>
                  <a:lnTo>
                    <a:pt x="18391" y="325302"/>
                  </a:lnTo>
                  <a:lnTo>
                    <a:pt x="4754" y="281364"/>
                  </a:lnTo>
                  <a:lnTo>
                    <a:pt x="0" y="234187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6095746" y="857758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5201030" y="1208786"/>
            <a:ext cx="1990725" cy="1740535"/>
          </a:xfrm>
          <a:custGeom>
            <a:avLst/>
            <a:gdLst/>
            <a:ahLst/>
            <a:cxnLst/>
            <a:rect l="l" t="t" r="r" b="b"/>
            <a:pathLst>
              <a:path w="1990725" h="1740535">
                <a:moveTo>
                  <a:pt x="827913" y="0"/>
                </a:moveTo>
                <a:lnTo>
                  <a:pt x="0" y="720089"/>
                </a:lnTo>
              </a:path>
              <a:path w="1990725" h="1740535">
                <a:moveTo>
                  <a:pt x="0" y="1089405"/>
                </a:moveTo>
                <a:lnTo>
                  <a:pt x="353949" y="1740280"/>
                </a:lnTo>
              </a:path>
              <a:path w="1990725" h="1740535">
                <a:moveTo>
                  <a:pt x="1012190" y="91439"/>
                </a:moveTo>
                <a:lnTo>
                  <a:pt x="1012190" y="681989"/>
                </a:lnTo>
              </a:path>
              <a:path w="1990725" h="1740535">
                <a:moveTo>
                  <a:pt x="1990471" y="725677"/>
                </a:moveTo>
                <a:lnTo>
                  <a:pt x="1198499" y="5587"/>
                </a:lnTo>
              </a:path>
            </a:pathLst>
          </a:custGeom>
          <a:ln w="28575">
            <a:solidFill>
              <a:srgbClr val="507C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44120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48643" y="2053127"/>
            <a:ext cx="152400" cy="25355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algn="just">
              <a:lnSpc>
                <a:spcPts val="1000"/>
              </a:lnSpc>
              <a:spcBef>
                <a:spcPts val="2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数 据 结 构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880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（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从 概 念 到 实 现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975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640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清 华 大 学 出 版 社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42925" y="100964"/>
            <a:ext cx="3600450" cy="540385"/>
          </a:xfrm>
          <a:custGeom>
            <a:avLst/>
            <a:gdLst/>
            <a:ahLst/>
            <a:cxnLst/>
            <a:rect l="l" t="t" r="r" b="b"/>
            <a:pathLst>
              <a:path w="3600450" h="540385">
                <a:moveTo>
                  <a:pt x="3510026" y="0"/>
                </a:moveTo>
                <a:lnTo>
                  <a:pt x="90004" y="0"/>
                </a:lnTo>
                <a:lnTo>
                  <a:pt x="54971" y="7068"/>
                </a:lnTo>
                <a:lnTo>
                  <a:pt x="26362" y="26352"/>
                </a:lnTo>
                <a:lnTo>
                  <a:pt x="7073" y="54971"/>
                </a:lnTo>
                <a:lnTo>
                  <a:pt x="0" y="90042"/>
                </a:lnTo>
                <a:lnTo>
                  <a:pt x="0" y="449960"/>
                </a:lnTo>
                <a:lnTo>
                  <a:pt x="7073" y="485032"/>
                </a:lnTo>
                <a:lnTo>
                  <a:pt x="26362" y="513651"/>
                </a:lnTo>
                <a:lnTo>
                  <a:pt x="54971" y="532935"/>
                </a:lnTo>
                <a:lnTo>
                  <a:pt x="90004" y="540003"/>
                </a:lnTo>
                <a:lnTo>
                  <a:pt x="3510026" y="540003"/>
                </a:lnTo>
                <a:lnTo>
                  <a:pt x="3545024" y="532935"/>
                </a:lnTo>
                <a:lnTo>
                  <a:pt x="3573605" y="513651"/>
                </a:lnTo>
                <a:lnTo>
                  <a:pt x="3592875" y="485032"/>
                </a:lnTo>
                <a:lnTo>
                  <a:pt x="3599941" y="449960"/>
                </a:lnTo>
                <a:lnTo>
                  <a:pt x="3599941" y="90042"/>
                </a:lnTo>
                <a:lnTo>
                  <a:pt x="3592875" y="54971"/>
                </a:lnTo>
                <a:lnTo>
                  <a:pt x="3573605" y="26352"/>
                </a:lnTo>
                <a:lnTo>
                  <a:pt x="3545024" y="7068"/>
                </a:lnTo>
                <a:lnTo>
                  <a:pt x="3510026" y="0"/>
                </a:lnTo>
                <a:close/>
              </a:path>
            </a:pathLst>
          </a:custGeom>
          <a:solidFill>
            <a:srgbClr val="5A31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6991" y="141809"/>
            <a:ext cx="328802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chemeClr val="bg1"/>
                </a:solidFill>
              </a:rPr>
              <a:t>森林</a:t>
            </a:r>
            <a:r>
              <a:rPr sz="2800" spc="-10" dirty="0">
                <a:solidFill>
                  <a:schemeClr val="bg1"/>
                </a:solidFill>
              </a:rPr>
              <a:t>转</a:t>
            </a:r>
            <a:r>
              <a:rPr sz="2800" spc="-5" dirty="0">
                <a:solidFill>
                  <a:schemeClr val="bg1"/>
                </a:solidFill>
              </a:rPr>
              <a:t>换为</a:t>
            </a:r>
            <a:r>
              <a:rPr sz="2800" spc="-10" dirty="0">
                <a:solidFill>
                  <a:schemeClr val="bg1"/>
                </a:solidFill>
              </a:rPr>
              <a:t>二</a:t>
            </a:r>
            <a:r>
              <a:rPr sz="2800" spc="-5" dirty="0">
                <a:solidFill>
                  <a:schemeClr val="bg1"/>
                </a:solidFill>
              </a:rPr>
              <a:t>叉</a:t>
            </a:r>
            <a:r>
              <a:rPr sz="2800" spc="-10" dirty="0">
                <a:solidFill>
                  <a:schemeClr val="bg1"/>
                </a:solidFill>
              </a:rPr>
              <a:t>树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732853" y="1082808"/>
            <a:ext cx="2691765" cy="4030345"/>
            <a:chOff x="714362" y="1026160"/>
            <a:chExt cx="2691765" cy="4030345"/>
          </a:xfrm>
        </p:grpSpPr>
        <p:sp>
          <p:nvSpPr>
            <p:cNvPr id="6" name="object 6"/>
            <p:cNvSpPr/>
            <p:nvPr/>
          </p:nvSpPr>
          <p:spPr>
            <a:xfrm>
              <a:off x="760653" y="1026160"/>
              <a:ext cx="386080" cy="387985"/>
            </a:xfrm>
            <a:custGeom>
              <a:avLst/>
              <a:gdLst/>
              <a:ahLst/>
              <a:cxnLst/>
              <a:rect l="l" t="t" r="r" b="b"/>
              <a:pathLst>
                <a:path w="386080" h="387984">
                  <a:moveTo>
                    <a:pt x="216966" y="385699"/>
                  </a:moveTo>
                  <a:lnTo>
                    <a:pt x="208191" y="385699"/>
                  </a:lnTo>
                  <a:lnTo>
                    <a:pt x="210388" y="387985"/>
                  </a:lnTo>
                  <a:lnTo>
                    <a:pt x="214769" y="387985"/>
                  </a:lnTo>
                  <a:lnTo>
                    <a:pt x="216966" y="385699"/>
                  </a:lnTo>
                  <a:close/>
                </a:path>
                <a:path w="386080" h="387984">
                  <a:moveTo>
                    <a:pt x="109575" y="123443"/>
                  </a:moveTo>
                  <a:lnTo>
                    <a:pt x="51774" y="134715"/>
                  </a:lnTo>
                  <a:lnTo>
                    <a:pt x="2184" y="167512"/>
                  </a:lnTo>
                  <a:lnTo>
                    <a:pt x="0" y="171957"/>
                  </a:lnTo>
                  <a:lnTo>
                    <a:pt x="0" y="176402"/>
                  </a:lnTo>
                  <a:lnTo>
                    <a:pt x="2184" y="180720"/>
                  </a:lnTo>
                  <a:lnTo>
                    <a:pt x="206006" y="385699"/>
                  </a:lnTo>
                  <a:lnTo>
                    <a:pt x="219151" y="385699"/>
                  </a:lnTo>
                  <a:lnTo>
                    <a:pt x="242884" y="353014"/>
                  </a:lnTo>
                  <a:lnTo>
                    <a:pt x="257781" y="315769"/>
                  </a:lnTo>
                  <a:lnTo>
                    <a:pt x="263224" y="276024"/>
                  </a:lnTo>
                  <a:lnTo>
                    <a:pt x="258597" y="235838"/>
                  </a:lnTo>
                  <a:lnTo>
                    <a:pt x="317779" y="176402"/>
                  </a:lnTo>
                  <a:lnTo>
                    <a:pt x="352195" y="176402"/>
                  </a:lnTo>
                  <a:lnTo>
                    <a:pt x="381330" y="145541"/>
                  </a:lnTo>
                  <a:lnTo>
                    <a:pt x="383527" y="143255"/>
                  </a:lnTo>
                  <a:lnTo>
                    <a:pt x="385711" y="141097"/>
                  </a:lnTo>
                  <a:lnTo>
                    <a:pt x="385711" y="136651"/>
                  </a:lnTo>
                  <a:lnTo>
                    <a:pt x="383527" y="134492"/>
                  </a:lnTo>
                  <a:lnTo>
                    <a:pt x="381330" y="134492"/>
                  </a:lnTo>
                  <a:lnTo>
                    <a:pt x="374764" y="127888"/>
                  </a:lnTo>
                  <a:lnTo>
                    <a:pt x="151218" y="127888"/>
                  </a:lnTo>
                  <a:lnTo>
                    <a:pt x="141318" y="126230"/>
                  </a:lnTo>
                  <a:lnTo>
                    <a:pt x="131216" y="124809"/>
                  </a:lnTo>
                  <a:lnTo>
                    <a:pt x="120704" y="123817"/>
                  </a:lnTo>
                  <a:lnTo>
                    <a:pt x="109575" y="123443"/>
                  </a:lnTo>
                  <a:close/>
                </a:path>
                <a:path w="386080" h="387984">
                  <a:moveTo>
                    <a:pt x="352195" y="176402"/>
                  </a:moveTo>
                  <a:lnTo>
                    <a:pt x="317779" y="176402"/>
                  </a:lnTo>
                  <a:lnTo>
                    <a:pt x="328726" y="187325"/>
                  </a:lnTo>
                  <a:lnTo>
                    <a:pt x="333120" y="189611"/>
                  </a:lnTo>
                  <a:lnTo>
                    <a:pt x="337502" y="189611"/>
                  </a:lnTo>
                  <a:lnTo>
                    <a:pt x="341883" y="187325"/>
                  </a:lnTo>
                  <a:lnTo>
                    <a:pt x="352195" y="176402"/>
                  </a:lnTo>
                  <a:close/>
                </a:path>
                <a:path w="386080" h="387984">
                  <a:moveTo>
                    <a:pt x="249834" y="0"/>
                  </a:moveTo>
                  <a:lnTo>
                    <a:pt x="243255" y="0"/>
                  </a:lnTo>
                  <a:lnTo>
                    <a:pt x="241071" y="4444"/>
                  </a:lnTo>
                  <a:lnTo>
                    <a:pt x="199428" y="44068"/>
                  </a:lnTo>
                  <a:lnTo>
                    <a:pt x="197243" y="46227"/>
                  </a:lnTo>
                  <a:lnTo>
                    <a:pt x="197243" y="55117"/>
                  </a:lnTo>
                  <a:lnTo>
                    <a:pt x="199428" y="57276"/>
                  </a:lnTo>
                  <a:lnTo>
                    <a:pt x="210388" y="68325"/>
                  </a:lnTo>
                  <a:lnTo>
                    <a:pt x="151218" y="127888"/>
                  </a:lnTo>
                  <a:lnTo>
                    <a:pt x="374764" y="127888"/>
                  </a:lnTo>
                  <a:lnTo>
                    <a:pt x="252031" y="4444"/>
                  </a:lnTo>
                  <a:lnTo>
                    <a:pt x="249834" y="0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62" y="1288034"/>
              <a:ext cx="170903" cy="17017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169284" y="4019804"/>
              <a:ext cx="0" cy="612140"/>
            </a:xfrm>
            <a:custGeom>
              <a:avLst/>
              <a:gdLst/>
              <a:ahLst/>
              <a:cxnLst/>
              <a:rect l="l" t="t" r="r" b="b"/>
              <a:pathLst>
                <a:path h="612139">
                  <a:moveTo>
                    <a:pt x="0" y="0"/>
                  </a:moveTo>
                  <a:lnTo>
                    <a:pt x="0" y="612013"/>
                  </a:lnTo>
                </a:path>
              </a:pathLst>
            </a:custGeom>
            <a:ln w="28575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59481" y="3575811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216026" y="0"/>
                  </a:moveTo>
                  <a:lnTo>
                    <a:pt x="166511" y="5701"/>
                  </a:lnTo>
                  <a:lnTo>
                    <a:pt x="121048" y="21944"/>
                  </a:lnTo>
                  <a:lnTo>
                    <a:pt x="80936" y="47436"/>
                  </a:lnTo>
                  <a:lnTo>
                    <a:pt x="47476" y="80883"/>
                  </a:lnTo>
                  <a:lnTo>
                    <a:pt x="21966" y="120992"/>
                  </a:lnTo>
                  <a:lnTo>
                    <a:pt x="5708" y="166471"/>
                  </a:lnTo>
                  <a:lnTo>
                    <a:pt x="0" y="216026"/>
                  </a:lnTo>
                  <a:lnTo>
                    <a:pt x="5708" y="265535"/>
                  </a:lnTo>
                  <a:lnTo>
                    <a:pt x="21966" y="310980"/>
                  </a:lnTo>
                  <a:lnTo>
                    <a:pt x="47476" y="351067"/>
                  </a:lnTo>
                  <a:lnTo>
                    <a:pt x="80936" y="384500"/>
                  </a:lnTo>
                  <a:lnTo>
                    <a:pt x="121048" y="409985"/>
                  </a:lnTo>
                  <a:lnTo>
                    <a:pt x="166511" y="426225"/>
                  </a:lnTo>
                  <a:lnTo>
                    <a:pt x="216026" y="431926"/>
                  </a:lnTo>
                  <a:lnTo>
                    <a:pt x="265542" y="426225"/>
                  </a:lnTo>
                  <a:lnTo>
                    <a:pt x="311005" y="409985"/>
                  </a:lnTo>
                  <a:lnTo>
                    <a:pt x="351117" y="384500"/>
                  </a:lnTo>
                  <a:lnTo>
                    <a:pt x="384577" y="351067"/>
                  </a:lnTo>
                  <a:lnTo>
                    <a:pt x="410087" y="310980"/>
                  </a:lnTo>
                  <a:lnTo>
                    <a:pt x="426345" y="265535"/>
                  </a:lnTo>
                  <a:lnTo>
                    <a:pt x="432054" y="216026"/>
                  </a:lnTo>
                  <a:lnTo>
                    <a:pt x="426345" y="166471"/>
                  </a:lnTo>
                  <a:lnTo>
                    <a:pt x="410087" y="120992"/>
                  </a:lnTo>
                  <a:lnTo>
                    <a:pt x="384577" y="80883"/>
                  </a:lnTo>
                  <a:lnTo>
                    <a:pt x="351117" y="47436"/>
                  </a:lnTo>
                  <a:lnTo>
                    <a:pt x="311005" y="21944"/>
                  </a:lnTo>
                  <a:lnTo>
                    <a:pt x="265542" y="5701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59481" y="3575811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6026"/>
                  </a:moveTo>
                  <a:lnTo>
                    <a:pt x="5708" y="166471"/>
                  </a:lnTo>
                  <a:lnTo>
                    <a:pt x="21966" y="120992"/>
                  </a:lnTo>
                  <a:lnTo>
                    <a:pt x="47476" y="80883"/>
                  </a:lnTo>
                  <a:lnTo>
                    <a:pt x="80936" y="47436"/>
                  </a:lnTo>
                  <a:lnTo>
                    <a:pt x="121048" y="21944"/>
                  </a:lnTo>
                  <a:lnTo>
                    <a:pt x="166511" y="5701"/>
                  </a:lnTo>
                  <a:lnTo>
                    <a:pt x="216026" y="0"/>
                  </a:lnTo>
                  <a:lnTo>
                    <a:pt x="265542" y="5701"/>
                  </a:lnTo>
                  <a:lnTo>
                    <a:pt x="311005" y="21944"/>
                  </a:lnTo>
                  <a:lnTo>
                    <a:pt x="351117" y="47436"/>
                  </a:lnTo>
                  <a:lnTo>
                    <a:pt x="384577" y="80883"/>
                  </a:lnTo>
                  <a:lnTo>
                    <a:pt x="410087" y="120992"/>
                  </a:lnTo>
                  <a:lnTo>
                    <a:pt x="426345" y="166471"/>
                  </a:lnTo>
                  <a:lnTo>
                    <a:pt x="432054" y="216026"/>
                  </a:lnTo>
                  <a:lnTo>
                    <a:pt x="426345" y="265535"/>
                  </a:lnTo>
                  <a:lnTo>
                    <a:pt x="410087" y="310980"/>
                  </a:lnTo>
                  <a:lnTo>
                    <a:pt x="384577" y="351067"/>
                  </a:lnTo>
                  <a:lnTo>
                    <a:pt x="351117" y="384500"/>
                  </a:lnTo>
                  <a:lnTo>
                    <a:pt x="311005" y="409985"/>
                  </a:lnTo>
                  <a:lnTo>
                    <a:pt x="265542" y="426225"/>
                  </a:lnTo>
                  <a:lnTo>
                    <a:pt x="216026" y="431926"/>
                  </a:lnTo>
                  <a:lnTo>
                    <a:pt x="166511" y="426225"/>
                  </a:lnTo>
                  <a:lnTo>
                    <a:pt x="121048" y="409985"/>
                  </a:lnTo>
                  <a:lnTo>
                    <a:pt x="80936" y="384500"/>
                  </a:lnTo>
                  <a:lnTo>
                    <a:pt x="47476" y="351067"/>
                  </a:lnTo>
                  <a:lnTo>
                    <a:pt x="21966" y="310980"/>
                  </a:lnTo>
                  <a:lnTo>
                    <a:pt x="5708" y="265535"/>
                  </a:lnTo>
                  <a:lnTo>
                    <a:pt x="0" y="216026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959481" y="4609973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216026" y="0"/>
                  </a:moveTo>
                  <a:lnTo>
                    <a:pt x="166511" y="5701"/>
                  </a:lnTo>
                  <a:lnTo>
                    <a:pt x="121048" y="21944"/>
                  </a:lnTo>
                  <a:lnTo>
                    <a:pt x="80936" y="47436"/>
                  </a:lnTo>
                  <a:lnTo>
                    <a:pt x="47476" y="80883"/>
                  </a:lnTo>
                  <a:lnTo>
                    <a:pt x="21966" y="120992"/>
                  </a:lnTo>
                  <a:lnTo>
                    <a:pt x="5708" y="166471"/>
                  </a:lnTo>
                  <a:lnTo>
                    <a:pt x="0" y="216026"/>
                  </a:lnTo>
                  <a:lnTo>
                    <a:pt x="5708" y="265535"/>
                  </a:lnTo>
                  <a:lnTo>
                    <a:pt x="21966" y="310980"/>
                  </a:lnTo>
                  <a:lnTo>
                    <a:pt x="47476" y="351067"/>
                  </a:lnTo>
                  <a:lnTo>
                    <a:pt x="80936" y="384500"/>
                  </a:lnTo>
                  <a:lnTo>
                    <a:pt x="121048" y="409985"/>
                  </a:lnTo>
                  <a:lnTo>
                    <a:pt x="166511" y="426225"/>
                  </a:lnTo>
                  <a:lnTo>
                    <a:pt x="216026" y="431926"/>
                  </a:lnTo>
                  <a:lnTo>
                    <a:pt x="265542" y="426225"/>
                  </a:lnTo>
                  <a:lnTo>
                    <a:pt x="311005" y="409985"/>
                  </a:lnTo>
                  <a:lnTo>
                    <a:pt x="351117" y="384500"/>
                  </a:lnTo>
                  <a:lnTo>
                    <a:pt x="384577" y="351067"/>
                  </a:lnTo>
                  <a:lnTo>
                    <a:pt x="410087" y="310980"/>
                  </a:lnTo>
                  <a:lnTo>
                    <a:pt x="426345" y="265535"/>
                  </a:lnTo>
                  <a:lnTo>
                    <a:pt x="432054" y="216026"/>
                  </a:lnTo>
                  <a:lnTo>
                    <a:pt x="426345" y="166471"/>
                  </a:lnTo>
                  <a:lnTo>
                    <a:pt x="410087" y="120992"/>
                  </a:lnTo>
                  <a:lnTo>
                    <a:pt x="384577" y="80883"/>
                  </a:lnTo>
                  <a:lnTo>
                    <a:pt x="351117" y="47436"/>
                  </a:lnTo>
                  <a:lnTo>
                    <a:pt x="311005" y="21944"/>
                  </a:lnTo>
                  <a:lnTo>
                    <a:pt x="265542" y="5701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959481" y="4609973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6026"/>
                  </a:moveTo>
                  <a:lnTo>
                    <a:pt x="5708" y="166471"/>
                  </a:lnTo>
                  <a:lnTo>
                    <a:pt x="21966" y="120992"/>
                  </a:lnTo>
                  <a:lnTo>
                    <a:pt x="47476" y="80883"/>
                  </a:lnTo>
                  <a:lnTo>
                    <a:pt x="80936" y="47436"/>
                  </a:lnTo>
                  <a:lnTo>
                    <a:pt x="121048" y="21944"/>
                  </a:lnTo>
                  <a:lnTo>
                    <a:pt x="166511" y="5701"/>
                  </a:lnTo>
                  <a:lnTo>
                    <a:pt x="216026" y="0"/>
                  </a:lnTo>
                  <a:lnTo>
                    <a:pt x="265542" y="5701"/>
                  </a:lnTo>
                  <a:lnTo>
                    <a:pt x="311005" y="21944"/>
                  </a:lnTo>
                  <a:lnTo>
                    <a:pt x="351117" y="47436"/>
                  </a:lnTo>
                  <a:lnTo>
                    <a:pt x="384577" y="80883"/>
                  </a:lnTo>
                  <a:lnTo>
                    <a:pt x="410087" y="120992"/>
                  </a:lnTo>
                  <a:lnTo>
                    <a:pt x="426345" y="166471"/>
                  </a:lnTo>
                  <a:lnTo>
                    <a:pt x="432054" y="216026"/>
                  </a:lnTo>
                  <a:lnTo>
                    <a:pt x="426345" y="265535"/>
                  </a:lnTo>
                  <a:lnTo>
                    <a:pt x="410087" y="310980"/>
                  </a:lnTo>
                  <a:lnTo>
                    <a:pt x="384577" y="351067"/>
                  </a:lnTo>
                  <a:lnTo>
                    <a:pt x="351117" y="384500"/>
                  </a:lnTo>
                  <a:lnTo>
                    <a:pt x="311005" y="409985"/>
                  </a:lnTo>
                  <a:lnTo>
                    <a:pt x="265542" y="426225"/>
                  </a:lnTo>
                  <a:lnTo>
                    <a:pt x="216026" y="431926"/>
                  </a:lnTo>
                  <a:lnTo>
                    <a:pt x="166511" y="426225"/>
                  </a:lnTo>
                  <a:lnTo>
                    <a:pt x="121048" y="409985"/>
                  </a:lnTo>
                  <a:lnTo>
                    <a:pt x="80936" y="384500"/>
                  </a:lnTo>
                  <a:lnTo>
                    <a:pt x="47476" y="351067"/>
                  </a:lnTo>
                  <a:lnTo>
                    <a:pt x="21966" y="310980"/>
                  </a:lnTo>
                  <a:lnTo>
                    <a:pt x="5708" y="265535"/>
                  </a:lnTo>
                  <a:lnTo>
                    <a:pt x="0" y="216026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070351" y="4637831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912679" y="3597384"/>
            <a:ext cx="3392170" cy="1257935"/>
            <a:chOff x="3912679" y="3561524"/>
            <a:chExt cx="3392170" cy="1257935"/>
          </a:xfrm>
        </p:grpSpPr>
        <p:sp>
          <p:nvSpPr>
            <p:cNvPr id="15" name="object 15"/>
            <p:cNvSpPr/>
            <p:nvPr/>
          </p:nvSpPr>
          <p:spPr>
            <a:xfrm>
              <a:off x="4298060" y="3897883"/>
              <a:ext cx="382905" cy="521334"/>
            </a:xfrm>
            <a:custGeom>
              <a:avLst/>
              <a:gdLst/>
              <a:ahLst/>
              <a:cxnLst/>
              <a:rect l="l" t="t" r="r" b="b"/>
              <a:pathLst>
                <a:path w="382904" h="521335">
                  <a:moveTo>
                    <a:pt x="382397" y="0"/>
                  </a:moveTo>
                  <a:lnTo>
                    <a:pt x="0" y="521081"/>
                  </a:lnTo>
                </a:path>
              </a:pathLst>
            </a:custGeom>
            <a:ln w="28575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639817" y="3575811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216027" y="0"/>
                  </a:moveTo>
                  <a:lnTo>
                    <a:pt x="166471" y="5701"/>
                  </a:lnTo>
                  <a:lnTo>
                    <a:pt x="120992" y="21944"/>
                  </a:lnTo>
                  <a:lnTo>
                    <a:pt x="80883" y="47436"/>
                  </a:lnTo>
                  <a:lnTo>
                    <a:pt x="47436" y="80883"/>
                  </a:lnTo>
                  <a:lnTo>
                    <a:pt x="21944" y="120992"/>
                  </a:lnTo>
                  <a:lnTo>
                    <a:pt x="5701" y="166471"/>
                  </a:lnTo>
                  <a:lnTo>
                    <a:pt x="0" y="216026"/>
                  </a:lnTo>
                  <a:lnTo>
                    <a:pt x="5701" y="265535"/>
                  </a:lnTo>
                  <a:lnTo>
                    <a:pt x="21944" y="310980"/>
                  </a:lnTo>
                  <a:lnTo>
                    <a:pt x="47436" y="351067"/>
                  </a:lnTo>
                  <a:lnTo>
                    <a:pt x="80883" y="384500"/>
                  </a:lnTo>
                  <a:lnTo>
                    <a:pt x="120992" y="409985"/>
                  </a:lnTo>
                  <a:lnTo>
                    <a:pt x="166471" y="426225"/>
                  </a:lnTo>
                  <a:lnTo>
                    <a:pt x="216027" y="431926"/>
                  </a:lnTo>
                  <a:lnTo>
                    <a:pt x="265535" y="426225"/>
                  </a:lnTo>
                  <a:lnTo>
                    <a:pt x="310980" y="409985"/>
                  </a:lnTo>
                  <a:lnTo>
                    <a:pt x="351067" y="384500"/>
                  </a:lnTo>
                  <a:lnTo>
                    <a:pt x="384500" y="351067"/>
                  </a:lnTo>
                  <a:lnTo>
                    <a:pt x="409985" y="310980"/>
                  </a:lnTo>
                  <a:lnTo>
                    <a:pt x="426225" y="265535"/>
                  </a:lnTo>
                  <a:lnTo>
                    <a:pt x="431927" y="216026"/>
                  </a:lnTo>
                  <a:lnTo>
                    <a:pt x="426225" y="166471"/>
                  </a:lnTo>
                  <a:lnTo>
                    <a:pt x="409985" y="120992"/>
                  </a:lnTo>
                  <a:lnTo>
                    <a:pt x="384500" y="80883"/>
                  </a:lnTo>
                  <a:lnTo>
                    <a:pt x="351067" y="47436"/>
                  </a:lnTo>
                  <a:lnTo>
                    <a:pt x="310980" y="21944"/>
                  </a:lnTo>
                  <a:lnTo>
                    <a:pt x="265535" y="5701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639817" y="3575811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6026"/>
                  </a:moveTo>
                  <a:lnTo>
                    <a:pt x="5701" y="166471"/>
                  </a:lnTo>
                  <a:lnTo>
                    <a:pt x="21944" y="120992"/>
                  </a:lnTo>
                  <a:lnTo>
                    <a:pt x="47436" y="80883"/>
                  </a:lnTo>
                  <a:lnTo>
                    <a:pt x="80883" y="47436"/>
                  </a:lnTo>
                  <a:lnTo>
                    <a:pt x="120992" y="21944"/>
                  </a:lnTo>
                  <a:lnTo>
                    <a:pt x="166471" y="5701"/>
                  </a:lnTo>
                  <a:lnTo>
                    <a:pt x="216027" y="0"/>
                  </a:lnTo>
                  <a:lnTo>
                    <a:pt x="265535" y="5701"/>
                  </a:lnTo>
                  <a:lnTo>
                    <a:pt x="310980" y="21944"/>
                  </a:lnTo>
                  <a:lnTo>
                    <a:pt x="351067" y="47436"/>
                  </a:lnTo>
                  <a:lnTo>
                    <a:pt x="384500" y="80883"/>
                  </a:lnTo>
                  <a:lnTo>
                    <a:pt x="409985" y="120992"/>
                  </a:lnTo>
                  <a:lnTo>
                    <a:pt x="426225" y="166471"/>
                  </a:lnTo>
                  <a:lnTo>
                    <a:pt x="431927" y="216026"/>
                  </a:lnTo>
                  <a:lnTo>
                    <a:pt x="426225" y="265535"/>
                  </a:lnTo>
                  <a:lnTo>
                    <a:pt x="409985" y="310980"/>
                  </a:lnTo>
                  <a:lnTo>
                    <a:pt x="384500" y="351067"/>
                  </a:lnTo>
                  <a:lnTo>
                    <a:pt x="351067" y="384500"/>
                  </a:lnTo>
                  <a:lnTo>
                    <a:pt x="310980" y="409985"/>
                  </a:lnTo>
                  <a:lnTo>
                    <a:pt x="265535" y="426225"/>
                  </a:lnTo>
                  <a:lnTo>
                    <a:pt x="216027" y="431926"/>
                  </a:lnTo>
                  <a:lnTo>
                    <a:pt x="166471" y="426225"/>
                  </a:lnTo>
                  <a:lnTo>
                    <a:pt x="120992" y="409985"/>
                  </a:lnTo>
                  <a:lnTo>
                    <a:pt x="80883" y="384500"/>
                  </a:lnTo>
                  <a:lnTo>
                    <a:pt x="47436" y="351067"/>
                  </a:lnTo>
                  <a:lnTo>
                    <a:pt x="21944" y="310980"/>
                  </a:lnTo>
                  <a:lnTo>
                    <a:pt x="5701" y="265535"/>
                  </a:lnTo>
                  <a:lnTo>
                    <a:pt x="0" y="216026"/>
                  </a:lnTo>
                  <a:close/>
                </a:path>
              </a:pathLst>
            </a:custGeom>
            <a:ln w="28574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644008" y="437324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216026" y="0"/>
                  </a:moveTo>
                  <a:lnTo>
                    <a:pt x="166471" y="5701"/>
                  </a:lnTo>
                  <a:lnTo>
                    <a:pt x="120992" y="21941"/>
                  </a:lnTo>
                  <a:lnTo>
                    <a:pt x="80883" y="47426"/>
                  </a:lnTo>
                  <a:lnTo>
                    <a:pt x="47436" y="80859"/>
                  </a:lnTo>
                  <a:lnTo>
                    <a:pt x="21944" y="120946"/>
                  </a:lnTo>
                  <a:lnTo>
                    <a:pt x="5701" y="166391"/>
                  </a:lnTo>
                  <a:lnTo>
                    <a:pt x="0" y="215899"/>
                  </a:lnTo>
                  <a:lnTo>
                    <a:pt x="5701" y="265455"/>
                  </a:lnTo>
                  <a:lnTo>
                    <a:pt x="21944" y="310934"/>
                  </a:lnTo>
                  <a:lnTo>
                    <a:pt x="47436" y="351043"/>
                  </a:lnTo>
                  <a:lnTo>
                    <a:pt x="80883" y="384490"/>
                  </a:lnTo>
                  <a:lnTo>
                    <a:pt x="120992" y="409982"/>
                  </a:lnTo>
                  <a:lnTo>
                    <a:pt x="166471" y="426225"/>
                  </a:lnTo>
                  <a:lnTo>
                    <a:pt x="216026" y="431926"/>
                  </a:lnTo>
                  <a:lnTo>
                    <a:pt x="265535" y="426225"/>
                  </a:lnTo>
                  <a:lnTo>
                    <a:pt x="310980" y="409982"/>
                  </a:lnTo>
                  <a:lnTo>
                    <a:pt x="351067" y="384490"/>
                  </a:lnTo>
                  <a:lnTo>
                    <a:pt x="384500" y="351043"/>
                  </a:lnTo>
                  <a:lnTo>
                    <a:pt x="409985" y="310934"/>
                  </a:lnTo>
                  <a:lnTo>
                    <a:pt x="426225" y="265455"/>
                  </a:lnTo>
                  <a:lnTo>
                    <a:pt x="431926" y="215899"/>
                  </a:lnTo>
                  <a:lnTo>
                    <a:pt x="426225" y="166391"/>
                  </a:lnTo>
                  <a:lnTo>
                    <a:pt x="409985" y="120946"/>
                  </a:lnTo>
                  <a:lnTo>
                    <a:pt x="384500" y="80859"/>
                  </a:lnTo>
                  <a:lnTo>
                    <a:pt x="351067" y="47426"/>
                  </a:lnTo>
                  <a:lnTo>
                    <a:pt x="310980" y="21941"/>
                  </a:lnTo>
                  <a:lnTo>
                    <a:pt x="265535" y="5701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644008" y="437324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5899"/>
                  </a:moveTo>
                  <a:lnTo>
                    <a:pt x="5701" y="166391"/>
                  </a:lnTo>
                  <a:lnTo>
                    <a:pt x="21944" y="120946"/>
                  </a:lnTo>
                  <a:lnTo>
                    <a:pt x="47436" y="80859"/>
                  </a:lnTo>
                  <a:lnTo>
                    <a:pt x="80883" y="47426"/>
                  </a:lnTo>
                  <a:lnTo>
                    <a:pt x="120992" y="21941"/>
                  </a:lnTo>
                  <a:lnTo>
                    <a:pt x="166471" y="5701"/>
                  </a:lnTo>
                  <a:lnTo>
                    <a:pt x="216026" y="0"/>
                  </a:lnTo>
                  <a:lnTo>
                    <a:pt x="265535" y="5701"/>
                  </a:lnTo>
                  <a:lnTo>
                    <a:pt x="310980" y="21941"/>
                  </a:lnTo>
                  <a:lnTo>
                    <a:pt x="351067" y="47426"/>
                  </a:lnTo>
                  <a:lnTo>
                    <a:pt x="384500" y="80859"/>
                  </a:lnTo>
                  <a:lnTo>
                    <a:pt x="409985" y="120946"/>
                  </a:lnTo>
                  <a:lnTo>
                    <a:pt x="426225" y="166391"/>
                  </a:lnTo>
                  <a:lnTo>
                    <a:pt x="431926" y="215899"/>
                  </a:lnTo>
                  <a:lnTo>
                    <a:pt x="426225" y="265455"/>
                  </a:lnTo>
                  <a:lnTo>
                    <a:pt x="409985" y="310934"/>
                  </a:lnTo>
                  <a:lnTo>
                    <a:pt x="384500" y="351043"/>
                  </a:lnTo>
                  <a:lnTo>
                    <a:pt x="351067" y="384490"/>
                  </a:lnTo>
                  <a:lnTo>
                    <a:pt x="310980" y="409982"/>
                  </a:lnTo>
                  <a:lnTo>
                    <a:pt x="265535" y="426225"/>
                  </a:lnTo>
                  <a:lnTo>
                    <a:pt x="216026" y="431926"/>
                  </a:lnTo>
                  <a:lnTo>
                    <a:pt x="166471" y="426225"/>
                  </a:lnTo>
                  <a:lnTo>
                    <a:pt x="120992" y="409982"/>
                  </a:lnTo>
                  <a:lnTo>
                    <a:pt x="80883" y="384490"/>
                  </a:lnTo>
                  <a:lnTo>
                    <a:pt x="47436" y="351043"/>
                  </a:lnTo>
                  <a:lnTo>
                    <a:pt x="21944" y="310934"/>
                  </a:lnTo>
                  <a:lnTo>
                    <a:pt x="5701" y="265455"/>
                  </a:lnTo>
                  <a:lnTo>
                    <a:pt x="0" y="215899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60923" y="437324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216026" y="0"/>
                  </a:moveTo>
                  <a:lnTo>
                    <a:pt x="166511" y="5701"/>
                  </a:lnTo>
                  <a:lnTo>
                    <a:pt x="121048" y="21941"/>
                  </a:lnTo>
                  <a:lnTo>
                    <a:pt x="80936" y="47426"/>
                  </a:lnTo>
                  <a:lnTo>
                    <a:pt x="47476" y="80859"/>
                  </a:lnTo>
                  <a:lnTo>
                    <a:pt x="21966" y="120946"/>
                  </a:lnTo>
                  <a:lnTo>
                    <a:pt x="5708" y="166391"/>
                  </a:lnTo>
                  <a:lnTo>
                    <a:pt x="0" y="215899"/>
                  </a:lnTo>
                  <a:lnTo>
                    <a:pt x="5708" y="265455"/>
                  </a:lnTo>
                  <a:lnTo>
                    <a:pt x="21966" y="310934"/>
                  </a:lnTo>
                  <a:lnTo>
                    <a:pt x="47476" y="351043"/>
                  </a:lnTo>
                  <a:lnTo>
                    <a:pt x="80936" y="384490"/>
                  </a:lnTo>
                  <a:lnTo>
                    <a:pt x="121048" y="409982"/>
                  </a:lnTo>
                  <a:lnTo>
                    <a:pt x="166511" y="426225"/>
                  </a:lnTo>
                  <a:lnTo>
                    <a:pt x="216026" y="431926"/>
                  </a:lnTo>
                  <a:lnTo>
                    <a:pt x="265542" y="426225"/>
                  </a:lnTo>
                  <a:lnTo>
                    <a:pt x="311005" y="409982"/>
                  </a:lnTo>
                  <a:lnTo>
                    <a:pt x="351117" y="384490"/>
                  </a:lnTo>
                  <a:lnTo>
                    <a:pt x="384577" y="351043"/>
                  </a:lnTo>
                  <a:lnTo>
                    <a:pt x="410087" y="310934"/>
                  </a:lnTo>
                  <a:lnTo>
                    <a:pt x="426345" y="265455"/>
                  </a:lnTo>
                  <a:lnTo>
                    <a:pt x="432053" y="215899"/>
                  </a:lnTo>
                  <a:lnTo>
                    <a:pt x="426345" y="166391"/>
                  </a:lnTo>
                  <a:lnTo>
                    <a:pt x="410087" y="120946"/>
                  </a:lnTo>
                  <a:lnTo>
                    <a:pt x="384577" y="80859"/>
                  </a:lnTo>
                  <a:lnTo>
                    <a:pt x="351117" y="47426"/>
                  </a:lnTo>
                  <a:lnTo>
                    <a:pt x="311005" y="21941"/>
                  </a:lnTo>
                  <a:lnTo>
                    <a:pt x="265542" y="5701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60923" y="437324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5899"/>
                  </a:moveTo>
                  <a:lnTo>
                    <a:pt x="5708" y="166391"/>
                  </a:lnTo>
                  <a:lnTo>
                    <a:pt x="21966" y="120946"/>
                  </a:lnTo>
                  <a:lnTo>
                    <a:pt x="47476" y="80859"/>
                  </a:lnTo>
                  <a:lnTo>
                    <a:pt x="80936" y="47426"/>
                  </a:lnTo>
                  <a:lnTo>
                    <a:pt x="121048" y="21941"/>
                  </a:lnTo>
                  <a:lnTo>
                    <a:pt x="166511" y="5701"/>
                  </a:lnTo>
                  <a:lnTo>
                    <a:pt x="216026" y="0"/>
                  </a:lnTo>
                  <a:lnTo>
                    <a:pt x="265542" y="5701"/>
                  </a:lnTo>
                  <a:lnTo>
                    <a:pt x="311005" y="21941"/>
                  </a:lnTo>
                  <a:lnTo>
                    <a:pt x="351117" y="47426"/>
                  </a:lnTo>
                  <a:lnTo>
                    <a:pt x="384577" y="80859"/>
                  </a:lnTo>
                  <a:lnTo>
                    <a:pt x="410087" y="120946"/>
                  </a:lnTo>
                  <a:lnTo>
                    <a:pt x="426345" y="166391"/>
                  </a:lnTo>
                  <a:lnTo>
                    <a:pt x="432053" y="215899"/>
                  </a:lnTo>
                  <a:lnTo>
                    <a:pt x="426345" y="265455"/>
                  </a:lnTo>
                  <a:lnTo>
                    <a:pt x="410087" y="310934"/>
                  </a:lnTo>
                  <a:lnTo>
                    <a:pt x="384577" y="351043"/>
                  </a:lnTo>
                  <a:lnTo>
                    <a:pt x="351117" y="384490"/>
                  </a:lnTo>
                  <a:lnTo>
                    <a:pt x="311005" y="409982"/>
                  </a:lnTo>
                  <a:lnTo>
                    <a:pt x="265542" y="426225"/>
                  </a:lnTo>
                  <a:lnTo>
                    <a:pt x="216026" y="431926"/>
                  </a:lnTo>
                  <a:lnTo>
                    <a:pt x="166511" y="426225"/>
                  </a:lnTo>
                  <a:lnTo>
                    <a:pt x="121048" y="409982"/>
                  </a:lnTo>
                  <a:lnTo>
                    <a:pt x="80936" y="384490"/>
                  </a:lnTo>
                  <a:lnTo>
                    <a:pt x="47476" y="351043"/>
                  </a:lnTo>
                  <a:lnTo>
                    <a:pt x="21966" y="310934"/>
                  </a:lnTo>
                  <a:lnTo>
                    <a:pt x="5708" y="265455"/>
                  </a:lnTo>
                  <a:lnTo>
                    <a:pt x="0" y="215899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926966" y="437324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216027" y="0"/>
                  </a:moveTo>
                  <a:lnTo>
                    <a:pt x="166511" y="5701"/>
                  </a:lnTo>
                  <a:lnTo>
                    <a:pt x="121048" y="21941"/>
                  </a:lnTo>
                  <a:lnTo>
                    <a:pt x="80936" y="47426"/>
                  </a:lnTo>
                  <a:lnTo>
                    <a:pt x="47476" y="80859"/>
                  </a:lnTo>
                  <a:lnTo>
                    <a:pt x="21966" y="120946"/>
                  </a:lnTo>
                  <a:lnTo>
                    <a:pt x="5708" y="166391"/>
                  </a:lnTo>
                  <a:lnTo>
                    <a:pt x="0" y="215899"/>
                  </a:lnTo>
                  <a:lnTo>
                    <a:pt x="5708" y="265455"/>
                  </a:lnTo>
                  <a:lnTo>
                    <a:pt x="21966" y="310934"/>
                  </a:lnTo>
                  <a:lnTo>
                    <a:pt x="47476" y="351043"/>
                  </a:lnTo>
                  <a:lnTo>
                    <a:pt x="80936" y="384490"/>
                  </a:lnTo>
                  <a:lnTo>
                    <a:pt x="121048" y="409982"/>
                  </a:lnTo>
                  <a:lnTo>
                    <a:pt x="166511" y="426225"/>
                  </a:lnTo>
                  <a:lnTo>
                    <a:pt x="216027" y="431926"/>
                  </a:lnTo>
                  <a:lnTo>
                    <a:pt x="265542" y="426225"/>
                  </a:lnTo>
                  <a:lnTo>
                    <a:pt x="311005" y="409982"/>
                  </a:lnTo>
                  <a:lnTo>
                    <a:pt x="351117" y="384490"/>
                  </a:lnTo>
                  <a:lnTo>
                    <a:pt x="384577" y="351043"/>
                  </a:lnTo>
                  <a:lnTo>
                    <a:pt x="410087" y="310934"/>
                  </a:lnTo>
                  <a:lnTo>
                    <a:pt x="426345" y="265455"/>
                  </a:lnTo>
                  <a:lnTo>
                    <a:pt x="432054" y="215899"/>
                  </a:lnTo>
                  <a:lnTo>
                    <a:pt x="426345" y="166391"/>
                  </a:lnTo>
                  <a:lnTo>
                    <a:pt x="410087" y="120946"/>
                  </a:lnTo>
                  <a:lnTo>
                    <a:pt x="384577" y="80859"/>
                  </a:lnTo>
                  <a:lnTo>
                    <a:pt x="351117" y="47426"/>
                  </a:lnTo>
                  <a:lnTo>
                    <a:pt x="311005" y="21941"/>
                  </a:lnTo>
                  <a:lnTo>
                    <a:pt x="265542" y="5701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926966" y="437324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5899"/>
                  </a:moveTo>
                  <a:lnTo>
                    <a:pt x="5708" y="166391"/>
                  </a:lnTo>
                  <a:lnTo>
                    <a:pt x="21966" y="120946"/>
                  </a:lnTo>
                  <a:lnTo>
                    <a:pt x="47476" y="80859"/>
                  </a:lnTo>
                  <a:lnTo>
                    <a:pt x="80936" y="47426"/>
                  </a:lnTo>
                  <a:lnTo>
                    <a:pt x="121048" y="21941"/>
                  </a:lnTo>
                  <a:lnTo>
                    <a:pt x="166511" y="5701"/>
                  </a:lnTo>
                  <a:lnTo>
                    <a:pt x="216027" y="0"/>
                  </a:lnTo>
                  <a:lnTo>
                    <a:pt x="265542" y="5701"/>
                  </a:lnTo>
                  <a:lnTo>
                    <a:pt x="311005" y="21941"/>
                  </a:lnTo>
                  <a:lnTo>
                    <a:pt x="351117" y="47426"/>
                  </a:lnTo>
                  <a:lnTo>
                    <a:pt x="384577" y="80859"/>
                  </a:lnTo>
                  <a:lnTo>
                    <a:pt x="410087" y="120946"/>
                  </a:lnTo>
                  <a:lnTo>
                    <a:pt x="426345" y="166391"/>
                  </a:lnTo>
                  <a:lnTo>
                    <a:pt x="432054" y="215899"/>
                  </a:lnTo>
                  <a:lnTo>
                    <a:pt x="426345" y="265455"/>
                  </a:lnTo>
                  <a:lnTo>
                    <a:pt x="410087" y="310934"/>
                  </a:lnTo>
                  <a:lnTo>
                    <a:pt x="384577" y="351043"/>
                  </a:lnTo>
                  <a:lnTo>
                    <a:pt x="351117" y="384490"/>
                  </a:lnTo>
                  <a:lnTo>
                    <a:pt x="311005" y="409982"/>
                  </a:lnTo>
                  <a:lnTo>
                    <a:pt x="265542" y="426225"/>
                  </a:lnTo>
                  <a:lnTo>
                    <a:pt x="216027" y="431926"/>
                  </a:lnTo>
                  <a:lnTo>
                    <a:pt x="166511" y="426225"/>
                  </a:lnTo>
                  <a:lnTo>
                    <a:pt x="121048" y="409982"/>
                  </a:lnTo>
                  <a:lnTo>
                    <a:pt x="80936" y="384490"/>
                  </a:lnTo>
                  <a:lnTo>
                    <a:pt x="47476" y="351043"/>
                  </a:lnTo>
                  <a:lnTo>
                    <a:pt x="21966" y="310934"/>
                  </a:lnTo>
                  <a:lnTo>
                    <a:pt x="5708" y="265455"/>
                  </a:lnTo>
                  <a:lnTo>
                    <a:pt x="0" y="215899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60035" y="3914266"/>
              <a:ext cx="2097405" cy="521334"/>
            </a:xfrm>
            <a:custGeom>
              <a:avLst/>
              <a:gdLst/>
              <a:ahLst/>
              <a:cxnLst/>
              <a:rect l="l" t="t" r="r" b="b"/>
              <a:pathLst>
                <a:path w="2097404" h="521335">
                  <a:moveTo>
                    <a:pt x="562101" y="520953"/>
                  </a:moveTo>
                  <a:lnTo>
                    <a:pt x="179831" y="0"/>
                  </a:lnTo>
                </a:path>
                <a:path w="2097404" h="521335">
                  <a:moveTo>
                    <a:pt x="0" y="93471"/>
                  </a:moveTo>
                  <a:lnTo>
                    <a:pt x="0" y="453516"/>
                  </a:lnTo>
                </a:path>
                <a:path w="2097404" h="521335">
                  <a:moveTo>
                    <a:pt x="2097023" y="29336"/>
                  </a:moveTo>
                  <a:lnTo>
                    <a:pt x="1808988" y="497331"/>
                  </a:lnTo>
                </a:path>
              </a:pathLst>
            </a:custGeom>
            <a:ln w="28575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858380" y="3575811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216026" y="0"/>
                  </a:moveTo>
                  <a:lnTo>
                    <a:pt x="166471" y="5701"/>
                  </a:lnTo>
                  <a:lnTo>
                    <a:pt x="120992" y="21944"/>
                  </a:lnTo>
                  <a:lnTo>
                    <a:pt x="80883" y="47436"/>
                  </a:lnTo>
                  <a:lnTo>
                    <a:pt x="47436" y="80883"/>
                  </a:lnTo>
                  <a:lnTo>
                    <a:pt x="21944" y="120992"/>
                  </a:lnTo>
                  <a:lnTo>
                    <a:pt x="5701" y="166471"/>
                  </a:lnTo>
                  <a:lnTo>
                    <a:pt x="0" y="216026"/>
                  </a:lnTo>
                  <a:lnTo>
                    <a:pt x="5701" y="265535"/>
                  </a:lnTo>
                  <a:lnTo>
                    <a:pt x="21944" y="310980"/>
                  </a:lnTo>
                  <a:lnTo>
                    <a:pt x="47436" y="351067"/>
                  </a:lnTo>
                  <a:lnTo>
                    <a:pt x="80883" y="384500"/>
                  </a:lnTo>
                  <a:lnTo>
                    <a:pt x="120992" y="409985"/>
                  </a:lnTo>
                  <a:lnTo>
                    <a:pt x="166471" y="426225"/>
                  </a:lnTo>
                  <a:lnTo>
                    <a:pt x="216026" y="431926"/>
                  </a:lnTo>
                  <a:lnTo>
                    <a:pt x="265535" y="426225"/>
                  </a:lnTo>
                  <a:lnTo>
                    <a:pt x="310980" y="409985"/>
                  </a:lnTo>
                  <a:lnTo>
                    <a:pt x="351067" y="384500"/>
                  </a:lnTo>
                  <a:lnTo>
                    <a:pt x="384500" y="351067"/>
                  </a:lnTo>
                  <a:lnTo>
                    <a:pt x="409985" y="310980"/>
                  </a:lnTo>
                  <a:lnTo>
                    <a:pt x="426225" y="265535"/>
                  </a:lnTo>
                  <a:lnTo>
                    <a:pt x="431926" y="216026"/>
                  </a:lnTo>
                  <a:lnTo>
                    <a:pt x="426225" y="166471"/>
                  </a:lnTo>
                  <a:lnTo>
                    <a:pt x="409985" y="120992"/>
                  </a:lnTo>
                  <a:lnTo>
                    <a:pt x="384500" y="80883"/>
                  </a:lnTo>
                  <a:lnTo>
                    <a:pt x="351067" y="47436"/>
                  </a:lnTo>
                  <a:lnTo>
                    <a:pt x="310980" y="21944"/>
                  </a:lnTo>
                  <a:lnTo>
                    <a:pt x="265535" y="5701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58380" y="3575811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0" y="216026"/>
                  </a:moveTo>
                  <a:lnTo>
                    <a:pt x="5701" y="166471"/>
                  </a:lnTo>
                  <a:lnTo>
                    <a:pt x="21944" y="120992"/>
                  </a:lnTo>
                  <a:lnTo>
                    <a:pt x="47436" y="80883"/>
                  </a:lnTo>
                  <a:lnTo>
                    <a:pt x="80883" y="47436"/>
                  </a:lnTo>
                  <a:lnTo>
                    <a:pt x="120992" y="21944"/>
                  </a:lnTo>
                  <a:lnTo>
                    <a:pt x="166471" y="5701"/>
                  </a:lnTo>
                  <a:lnTo>
                    <a:pt x="216026" y="0"/>
                  </a:lnTo>
                  <a:lnTo>
                    <a:pt x="265535" y="5701"/>
                  </a:lnTo>
                  <a:lnTo>
                    <a:pt x="310980" y="21944"/>
                  </a:lnTo>
                  <a:lnTo>
                    <a:pt x="351067" y="47436"/>
                  </a:lnTo>
                  <a:lnTo>
                    <a:pt x="384500" y="80883"/>
                  </a:lnTo>
                  <a:lnTo>
                    <a:pt x="409985" y="120992"/>
                  </a:lnTo>
                  <a:lnTo>
                    <a:pt x="426225" y="166471"/>
                  </a:lnTo>
                  <a:lnTo>
                    <a:pt x="431926" y="216026"/>
                  </a:lnTo>
                  <a:lnTo>
                    <a:pt x="426225" y="265535"/>
                  </a:lnTo>
                  <a:lnTo>
                    <a:pt x="409985" y="310980"/>
                  </a:lnTo>
                  <a:lnTo>
                    <a:pt x="384500" y="351067"/>
                  </a:lnTo>
                  <a:lnTo>
                    <a:pt x="351067" y="384500"/>
                  </a:lnTo>
                  <a:lnTo>
                    <a:pt x="310980" y="409985"/>
                  </a:lnTo>
                  <a:lnTo>
                    <a:pt x="265535" y="426225"/>
                  </a:lnTo>
                  <a:lnTo>
                    <a:pt x="216026" y="431926"/>
                  </a:lnTo>
                  <a:lnTo>
                    <a:pt x="166471" y="426225"/>
                  </a:lnTo>
                  <a:lnTo>
                    <a:pt x="120992" y="409985"/>
                  </a:lnTo>
                  <a:lnTo>
                    <a:pt x="80883" y="384500"/>
                  </a:lnTo>
                  <a:lnTo>
                    <a:pt x="47436" y="351067"/>
                  </a:lnTo>
                  <a:lnTo>
                    <a:pt x="21944" y="310980"/>
                  </a:lnTo>
                  <a:lnTo>
                    <a:pt x="5701" y="265535"/>
                  </a:lnTo>
                  <a:lnTo>
                    <a:pt x="0" y="216026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193024" y="1187248"/>
            <a:ext cx="8434705" cy="282577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558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将一个森林转换为二叉树的方法是</a:t>
            </a:r>
            <a:endParaRPr sz="2800" dirty="0">
              <a:latin typeface="微软雅黑"/>
              <a:cs typeface="微软雅黑"/>
            </a:endParaRPr>
          </a:p>
          <a:p>
            <a:pPr marL="800735" indent="-788670">
              <a:lnSpc>
                <a:spcPct val="100000"/>
              </a:lnSpc>
              <a:spcBef>
                <a:spcPts val="1820"/>
              </a:spcBef>
              <a:buSzPct val="95833"/>
              <a:buAutoNum type="arabicPlain"/>
              <a:tabLst>
                <a:tab pos="801370" algn="l"/>
              </a:tabLst>
            </a:pP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将森林中的</a:t>
            </a:r>
            <a:r>
              <a:rPr sz="2400" dirty="0">
                <a:solidFill>
                  <a:srgbClr val="FF0000"/>
                </a:solidFill>
                <a:latin typeface="微软雅黑"/>
                <a:cs typeface="微软雅黑"/>
              </a:rPr>
              <a:t>每棵树</a:t>
            </a: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转换为二叉树</a:t>
            </a:r>
            <a:endParaRPr sz="2400" dirty="0">
              <a:latin typeface="微软雅黑"/>
              <a:cs typeface="微软雅黑"/>
            </a:endParaRPr>
          </a:p>
          <a:p>
            <a:pPr marL="800735" indent="-788670">
              <a:lnSpc>
                <a:spcPct val="100000"/>
              </a:lnSpc>
              <a:spcBef>
                <a:spcPts val="1440"/>
              </a:spcBef>
              <a:buSzPct val="95833"/>
              <a:buAutoNum type="arabicPlain"/>
              <a:tabLst>
                <a:tab pos="801370" algn="l"/>
              </a:tabLst>
            </a:pP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将每棵树的根结点视为兄弟，在所有</a:t>
            </a:r>
            <a:r>
              <a:rPr sz="2400" dirty="0">
                <a:solidFill>
                  <a:srgbClr val="FF0000"/>
                </a:solidFill>
                <a:latin typeface="微软雅黑"/>
                <a:cs typeface="微软雅黑"/>
              </a:rPr>
              <a:t>根结点</a:t>
            </a: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之间加上</a:t>
            </a:r>
            <a:r>
              <a:rPr sz="2400" spc="5" dirty="0">
                <a:solidFill>
                  <a:srgbClr val="404040"/>
                </a:solidFill>
                <a:latin typeface="微软雅黑"/>
                <a:cs typeface="微软雅黑"/>
              </a:rPr>
              <a:t>连</a:t>
            </a: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线</a:t>
            </a:r>
            <a:endParaRPr sz="2400" dirty="0">
              <a:latin typeface="微软雅黑"/>
              <a:cs typeface="微软雅黑"/>
            </a:endParaRPr>
          </a:p>
          <a:p>
            <a:pPr marL="800735" indent="-788670">
              <a:lnSpc>
                <a:spcPct val="100000"/>
              </a:lnSpc>
              <a:spcBef>
                <a:spcPts val="1395"/>
              </a:spcBef>
              <a:buSzPct val="95833"/>
              <a:buAutoNum type="arabicPlain"/>
              <a:tabLst>
                <a:tab pos="801370" algn="l"/>
              </a:tabLst>
            </a:pP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按照二叉树结点之间的关系进行</a:t>
            </a:r>
            <a:r>
              <a:rPr sz="2400" dirty="0">
                <a:solidFill>
                  <a:srgbClr val="FF0000"/>
                </a:solidFill>
                <a:latin typeface="微软雅黑"/>
                <a:cs typeface="微软雅黑"/>
              </a:rPr>
              <a:t>层次</a:t>
            </a: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调整</a:t>
            </a:r>
            <a:endParaRPr sz="240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50" dirty="0">
              <a:latin typeface="微软雅黑"/>
              <a:cs typeface="微软雅黑"/>
            </a:endParaRPr>
          </a:p>
          <a:p>
            <a:pPr marR="579120" algn="ctr">
              <a:lnSpc>
                <a:spcPct val="100000"/>
              </a:lnSpc>
              <a:tabLst>
                <a:tab pos="1670685" algn="l"/>
                <a:tab pos="3882390" algn="l"/>
              </a:tabLst>
            </a:pPr>
            <a:r>
              <a:rPr sz="2400" i="1" dirty="0">
                <a:latin typeface="Times New Roman"/>
                <a:cs typeface="Times New Roman"/>
              </a:rPr>
              <a:t>A	C	</a:t>
            </a:r>
            <a:r>
              <a:rPr sz="2400" i="1" spc="-5" dirty="0">
                <a:latin typeface="Times New Roman"/>
                <a:cs typeface="Times New Roman"/>
              </a:rPr>
              <a:t>G</a:t>
            </a:r>
            <a:endParaRPr sz="2400" dirty="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390066" y="5151437"/>
            <a:ext cx="461009" cy="461009"/>
            <a:chOff x="7390066" y="5151437"/>
            <a:chExt cx="461009" cy="461009"/>
          </a:xfrm>
        </p:grpSpPr>
        <p:sp>
          <p:nvSpPr>
            <p:cNvPr id="29" name="object 29"/>
            <p:cNvSpPr/>
            <p:nvPr/>
          </p:nvSpPr>
          <p:spPr>
            <a:xfrm>
              <a:off x="7404354" y="5165725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216026" y="0"/>
                  </a:moveTo>
                  <a:lnTo>
                    <a:pt x="166511" y="5701"/>
                  </a:lnTo>
                  <a:lnTo>
                    <a:pt x="121048" y="21941"/>
                  </a:lnTo>
                  <a:lnTo>
                    <a:pt x="80936" y="47426"/>
                  </a:lnTo>
                  <a:lnTo>
                    <a:pt x="47476" y="80859"/>
                  </a:lnTo>
                  <a:lnTo>
                    <a:pt x="21966" y="120946"/>
                  </a:lnTo>
                  <a:lnTo>
                    <a:pt x="5708" y="166391"/>
                  </a:lnTo>
                  <a:lnTo>
                    <a:pt x="0" y="215900"/>
                  </a:lnTo>
                  <a:lnTo>
                    <a:pt x="5708" y="265456"/>
                  </a:lnTo>
                  <a:lnTo>
                    <a:pt x="21966" y="310939"/>
                  </a:lnTo>
                  <a:lnTo>
                    <a:pt x="47476" y="351053"/>
                  </a:lnTo>
                  <a:lnTo>
                    <a:pt x="80936" y="384506"/>
                  </a:lnTo>
                  <a:lnTo>
                    <a:pt x="121048" y="410002"/>
                  </a:lnTo>
                  <a:lnTo>
                    <a:pt x="166511" y="426249"/>
                  </a:lnTo>
                  <a:lnTo>
                    <a:pt x="216026" y="431952"/>
                  </a:lnTo>
                  <a:lnTo>
                    <a:pt x="265542" y="426249"/>
                  </a:lnTo>
                  <a:lnTo>
                    <a:pt x="311005" y="410002"/>
                  </a:lnTo>
                  <a:lnTo>
                    <a:pt x="351117" y="384506"/>
                  </a:lnTo>
                  <a:lnTo>
                    <a:pt x="384577" y="351053"/>
                  </a:lnTo>
                  <a:lnTo>
                    <a:pt x="410087" y="310939"/>
                  </a:lnTo>
                  <a:lnTo>
                    <a:pt x="426345" y="265456"/>
                  </a:lnTo>
                  <a:lnTo>
                    <a:pt x="432053" y="215900"/>
                  </a:lnTo>
                  <a:lnTo>
                    <a:pt x="426345" y="166391"/>
                  </a:lnTo>
                  <a:lnTo>
                    <a:pt x="410087" y="120946"/>
                  </a:lnTo>
                  <a:lnTo>
                    <a:pt x="384577" y="80859"/>
                  </a:lnTo>
                  <a:lnTo>
                    <a:pt x="351117" y="47426"/>
                  </a:lnTo>
                  <a:lnTo>
                    <a:pt x="311005" y="21941"/>
                  </a:lnTo>
                  <a:lnTo>
                    <a:pt x="265542" y="5701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404354" y="5165725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0" y="215900"/>
                  </a:moveTo>
                  <a:lnTo>
                    <a:pt x="5708" y="166391"/>
                  </a:lnTo>
                  <a:lnTo>
                    <a:pt x="21966" y="120946"/>
                  </a:lnTo>
                  <a:lnTo>
                    <a:pt x="47476" y="80859"/>
                  </a:lnTo>
                  <a:lnTo>
                    <a:pt x="80936" y="47426"/>
                  </a:lnTo>
                  <a:lnTo>
                    <a:pt x="121048" y="21941"/>
                  </a:lnTo>
                  <a:lnTo>
                    <a:pt x="166511" y="5701"/>
                  </a:lnTo>
                  <a:lnTo>
                    <a:pt x="216026" y="0"/>
                  </a:lnTo>
                  <a:lnTo>
                    <a:pt x="265542" y="5701"/>
                  </a:lnTo>
                  <a:lnTo>
                    <a:pt x="311005" y="21941"/>
                  </a:lnTo>
                  <a:lnTo>
                    <a:pt x="351117" y="47426"/>
                  </a:lnTo>
                  <a:lnTo>
                    <a:pt x="384577" y="80859"/>
                  </a:lnTo>
                  <a:lnTo>
                    <a:pt x="410087" y="120946"/>
                  </a:lnTo>
                  <a:lnTo>
                    <a:pt x="426345" y="166391"/>
                  </a:lnTo>
                  <a:lnTo>
                    <a:pt x="432053" y="215900"/>
                  </a:lnTo>
                  <a:lnTo>
                    <a:pt x="426345" y="265456"/>
                  </a:lnTo>
                  <a:lnTo>
                    <a:pt x="410087" y="310939"/>
                  </a:lnTo>
                  <a:lnTo>
                    <a:pt x="384577" y="351053"/>
                  </a:lnTo>
                  <a:lnTo>
                    <a:pt x="351117" y="384506"/>
                  </a:lnTo>
                  <a:lnTo>
                    <a:pt x="311005" y="410002"/>
                  </a:lnTo>
                  <a:lnTo>
                    <a:pt x="265542" y="426249"/>
                  </a:lnTo>
                  <a:lnTo>
                    <a:pt x="216026" y="431952"/>
                  </a:lnTo>
                  <a:lnTo>
                    <a:pt x="166511" y="426249"/>
                  </a:lnTo>
                  <a:lnTo>
                    <a:pt x="121048" y="410002"/>
                  </a:lnTo>
                  <a:lnTo>
                    <a:pt x="80936" y="384506"/>
                  </a:lnTo>
                  <a:lnTo>
                    <a:pt x="47476" y="351053"/>
                  </a:lnTo>
                  <a:lnTo>
                    <a:pt x="21966" y="310939"/>
                  </a:lnTo>
                  <a:lnTo>
                    <a:pt x="5708" y="265456"/>
                  </a:lnTo>
                  <a:lnTo>
                    <a:pt x="0" y="215900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539990" y="5157978"/>
            <a:ext cx="161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J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314122" y="4394817"/>
            <a:ext cx="1529080" cy="461009"/>
            <a:chOff x="6314122" y="4358957"/>
            <a:chExt cx="1529080" cy="461009"/>
          </a:xfrm>
        </p:grpSpPr>
        <p:sp>
          <p:nvSpPr>
            <p:cNvPr id="33" name="object 33"/>
            <p:cNvSpPr/>
            <p:nvPr/>
          </p:nvSpPr>
          <p:spPr>
            <a:xfrm>
              <a:off x="7396606" y="4373245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216026" y="0"/>
                  </a:moveTo>
                  <a:lnTo>
                    <a:pt x="166511" y="5701"/>
                  </a:lnTo>
                  <a:lnTo>
                    <a:pt x="121048" y="21941"/>
                  </a:lnTo>
                  <a:lnTo>
                    <a:pt x="80936" y="47426"/>
                  </a:lnTo>
                  <a:lnTo>
                    <a:pt x="47476" y="80859"/>
                  </a:lnTo>
                  <a:lnTo>
                    <a:pt x="21966" y="120946"/>
                  </a:lnTo>
                  <a:lnTo>
                    <a:pt x="5708" y="166391"/>
                  </a:lnTo>
                  <a:lnTo>
                    <a:pt x="0" y="215899"/>
                  </a:lnTo>
                  <a:lnTo>
                    <a:pt x="5708" y="265455"/>
                  </a:lnTo>
                  <a:lnTo>
                    <a:pt x="21966" y="310934"/>
                  </a:lnTo>
                  <a:lnTo>
                    <a:pt x="47476" y="351043"/>
                  </a:lnTo>
                  <a:lnTo>
                    <a:pt x="80936" y="384490"/>
                  </a:lnTo>
                  <a:lnTo>
                    <a:pt x="121048" y="409982"/>
                  </a:lnTo>
                  <a:lnTo>
                    <a:pt x="166511" y="426225"/>
                  </a:lnTo>
                  <a:lnTo>
                    <a:pt x="216026" y="431926"/>
                  </a:lnTo>
                  <a:lnTo>
                    <a:pt x="265542" y="426225"/>
                  </a:lnTo>
                  <a:lnTo>
                    <a:pt x="311005" y="409982"/>
                  </a:lnTo>
                  <a:lnTo>
                    <a:pt x="351117" y="384490"/>
                  </a:lnTo>
                  <a:lnTo>
                    <a:pt x="384577" y="351043"/>
                  </a:lnTo>
                  <a:lnTo>
                    <a:pt x="410087" y="310934"/>
                  </a:lnTo>
                  <a:lnTo>
                    <a:pt x="426345" y="265455"/>
                  </a:lnTo>
                  <a:lnTo>
                    <a:pt x="432053" y="215899"/>
                  </a:lnTo>
                  <a:lnTo>
                    <a:pt x="426345" y="166391"/>
                  </a:lnTo>
                  <a:lnTo>
                    <a:pt x="410087" y="120946"/>
                  </a:lnTo>
                  <a:lnTo>
                    <a:pt x="384577" y="80859"/>
                  </a:lnTo>
                  <a:lnTo>
                    <a:pt x="351117" y="47426"/>
                  </a:lnTo>
                  <a:lnTo>
                    <a:pt x="311005" y="21941"/>
                  </a:lnTo>
                  <a:lnTo>
                    <a:pt x="265542" y="5701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396606" y="4373245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0" y="215899"/>
                  </a:moveTo>
                  <a:lnTo>
                    <a:pt x="5708" y="166391"/>
                  </a:lnTo>
                  <a:lnTo>
                    <a:pt x="21966" y="120946"/>
                  </a:lnTo>
                  <a:lnTo>
                    <a:pt x="47476" y="80859"/>
                  </a:lnTo>
                  <a:lnTo>
                    <a:pt x="80936" y="47426"/>
                  </a:lnTo>
                  <a:lnTo>
                    <a:pt x="121048" y="21941"/>
                  </a:lnTo>
                  <a:lnTo>
                    <a:pt x="166511" y="5701"/>
                  </a:lnTo>
                  <a:lnTo>
                    <a:pt x="216026" y="0"/>
                  </a:lnTo>
                  <a:lnTo>
                    <a:pt x="265542" y="5701"/>
                  </a:lnTo>
                  <a:lnTo>
                    <a:pt x="311005" y="21941"/>
                  </a:lnTo>
                  <a:lnTo>
                    <a:pt x="351117" y="47426"/>
                  </a:lnTo>
                  <a:lnTo>
                    <a:pt x="384577" y="80859"/>
                  </a:lnTo>
                  <a:lnTo>
                    <a:pt x="410087" y="120946"/>
                  </a:lnTo>
                  <a:lnTo>
                    <a:pt x="426345" y="166391"/>
                  </a:lnTo>
                  <a:lnTo>
                    <a:pt x="432053" y="215899"/>
                  </a:lnTo>
                  <a:lnTo>
                    <a:pt x="426345" y="265455"/>
                  </a:lnTo>
                  <a:lnTo>
                    <a:pt x="410087" y="310934"/>
                  </a:lnTo>
                  <a:lnTo>
                    <a:pt x="384577" y="351043"/>
                  </a:lnTo>
                  <a:lnTo>
                    <a:pt x="351117" y="384490"/>
                  </a:lnTo>
                  <a:lnTo>
                    <a:pt x="311005" y="409982"/>
                  </a:lnTo>
                  <a:lnTo>
                    <a:pt x="265542" y="426225"/>
                  </a:lnTo>
                  <a:lnTo>
                    <a:pt x="216026" y="431926"/>
                  </a:lnTo>
                  <a:lnTo>
                    <a:pt x="166511" y="426225"/>
                  </a:lnTo>
                  <a:lnTo>
                    <a:pt x="121048" y="409982"/>
                  </a:lnTo>
                  <a:lnTo>
                    <a:pt x="80936" y="384490"/>
                  </a:lnTo>
                  <a:lnTo>
                    <a:pt x="47476" y="351043"/>
                  </a:lnTo>
                  <a:lnTo>
                    <a:pt x="21966" y="310934"/>
                  </a:lnTo>
                  <a:lnTo>
                    <a:pt x="5708" y="265455"/>
                  </a:lnTo>
                  <a:lnTo>
                    <a:pt x="0" y="215899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328409" y="4373245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216026" y="0"/>
                  </a:moveTo>
                  <a:lnTo>
                    <a:pt x="166511" y="5701"/>
                  </a:lnTo>
                  <a:lnTo>
                    <a:pt x="121048" y="21941"/>
                  </a:lnTo>
                  <a:lnTo>
                    <a:pt x="80936" y="47426"/>
                  </a:lnTo>
                  <a:lnTo>
                    <a:pt x="47476" y="80859"/>
                  </a:lnTo>
                  <a:lnTo>
                    <a:pt x="21966" y="120946"/>
                  </a:lnTo>
                  <a:lnTo>
                    <a:pt x="5708" y="166391"/>
                  </a:lnTo>
                  <a:lnTo>
                    <a:pt x="0" y="215899"/>
                  </a:lnTo>
                  <a:lnTo>
                    <a:pt x="5708" y="265455"/>
                  </a:lnTo>
                  <a:lnTo>
                    <a:pt x="21966" y="310934"/>
                  </a:lnTo>
                  <a:lnTo>
                    <a:pt x="47476" y="351043"/>
                  </a:lnTo>
                  <a:lnTo>
                    <a:pt x="80936" y="384490"/>
                  </a:lnTo>
                  <a:lnTo>
                    <a:pt x="121048" y="409982"/>
                  </a:lnTo>
                  <a:lnTo>
                    <a:pt x="166511" y="426225"/>
                  </a:lnTo>
                  <a:lnTo>
                    <a:pt x="216026" y="431926"/>
                  </a:lnTo>
                  <a:lnTo>
                    <a:pt x="265582" y="426225"/>
                  </a:lnTo>
                  <a:lnTo>
                    <a:pt x="311061" y="409982"/>
                  </a:lnTo>
                  <a:lnTo>
                    <a:pt x="351170" y="384490"/>
                  </a:lnTo>
                  <a:lnTo>
                    <a:pt x="384617" y="351043"/>
                  </a:lnTo>
                  <a:lnTo>
                    <a:pt x="410109" y="310934"/>
                  </a:lnTo>
                  <a:lnTo>
                    <a:pt x="426352" y="265455"/>
                  </a:lnTo>
                  <a:lnTo>
                    <a:pt x="432054" y="215899"/>
                  </a:lnTo>
                  <a:lnTo>
                    <a:pt x="426352" y="166391"/>
                  </a:lnTo>
                  <a:lnTo>
                    <a:pt x="410109" y="120946"/>
                  </a:lnTo>
                  <a:lnTo>
                    <a:pt x="384617" y="80859"/>
                  </a:lnTo>
                  <a:lnTo>
                    <a:pt x="351170" y="47426"/>
                  </a:lnTo>
                  <a:lnTo>
                    <a:pt x="311061" y="21941"/>
                  </a:lnTo>
                  <a:lnTo>
                    <a:pt x="265582" y="5701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328409" y="4373245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0" y="215899"/>
                  </a:moveTo>
                  <a:lnTo>
                    <a:pt x="5708" y="166391"/>
                  </a:lnTo>
                  <a:lnTo>
                    <a:pt x="21966" y="120946"/>
                  </a:lnTo>
                  <a:lnTo>
                    <a:pt x="47476" y="80859"/>
                  </a:lnTo>
                  <a:lnTo>
                    <a:pt x="80936" y="47426"/>
                  </a:lnTo>
                  <a:lnTo>
                    <a:pt x="121048" y="21941"/>
                  </a:lnTo>
                  <a:lnTo>
                    <a:pt x="166511" y="5701"/>
                  </a:lnTo>
                  <a:lnTo>
                    <a:pt x="216026" y="0"/>
                  </a:lnTo>
                  <a:lnTo>
                    <a:pt x="265582" y="5701"/>
                  </a:lnTo>
                  <a:lnTo>
                    <a:pt x="311061" y="21941"/>
                  </a:lnTo>
                  <a:lnTo>
                    <a:pt x="351170" y="47426"/>
                  </a:lnTo>
                  <a:lnTo>
                    <a:pt x="384617" y="80859"/>
                  </a:lnTo>
                  <a:lnTo>
                    <a:pt x="410109" y="120946"/>
                  </a:lnTo>
                  <a:lnTo>
                    <a:pt x="426352" y="166391"/>
                  </a:lnTo>
                  <a:lnTo>
                    <a:pt x="432054" y="215899"/>
                  </a:lnTo>
                  <a:lnTo>
                    <a:pt x="426352" y="265455"/>
                  </a:lnTo>
                  <a:lnTo>
                    <a:pt x="410109" y="310934"/>
                  </a:lnTo>
                  <a:lnTo>
                    <a:pt x="384617" y="351043"/>
                  </a:lnTo>
                  <a:lnTo>
                    <a:pt x="351170" y="384490"/>
                  </a:lnTo>
                  <a:lnTo>
                    <a:pt x="311061" y="409982"/>
                  </a:lnTo>
                  <a:lnTo>
                    <a:pt x="265582" y="426225"/>
                  </a:lnTo>
                  <a:lnTo>
                    <a:pt x="216026" y="431926"/>
                  </a:lnTo>
                  <a:lnTo>
                    <a:pt x="166511" y="426225"/>
                  </a:lnTo>
                  <a:lnTo>
                    <a:pt x="121048" y="409982"/>
                  </a:lnTo>
                  <a:lnTo>
                    <a:pt x="80936" y="384490"/>
                  </a:lnTo>
                  <a:lnTo>
                    <a:pt x="47476" y="351043"/>
                  </a:lnTo>
                  <a:lnTo>
                    <a:pt x="21966" y="310934"/>
                  </a:lnTo>
                  <a:lnTo>
                    <a:pt x="5708" y="265455"/>
                  </a:lnTo>
                  <a:lnTo>
                    <a:pt x="0" y="215899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021073" y="4400977"/>
            <a:ext cx="36550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6125" algn="l"/>
                <a:tab pos="1463040" algn="l"/>
                <a:tab pos="2414270" algn="l"/>
                <a:tab pos="3540125" algn="l"/>
              </a:tabLst>
            </a:pPr>
            <a:r>
              <a:rPr sz="2400" i="1" spc="-5" dirty="0">
                <a:latin typeface="Times New Roman"/>
                <a:cs typeface="Times New Roman"/>
              </a:rPr>
              <a:t>D	E	F	H	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219950" y="3948176"/>
            <a:ext cx="400685" cy="1212215"/>
          </a:xfrm>
          <a:custGeom>
            <a:avLst/>
            <a:gdLst/>
            <a:ahLst/>
            <a:cxnLst/>
            <a:rect l="l" t="t" r="r" b="b"/>
            <a:pathLst>
              <a:path w="400684" h="1212214">
                <a:moveTo>
                  <a:pt x="400430" y="852043"/>
                </a:moveTo>
                <a:lnTo>
                  <a:pt x="400430" y="1212088"/>
                </a:lnTo>
              </a:path>
              <a:path w="400684" h="1212214">
                <a:moveTo>
                  <a:pt x="287908" y="467994"/>
                </a:moveTo>
                <a:lnTo>
                  <a:pt x="0" y="0"/>
                </a:lnTo>
              </a:path>
            </a:pathLst>
          </a:custGeom>
          <a:ln w="28575">
            <a:solidFill>
              <a:srgbClr val="285A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735394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48643" y="2017267"/>
            <a:ext cx="152400" cy="25355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algn="just">
              <a:lnSpc>
                <a:spcPts val="1000"/>
              </a:lnSpc>
              <a:spcBef>
                <a:spcPts val="2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数 据 结 构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880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（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从 概 念 到 实 现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975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640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清 华 大 学 出 版 社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42925" y="100964"/>
            <a:ext cx="3600450" cy="540385"/>
          </a:xfrm>
          <a:custGeom>
            <a:avLst/>
            <a:gdLst/>
            <a:ahLst/>
            <a:cxnLst/>
            <a:rect l="l" t="t" r="r" b="b"/>
            <a:pathLst>
              <a:path w="3600450" h="540385">
                <a:moveTo>
                  <a:pt x="3510026" y="0"/>
                </a:moveTo>
                <a:lnTo>
                  <a:pt x="90004" y="0"/>
                </a:lnTo>
                <a:lnTo>
                  <a:pt x="54971" y="7068"/>
                </a:lnTo>
                <a:lnTo>
                  <a:pt x="26362" y="26352"/>
                </a:lnTo>
                <a:lnTo>
                  <a:pt x="7073" y="54971"/>
                </a:lnTo>
                <a:lnTo>
                  <a:pt x="0" y="90042"/>
                </a:lnTo>
                <a:lnTo>
                  <a:pt x="0" y="449960"/>
                </a:lnTo>
                <a:lnTo>
                  <a:pt x="7073" y="485032"/>
                </a:lnTo>
                <a:lnTo>
                  <a:pt x="26362" y="513651"/>
                </a:lnTo>
                <a:lnTo>
                  <a:pt x="54971" y="532935"/>
                </a:lnTo>
                <a:lnTo>
                  <a:pt x="90004" y="540003"/>
                </a:lnTo>
                <a:lnTo>
                  <a:pt x="3510026" y="540003"/>
                </a:lnTo>
                <a:lnTo>
                  <a:pt x="3545024" y="532935"/>
                </a:lnTo>
                <a:lnTo>
                  <a:pt x="3573605" y="513651"/>
                </a:lnTo>
                <a:lnTo>
                  <a:pt x="3592875" y="485032"/>
                </a:lnTo>
                <a:lnTo>
                  <a:pt x="3599941" y="449960"/>
                </a:lnTo>
                <a:lnTo>
                  <a:pt x="3599941" y="90042"/>
                </a:lnTo>
                <a:lnTo>
                  <a:pt x="3592875" y="54971"/>
                </a:lnTo>
                <a:lnTo>
                  <a:pt x="3573605" y="26352"/>
                </a:lnTo>
                <a:lnTo>
                  <a:pt x="3545024" y="7068"/>
                </a:lnTo>
                <a:lnTo>
                  <a:pt x="3510026" y="0"/>
                </a:lnTo>
                <a:close/>
              </a:path>
            </a:pathLst>
          </a:custGeom>
          <a:solidFill>
            <a:srgbClr val="5A31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6991" y="141809"/>
            <a:ext cx="328802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chemeClr val="bg1"/>
                </a:solidFill>
              </a:rPr>
              <a:t>森林</a:t>
            </a:r>
            <a:r>
              <a:rPr sz="2800" spc="-10" dirty="0">
                <a:solidFill>
                  <a:schemeClr val="bg1"/>
                </a:solidFill>
              </a:rPr>
              <a:t>转</a:t>
            </a:r>
            <a:r>
              <a:rPr sz="2800" spc="-5" dirty="0">
                <a:solidFill>
                  <a:schemeClr val="bg1"/>
                </a:solidFill>
              </a:rPr>
              <a:t>换为</a:t>
            </a:r>
            <a:r>
              <a:rPr sz="2800" spc="-10" dirty="0">
                <a:solidFill>
                  <a:schemeClr val="bg1"/>
                </a:solidFill>
              </a:rPr>
              <a:t>二</a:t>
            </a:r>
            <a:r>
              <a:rPr sz="2800" spc="-5" dirty="0">
                <a:solidFill>
                  <a:schemeClr val="bg1"/>
                </a:solidFill>
              </a:rPr>
              <a:t>叉</a:t>
            </a:r>
            <a:r>
              <a:rPr sz="2800" spc="-10" dirty="0">
                <a:solidFill>
                  <a:schemeClr val="bg1"/>
                </a:solidFill>
              </a:rPr>
              <a:t>树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1223721" y="787844"/>
            <a:ext cx="461009" cy="1494790"/>
            <a:chOff x="1223721" y="787844"/>
            <a:chExt cx="461009" cy="1494790"/>
          </a:xfrm>
        </p:grpSpPr>
        <p:sp>
          <p:nvSpPr>
            <p:cNvPr id="6" name="object 6"/>
            <p:cNvSpPr/>
            <p:nvPr/>
          </p:nvSpPr>
          <p:spPr>
            <a:xfrm>
              <a:off x="1447800" y="1246123"/>
              <a:ext cx="0" cy="612140"/>
            </a:xfrm>
            <a:custGeom>
              <a:avLst/>
              <a:gdLst/>
              <a:ahLst/>
              <a:cxnLst/>
              <a:rect l="l" t="t" r="r" b="b"/>
              <a:pathLst>
                <a:path h="612139">
                  <a:moveTo>
                    <a:pt x="0" y="0"/>
                  </a:moveTo>
                  <a:lnTo>
                    <a:pt x="0" y="612013"/>
                  </a:lnTo>
                </a:path>
              </a:pathLst>
            </a:custGeom>
            <a:ln w="28575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38008" y="802131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4">
                  <a:moveTo>
                    <a:pt x="216014" y="0"/>
                  </a:moveTo>
                  <a:lnTo>
                    <a:pt x="166499" y="5701"/>
                  </a:lnTo>
                  <a:lnTo>
                    <a:pt x="121037" y="21944"/>
                  </a:lnTo>
                  <a:lnTo>
                    <a:pt x="80928" y="47436"/>
                  </a:lnTo>
                  <a:lnTo>
                    <a:pt x="47471" y="80883"/>
                  </a:lnTo>
                  <a:lnTo>
                    <a:pt x="21964" y="120992"/>
                  </a:lnTo>
                  <a:lnTo>
                    <a:pt x="5707" y="166471"/>
                  </a:lnTo>
                  <a:lnTo>
                    <a:pt x="0" y="216026"/>
                  </a:lnTo>
                  <a:lnTo>
                    <a:pt x="5707" y="265535"/>
                  </a:lnTo>
                  <a:lnTo>
                    <a:pt x="21964" y="310980"/>
                  </a:lnTo>
                  <a:lnTo>
                    <a:pt x="47471" y="351067"/>
                  </a:lnTo>
                  <a:lnTo>
                    <a:pt x="80928" y="384500"/>
                  </a:lnTo>
                  <a:lnTo>
                    <a:pt x="121037" y="409985"/>
                  </a:lnTo>
                  <a:lnTo>
                    <a:pt x="166499" y="426225"/>
                  </a:lnTo>
                  <a:lnTo>
                    <a:pt x="216014" y="431926"/>
                  </a:lnTo>
                  <a:lnTo>
                    <a:pt x="265529" y="426225"/>
                  </a:lnTo>
                  <a:lnTo>
                    <a:pt x="310993" y="409985"/>
                  </a:lnTo>
                  <a:lnTo>
                    <a:pt x="351104" y="384500"/>
                  </a:lnTo>
                  <a:lnTo>
                    <a:pt x="384565" y="351067"/>
                  </a:lnTo>
                  <a:lnTo>
                    <a:pt x="410074" y="310980"/>
                  </a:lnTo>
                  <a:lnTo>
                    <a:pt x="426332" y="265535"/>
                  </a:lnTo>
                  <a:lnTo>
                    <a:pt x="432041" y="216026"/>
                  </a:lnTo>
                  <a:lnTo>
                    <a:pt x="426332" y="166471"/>
                  </a:lnTo>
                  <a:lnTo>
                    <a:pt x="410074" y="120992"/>
                  </a:lnTo>
                  <a:lnTo>
                    <a:pt x="384565" y="80883"/>
                  </a:lnTo>
                  <a:lnTo>
                    <a:pt x="351104" y="47436"/>
                  </a:lnTo>
                  <a:lnTo>
                    <a:pt x="310993" y="21944"/>
                  </a:lnTo>
                  <a:lnTo>
                    <a:pt x="265529" y="5701"/>
                  </a:lnTo>
                  <a:lnTo>
                    <a:pt x="216014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38008" y="802131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4">
                  <a:moveTo>
                    <a:pt x="0" y="216026"/>
                  </a:moveTo>
                  <a:lnTo>
                    <a:pt x="5707" y="166471"/>
                  </a:lnTo>
                  <a:lnTo>
                    <a:pt x="21964" y="120992"/>
                  </a:lnTo>
                  <a:lnTo>
                    <a:pt x="47471" y="80883"/>
                  </a:lnTo>
                  <a:lnTo>
                    <a:pt x="80928" y="47436"/>
                  </a:lnTo>
                  <a:lnTo>
                    <a:pt x="121037" y="21944"/>
                  </a:lnTo>
                  <a:lnTo>
                    <a:pt x="166499" y="5701"/>
                  </a:lnTo>
                  <a:lnTo>
                    <a:pt x="216014" y="0"/>
                  </a:lnTo>
                  <a:lnTo>
                    <a:pt x="265529" y="5701"/>
                  </a:lnTo>
                  <a:lnTo>
                    <a:pt x="310993" y="21944"/>
                  </a:lnTo>
                  <a:lnTo>
                    <a:pt x="351104" y="47436"/>
                  </a:lnTo>
                  <a:lnTo>
                    <a:pt x="384565" y="80883"/>
                  </a:lnTo>
                  <a:lnTo>
                    <a:pt x="410074" y="120992"/>
                  </a:lnTo>
                  <a:lnTo>
                    <a:pt x="426332" y="166471"/>
                  </a:lnTo>
                  <a:lnTo>
                    <a:pt x="432041" y="216026"/>
                  </a:lnTo>
                  <a:lnTo>
                    <a:pt x="426332" y="265535"/>
                  </a:lnTo>
                  <a:lnTo>
                    <a:pt x="410074" y="310980"/>
                  </a:lnTo>
                  <a:lnTo>
                    <a:pt x="384565" y="351067"/>
                  </a:lnTo>
                  <a:lnTo>
                    <a:pt x="351104" y="384500"/>
                  </a:lnTo>
                  <a:lnTo>
                    <a:pt x="310993" y="409985"/>
                  </a:lnTo>
                  <a:lnTo>
                    <a:pt x="265529" y="426225"/>
                  </a:lnTo>
                  <a:lnTo>
                    <a:pt x="216014" y="431926"/>
                  </a:lnTo>
                  <a:lnTo>
                    <a:pt x="166499" y="426225"/>
                  </a:lnTo>
                  <a:lnTo>
                    <a:pt x="121037" y="409985"/>
                  </a:lnTo>
                  <a:lnTo>
                    <a:pt x="80928" y="384500"/>
                  </a:lnTo>
                  <a:lnTo>
                    <a:pt x="47471" y="351067"/>
                  </a:lnTo>
                  <a:lnTo>
                    <a:pt x="21964" y="310980"/>
                  </a:lnTo>
                  <a:lnTo>
                    <a:pt x="5707" y="265535"/>
                  </a:lnTo>
                  <a:lnTo>
                    <a:pt x="0" y="216026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38008" y="1836293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216014" y="0"/>
                  </a:moveTo>
                  <a:lnTo>
                    <a:pt x="166499" y="5701"/>
                  </a:lnTo>
                  <a:lnTo>
                    <a:pt x="121037" y="21944"/>
                  </a:lnTo>
                  <a:lnTo>
                    <a:pt x="80928" y="47436"/>
                  </a:lnTo>
                  <a:lnTo>
                    <a:pt x="47471" y="80883"/>
                  </a:lnTo>
                  <a:lnTo>
                    <a:pt x="21964" y="120992"/>
                  </a:lnTo>
                  <a:lnTo>
                    <a:pt x="5707" y="166471"/>
                  </a:lnTo>
                  <a:lnTo>
                    <a:pt x="0" y="216027"/>
                  </a:lnTo>
                  <a:lnTo>
                    <a:pt x="5707" y="265535"/>
                  </a:lnTo>
                  <a:lnTo>
                    <a:pt x="21964" y="310980"/>
                  </a:lnTo>
                  <a:lnTo>
                    <a:pt x="47471" y="351067"/>
                  </a:lnTo>
                  <a:lnTo>
                    <a:pt x="80928" y="384500"/>
                  </a:lnTo>
                  <a:lnTo>
                    <a:pt x="121037" y="409985"/>
                  </a:lnTo>
                  <a:lnTo>
                    <a:pt x="166499" y="426225"/>
                  </a:lnTo>
                  <a:lnTo>
                    <a:pt x="216014" y="431927"/>
                  </a:lnTo>
                  <a:lnTo>
                    <a:pt x="265529" y="426225"/>
                  </a:lnTo>
                  <a:lnTo>
                    <a:pt x="310993" y="409985"/>
                  </a:lnTo>
                  <a:lnTo>
                    <a:pt x="351104" y="384500"/>
                  </a:lnTo>
                  <a:lnTo>
                    <a:pt x="384565" y="351067"/>
                  </a:lnTo>
                  <a:lnTo>
                    <a:pt x="410074" y="310980"/>
                  </a:lnTo>
                  <a:lnTo>
                    <a:pt x="426332" y="265535"/>
                  </a:lnTo>
                  <a:lnTo>
                    <a:pt x="432041" y="216027"/>
                  </a:lnTo>
                  <a:lnTo>
                    <a:pt x="426332" y="166471"/>
                  </a:lnTo>
                  <a:lnTo>
                    <a:pt x="410074" y="120992"/>
                  </a:lnTo>
                  <a:lnTo>
                    <a:pt x="384565" y="80883"/>
                  </a:lnTo>
                  <a:lnTo>
                    <a:pt x="351104" y="47436"/>
                  </a:lnTo>
                  <a:lnTo>
                    <a:pt x="310993" y="21944"/>
                  </a:lnTo>
                  <a:lnTo>
                    <a:pt x="265529" y="5701"/>
                  </a:lnTo>
                  <a:lnTo>
                    <a:pt x="216014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38008" y="1836293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6027"/>
                  </a:moveTo>
                  <a:lnTo>
                    <a:pt x="5707" y="166471"/>
                  </a:lnTo>
                  <a:lnTo>
                    <a:pt x="21964" y="120992"/>
                  </a:lnTo>
                  <a:lnTo>
                    <a:pt x="47471" y="80883"/>
                  </a:lnTo>
                  <a:lnTo>
                    <a:pt x="80928" y="47436"/>
                  </a:lnTo>
                  <a:lnTo>
                    <a:pt x="121037" y="21944"/>
                  </a:lnTo>
                  <a:lnTo>
                    <a:pt x="166499" y="5701"/>
                  </a:lnTo>
                  <a:lnTo>
                    <a:pt x="216014" y="0"/>
                  </a:lnTo>
                  <a:lnTo>
                    <a:pt x="265529" y="5701"/>
                  </a:lnTo>
                  <a:lnTo>
                    <a:pt x="310993" y="21944"/>
                  </a:lnTo>
                  <a:lnTo>
                    <a:pt x="351104" y="47436"/>
                  </a:lnTo>
                  <a:lnTo>
                    <a:pt x="384565" y="80883"/>
                  </a:lnTo>
                  <a:lnTo>
                    <a:pt x="410074" y="120992"/>
                  </a:lnTo>
                  <a:lnTo>
                    <a:pt x="426332" y="166471"/>
                  </a:lnTo>
                  <a:lnTo>
                    <a:pt x="432041" y="216027"/>
                  </a:lnTo>
                  <a:lnTo>
                    <a:pt x="426332" y="265535"/>
                  </a:lnTo>
                  <a:lnTo>
                    <a:pt x="410074" y="310980"/>
                  </a:lnTo>
                  <a:lnTo>
                    <a:pt x="384565" y="351067"/>
                  </a:lnTo>
                  <a:lnTo>
                    <a:pt x="351104" y="384500"/>
                  </a:lnTo>
                  <a:lnTo>
                    <a:pt x="310993" y="409985"/>
                  </a:lnTo>
                  <a:lnTo>
                    <a:pt x="265529" y="426225"/>
                  </a:lnTo>
                  <a:lnTo>
                    <a:pt x="216014" y="431927"/>
                  </a:lnTo>
                  <a:lnTo>
                    <a:pt x="166499" y="426225"/>
                  </a:lnTo>
                  <a:lnTo>
                    <a:pt x="121037" y="409985"/>
                  </a:lnTo>
                  <a:lnTo>
                    <a:pt x="80928" y="384500"/>
                  </a:lnTo>
                  <a:lnTo>
                    <a:pt x="47471" y="351067"/>
                  </a:lnTo>
                  <a:lnTo>
                    <a:pt x="21964" y="310980"/>
                  </a:lnTo>
                  <a:lnTo>
                    <a:pt x="5707" y="265535"/>
                  </a:lnTo>
                  <a:lnTo>
                    <a:pt x="0" y="216027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348486" y="1827352"/>
            <a:ext cx="2120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562288" y="787844"/>
            <a:ext cx="802640" cy="871855"/>
            <a:chOff x="2562288" y="787844"/>
            <a:chExt cx="802640" cy="871855"/>
          </a:xfrm>
        </p:grpSpPr>
        <p:sp>
          <p:nvSpPr>
            <p:cNvPr id="13" name="object 13"/>
            <p:cNvSpPr/>
            <p:nvPr/>
          </p:nvSpPr>
          <p:spPr>
            <a:xfrm>
              <a:off x="2576576" y="1124204"/>
              <a:ext cx="382905" cy="521334"/>
            </a:xfrm>
            <a:custGeom>
              <a:avLst/>
              <a:gdLst/>
              <a:ahLst/>
              <a:cxnLst/>
              <a:rect l="l" t="t" r="r" b="b"/>
              <a:pathLst>
                <a:path w="382905" h="521335">
                  <a:moveTo>
                    <a:pt x="382397" y="0"/>
                  </a:moveTo>
                  <a:lnTo>
                    <a:pt x="0" y="521081"/>
                  </a:lnTo>
                </a:path>
              </a:pathLst>
            </a:custGeom>
            <a:ln w="28575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18333" y="802131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4">
                  <a:moveTo>
                    <a:pt x="216027" y="0"/>
                  </a:moveTo>
                  <a:lnTo>
                    <a:pt x="166471" y="5701"/>
                  </a:lnTo>
                  <a:lnTo>
                    <a:pt x="120992" y="21944"/>
                  </a:lnTo>
                  <a:lnTo>
                    <a:pt x="80883" y="47436"/>
                  </a:lnTo>
                  <a:lnTo>
                    <a:pt x="47436" y="80883"/>
                  </a:lnTo>
                  <a:lnTo>
                    <a:pt x="21944" y="120992"/>
                  </a:lnTo>
                  <a:lnTo>
                    <a:pt x="5701" y="166471"/>
                  </a:lnTo>
                  <a:lnTo>
                    <a:pt x="0" y="216026"/>
                  </a:lnTo>
                  <a:lnTo>
                    <a:pt x="5701" y="265535"/>
                  </a:lnTo>
                  <a:lnTo>
                    <a:pt x="21944" y="310980"/>
                  </a:lnTo>
                  <a:lnTo>
                    <a:pt x="47436" y="351067"/>
                  </a:lnTo>
                  <a:lnTo>
                    <a:pt x="80883" y="384500"/>
                  </a:lnTo>
                  <a:lnTo>
                    <a:pt x="120992" y="409985"/>
                  </a:lnTo>
                  <a:lnTo>
                    <a:pt x="166471" y="426225"/>
                  </a:lnTo>
                  <a:lnTo>
                    <a:pt x="216027" y="431926"/>
                  </a:lnTo>
                  <a:lnTo>
                    <a:pt x="265535" y="426225"/>
                  </a:lnTo>
                  <a:lnTo>
                    <a:pt x="310980" y="409985"/>
                  </a:lnTo>
                  <a:lnTo>
                    <a:pt x="351067" y="384500"/>
                  </a:lnTo>
                  <a:lnTo>
                    <a:pt x="384500" y="351067"/>
                  </a:lnTo>
                  <a:lnTo>
                    <a:pt x="409985" y="310980"/>
                  </a:lnTo>
                  <a:lnTo>
                    <a:pt x="426225" y="265535"/>
                  </a:lnTo>
                  <a:lnTo>
                    <a:pt x="431927" y="216026"/>
                  </a:lnTo>
                  <a:lnTo>
                    <a:pt x="426225" y="166471"/>
                  </a:lnTo>
                  <a:lnTo>
                    <a:pt x="409985" y="120992"/>
                  </a:lnTo>
                  <a:lnTo>
                    <a:pt x="384500" y="80883"/>
                  </a:lnTo>
                  <a:lnTo>
                    <a:pt x="351067" y="47436"/>
                  </a:lnTo>
                  <a:lnTo>
                    <a:pt x="310980" y="21944"/>
                  </a:lnTo>
                  <a:lnTo>
                    <a:pt x="265535" y="5701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18333" y="802131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4">
                  <a:moveTo>
                    <a:pt x="0" y="216026"/>
                  </a:moveTo>
                  <a:lnTo>
                    <a:pt x="5701" y="166471"/>
                  </a:lnTo>
                  <a:lnTo>
                    <a:pt x="21944" y="120992"/>
                  </a:lnTo>
                  <a:lnTo>
                    <a:pt x="47436" y="80883"/>
                  </a:lnTo>
                  <a:lnTo>
                    <a:pt x="80883" y="47436"/>
                  </a:lnTo>
                  <a:lnTo>
                    <a:pt x="120992" y="21944"/>
                  </a:lnTo>
                  <a:lnTo>
                    <a:pt x="166471" y="5701"/>
                  </a:lnTo>
                  <a:lnTo>
                    <a:pt x="216027" y="0"/>
                  </a:lnTo>
                  <a:lnTo>
                    <a:pt x="265535" y="5701"/>
                  </a:lnTo>
                  <a:lnTo>
                    <a:pt x="310980" y="21944"/>
                  </a:lnTo>
                  <a:lnTo>
                    <a:pt x="351067" y="47436"/>
                  </a:lnTo>
                  <a:lnTo>
                    <a:pt x="384500" y="80883"/>
                  </a:lnTo>
                  <a:lnTo>
                    <a:pt x="409985" y="120992"/>
                  </a:lnTo>
                  <a:lnTo>
                    <a:pt x="426225" y="166471"/>
                  </a:lnTo>
                  <a:lnTo>
                    <a:pt x="431927" y="216026"/>
                  </a:lnTo>
                  <a:lnTo>
                    <a:pt x="426225" y="265535"/>
                  </a:lnTo>
                  <a:lnTo>
                    <a:pt x="409985" y="310980"/>
                  </a:lnTo>
                  <a:lnTo>
                    <a:pt x="384500" y="351067"/>
                  </a:lnTo>
                  <a:lnTo>
                    <a:pt x="351067" y="384500"/>
                  </a:lnTo>
                  <a:lnTo>
                    <a:pt x="310980" y="409985"/>
                  </a:lnTo>
                  <a:lnTo>
                    <a:pt x="265535" y="426225"/>
                  </a:lnTo>
                  <a:lnTo>
                    <a:pt x="216027" y="431926"/>
                  </a:lnTo>
                  <a:lnTo>
                    <a:pt x="166471" y="426225"/>
                  </a:lnTo>
                  <a:lnTo>
                    <a:pt x="120992" y="409985"/>
                  </a:lnTo>
                  <a:lnTo>
                    <a:pt x="80883" y="384500"/>
                  </a:lnTo>
                  <a:lnTo>
                    <a:pt x="47436" y="351067"/>
                  </a:lnTo>
                  <a:lnTo>
                    <a:pt x="21944" y="310980"/>
                  </a:lnTo>
                  <a:lnTo>
                    <a:pt x="5701" y="265535"/>
                  </a:lnTo>
                  <a:lnTo>
                    <a:pt x="0" y="216026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348486" y="793496"/>
            <a:ext cx="19005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83385" algn="l"/>
              </a:tabLst>
            </a:pP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A	C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191194" y="1585277"/>
            <a:ext cx="1894839" cy="461009"/>
            <a:chOff x="2191194" y="1585277"/>
            <a:chExt cx="1894839" cy="461009"/>
          </a:xfrm>
        </p:grpSpPr>
        <p:sp>
          <p:nvSpPr>
            <p:cNvPr id="18" name="object 18"/>
            <p:cNvSpPr/>
            <p:nvPr/>
          </p:nvSpPr>
          <p:spPr>
            <a:xfrm>
              <a:off x="2922524" y="159956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216026" y="0"/>
                  </a:moveTo>
                  <a:lnTo>
                    <a:pt x="166471" y="5701"/>
                  </a:lnTo>
                  <a:lnTo>
                    <a:pt x="120992" y="21941"/>
                  </a:lnTo>
                  <a:lnTo>
                    <a:pt x="80883" y="47426"/>
                  </a:lnTo>
                  <a:lnTo>
                    <a:pt x="47436" y="80859"/>
                  </a:lnTo>
                  <a:lnTo>
                    <a:pt x="21944" y="120946"/>
                  </a:lnTo>
                  <a:lnTo>
                    <a:pt x="5701" y="166391"/>
                  </a:lnTo>
                  <a:lnTo>
                    <a:pt x="0" y="215900"/>
                  </a:lnTo>
                  <a:lnTo>
                    <a:pt x="5701" y="265455"/>
                  </a:lnTo>
                  <a:lnTo>
                    <a:pt x="21944" y="310934"/>
                  </a:lnTo>
                  <a:lnTo>
                    <a:pt x="47436" y="351043"/>
                  </a:lnTo>
                  <a:lnTo>
                    <a:pt x="80883" y="384490"/>
                  </a:lnTo>
                  <a:lnTo>
                    <a:pt x="120992" y="409982"/>
                  </a:lnTo>
                  <a:lnTo>
                    <a:pt x="166471" y="426225"/>
                  </a:lnTo>
                  <a:lnTo>
                    <a:pt x="216026" y="431926"/>
                  </a:lnTo>
                  <a:lnTo>
                    <a:pt x="265535" y="426225"/>
                  </a:lnTo>
                  <a:lnTo>
                    <a:pt x="310980" y="409982"/>
                  </a:lnTo>
                  <a:lnTo>
                    <a:pt x="351067" y="384490"/>
                  </a:lnTo>
                  <a:lnTo>
                    <a:pt x="384500" y="351043"/>
                  </a:lnTo>
                  <a:lnTo>
                    <a:pt x="409985" y="310934"/>
                  </a:lnTo>
                  <a:lnTo>
                    <a:pt x="426225" y="265455"/>
                  </a:lnTo>
                  <a:lnTo>
                    <a:pt x="431926" y="215900"/>
                  </a:lnTo>
                  <a:lnTo>
                    <a:pt x="426225" y="166391"/>
                  </a:lnTo>
                  <a:lnTo>
                    <a:pt x="409985" y="120946"/>
                  </a:lnTo>
                  <a:lnTo>
                    <a:pt x="384500" y="80859"/>
                  </a:lnTo>
                  <a:lnTo>
                    <a:pt x="351067" y="47426"/>
                  </a:lnTo>
                  <a:lnTo>
                    <a:pt x="310980" y="21941"/>
                  </a:lnTo>
                  <a:lnTo>
                    <a:pt x="265535" y="5701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22524" y="159956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5900"/>
                  </a:moveTo>
                  <a:lnTo>
                    <a:pt x="5701" y="166391"/>
                  </a:lnTo>
                  <a:lnTo>
                    <a:pt x="21944" y="120946"/>
                  </a:lnTo>
                  <a:lnTo>
                    <a:pt x="47436" y="80859"/>
                  </a:lnTo>
                  <a:lnTo>
                    <a:pt x="80883" y="47426"/>
                  </a:lnTo>
                  <a:lnTo>
                    <a:pt x="120992" y="21941"/>
                  </a:lnTo>
                  <a:lnTo>
                    <a:pt x="166471" y="5701"/>
                  </a:lnTo>
                  <a:lnTo>
                    <a:pt x="216026" y="0"/>
                  </a:lnTo>
                  <a:lnTo>
                    <a:pt x="265535" y="5701"/>
                  </a:lnTo>
                  <a:lnTo>
                    <a:pt x="310980" y="21941"/>
                  </a:lnTo>
                  <a:lnTo>
                    <a:pt x="351067" y="47426"/>
                  </a:lnTo>
                  <a:lnTo>
                    <a:pt x="384500" y="80859"/>
                  </a:lnTo>
                  <a:lnTo>
                    <a:pt x="409985" y="120946"/>
                  </a:lnTo>
                  <a:lnTo>
                    <a:pt x="426225" y="166391"/>
                  </a:lnTo>
                  <a:lnTo>
                    <a:pt x="431926" y="215900"/>
                  </a:lnTo>
                  <a:lnTo>
                    <a:pt x="426225" y="265455"/>
                  </a:lnTo>
                  <a:lnTo>
                    <a:pt x="409985" y="310934"/>
                  </a:lnTo>
                  <a:lnTo>
                    <a:pt x="384500" y="351043"/>
                  </a:lnTo>
                  <a:lnTo>
                    <a:pt x="351067" y="384490"/>
                  </a:lnTo>
                  <a:lnTo>
                    <a:pt x="310980" y="409982"/>
                  </a:lnTo>
                  <a:lnTo>
                    <a:pt x="265535" y="426225"/>
                  </a:lnTo>
                  <a:lnTo>
                    <a:pt x="216026" y="431926"/>
                  </a:lnTo>
                  <a:lnTo>
                    <a:pt x="166471" y="426225"/>
                  </a:lnTo>
                  <a:lnTo>
                    <a:pt x="120992" y="409982"/>
                  </a:lnTo>
                  <a:lnTo>
                    <a:pt x="80883" y="384490"/>
                  </a:lnTo>
                  <a:lnTo>
                    <a:pt x="47436" y="351043"/>
                  </a:lnTo>
                  <a:lnTo>
                    <a:pt x="21944" y="310934"/>
                  </a:lnTo>
                  <a:lnTo>
                    <a:pt x="5701" y="265455"/>
                  </a:lnTo>
                  <a:lnTo>
                    <a:pt x="0" y="215900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39439" y="159956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216026" y="0"/>
                  </a:moveTo>
                  <a:lnTo>
                    <a:pt x="166511" y="5701"/>
                  </a:lnTo>
                  <a:lnTo>
                    <a:pt x="121048" y="21941"/>
                  </a:lnTo>
                  <a:lnTo>
                    <a:pt x="80936" y="47426"/>
                  </a:lnTo>
                  <a:lnTo>
                    <a:pt x="47476" y="80859"/>
                  </a:lnTo>
                  <a:lnTo>
                    <a:pt x="21966" y="120946"/>
                  </a:lnTo>
                  <a:lnTo>
                    <a:pt x="5708" y="166391"/>
                  </a:lnTo>
                  <a:lnTo>
                    <a:pt x="0" y="215900"/>
                  </a:lnTo>
                  <a:lnTo>
                    <a:pt x="5708" y="265455"/>
                  </a:lnTo>
                  <a:lnTo>
                    <a:pt x="21966" y="310934"/>
                  </a:lnTo>
                  <a:lnTo>
                    <a:pt x="47476" y="351043"/>
                  </a:lnTo>
                  <a:lnTo>
                    <a:pt x="80936" y="384490"/>
                  </a:lnTo>
                  <a:lnTo>
                    <a:pt x="121048" y="409982"/>
                  </a:lnTo>
                  <a:lnTo>
                    <a:pt x="166511" y="426225"/>
                  </a:lnTo>
                  <a:lnTo>
                    <a:pt x="216026" y="431926"/>
                  </a:lnTo>
                  <a:lnTo>
                    <a:pt x="265542" y="426225"/>
                  </a:lnTo>
                  <a:lnTo>
                    <a:pt x="311005" y="409982"/>
                  </a:lnTo>
                  <a:lnTo>
                    <a:pt x="351117" y="384490"/>
                  </a:lnTo>
                  <a:lnTo>
                    <a:pt x="384577" y="351043"/>
                  </a:lnTo>
                  <a:lnTo>
                    <a:pt x="410087" y="310934"/>
                  </a:lnTo>
                  <a:lnTo>
                    <a:pt x="426345" y="265455"/>
                  </a:lnTo>
                  <a:lnTo>
                    <a:pt x="432053" y="215900"/>
                  </a:lnTo>
                  <a:lnTo>
                    <a:pt x="426345" y="166391"/>
                  </a:lnTo>
                  <a:lnTo>
                    <a:pt x="410087" y="120946"/>
                  </a:lnTo>
                  <a:lnTo>
                    <a:pt x="384577" y="80859"/>
                  </a:lnTo>
                  <a:lnTo>
                    <a:pt x="351117" y="47426"/>
                  </a:lnTo>
                  <a:lnTo>
                    <a:pt x="311005" y="21941"/>
                  </a:lnTo>
                  <a:lnTo>
                    <a:pt x="265542" y="5701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39439" y="159956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5900"/>
                  </a:moveTo>
                  <a:lnTo>
                    <a:pt x="5708" y="166391"/>
                  </a:lnTo>
                  <a:lnTo>
                    <a:pt x="21966" y="120946"/>
                  </a:lnTo>
                  <a:lnTo>
                    <a:pt x="47476" y="80859"/>
                  </a:lnTo>
                  <a:lnTo>
                    <a:pt x="80936" y="47426"/>
                  </a:lnTo>
                  <a:lnTo>
                    <a:pt x="121048" y="21941"/>
                  </a:lnTo>
                  <a:lnTo>
                    <a:pt x="166511" y="5701"/>
                  </a:lnTo>
                  <a:lnTo>
                    <a:pt x="216026" y="0"/>
                  </a:lnTo>
                  <a:lnTo>
                    <a:pt x="265542" y="5701"/>
                  </a:lnTo>
                  <a:lnTo>
                    <a:pt x="311005" y="21941"/>
                  </a:lnTo>
                  <a:lnTo>
                    <a:pt x="351117" y="47426"/>
                  </a:lnTo>
                  <a:lnTo>
                    <a:pt x="384577" y="80859"/>
                  </a:lnTo>
                  <a:lnTo>
                    <a:pt x="410087" y="120946"/>
                  </a:lnTo>
                  <a:lnTo>
                    <a:pt x="426345" y="166391"/>
                  </a:lnTo>
                  <a:lnTo>
                    <a:pt x="432053" y="215900"/>
                  </a:lnTo>
                  <a:lnTo>
                    <a:pt x="426345" y="265455"/>
                  </a:lnTo>
                  <a:lnTo>
                    <a:pt x="410087" y="310934"/>
                  </a:lnTo>
                  <a:lnTo>
                    <a:pt x="384577" y="351043"/>
                  </a:lnTo>
                  <a:lnTo>
                    <a:pt x="351117" y="384490"/>
                  </a:lnTo>
                  <a:lnTo>
                    <a:pt x="311005" y="409982"/>
                  </a:lnTo>
                  <a:lnTo>
                    <a:pt x="265542" y="426225"/>
                  </a:lnTo>
                  <a:lnTo>
                    <a:pt x="216026" y="431926"/>
                  </a:lnTo>
                  <a:lnTo>
                    <a:pt x="166511" y="426225"/>
                  </a:lnTo>
                  <a:lnTo>
                    <a:pt x="121048" y="409982"/>
                  </a:lnTo>
                  <a:lnTo>
                    <a:pt x="80936" y="384490"/>
                  </a:lnTo>
                  <a:lnTo>
                    <a:pt x="47476" y="351043"/>
                  </a:lnTo>
                  <a:lnTo>
                    <a:pt x="21966" y="310934"/>
                  </a:lnTo>
                  <a:lnTo>
                    <a:pt x="5708" y="265455"/>
                  </a:lnTo>
                  <a:lnTo>
                    <a:pt x="0" y="215900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205482" y="159956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216026" y="0"/>
                  </a:moveTo>
                  <a:lnTo>
                    <a:pt x="166511" y="5701"/>
                  </a:lnTo>
                  <a:lnTo>
                    <a:pt x="121048" y="21941"/>
                  </a:lnTo>
                  <a:lnTo>
                    <a:pt x="80936" y="47426"/>
                  </a:lnTo>
                  <a:lnTo>
                    <a:pt x="47476" y="80859"/>
                  </a:lnTo>
                  <a:lnTo>
                    <a:pt x="21966" y="120946"/>
                  </a:lnTo>
                  <a:lnTo>
                    <a:pt x="5708" y="166391"/>
                  </a:lnTo>
                  <a:lnTo>
                    <a:pt x="0" y="215900"/>
                  </a:lnTo>
                  <a:lnTo>
                    <a:pt x="5708" y="265455"/>
                  </a:lnTo>
                  <a:lnTo>
                    <a:pt x="21966" y="310934"/>
                  </a:lnTo>
                  <a:lnTo>
                    <a:pt x="47476" y="351043"/>
                  </a:lnTo>
                  <a:lnTo>
                    <a:pt x="80936" y="384490"/>
                  </a:lnTo>
                  <a:lnTo>
                    <a:pt x="121048" y="409982"/>
                  </a:lnTo>
                  <a:lnTo>
                    <a:pt x="166511" y="426225"/>
                  </a:lnTo>
                  <a:lnTo>
                    <a:pt x="216026" y="431926"/>
                  </a:lnTo>
                  <a:lnTo>
                    <a:pt x="265582" y="426225"/>
                  </a:lnTo>
                  <a:lnTo>
                    <a:pt x="311061" y="409982"/>
                  </a:lnTo>
                  <a:lnTo>
                    <a:pt x="351170" y="384490"/>
                  </a:lnTo>
                  <a:lnTo>
                    <a:pt x="384617" y="351043"/>
                  </a:lnTo>
                  <a:lnTo>
                    <a:pt x="410109" y="310934"/>
                  </a:lnTo>
                  <a:lnTo>
                    <a:pt x="426352" y="265455"/>
                  </a:lnTo>
                  <a:lnTo>
                    <a:pt x="432054" y="215900"/>
                  </a:lnTo>
                  <a:lnTo>
                    <a:pt x="426352" y="166391"/>
                  </a:lnTo>
                  <a:lnTo>
                    <a:pt x="410109" y="120946"/>
                  </a:lnTo>
                  <a:lnTo>
                    <a:pt x="384617" y="80859"/>
                  </a:lnTo>
                  <a:lnTo>
                    <a:pt x="351170" y="47426"/>
                  </a:lnTo>
                  <a:lnTo>
                    <a:pt x="311061" y="21941"/>
                  </a:lnTo>
                  <a:lnTo>
                    <a:pt x="265582" y="5701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205482" y="159956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5900"/>
                  </a:moveTo>
                  <a:lnTo>
                    <a:pt x="5708" y="166391"/>
                  </a:lnTo>
                  <a:lnTo>
                    <a:pt x="21966" y="120946"/>
                  </a:lnTo>
                  <a:lnTo>
                    <a:pt x="47476" y="80859"/>
                  </a:lnTo>
                  <a:lnTo>
                    <a:pt x="80936" y="47426"/>
                  </a:lnTo>
                  <a:lnTo>
                    <a:pt x="121048" y="21941"/>
                  </a:lnTo>
                  <a:lnTo>
                    <a:pt x="166511" y="5701"/>
                  </a:lnTo>
                  <a:lnTo>
                    <a:pt x="216026" y="0"/>
                  </a:lnTo>
                  <a:lnTo>
                    <a:pt x="265582" y="5701"/>
                  </a:lnTo>
                  <a:lnTo>
                    <a:pt x="311061" y="21941"/>
                  </a:lnTo>
                  <a:lnTo>
                    <a:pt x="351170" y="47426"/>
                  </a:lnTo>
                  <a:lnTo>
                    <a:pt x="384617" y="80859"/>
                  </a:lnTo>
                  <a:lnTo>
                    <a:pt x="410109" y="120946"/>
                  </a:lnTo>
                  <a:lnTo>
                    <a:pt x="426352" y="166391"/>
                  </a:lnTo>
                  <a:lnTo>
                    <a:pt x="432054" y="215900"/>
                  </a:lnTo>
                  <a:lnTo>
                    <a:pt x="426352" y="265455"/>
                  </a:lnTo>
                  <a:lnTo>
                    <a:pt x="410109" y="310934"/>
                  </a:lnTo>
                  <a:lnTo>
                    <a:pt x="384617" y="351043"/>
                  </a:lnTo>
                  <a:lnTo>
                    <a:pt x="351170" y="384490"/>
                  </a:lnTo>
                  <a:lnTo>
                    <a:pt x="311061" y="409982"/>
                  </a:lnTo>
                  <a:lnTo>
                    <a:pt x="265582" y="426225"/>
                  </a:lnTo>
                  <a:lnTo>
                    <a:pt x="216026" y="431926"/>
                  </a:lnTo>
                  <a:lnTo>
                    <a:pt x="166511" y="426225"/>
                  </a:lnTo>
                  <a:lnTo>
                    <a:pt x="121048" y="409982"/>
                  </a:lnTo>
                  <a:lnTo>
                    <a:pt x="80936" y="384490"/>
                  </a:lnTo>
                  <a:lnTo>
                    <a:pt x="47476" y="351043"/>
                  </a:lnTo>
                  <a:lnTo>
                    <a:pt x="21966" y="310934"/>
                  </a:lnTo>
                  <a:lnTo>
                    <a:pt x="5708" y="265455"/>
                  </a:lnTo>
                  <a:lnTo>
                    <a:pt x="0" y="215900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299461" y="1590878"/>
            <a:ext cx="166306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6125" algn="l"/>
                <a:tab pos="1463040" algn="l"/>
              </a:tabLst>
            </a:pP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D	E	F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124263" y="787844"/>
            <a:ext cx="2459355" cy="888365"/>
            <a:chOff x="3124263" y="787844"/>
            <a:chExt cx="2459355" cy="888365"/>
          </a:xfrm>
        </p:grpSpPr>
        <p:sp>
          <p:nvSpPr>
            <p:cNvPr id="26" name="object 26"/>
            <p:cNvSpPr/>
            <p:nvPr/>
          </p:nvSpPr>
          <p:spPr>
            <a:xfrm>
              <a:off x="3138551" y="1140586"/>
              <a:ext cx="2097405" cy="521334"/>
            </a:xfrm>
            <a:custGeom>
              <a:avLst/>
              <a:gdLst/>
              <a:ahLst/>
              <a:cxnLst/>
              <a:rect l="l" t="t" r="r" b="b"/>
              <a:pathLst>
                <a:path w="2097404" h="521335">
                  <a:moveTo>
                    <a:pt x="562101" y="520953"/>
                  </a:moveTo>
                  <a:lnTo>
                    <a:pt x="179832" y="0"/>
                  </a:lnTo>
                </a:path>
                <a:path w="2097404" h="521335">
                  <a:moveTo>
                    <a:pt x="0" y="93472"/>
                  </a:moveTo>
                  <a:lnTo>
                    <a:pt x="0" y="453516"/>
                  </a:lnTo>
                </a:path>
                <a:path w="2097404" h="521335">
                  <a:moveTo>
                    <a:pt x="2097024" y="29337"/>
                  </a:moveTo>
                  <a:lnTo>
                    <a:pt x="1808988" y="497332"/>
                  </a:lnTo>
                </a:path>
              </a:pathLst>
            </a:custGeom>
            <a:ln w="28575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136896" y="802131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4">
                  <a:moveTo>
                    <a:pt x="216026" y="0"/>
                  </a:moveTo>
                  <a:lnTo>
                    <a:pt x="166471" y="5701"/>
                  </a:lnTo>
                  <a:lnTo>
                    <a:pt x="120992" y="21944"/>
                  </a:lnTo>
                  <a:lnTo>
                    <a:pt x="80883" y="47436"/>
                  </a:lnTo>
                  <a:lnTo>
                    <a:pt x="47436" y="80883"/>
                  </a:lnTo>
                  <a:lnTo>
                    <a:pt x="21944" y="120992"/>
                  </a:lnTo>
                  <a:lnTo>
                    <a:pt x="5701" y="166471"/>
                  </a:lnTo>
                  <a:lnTo>
                    <a:pt x="0" y="216026"/>
                  </a:lnTo>
                  <a:lnTo>
                    <a:pt x="5701" y="265535"/>
                  </a:lnTo>
                  <a:lnTo>
                    <a:pt x="21944" y="310980"/>
                  </a:lnTo>
                  <a:lnTo>
                    <a:pt x="47436" y="351067"/>
                  </a:lnTo>
                  <a:lnTo>
                    <a:pt x="80883" y="384500"/>
                  </a:lnTo>
                  <a:lnTo>
                    <a:pt x="120992" y="409985"/>
                  </a:lnTo>
                  <a:lnTo>
                    <a:pt x="166471" y="426225"/>
                  </a:lnTo>
                  <a:lnTo>
                    <a:pt x="216026" y="431926"/>
                  </a:lnTo>
                  <a:lnTo>
                    <a:pt x="265535" y="426225"/>
                  </a:lnTo>
                  <a:lnTo>
                    <a:pt x="310980" y="409985"/>
                  </a:lnTo>
                  <a:lnTo>
                    <a:pt x="351067" y="384500"/>
                  </a:lnTo>
                  <a:lnTo>
                    <a:pt x="384500" y="351067"/>
                  </a:lnTo>
                  <a:lnTo>
                    <a:pt x="409985" y="310980"/>
                  </a:lnTo>
                  <a:lnTo>
                    <a:pt x="426225" y="265535"/>
                  </a:lnTo>
                  <a:lnTo>
                    <a:pt x="431926" y="216026"/>
                  </a:lnTo>
                  <a:lnTo>
                    <a:pt x="426225" y="166471"/>
                  </a:lnTo>
                  <a:lnTo>
                    <a:pt x="409985" y="120992"/>
                  </a:lnTo>
                  <a:lnTo>
                    <a:pt x="384500" y="80883"/>
                  </a:lnTo>
                  <a:lnTo>
                    <a:pt x="351067" y="47436"/>
                  </a:lnTo>
                  <a:lnTo>
                    <a:pt x="310980" y="21944"/>
                  </a:lnTo>
                  <a:lnTo>
                    <a:pt x="265535" y="5701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136896" y="802131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4">
                  <a:moveTo>
                    <a:pt x="0" y="216026"/>
                  </a:moveTo>
                  <a:lnTo>
                    <a:pt x="5701" y="166471"/>
                  </a:lnTo>
                  <a:lnTo>
                    <a:pt x="21944" y="120992"/>
                  </a:lnTo>
                  <a:lnTo>
                    <a:pt x="47436" y="80883"/>
                  </a:lnTo>
                  <a:lnTo>
                    <a:pt x="80883" y="47436"/>
                  </a:lnTo>
                  <a:lnTo>
                    <a:pt x="120992" y="21944"/>
                  </a:lnTo>
                  <a:lnTo>
                    <a:pt x="166471" y="5701"/>
                  </a:lnTo>
                  <a:lnTo>
                    <a:pt x="216026" y="0"/>
                  </a:lnTo>
                  <a:lnTo>
                    <a:pt x="265535" y="5701"/>
                  </a:lnTo>
                  <a:lnTo>
                    <a:pt x="310980" y="21944"/>
                  </a:lnTo>
                  <a:lnTo>
                    <a:pt x="351067" y="47436"/>
                  </a:lnTo>
                  <a:lnTo>
                    <a:pt x="384500" y="80883"/>
                  </a:lnTo>
                  <a:lnTo>
                    <a:pt x="409985" y="120992"/>
                  </a:lnTo>
                  <a:lnTo>
                    <a:pt x="426225" y="166471"/>
                  </a:lnTo>
                  <a:lnTo>
                    <a:pt x="431926" y="216026"/>
                  </a:lnTo>
                  <a:lnTo>
                    <a:pt x="426225" y="265535"/>
                  </a:lnTo>
                  <a:lnTo>
                    <a:pt x="409985" y="310980"/>
                  </a:lnTo>
                  <a:lnTo>
                    <a:pt x="384500" y="351067"/>
                  </a:lnTo>
                  <a:lnTo>
                    <a:pt x="351067" y="384500"/>
                  </a:lnTo>
                  <a:lnTo>
                    <a:pt x="310980" y="409985"/>
                  </a:lnTo>
                  <a:lnTo>
                    <a:pt x="265535" y="426225"/>
                  </a:lnTo>
                  <a:lnTo>
                    <a:pt x="216026" y="431926"/>
                  </a:lnTo>
                  <a:lnTo>
                    <a:pt x="166471" y="426225"/>
                  </a:lnTo>
                  <a:lnTo>
                    <a:pt x="120992" y="409985"/>
                  </a:lnTo>
                  <a:lnTo>
                    <a:pt x="80883" y="384500"/>
                  </a:lnTo>
                  <a:lnTo>
                    <a:pt x="47436" y="351067"/>
                  </a:lnTo>
                  <a:lnTo>
                    <a:pt x="21944" y="310980"/>
                  </a:lnTo>
                  <a:lnTo>
                    <a:pt x="5701" y="265535"/>
                  </a:lnTo>
                  <a:lnTo>
                    <a:pt x="0" y="216026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231129" y="793496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G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668581" y="2377757"/>
            <a:ext cx="461009" cy="461009"/>
            <a:chOff x="5668581" y="2377757"/>
            <a:chExt cx="461009" cy="461009"/>
          </a:xfrm>
        </p:grpSpPr>
        <p:sp>
          <p:nvSpPr>
            <p:cNvPr id="31" name="object 31"/>
            <p:cNvSpPr/>
            <p:nvPr/>
          </p:nvSpPr>
          <p:spPr>
            <a:xfrm>
              <a:off x="5682869" y="2392045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216026" y="0"/>
                  </a:moveTo>
                  <a:lnTo>
                    <a:pt x="166511" y="5701"/>
                  </a:lnTo>
                  <a:lnTo>
                    <a:pt x="121048" y="21941"/>
                  </a:lnTo>
                  <a:lnTo>
                    <a:pt x="80936" y="47426"/>
                  </a:lnTo>
                  <a:lnTo>
                    <a:pt x="47476" y="80859"/>
                  </a:lnTo>
                  <a:lnTo>
                    <a:pt x="21966" y="120946"/>
                  </a:lnTo>
                  <a:lnTo>
                    <a:pt x="5708" y="166391"/>
                  </a:lnTo>
                  <a:lnTo>
                    <a:pt x="0" y="215900"/>
                  </a:lnTo>
                  <a:lnTo>
                    <a:pt x="5708" y="265455"/>
                  </a:lnTo>
                  <a:lnTo>
                    <a:pt x="21966" y="310934"/>
                  </a:lnTo>
                  <a:lnTo>
                    <a:pt x="47476" y="351043"/>
                  </a:lnTo>
                  <a:lnTo>
                    <a:pt x="80936" y="384490"/>
                  </a:lnTo>
                  <a:lnTo>
                    <a:pt x="121048" y="409982"/>
                  </a:lnTo>
                  <a:lnTo>
                    <a:pt x="166511" y="426225"/>
                  </a:lnTo>
                  <a:lnTo>
                    <a:pt x="216026" y="431926"/>
                  </a:lnTo>
                  <a:lnTo>
                    <a:pt x="265542" y="426225"/>
                  </a:lnTo>
                  <a:lnTo>
                    <a:pt x="311005" y="409982"/>
                  </a:lnTo>
                  <a:lnTo>
                    <a:pt x="351117" y="384490"/>
                  </a:lnTo>
                  <a:lnTo>
                    <a:pt x="384577" y="351043"/>
                  </a:lnTo>
                  <a:lnTo>
                    <a:pt x="410087" y="310934"/>
                  </a:lnTo>
                  <a:lnTo>
                    <a:pt x="426345" y="265455"/>
                  </a:lnTo>
                  <a:lnTo>
                    <a:pt x="432053" y="215900"/>
                  </a:lnTo>
                  <a:lnTo>
                    <a:pt x="426345" y="166391"/>
                  </a:lnTo>
                  <a:lnTo>
                    <a:pt x="410087" y="120946"/>
                  </a:lnTo>
                  <a:lnTo>
                    <a:pt x="384577" y="80859"/>
                  </a:lnTo>
                  <a:lnTo>
                    <a:pt x="351117" y="47426"/>
                  </a:lnTo>
                  <a:lnTo>
                    <a:pt x="311005" y="21941"/>
                  </a:lnTo>
                  <a:lnTo>
                    <a:pt x="265542" y="5701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682869" y="2392045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5900"/>
                  </a:moveTo>
                  <a:lnTo>
                    <a:pt x="5708" y="166391"/>
                  </a:lnTo>
                  <a:lnTo>
                    <a:pt x="21966" y="120946"/>
                  </a:lnTo>
                  <a:lnTo>
                    <a:pt x="47476" y="80859"/>
                  </a:lnTo>
                  <a:lnTo>
                    <a:pt x="80936" y="47426"/>
                  </a:lnTo>
                  <a:lnTo>
                    <a:pt x="121048" y="21941"/>
                  </a:lnTo>
                  <a:lnTo>
                    <a:pt x="166511" y="5701"/>
                  </a:lnTo>
                  <a:lnTo>
                    <a:pt x="216026" y="0"/>
                  </a:lnTo>
                  <a:lnTo>
                    <a:pt x="265542" y="5701"/>
                  </a:lnTo>
                  <a:lnTo>
                    <a:pt x="311005" y="21941"/>
                  </a:lnTo>
                  <a:lnTo>
                    <a:pt x="351117" y="47426"/>
                  </a:lnTo>
                  <a:lnTo>
                    <a:pt x="384577" y="80859"/>
                  </a:lnTo>
                  <a:lnTo>
                    <a:pt x="410087" y="120946"/>
                  </a:lnTo>
                  <a:lnTo>
                    <a:pt x="426345" y="166391"/>
                  </a:lnTo>
                  <a:lnTo>
                    <a:pt x="432053" y="215900"/>
                  </a:lnTo>
                  <a:lnTo>
                    <a:pt x="426345" y="265455"/>
                  </a:lnTo>
                  <a:lnTo>
                    <a:pt x="410087" y="310934"/>
                  </a:lnTo>
                  <a:lnTo>
                    <a:pt x="384577" y="351043"/>
                  </a:lnTo>
                  <a:lnTo>
                    <a:pt x="351117" y="384490"/>
                  </a:lnTo>
                  <a:lnTo>
                    <a:pt x="311005" y="409982"/>
                  </a:lnTo>
                  <a:lnTo>
                    <a:pt x="265542" y="426225"/>
                  </a:lnTo>
                  <a:lnTo>
                    <a:pt x="216026" y="431926"/>
                  </a:lnTo>
                  <a:lnTo>
                    <a:pt x="166511" y="426225"/>
                  </a:lnTo>
                  <a:lnTo>
                    <a:pt x="121048" y="409982"/>
                  </a:lnTo>
                  <a:lnTo>
                    <a:pt x="80936" y="384490"/>
                  </a:lnTo>
                  <a:lnTo>
                    <a:pt x="47476" y="351043"/>
                  </a:lnTo>
                  <a:lnTo>
                    <a:pt x="21966" y="310934"/>
                  </a:lnTo>
                  <a:lnTo>
                    <a:pt x="5708" y="265455"/>
                  </a:lnTo>
                  <a:lnTo>
                    <a:pt x="0" y="215900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818378" y="2383663"/>
            <a:ext cx="161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J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660834" y="1585277"/>
            <a:ext cx="461009" cy="461009"/>
            <a:chOff x="5660834" y="1585277"/>
            <a:chExt cx="461009" cy="461009"/>
          </a:xfrm>
        </p:grpSpPr>
        <p:sp>
          <p:nvSpPr>
            <p:cNvPr id="35" name="object 35"/>
            <p:cNvSpPr/>
            <p:nvPr/>
          </p:nvSpPr>
          <p:spPr>
            <a:xfrm>
              <a:off x="5675121" y="159956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216026" y="0"/>
                  </a:moveTo>
                  <a:lnTo>
                    <a:pt x="166511" y="5701"/>
                  </a:lnTo>
                  <a:lnTo>
                    <a:pt x="121048" y="21941"/>
                  </a:lnTo>
                  <a:lnTo>
                    <a:pt x="80936" y="47426"/>
                  </a:lnTo>
                  <a:lnTo>
                    <a:pt x="47476" y="80859"/>
                  </a:lnTo>
                  <a:lnTo>
                    <a:pt x="21966" y="120946"/>
                  </a:lnTo>
                  <a:lnTo>
                    <a:pt x="5708" y="166391"/>
                  </a:lnTo>
                  <a:lnTo>
                    <a:pt x="0" y="215900"/>
                  </a:lnTo>
                  <a:lnTo>
                    <a:pt x="5708" y="265455"/>
                  </a:lnTo>
                  <a:lnTo>
                    <a:pt x="21966" y="310934"/>
                  </a:lnTo>
                  <a:lnTo>
                    <a:pt x="47476" y="351043"/>
                  </a:lnTo>
                  <a:lnTo>
                    <a:pt x="80936" y="384490"/>
                  </a:lnTo>
                  <a:lnTo>
                    <a:pt x="121048" y="409982"/>
                  </a:lnTo>
                  <a:lnTo>
                    <a:pt x="166511" y="426225"/>
                  </a:lnTo>
                  <a:lnTo>
                    <a:pt x="216026" y="431926"/>
                  </a:lnTo>
                  <a:lnTo>
                    <a:pt x="265542" y="426225"/>
                  </a:lnTo>
                  <a:lnTo>
                    <a:pt x="311005" y="409982"/>
                  </a:lnTo>
                  <a:lnTo>
                    <a:pt x="351117" y="384490"/>
                  </a:lnTo>
                  <a:lnTo>
                    <a:pt x="384577" y="351043"/>
                  </a:lnTo>
                  <a:lnTo>
                    <a:pt x="410087" y="310934"/>
                  </a:lnTo>
                  <a:lnTo>
                    <a:pt x="426345" y="265455"/>
                  </a:lnTo>
                  <a:lnTo>
                    <a:pt x="432053" y="215900"/>
                  </a:lnTo>
                  <a:lnTo>
                    <a:pt x="426345" y="166391"/>
                  </a:lnTo>
                  <a:lnTo>
                    <a:pt x="410087" y="120946"/>
                  </a:lnTo>
                  <a:lnTo>
                    <a:pt x="384577" y="80859"/>
                  </a:lnTo>
                  <a:lnTo>
                    <a:pt x="351117" y="47426"/>
                  </a:lnTo>
                  <a:lnTo>
                    <a:pt x="311005" y="21941"/>
                  </a:lnTo>
                  <a:lnTo>
                    <a:pt x="265542" y="5701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675121" y="159956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5900"/>
                  </a:moveTo>
                  <a:lnTo>
                    <a:pt x="5708" y="166391"/>
                  </a:lnTo>
                  <a:lnTo>
                    <a:pt x="21966" y="120946"/>
                  </a:lnTo>
                  <a:lnTo>
                    <a:pt x="47476" y="80859"/>
                  </a:lnTo>
                  <a:lnTo>
                    <a:pt x="80936" y="47426"/>
                  </a:lnTo>
                  <a:lnTo>
                    <a:pt x="121048" y="21941"/>
                  </a:lnTo>
                  <a:lnTo>
                    <a:pt x="166511" y="5701"/>
                  </a:lnTo>
                  <a:lnTo>
                    <a:pt x="216026" y="0"/>
                  </a:lnTo>
                  <a:lnTo>
                    <a:pt x="265542" y="5701"/>
                  </a:lnTo>
                  <a:lnTo>
                    <a:pt x="311005" y="21941"/>
                  </a:lnTo>
                  <a:lnTo>
                    <a:pt x="351117" y="47426"/>
                  </a:lnTo>
                  <a:lnTo>
                    <a:pt x="384577" y="80859"/>
                  </a:lnTo>
                  <a:lnTo>
                    <a:pt x="410087" y="120946"/>
                  </a:lnTo>
                  <a:lnTo>
                    <a:pt x="426345" y="166391"/>
                  </a:lnTo>
                  <a:lnTo>
                    <a:pt x="432053" y="215900"/>
                  </a:lnTo>
                  <a:lnTo>
                    <a:pt x="426345" y="265455"/>
                  </a:lnTo>
                  <a:lnTo>
                    <a:pt x="410087" y="310934"/>
                  </a:lnTo>
                  <a:lnTo>
                    <a:pt x="384577" y="351043"/>
                  </a:lnTo>
                  <a:lnTo>
                    <a:pt x="351117" y="384490"/>
                  </a:lnTo>
                  <a:lnTo>
                    <a:pt x="311005" y="409982"/>
                  </a:lnTo>
                  <a:lnTo>
                    <a:pt x="265542" y="426225"/>
                  </a:lnTo>
                  <a:lnTo>
                    <a:pt x="216026" y="431926"/>
                  </a:lnTo>
                  <a:lnTo>
                    <a:pt x="166511" y="426225"/>
                  </a:lnTo>
                  <a:lnTo>
                    <a:pt x="121048" y="409982"/>
                  </a:lnTo>
                  <a:lnTo>
                    <a:pt x="80936" y="384490"/>
                  </a:lnTo>
                  <a:lnTo>
                    <a:pt x="47476" y="351043"/>
                  </a:lnTo>
                  <a:lnTo>
                    <a:pt x="21966" y="310934"/>
                  </a:lnTo>
                  <a:lnTo>
                    <a:pt x="5708" y="265455"/>
                  </a:lnTo>
                  <a:lnTo>
                    <a:pt x="0" y="215900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827267" y="1590878"/>
            <a:ext cx="1270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592637" y="1585277"/>
            <a:ext cx="461009" cy="461009"/>
            <a:chOff x="4592637" y="1585277"/>
            <a:chExt cx="461009" cy="461009"/>
          </a:xfrm>
        </p:grpSpPr>
        <p:sp>
          <p:nvSpPr>
            <p:cNvPr id="39" name="object 39"/>
            <p:cNvSpPr/>
            <p:nvPr/>
          </p:nvSpPr>
          <p:spPr>
            <a:xfrm>
              <a:off x="4606925" y="159956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216026" y="0"/>
                  </a:moveTo>
                  <a:lnTo>
                    <a:pt x="166511" y="5701"/>
                  </a:lnTo>
                  <a:lnTo>
                    <a:pt x="121048" y="21941"/>
                  </a:lnTo>
                  <a:lnTo>
                    <a:pt x="80936" y="47426"/>
                  </a:lnTo>
                  <a:lnTo>
                    <a:pt x="47476" y="80859"/>
                  </a:lnTo>
                  <a:lnTo>
                    <a:pt x="21966" y="120946"/>
                  </a:lnTo>
                  <a:lnTo>
                    <a:pt x="5708" y="166391"/>
                  </a:lnTo>
                  <a:lnTo>
                    <a:pt x="0" y="215900"/>
                  </a:lnTo>
                  <a:lnTo>
                    <a:pt x="5708" y="265455"/>
                  </a:lnTo>
                  <a:lnTo>
                    <a:pt x="21966" y="310934"/>
                  </a:lnTo>
                  <a:lnTo>
                    <a:pt x="47476" y="351043"/>
                  </a:lnTo>
                  <a:lnTo>
                    <a:pt x="80936" y="384490"/>
                  </a:lnTo>
                  <a:lnTo>
                    <a:pt x="121048" y="409982"/>
                  </a:lnTo>
                  <a:lnTo>
                    <a:pt x="166511" y="426225"/>
                  </a:lnTo>
                  <a:lnTo>
                    <a:pt x="216026" y="431926"/>
                  </a:lnTo>
                  <a:lnTo>
                    <a:pt x="265582" y="426225"/>
                  </a:lnTo>
                  <a:lnTo>
                    <a:pt x="311061" y="409982"/>
                  </a:lnTo>
                  <a:lnTo>
                    <a:pt x="351170" y="384490"/>
                  </a:lnTo>
                  <a:lnTo>
                    <a:pt x="384617" y="351043"/>
                  </a:lnTo>
                  <a:lnTo>
                    <a:pt x="410109" y="310934"/>
                  </a:lnTo>
                  <a:lnTo>
                    <a:pt x="426352" y="265455"/>
                  </a:lnTo>
                  <a:lnTo>
                    <a:pt x="432053" y="215900"/>
                  </a:lnTo>
                  <a:lnTo>
                    <a:pt x="426352" y="166391"/>
                  </a:lnTo>
                  <a:lnTo>
                    <a:pt x="410109" y="120946"/>
                  </a:lnTo>
                  <a:lnTo>
                    <a:pt x="384617" y="80859"/>
                  </a:lnTo>
                  <a:lnTo>
                    <a:pt x="351170" y="47426"/>
                  </a:lnTo>
                  <a:lnTo>
                    <a:pt x="311061" y="21941"/>
                  </a:lnTo>
                  <a:lnTo>
                    <a:pt x="265582" y="5701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606925" y="1599564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5900"/>
                  </a:moveTo>
                  <a:lnTo>
                    <a:pt x="5708" y="166391"/>
                  </a:lnTo>
                  <a:lnTo>
                    <a:pt x="21966" y="120946"/>
                  </a:lnTo>
                  <a:lnTo>
                    <a:pt x="47476" y="80859"/>
                  </a:lnTo>
                  <a:lnTo>
                    <a:pt x="80936" y="47426"/>
                  </a:lnTo>
                  <a:lnTo>
                    <a:pt x="121048" y="21941"/>
                  </a:lnTo>
                  <a:lnTo>
                    <a:pt x="166511" y="5701"/>
                  </a:lnTo>
                  <a:lnTo>
                    <a:pt x="216026" y="0"/>
                  </a:lnTo>
                  <a:lnTo>
                    <a:pt x="265582" y="5701"/>
                  </a:lnTo>
                  <a:lnTo>
                    <a:pt x="311061" y="21941"/>
                  </a:lnTo>
                  <a:lnTo>
                    <a:pt x="351170" y="47426"/>
                  </a:lnTo>
                  <a:lnTo>
                    <a:pt x="384617" y="80859"/>
                  </a:lnTo>
                  <a:lnTo>
                    <a:pt x="410109" y="120946"/>
                  </a:lnTo>
                  <a:lnTo>
                    <a:pt x="426352" y="166391"/>
                  </a:lnTo>
                  <a:lnTo>
                    <a:pt x="432053" y="215900"/>
                  </a:lnTo>
                  <a:lnTo>
                    <a:pt x="426352" y="265455"/>
                  </a:lnTo>
                  <a:lnTo>
                    <a:pt x="410109" y="310934"/>
                  </a:lnTo>
                  <a:lnTo>
                    <a:pt x="384617" y="351043"/>
                  </a:lnTo>
                  <a:lnTo>
                    <a:pt x="351170" y="384490"/>
                  </a:lnTo>
                  <a:lnTo>
                    <a:pt x="311061" y="409982"/>
                  </a:lnTo>
                  <a:lnTo>
                    <a:pt x="265582" y="426225"/>
                  </a:lnTo>
                  <a:lnTo>
                    <a:pt x="216026" y="431926"/>
                  </a:lnTo>
                  <a:lnTo>
                    <a:pt x="166511" y="426225"/>
                  </a:lnTo>
                  <a:lnTo>
                    <a:pt x="121048" y="409982"/>
                  </a:lnTo>
                  <a:lnTo>
                    <a:pt x="80936" y="384490"/>
                  </a:lnTo>
                  <a:lnTo>
                    <a:pt x="47476" y="351043"/>
                  </a:lnTo>
                  <a:lnTo>
                    <a:pt x="21966" y="310934"/>
                  </a:lnTo>
                  <a:lnTo>
                    <a:pt x="5708" y="265455"/>
                  </a:lnTo>
                  <a:lnTo>
                    <a:pt x="0" y="215900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4701032" y="1590878"/>
            <a:ext cx="2457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H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1369250" y="1160208"/>
            <a:ext cx="4544060" cy="2402205"/>
            <a:chOff x="1369250" y="1160208"/>
            <a:chExt cx="4544060" cy="2402205"/>
          </a:xfrm>
        </p:grpSpPr>
        <p:sp>
          <p:nvSpPr>
            <p:cNvPr id="43" name="object 43"/>
            <p:cNvSpPr/>
            <p:nvPr/>
          </p:nvSpPr>
          <p:spPr>
            <a:xfrm>
              <a:off x="5498465" y="1174496"/>
              <a:ext cx="400685" cy="1212215"/>
            </a:xfrm>
            <a:custGeom>
              <a:avLst/>
              <a:gdLst/>
              <a:ahLst/>
              <a:cxnLst/>
              <a:rect l="l" t="t" r="r" b="b"/>
              <a:pathLst>
                <a:path w="400685" h="1212214">
                  <a:moveTo>
                    <a:pt x="400431" y="852042"/>
                  </a:moveTo>
                  <a:lnTo>
                    <a:pt x="400431" y="1212088"/>
                  </a:lnTo>
                </a:path>
                <a:path w="400685" h="1212214">
                  <a:moveTo>
                    <a:pt x="288036" y="467994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383538" y="311581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216027" y="0"/>
                  </a:moveTo>
                  <a:lnTo>
                    <a:pt x="166511" y="5708"/>
                  </a:lnTo>
                  <a:lnTo>
                    <a:pt x="121048" y="21966"/>
                  </a:lnTo>
                  <a:lnTo>
                    <a:pt x="80936" y="47476"/>
                  </a:lnTo>
                  <a:lnTo>
                    <a:pt x="47476" y="80936"/>
                  </a:lnTo>
                  <a:lnTo>
                    <a:pt x="21966" y="121048"/>
                  </a:lnTo>
                  <a:lnTo>
                    <a:pt x="5708" y="166511"/>
                  </a:lnTo>
                  <a:lnTo>
                    <a:pt x="0" y="216027"/>
                  </a:lnTo>
                  <a:lnTo>
                    <a:pt x="5708" y="265542"/>
                  </a:lnTo>
                  <a:lnTo>
                    <a:pt x="21966" y="311005"/>
                  </a:lnTo>
                  <a:lnTo>
                    <a:pt x="47476" y="351117"/>
                  </a:lnTo>
                  <a:lnTo>
                    <a:pt x="80936" y="384577"/>
                  </a:lnTo>
                  <a:lnTo>
                    <a:pt x="121048" y="410087"/>
                  </a:lnTo>
                  <a:lnTo>
                    <a:pt x="166511" y="426345"/>
                  </a:lnTo>
                  <a:lnTo>
                    <a:pt x="216027" y="432054"/>
                  </a:lnTo>
                  <a:lnTo>
                    <a:pt x="265542" y="426345"/>
                  </a:lnTo>
                  <a:lnTo>
                    <a:pt x="311005" y="410087"/>
                  </a:lnTo>
                  <a:lnTo>
                    <a:pt x="351117" y="384577"/>
                  </a:lnTo>
                  <a:lnTo>
                    <a:pt x="384577" y="351117"/>
                  </a:lnTo>
                  <a:lnTo>
                    <a:pt x="410087" y="311005"/>
                  </a:lnTo>
                  <a:lnTo>
                    <a:pt x="426345" y="265542"/>
                  </a:lnTo>
                  <a:lnTo>
                    <a:pt x="432054" y="216027"/>
                  </a:lnTo>
                  <a:lnTo>
                    <a:pt x="426345" y="166511"/>
                  </a:lnTo>
                  <a:lnTo>
                    <a:pt x="410087" y="121048"/>
                  </a:lnTo>
                  <a:lnTo>
                    <a:pt x="384577" y="80936"/>
                  </a:lnTo>
                  <a:lnTo>
                    <a:pt x="351117" y="47476"/>
                  </a:lnTo>
                  <a:lnTo>
                    <a:pt x="311005" y="21966"/>
                  </a:lnTo>
                  <a:lnTo>
                    <a:pt x="265542" y="5708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383538" y="311581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6027"/>
                  </a:moveTo>
                  <a:lnTo>
                    <a:pt x="5708" y="166511"/>
                  </a:lnTo>
                  <a:lnTo>
                    <a:pt x="21966" y="121048"/>
                  </a:lnTo>
                  <a:lnTo>
                    <a:pt x="47476" y="80936"/>
                  </a:lnTo>
                  <a:lnTo>
                    <a:pt x="80936" y="47476"/>
                  </a:lnTo>
                  <a:lnTo>
                    <a:pt x="121048" y="21966"/>
                  </a:lnTo>
                  <a:lnTo>
                    <a:pt x="166511" y="5708"/>
                  </a:lnTo>
                  <a:lnTo>
                    <a:pt x="216027" y="0"/>
                  </a:lnTo>
                  <a:lnTo>
                    <a:pt x="265542" y="5708"/>
                  </a:lnTo>
                  <a:lnTo>
                    <a:pt x="311005" y="21966"/>
                  </a:lnTo>
                  <a:lnTo>
                    <a:pt x="351117" y="47476"/>
                  </a:lnTo>
                  <a:lnTo>
                    <a:pt x="384577" y="80936"/>
                  </a:lnTo>
                  <a:lnTo>
                    <a:pt x="410087" y="121048"/>
                  </a:lnTo>
                  <a:lnTo>
                    <a:pt x="426345" y="166511"/>
                  </a:lnTo>
                  <a:lnTo>
                    <a:pt x="432054" y="216027"/>
                  </a:lnTo>
                  <a:lnTo>
                    <a:pt x="426345" y="265542"/>
                  </a:lnTo>
                  <a:lnTo>
                    <a:pt x="410087" y="311005"/>
                  </a:lnTo>
                  <a:lnTo>
                    <a:pt x="384577" y="351117"/>
                  </a:lnTo>
                  <a:lnTo>
                    <a:pt x="351117" y="384577"/>
                  </a:lnTo>
                  <a:lnTo>
                    <a:pt x="311005" y="410087"/>
                  </a:lnTo>
                  <a:lnTo>
                    <a:pt x="265542" y="426345"/>
                  </a:lnTo>
                  <a:lnTo>
                    <a:pt x="216027" y="432054"/>
                  </a:lnTo>
                  <a:lnTo>
                    <a:pt x="166511" y="426345"/>
                  </a:lnTo>
                  <a:lnTo>
                    <a:pt x="121048" y="410087"/>
                  </a:lnTo>
                  <a:lnTo>
                    <a:pt x="80936" y="384577"/>
                  </a:lnTo>
                  <a:lnTo>
                    <a:pt x="47476" y="351117"/>
                  </a:lnTo>
                  <a:lnTo>
                    <a:pt x="21966" y="311005"/>
                  </a:lnTo>
                  <a:lnTo>
                    <a:pt x="5708" y="265542"/>
                  </a:lnTo>
                  <a:lnTo>
                    <a:pt x="0" y="216027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1494282" y="3107563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869492" y="3503104"/>
            <a:ext cx="657225" cy="890269"/>
            <a:chOff x="869492" y="3503104"/>
            <a:chExt cx="657225" cy="890269"/>
          </a:xfrm>
        </p:grpSpPr>
        <p:sp>
          <p:nvSpPr>
            <p:cNvPr id="48" name="object 48"/>
            <p:cNvSpPr/>
            <p:nvPr/>
          </p:nvSpPr>
          <p:spPr>
            <a:xfrm>
              <a:off x="1224330" y="3517391"/>
              <a:ext cx="288290" cy="467995"/>
            </a:xfrm>
            <a:custGeom>
              <a:avLst/>
              <a:gdLst/>
              <a:ahLst/>
              <a:cxnLst/>
              <a:rect l="l" t="t" r="r" b="b"/>
              <a:pathLst>
                <a:path w="288290" h="467995">
                  <a:moveTo>
                    <a:pt x="287985" y="0"/>
                  </a:moveTo>
                  <a:lnTo>
                    <a:pt x="0" y="467995"/>
                  </a:lnTo>
                </a:path>
              </a:pathLst>
            </a:custGeom>
            <a:ln w="28575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83780" y="3946905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215988" y="0"/>
                  </a:moveTo>
                  <a:lnTo>
                    <a:pt x="166463" y="5708"/>
                  </a:lnTo>
                  <a:lnTo>
                    <a:pt x="121000" y="21966"/>
                  </a:lnTo>
                  <a:lnTo>
                    <a:pt x="80897" y="47476"/>
                  </a:lnTo>
                  <a:lnTo>
                    <a:pt x="47449" y="80936"/>
                  </a:lnTo>
                  <a:lnTo>
                    <a:pt x="21952" y="121048"/>
                  </a:lnTo>
                  <a:lnTo>
                    <a:pt x="5704" y="166511"/>
                  </a:lnTo>
                  <a:lnTo>
                    <a:pt x="0" y="216027"/>
                  </a:lnTo>
                  <a:lnTo>
                    <a:pt x="5704" y="265542"/>
                  </a:lnTo>
                  <a:lnTo>
                    <a:pt x="21952" y="311005"/>
                  </a:lnTo>
                  <a:lnTo>
                    <a:pt x="47449" y="351117"/>
                  </a:lnTo>
                  <a:lnTo>
                    <a:pt x="80897" y="384577"/>
                  </a:lnTo>
                  <a:lnTo>
                    <a:pt x="121000" y="410087"/>
                  </a:lnTo>
                  <a:lnTo>
                    <a:pt x="166463" y="426345"/>
                  </a:lnTo>
                  <a:lnTo>
                    <a:pt x="215988" y="432054"/>
                  </a:lnTo>
                  <a:lnTo>
                    <a:pt x="265516" y="426345"/>
                  </a:lnTo>
                  <a:lnTo>
                    <a:pt x="310974" y="410087"/>
                  </a:lnTo>
                  <a:lnTo>
                    <a:pt x="351070" y="384577"/>
                  </a:lnTo>
                  <a:lnTo>
                    <a:pt x="384509" y="351117"/>
                  </a:lnTo>
                  <a:lnTo>
                    <a:pt x="409996" y="311005"/>
                  </a:lnTo>
                  <a:lnTo>
                    <a:pt x="426238" y="265542"/>
                  </a:lnTo>
                  <a:lnTo>
                    <a:pt x="431939" y="216027"/>
                  </a:lnTo>
                  <a:lnTo>
                    <a:pt x="426238" y="166511"/>
                  </a:lnTo>
                  <a:lnTo>
                    <a:pt x="409996" y="121048"/>
                  </a:lnTo>
                  <a:lnTo>
                    <a:pt x="384509" y="80936"/>
                  </a:lnTo>
                  <a:lnTo>
                    <a:pt x="351070" y="47476"/>
                  </a:lnTo>
                  <a:lnTo>
                    <a:pt x="310974" y="21966"/>
                  </a:lnTo>
                  <a:lnTo>
                    <a:pt x="265516" y="5708"/>
                  </a:lnTo>
                  <a:lnTo>
                    <a:pt x="215988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83780" y="3946905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0" y="216027"/>
                  </a:moveTo>
                  <a:lnTo>
                    <a:pt x="5704" y="166511"/>
                  </a:lnTo>
                  <a:lnTo>
                    <a:pt x="21952" y="121048"/>
                  </a:lnTo>
                  <a:lnTo>
                    <a:pt x="47449" y="80936"/>
                  </a:lnTo>
                  <a:lnTo>
                    <a:pt x="80897" y="47476"/>
                  </a:lnTo>
                  <a:lnTo>
                    <a:pt x="121000" y="21966"/>
                  </a:lnTo>
                  <a:lnTo>
                    <a:pt x="166463" y="5708"/>
                  </a:lnTo>
                  <a:lnTo>
                    <a:pt x="215988" y="0"/>
                  </a:lnTo>
                  <a:lnTo>
                    <a:pt x="265516" y="5708"/>
                  </a:lnTo>
                  <a:lnTo>
                    <a:pt x="310974" y="21966"/>
                  </a:lnTo>
                  <a:lnTo>
                    <a:pt x="351070" y="47476"/>
                  </a:lnTo>
                  <a:lnTo>
                    <a:pt x="384509" y="80936"/>
                  </a:lnTo>
                  <a:lnTo>
                    <a:pt x="409996" y="121048"/>
                  </a:lnTo>
                  <a:lnTo>
                    <a:pt x="426238" y="166511"/>
                  </a:lnTo>
                  <a:lnTo>
                    <a:pt x="431939" y="216027"/>
                  </a:lnTo>
                  <a:lnTo>
                    <a:pt x="426238" y="265542"/>
                  </a:lnTo>
                  <a:lnTo>
                    <a:pt x="409996" y="311005"/>
                  </a:lnTo>
                  <a:lnTo>
                    <a:pt x="384509" y="351117"/>
                  </a:lnTo>
                  <a:lnTo>
                    <a:pt x="351070" y="384577"/>
                  </a:lnTo>
                  <a:lnTo>
                    <a:pt x="310974" y="410087"/>
                  </a:lnTo>
                  <a:lnTo>
                    <a:pt x="265516" y="426345"/>
                  </a:lnTo>
                  <a:lnTo>
                    <a:pt x="215988" y="432054"/>
                  </a:lnTo>
                  <a:lnTo>
                    <a:pt x="166463" y="426345"/>
                  </a:lnTo>
                  <a:lnTo>
                    <a:pt x="121000" y="410087"/>
                  </a:lnTo>
                  <a:lnTo>
                    <a:pt x="80897" y="384577"/>
                  </a:lnTo>
                  <a:lnTo>
                    <a:pt x="47449" y="351117"/>
                  </a:lnTo>
                  <a:lnTo>
                    <a:pt x="21952" y="311005"/>
                  </a:lnTo>
                  <a:lnTo>
                    <a:pt x="5704" y="265542"/>
                  </a:lnTo>
                  <a:lnTo>
                    <a:pt x="0" y="216027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994359" y="3938727"/>
            <a:ext cx="2120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3049587" y="3101530"/>
            <a:ext cx="461009" cy="461009"/>
            <a:chOff x="3049587" y="3101530"/>
            <a:chExt cx="461009" cy="461009"/>
          </a:xfrm>
        </p:grpSpPr>
        <p:sp>
          <p:nvSpPr>
            <p:cNvPr id="53" name="object 53"/>
            <p:cNvSpPr/>
            <p:nvPr/>
          </p:nvSpPr>
          <p:spPr>
            <a:xfrm>
              <a:off x="3063875" y="3115817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216026" y="0"/>
                  </a:moveTo>
                  <a:lnTo>
                    <a:pt x="166471" y="5708"/>
                  </a:lnTo>
                  <a:lnTo>
                    <a:pt x="120992" y="21966"/>
                  </a:lnTo>
                  <a:lnTo>
                    <a:pt x="80883" y="47476"/>
                  </a:lnTo>
                  <a:lnTo>
                    <a:pt x="47436" y="80936"/>
                  </a:lnTo>
                  <a:lnTo>
                    <a:pt x="21944" y="121048"/>
                  </a:lnTo>
                  <a:lnTo>
                    <a:pt x="5701" y="166511"/>
                  </a:lnTo>
                  <a:lnTo>
                    <a:pt x="0" y="216027"/>
                  </a:lnTo>
                  <a:lnTo>
                    <a:pt x="5701" y="265542"/>
                  </a:lnTo>
                  <a:lnTo>
                    <a:pt x="21944" y="311005"/>
                  </a:lnTo>
                  <a:lnTo>
                    <a:pt x="47436" y="351117"/>
                  </a:lnTo>
                  <a:lnTo>
                    <a:pt x="80883" y="384577"/>
                  </a:lnTo>
                  <a:lnTo>
                    <a:pt x="120992" y="410087"/>
                  </a:lnTo>
                  <a:lnTo>
                    <a:pt x="166471" y="426345"/>
                  </a:lnTo>
                  <a:lnTo>
                    <a:pt x="216026" y="432054"/>
                  </a:lnTo>
                  <a:lnTo>
                    <a:pt x="265542" y="426345"/>
                  </a:lnTo>
                  <a:lnTo>
                    <a:pt x="311005" y="410087"/>
                  </a:lnTo>
                  <a:lnTo>
                    <a:pt x="351117" y="384577"/>
                  </a:lnTo>
                  <a:lnTo>
                    <a:pt x="384577" y="351117"/>
                  </a:lnTo>
                  <a:lnTo>
                    <a:pt x="410087" y="311005"/>
                  </a:lnTo>
                  <a:lnTo>
                    <a:pt x="426345" y="265542"/>
                  </a:lnTo>
                  <a:lnTo>
                    <a:pt x="432053" y="216027"/>
                  </a:lnTo>
                  <a:lnTo>
                    <a:pt x="426345" y="166511"/>
                  </a:lnTo>
                  <a:lnTo>
                    <a:pt x="410087" y="121048"/>
                  </a:lnTo>
                  <a:lnTo>
                    <a:pt x="384577" y="80936"/>
                  </a:lnTo>
                  <a:lnTo>
                    <a:pt x="351117" y="47476"/>
                  </a:lnTo>
                  <a:lnTo>
                    <a:pt x="311005" y="21966"/>
                  </a:lnTo>
                  <a:lnTo>
                    <a:pt x="265542" y="5708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063875" y="3115817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6027"/>
                  </a:moveTo>
                  <a:lnTo>
                    <a:pt x="5701" y="166511"/>
                  </a:lnTo>
                  <a:lnTo>
                    <a:pt x="21944" y="121048"/>
                  </a:lnTo>
                  <a:lnTo>
                    <a:pt x="47436" y="80936"/>
                  </a:lnTo>
                  <a:lnTo>
                    <a:pt x="80883" y="47476"/>
                  </a:lnTo>
                  <a:lnTo>
                    <a:pt x="120992" y="21966"/>
                  </a:lnTo>
                  <a:lnTo>
                    <a:pt x="166471" y="5708"/>
                  </a:lnTo>
                  <a:lnTo>
                    <a:pt x="216026" y="0"/>
                  </a:lnTo>
                  <a:lnTo>
                    <a:pt x="265542" y="5708"/>
                  </a:lnTo>
                  <a:lnTo>
                    <a:pt x="311005" y="21966"/>
                  </a:lnTo>
                  <a:lnTo>
                    <a:pt x="351117" y="47476"/>
                  </a:lnTo>
                  <a:lnTo>
                    <a:pt x="384577" y="80936"/>
                  </a:lnTo>
                  <a:lnTo>
                    <a:pt x="410087" y="121048"/>
                  </a:lnTo>
                  <a:lnTo>
                    <a:pt x="426345" y="166511"/>
                  </a:lnTo>
                  <a:lnTo>
                    <a:pt x="432053" y="216027"/>
                  </a:lnTo>
                  <a:lnTo>
                    <a:pt x="426345" y="265542"/>
                  </a:lnTo>
                  <a:lnTo>
                    <a:pt x="410087" y="311005"/>
                  </a:lnTo>
                  <a:lnTo>
                    <a:pt x="384577" y="351117"/>
                  </a:lnTo>
                  <a:lnTo>
                    <a:pt x="351117" y="384577"/>
                  </a:lnTo>
                  <a:lnTo>
                    <a:pt x="311005" y="410087"/>
                  </a:lnTo>
                  <a:lnTo>
                    <a:pt x="265542" y="426345"/>
                  </a:lnTo>
                  <a:lnTo>
                    <a:pt x="216026" y="432054"/>
                  </a:lnTo>
                  <a:lnTo>
                    <a:pt x="166471" y="426345"/>
                  </a:lnTo>
                  <a:lnTo>
                    <a:pt x="120992" y="410087"/>
                  </a:lnTo>
                  <a:lnTo>
                    <a:pt x="80883" y="384577"/>
                  </a:lnTo>
                  <a:lnTo>
                    <a:pt x="47436" y="351117"/>
                  </a:lnTo>
                  <a:lnTo>
                    <a:pt x="21944" y="311005"/>
                  </a:lnTo>
                  <a:lnTo>
                    <a:pt x="5701" y="265542"/>
                  </a:lnTo>
                  <a:lnTo>
                    <a:pt x="0" y="216027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3165475" y="3107563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2521267" y="3508184"/>
            <a:ext cx="657225" cy="890269"/>
            <a:chOff x="2521267" y="3508184"/>
            <a:chExt cx="657225" cy="890269"/>
          </a:xfrm>
        </p:grpSpPr>
        <p:sp>
          <p:nvSpPr>
            <p:cNvPr id="57" name="object 57"/>
            <p:cNvSpPr/>
            <p:nvPr/>
          </p:nvSpPr>
          <p:spPr>
            <a:xfrm>
              <a:off x="2876168" y="3522471"/>
              <a:ext cx="288290" cy="467995"/>
            </a:xfrm>
            <a:custGeom>
              <a:avLst/>
              <a:gdLst/>
              <a:ahLst/>
              <a:cxnLst/>
              <a:rect l="l" t="t" r="r" b="b"/>
              <a:pathLst>
                <a:path w="288289" h="467995">
                  <a:moveTo>
                    <a:pt x="288036" y="0"/>
                  </a:moveTo>
                  <a:lnTo>
                    <a:pt x="0" y="467994"/>
                  </a:lnTo>
                </a:path>
              </a:pathLst>
            </a:custGeom>
            <a:ln w="28574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535554" y="3951985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216026" y="0"/>
                  </a:moveTo>
                  <a:lnTo>
                    <a:pt x="166511" y="5708"/>
                  </a:lnTo>
                  <a:lnTo>
                    <a:pt x="121048" y="21966"/>
                  </a:lnTo>
                  <a:lnTo>
                    <a:pt x="80936" y="47476"/>
                  </a:lnTo>
                  <a:lnTo>
                    <a:pt x="47476" y="80936"/>
                  </a:lnTo>
                  <a:lnTo>
                    <a:pt x="21966" y="121048"/>
                  </a:lnTo>
                  <a:lnTo>
                    <a:pt x="5708" y="166511"/>
                  </a:lnTo>
                  <a:lnTo>
                    <a:pt x="0" y="216026"/>
                  </a:lnTo>
                  <a:lnTo>
                    <a:pt x="5708" y="265542"/>
                  </a:lnTo>
                  <a:lnTo>
                    <a:pt x="21966" y="311005"/>
                  </a:lnTo>
                  <a:lnTo>
                    <a:pt x="47476" y="351117"/>
                  </a:lnTo>
                  <a:lnTo>
                    <a:pt x="80936" y="384577"/>
                  </a:lnTo>
                  <a:lnTo>
                    <a:pt x="121048" y="410087"/>
                  </a:lnTo>
                  <a:lnTo>
                    <a:pt x="166511" y="426345"/>
                  </a:lnTo>
                  <a:lnTo>
                    <a:pt x="216026" y="432053"/>
                  </a:lnTo>
                  <a:lnTo>
                    <a:pt x="265542" y="426345"/>
                  </a:lnTo>
                  <a:lnTo>
                    <a:pt x="311005" y="410087"/>
                  </a:lnTo>
                  <a:lnTo>
                    <a:pt x="351117" y="384577"/>
                  </a:lnTo>
                  <a:lnTo>
                    <a:pt x="384577" y="351117"/>
                  </a:lnTo>
                  <a:lnTo>
                    <a:pt x="410087" y="311005"/>
                  </a:lnTo>
                  <a:lnTo>
                    <a:pt x="426345" y="265542"/>
                  </a:lnTo>
                  <a:lnTo>
                    <a:pt x="432053" y="216026"/>
                  </a:lnTo>
                  <a:lnTo>
                    <a:pt x="426345" y="166511"/>
                  </a:lnTo>
                  <a:lnTo>
                    <a:pt x="410087" y="121048"/>
                  </a:lnTo>
                  <a:lnTo>
                    <a:pt x="384577" y="80936"/>
                  </a:lnTo>
                  <a:lnTo>
                    <a:pt x="351117" y="47476"/>
                  </a:lnTo>
                  <a:lnTo>
                    <a:pt x="311005" y="21966"/>
                  </a:lnTo>
                  <a:lnTo>
                    <a:pt x="265542" y="5708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535554" y="3951985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6026"/>
                  </a:moveTo>
                  <a:lnTo>
                    <a:pt x="5708" y="166511"/>
                  </a:lnTo>
                  <a:lnTo>
                    <a:pt x="21966" y="121048"/>
                  </a:lnTo>
                  <a:lnTo>
                    <a:pt x="47476" y="80936"/>
                  </a:lnTo>
                  <a:lnTo>
                    <a:pt x="80936" y="47476"/>
                  </a:lnTo>
                  <a:lnTo>
                    <a:pt x="121048" y="21966"/>
                  </a:lnTo>
                  <a:lnTo>
                    <a:pt x="166511" y="5708"/>
                  </a:lnTo>
                  <a:lnTo>
                    <a:pt x="216026" y="0"/>
                  </a:lnTo>
                  <a:lnTo>
                    <a:pt x="265542" y="5708"/>
                  </a:lnTo>
                  <a:lnTo>
                    <a:pt x="311005" y="21966"/>
                  </a:lnTo>
                  <a:lnTo>
                    <a:pt x="351117" y="47476"/>
                  </a:lnTo>
                  <a:lnTo>
                    <a:pt x="384577" y="80936"/>
                  </a:lnTo>
                  <a:lnTo>
                    <a:pt x="410087" y="121048"/>
                  </a:lnTo>
                  <a:lnTo>
                    <a:pt x="426345" y="166511"/>
                  </a:lnTo>
                  <a:lnTo>
                    <a:pt x="432053" y="216026"/>
                  </a:lnTo>
                  <a:lnTo>
                    <a:pt x="426345" y="265542"/>
                  </a:lnTo>
                  <a:lnTo>
                    <a:pt x="410087" y="311005"/>
                  </a:lnTo>
                  <a:lnTo>
                    <a:pt x="384577" y="351117"/>
                  </a:lnTo>
                  <a:lnTo>
                    <a:pt x="351117" y="384577"/>
                  </a:lnTo>
                  <a:lnTo>
                    <a:pt x="311005" y="410087"/>
                  </a:lnTo>
                  <a:lnTo>
                    <a:pt x="265542" y="426345"/>
                  </a:lnTo>
                  <a:lnTo>
                    <a:pt x="216026" y="432053"/>
                  </a:lnTo>
                  <a:lnTo>
                    <a:pt x="166511" y="426345"/>
                  </a:lnTo>
                  <a:lnTo>
                    <a:pt x="121048" y="410087"/>
                  </a:lnTo>
                  <a:lnTo>
                    <a:pt x="80936" y="384577"/>
                  </a:lnTo>
                  <a:lnTo>
                    <a:pt x="47476" y="351117"/>
                  </a:lnTo>
                  <a:lnTo>
                    <a:pt x="21966" y="311005"/>
                  </a:lnTo>
                  <a:lnTo>
                    <a:pt x="5708" y="265542"/>
                  </a:lnTo>
                  <a:lnTo>
                    <a:pt x="0" y="216026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2629661" y="3943857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3053778" y="4725225"/>
            <a:ext cx="461009" cy="461009"/>
            <a:chOff x="3053778" y="4725225"/>
            <a:chExt cx="461009" cy="461009"/>
          </a:xfrm>
        </p:grpSpPr>
        <p:sp>
          <p:nvSpPr>
            <p:cNvPr id="62" name="object 62"/>
            <p:cNvSpPr/>
            <p:nvPr/>
          </p:nvSpPr>
          <p:spPr>
            <a:xfrm>
              <a:off x="3068066" y="4739513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216026" y="0"/>
                  </a:moveTo>
                  <a:lnTo>
                    <a:pt x="166511" y="5701"/>
                  </a:lnTo>
                  <a:lnTo>
                    <a:pt x="121048" y="21941"/>
                  </a:lnTo>
                  <a:lnTo>
                    <a:pt x="80936" y="47426"/>
                  </a:lnTo>
                  <a:lnTo>
                    <a:pt x="47476" y="80859"/>
                  </a:lnTo>
                  <a:lnTo>
                    <a:pt x="21966" y="120946"/>
                  </a:lnTo>
                  <a:lnTo>
                    <a:pt x="5708" y="166391"/>
                  </a:lnTo>
                  <a:lnTo>
                    <a:pt x="0" y="215900"/>
                  </a:lnTo>
                  <a:lnTo>
                    <a:pt x="5708" y="265455"/>
                  </a:lnTo>
                  <a:lnTo>
                    <a:pt x="21966" y="310934"/>
                  </a:lnTo>
                  <a:lnTo>
                    <a:pt x="47476" y="351043"/>
                  </a:lnTo>
                  <a:lnTo>
                    <a:pt x="80936" y="384490"/>
                  </a:lnTo>
                  <a:lnTo>
                    <a:pt x="121048" y="409982"/>
                  </a:lnTo>
                  <a:lnTo>
                    <a:pt x="166511" y="426225"/>
                  </a:lnTo>
                  <a:lnTo>
                    <a:pt x="216026" y="431926"/>
                  </a:lnTo>
                  <a:lnTo>
                    <a:pt x="265542" y="426225"/>
                  </a:lnTo>
                  <a:lnTo>
                    <a:pt x="311005" y="409982"/>
                  </a:lnTo>
                  <a:lnTo>
                    <a:pt x="351117" y="384490"/>
                  </a:lnTo>
                  <a:lnTo>
                    <a:pt x="384577" y="351043"/>
                  </a:lnTo>
                  <a:lnTo>
                    <a:pt x="410087" y="310934"/>
                  </a:lnTo>
                  <a:lnTo>
                    <a:pt x="426345" y="265455"/>
                  </a:lnTo>
                  <a:lnTo>
                    <a:pt x="432054" y="215900"/>
                  </a:lnTo>
                  <a:lnTo>
                    <a:pt x="426345" y="166391"/>
                  </a:lnTo>
                  <a:lnTo>
                    <a:pt x="410087" y="120946"/>
                  </a:lnTo>
                  <a:lnTo>
                    <a:pt x="384577" y="80859"/>
                  </a:lnTo>
                  <a:lnTo>
                    <a:pt x="351117" y="47426"/>
                  </a:lnTo>
                  <a:lnTo>
                    <a:pt x="311005" y="21941"/>
                  </a:lnTo>
                  <a:lnTo>
                    <a:pt x="265542" y="5701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068066" y="4739513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5900"/>
                  </a:moveTo>
                  <a:lnTo>
                    <a:pt x="5708" y="166391"/>
                  </a:lnTo>
                  <a:lnTo>
                    <a:pt x="21966" y="120946"/>
                  </a:lnTo>
                  <a:lnTo>
                    <a:pt x="47476" y="80859"/>
                  </a:lnTo>
                  <a:lnTo>
                    <a:pt x="80936" y="47426"/>
                  </a:lnTo>
                  <a:lnTo>
                    <a:pt x="121048" y="21941"/>
                  </a:lnTo>
                  <a:lnTo>
                    <a:pt x="166511" y="5701"/>
                  </a:lnTo>
                  <a:lnTo>
                    <a:pt x="216026" y="0"/>
                  </a:lnTo>
                  <a:lnTo>
                    <a:pt x="265542" y="5701"/>
                  </a:lnTo>
                  <a:lnTo>
                    <a:pt x="311005" y="21941"/>
                  </a:lnTo>
                  <a:lnTo>
                    <a:pt x="351117" y="47426"/>
                  </a:lnTo>
                  <a:lnTo>
                    <a:pt x="384577" y="80859"/>
                  </a:lnTo>
                  <a:lnTo>
                    <a:pt x="410087" y="120946"/>
                  </a:lnTo>
                  <a:lnTo>
                    <a:pt x="426345" y="166391"/>
                  </a:lnTo>
                  <a:lnTo>
                    <a:pt x="432054" y="215900"/>
                  </a:lnTo>
                  <a:lnTo>
                    <a:pt x="426345" y="265455"/>
                  </a:lnTo>
                  <a:lnTo>
                    <a:pt x="410087" y="310934"/>
                  </a:lnTo>
                  <a:lnTo>
                    <a:pt x="384577" y="351043"/>
                  </a:lnTo>
                  <a:lnTo>
                    <a:pt x="351117" y="384490"/>
                  </a:lnTo>
                  <a:lnTo>
                    <a:pt x="311005" y="409982"/>
                  </a:lnTo>
                  <a:lnTo>
                    <a:pt x="265542" y="426225"/>
                  </a:lnTo>
                  <a:lnTo>
                    <a:pt x="216026" y="431926"/>
                  </a:lnTo>
                  <a:lnTo>
                    <a:pt x="166511" y="426225"/>
                  </a:lnTo>
                  <a:lnTo>
                    <a:pt x="121048" y="409982"/>
                  </a:lnTo>
                  <a:lnTo>
                    <a:pt x="80936" y="384490"/>
                  </a:lnTo>
                  <a:lnTo>
                    <a:pt x="47476" y="351043"/>
                  </a:lnTo>
                  <a:lnTo>
                    <a:pt x="21966" y="310934"/>
                  </a:lnTo>
                  <a:lnTo>
                    <a:pt x="5708" y="265455"/>
                  </a:lnTo>
                  <a:lnTo>
                    <a:pt x="0" y="215900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3178810" y="4731511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2877121" y="4300156"/>
            <a:ext cx="1141095" cy="1736725"/>
            <a:chOff x="2877121" y="4300156"/>
            <a:chExt cx="1141095" cy="1736725"/>
          </a:xfrm>
        </p:grpSpPr>
        <p:sp>
          <p:nvSpPr>
            <p:cNvPr id="66" name="object 66"/>
            <p:cNvSpPr/>
            <p:nvPr/>
          </p:nvSpPr>
          <p:spPr>
            <a:xfrm>
              <a:off x="2891408" y="4314444"/>
              <a:ext cx="288290" cy="467995"/>
            </a:xfrm>
            <a:custGeom>
              <a:avLst/>
              <a:gdLst/>
              <a:ahLst/>
              <a:cxnLst/>
              <a:rect l="l" t="t" r="r" b="b"/>
              <a:pathLst>
                <a:path w="288289" h="467995">
                  <a:moveTo>
                    <a:pt x="288036" y="467994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571366" y="559029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216027" y="0"/>
                  </a:moveTo>
                  <a:lnTo>
                    <a:pt x="166511" y="5704"/>
                  </a:lnTo>
                  <a:lnTo>
                    <a:pt x="121048" y="21953"/>
                  </a:lnTo>
                  <a:lnTo>
                    <a:pt x="80936" y="47450"/>
                  </a:lnTo>
                  <a:lnTo>
                    <a:pt x="47476" y="80899"/>
                  </a:lnTo>
                  <a:lnTo>
                    <a:pt x="21966" y="121005"/>
                  </a:lnTo>
                  <a:lnTo>
                    <a:pt x="5708" y="166471"/>
                  </a:lnTo>
                  <a:lnTo>
                    <a:pt x="0" y="216001"/>
                  </a:lnTo>
                  <a:lnTo>
                    <a:pt x="5708" y="265527"/>
                  </a:lnTo>
                  <a:lnTo>
                    <a:pt x="21966" y="310989"/>
                  </a:lnTo>
                  <a:lnTo>
                    <a:pt x="47476" y="351093"/>
                  </a:lnTo>
                  <a:lnTo>
                    <a:pt x="80936" y="384541"/>
                  </a:lnTo>
                  <a:lnTo>
                    <a:pt x="121048" y="410037"/>
                  </a:lnTo>
                  <a:lnTo>
                    <a:pt x="166511" y="426286"/>
                  </a:lnTo>
                  <a:lnTo>
                    <a:pt x="216027" y="431990"/>
                  </a:lnTo>
                  <a:lnTo>
                    <a:pt x="265542" y="426286"/>
                  </a:lnTo>
                  <a:lnTo>
                    <a:pt x="311005" y="410037"/>
                  </a:lnTo>
                  <a:lnTo>
                    <a:pt x="351117" y="384541"/>
                  </a:lnTo>
                  <a:lnTo>
                    <a:pt x="384577" y="351093"/>
                  </a:lnTo>
                  <a:lnTo>
                    <a:pt x="410087" y="310989"/>
                  </a:lnTo>
                  <a:lnTo>
                    <a:pt x="426345" y="265527"/>
                  </a:lnTo>
                  <a:lnTo>
                    <a:pt x="432054" y="216001"/>
                  </a:lnTo>
                  <a:lnTo>
                    <a:pt x="426345" y="166471"/>
                  </a:lnTo>
                  <a:lnTo>
                    <a:pt x="410087" y="121005"/>
                  </a:lnTo>
                  <a:lnTo>
                    <a:pt x="384577" y="80899"/>
                  </a:lnTo>
                  <a:lnTo>
                    <a:pt x="351117" y="47450"/>
                  </a:lnTo>
                  <a:lnTo>
                    <a:pt x="311005" y="21953"/>
                  </a:lnTo>
                  <a:lnTo>
                    <a:pt x="265542" y="5704"/>
                  </a:lnTo>
                  <a:lnTo>
                    <a:pt x="216027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571366" y="559029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6001"/>
                  </a:moveTo>
                  <a:lnTo>
                    <a:pt x="5708" y="166471"/>
                  </a:lnTo>
                  <a:lnTo>
                    <a:pt x="21966" y="121005"/>
                  </a:lnTo>
                  <a:lnTo>
                    <a:pt x="47476" y="80899"/>
                  </a:lnTo>
                  <a:lnTo>
                    <a:pt x="80936" y="47450"/>
                  </a:lnTo>
                  <a:lnTo>
                    <a:pt x="121048" y="21953"/>
                  </a:lnTo>
                  <a:lnTo>
                    <a:pt x="166511" y="5704"/>
                  </a:lnTo>
                  <a:lnTo>
                    <a:pt x="216027" y="0"/>
                  </a:lnTo>
                  <a:lnTo>
                    <a:pt x="265542" y="5704"/>
                  </a:lnTo>
                  <a:lnTo>
                    <a:pt x="311005" y="21953"/>
                  </a:lnTo>
                  <a:lnTo>
                    <a:pt x="351117" y="47450"/>
                  </a:lnTo>
                  <a:lnTo>
                    <a:pt x="384577" y="80899"/>
                  </a:lnTo>
                  <a:lnTo>
                    <a:pt x="410087" y="121005"/>
                  </a:lnTo>
                  <a:lnTo>
                    <a:pt x="426345" y="166471"/>
                  </a:lnTo>
                  <a:lnTo>
                    <a:pt x="432054" y="216001"/>
                  </a:lnTo>
                  <a:lnTo>
                    <a:pt x="426345" y="265527"/>
                  </a:lnTo>
                  <a:lnTo>
                    <a:pt x="410087" y="310989"/>
                  </a:lnTo>
                  <a:lnTo>
                    <a:pt x="384577" y="351093"/>
                  </a:lnTo>
                  <a:lnTo>
                    <a:pt x="351117" y="384541"/>
                  </a:lnTo>
                  <a:lnTo>
                    <a:pt x="311005" y="410037"/>
                  </a:lnTo>
                  <a:lnTo>
                    <a:pt x="265542" y="426286"/>
                  </a:lnTo>
                  <a:lnTo>
                    <a:pt x="216027" y="431990"/>
                  </a:lnTo>
                  <a:lnTo>
                    <a:pt x="166511" y="426286"/>
                  </a:lnTo>
                  <a:lnTo>
                    <a:pt x="121048" y="410037"/>
                  </a:lnTo>
                  <a:lnTo>
                    <a:pt x="80936" y="384541"/>
                  </a:lnTo>
                  <a:lnTo>
                    <a:pt x="47476" y="351093"/>
                  </a:lnTo>
                  <a:lnTo>
                    <a:pt x="21966" y="310989"/>
                  </a:lnTo>
                  <a:lnTo>
                    <a:pt x="5708" y="265527"/>
                  </a:lnTo>
                  <a:lnTo>
                    <a:pt x="0" y="216001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3682110" y="5582513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3380422" y="3101530"/>
            <a:ext cx="2348865" cy="2546350"/>
            <a:chOff x="3380422" y="3101530"/>
            <a:chExt cx="2348865" cy="2546350"/>
          </a:xfrm>
        </p:grpSpPr>
        <p:sp>
          <p:nvSpPr>
            <p:cNvPr id="71" name="object 71"/>
            <p:cNvSpPr/>
            <p:nvPr/>
          </p:nvSpPr>
          <p:spPr>
            <a:xfrm>
              <a:off x="3394709" y="3483609"/>
              <a:ext cx="1986914" cy="2150110"/>
            </a:xfrm>
            <a:custGeom>
              <a:avLst/>
              <a:gdLst/>
              <a:ahLst/>
              <a:cxnLst/>
              <a:rect l="l" t="t" r="r" b="b"/>
              <a:pathLst>
                <a:path w="1986914" h="2150110">
                  <a:moveTo>
                    <a:pt x="288036" y="2149652"/>
                  </a:moveTo>
                  <a:lnTo>
                    <a:pt x="0" y="1681607"/>
                  </a:lnTo>
                </a:path>
                <a:path w="1986914" h="2150110">
                  <a:moveTo>
                    <a:pt x="1986406" y="0"/>
                  </a:moveTo>
                  <a:lnTo>
                    <a:pt x="1698370" y="467994"/>
                  </a:lnTo>
                </a:path>
              </a:pathLst>
            </a:custGeom>
            <a:ln w="28575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282437" y="3115817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216026" y="0"/>
                  </a:moveTo>
                  <a:lnTo>
                    <a:pt x="166471" y="5708"/>
                  </a:lnTo>
                  <a:lnTo>
                    <a:pt x="120992" y="21966"/>
                  </a:lnTo>
                  <a:lnTo>
                    <a:pt x="80883" y="47476"/>
                  </a:lnTo>
                  <a:lnTo>
                    <a:pt x="47436" y="80936"/>
                  </a:lnTo>
                  <a:lnTo>
                    <a:pt x="21944" y="121048"/>
                  </a:lnTo>
                  <a:lnTo>
                    <a:pt x="5701" y="166511"/>
                  </a:lnTo>
                  <a:lnTo>
                    <a:pt x="0" y="216027"/>
                  </a:lnTo>
                  <a:lnTo>
                    <a:pt x="5701" y="265542"/>
                  </a:lnTo>
                  <a:lnTo>
                    <a:pt x="21944" y="311005"/>
                  </a:lnTo>
                  <a:lnTo>
                    <a:pt x="47436" y="351117"/>
                  </a:lnTo>
                  <a:lnTo>
                    <a:pt x="80883" y="384577"/>
                  </a:lnTo>
                  <a:lnTo>
                    <a:pt x="120992" y="410087"/>
                  </a:lnTo>
                  <a:lnTo>
                    <a:pt x="166471" y="426345"/>
                  </a:lnTo>
                  <a:lnTo>
                    <a:pt x="216026" y="432054"/>
                  </a:lnTo>
                  <a:lnTo>
                    <a:pt x="265542" y="426345"/>
                  </a:lnTo>
                  <a:lnTo>
                    <a:pt x="311005" y="410087"/>
                  </a:lnTo>
                  <a:lnTo>
                    <a:pt x="351117" y="384577"/>
                  </a:lnTo>
                  <a:lnTo>
                    <a:pt x="384577" y="351117"/>
                  </a:lnTo>
                  <a:lnTo>
                    <a:pt x="410087" y="311005"/>
                  </a:lnTo>
                  <a:lnTo>
                    <a:pt x="426345" y="265542"/>
                  </a:lnTo>
                  <a:lnTo>
                    <a:pt x="432053" y="216027"/>
                  </a:lnTo>
                  <a:lnTo>
                    <a:pt x="426345" y="166511"/>
                  </a:lnTo>
                  <a:lnTo>
                    <a:pt x="410087" y="121048"/>
                  </a:lnTo>
                  <a:lnTo>
                    <a:pt x="384577" y="80936"/>
                  </a:lnTo>
                  <a:lnTo>
                    <a:pt x="351117" y="47476"/>
                  </a:lnTo>
                  <a:lnTo>
                    <a:pt x="311005" y="21966"/>
                  </a:lnTo>
                  <a:lnTo>
                    <a:pt x="265542" y="5708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282437" y="3115817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6027"/>
                  </a:moveTo>
                  <a:lnTo>
                    <a:pt x="5701" y="166511"/>
                  </a:lnTo>
                  <a:lnTo>
                    <a:pt x="21944" y="121048"/>
                  </a:lnTo>
                  <a:lnTo>
                    <a:pt x="47436" y="80936"/>
                  </a:lnTo>
                  <a:lnTo>
                    <a:pt x="80883" y="47476"/>
                  </a:lnTo>
                  <a:lnTo>
                    <a:pt x="120992" y="21966"/>
                  </a:lnTo>
                  <a:lnTo>
                    <a:pt x="166471" y="5708"/>
                  </a:lnTo>
                  <a:lnTo>
                    <a:pt x="216026" y="0"/>
                  </a:lnTo>
                  <a:lnTo>
                    <a:pt x="265542" y="5708"/>
                  </a:lnTo>
                  <a:lnTo>
                    <a:pt x="311005" y="21966"/>
                  </a:lnTo>
                  <a:lnTo>
                    <a:pt x="351117" y="47476"/>
                  </a:lnTo>
                  <a:lnTo>
                    <a:pt x="384577" y="80936"/>
                  </a:lnTo>
                  <a:lnTo>
                    <a:pt x="410087" y="121048"/>
                  </a:lnTo>
                  <a:lnTo>
                    <a:pt x="426345" y="166511"/>
                  </a:lnTo>
                  <a:lnTo>
                    <a:pt x="432053" y="216027"/>
                  </a:lnTo>
                  <a:lnTo>
                    <a:pt x="426345" y="265542"/>
                  </a:lnTo>
                  <a:lnTo>
                    <a:pt x="410087" y="311005"/>
                  </a:lnTo>
                  <a:lnTo>
                    <a:pt x="384577" y="351117"/>
                  </a:lnTo>
                  <a:lnTo>
                    <a:pt x="351117" y="384577"/>
                  </a:lnTo>
                  <a:lnTo>
                    <a:pt x="311005" y="410087"/>
                  </a:lnTo>
                  <a:lnTo>
                    <a:pt x="265542" y="426345"/>
                  </a:lnTo>
                  <a:lnTo>
                    <a:pt x="216026" y="432054"/>
                  </a:lnTo>
                  <a:lnTo>
                    <a:pt x="166471" y="426345"/>
                  </a:lnTo>
                  <a:lnTo>
                    <a:pt x="120992" y="410087"/>
                  </a:lnTo>
                  <a:lnTo>
                    <a:pt x="80883" y="384577"/>
                  </a:lnTo>
                  <a:lnTo>
                    <a:pt x="47436" y="351117"/>
                  </a:lnTo>
                  <a:lnTo>
                    <a:pt x="21944" y="311005"/>
                  </a:lnTo>
                  <a:lnTo>
                    <a:pt x="5701" y="265542"/>
                  </a:lnTo>
                  <a:lnTo>
                    <a:pt x="0" y="216027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5376798" y="3107563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G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4927536" y="5576011"/>
            <a:ext cx="461009" cy="461009"/>
            <a:chOff x="4927536" y="5576011"/>
            <a:chExt cx="461009" cy="461009"/>
          </a:xfrm>
        </p:grpSpPr>
        <p:sp>
          <p:nvSpPr>
            <p:cNvPr id="76" name="object 76"/>
            <p:cNvSpPr/>
            <p:nvPr/>
          </p:nvSpPr>
          <p:spPr>
            <a:xfrm>
              <a:off x="4941823" y="559029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216026" y="0"/>
                  </a:moveTo>
                  <a:lnTo>
                    <a:pt x="166511" y="5704"/>
                  </a:lnTo>
                  <a:lnTo>
                    <a:pt x="121048" y="21953"/>
                  </a:lnTo>
                  <a:lnTo>
                    <a:pt x="80936" y="47450"/>
                  </a:lnTo>
                  <a:lnTo>
                    <a:pt x="47476" y="80899"/>
                  </a:lnTo>
                  <a:lnTo>
                    <a:pt x="21966" y="121005"/>
                  </a:lnTo>
                  <a:lnTo>
                    <a:pt x="5708" y="166471"/>
                  </a:lnTo>
                  <a:lnTo>
                    <a:pt x="0" y="216001"/>
                  </a:lnTo>
                  <a:lnTo>
                    <a:pt x="5708" y="265527"/>
                  </a:lnTo>
                  <a:lnTo>
                    <a:pt x="21966" y="310989"/>
                  </a:lnTo>
                  <a:lnTo>
                    <a:pt x="47476" y="351093"/>
                  </a:lnTo>
                  <a:lnTo>
                    <a:pt x="80936" y="384541"/>
                  </a:lnTo>
                  <a:lnTo>
                    <a:pt x="121048" y="410037"/>
                  </a:lnTo>
                  <a:lnTo>
                    <a:pt x="166511" y="426286"/>
                  </a:lnTo>
                  <a:lnTo>
                    <a:pt x="216026" y="431990"/>
                  </a:lnTo>
                  <a:lnTo>
                    <a:pt x="265582" y="426286"/>
                  </a:lnTo>
                  <a:lnTo>
                    <a:pt x="311061" y="410037"/>
                  </a:lnTo>
                  <a:lnTo>
                    <a:pt x="351170" y="384541"/>
                  </a:lnTo>
                  <a:lnTo>
                    <a:pt x="384617" y="351093"/>
                  </a:lnTo>
                  <a:lnTo>
                    <a:pt x="410109" y="310989"/>
                  </a:lnTo>
                  <a:lnTo>
                    <a:pt x="426352" y="265527"/>
                  </a:lnTo>
                  <a:lnTo>
                    <a:pt x="432053" y="216001"/>
                  </a:lnTo>
                  <a:lnTo>
                    <a:pt x="426352" y="166471"/>
                  </a:lnTo>
                  <a:lnTo>
                    <a:pt x="410109" y="121005"/>
                  </a:lnTo>
                  <a:lnTo>
                    <a:pt x="384617" y="80899"/>
                  </a:lnTo>
                  <a:lnTo>
                    <a:pt x="351170" y="47450"/>
                  </a:lnTo>
                  <a:lnTo>
                    <a:pt x="311061" y="21953"/>
                  </a:lnTo>
                  <a:lnTo>
                    <a:pt x="265582" y="5704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4941823" y="559029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6001"/>
                  </a:moveTo>
                  <a:lnTo>
                    <a:pt x="5708" y="166471"/>
                  </a:lnTo>
                  <a:lnTo>
                    <a:pt x="21966" y="121005"/>
                  </a:lnTo>
                  <a:lnTo>
                    <a:pt x="47476" y="80899"/>
                  </a:lnTo>
                  <a:lnTo>
                    <a:pt x="80936" y="47450"/>
                  </a:lnTo>
                  <a:lnTo>
                    <a:pt x="121048" y="21953"/>
                  </a:lnTo>
                  <a:lnTo>
                    <a:pt x="166511" y="5704"/>
                  </a:lnTo>
                  <a:lnTo>
                    <a:pt x="216026" y="0"/>
                  </a:lnTo>
                  <a:lnTo>
                    <a:pt x="265582" y="5704"/>
                  </a:lnTo>
                  <a:lnTo>
                    <a:pt x="311061" y="21953"/>
                  </a:lnTo>
                  <a:lnTo>
                    <a:pt x="351170" y="47450"/>
                  </a:lnTo>
                  <a:lnTo>
                    <a:pt x="384617" y="80899"/>
                  </a:lnTo>
                  <a:lnTo>
                    <a:pt x="410109" y="121005"/>
                  </a:lnTo>
                  <a:lnTo>
                    <a:pt x="426352" y="166471"/>
                  </a:lnTo>
                  <a:lnTo>
                    <a:pt x="432053" y="216001"/>
                  </a:lnTo>
                  <a:lnTo>
                    <a:pt x="426352" y="265527"/>
                  </a:lnTo>
                  <a:lnTo>
                    <a:pt x="410109" y="310989"/>
                  </a:lnTo>
                  <a:lnTo>
                    <a:pt x="384617" y="351093"/>
                  </a:lnTo>
                  <a:lnTo>
                    <a:pt x="351170" y="384541"/>
                  </a:lnTo>
                  <a:lnTo>
                    <a:pt x="311061" y="410037"/>
                  </a:lnTo>
                  <a:lnTo>
                    <a:pt x="265582" y="426286"/>
                  </a:lnTo>
                  <a:lnTo>
                    <a:pt x="216026" y="431990"/>
                  </a:lnTo>
                  <a:lnTo>
                    <a:pt x="166511" y="426286"/>
                  </a:lnTo>
                  <a:lnTo>
                    <a:pt x="121048" y="410037"/>
                  </a:lnTo>
                  <a:lnTo>
                    <a:pt x="80936" y="384541"/>
                  </a:lnTo>
                  <a:lnTo>
                    <a:pt x="47476" y="351093"/>
                  </a:lnTo>
                  <a:lnTo>
                    <a:pt x="21966" y="310989"/>
                  </a:lnTo>
                  <a:lnTo>
                    <a:pt x="5708" y="265527"/>
                  </a:lnTo>
                  <a:lnTo>
                    <a:pt x="0" y="216001"/>
                  </a:lnTo>
                  <a:close/>
                </a:path>
              </a:pathLst>
            </a:custGeom>
            <a:ln w="28574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5077205" y="5582513"/>
            <a:ext cx="161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J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5344731" y="4721542"/>
            <a:ext cx="461009" cy="461009"/>
            <a:chOff x="5344731" y="4721542"/>
            <a:chExt cx="461009" cy="461009"/>
          </a:xfrm>
        </p:grpSpPr>
        <p:sp>
          <p:nvSpPr>
            <p:cNvPr id="80" name="object 80"/>
            <p:cNvSpPr/>
            <p:nvPr/>
          </p:nvSpPr>
          <p:spPr>
            <a:xfrm>
              <a:off x="5359019" y="4735829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216026" y="0"/>
                  </a:moveTo>
                  <a:lnTo>
                    <a:pt x="166511" y="5701"/>
                  </a:lnTo>
                  <a:lnTo>
                    <a:pt x="121048" y="21944"/>
                  </a:lnTo>
                  <a:lnTo>
                    <a:pt x="80936" y="47436"/>
                  </a:lnTo>
                  <a:lnTo>
                    <a:pt x="47476" y="80883"/>
                  </a:lnTo>
                  <a:lnTo>
                    <a:pt x="21966" y="120992"/>
                  </a:lnTo>
                  <a:lnTo>
                    <a:pt x="5708" y="166471"/>
                  </a:lnTo>
                  <a:lnTo>
                    <a:pt x="0" y="216027"/>
                  </a:lnTo>
                  <a:lnTo>
                    <a:pt x="5708" y="265535"/>
                  </a:lnTo>
                  <a:lnTo>
                    <a:pt x="21966" y="310980"/>
                  </a:lnTo>
                  <a:lnTo>
                    <a:pt x="47476" y="351067"/>
                  </a:lnTo>
                  <a:lnTo>
                    <a:pt x="80936" y="384500"/>
                  </a:lnTo>
                  <a:lnTo>
                    <a:pt x="121048" y="409985"/>
                  </a:lnTo>
                  <a:lnTo>
                    <a:pt x="166511" y="426225"/>
                  </a:lnTo>
                  <a:lnTo>
                    <a:pt x="216026" y="431927"/>
                  </a:lnTo>
                  <a:lnTo>
                    <a:pt x="265542" y="426225"/>
                  </a:lnTo>
                  <a:lnTo>
                    <a:pt x="311005" y="409985"/>
                  </a:lnTo>
                  <a:lnTo>
                    <a:pt x="351117" y="384500"/>
                  </a:lnTo>
                  <a:lnTo>
                    <a:pt x="384577" y="351067"/>
                  </a:lnTo>
                  <a:lnTo>
                    <a:pt x="410087" y="310980"/>
                  </a:lnTo>
                  <a:lnTo>
                    <a:pt x="426345" y="265535"/>
                  </a:lnTo>
                  <a:lnTo>
                    <a:pt x="432053" y="216027"/>
                  </a:lnTo>
                  <a:lnTo>
                    <a:pt x="426345" y="166471"/>
                  </a:lnTo>
                  <a:lnTo>
                    <a:pt x="410087" y="120992"/>
                  </a:lnTo>
                  <a:lnTo>
                    <a:pt x="384577" y="80883"/>
                  </a:lnTo>
                  <a:lnTo>
                    <a:pt x="351117" y="47436"/>
                  </a:lnTo>
                  <a:lnTo>
                    <a:pt x="311005" y="21944"/>
                  </a:lnTo>
                  <a:lnTo>
                    <a:pt x="265542" y="5701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5359019" y="4735829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6027"/>
                  </a:moveTo>
                  <a:lnTo>
                    <a:pt x="5708" y="166471"/>
                  </a:lnTo>
                  <a:lnTo>
                    <a:pt x="21966" y="120992"/>
                  </a:lnTo>
                  <a:lnTo>
                    <a:pt x="47476" y="80883"/>
                  </a:lnTo>
                  <a:lnTo>
                    <a:pt x="80936" y="47436"/>
                  </a:lnTo>
                  <a:lnTo>
                    <a:pt x="121048" y="21944"/>
                  </a:lnTo>
                  <a:lnTo>
                    <a:pt x="166511" y="5701"/>
                  </a:lnTo>
                  <a:lnTo>
                    <a:pt x="216026" y="0"/>
                  </a:lnTo>
                  <a:lnTo>
                    <a:pt x="265542" y="5701"/>
                  </a:lnTo>
                  <a:lnTo>
                    <a:pt x="311005" y="21944"/>
                  </a:lnTo>
                  <a:lnTo>
                    <a:pt x="351117" y="47436"/>
                  </a:lnTo>
                  <a:lnTo>
                    <a:pt x="384577" y="80883"/>
                  </a:lnTo>
                  <a:lnTo>
                    <a:pt x="410087" y="120992"/>
                  </a:lnTo>
                  <a:lnTo>
                    <a:pt x="426345" y="166471"/>
                  </a:lnTo>
                  <a:lnTo>
                    <a:pt x="432053" y="216027"/>
                  </a:lnTo>
                  <a:lnTo>
                    <a:pt x="426345" y="265535"/>
                  </a:lnTo>
                  <a:lnTo>
                    <a:pt x="410087" y="310980"/>
                  </a:lnTo>
                  <a:lnTo>
                    <a:pt x="384577" y="351067"/>
                  </a:lnTo>
                  <a:lnTo>
                    <a:pt x="351117" y="384500"/>
                  </a:lnTo>
                  <a:lnTo>
                    <a:pt x="311005" y="409985"/>
                  </a:lnTo>
                  <a:lnTo>
                    <a:pt x="265542" y="426225"/>
                  </a:lnTo>
                  <a:lnTo>
                    <a:pt x="216026" y="431927"/>
                  </a:lnTo>
                  <a:lnTo>
                    <a:pt x="166511" y="426225"/>
                  </a:lnTo>
                  <a:lnTo>
                    <a:pt x="121048" y="409985"/>
                  </a:lnTo>
                  <a:lnTo>
                    <a:pt x="80936" y="384500"/>
                  </a:lnTo>
                  <a:lnTo>
                    <a:pt x="47476" y="351067"/>
                  </a:lnTo>
                  <a:lnTo>
                    <a:pt x="21966" y="310980"/>
                  </a:lnTo>
                  <a:lnTo>
                    <a:pt x="5708" y="265535"/>
                  </a:lnTo>
                  <a:lnTo>
                    <a:pt x="0" y="216027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5511165" y="4727829"/>
            <a:ext cx="127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4738306" y="3898963"/>
            <a:ext cx="461009" cy="461009"/>
            <a:chOff x="4738306" y="3898963"/>
            <a:chExt cx="461009" cy="461009"/>
          </a:xfrm>
        </p:grpSpPr>
        <p:sp>
          <p:nvSpPr>
            <p:cNvPr id="84" name="object 84"/>
            <p:cNvSpPr/>
            <p:nvPr/>
          </p:nvSpPr>
          <p:spPr>
            <a:xfrm>
              <a:off x="4752594" y="3913251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215900" y="0"/>
                  </a:moveTo>
                  <a:lnTo>
                    <a:pt x="166391" y="5701"/>
                  </a:lnTo>
                  <a:lnTo>
                    <a:pt x="120946" y="21944"/>
                  </a:lnTo>
                  <a:lnTo>
                    <a:pt x="80859" y="47436"/>
                  </a:lnTo>
                  <a:lnTo>
                    <a:pt x="47426" y="80883"/>
                  </a:lnTo>
                  <a:lnTo>
                    <a:pt x="21941" y="120992"/>
                  </a:lnTo>
                  <a:lnTo>
                    <a:pt x="5701" y="166471"/>
                  </a:lnTo>
                  <a:lnTo>
                    <a:pt x="0" y="216026"/>
                  </a:lnTo>
                  <a:lnTo>
                    <a:pt x="5701" y="265542"/>
                  </a:lnTo>
                  <a:lnTo>
                    <a:pt x="21941" y="311005"/>
                  </a:lnTo>
                  <a:lnTo>
                    <a:pt x="47426" y="351117"/>
                  </a:lnTo>
                  <a:lnTo>
                    <a:pt x="80859" y="384577"/>
                  </a:lnTo>
                  <a:lnTo>
                    <a:pt x="120946" y="410087"/>
                  </a:lnTo>
                  <a:lnTo>
                    <a:pt x="166391" y="426345"/>
                  </a:lnTo>
                  <a:lnTo>
                    <a:pt x="215900" y="432054"/>
                  </a:lnTo>
                  <a:lnTo>
                    <a:pt x="265455" y="426345"/>
                  </a:lnTo>
                  <a:lnTo>
                    <a:pt x="310934" y="410087"/>
                  </a:lnTo>
                  <a:lnTo>
                    <a:pt x="351043" y="384577"/>
                  </a:lnTo>
                  <a:lnTo>
                    <a:pt x="384490" y="351117"/>
                  </a:lnTo>
                  <a:lnTo>
                    <a:pt x="409982" y="311005"/>
                  </a:lnTo>
                  <a:lnTo>
                    <a:pt x="426225" y="265542"/>
                  </a:lnTo>
                  <a:lnTo>
                    <a:pt x="431926" y="216026"/>
                  </a:lnTo>
                  <a:lnTo>
                    <a:pt x="426225" y="166471"/>
                  </a:lnTo>
                  <a:lnTo>
                    <a:pt x="409982" y="120992"/>
                  </a:lnTo>
                  <a:lnTo>
                    <a:pt x="384490" y="80883"/>
                  </a:lnTo>
                  <a:lnTo>
                    <a:pt x="351043" y="47436"/>
                  </a:lnTo>
                  <a:lnTo>
                    <a:pt x="310934" y="21944"/>
                  </a:lnTo>
                  <a:lnTo>
                    <a:pt x="265455" y="5701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752594" y="3913251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6026"/>
                  </a:moveTo>
                  <a:lnTo>
                    <a:pt x="5701" y="166471"/>
                  </a:lnTo>
                  <a:lnTo>
                    <a:pt x="21941" y="120992"/>
                  </a:lnTo>
                  <a:lnTo>
                    <a:pt x="47426" y="80883"/>
                  </a:lnTo>
                  <a:lnTo>
                    <a:pt x="80859" y="47436"/>
                  </a:lnTo>
                  <a:lnTo>
                    <a:pt x="120946" y="21944"/>
                  </a:lnTo>
                  <a:lnTo>
                    <a:pt x="166391" y="5701"/>
                  </a:lnTo>
                  <a:lnTo>
                    <a:pt x="215900" y="0"/>
                  </a:lnTo>
                  <a:lnTo>
                    <a:pt x="265455" y="5701"/>
                  </a:lnTo>
                  <a:lnTo>
                    <a:pt x="310934" y="21944"/>
                  </a:lnTo>
                  <a:lnTo>
                    <a:pt x="351043" y="47436"/>
                  </a:lnTo>
                  <a:lnTo>
                    <a:pt x="384490" y="80883"/>
                  </a:lnTo>
                  <a:lnTo>
                    <a:pt x="409982" y="120992"/>
                  </a:lnTo>
                  <a:lnTo>
                    <a:pt x="426225" y="166471"/>
                  </a:lnTo>
                  <a:lnTo>
                    <a:pt x="431926" y="216026"/>
                  </a:lnTo>
                  <a:lnTo>
                    <a:pt x="426225" y="265542"/>
                  </a:lnTo>
                  <a:lnTo>
                    <a:pt x="409982" y="311005"/>
                  </a:lnTo>
                  <a:lnTo>
                    <a:pt x="384490" y="351117"/>
                  </a:lnTo>
                  <a:lnTo>
                    <a:pt x="351043" y="384577"/>
                  </a:lnTo>
                  <a:lnTo>
                    <a:pt x="310934" y="410087"/>
                  </a:lnTo>
                  <a:lnTo>
                    <a:pt x="265455" y="426345"/>
                  </a:lnTo>
                  <a:lnTo>
                    <a:pt x="215900" y="432054"/>
                  </a:lnTo>
                  <a:lnTo>
                    <a:pt x="166391" y="426345"/>
                  </a:lnTo>
                  <a:lnTo>
                    <a:pt x="120946" y="410087"/>
                  </a:lnTo>
                  <a:lnTo>
                    <a:pt x="80859" y="384577"/>
                  </a:lnTo>
                  <a:lnTo>
                    <a:pt x="47426" y="351117"/>
                  </a:lnTo>
                  <a:lnTo>
                    <a:pt x="21941" y="311005"/>
                  </a:lnTo>
                  <a:lnTo>
                    <a:pt x="5701" y="265542"/>
                  </a:lnTo>
                  <a:lnTo>
                    <a:pt x="0" y="216026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4846701" y="3905250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H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629881" y="639952"/>
            <a:ext cx="10380345" cy="5479415"/>
            <a:chOff x="629881" y="639952"/>
            <a:chExt cx="10380345" cy="5479415"/>
          </a:xfrm>
        </p:grpSpPr>
        <p:sp>
          <p:nvSpPr>
            <p:cNvPr id="88" name="object 88"/>
            <p:cNvSpPr/>
            <p:nvPr/>
          </p:nvSpPr>
          <p:spPr>
            <a:xfrm>
              <a:off x="5075681" y="4326000"/>
              <a:ext cx="429259" cy="1289050"/>
            </a:xfrm>
            <a:custGeom>
              <a:avLst/>
              <a:gdLst/>
              <a:ahLst/>
              <a:cxnLst/>
              <a:rect l="l" t="t" r="r" b="b"/>
              <a:pathLst>
                <a:path w="429260" h="1289050">
                  <a:moveTo>
                    <a:pt x="395985" y="428751"/>
                  </a:moveTo>
                  <a:lnTo>
                    <a:pt x="0" y="0"/>
                  </a:lnTo>
                </a:path>
                <a:path w="429260" h="1289050">
                  <a:moveTo>
                    <a:pt x="428751" y="820674"/>
                  </a:moveTo>
                  <a:lnTo>
                    <a:pt x="140715" y="1288707"/>
                  </a:lnTo>
                </a:path>
              </a:pathLst>
            </a:custGeom>
            <a:ln w="28575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636231" y="646302"/>
              <a:ext cx="6100445" cy="5466715"/>
            </a:xfrm>
            <a:custGeom>
              <a:avLst/>
              <a:gdLst/>
              <a:ahLst/>
              <a:cxnLst/>
              <a:rect l="l" t="t" r="r" b="b"/>
              <a:pathLst>
                <a:path w="6100445" h="5466715">
                  <a:moveTo>
                    <a:pt x="1930" y="2340737"/>
                  </a:moveTo>
                  <a:lnTo>
                    <a:pt x="6099835" y="2340737"/>
                  </a:lnTo>
                  <a:lnTo>
                    <a:pt x="6099835" y="0"/>
                  </a:lnTo>
                  <a:lnTo>
                    <a:pt x="1930" y="0"/>
                  </a:lnTo>
                  <a:lnTo>
                    <a:pt x="1930" y="2340737"/>
                  </a:lnTo>
                  <a:close/>
                </a:path>
                <a:path w="6100445" h="5466715">
                  <a:moveTo>
                    <a:pt x="0" y="5466346"/>
                  </a:moveTo>
                  <a:lnTo>
                    <a:pt x="6097905" y="5466346"/>
                  </a:lnTo>
                  <a:lnTo>
                    <a:pt x="6097905" y="2406408"/>
                  </a:lnTo>
                  <a:lnTo>
                    <a:pt x="0" y="2406408"/>
                  </a:lnTo>
                  <a:lnTo>
                    <a:pt x="0" y="5466346"/>
                  </a:lnTo>
                  <a:close/>
                </a:path>
              </a:pathLst>
            </a:custGeom>
            <a:ln w="12700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825752" y="3317239"/>
              <a:ext cx="3448685" cy="0"/>
            </a:xfrm>
            <a:custGeom>
              <a:avLst/>
              <a:gdLst/>
              <a:ahLst/>
              <a:cxnLst/>
              <a:rect l="l" t="t" r="r" b="b"/>
              <a:pathLst>
                <a:path w="3448685">
                  <a:moveTo>
                    <a:pt x="1684655" y="0"/>
                  </a:moveTo>
                  <a:lnTo>
                    <a:pt x="3448685" y="0"/>
                  </a:lnTo>
                </a:path>
                <a:path w="3448685">
                  <a:moveTo>
                    <a:pt x="0" y="0"/>
                  </a:moveTo>
                  <a:lnTo>
                    <a:pt x="1224026" y="0"/>
                  </a:lnTo>
                </a:path>
              </a:pathLst>
            </a:custGeom>
            <a:ln w="28575">
              <a:solidFill>
                <a:srgbClr val="B42C2C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086600" y="653808"/>
              <a:ext cx="3916679" cy="5459095"/>
            </a:xfrm>
            <a:custGeom>
              <a:avLst/>
              <a:gdLst/>
              <a:ahLst/>
              <a:cxnLst/>
              <a:rect l="l" t="t" r="r" b="b"/>
              <a:pathLst>
                <a:path w="3916679" h="5459095">
                  <a:moveTo>
                    <a:pt x="0" y="5458841"/>
                  </a:moveTo>
                  <a:lnTo>
                    <a:pt x="3916679" y="5458841"/>
                  </a:lnTo>
                  <a:lnTo>
                    <a:pt x="3916679" y="0"/>
                  </a:lnTo>
                  <a:lnTo>
                    <a:pt x="0" y="0"/>
                  </a:lnTo>
                  <a:lnTo>
                    <a:pt x="0" y="5458841"/>
                  </a:lnTo>
                  <a:close/>
                </a:path>
              </a:pathLst>
            </a:custGeom>
            <a:ln w="12700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8378698" y="943482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216026" y="0"/>
                  </a:moveTo>
                  <a:lnTo>
                    <a:pt x="166511" y="5708"/>
                  </a:lnTo>
                  <a:lnTo>
                    <a:pt x="121048" y="21966"/>
                  </a:lnTo>
                  <a:lnTo>
                    <a:pt x="80936" y="47476"/>
                  </a:lnTo>
                  <a:lnTo>
                    <a:pt x="47476" y="80936"/>
                  </a:lnTo>
                  <a:lnTo>
                    <a:pt x="21966" y="121048"/>
                  </a:lnTo>
                  <a:lnTo>
                    <a:pt x="5708" y="166511"/>
                  </a:lnTo>
                  <a:lnTo>
                    <a:pt x="0" y="216026"/>
                  </a:lnTo>
                  <a:lnTo>
                    <a:pt x="5708" y="265542"/>
                  </a:lnTo>
                  <a:lnTo>
                    <a:pt x="21966" y="311005"/>
                  </a:lnTo>
                  <a:lnTo>
                    <a:pt x="47476" y="351117"/>
                  </a:lnTo>
                  <a:lnTo>
                    <a:pt x="80936" y="384577"/>
                  </a:lnTo>
                  <a:lnTo>
                    <a:pt x="121048" y="410087"/>
                  </a:lnTo>
                  <a:lnTo>
                    <a:pt x="166511" y="426345"/>
                  </a:lnTo>
                  <a:lnTo>
                    <a:pt x="216026" y="432053"/>
                  </a:lnTo>
                  <a:lnTo>
                    <a:pt x="265542" y="426345"/>
                  </a:lnTo>
                  <a:lnTo>
                    <a:pt x="311005" y="410087"/>
                  </a:lnTo>
                  <a:lnTo>
                    <a:pt x="351117" y="384577"/>
                  </a:lnTo>
                  <a:lnTo>
                    <a:pt x="384577" y="351117"/>
                  </a:lnTo>
                  <a:lnTo>
                    <a:pt x="410087" y="311005"/>
                  </a:lnTo>
                  <a:lnTo>
                    <a:pt x="426345" y="265542"/>
                  </a:lnTo>
                  <a:lnTo>
                    <a:pt x="432053" y="216026"/>
                  </a:lnTo>
                  <a:lnTo>
                    <a:pt x="426345" y="166511"/>
                  </a:lnTo>
                  <a:lnTo>
                    <a:pt x="410087" y="121048"/>
                  </a:lnTo>
                  <a:lnTo>
                    <a:pt x="384577" y="80936"/>
                  </a:lnTo>
                  <a:lnTo>
                    <a:pt x="351117" y="47476"/>
                  </a:lnTo>
                  <a:lnTo>
                    <a:pt x="311005" y="21966"/>
                  </a:lnTo>
                  <a:lnTo>
                    <a:pt x="265542" y="5708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8378698" y="943482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6026"/>
                  </a:moveTo>
                  <a:lnTo>
                    <a:pt x="5708" y="166511"/>
                  </a:lnTo>
                  <a:lnTo>
                    <a:pt x="21966" y="121048"/>
                  </a:lnTo>
                  <a:lnTo>
                    <a:pt x="47476" y="80936"/>
                  </a:lnTo>
                  <a:lnTo>
                    <a:pt x="80936" y="47476"/>
                  </a:lnTo>
                  <a:lnTo>
                    <a:pt x="121048" y="21966"/>
                  </a:lnTo>
                  <a:lnTo>
                    <a:pt x="166511" y="5708"/>
                  </a:lnTo>
                  <a:lnTo>
                    <a:pt x="216026" y="0"/>
                  </a:lnTo>
                  <a:lnTo>
                    <a:pt x="265542" y="5708"/>
                  </a:lnTo>
                  <a:lnTo>
                    <a:pt x="311005" y="21966"/>
                  </a:lnTo>
                  <a:lnTo>
                    <a:pt x="351117" y="47476"/>
                  </a:lnTo>
                  <a:lnTo>
                    <a:pt x="384577" y="80936"/>
                  </a:lnTo>
                  <a:lnTo>
                    <a:pt x="410087" y="121048"/>
                  </a:lnTo>
                  <a:lnTo>
                    <a:pt x="426345" y="166511"/>
                  </a:lnTo>
                  <a:lnTo>
                    <a:pt x="432053" y="216026"/>
                  </a:lnTo>
                  <a:lnTo>
                    <a:pt x="426345" y="265542"/>
                  </a:lnTo>
                  <a:lnTo>
                    <a:pt x="410087" y="311005"/>
                  </a:lnTo>
                  <a:lnTo>
                    <a:pt x="384577" y="351117"/>
                  </a:lnTo>
                  <a:lnTo>
                    <a:pt x="351117" y="384577"/>
                  </a:lnTo>
                  <a:lnTo>
                    <a:pt x="311005" y="410087"/>
                  </a:lnTo>
                  <a:lnTo>
                    <a:pt x="265542" y="426345"/>
                  </a:lnTo>
                  <a:lnTo>
                    <a:pt x="216026" y="432053"/>
                  </a:lnTo>
                  <a:lnTo>
                    <a:pt x="166511" y="426345"/>
                  </a:lnTo>
                  <a:lnTo>
                    <a:pt x="121048" y="410087"/>
                  </a:lnTo>
                  <a:lnTo>
                    <a:pt x="80936" y="384577"/>
                  </a:lnTo>
                  <a:lnTo>
                    <a:pt x="47476" y="351117"/>
                  </a:lnTo>
                  <a:lnTo>
                    <a:pt x="21966" y="311005"/>
                  </a:lnTo>
                  <a:lnTo>
                    <a:pt x="5708" y="265542"/>
                  </a:lnTo>
                  <a:lnTo>
                    <a:pt x="0" y="216026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8489950" y="934973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7636065" y="1315529"/>
            <a:ext cx="870585" cy="905510"/>
            <a:chOff x="7636065" y="1315529"/>
            <a:chExt cx="870585" cy="905510"/>
          </a:xfrm>
        </p:grpSpPr>
        <p:sp>
          <p:nvSpPr>
            <p:cNvPr id="96" name="object 96"/>
            <p:cNvSpPr/>
            <p:nvPr/>
          </p:nvSpPr>
          <p:spPr>
            <a:xfrm>
              <a:off x="8021320" y="1329816"/>
              <a:ext cx="471170" cy="513080"/>
            </a:xfrm>
            <a:custGeom>
              <a:avLst/>
              <a:gdLst/>
              <a:ahLst/>
              <a:cxnLst/>
              <a:rect l="l" t="t" r="r" b="b"/>
              <a:pathLst>
                <a:path w="471170" h="513080">
                  <a:moveTo>
                    <a:pt x="470915" y="0"/>
                  </a:moveTo>
                  <a:lnTo>
                    <a:pt x="0" y="513080"/>
                  </a:lnTo>
                </a:path>
              </a:pathLst>
            </a:custGeom>
            <a:ln w="28575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7650353" y="1774570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216026" y="0"/>
                  </a:moveTo>
                  <a:lnTo>
                    <a:pt x="166471" y="5708"/>
                  </a:lnTo>
                  <a:lnTo>
                    <a:pt x="120992" y="21966"/>
                  </a:lnTo>
                  <a:lnTo>
                    <a:pt x="80883" y="47476"/>
                  </a:lnTo>
                  <a:lnTo>
                    <a:pt x="47436" y="80936"/>
                  </a:lnTo>
                  <a:lnTo>
                    <a:pt x="21944" y="121048"/>
                  </a:lnTo>
                  <a:lnTo>
                    <a:pt x="5701" y="166511"/>
                  </a:lnTo>
                  <a:lnTo>
                    <a:pt x="0" y="216026"/>
                  </a:lnTo>
                  <a:lnTo>
                    <a:pt x="5701" y="265542"/>
                  </a:lnTo>
                  <a:lnTo>
                    <a:pt x="21944" y="311005"/>
                  </a:lnTo>
                  <a:lnTo>
                    <a:pt x="47436" y="351117"/>
                  </a:lnTo>
                  <a:lnTo>
                    <a:pt x="80883" y="384577"/>
                  </a:lnTo>
                  <a:lnTo>
                    <a:pt x="120992" y="410087"/>
                  </a:lnTo>
                  <a:lnTo>
                    <a:pt x="166471" y="426345"/>
                  </a:lnTo>
                  <a:lnTo>
                    <a:pt x="216026" y="432053"/>
                  </a:lnTo>
                  <a:lnTo>
                    <a:pt x="265535" y="426345"/>
                  </a:lnTo>
                  <a:lnTo>
                    <a:pt x="310980" y="410087"/>
                  </a:lnTo>
                  <a:lnTo>
                    <a:pt x="351067" y="384577"/>
                  </a:lnTo>
                  <a:lnTo>
                    <a:pt x="384500" y="351117"/>
                  </a:lnTo>
                  <a:lnTo>
                    <a:pt x="409985" y="311005"/>
                  </a:lnTo>
                  <a:lnTo>
                    <a:pt x="426225" y="265542"/>
                  </a:lnTo>
                  <a:lnTo>
                    <a:pt x="431926" y="216026"/>
                  </a:lnTo>
                  <a:lnTo>
                    <a:pt x="426225" y="166511"/>
                  </a:lnTo>
                  <a:lnTo>
                    <a:pt x="409985" y="121048"/>
                  </a:lnTo>
                  <a:lnTo>
                    <a:pt x="384500" y="80936"/>
                  </a:lnTo>
                  <a:lnTo>
                    <a:pt x="351067" y="47476"/>
                  </a:lnTo>
                  <a:lnTo>
                    <a:pt x="310980" y="21966"/>
                  </a:lnTo>
                  <a:lnTo>
                    <a:pt x="265535" y="5708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7650353" y="1774570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0" y="216026"/>
                  </a:moveTo>
                  <a:lnTo>
                    <a:pt x="5701" y="166511"/>
                  </a:lnTo>
                  <a:lnTo>
                    <a:pt x="21944" y="121048"/>
                  </a:lnTo>
                  <a:lnTo>
                    <a:pt x="47436" y="80936"/>
                  </a:lnTo>
                  <a:lnTo>
                    <a:pt x="80883" y="47476"/>
                  </a:lnTo>
                  <a:lnTo>
                    <a:pt x="120992" y="21966"/>
                  </a:lnTo>
                  <a:lnTo>
                    <a:pt x="166471" y="5708"/>
                  </a:lnTo>
                  <a:lnTo>
                    <a:pt x="216026" y="0"/>
                  </a:lnTo>
                  <a:lnTo>
                    <a:pt x="265535" y="5708"/>
                  </a:lnTo>
                  <a:lnTo>
                    <a:pt x="310980" y="21966"/>
                  </a:lnTo>
                  <a:lnTo>
                    <a:pt x="351067" y="47476"/>
                  </a:lnTo>
                  <a:lnTo>
                    <a:pt x="384500" y="80936"/>
                  </a:lnTo>
                  <a:lnTo>
                    <a:pt x="409985" y="121048"/>
                  </a:lnTo>
                  <a:lnTo>
                    <a:pt x="426225" y="166511"/>
                  </a:lnTo>
                  <a:lnTo>
                    <a:pt x="431926" y="216026"/>
                  </a:lnTo>
                  <a:lnTo>
                    <a:pt x="426225" y="265542"/>
                  </a:lnTo>
                  <a:lnTo>
                    <a:pt x="409985" y="311005"/>
                  </a:lnTo>
                  <a:lnTo>
                    <a:pt x="384500" y="351117"/>
                  </a:lnTo>
                  <a:lnTo>
                    <a:pt x="351067" y="384577"/>
                  </a:lnTo>
                  <a:lnTo>
                    <a:pt x="310980" y="410087"/>
                  </a:lnTo>
                  <a:lnTo>
                    <a:pt x="265535" y="426345"/>
                  </a:lnTo>
                  <a:lnTo>
                    <a:pt x="216026" y="432053"/>
                  </a:lnTo>
                  <a:lnTo>
                    <a:pt x="166471" y="426345"/>
                  </a:lnTo>
                  <a:lnTo>
                    <a:pt x="120992" y="410087"/>
                  </a:lnTo>
                  <a:lnTo>
                    <a:pt x="80883" y="384577"/>
                  </a:lnTo>
                  <a:lnTo>
                    <a:pt x="47436" y="351117"/>
                  </a:lnTo>
                  <a:lnTo>
                    <a:pt x="21944" y="311005"/>
                  </a:lnTo>
                  <a:lnTo>
                    <a:pt x="5701" y="265542"/>
                  </a:lnTo>
                  <a:lnTo>
                    <a:pt x="0" y="216026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9" name="object 99"/>
          <p:cNvSpPr txBox="1"/>
          <p:nvPr/>
        </p:nvSpPr>
        <p:spPr>
          <a:xfrm>
            <a:off x="7761478" y="1766061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00" name="object 100"/>
          <p:cNvGrpSpPr/>
          <p:nvPr/>
        </p:nvGrpSpPr>
        <p:grpSpPr>
          <a:xfrm>
            <a:off x="9054655" y="1792795"/>
            <a:ext cx="461009" cy="461009"/>
            <a:chOff x="9054655" y="1792795"/>
            <a:chExt cx="461009" cy="461009"/>
          </a:xfrm>
        </p:grpSpPr>
        <p:sp>
          <p:nvSpPr>
            <p:cNvPr id="101" name="object 101"/>
            <p:cNvSpPr/>
            <p:nvPr/>
          </p:nvSpPr>
          <p:spPr>
            <a:xfrm>
              <a:off x="9068943" y="1807082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215900" y="0"/>
                  </a:moveTo>
                  <a:lnTo>
                    <a:pt x="166391" y="5701"/>
                  </a:lnTo>
                  <a:lnTo>
                    <a:pt x="120946" y="21941"/>
                  </a:lnTo>
                  <a:lnTo>
                    <a:pt x="80859" y="47426"/>
                  </a:lnTo>
                  <a:lnTo>
                    <a:pt x="47426" y="80859"/>
                  </a:lnTo>
                  <a:lnTo>
                    <a:pt x="21941" y="120946"/>
                  </a:lnTo>
                  <a:lnTo>
                    <a:pt x="5701" y="166391"/>
                  </a:lnTo>
                  <a:lnTo>
                    <a:pt x="0" y="215900"/>
                  </a:lnTo>
                  <a:lnTo>
                    <a:pt x="5701" y="265455"/>
                  </a:lnTo>
                  <a:lnTo>
                    <a:pt x="21941" y="310934"/>
                  </a:lnTo>
                  <a:lnTo>
                    <a:pt x="47426" y="351043"/>
                  </a:lnTo>
                  <a:lnTo>
                    <a:pt x="80859" y="384490"/>
                  </a:lnTo>
                  <a:lnTo>
                    <a:pt x="120946" y="409982"/>
                  </a:lnTo>
                  <a:lnTo>
                    <a:pt x="166391" y="426225"/>
                  </a:lnTo>
                  <a:lnTo>
                    <a:pt x="215900" y="431926"/>
                  </a:lnTo>
                  <a:lnTo>
                    <a:pt x="265455" y="426225"/>
                  </a:lnTo>
                  <a:lnTo>
                    <a:pt x="310934" y="409982"/>
                  </a:lnTo>
                  <a:lnTo>
                    <a:pt x="351043" y="384490"/>
                  </a:lnTo>
                  <a:lnTo>
                    <a:pt x="384490" y="351043"/>
                  </a:lnTo>
                  <a:lnTo>
                    <a:pt x="409982" y="310934"/>
                  </a:lnTo>
                  <a:lnTo>
                    <a:pt x="426225" y="265455"/>
                  </a:lnTo>
                  <a:lnTo>
                    <a:pt x="431926" y="215900"/>
                  </a:lnTo>
                  <a:lnTo>
                    <a:pt x="426225" y="166391"/>
                  </a:lnTo>
                  <a:lnTo>
                    <a:pt x="409982" y="120946"/>
                  </a:lnTo>
                  <a:lnTo>
                    <a:pt x="384490" y="80859"/>
                  </a:lnTo>
                  <a:lnTo>
                    <a:pt x="351043" y="47426"/>
                  </a:lnTo>
                  <a:lnTo>
                    <a:pt x="310934" y="21941"/>
                  </a:lnTo>
                  <a:lnTo>
                    <a:pt x="265455" y="5701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9068943" y="1807082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0" y="215900"/>
                  </a:moveTo>
                  <a:lnTo>
                    <a:pt x="5701" y="166391"/>
                  </a:lnTo>
                  <a:lnTo>
                    <a:pt x="21941" y="120946"/>
                  </a:lnTo>
                  <a:lnTo>
                    <a:pt x="47426" y="80859"/>
                  </a:lnTo>
                  <a:lnTo>
                    <a:pt x="80859" y="47426"/>
                  </a:lnTo>
                  <a:lnTo>
                    <a:pt x="120946" y="21941"/>
                  </a:lnTo>
                  <a:lnTo>
                    <a:pt x="166391" y="5701"/>
                  </a:lnTo>
                  <a:lnTo>
                    <a:pt x="215900" y="0"/>
                  </a:lnTo>
                  <a:lnTo>
                    <a:pt x="265455" y="5701"/>
                  </a:lnTo>
                  <a:lnTo>
                    <a:pt x="310934" y="21941"/>
                  </a:lnTo>
                  <a:lnTo>
                    <a:pt x="351043" y="47426"/>
                  </a:lnTo>
                  <a:lnTo>
                    <a:pt x="384490" y="80859"/>
                  </a:lnTo>
                  <a:lnTo>
                    <a:pt x="409982" y="120946"/>
                  </a:lnTo>
                  <a:lnTo>
                    <a:pt x="426225" y="166391"/>
                  </a:lnTo>
                  <a:lnTo>
                    <a:pt x="431926" y="215900"/>
                  </a:lnTo>
                  <a:lnTo>
                    <a:pt x="426225" y="265455"/>
                  </a:lnTo>
                  <a:lnTo>
                    <a:pt x="409982" y="310934"/>
                  </a:lnTo>
                  <a:lnTo>
                    <a:pt x="384490" y="351043"/>
                  </a:lnTo>
                  <a:lnTo>
                    <a:pt x="351043" y="384490"/>
                  </a:lnTo>
                  <a:lnTo>
                    <a:pt x="310934" y="409982"/>
                  </a:lnTo>
                  <a:lnTo>
                    <a:pt x="265455" y="426225"/>
                  </a:lnTo>
                  <a:lnTo>
                    <a:pt x="215900" y="431926"/>
                  </a:lnTo>
                  <a:lnTo>
                    <a:pt x="166391" y="426225"/>
                  </a:lnTo>
                  <a:lnTo>
                    <a:pt x="120946" y="409982"/>
                  </a:lnTo>
                  <a:lnTo>
                    <a:pt x="80859" y="384490"/>
                  </a:lnTo>
                  <a:lnTo>
                    <a:pt x="47426" y="351043"/>
                  </a:lnTo>
                  <a:lnTo>
                    <a:pt x="21941" y="310934"/>
                  </a:lnTo>
                  <a:lnTo>
                    <a:pt x="5701" y="265455"/>
                  </a:lnTo>
                  <a:lnTo>
                    <a:pt x="0" y="215900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3" name="object 103"/>
          <p:cNvSpPr txBox="1"/>
          <p:nvPr/>
        </p:nvSpPr>
        <p:spPr>
          <a:xfrm>
            <a:off x="9171178" y="1798396"/>
            <a:ext cx="2292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04" name="object 104"/>
          <p:cNvGrpSpPr/>
          <p:nvPr/>
        </p:nvGrpSpPr>
        <p:grpSpPr>
          <a:xfrm>
            <a:off x="8450135" y="2199322"/>
            <a:ext cx="755650" cy="890269"/>
            <a:chOff x="8450135" y="2199322"/>
            <a:chExt cx="755650" cy="890269"/>
          </a:xfrm>
        </p:grpSpPr>
        <p:sp>
          <p:nvSpPr>
            <p:cNvPr id="105" name="object 105"/>
            <p:cNvSpPr/>
            <p:nvPr/>
          </p:nvSpPr>
          <p:spPr>
            <a:xfrm>
              <a:off x="8795511" y="2213610"/>
              <a:ext cx="396240" cy="467995"/>
            </a:xfrm>
            <a:custGeom>
              <a:avLst/>
              <a:gdLst/>
              <a:ahLst/>
              <a:cxnLst/>
              <a:rect l="l" t="t" r="r" b="b"/>
              <a:pathLst>
                <a:path w="396240" h="467994">
                  <a:moveTo>
                    <a:pt x="395986" y="0"/>
                  </a:moveTo>
                  <a:lnTo>
                    <a:pt x="0" y="467994"/>
                  </a:lnTo>
                </a:path>
              </a:pathLst>
            </a:custGeom>
            <a:ln w="28575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464422" y="2643251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216026" y="0"/>
                  </a:moveTo>
                  <a:lnTo>
                    <a:pt x="166471" y="5701"/>
                  </a:lnTo>
                  <a:lnTo>
                    <a:pt x="120992" y="21944"/>
                  </a:lnTo>
                  <a:lnTo>
                    <a:pt x="80883" y="47436"/>
                  </a:lnTo>
                  <a:lnTo>
                    <a:pt x="47436" y="80883"/>
                  </a:lnTo>
                  <a:lnTo>
                    <a:pt x="21944" y="120992"/>
                  </a:lnTo>
                  <a:lnTo>
                    <a:pt x="5701" y="166471"/>
                  </a:lnTo>
                  <a:lnTo>
                    <a:pt x="0" y="216026"/>
                  </a:lnTo>
                  <a:lnTo>
                    <a:pt x="5701" y="265535"/>
                  </a:lnTo>
                  <a:lnTo>
                    <a:pt x="21944" y="310980"/>
                  </a:lnTo>
                  <a:lnTo>
                    <a:pt x="47436" y="351067"/>
                  </a:lnTo>
                  <a:lnTo>
                    <a:pt x="80883" y="384500"/>
                  </a:lnTo>
                  <a:lnTo>
                    <a:pt x="120992" y="409985"/>
                  </a:lnTo>
                  <a:lnTo>
                    <a:pt x="166471" y="426225"/>
                  </a:lnTo>
                  <a:lnTo>
                    <a:pt x="216026" y="431926"/>
                  </a:lnTo>
                  <a:lnTo>
                    <a:pt x="265535" y="426225"/>
                  </a:lnTo>
                  <a:lnTo>
                    <a:pt x="310980" y="409985"/>
                  </a:lnTo>
                  <a:lnTo>
                    <a:pt x="351067" y="384500"/>
                  </a:lnTo>
                  <a:lnTo>
                    <a:pt x="384500" y="351067"/>
                  </a:lnTo>
                  <a:lnTo>
                    <a:pt x="409985" y="310980"/>
                  </a:lnTo>
                  <a:lnTo>
                    <a:pt x="426225" y="265535"/>
                  </a:lnTo>
                  <a:lnTo>
                    <a:pt x="431926" y="216026"/>
                  </a:lnTo>
                  <a:lnTo>
                    <a:pt x="426225" y="166471"/>
                  </a:lnTo>
                  <a:lnTo>
                    <a:pt x="409985" y="120992"/>
                  </a:lnTo>
                  <a:lnTo>
                    <a:pt x="384500" y="80883"/>
                  </a:lnTo>
                  <a:lnTo>
                    <a:pt x="351067" y="47436"/>
                  </a:lnTo>
                  <a:lnTo>
                    <a:pt x="310980" y="21944"/>
                  </a:lnTo>
                  <a:lnTo>
                    <a:pt x="265535" y="5701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8464422" y="2643251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0" y="216026"/>
                  </a:moveTo>
                  <a:lnTo>
                    <a:pt x="5701" y="166471"/>
                  </a:lnTo>
                  <a:lnTo>
                    <a:pt x="21944" y="120992"/>
                  </a:lnTo>
                  <a:lnTo>
                    <a:pt x="47436" y="80883"/>
                  </a:lnTo>
                  <a:lnTo>
                    <a:pt x="80883" y="47436"/>
                  </a:lnTo>
                  <a:lnTo>
                    <a:pt x="120992" y="21944"/>
                  </a:lnTo>
                  <a:lnTo>
                    <a:pt x="166471" y="5701"/>
                  </a:lnTo>
                  <a:lnTo>
                    <a:pt x="216026" y="0"/>
                  </a:lnTo>
                  <a:lnTo>
                    <a:pt x="265535" y="5701"/>
                  </a:lnTo>
                  <a:lnTo>
                    <a:pt x="310980" y="21944"/>
                  </a:lnTo>
                  <a:lnTo>
                    <a:pt x="351067" y="47436"/>
                  </a:lnTo>
                  <a:lnTo>
                    <a:pt x="384500" y="80883"/>
                  </a:lnTo>
                  <a:lnTo>
                    <a:pt x="409985" y="120992"/>
                  </a:lnTo>
                  <a:lnTo>
                    <a:pt x="426225" y="166471"/>
                  </a:lnTo>
                  <a:lnTo>
                    <a:pt x="431926" y="216026"/>
                  </a:lnTo>
                  <a:lnTo>
                    <a:pt x="426225" y="265535"/>
                  </a:lnTo>
                  <a:lnTo>
                    <a:pt x="409985" y="310980"/>
                  </a:lnTo>
                  <a:lnTo>
                    <a:pt x="384500" y="351067"/>
                  </a:lnTo>
                  <a:lnTo>
                    <a:pt x="351067" y="384500"/>
                  </a:lnTo>
                  <a:lnTo>
                    <a:pt x="310980" y="409985"/>
                  </a:lnTo>
                  <a:lnTo>
                    <a:pt x="265535" y="426225"/>
                  </a:lnTo>
                  <a:lnTo>
                    <a:pt x="216026" y="431926"/>
                  </a:lnTo>
                  <a:lnTo>
                    <a:pt x="166471" y="426225"/>
                  </a:lnTo>
                  <a:lnTo>
                    <a:pt x="120992" y="409985"/>
                  </a:lnTo>
                  <a:lnTo>
                    <a:pt x="80883" y="384500"/>
                  </a:lnTo>
                  <a:lnTo>
                    <a:pt x="47436" y="351067"/>
                  </a:lnTo>
                  <a:lnTo>
                    <a:pt x="21944" y="310980"/>
                  </a:lnTo>
                  <a:lnTo>
                    <a:pt x="5701" y="265535"/>
                  </a:lnTo>
                  <a:lnTo>
                    <a:pt x="0" y="216026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8" name="object 108"/>
          <p:cNvSpPr txBox="1"/>
          <p:nvPr/>
        </p:nvSpPr>
        <p:spPr>
          <a:xfrm>
            <a:off x="8558910" y="2634741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09" name="object 109"/>
          <p:cNvGrpSpPr/>
          <p:nvPr/>
        </p:nvGrpSpPr>
        <p:grpSpPr>
          <a:xfrm>
            <a:off x="8760142" y="3021774"/>
            <a:ext cx="805815" cy="1706245"/>
            <a:chOff x="8760142" y="3021774"/>
            <a:chExt cx="805815" cy="1706245"/>
          </a:xfrm>
        </p:grpSpPr>
        <p:sp>
          <p:nvSpPr>
            <p:cNvPr id="110" name="object 110"/>
            <p:cNvSpPr/>
            <p:nvPr/>
          </p:nvSpPr>
          <p:spPr>
            <a:xfrm>
              <a:off x="8814054" y="3461130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216026" y="0"/>
                  </a:moveTo>
                  <a:lnTo>
                    <a:pt x="166471" y="5708"/>
                  </a:lnTo>
                  <a:lnTo>
                    <a:pt x="120992" y="21966"/>
                  </a:lnTo>
                  <a:lnTo>
                    <a:pt x="80883" y="47476"/>
                  </a:lnTo>
                  <a:lnTo>
                    <a:pt x="47436" y="80936"/>
                  </a:lnTo>
                  <a:lnTo>
                    <a:pt x="21944" y="121048"/>
                  </a:lnTo>
                  <a:lnTo>
                    <a:pt x="5701" y="166511"/>
                  </a:lnTo>
                  <a:lnTo>
                    <a:pt x="0" y="216027"/>
                  </a:lnTo>
                  <a:lnTo>
                    <a:pt x="5701" y="265542"/>
                  </a:lnTo>
                  <a:lnTo>
                    <a:pt x="21944" y="311005"/>
                  </a:lnTo>
                  <a:lnTo>
                    <a:pt x="47436" y="351117"/>
                  </a:lnTo>
                  <a:lnTo>
                    <a:pt x="80883" y="384577"/>
                  </a:lnTo>
                  <a:lnTo>
                    <a:pt x="120992" y="410087"/>
                  </a:lnTo>
                  <a:lnTo>
                    <a:pt x="166471" y="426345"/>
                  </a:lnTo>
                  <a:lnTo>
                    <a:pt x="216026" y="432054"/>
                  </a:lnTo>
                  <a:lnTo>
                    <a:pt x="265535" y="426345"/>
                  </a:lnTo>
                  <a:lnTo>
                    <a:pt x="310980" y="410087"/>
                  </a:lnTo>
                  <a:lnTo>
                    <a:pt x="351067" y="384577"/>
                  </a:lnTo>
                  <a:lnTo>
                    <a:pt x="384500" y="351117"/>
                  </a:lnTo>
                  <a:lnTo>
                    <a:pt x="409985" y="311005"/>
                  </a:lnTo>
                  <a:lnTo>
                    <a:pt x="426225" y="265542"/>
                  </a:lnTo>
                  <a:lnTo>
                    <a:pt x="431926" y="216027"/>
                  </a:lnTo>
                  <a:lnTo>
                    <a:pt x="426225" y="166511"/>
                  </a:lnTo>
                  <a:lnTo>
                    <a:pt x="409985" y="121048"/>
                  </a:lnTo>
                  <a:lnTo>
                    <a:pt x="384500" y="80936"/>
                  </a:lnTo>
                  <a:lnTo>
                    <a:pt x="351067" y="47476"/>
                  </a:lnTo>
                  <a:lnTo>
                    <a:pt x="310980" y="21966"/>
                  </a:lnTo>
                  <a:lnTo>
                    <a:pt x="265535" y="5708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8814054" y="3461130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0" y="216027"/>
                  </a:moveTo>
                  <a:lnTo>
                    <a:pt x="5701" y="166511"/>
                  </a:lnTo>
                  <a:lnTo>
                    <a:pt x="21944" y="121048"/>
                  </a:lnTo>
                  <a:lnTo>
                    <a:pt x="47436" y="80936"/>
                  </a:lnTo>
                  <a:lnTo>
                    <a:pt x="80883" y="47476"/>
                  </a:lnTo>
                  <a:lnTo>
                    <a:pt x="120992" y="21966"/>
                  </a:lnTo>
                  <a:lnTo>
                    <a:pt x="166471" y="5708"/>
                  </a:lnTo>
                  <a:lnTo>
                    <a:pt x="216026" y="0"/>
                  </a:lnTo>
                  <a:lnTo>
                    <a:pt x="265535" y="5708"/>
                  </a:lnTo>
                  <a:lnTo>
                    <a:pt x="310980" y="21966"/>
                  </a:lnTo>
                  <a:lnTo>
                    <a:pt x="351067" y="47476"/>
                  </a:lnTo>
                  <a:lnTo>
                    <a:pt x="384500" y="80936"/>
                  </a:lnTo>
                  <a:lnTo>
                    <a:pt x="409985" y="121048"/>
                  </a:lnTo>
                  <a:lnTo>
                    <a:pt x="426225" y="166511"/>
                  </a:lnTo>
                  <a:lnTo>
                    <a:pt x="431926" y="216027"/>
                  </a:lnTo>
                  <a:lnTo>
                    <a:pt x="426225" y="265542"/>
                  </a:lnTo>
                  <a:lnTo>
                    <a:pt x="409985" y="311005"/>
                  </a:lnTo>
                  <a:lnTo>
                    <a:pt x="384500" y="351117"/>
                  </a:lnTo>
                  <a:lnTo>
                    <a:pt x="351067" y="384577"/>
                  </a:lnTo>
                  <a:lnTo>
                    <a:pt x="310980" y="410087"/>
                  </a:lnTo>
                  <a:lnTo>
                    <a:pt x="265535" y="426345"/>
                  </a:lnTo>
                  <a:lnTo>
                    <a:pt x="216026" y="432054"/>
                  </a:lnTo>
                  <a:lnTo>
                    <a:pt x="166471" y="426345"/>
                  </a:lnTo>
                  <a:lnTo>
                    <a:pt x="120992" y="410087"/>
                  </a:lnTo>
                  <a:lnTo>
                    <a:pt x="80883" y="384577"/>
                  </a:lnTo>
                  <a:lnTo>
                    <a:pt x="47436" y="351117"/>
                  </a:lnTo>
                  <a:lnTo>
                    <a:pt x="21944" y="311005"/>
                  </a:lnTo>
                  <a:lnTo>
                    <a:pt x="5701" y="265542"/>
                  </a:lnTo>
                  <a:lnTo>
                    <a:pt x="0" y="216027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8774430" y="3036061"/>
              <a:ext cx="216535" cy="432434"/>
            </a:xfrm>
            <a:custGeom>
              <a:avLst/>
              <a:gdLst/>
              <a:ahLst/>
              <a:cxnLst/>
              <a:rect l="l" t="t" r="r" b="b"/>
              <a:pathLst>
                <a:path w="216534" h="432435">
                  <a:moveTo>
                    <a:pt x="216026" y="432053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9119235" y="4281550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216026" y="0"/>
                  </a:moveTo>
                  <a:lnTo>
                    <a:pt x="166471" y="5701"/>
                  </a:lnTo>
                  <a:lnTo>
                    <a:pt x="120992" y="21941"/>
                  </a:lnTo>
                  <a:lnTo>
                    <a:pt x="80883" y="47426"/>
                  </a:lnTo>
                  <a:lnTo>
                    <a:pt x="47436" y="80859"/>
                  </a:lnTo>
                  <a:lnTo>
                    <a:pt x="21944" y="120946"/>
                  </a:lnTo>
                  <a:lnTo>
                    <a:pt x="5701" y="166391"/>
                  </a:lnTo>
                  <a:lnTo>
                    <a:pt x="0" y="215900"/>
                  </a:lnTo>
                  <a:lnTo>
                    <a:pt x="5701" y="265455"/>
                  </a:lnTo>
                  <a:lnTo>
                    <a:pt x="21944" y="310934"/>
                  </a:lnTo>
                  <a:lnTo>
                    <a:pt x="47436" y="351043"/>
                  </a:lnTo>
                  <a:lnTo>
                    <a:pt x="80883" y="384490"/>
                  </a:lnTo>
                  <a:lnTo>
                    <a:pt x="120992" y="409982"/>
                  </a:lnTo>
                  <a:lnTo>
                    <a:pt x="166471" y="426225"/>
                  </a:lnTo>
                  <a:lnTo>
                    <a:pt x="216026" y="431926"/>
                  </a:lnTo>
                  <a:lnTo>
                    <a:pt x="265535" y="426225"/>
                  </a:lnTo>
                  <a:lnTo>
                    <a:pt x="310980" y="409982"/>
                  </a:lnTo>
                  <a:lnTo>
                    <a:pt x="351067" y="384490"/>
                  </a:lnTo>
                  <a:lnTo>
                    <a:pt x="384500" y="351043"/>
                  </a:lnTo>
                  <a:lnTo>
                    <a:pt x="409985" y="310934"/>
                  </a:lnTo>
                  <a:lnTo>
                    <a:pt x="426225" y="265455"/>
                  </a:lnTo>
                  <a:lnTo>
                    <a:pt x="431926" y="215900"/>
                  </a:lnTo>
                  <a:lnTo>
                    <a:pt x="426225" y="166391"/>
                  </a:lnTo>
                  <a:lnTo>
                    <a:pt x="409985" y="120946"/>
                  </a:lnTo>
                  <a:lnTo>
                    <a:pt x="384500" y="80859"/>
                  </a:lnTo>
                  <a:lnTo>
                    <a:pt x="351067" y="47426"/>
                  </a:lnTo>
                  <a:lnTo>
                    <a:pt x="310980" y="21941"/>
                  </a:lnTo>
                  <a:lnTo>
                    <a:pt x="265535" y="5701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9119235" y="4281550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0" y="215900"/>
                  </a:moveTo>
                  <a:lnTo>
                    <a:pt x="5701" y="166391"/>
                  </a:lnTo>
                  <a:lnTo>
                    <a:pt x="21944" y="120946"/>
                  </a:lnTo>
                  <a:lnTo>
                    <a:pt x="47436" y="80859"/>
                  </a:lnTo>
                  <a:lnTo>
                    <a:pt x="80883" y="47426"/>
                  </a:lnTo>
                  <a:lnTo>
                    <a:pt x="120992" y="21941"/>
                  </a:lnTo>
                  <a:lnTo>
                    <a:pt x="166471" y="5701"/>
                  </a:lnTo>
                  <a:lnTo>
                    <a:pt x="216026" y="0"/>
                  </a:lnTo>
                  <a:lnTo>
                    <a:pt x="265535" y="5701"/>
                  </a:lnTo>
                  <a:lnTo>
                    <a:pt x="310980" y="21941"/>
                  </a:lnTo>
                  <a:lnTo>
                    <a:pt x="351067" y="47426"/>
                  </a:lnTo>
                  <a:lnTo>
                    <a:pt x="384500" y="80859"/>
                  </a:lnTo>
                  <a:lnTo>
                    <a:pt x="409985" y="120946"/>
                  </a:lnTo>
                  <a:lnTo>
                    <a:pt x="426225" y="166391"/>
                  </a:lnTo>
                  <a:lnTo>
                    <a:pt x="431926" y="215900"/>
                  </a:lnTo>
                  <a:lnTo>
                    <a:pt x="426225" y="265455"/>
                  </a:lnTo>
                  <a:lnTo>
                    <a:pt x="409985" y="310934"/>
                  </a:lnTo>
                  <a:lnTo>
                    <a:pt x="384500" y="351043"/>
                  </a:lnTo>
                  <a:lnTo>
                    <a:pt x="351067" y="384490"/>
                  </a:lnTo>
                  <a:lnTo>
                    <a:pt x="310980" y="409982"/>
                  </a:lnTo>
                  <a:lnTo>
                    <a:pt x="265535" y="426225"/>
                  </a:lnTo>
                  <a:lnTo>
                    <a:pt x="216026" y="431926"/>
                  </a:lnTo>
                  <a:lnTo>
                    <a:pt x="166471" y="426225"/>
                  </a:lnTo>
                  <a:lnTo>
                    <a:pt x="120992" y="409982"/>
                  </a:lnTo>
                  <a:lnTo>
                    <a:pt x="80883" y="384490"/>
                  </a:lnTo>
                  <a:lnTo>
                    <a:pt x="47436" y="351043"/>
                  </a:lnTo>
                  <a:lnTo>
                    <a:pt x="21944" y="310934"/>
                  </a:lnTo>
                  <a:lnTo>
                    <a:pt x="5701" y="265455"/>
                  </a:lnTo>
                  <a:lnTo>
                    <a:pt x="0" y="215900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5" name="object 115"/>
          <p:cNvSpPr txBox="1"/>
          <p:nvPr/>
        </p:nvSpPr>
        <p:spPr>
          <a:xfrm>
            <a:off x="9230614" y="4273422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16" name="object 116"/>
          <p:cNvGrpSpPr/>
          <p:nvPr/>
        </p:nvGrpSpPr>
        <p:grpSpPr>
          <a:xfrm>
            <a:off x="8689530" y="1315529"/>
            <a:ext cx="1445260" cy="2986405"/>
            <a:chOff x="8689530" y="1315529"/>
            <a:chExt cx="1445260" cy="2986405"/>
          </a:xfrm>
        </p:grpSpPr>
        <p:sp>
          <p:nvSpPr>
            <p:cNvPr id="117" name="object 117"/>
            <p:cNvSpPr/>
            <p:nvPr/>
          </p:nvSpPr>
          <p:spPr>
            <a:xfrm>
              <a:off x="9118727" y="3855338"/>
              <a:ext cx="180340" cy="432434"/>
            </a:xfrm>
            <a:custGeom>
              <a:avLst/>
              <a:gdLst/>
              <a:ahLst/>
              <a:cxnLst/>
              <a:rect l="l" t="t" r="r" b="b"/>
              <a:pathLst>
                <a:path w="180340" h="432435">
                  <a:moveTo>
                    <a:pt x="179958" y="432054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8703818" y="1329816"/>
              <a:ext cx="471170" cy="513080"/>
            </a:xfrm>
            <a:custGeom>
              <a:avLst/>
              <a:gdLst/>
              <a:ahLst/>
              <a:cxnLst/>
              <a:rect l="l" t="t" r="r" b="b"/>
              <a:pathLst>
                <a:path w="471170" h="513080">
                  <a:moveTo>
                    <a:pt x="470915" y="51308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B42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9633204" y="3026283"/>
              <a:ext cx="153670" cy="429895"/>
            </a:xfrm>
            <a:custGeom>
              <a:avLst/>
              <a:gdLst/>
              <a:ahLst/>
              <a:cxnLst/>
              <a:rect l="l" t="t" r="r" b="b"/>
              <a:pathLst>
                <a:path w="153670" h="429895">
                  <a:moveTo>
                    <a:pt x="153543" y="0"/>
                  </a:moveTo>
                  <a:lnTo>
                    <a:pt x="0" y="429513"/>
                  </a:lnTo>
                </a:path>
              </a:pathLst>
            </a:custGeom>
            <a:ln w="28575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9688068" y="2658491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216026" y="0"/>
                  </a:moveTo>
                  <a:lnTo>
                    <a:pt x="166471" y="5701"/>
                  </a:lnTo>
                  <a:lnTo>
                    <a:pt x="120992" y="21944"/>
                  </a:lnTo>
                  <a:lnTo>
                    <a:pt x="80883" y="47436"/>
                  </a:lnTo>
                  <a:lnTo>
                    <a:pt x="47436" y="80883"/>
                  </a:lnTo>
                  <a:lnTo>
                    <a:pt x="21944" y="120992"/>
                  </a:lnTo>
                  <a:lnTo>
                    <a:pt x="5701" y="166471"/>
                  </a:lnTo>
                  <a:lnTo>
                    <a:pt x="0" y="216026"/>
                  </a:lnTo>
                  <a:lnTo>
                    <a:pt x="5701" y="265535"/>
                  </a:lnTo>
                  <a:lnTo>
                    <a:pt x="21944" y="310980"/>
                  </a:lnTo>
                  <a:lnTo>
                    <a:pt x="47436" y="351067"/>
                  </a:lnTo>
                  <a:lnTo>
                    <a:pt x="80883" y="384500"/>
                  </a:lnTo>
                  <a:lnTo>
                    <a:pt x="120992" y="409985"/>
                  </a:lnTo>
                  <a:lnTo>
                    <a:pt x="166471" y="426225"/>
                  </a:lnTo>
                  <a:lnTo>
                    <a:pt x="216026" y="431926"/>
                  </a:lnTo>
                  <a:lnTo>
                    <a:pt x="265535" y="426225"/>
                  </a:lnTo>
                  <a:lnTo>
                    <a:pt x="310980" y="409985"/>
                  </a:lnTo>
                  <a:lnTo>
                    <a:pt x="351067" y="384500"/>
                  </a:lnTo>
                  <a:lnTo>
                    <a:pt x="384500" y="351067"/>
                  </a:lnTo>
                  <a:lnTo>
                    <a:pt x="409985" y="310980"/>
                  </a:lnTo>
                  <a:lnTo>
                    <a:pt x="426225" y="265535"/>
                  </a:lnTo>
                  <a:lnTo>
                    <a:pt x="431926" y="216026"/>
                  </a:lnTo>
                  <a:lnTo>
                    <a:pt x="426225" y="166471"/>
                  </a:lnTo>
                  <a:lnTo>
                    <a:pt x="409985" y="120992"/>
                  </a:lnTo>
                  <a:lnTo>
                    <a:pt x="384500" y="80883"/>
                  </a:lnTo>
                  <a:lnTo>
                    <a:pt x="351067" y="47436"/>
                  </a:lnTo>
                  <a:lnTo>
                    <a:pt x="310980" y="21944"/>
                  </a:lnTo>
                  <a:lnTo>
                    <a:pt x="265535" y="5701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9688068" y="2658491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0" y="216026"/>
                  </a:moveTo>
                  <a:lnTo>
                    <a:pt x="5701" y="166471"/>
                  </a:lnTo>
                  <a:lnTo>
                    <a:pt x="21944" y="120992"/>
                  </a:lnTo>
                  <a:lnTo>
                    <a:pt x="47436" y="80883"/>
                  </a:lnTo>
                  <a:lnTo>
                    <a:pt x="80883" y="47436"/>
                  </a:lnTo>
                  <a:lnTo>
                    <a:pt x="120992" y="21944"/>
                  </a:lnTo>
                  <a:lnTo>
                    <a:pt x="166471" y="5701"/>
                  </a:lnTo>
                  <a:lnTo>
                    <a:pt x="216026" y="0"/>
                  </a:lnTo>
                  <a:lnTo>
                    <a:pt x="265535" y="5701"/>
                  </a:lnTo>
                  <a:lnTo>
                    <a:pt x="310980" y="21944"/>
                  </a:lnTo>
                  <a:lnTo>
                    <a:pt x="351067" y="47436"/>
                  </a:lnTo>
                  <a:lnTo>
                    <a:pt x="384500" y="80883"/>
                  </a:lnTo>
                  <a:lnTo>
                    <a:pt x="409985" y="120992"/>
                  </a:lnTo>
                  <a:lnTo>
                    <a:pt x="426225" y="166471"/>
                  </a:lnTo>
                  <a:lnTo>
                    <a:pt x="431926" y="216026"/>
                  </a:lnTo>
                  <a:lnTo>
                    <a:pt x="426225" y="265535"/>
                  </a:lnTo>
                  <a:lnTo>
                    <a:pt x="409985" y="310980"/>
                  </a:lnTo>
                  <a:lnTo>
                    <a:pt x="384500" y="351067"/>
                  </a:lnTo>
                  <a:lnTo>
                    <a:pt x="351067" y="384500"/>
                  </a:lnTo>
                  <a:lnTo>
                    <a:pt x="310980" y="409985"/>
                  </a:lnTo>
                  <a:lnTo>
                    <a:pt x="265535" y="426225"/>
                  </a:lnTo>
                  <a:lnTo>
                    <a:pt x="216026" y="431926"/>
                  </a:lnTo>
                  <a:lnTo>
                    <a:pt x="166471" y="426225"/>
                  </a:lnTo>
                  <a:lnTo>
                    <a:pt x="120992" y="409985"/>
                  </a:lnTo>
                  <a:lnTo>
                    <a:pt x="80883" y="384500"/>
                  </a:lnTo>
                  <a:lnTo>
                    <a:pt x="47436" y="351067"/>
                  </a:lnTo>
                  <a:lnTo>
                    <a:pt x="21944" y="310980"/>
                  </a:lnTo>
                  <a:lnTo>
                    <a:pt x="5701" y="265535"/>
                  </a:lnTo>
                  <a:lnTo>
                    <a:pt x="0" y="216026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2" name="object 122"/>
          <p:cNvSpPr txBox="1"/>
          <p:nvPr/>
        </p:nvSpPr>
        <p:spPr>
          <a:xfrm>
            <a:off x="9782682" y="2649982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G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23" name="object 123"/>
          <p:cNvGrpSpPr/>
          <p:nvPr/>
        </p:nvGrpSpPr>
        <p:grpSpPr>
          <a:xfrm>
            <a:off x="9561766" y="5088191"/>
            <a:ext cx="461009" cy="461009"/>
            <a:chOff x="9561766" y="5088191"/>
            <a:chExt cx="461009" cy="461009"/>
          </a:xfrm>
        </p:grpSpPr>
        <p:sp>
          <p:nvSpPr>
            <p:cNvPr id="124" name="object 124"/>
            <p:cNvSpPr/>
            <p:nvPr/>
          </p:nvSpPr>
          <p:spPr>
            <a:xfrm>
              <a:off x="9576054" y="510247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216026" y="0"/>
                  </a:moveTo>
                  <a:lnTo>
                    <a:pt x="166511" y="5701"/>
                  </a:lnTo>
                  <a:lnTo>
                    <a:pt x="121048" y="21941"/>
                  </a:lnTo>
                  <a:lnTo>
                    <a:pt x="80936" y="47426"/>
                  </a:lnTo>
                  <a:lnTo>
                    <a:pt x="47476" y="80859"/>
                  </a:lnTo>
                  <a:lnTo>
                    <a:pt x="21966" y="120946"/>
                  </a:lnTo>
                  <a:lnTo>
                    <a:pt x="5708" y="166391"/>
                  </a:lnTo>
                  <a:lnTo>
                    <a:pt x="0" y="215900"/>
                  </a:lnTo>
                  <a:lnTo>
                    <a:pt x="5708" y="265455"/>
                  </a:lnTo>
                  <a:lnTo>
                    <a:pt x="21966" y="310934"/>
                  </a:lnTo>
                  <a:lnTo>
                    <a:pt x="47476" y="351043"/>
                  </a:lnTo>
                  <a:lnTo>
                    <a:pt x="80936" y="384490"/>
                  </a:lnTo>
                  <a:lnTo>
                    <a:pt x="121048" y="409982"/>
                  </a:lnTo>
                  <a:lnTo>
                    <a:pt x="166511" y="426225"/>
                  </a:lnTo>
                  <a:lnTo>
                    <a:pt x="216026" y="431927"/>
                  </a:lnTo>
                  <a:lnTo>
                    <a:pt x="265542" y="426225"/>
                  </a:lnTo>
                  <a:lnTo>
                    <a:pt x="311005" y="409982"/>
                  </a:lnTo>
                  <a:lnTo>
                    <a:pt x="351117" y="384490"/>
                  </a:lnTo>
                  <a:lnTo>
                    <a:pt x="384577" y="351043"/>
                  </a:lnTo>
                  <a:lnTo>
                    <a:pt x="410087" y="310934"/>
                  </a:lnTo>
                  <a:lnTo>
                    <a:pt x="426345" y="265455"/>
                  </a:lnTo>
                  <a:lnTo>
                    <a:pt x="432053" y="215900"/>
                  </a:lnTo>
                  <a:lnTo>
                    <a:pt x="426345" y="166391"/>
                  </a:lnTo>
                  <a:lnTo>
                    <a:pt x="410087" y="120946"/>
                  </a:lnTo>
                  <a:lnTo>
                    <a:pt x="384577" y="80859"/>
                  </a:lnTo>
                  <a:lnTo>
                    <a:pt x="351117" y="47426"/>
                  </a:lnTo>
                  <a:lnTo>
                    <a:pt x="311005" y="21941"/>
                  </a:lnTo>
                  <a:lnTo>
                    <a:pt x="265542" y="5701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9576054" y="510247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0" y="215900"/>
                  </a:moveTo>
                  <a:lnTo>
                    <a:pt x="5708" y="166391"/>
                  </a:lnTo>
                  <a:lnTo>
                    <a:pt x="21966" y="120946"/>
                  </a:lnTo>
                  <a:lnTo>
                    <a:pt x="47476" y="80859"/>
                  </a:lnTo>
                  <a:lnTo>
                    <a:pt x="80936" y="47426"/>
                  </a:lnTo>
                  <a:lnTo>
                    <a:pt x="121048" y="21941"/>
                  </a:lnTo>
                  <a:lnTo>
                    <a:pt x="166511" y="5701"/>
                  </a:lnTo>
                  <a:lnTo>
                    <a:pt x="216026" y="0"/>
                  </a:lnTo>
                  <a:lnTo>
                    <a:pt x="265542" y="5701"/>
                  </a:lnTo>
                  <a:lnTo>
                    <a:pt x="311005" y="21941"/>
                  </a:lnTo>
                  <a:lnTo>
                    <a:pt x="351117" y="47426"/>
                  </a:lnTo>
                  <a:lnTo>
                    <a:pt x="384577" y="80859"/>
                  </a:lnTo>
                  <a:lnTo>
                    <a:pt x="410087" y="120946"/>
                  </a:lnTo>
                  <a:lnTo>
                    <a:pt x="426345" y="166391"/>
                  </a:lnTo>
                  <a:lnTo>
                    <a:pt x="432053" y="215900"/>
                  </a:lnTo>
                  <a:lnTo>
                    <a:pt x="426345" y="265455"/>
                  </a:lnTo>
                  <a:lnTo>
                    <a:pt x="410087" y="310934"/>
                  </a:lnTo>
                  <a:lnTo>
                    <a:pt x="384577" y="351043"/>
                  </a:lnTo>
                  <a:lnTo>
                    <a:pt x="351117" y="384490"/>
                  </a:lnTo>
                  <a:lnTo>
                    <a:pt x="311005" y="409982"/>
                  </a:lnTo>
                  <a:lnTo>
                    <a:pt x="265542" y="426225"/>
                  </a:lnTo>
                  <a:lnTo>
                    <a:pt x="216026" y="431927"/>
                  </a:lnTo>
                  <a:lnTo>
                    <a:pt x="166511" y="426225"/>
                  </a:lnTo>
                  <a:lnTo>
                    <a:pt x="121048" y="409982"/>
                  </a:lnTo>
                  <a:lnTo>
                    <a:pt x="80936" y="384490"/>
                  </a:lnTo>
                  <a:lnTo>
                    <a:pt x="47476" y="351043"/>
                  </a:lnTo>
                  <a:lnTo>
                    <a:pt x="21966" y="310934"/>
                  </a:lnTo>
                  <a:lnTo>
                    <a:pt x="5708" y="265455"/>
                  </a:lnTo>
                  <a:lnTo>
                    <a:pt x="0" y="215900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6" name="object 126"/>
          <p:cNvSpPr txBox="1"/>
          <p:nvPr/>
        </p:nvSpPr>
        <p:spPr>
          <a:xfrm>
            <a:off x="9711943" y="5094478"/>
            <a:ext cx="161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J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27" name="object 127"/>
          <p:cNvGrpSpPr/>
          <p:nvPr/>
        </p:nvGrpSpPr>
        <p:grpSpPr>
          <a:xfrm>
            <a:off x="9887521" y="4264088"/>
            <a:ext cx="461009" cy="461009"/>
            <a:chOff x="9887521" y="4264088"/>
            <a:chExt cx="461009" cy="461009"/>
          </a:xfrm>
        </p:grpSpPr>
        <p:sp>
          <p:nvSpPr>
            <p:cNvPr id="128" name="object 128"/>
            <p:cNvSpPr/>
            <p:nvPr/>
          </p:nvSpPr>
          <p:spPr>
            <a:xfrm>
              <a:off x="9901808" y="4278376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216026" y="0"/>
                  </a:moveTo>
                  <a:lnTo>
                    <a:pt x="166471" y="5708"/>
                  </a:lnTo>
                  <a:lnTo>
                    <a:pt x="120992" y="21966"/>
                  </a:lnTo>
                  <a:lnTo>
                    <a:pt x="80883" y="47476"/>
                  </a:lnTo>
                  <a:lnTo>
                    <a:pt x="47436" y="80936"/>
                  </a:lnTo>
                  <a:lnTo>
                    <a:pt x="21944" y="121048"/>
                  </a:lnTo>
                  <a:lnTo>
                    <a:pt x="5701" y="166511"/>
                  </a:lnTo>
                  <a:lnTo>
                    <a:pt x="0" y="216026"/>
                  </a:lnTo>
                  <a:lnTo>
                    <a:pt x="5701" y="265542"/>
                  </a:lnTo>
                  <a:lnTo>
                    <a:pt x="21944" y="311005"/>
                  </a:lnTo>
                  <a:lnTo>
                    <a:pt x="47436" y="351117"/>
                  </a:lnTo>
                  <a:lnTo>
                    <a:pt x="80883" y="384577"/>
                  </a:lnTo>
                  <a:lnTo>
                    <a:pt x="120992" y="410087"/>
                  </a:lnTo>
                  <a:lnTo>
                    <a:pt x="166471" y="426345"/>
                  </a:lnTo>
                  <a:lnTo>
                    <a:pt x="216026" y="432054"/>
                  </a:lnTo>
                  <a:lnTo>
                    <a:pt x="265542" y="426345"/>
                  </a:lnTo>
                  <a:lnTo>
                    <a:pt x="311005" y="410087"/>
                  </a:lnTo>
                  <a:lnTo>
                    <a:pt x="351117" y="384577"/>
                  </a:lnTo>
                  <a:lnTo>
                    <a:pt x="384577" y="351117"/>
                  </a:lnTo>
                  <a:lnTo>
                    <a:pt x="410087" y="311005"/>
                  </a:lnTo>
                  <a:lnTo>
                    <a:pt x="426345" y="265542"/>
                  </a:lnTo>
                  <a:lnTo>
                    <a:pt x="432054" y="216026"/>
                  </a:lnTo>
                  <a:lnTo>
                    <a:pt x="426345" y="166511"/>
                  </a:lnTo>
                  <a:lnTo>
                    <a:pt x="410087" y="121048"/>
                  </a:lnTo>
                  <a:lnTo>
                    <a:pt x="384577" y="80936"/>
                  </a:lnTo>
                  <a:lnTo>
                    <a:pt x="351117" y="47476"/>
                  </a:lnTo>
                  <a:lnTo>
                    <a:pt x="311005" y="21966"/>
                  </a:lnTo>
                  <a:lnTo>
                    <a:pt x="265542" y="5708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9901808" y="4278376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0" y="216026"/>
                  </a:moveTo>
                  <a:lnTo>
                    <a:pt x="5701" y="166511"/>
                  </a:lnTo>
                  <a:lnTo>
                    <a:pt x="21944" y="121048"/>
                  </a:lnTo>
                  <a:lnTo>
                    <a:pt x="47436" y="80936"/>
                  </a:lnTo>
                  <a:lnTo>
                    <a:pt x="80883" y="47476"/>
                  </a:lnTo>
                  <a:lnTo>
                    <a:pt x="120992" y="21966"/>
                  </a:lnTo>
                  <a:lnTo>
                    <a:pt x="166471" y="5708"/>
                  </a:lnTo>
                  <a:lnTo>
                    <a:pt x="216026" y="0"/>
                  </a:lnTo>
                  <a:lnTo>
                    <a:pt x="265542" y="5708"/>
                  </a:lnTo>
                  <a:lnTo>
                    <a:pt x="311005" y="21966"/>
                  </a:lnTo>
                  <a:lnTo>
                    <a:pt x="351117" y="47476"/>
                  </a:lnTo>
                  <a:lnTo>
                    <a:pt x="384577" y="80936"/>
                  </a:lnTo>
                  <a:lnTo>
                    <a:pt x="410087" y="121048"/>
                  </a:lnTo>
                  <a:lnTo>
                    <a:pt x="426345" y="166511"/>
                  </a:lnTo>
                  <a:lnTo>
                    <a:pt x="432054" y="216026"/>
                  </a:lnTo>
                  <a:lnTo>
                    <a:pt x="426345" y="265542"/>
                  </a:lnTo>
                  <a:lnTo>
                    <a:pt x="410087" y="311005"/>
                  </a:lnTo>
                  <a:lnTo>
                    <a:pt x="384577" y="351117"/>
                  </a:lnTo>
                  <a:lnTo>
                    <a:pt x="351117" y="384577"/>
                  </a:lnTo>
                  <a:lnTo>
                    <a:pt x="311005" y="410087"/>
                  </a:lnTo>
                  <a:lnTo>
                    <a:pt x="265542" y="426345"/>
                  </a:lnTo>
                  <a:lnTo>
                    <a:pt x="216026" y="432054"/>
                  </a:lnTo>
                  <a:lnTo>
                    <a:pt x="166471" y="426345"/>
                  </a:lnTo>
                  <a:lnTo>
                    <a:pt x="120992" y="410087"/>
                  </a:lnTo>
                  <a:lnTo>
                    <a:pt x="80883" y="384577"/>
                  </a:lnTo>
                  <a:lnTo>
                    <a:pt x="47436" y="351117"/>
                  </a:lnTo>
                  <a:lnTo>
                    <a:pt x="21944" y="311005"/>
                  </a:lnTo>
                  <a:lnTo>
                    <a:pt x="5701" y="265542"/>
                  </a:lnTo>
                  <a:lnTo>
                    <a:pt x="0" y="216026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0" name="object 130"/>
          <p:cNvSpPr txBox="1"/>
          <p:nvPr/>
        </p:nvSpPr>
        <p:spPr>
          <a:xfrm>
            <a:off x="10054590" y="4270375"/>
            <a:ext cx="127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31" name="object 131"/>
          <p:cNvGrpSpPr/>
          <p:nvPr/>
        </p:nvGrpSpPr>
        <p:grpSpPr>
          <a:xfrm>
            <a:off x="9402889" y="3441509"/>
            <a:ext cx="461009" cy="461009"/>
            <a:chOff x="9402889" y="3441509"/>
            <a:chExt cx="461009" cy="461009"/>
          </a:xfrm>
        </p:grpSpPr>
        <p:sp>
          <p:nvSpPr>
            <p:cNvPr id="132" name="object 132"/>
            <p:cNvSpPr/>
            <p:nvPr/>
          </p:nvSpPr>
          <p:spPr>
            <a:xfrm>
              <a:off x="9417177" y="3455796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216026" y="0"/>
                  </a:moveTo>
                  <a:lnTo>
                    <a:pt x="166511" y="5708"/>
                  </a:lnTo>
                  <a:lnTo>
                    <a:pt x="121048" y="21966"/>
                  </a:lnTo>
                  <a:lnTo>
                    <a:pt x="80936" y="47476"/>
                  </a:lnTo>
                  <a:lnTo>
                    <a:pt x="47476" y="80936"/>
                  </a:lnTo>
                  <a:lnTo>
                    <a:pt x="21966" y="121048"/>
                  </a:lnTo>
                  <a:lnTo>
                    <a:pt x="5708" y="166511"/>
                  </a:lnTo>
                  <a:lnTo>
                    <a:pt x="0" y="216026"/>
                  </a:lnTo>
                  <a:lnTo>
                    <a:pt x="5708" y="265582"/>
                  </a:lnTo>
                  <a:lnTo>
                    <a:pt x="21966" y="311061"/>
                  </a:lnTo>
                  <a:lnTo>
                    <a:pt x="47476" y="351170"/>
                  </a:lnTo>
                  <a:lnTo>
                    <a:pt x="80936" y="384617"/>
                  </a:lnTo>
                  <a:lnTo>
                    <a:pt x="121048" y="410109"/>
                  </a:lnTo>
                  <a:lnTo>
                    <a:pt x="166511" y="426352"/>
                  </a:lnTo>
                  <a:lnTo>
                    <a:pt x="216026" y="432053"/>
                  </a:lnTo>
                  <a:lnTo>
                    <a:pt x="265582" y="426352"/>
                  </a:lnTo>
                  <a:lnTo>
                    <a:pt x="311061" y="410109"/>
                  </a:lnTo>
                  <a:lnTo>
                    <a:pt x="351170" y="384617"/>
                  </a:lnTo>
                  <a:lnTo>
                    <a:pt x="384617" y="351170"/>
                  </a:lnTo>
                  <a:lnTo>
                    <a:pt x="410109" y="311061"/>
                  </a:lnTo>
                  <a:lnTo>
                    <a:pt x="426352" y="265582"/>
                  </a:lnTo>
                  <a:lnTo>
                    <a:pt x="432053" y="216026"/>
                  </a:lnTo>
                  <a:lnTo>
                    <a:pt x="426352" y="166511"/>
                  </a:lnTo>
                  <a:lnTo>
                    <a:pt x="410109" y="121048"/>
                  </a:lnTo>
                  <a:lnTo>
                    <a:pt x="384617" y="80936"/>
                  </a:lnTo>
                  <a:lnTo>
                    <a:pt x="351170" y="47476"/>
                  </a:lnTo>
                  <a:lnTo>
                    <a:pt x="311061" y="21966"/>
                  </a:lnTo>
                  <a:lnTo>
                    <a:pt x="265582" y="5708"/>
                  </a:lnTo>
                  <a:lnTo>
                    <a:pt x="216026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9417177" y="3455796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0" y="216026"/>
                  </a:moveTo>
                  <a:lnTo>
                    <a:pt x="5708" y="166511"/>
                  </a:lnTo>
                  <a:lnTo>
                    <a:pt x="21966" y="121048"/>
                  </a:lnTo>
                  <a:lnTo>
                    <a:pt x="47476" y="80936"/>
                  </a:lnTo>
                  <a:lnTo>
                    <a:pt x="80936" y="47476"/>
                  </a:lnTo>
                  <a:lnTo>
                    <a:pt x="121048" y="21966"/>
                  </a:lnTo>
                  <a:lnTo>
                    <a:pt x="166511" y="5708"/>
                  </a:lnTo>
                  <a:lnTo>
                    <a:pt x="216026" y="0"/>
                  </a:lnTo>
                  <a:lnTo>
                    <a:pt x="265582" y="5708"/>
                  </a:lnTo>
                  <a:lnTo>
                    <a:pt x="311061" y="21966"/>
                  </a:lnTo>
                  <a:lnTo>
                    <a:pt x="351170" y="47476"/>
                  </a:lnTo>
                  <a:lnTo>
                    <a:pt x="384617" y="80936"/>
                  </a:lnTo>
                  <a:lnTo>
                    <a:pt x="410109" y="121048"/>
                  </a:lnTo>
                  <a:lnTo>
                    <a:pt x="426352" y="166511"/>
                  </a:lnTo>
                  <a:lnTo>
                    <a:pt x="432053" y="216026"/>
                  </a:lnTo>
                  <a:lnTo>
                    <a:pt x="426352" y="265582"/>
                  </a:lnTo>
                  <a:lnTo>
                    <a:pt x="410109" y="311061"/>
                  </a:lnTo>
                  <a:lnTo>
                    <a:pt x="384617" y="351170"/>
                  </a:lnTo>
                  <a:lnTo>
                    <a:pt x="351170" y="384617"/>
                  </a:lnTo>
                  <a:lnTo>
                    <a:pt x="311061" y="410109"/>
                  </a:lnTo>
                  <a:lnTo>
                    <a:pt x="265582" y="426352"/>
                  </a:lnTo>
                  <a:lnTo>
                    <a:pt x="216026" y="432053"/>
                  </a:lnTo>
                  <a:lnTo>
                    <a:pt x="166511" y="426352"/>
                  </a:lnTo>
                  <a:lnTo>
                    <a:pt x="121048" y="410109"/>
                  </a:lnTo>
                  <a:lnTo>
                    <a:pt x="80936" y="384617"/>
                  </a:lnTo>
                  <a:lnTo>
                    <a:pt x="47476" y="351170"/>
                  </a:lnTo>
                  <a:lnTo>
                    <a:pt x="21966" y="311061"/>
                  </a:lnTo>
                  <a:lnTo>
                    <a:pt x="5708" y="265582"/>
                  </a:lnTo>
                  <a:lnTo>
                    <a:pt x="0" y="216026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4" name="object 134"/>
          <p:cNvSpPr txBox="1"/>
          <p:nvPr/>
        </p:nvSpPr>
        <p:spPr>
          <a:xfrm>
            <a:off x="8925559" y="3452571"/>
            <a:ext cx="8324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8805" algn="l"/>
              </a:tabLst>
            </a:pP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E	</a:t>
            </a:r>
            <a:r>
              <a:rPr sz="3600" i="1" spc="-7" baseline="1157" dirty="0">
                <a:solidFill>
                  <a:srgbClr val="404040"/>
                </a:solidFill>
                <a:latin typeface="Times New Roman"/>
                <a:cs typeface="Times New Roman"/>
              </a:rPr>
              <a:t>H</a:t>
            </a:r>
            <a:endParaRPr sz="3600" baseline="1157">
              <a:latin typeface="Times New Roman"/>
              <a:cs typeface="Times New Roman"/>
            </a:endParaRPr>
          </a:p>
        </p:txBody>
      </p:sp>
      <p:grpSp>
        <p:nvGrpSpPr>
          <p:cNvPr id="135" name="object 135"/>
          <p:cNvGrpSpPr/>
          <p:nvPr/>
        </p:nvGrpSpPr>
        <p:grpSpPr>
          <a:xfrm>
            <a:off x="9415081" y="2179002"/>
            <a:ext cx="666115" cy="2940685"/>
            <a:chOff x="9415081" y="2179002"/>
            <a:chExt cx="666115" cy="2940685"/>
          </a:xfrm>
        </p:grpSpPr>
        <p:sp>
          <p:nvSpPr>
            <p:cNvPr id="136" name="object 136"/>
            <p:cNvSpPr/>
            <p:nvPr/>
          </p:nvSpPr>
          <p:spPr>
            <a:xfrm>
              <a:off x="9709784" y="3868673"/>
              <a:ext cx="356870" cy="1236345"/>
            </a:xfrm>
            <a:custGeom>
              <a:avLst/>
              <a:gdLst/>
              <a:ahLst/>
              <a:cxnLst/>
              <a:rect l="l" t="t" r="r" b="b"/>
              <a:pathLst>
                <a:path w="356870" h="1236345">
                  <a:moveTo>
                    <a:pt x="252095" y="467994"/>
                  </a:moveTo>
                  <a:lnTo>
                    <a:pt x="0" y="0"/>
                  </a:lnTo>
                </a:path>
                <a:path w="356870" h="1236345">
                  <a:moveTo>
                    <a:pt x="356870" y="840358"/>
                  </a:moveTo>
                  <a:lnTo>
                    <a:pt x="140843" y="1236345"/>
                  </a:lnTo>
                </a:path>
              </a:pathLst>
            </a:custGeom>
            <a:ln w="28575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9429368" y="2193289"/>
              <a:ext cx="396240" cy="467995"/>
            </a:xfrm>
            <a:custGeom>
              <a:avLst/>
              <a:gdLst/>
              <a:ahLst/>
              <a:cxnLst/>
              <a:rect l="l" t="t" r="r" b="b"/>
              <a:pathLst>
                <a:path w="396240" h="467994">
                  <a:moveTo>
                    <a:pt x="396112" y="467995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B42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8157058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48643" y="2017267"/>
            <a:ext cx="152400" cy="25355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algn="just">
              <a:lnSpc>
                <a:spcPts val="1000"/>
              </a:lnSpc>
              <a:spcBef>
                <a:spcPts val="2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数 据 结 构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880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（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从 概 念 到 实 现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975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640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清 华 大 学 出 版 社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42925" y="100964"/>
            <a:ext cx="4644390" cy="540385"/>
          </a:xfrm>
          <a:custGeom>
            <a:avLst/>
            <a:gdLst/>
            <a:ahLst/>
            <a:cxnLst/>
            <a:rect l="l" t="t" r="r" b="b"/>
            <a:pathLst>
              <a:path w="4644390" h="540385">
                <a:moveTo>
                  <a:pt x="4553966" y="0"/>
                </a:moveTo>
                <a:lnTo>
                  <a:pt x="90004" y="0"/>
                </a:lnTo>
                <a:lnTo>
                  <a:pt x="54971" y="7068"/>
                </a:lnTo>
                <a:lnTo>
                  <a:pt x="26362" y="26352"/>
                </a:lnTo>
                <a:lnTo>
                  <a:pt x="7073" y="54971"/>
                </a:lnTo>
                <a:lnTo>
                  <a:pt x="0" y="90042"/>
                </a:lnTo>
                <a:lnTo>
                  <a:pt x="0" y="449960"/>
                </a:lnTo>
                <a:lnTo>
                  <a:pt x="7073" y="485032"/>
                </a:lnTo>
                <a:lnTo>
                  <a:pt x="26362" y="513651"/>
                </a:lnTo>
                <a:lnTo>
                  <a:pt x="54971" y="532935"/>
                </a:lnTo>
                <a:lnTo>
                  <a:pt x="90004" y="540003"/>
                </a:lnTo>
                <a:lnTo>
                  <a:pt x="4553966" y="540003"/>
                </a:lnTo>
                <a:lnTo>
                  <a:pt x="4589037" y="532935"/>
                </a:lnTo>
                <a:lnTo>
                  <a:pt x="4617656" y="513651"/>
                </a:lnTo>
                <a:lnTo>
                  <a:pt x="4636940" y="485032"/>
                </a:lnTo>
                <a:lnTo>
                  <a:pt x="4644009" y="449960"/>
                </a:lnTo>
                <a:lnTo>
                  <a:pt x="4644009" y="90042"/>
                </a:lnTo>
                <a:lnTo>
                  <a:pt x="4636940" y="54971"/>
                </a:lnTo>
                <a:lnTo>
                  <a:pt x="4617656" y="26352"/>
                </a:lnTo>
                <a:lnTo>
                  <a:pt x="4589037" y="7068"/>
                </a:lnTo>
                <a:lnTo>
                  <a:pt x="4553966" y="0"/>
                </a:lnTo>
                <a:close/>
              </a:path>
            </a:pathLst>
          </a:custGeom>
          <a:solidFill>
            <a:srgbClr val="5A31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6991" y="141809"/>
            <a:ext cx="451040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solidFill>
                  <a:schemeClr val="bg1"/>
                </a:solidFill>
              </a:rPr>
              <a:t>二叉</a:t>
            </a:r>
            <a:r>
              <a:rPr sz="2800" spc="-10" dirty="0">
                <a:solidFill>
                  <a:schemeClr val="bg1"/>
                </a:solidFill>
              </a:rPr>
              <a:t>树</a:t>
            </a:r>
            <a:r>
              <a:rPr sz="2800" spc="-5" dirty="0">
                <a:solidFill>
                  <a:schemeClr val="bg1"/>
                </a:solidFill>
              </a:rPr>
              <a:t>转换</a:t>
            </a:r>
            <a:r>
              <a:rPr sz="2800" spc="-10" dirty="0">
                <a:solidFill>
                  <a:schemeClr val="bg1"/>
                </a:solidFill>
              </a:rPr>
              <a:t>为</a:t>
            </a:r>
            <a:r>
              <a:rPr sz="2800" spc="-5" dirty="0">
                <a:solidFill>
                  <a:schemeClr val="bg1"/>
                </a:solidFill>
              </a:rPr>
              <a:t>树（</a:t>
            </a:r>
            <a:r>
              <a:rPr sz="2800" spc="-10" dirty="0">
                <a:solidFill>
                  <a:schemeClr val="bg1"/>
                </a:solidFill>
              </a:rPr>
              <a:t>森</a:t>
            </a:r>
            <a:r>
              <a:rPr sz="2800" spc="-5" dirty="0">
                <a:solidFill>
                  <a:schemeClr val="bg1"/>
                </a:solidFill>
              </a:rPr>
              <a:t>林</a:t>
            </a:r>
            <a:r>
              <a:rPr sz="2800" spc="-10" dirty="0">
                <a:solidFill>
                  <a:schemeClr val="bg1"/>
                </a:solidFill>
              </a:rPr>
              <a:t>）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714362" y="1026160"/>
            <a:ext cx="432434" cy="432434"/>
            <a:chOff x="714362" y="1026160"/>
            <a:chExt cx="432434" cy="432434"/>
          </a:xfrm>
        </p:grpSpPr>
        <p:sp>
          <p:nvSpPr>
            <p:cNvPr id="6" name="object 6"/>
            <p:cNvSpPr/>
            <p:nvPr/>
          </p:nvSpPr>
          <p:spPr>
            <a:xfrm>
              <a:off x="760653" y="1026160"/>
              <a:ext cx="386080" cy="387985"/>
            </a:xfrm>
            <a:custGeom>
              <a:avLst/>
              <a:gdLst/>
              <a:ahLst/>
              <a:cxnLst/>
              <a:rect l="l" t="t" r="r" b="b"/>
              <a:pathLst>
                <a:path w="386080" h="387984">
                  <a:moveTo>
                    <a:pt x="216966" y="385699"/>
                  </a:moveTo>
                  <a:lnTo>
                    <a:pt x="208191" y="385699"/>
                  </a:lnTo>
                  <a:lnTo>
                    <a:pt x="210388" y="387985"/>
                  </a:lnTo>
                  <a:lnTo>
                    <a:pt x="214769" y="387985"/>
                  </a:lnTo>
                  <a:lnTo>
                    <a:pt x="216966" y="385699"/>
                  </a:lnTo>
                  <a:close/>
                </a:path>
                <a:path w="386080" h="387984">
                  <a:moveTo>
                    <a:pt x="109575" y="123443"/>
                  </a:moveTo>
                  <a:lnTo>
                    <a:pt x="51774" y="134715"/>
                  </a:lnTo>
                  <a:lnTo>
                    <a:pt x="2184" y="167512"/>
                  </a:lnTo>
                  <a:lnTo>
                    <a:pt x="0" y="171957"/>
                  </a:lnTo>
                  <a:lnTo>
                    <a:pt x="0" y="176402"/>
                  </a:lnTo>
                  <a:lnTo>
                    <a:pt x="2184" y="180720"/>
                  </a:lnTo>
                  <a:lnTo>
                    <a:pt x="206006" y="385699"/>
                  </a:lnTo>
                  <a:lnTo>
                    <a:pt x="219151" y="385699"/>
                  </a:lnTo>
                  <a:lnTo>
                    <a:pt x="242884" y="353014"/>
                  </a:lnTo>
                  <a:lnTo>
                    <a:pt x="257781" y="315769"/>
                  </a:lnTo>
                  <a:lnTo>
                    <a:pt x="263224" y="276024"/>
                  </a:lnTo>
                  <a:lnTo>
                    <a:pt x="258597" y="235838"/>
                  </a:lnTo>
                  <a:lnTo>
                    <a:pt x="317779" y="176402"/>
                  </a:lnTo>
                  <a:lnTo>
                    <a:pt x="352195" y="176402"/>
                  </a:lnTo>
                  <a:lnTo>
                    <a:pt x="381330" y="145541"/>
                  </a:lnTo>
                  <a:lnTo>
                    <a:pt x="383527" y="143255"/>
                  </a:lnTo>
                  <a:lnTo>
                    <a:pt x="385711" y="141097"/>
                  </a:lnTo>
                  <a:lnTo>
                    <a:pt x="385711" y="136651"/>
                  </a:lnTo>
                  <a:lnTo>
                    <a:pt x="383527" y="134492"/>
                  </a:lnTo>
                  <a:lnTo>
                    <a:pt x="381330" y="134492"/>
                  </a:lnTo>
                  <a:lnTo>
                    <a:pt x="374764" y="127888"/>
                  </a:lnTo>
                  <a:lnTo>
                    <a:pt x="151218" y="127888"/>
                  </a:lnTo>
                  <a:lnTo>
                    <a:pt x="141318" y="126230"/>
                  </a:lnTo>
                  <a:lnTo>
                    <a:pt x="131216" y="124809"/>
                  </a:lnTo>
                  <a:lnTo>
                    <a:pt x="120704" y="123817"/>
                  </a:lnTo>
                  <a:lnTo>
                    <a:pt x="109575" y="123443"/>
                  </a:lnTo>
                  <a:close/>
                </a:path>
                <a:path w="386080" h="387984">
                  <a:moveTo>
                    <a:pt x="352195" y="176402"/>
                  </a:moveTo>
                  <a:lnTo>
                    <a:pt x="317779" y="176402"/>
                  </a:lnTo>
                  <a:lnTo>
                    <a:pt x="328726" y="187325"/>
                  </a:lnTo>
                  <a:lnTo>
                    <a:pt x="333120" y="189611"/>
                  </a:lnTo>
                  <a:lnTo>
                    <a:pt x="337502" y="189611"/>
                  </a:lnTo>
                  <a:lnTo>
                    <a:pt x="341883" y="187325"/>
                  </a:lnTo>
                  <a:lnTo>
                    <a:pt x="352195" y="176402"/>
                  </a:lnTo>
                  <a:close/>
                </a:path>
                <a:path w="386080" h="387984">
                  <a:moveTo>
                    <a:pt x="249834" y="0"/>
                  </a:moveTo>
                  <a:lnTo>
                    <a:pt x="243255" y="0"/>
                  </a:lnTo>
                  <a:lnTo>
                    <a:pt x="241071" y="4444"/>
                  </a:lnTo>
                  <a:lnTo>
                    <a:pt x="199428" y="44068"/>
                  </a:lnTo>
                  <a:lnTo>
                    <a:pt x="197243" y="46227"/>
                  </a:lnTo>
                  <a:lnTo>
                    <a:pt x="197243" y="55117"/>
                  </a:lnTo>
                  <a:lnTo>
                    <a:pt x="199428" y="57276"/>
                  </a:lnTo>
                  <a:lnTo>
                    <a:pt x="210388" y="68325"/>
                  </a:lnTo>
                  <a:lnTo>
                    <a:pt x="151218" y="127888"/>
                  </a:lnTo>
                  <a:lnTo>
                    <a:pt x="374764" y="127888"/>
                  </a:lnTo>
                  <a:lnTo>
                    <a:pt x="252031" y="4444"/>
                  </a:lnTo>
                  <a:lnTo>
                    <a:pt x="249834" y="0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62" y="1288034"/>
              <a:ext cx="170903" cy="17017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302258" y="766430"/>
            <a:ext cx="7577455" cy="2663190"/>
          </a:xfrm>
          <a:prstGeom prst="rect">
            <a:avLst/>
          </a:prstGeom>
        </p:spPr>
        <p:txBody>
          <a:bodyPr vert="horz" wrap="square" lIns="0" tIns="217804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714"/>
              </a:spcBef>
            </a:pP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将一棵二叉树还原为树或森林，具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体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转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换方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法是</a:t>
            </a:r>
            <a:endParaRPr sz="2800" dirty="0">
              <a:latin typeface="微软雅黑"/>
              <a:cs typeface="微软雅黑"/>
            </a:endParaRPr>
          </a:p>
          <a:p>
            <a:pPr marL="12700" marR="124460">
              <a:lnSpc>
                <a:spcPct val="100000"/>
              </a:lnSpc>
              <a:spcBef>
                <a:spcPts val="1390"/>
              </a:spcBef>
              <a:buClr>
                <a:srgbClr val="404040"/>
              </a:buClr>
              <a:buSzPct val="95833"/>
              <a:buAutoNum type="arabicPlain"/>
              <a:tabLst>
                <a:tab pos="775335" algn="l"/>
              </a:tabLst>
            </a:pPr>
            <a:r>
              <a:rPr lang="en-US" altLang="zh-CN" sz="2400" dirty="0">
                <a:solidFill>
                  <a:srgbClr val="285A31"/>
                </a:solidFill>
                <a:latin typeface="微软雅黑"/>
                <a:cs typeface="微软雅黑"/>
              </a:rPr>
              <a:t>      </a:t>
            </a:r>
            <a:r>
              <a:rPr sz="2400" b="1" dirty="0" err="1">
                <a:solidFill>
                  <a:srgbClr val="FF0000"/>
                </a:solidFill>
                <a:latin typeface="微软雅黑"/>
                <a:cs typeface="微软雅黑"/>
              </a:rPr>
              <a:t>加线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——</a:t>
            </a: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若某结点</a:t>
            </a:r>
            <a:r>
              <a:rPr sz="2400" spc="-150" dirty="0">
                <a:solidFill>
                  <a:srgbClr val="404040"/>
                </a:solidFill>
                <a:latin typeface="微软雅黑"/>
                <a:cs typeface="微软雅黑"/>
              </a:rPr>
              <a:t> </a:t>
            </a: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x</a:t>
            </a:r>
            <a:r>
              <a:rPr sz="2400" i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是其双亲</a:t>
            </a:r>
            <a:r>
              <a:rPr sz="2400" spc="-140" dirty="0">
                <a:solidFill>
                  <a:srgbClr val="404040"/>
                </a:solidFill>
                <a:latin typeface="微软雅黑"/>
                <a:cs typeface="微软雅黑"/>
              </a:rPr>
              <a:t> </a:t>
            </a: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y</a:t>
            </a:r>
            <a:r>
              <a:rPr sz="2400" i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的左孩子，则把结 点</a:t>
            </a:r>
            <a:r>
              <a:rPr sz="2400" spc="-135" dirty="0">
                <a:solidFill>
                  <a:srgbClr val="404040"/>
                </a:solidFill>
                <a:latin typeface="微软雅黑"/>
                <a:cs typeface="微软雅黑"/>
              </a:rPr>
              <a:t> </a:t>
            </a: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x</a:t>
            </a:r>
            <a:r>
              <a:rPr sz="2400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微软雅黑"/>
                <a:cs typeface="微软雅黑"/>
              </a:rPr>
              <a:t>的右孩子、右孩子的右孩子、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……</a:t>
            </a:r>
            <a:r>
              <a:rPr sz="2400" spc="-5" dirty="0">
                <a:solidFill>
                  <a:srgbClr val="404040"/>
                </a:solidFill>
                <a:latin typeface="微软雅黑"/>
                <a:cs typeface="微软雅黑"/>
              </a:rPr>
              <a:t>，与结</a:t>
            </a: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点</a:t>
            </a:r>
            <a:r>
              <a:rPr sz="2400" spc="-125" dirty="0">
                <a:solidFill>
                  <a:srgbClr val="404040"/>
                </a:solidFill>
                <a:latin typeface="微软雅黑"/>
                <a:cs typeface="微软雅黑"/>
              </a:rPr>
              <a:t> </a:t>
            </a: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y</a:t>
            </a:r>
            <a:r>
              <a:rPr sz="2400" i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微软雅黑"/>
                <a:cs typeface="微软雅黑"/>
              </a:rPr>
              <a:t>连线</a:t>
            </a:r>
            <a:endParaRPr sz="2400" dirty="0">
              <a:latin typeface="微软雅黑"/>
              <a:cs typeface="微软雅黑"/>
            </a:endParaRPr>
          </a:p>
          <a:p>
            <a:pPr marL="775335" indent="-762635">
              <a:lnSpc>
                <a:spcPct val="100000"/>
              </a:lnSpc>
              <a:spcBef>
                <a:spcPts val="1440"/>
              </a:spcBef>
              <a:buClr>
                <a:srgbClr val="404040"/>
              </a:buClr>
              <a:buSzPct val="95833"/>
              <a:buAutoNum type="arabicPlain"/>
              <a:tabLst>
                <a:tab pos="775335" algn="l"/>
              </a:tabLst>
            </a:pPr>
            <a:r>
              <a:rPr sz="2400" b="1" dirty="0">
                <a:solidFill>
                  <a:srgbClr val="FF0000"/>
                </a:solidFill>
                <a:latin typeface="微软雅黑"/>
                <a:cs typeface="微软雅黑"/>
              </a:rPr>
              <a:t>去线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——</a:t>
            </a: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删去所有双亲结点与右孩子结点的连线</a:t>
            </a:r>
            <a:endParaRPr sz="2400" dirty="0">
              <a:latin typeface="微软雅黑"/>
              <a:cs typeface="微软雅黑"/>
            </a:endParaRPr>
          </a:p>
          <a:p>
            <a:pPr marL="775335" indent="-762635">
              <a:lnSpc>
                <a:spcPct val="100000"/>
              </a:lnSpc>
              <a:spcBef>
                <a:spcPts val="1440"/>
              </a:spcBef>
              <a:buClr>
                <a:srgbClr val="404040"/>
              </a:buClr>
              <a:buSzPct val="95833"/>
              <a:buAutoNum type="arabicPlain"/>
              <a:tabLst>
                <a:tab pos="775335" algn="l"/>
              </a:tabLst>
            </a:pPr>
            <a:r>
              <a:rPr sz="2400" b="1" dirty="0">
                <a:solidFill>
                  <a:srgbClr val="FF0000"/>
                </a:solidFill>
                <a:latin typeface="微软雅黑"/>
                <a:cs typeface="微软雅黑"/>
              </a:rPr>
              <a:t>层次调整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——</a:t>
            </a: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整理由（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1</a:t>
            </a: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）、（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2</a:t>
            </a: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）两步所得到的</a:t>
            </a:r>
            <a:endParaRPr sz="2400" dirty="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02258" y="3403854"/>
            <a:ext cx="3988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树（森林），使之层次分明。</a:t>
            </a:r>
            <a:endParaRPr sz="2400">
              <a:latin typeface="微软雅黑"/>
              <a:cs typeface="微软雅黑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0060178" y="525970"/>
            <a:ext cx="805180" cy="849630"/>
            <a:chOff x="10060178" y="525970"/>
            <a:chExt cx="805180" cy="849630"/>
          </a:xfrm>
        </p:grpSpPr>
        <p:sp>
          <p:nvSpPr>
            <p:cNvPr id="11" name="object 11"/>
            <p:cNvSpPr/>
            <p:nvPr/>
          </p:nvSpPr>
          <p:spPr>
            <a:xfrm>
              <a:off x="10079228" y="876808"/>
              <a:ext cx="359410" cy="480059"/>
            </a:xfrm>
            <a:custGeom>
              <a:avLst/>
              <a:gdLst/>
              <a:ahLst/>
              <a:cxnLst/>
              <a:rect l="l" t="t" r="r" b="b"/>
              <a:pathLst>
                <a:path w="359409" h="480059">
                  <a:moveTo>
                    <a:pt x="359282" y="0"/>
                  </a:moveTo>
                  <a:lnTo>
                    <a:pt x="0" y="479678"/>
                  </a:lnTo>
                </a:path>
              </a:pathLst>
            </a:custGeom>
            <a:ln w="38100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418826" y="54025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4">
                  <a:moveTo>
                    <a:pt x="0" y="215900"/>
                  </a:moveTo>
                  <a:lnTo>
                    <a:pt x="5701" y="166391"/>
                  </a:lnTo>
                  <a:lnTo>
                    <a:pt x="21941" y="120946"/>
                  </a:lnTo>
                  <a:lnTo>
                    <a:pt x="47426" y="80859"/>
                  </a:lnTo>
                  <a:lnTo>
                    <a:pt x="80859" y="47426"/>
                  </a:lnTo>
                  <a:lnTo>
                    <a:pt x="120946" y="21941"/>
                  </a:lnTo>
                  <a:lnTo>
                    <a:pt x="166391" y="5701"/>
                  </a:lnTo>
                  <a:lnTo>
                    <a:pt x="215900" y="0"/>
                  </a:lnTo>
                  <a:lnTo>
                    <a:pt x="265455" y="5701"/>
                  </a:lnTo>
                  <a:lnTo>
                    <a:pt x="310934" y="21941"/>
                  </a:lnTo>
                  <a:lnTo>
                    <a:pt x="351043" y="47426"/>
                  </a:lnTo>
                  <a:lnTo>
                    <a:pt x="384490" y="80859"/>
                  </a:lnTo>
                  <a:lnTo>
                    <a:pt x="409982" y="120946"/>
                  </a:lnTo>
                  <a:lnTo>
                    <a:pt x="426225" y="166391"/>
                  </a:lnTo>
                  <a:lnTo>
                    <a:pt x="431926" y="215900"/>
                  </a:lnTo>
                  <a:lnTo>
                    <a:pt x="426225" y="265455"/>
                  </a:lnTo>
                  <a:lnTo>
                    <a:pt x="409982" y="310934"/>
                  </a:lnTo>
                  <a:lnTo>
                    <a:pt x="384490" y="351043"/>
                  </a:lnTo>
                  <a:lnTo>
                    <a:pt x="351043" y="384490"/>
                  </a:lnTo>
                  <a:lnTo>
                    <a:pt x="310934" y="409982"/>
                  </a:lnTo>
                  <a:lnTo>
                    <a:pt x="265455" y="426225"/>
                  </a:lnTo>
                  <a:lnTo>
                    <a:pt x="215900" y="431926"/>
                  </a:lnTo>
                  <a:lnTo>
                    <a:pt x="166391" y="426225"/>
                  </a:lnTo>
                  <a:lnTo>
                    <a:pt x="120946" y="409982"/>
                  </a:lnTo>
                  <a:lnTo>
                    <a:pt x="80859" y="384490"/>
                  </a:lnTo>
                  <a:lnTo>
                    <a:pt x="47426" y="351043"/>
                  </a:lnTo>
                  <a:lnTo>
                    <a:pt x="21941" y="310934"/>
                  </a:lnTo>
                  <a:lnTo>
                    <a:pt x="5701" y="265455"/>
                  </a:lnTo>
                  <a:lnTo>
                    <a:pt x="0" y="215900"/>
                  </a:lnTo>
                  <a:close/>
                </a:path>
              </a:pathLst>
            </a:custGeom>
            <a:ln w="28575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0530331" y="531063"/>
            <a:ext cx="2120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303891" y="2273554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5">
                <a:moveTo>
                  <a:pt x="0" y="215900"/>
                </a:moveTo>
                <a:lnTo>
                  <a:pt x="5701" y="166391"/>
                </a:lnTo>
                <a:lnTo>
                  <a:pt x="21941" y="120946"/>
                </a:lnTo>
                <a:lnTo>
                  <a:pt x="47426" y="80859"/>
                </a:lnTo>
                <a:lnTo>
                  <a:pt x="80859" y="47426"/>
                </a:lnTo>
                <a:lnTo>
                  <a:pt x="120946" y="21941"/>
                </a:lnTo>
                <a:lnTo>
                  <a:pt x="166391" y="5701"/>
                </a:lnTo>
                <a:lnTo>
                  <a:pt x="215900" y="0"/>
                </a:lnTo>
                <a:lnTo>
                  <a:pt x="265455" y="5701"/>
                </a:lnTo>
                <a:lnTo>
                  <a:pt x="310934" y="21941"/>
                </a:lnTo>
                <a:lnTo>
                  <a:pt x="351043" y="47426"/>
                </a:lnTo>
                <a:lnTo>
                  <a:pt x="384490" y="80859"/>
                </a:lnTo>
                <a:lnTo>
                  <a:pt x="409982" y="120946"/>
                </a:lnTo>
                <a:lnTo>
                  <a:pt x="426225" y="166391"/>
                </a:lnTo>
                <a:lnTo>
                  <a:pt x="431926" y="215900"/>
                </a:lnTo>
                <a:lnTo>
                  <a:pt x="426225" y="265455"/>
                </a:lnTo>
                <a:lnTo>
                  <a:pt x="409982" y="310934"/>
                </a:lnTo>
                <a:lnTo>
                  <a:pt x="384490" y="351043"/>
                </a:lnTo>
                <a:lnTo>
                  <a:pt x="351043" y="384490"/>
                </a:lnTo>
                <a:lnTo>
                  <a:pt x="310934" y="409982"/>
                </a:lnTo>
                <a:lnTo>
                  <a:pt x="265455" y="426225"/>
                </a:lnTo>
                <a:lnTo>
                  <a:pt x="215900" y="431926"/>
                </a:lnTo>
                <a:lnTo>
                  <a:pt x="166391" y="426225"/>
                </a:lnTo>
                <a:lnTo>
                  <a:pt x="120946" y="409982"/>
                </a:lnTo>
                <a:lnTo>
                  <a:pt x="80859" y="384490"/>
                </a:lnTo>
                <a:lnTo>
                  <a:pt x="47426" y="351043"/>
                </a:lnTo>
                <a:lnTo>
                  <a:pt x="21941" y="310934"/>
                </a:lnTo>
                <a:lnTo>
                  <a:pt x="5701" y="265455"/>
                </a:lnTo>
                <a:lnTo>
                  <a:pt x="0" y="215900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406253" y="2265045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46360" y="1326007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5">
                <a:moveTo>
                  <a:pt x="0" y="216026"/>
                </a:moveTo>
                <a:lnTo>
                  <a:pt x="5701" y="166511"/>
                </a:lnTo>
                <a:lnTo>
                  <a:pt x="21941" y="121048"/>
                </a:lnTo>
                <a:lnTo>
                  <a:pt x="47426" y="80936"/>
                </a:lnTo>
                <a:lnTo>
                  <a:pt x="80859" y="47476"/>
                </a:lnTo>
                <a:lnTo>
                  <a:pt x="120946" y="21966"/>
                </a:lnTo>
                <a:lnTo>
                  <a:pt x="166391" y="5708"/>
                </a:lnTo>
                <a:lnTo>
                  <a:pt x="215900" y="0"/>
                </a:lnTo>
                <a:lnTo>
                  <a:pt x="265455" y="5708"/>
                </a:lnTo>
                <a:lnTo>
                  <a:pt x="310934" y="21966"/>
                </a:lnTo>
                <a:lnTo>
                  <a:pt x="351043" y="47476"/>
                </a:lnTo>
                <a:lnTo>
                  <a:pt x="384490" y="80936"/>
                </a:lnTo>
                <a:lnTo>
                  <a:pt x="409982" y="121048"/>
                </a:lnTo>
                <a:lnTo>
                  <a:pt x="426225" y="166511"/>
                </a:lnTo>
                <a:lnTo>
                  <a:pt x="431927" y="216026"/>
                </a:lnTo>
                <a:lnTo>
                  <a:pt x="426225" y="265542"/>
                </a:lnTo>
                <a:lnTo>
                  <a:pt x="409982" y="311005"/>
                </a:lnTo>
                <a:lnTo>
                  <a:pt x="384490" y="351117"/>
                </a:lnTo>
                <a:lnTo>
                  <a:pt x="351043" y="384577"/>
                </a:lnTo>
                <a:lnTo>
                  <a:pt x="310934" y="410087"/>
                </a:lnTo>
                <a:lnTo>
                  <a:pt x="265455" y="426345"/>
                </a:lnTo>
                <a:lnTo>
                  <a:pt x="215900" y="432053"/>
                </a:lnTo>
                <a:lnTo>
                  <a:pt x="166391" y="426345"/>
                </a:lnTo>
                <a:lnTo>
                  <a:pt x="120946" y="410087"/>
                </a:lnTo>
                <a:lnTo>
                  <a:pt x="80859" y="384577"/>
                </a:lnTo>
                <a:lnTo>
                  <a:pt x="47426" y="351117"/>
                </a:lnTo>
                <a:lnTo>
                  <a:pt x="21941" y="311005"/>
                </a:lnTo>
                <a:lnTo>
                  <a:pt x="5701" y="265542"/>
                </a:lnTo>
                <a:lnTo>
                  <a:pt x="0" y="216026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857613" y="1317497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253728" y="2273554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5">
                <a:moveTo>
                  <a:pt x="0" y="215900"/>
                </a:moveTo>
                <a:lnTo>
                  <a:pt x="5701" y="166391"/>
                </a:lnTo>
                <a:lnTo>
                  <a:pt x="21944" y="120946"/>
                </a:lnTo>
                <a:lnTo>
                  <a:pt x="47436" y="80859"/>
                </a:lnTo>
                <a:lnTo>
                  <a:pt x="80883" y="47426"/>
                </a:lnTo>
                <a:lnTo>
                  <a:pt x="120992" y="21941"/>
                </a:lnTo>
                <a:lnTo>
                  <a:pt x="166471" y="5701"/>
                </a:lnTo>
                <a:lnTo>
                  <a:pt x="216026" y="0"/>
                </a:lnTo>
                <a:lnTo>
                  <a:pt x="265535" y="5701"/>
                </a:lnTo>
                <a:lnTo>
                  <a:pt x="310980" y="21941"/>
                </a:lnTo>
                <a:lnTo>
                  <a:pt x="351067" y="47426"/>
                </a:lnTo>
                <a:lnTo>
                  <a:pt x="384500" y="80859"/>
                </a:lnTo>
                <a:lnTo>
                  <a:pt x="409985" y="120946"/>
                </a:lnTo>
                <a:lnTo>
                  <a:pt x="426225" y="166391"/>
                </a:lnTo>
                <a:lnTo>
                  <a:pt x="431926" y="215900"/>
                </a:lnTo>
                <a:lnTo>
                  <a:pt x="426225" y="265455"/>
                </a:lnTo>
                <a:lnTo>
                  <a:pt x="409985" y="310934"/>
                </a:lnTo>
                <a:lnTo>
                  <a:pt x="384500" y="351043"/>
                </a:lnTo>
                <a:lnTo>
                  <a:pt x="351067" y="384490"/>
                </a:lnTo>
                <a:lnTo>
                  <a:pt x="310980" y="409982"/>
                </a:lnTo>
                <a:lnTo>
                  <a:pt x="265535" y="426225"/>
                </a:lnTo>
                <a:lnTo>
                  <a:pt x="216026" y="431926"/>
                </a:lnTo>
                <a:lnTo>
                  <a:pt x="166471" y="426225"/>
                </a:lnTo>
                <a:lnTo>
                  <a:pt x="120992" y="409982"/>
                </a:lnTo>
                <a:lnTo>
                  <a:pt x="80883" y="384490"/>
                </a:lnTo>
                <a:lnTo>
                  <a:pt x="47436" y="351043"/>
                </a:lnTo>
                <a:lnTo>
                  <a:pt x="21944" y="310934"/>
                </a:lnTo>
                <a:lnTo>
                  <a:pt x="5701" y="265455"/>
                </a:lnTo>
                <a:lnTo>
                  <a:pt x="0" y="215900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9365106" y="2265045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368660" y="4001896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5">
                <a:moveTo>
                  <a:pt x="0" y="216026"/>
                </a:moveTo>
                <a:lnTo>
                  <a:pt x="5701" y="166511"/>
                </a:lnTo>
                <a:lnTo>
                  <a:pt x="21941" y="121048"/>
                </a:lnTo>
                <a:lnTo>
                  <a:pt x="47426" y="80936"/>
                </a:lnTo>
                <a:lnTo>
                  <a:pt x="80859" y="47476"/>
                </a:lnTo>
                <a:lnTo>
                  <a:pt x="120946" y="21966"/>
                </a:lnTo>
                <a:lnTo>
                  <a:pt x="166391" y="5708"/>
                </a:lnTo>
                <a:lnTo>
                  <a:pt x="215900" y="0"/>
                </a:lnTo>
                <a:lnTo>
                  <a:pt x="265455" y="5708"/>
                </a:lnTo>
                <a:lnTo>
                  <a:pt x="310934" y="21966"/>
                </a:lnTo>
                <a:lnTo>
                  <a:pt x="351043" y="47476"/>
                </a:lnTo>
                <a:lnTo>
                  <a:pt x="384490" y="80936"/>
                </a:lnTo>
                <a:lnTo>
                  <a:pt x="409982" y="121048"/>
                </a:lnTo>
                <a:lnTo>
                  <a:pt x="426225" y="166511"/>
                </a:lnTo>
                <a:lnTo>
                  <a:pt x="431927" y="216026"/>
                </a:lnTo>
                <a:lnTo>
                  <a:pt x="426225" y="265582"/>
                </a:lnTo>
                <a:lnTo>
                  <a:pt x="409982" y="311061"/>
                </a:lnTo>
                <a:lnTo>
                  <a:pt x="384490" y="351170"/>
                </a:lnTo>
                <a:lnTo>
                  <a:pt x="351043" y="384617"/>
                </a:lnTo>
                <a:lnTo>
                  <a:pt x="310934" y="410109"/>
                </a:lnTo>
                <a:lnTo>
                  <a:pt x="265455" y="426352"/>
                </a:lnTo>
                <a:lnTo>
                  <a:pt x="215900" y="432053"/>
                </a:lnTo>
                <a:lnTo>
                  <a:pt x="166391" y="426352"/>
                </a:lnTo>
                <a:lnTo>
                  <a:pt x="120946" y="410109"/>
                </a:lnTo>
                <a:lnTo>
                  <a:pt x="80859" y="384617"/>
                </a:lnTo>
                <a:lnTo>
                  <a:pt x="47426" y="351170"/>
                </a:lnTo>
                <a:lnTo>
                  <a:pt x="21941" y="311061"/>
                </a:lnTo>
                <a:lnTo>
                  <a:pt x="5701" y="265582"/>
                </a:lnTo>
                <a:lnTo>
                  <a:pt x="0" y="216026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0463276" y="3993895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Times New Roman"/>
                <a:cs typeface="Times New Roman"/>
              </a:rPr>
              <a:t>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0787380" y="3078352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5">
                <a:moveTo>
                  <a:pt x="0" y="215900"/>
                </a:moveTo>
                <a:lnTo>
                  <a:pt x="5708" y="166391"/>
                </a:lnTo>
                <a:lnTo>
                  <a:pt x="21966" y="120946"/>
                </a:lnTo>
                <a:lnTo>
                  <a:pt x="47476" y="80859"/>
                </a:lnTo>
                <a:lnTo>
                  <a:pt x="80936" y="47426"/>
                </a:lnTo>
                <a:lnTo>
                  <a:pt x="121048" y="21941"/>
                </a:lnTo>
                <a:lnTo>
                  <a:pt x="166511" y="5701"/>
                </a:lnTo>
                <a:lnTo>
                  <a:pt x="216026" y="0"/>
                </a:lnTo>
                <a:lnTo>
                  <a:pt x="265542" y="5701"/>
                </a:lnTo>
                <a:lnTo>
                  <a:pt x="311005" y="21941"/>
                </a:lnTo>
                <a:lnTo>
                  <a:pt x="351117" y="47426"/>
                </a:lnTo>
                <a:lnTo>
                  <a:pt x="384577" y="80859"/>
                </a:lnTo>
                <a:lnTo>
                  <a:pt x="410087" y="120946"/>
                </a:lnTo>
                <a:lnTo>
                  <a:pt x="426345" y="166391"/>
                </a:lnTo>
                <a:lnTo>
                  <a:pt x="432053" y="215900"/>
                </a:lnTo>
                <a:lnTo>
                  <a:pt x="426345" y="265455"/>
                </a:lnTo>
                <a:lnTo>
                  <a:pt x="410087" y="310934"/>
                </a:lnTo>
                <a:lnTo>
                  <a:pt x="384577" y="351043"/>
                </a:lnTo>
                <a:lnTo>
                  <a:pt x="351117" y="384490"/>
                </a:lnTo>
                <a:lnTo>
                  <a:pt x="311005" y="409982"/>
                </a:lnTo>
                <a:lnTo>
                  <a:pt x="265542" y="426225"/>
                </a:lnTo>
                <a:lnTo>
                  <a:pt x="216026" y="431926"/>
                </a:lnTo>
                <a:lnTo>
                  <a:pt x="166511" y="426225"/>
                </a:lnTo>
                <a:lnTo>
                  <a:pt x="121048" y="409982"/>
                </a:lnTo>
                <a:lnTo>
                  <a:pt x="80936" y="384490"/>
                </a:lnTo>
                <a:lnTo>
                  <a:pt x="47476" y="351043"/>
                </a:lnTo>
                <a:lnTo>
                  <a:pt x="21966" y="310934"/>
                </a:lnTo>
                <a:lnTo>
                  <a:pt x="5708" y="265455"/>
                </a:lnTo>
                <a:lnTo>
                  <a:pt x="0" y="215900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0882121" y="3070097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752965" y="3078352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5">
                <a:moveTo>
                  <a:pt x="0" y="215900"/>
                </a:moveTo>
                <a:lnTo>
                  <a:pt x="5701" y="166391"/>
                </a:lnTo>
                <a:lnTo>
                  <a:pt x="21944" y="120946"/>
                </a:lnTo>
                <a:lnTo>
                  <a:pt x="47436" y="80859"/>
                </a:lnTo>
                <a:lnTo>
                  <a:pt x="80883" y="47426"/>
                </a:lnTo>
                <a:lnTo>
                  <a:pt x="120992" y="21941"/>
                </a:lnTo>
                <a:lnTo>
                  <a:pt x="166471" y="5701"/>
                </a:lnTo>
                <a:lnTo>
                  <a:pt x="216026" y="0"/>
                </a:lnTo>
                <a:lnTo>
                  <a:pt x="265542" y="5701"/>
                </a:lnTo>
                <a:lnTo>
                  <a:pt x="311005" y="21941"/>
                </a:lnTo>
                <a:lnTo>
                  <a:pt x="351117" y="47426"/>
                </a:lnTo>
                <a:lnTo>
                  <a:pt x="384577" y="80859"/>
                </a:lnTo>
                <a:lnTo>
                  <a:pt x="410087" y="120946"/>
                </a:lnTo>
                <a:lnTo>
                  <a:pt x="426345" y="166391"/>
                </a:lnTo>
                <a:lnTo>
                  <a:pt x="432053" y="215900"/>
                </a:lnTo>
                <a:lnTo>
                  <a:pt x="426345" y="265455"/>
                </a:lnTo>
                <a:lnTo>
                  <a:pt x="410087" y="310934"/>
                </a:lnTo>
                <a:lnTo>
                  <a:pt x="384577" y="351043"/>
                </a:lnTo>
                <a:lnTo>
                  <a:pt x="351117" y="384490"/>
                </a:lnTo>
                <a:lnTo>
                  <a:pt x="311005" y="409982"/>
                </a:lnTo>
                <a:lnTo>
                  <a:pt x="265542" y="426225"/>
                </a:lnTo>
                <a:lnTo>
                  <a:pt x="216026" y="431926"/>
                </a:lnTo>
                <a:lnTo>
                  <a:pt x="166471" y="426225"/>
                </a:lnTo>
                <a:lnTo>
                  <a:pt x="120992" y="409982"/>
                </a:lnTo>
                <a:lnTo>
                  <a:pt x="80883" y="384490"/>
                </a:lnTo>
                <a:lnTo>
                  <a:pt x="47436" y="351043"/>
                </a:lnTo>
                <a:lnTo>
                  <a:pt x="21944" y="310934"/>
                </a:lnTo>
                <a:lnTo>
                  <a:pt x="5701" y="265455"/>
                </a:lnTo>
                <a:lnTo>
                  <a:pt x="0" y="215900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9864343" y="3070097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579294" y="919924"/>
            <a:ext cx="2435225" cy="4093845"/>
            <a:chOff x="8579294" y="919924"/>
            <a:chExt cx="2435225" cy="4093845"/>
          </a:xfrm>
        </p:grpSpPr>
        <p:sp>
          <p:nvSpPr>
            <p:cNvPr id="27" name="object 27"/>
            <p:cNvSpPr/>
            <p:nvPr/>
          </p:nvSpPr>
          <p:spPr>
            <a:xfrm>
              <a:off x="9487915" y="1724659"/>
              <a:ext cx="1437005" cy="2277745"/>
            </a:xfrm>
            <a:custGeom>
              <a:avLst/>
              <a:gdLst/>
              <a:ahLst/>
              <a:cxnLst/>
              <a:rect l="l" t="t" r="r" b="b"/>
              <a:pathLst>
                <a:path w="1437004" h="2277745">
                  <a:moveTo>
                    <a:pt x="1436624" y="1755775"/>
                  </a:moveTo>
                  <a:lnTo>
                    <a:pt x="1148714" y="2277237"/>
                  </a:lnTo>
                </a:path>
                <a:path w="1437004" h="2277745">
                  <a:moveTo>
                    <a:pt x="359917" y="2031"/>
                  </a:moveTo>
                  <a:lnTo>
                    <a:pt x="0" y="548893"/>
                  </a:lnTo>
                </a:path>
                <a:path w="1437004" h="2277745">
                  <a:moveTo>
                    <a:pt x="97408" y="947927"/>
                  </a:moveTo>
                  <a:lnTo>
                    <a:pt x="359917" y="1399539"/>
                  </a:lnTo>
                </a:path>
                <a:path w="1437004" h="2277745">
                  <a:moveTo>
                    <a:pt x="1179194" y="926338"/>
                  </a:moveTo>
                  <a:lnTo>
                    <a:pt x="1436624" y="1353692"/>
                  </a:lnTo>
                </a:path>
                <a:path w="1437004" h="2277745">
                  <a:moveTo>
                    <a:pt x="954277" y="546862"/>
                  </a:moveTo>
                  <a:lnTo>
                    <a:pt x="594232" y="0"/>
                  </a:lnTo>
                </a:path>
              </a:pathLst>
            </a:custGeom>
            <a:ln w="38100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974452" y="934211"/>
              <a:ext cx="1025525" cy="2144395"/>
            </a:xfrm>
            <a:custGeom>
              <a:avLst/>
              <a:gdLst/>
              <a:ahLst/>
              <a:cxnLst/>
              <a:rect l="l" t="t" r="r" b="b"/>
              <a:pathLst>
                <a:path w="1025525" h="2144395">
                  <a:moveTo>
                    <a:pt x="596392" y="1337310"/>
                  </a:moveTo>
                  <a:lnTo>
                    <a:pt x="596392" y="0"/>
                  </a:lnTo>
                </a:path>
                <a:path w="1025525" h="2144395">
                  <a:moveTo>
                    <a:pt x="1025525" y="2142743"/>
                  </a:moveTo>
                  <a:lnTo>
                    <a:pt x="773556" y="18796"/>
                  </a:lnTo>
                </a:path>
                <a:path w="1025525" h="2144395">
                  <a:moveTo>
                    <a:pt x="0" y="2144141"/>
                  </a:moveTo>
                  <a:lnTo>
                    <a:pt x="0" y="823849"/>
                  </a:lnTo>
                </a:path>
              </a:pathLst>
            </a:custGeom>
            <a:ln w="28575">
              <a:solidFill>
                <a:srgbClr val="B42C2C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593581" y="4531105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29">
                  <a:moveTo>
                    <a:pt x="234188" y="0"/>
                  </a:moveTo>
                  <a:lnTo>
                    <a:pt x="187006" y="4754"/>
                  </a:lnTo>
                  <a:lnTo>
                    <a:pt x="143053" y="18391"/>
                  </a:lnTo>
                  <a:lnTo>
                    <a:pt x="103274" y="39969"/>
                  </a:lnTo>
                  <a:lnTo>
                    <a:pt x="68611" y="68548"/>
                  </a:lnTo>
                  <a:lnTo>
                    <a:pt x="40009" y="103187"/>
                  </a:lnTo>
                  <a:lnTo>
                    <a:pt x="18411" y="142946"/>
                  </a:lnTo>
                  <a:lnTo>
                    <a:pt x="4760" y="186884"/>
                  </a:lnTo>
                  <a:lnTo>
                    <a:pt x="0" y="234061"/>
                  </a:lnTo>
                  <a:lnTo>
                    <a:pt x="4760" y="281279"/>
                  </a:lnTo>
                  <a:lnTo>
                    <a:pt x="18411" y="325248"/>
                  </a:lnTo>
                  <a:lnTo>
                    <a:pt x="40009" y="365030"/>
                  </a:lnTo>
                  <a:lnTo>
                    <a:pt x="68611" y="399684"/>
                  </a:lnTo>
                  <a:lnTo>
                    <a:pt x="103274" y="428273"/>
                  </a:lnTo>
                  <a:lnTo>
                    <a:pt x="143053" y="449855"/>
                  </a:lnTo>
                  <a:lnTo>
                    <a:pt x="187006" y="463494"/>
                  </a:lnTo>
                  <a:lnTo>
                    <a:pt x="234188" y="468249"/>
                  </a:lnTo>
                  <a:lnTo>
                    <a:pt x="281369" y="463494"/>
                  </a:lnTo>
                  <a:lnTo>
                    <a:pt x="325322" y="449855"/>
                  </a:lnTo>
                  <a:lnTo>
                    <a:pt x="365101" y="428273"/>
                  </a:lnTo>
                  <a:lnTo>
                    <a:pt x="399764" y="399684"/>
                  </a:lnTo>
                  <a:lnTo>
                    <a:pt x="428366" y="365030"/>
                  </a:lnTo>
                  <a:lnTo>
                    <a:pt x="449964" y="325248"/>
                  </a:lnTo>
                  <a:lnTo>
                    <a:pt x="463615" y="281279"/>
                  </a:lnTo>
                  <a:lnTo>
                    <a:pt x="468375" y="234061"/>
                  </a:lnTo>
                  <a:lnTo>
                    <a:pt x="463615" y="186884"/>
                  </a:lnTo>
                  <a:lnTo>
                    <a:pt x="449964" y="142946"/>
                  </a:lnTo>
                  <a:lnTo>
                    <a:pt x="428366" y="103187"/>
                  </a:lnTo>
                  <a:lnTo>
                    <a:pt x="399764" y="68548"/>
                  </a:lnTo>
                  <a:lnTo>
                    <a:pt x="365101" y="39969"/>
                  </a:lnTo>
                  <a:lnTo>
                    <a:pt x="325322" y="18391"/>
                  </a:lnTo>
                  <a:lnTo>
                    <a:pt x="281369" y="4754"/>
                  </a:lnTo>
                  <a:lnTo>
                    <a:pt x="234188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593581" y="4531105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29">
                  <a:moveTo>
                    <a:pt x="0" y="234061"/>
                  </a:moveTo>
                  <a:lnTo>
                    <a:pt x="4760" y="186884"/>
                  </a:lnTo>
                  <a:lnTo>
                    <a:pt x="18411" y="142946"/>
                  </a:lnTo>
                  <a:lnTo>
                    <a:pt x="40009" y="103187"/>
                  </a:lnTo>
                  <a:lnTo>
                    <a:pt x="68611" y="68548"/>
                  </a:lnTo>
                  <a:lnTo>
                    <a:pt x="103274" y="39969"/>
                  </a:lnTo>
                  <a:lnTo>
                    <a:pt x="143053" y="18391"/>
                  </a:lnTo>
                  <a:lnTo>
                    <a:pt x="187006" y="4754"/>
                  </a:lnTo>
                  <a:lnTo>
                    <a:pt x="234188" y="0"/>
                  </a:lnTo>
                  <a:lnTo>
                    <a:pt x="281369" y="4754"/>
                  </a:lnTo>
                  <a:lnTo>
                    <a:pt x="325322" y="18391"/>
                  </a:lnTo>
                  <a:lnTo>
                    <a:pt x="365101" y="39969"/>
                  </a:lnTo>
                  <a:lnTo>
                    <a:pt x="399764" y="68548"/>
                  </a:lnTo>
                  <a:lnTo>
                    <a:pt x="428366" y="103187"/>
                  </a:lnTo>
                  <a:lnTo>
                    <a:pt x="449964" y="142946"/>
                  </a:lnTo>
                  <a:lnTo>
                    <a:pt x="463615" y="186884"/>
                  </a:lnTo>
                  <a:lnTo>
                    <a:pt x="468375" y="234061"/>
                  </a:lnTo>
                  <a:lnTo>
                    <a:pt x="463615" y="281279"/>
                  </a:lnTo>
                  <a:lnTo>
                    <a:pt x="449964" y="325248"/>
                  </a:lnTo>
                  <a:lnTo>
                    <a:pt x="428366" y="365030"/>
                  </a:lnTo>
                  <a:lnTo>
                    <a:pt x="399764" y="399684"/>
                  </a:lnTo>
                  <a:lnTo>
                    <a:pt x="365101" y="428273"/>
                  </a:lnTo>
                  <a:lnTo>
                    <a:pt x="325322" y="449855"/>
                  </a:lnTo>
                  <a:lnTo>
                    <a:pt x="281369" y="463494"/>
                  </a:lnTo>
                  <a:lnTo>
                    <a:pt x="234188" y="468249"/>
                  </a:lnTo>
                  <a:lnTo>
                    <a:pt x="187006" y="463494"/>
                  </a:lnTo>
                  <a:lnTo>
                    <a:pt x="143053" y="449855"/>
                  </a:lnTo>
                  <a:lnTo>
                    <a:pt x="103274" y="428273"/>
                  </a:lnTo>
                  <a:lnTo>
                    <a:pt x="68611" y="399684"/>
                  </a:lnTo>
                  <a:lnTo>
                    <a:pt x="40009" y="365030"/>
                  </a:lnTo>
                  <a:lnTo>
                    <a:pt x="18411" y="325248"/>
                  </a:lnTo>
                  <a:lnTo>
                    <a:pt x="4760" y="281279"/>
                  </a:lnTo>
                  <a:lnTo>
                    <a:pt x="0" y="234061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713978" y="4560189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406195" y="4504118"/>
            <a:ext cx="497205" cy="497205"/>
            <a:chOff x="7406195" y="4504118"/>
            <a:chExt cx="497205" cy="497205"/>
          </a:xfrm>
        </p:grpSpPr>
        <p:sp>
          <p:nvSpPr>
            <p:cNvPr id="33" name="object 33"/>
            <p:cNvSpPr/>
            <p:nvPr/>
          </p:nvSpPr>
          <p:spPr>
            <a:xfrm>
              <a:off x="7420482" y="4518405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29">
                  <a:moveTo>
                    <a:pt x="234188" y="0"/>
                  </a:moveTo>
                  <a:lnTo>
                    <a:pt x="186969" y="4754"/>
                  </a:lnTo>
                  <a:lnTo>
                    <a:pt x="143000" y="18391"/>
                  </a:lnTo>
                  <a:lnTo>
                    <a:pt x="103218" y="39969"/>
                  </a:lnTo>
                  <a:lnTo>
                    <a:pt x="68564" y="68548"/>
                  </a:lnTo>
                  <a:lnTo>
                    <a:pt x="39975" y="103187"/>
                  </a:lnTo>
                  <a:lnTo>
                    <a:pt x="18393" y="142946"/>
                  </a:lnTo>
                  <a:lnTo>
                    <a:pt x="4754" y="186884"/>
                  </a:lnTo>
                  <a:lnTo>
                    <a:pt x="0" y="234061"/>
                  </a:lnTo>
                  <a:lnTo>
                    <a:pt x="4754" y="281279"/>
                  </a:lnTo>
                  <a:lnTo>
                    <a:pt x="18393" y="325248"/>
                  </a:lnTo>
                  <a:lnTo>
                    <a:pt x="39975" y="365030"/>
                  </a:lnTo>
                  <a:lnTo>
                    <a:pt x="68564" y="399684"/>
                  </a:lnTo>
                  <a:lnTo>
                    <a:pt x="103218" y="428273"/>
                  </a:lnTo>
                  <a:lnTo>
                    <a:pt x="143000" y="449855"/>
                  </a:lnTo>
                  <a:lnTo>
                    <a:pt x="186969" y="463494"/>
                  </a:lnTo>
                  <a:lnTo>
                    <a:pt x="234188" y="468249"/>
                  </a:lnTo>
                  <a:lnTo>
                    <a:pt x="281364" y="463494"/>
                  </a:lnTo>
                  <a:lnTo>
                    <a:pt x="325302" y="449855"/>
                  </a:lnTo>
                  <a:lnTo>
                    <a:pt x="365061" y="428273"/>
                  </a:lnTo>
                  <a:lnTo>
                    <a:pt x="399700" y="399684"/>
                  </a:lnTo>
                  <a:lnTo>
                    <a:pt x="428279" y="365030"/>
                  </a:lnTo>
                  <a:lnTo>
                    <a:pt x="449857" y="325248"/>
                  </a:lnTo>
                  <a:lnTo>
                    <a:pt x="463494" y="281279"/>
                  </a:lnTo>
                  <a:lnTo>
                    <a:pt x="468249" y="234061"/>
                  </a:lnTo>
                  <a:lnTo>
                    <a:pt x="463494" y="186884"/>
                  </a:lnTo>
                  <a:lnTo>
                    <a:pt x="449857" y="142946"/>
                  </a:lnTo>
                  <a:lnTo>
                    <a:pt x="428279" y="103187"/>
                  </a:lnTo>
                  <a:lnTo>
                    <a:pt x="399700" y="68548"/>
                  </a:lnTo>
                  <a:lnTo>
                    <a:pt x="365061" y="39969"/>
                  </a:lnTo>
                  <a:lnTo>
                    <a:pt x="325302" y="18391"/>
                  </a:lnTo>
                  <a:lnTo>
                    <a:pt x="281364" y="4754"/>
                  </a:lnTo>
                  <a:lnTo>
                    <a:pt x="234188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420482" y="4518405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29">
                  <a:moveTo>
                    <a:pt x="0" y="234061"/>
                  </a:moveTo>
                  <a:lnTo>
                    <a:pt x="4754" y="186884"/>
                  </a:lnTo>
                  <a:lnTo>
                    <a:pt x="18393" y="142946"/>
                  </a:lnTo>
                  <a:lnTo>
                    <a:pt x="39975" y="103187"/>
                  </a:lnTo>
                  <a:lnTo>
                    <a:pt x="68564" y="68548"/>
                  </a:lnTo>
                  <a:lnTo>
                    <a:pt x="103218" y="39969"/>
                  </a:lnTo>
                  <a:lnTo>
                    <a:pt x="143000" y="18391"/>
                  </a:lnTo>
                  <a:lnTo>
                    <a:pt x="186969" y="4754"/>
                  </a:lnTo>
                  <a:lnTo>
                    <a:pt x="234188" y="0"/>
                  </a:lnTo>
                  <a:lnTo>
                    <a:pt x="281364" y="4754"/>
                  </a:lnTo>
                  <a:lnTo>
                    <a:pt x="325302" y="18391"/>
                  </a:lnTo>
                  <a:lnTo>
                    <a:pt x="365061" y="39969"/>
                  </a:lnTo>
                  <a:lnTo>
                    <a:pt x="399700" y="68548"/>
                  </a:lnTo>
                  <a:lnTo>
                    <a:pt x="428279" y="103187"/>
                  </a:lnTo>
                  <a:lnTo>
                    <a:pt x="449857" y="142946"/>
                  </a:lnTo>
                  <a:lnTo>
                    <a:pt x="463494" y="186884"/>
                  </a:lnTo>
                  <a:lnTo>
                    <a:pt x="468249" y="234061"/>
                  </a:lnTo>
                  <a:lnTo>
                    <a:pt x="463494" y="281279"/>
                  </a:lnTo>
                  <a:lnTo>
                    <a:pt x="449857" y="325248"/>
                  </a:lnTo>
                  <a:lnTo>
                    <a:pt x="428279" y="365030"/>
                  </a:lnTo>
                  <a:lnTo>
                    <a:pt x="399700" y="399684"/>
                  </a:lnTo>
                  <a:lnTo>
                    <a:pt x="365061" y="428273"/>
                  </a:lnTo>
                  <a:lnTo>
                    <a:pt x="325302" y="449855"/>
                  </a:lnTo>
                  <a:lnTo>
                    <a:pt x="281364" y="463494"/>
                  </a:lnTo>
                  <a:lnTo>
                    <a:pt x="234188" y="468249"/>
                  </a:lnTo>
                  <a:lnTo>
                    <a:pt x="186969" y="463494"/>
                  </a:lnTo>
                  <a:lnTo>
                    <a:pt x="143000" y="449855"/>
                  </a:lnTo>
                  <a:lnTo>
                    <a:pt x="103218" y="428273"/>
                  </a:lnTo>
                  <a:lnTo>
                    <a:pt x="68564" y="399684"/>
                  </a:lnTo>
                  <a:lnTo>
                    <a:pt x="39975" y="365030"/>
                  </a:lnTo>
                  <a:lnTo>
                    <a:pt x="18393" y="325248"/>
                  </a:lnTo>
                  <a:lnTo>
                    <a:pt x="4754" y="281279"/>
                  </a:lnTo>
                  <a:lnTo>
                    <a:pt x="0" y="234061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7540497" y="4547361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8021129" y="5535993"/>
            <a:ext cx="497205" cy="497205"/>
            <a:chOff x="8021129" y="5535993"/>
            <a:chExt cx="497205" cy="497205"/>
          </a:xfrm>
        </p:grpSpPr>
        <p:sp>
          <p:nvSpPr>
            <p:cNvPr id="37" name="object 37"/>
            <p:cNvSpPr/>
            <p:nvPr/>
          </p:nvSpPr>
          <p:spPr>
            <a:xfrm>
              <a:off x="8035417" y="5550280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29">
                  <a:moveTo>
                    <a:pt x="234187" y="0"/>
                  </a:moveTo>
                  <a:lnTo>
                    <a:pt x="187006" y="4754"/>
                  </a:lnTo>
                  <a:lnTo>
                    <a:pt x="143053" y="18391"/>
                  </a:lnTo>
                  <a:lnTo>
                    <a:pt x="103274" y="39971"/>
                  </a:lnTo>
                  <a:lnTo>
                    <a:pt x="68611" y="68553"/>
                  </a:lnTo>
                  <a:lnTo>
                    <a:pt x="40009" y="103196"/>
                  </a:lnTo>
                  <a:lnTo>
                    <a:pt x="18411" y="142962"/>
                  </a:lnTo>
                  <a:lnTo>
                    <a:pt x="4760" y="186909"/>
                  </a:lnTo>
                  <a:lnTo>
                    <a:pt x="0" y="234099"/>
                  </a:lnTo>
                  <a:lnTo>
                    <a:pt x="4760" y="281290"/>
                  </a:lnTo>
                  <a:lnTo>
                    <a:pt x="18411" y="325245"/>
                  </a:lnTo>
                  <a:lnTo>
                    <a:pt x="40009" y="365021"/>
                  </a:lnTo>
                  <a:lnTo>
                    <a:pt x="68611" y="399676"/>
                  </a:lnTo>
                  <a:lnTo>
                    <a:pt x="103274" y="428270"/>
                  </a:lnTo>
                  <a:lnTo>
                    <a:pt x="143053" y="449859"/>
                  </a:lnTo>
                  <a:lnTo>
                    <a:pt x="187006" y="463504"/>
                  </a:lnTo>
                  <a:lnTo>
                    <a:pt x="234187" y="468261"/>
                  </a:lnTo>
                  <a:lnTo>
                    <a:pt x="281369" y="463504"/>
                  </a:lnTo>
                  <a:lnTo>
                    <a:pt x="325322" y="449859"/>
                  </a:lnTo>
                  <a:lnTo>
                    <a:pt x="365101" y="428270"/>
                  </a:lnTo>
                  <a:lnTo>
                    <a:pt x="399764" y="399676"/>
                  </a:lnTo>
                  <a:lnTo>
                    <a:pt x="428366" y="365021"/>
                  </a:lnTo>
                  <a:lnTo>
                    <a:pt x="449964" y="325245"/>
                  </a:lnTo>
                  <a:lnTo>
                    <a:pt x="463615" y="281290"/>
                  </a:lnTo>
                  <a:lnTo>
                    <a:pt x="468375" y="234099"/>
                  </a:lnTo>
                  <a:lnTo>
                    <a:pt x="463615" y="186909"/>
                  </a:lnTo>
                  <a:lnTo>
                    <a:pt x="449964" y="142962"/>
                  </a:lnTo>
                  <a:lnTo>
                    <a:pt x="428366" y="103196"/>
                  </a:lnTo>
                  <a:lnTo>
                    <a:pt x="399764" y="68553"/>
                  </a:lnTo>
                  <a:lnTo>
                    <a:pt x="365101" y="39971"/>
                  </a:lnTo>
                  <a:lnTo>
                    <a:pt x="325322" y="18391"/>
                  </a:lnTo>
                  <a:lnTo>
                    <a:pt x="281369" y="4754"/>
                  </a:lnTo>
                  <a:lnTo>
                    <a:pt x="234187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035417" y="5550280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29">
                  <a:moveTo>
                    <a:pt x="0" y="234099"/>
                  </a:moveTo>
                  <a:lnTo>
                    <a:pt x="4760" y="186909"/>
                  </a:lnTo>
                  <a:lnTo>
                    <a:pt x="18411" y="142962"/>
                  </a:lnTo>
                  <a:lnTo>
                    <a:pt x="40009" y="103196"/>
                  </a:lnTo>
                  <a:lnTo>
                    <a:pt x="68611" y="68553"/>
                  </a:lnTo>
                  <a:lnTo>
                    <a:pt x="103274" y="39971"/>
                  </a:lnTo>
                  <a:lnTo>
                    <a:pt x="143053" y="18391"/>
                  </a:lnTo>
                  <a:lnTo>
                    <a:pt x="187006" y="4754"/>
                  </a:lnTo>
                  <a:lnTo>
                    <a:pt x="234187" y="0"/>
                  </a:lnTo>
                  <a:lnTo>
                    <a:pt x="281369" y="4754"/>
                  </a:lnTo>
                  <a:lnTo>
                    <a:pt x="325322" y="18391"/>
                  </a:lnTo>
                  <a:lnTo>
                    <a:pt x="365101" y="39971"/>
                  </a:lnTo>
                  <a:lnTo>
                    <a:pt x="399764" y="68553"/>
                  </a:lnTo>
                  <a:lnTo>
                    <a:pt x="428366" y="103196"/>
                  </a:lnTo>
                  <a:lnTo>
                    <a:pt x="449964" y="142962"/>
                  </a:lnTo>
                  <a:lnTo>
                    <a:pt x="463615" y="186909"/>
                  </a:lnTo>
                  <a:lnTo>
                    <a:pt x="468375" y="234099"/>
                  </a:lnTo>
                  <a:lnTo>
                    <a:pt x="463615" y="281290"/>
                  </a:lnTo>
                  <a:lnTo>
                    <a:pt x="449964" y="325245"/>
                  </a:lnTo>
                  <a:lnTo>
                    <a:pt x="428366" y="365021"/>
                  </a:lnTo>
                  <a:lnTo>
                    <a:pt x="399764" y="399676"/>
                  </a:lnTo>
                  <a:lnTo>
                    <a:pt x="365101" y="428270"/>
                  </a:lnTo>
                  <a:lnTo>
                    <a:pt x="325322" y="449859"/>
                  </a:lnTo>
                  <a:lnTo>
                    <a:pt x="281369" y="463504"/>
                  </a:lnTo>
                  <a:lnTo>
                    <a:pt x="234187" y="468261"/>
                  </a:lnTo>
                  <a:lnTo>
                    <a:pt x="187006" y="463504"/>
                  </a:lnTo>
                  <a:lnTo>
                    <a:pt x="143053" y="449859"/>
                  </a:lnTo>
                  <a:lnTo>
                    <a:pt x="103274" y="428270"/>
                  </a:lnTo>
                  <a:lnTo>
                    <a:pt x="68611" y="399676"/>
                  </a:lnTo>
                  <a:lnTo>
                    <a:pt x="40009" y="365021"/>
                  </a:lnTo>
                  <a:lnTo>
                    <a:pt x="18411" y="325245"/>
                  </a:lnTo>
                  <a:lnTo>
                    <a:pt x="4760" y="281290"/>
                  </a:lnTo>
                  <a:lnTo>
                    <a:pt x="0" y="234099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8155685" y="5579465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717474" y="5535993"/>
            <a:ext cx="497205" cy="497205"/>
            <a:chOff x="6717474" y="5535993"/>
            <a:chExt cx="497205" cy="497205"/>
          </a:xfrm>
        </p:grpSpPr>
        <p:sp>
          <p:nvSpPr>
            <p:cNvPr id="41" name="object 41"/>
            <p:cNvSpPr/>
            <p:nvPr/>
          </p:nvSpPr>
          <p:spPr>
            <a:xfrm>
              <a:off x="6731761" y="5550280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29">
                  <a:moveTo>
                    <a:pt x="234188" y="0"/>
                  </a:moveTo>
                  <a:lnTo>
                    <a:pt x="187006" y="4754"/>
                  </a:lnTo>
                  <a:lnTo>
                    <a:pt x="143053" y="18391"/>
                  </a:lnTo>
                  <a:lnTo>
                    <a:pt x="103274" y="39971"/>
                  </a:lnTo>
                  <a:lnTo>
                    <a:pt x="68611" y="68553"/>
                  </a:lnTo>
                  <a:lnTo>
                    <a:pt x="40009" y="103196"/>
                  </a:lnTo>
                  <a:lnTo>
                    <a:pt x="18411" y="142962"/>
                  </a:lnTo>
                  <a:lnTo>
                    <a:pt x="4760" y="186909"/>
                  </a:lnTo>
                  <a:lnTo>
                    <a:pt x="0" y="234099"/>
                  </a:lnTo>
                  <a:lnTo>
                    <a:pt x="4760" y="281290"/>
                  </a:lnTo>
                  <a:lnTo>
                    <a:pt x="18411" y="325245"/>
                  </a:lnTo>
                  <a:lnTo>
                    <a:pt x="40009" y="365021"/>
                  </a:lnTo>
                  <a:lnTo>
                    <a:pt x="68611" y="399676"/>
                  </a:lnTo>
                  <a:lnTo>
                    <a:pt x="103274" y="428270"/>
                  </a:lnTo>
                  <a:lnTo>
                    <a:pt x="143053" y="449859"/>
                  </a:lnTo>
                  <a:lnTo>
                    <a:pt x="187006" y="463504"/>
                  </a:lnTo>
                  <a:lnTo>
                    <a:pt x="234188" y="468261"/>
                  </a:lnTo>
                  <a:lnTo>
                    <a:pt x="281369" y="463504"/>
                  </a:lnTo>
                  <a:lnTo>
                    <a:pt x="325322" y="449859"/>
                  </a:lnTo>
                  <a:lnTo>
                    <a:pt x="365101" y="428270"/>
                  </a:lnTo>
                  <a:lnTo>
                    <a:pt x="399764" y="399676"/>
                  </a:lnTo>
                  <a:lnTo>
                    <a:pt x="428366" y="365021"/>
                  </a:lnTo>
                  <a:lnTo>
                    <a:pt x="449964" y="325245"/>
                  </a:lnTo>
                  <a:lnTo>
                    <a:pt x="463615" y="281290"/>
                  </a:lnTo>
                  <a:lnTo>
                    <a:pt x="468376" y="234099"/>
                  </a:lnTo>
                  <a:lnTo>
                    <a:pt x="463615" y="186909"/>
                  </a:lnTo>
                  <a:lnTo>
                    <a:pt x="449964" y="142962"/>
                  </a:lnTo>
                  <a:lnTo>
                    <a:pt x="428366" y="103196"/>
                  </a:lnTo>
                  <a:lnTo>
                    <a:pt x="399764" y="68553"/>
                  </a:lnTo>
                  <a:lnTo>
                    <a:pt x="365101" y="39971"/>
                  </a:lnTo>
                  <a:lnTo>
                    <a:pt x="325322" y="18391"/>
                  </a:lnTo>
                  <a:lnTo>
                    <a:pt x="281369" y="4754"/>
                  </a:lnTo>
                  <a:lnTo>
                    <a:pt x="234188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731761" y="5550280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29">
                  <a:moveTo>
                    <a:pt x="0" y="234099"/>
                  </a:moveTo>
                  <a:lnTo>
                    <a:pt x="4760" y="186909"/>
                  </a:lnTo>
                  <a:lnTo>
                    <a:pt x="18411" y="142962"/>
                  </a:lnTo>
                  <a:lnTo>
                    <a:pt x="40009" y="103196"/>
                  </a:lnTo>
                  <a:lnTo>
                    <a:pt x="68611" y="68553"/>
                  </a:lnTo>
                  <a:lnTo>
                    <a:pt x="103274" y="39971"/>
                  </a:lnTo>
                  <a:lnTo>
                    <a:pt x="143053" y="18391"/>
                  </a:lnTo>
                  <a:lnTo>
                    <a:pt x="187006" y="4754"/>
                  </a:lnTo>
                  <a:lnTo>
                    <a:pt x="234188" y="0"/>
                  </a:lnTo>
                  <a:lnTo>
                    <a:pt x="281369" y="4754"/>
                  </a:lnTo>
                  <a:lnTo>
                    <a:pt x="325322" y="18391"/>
                  </a:lnTo>
                  <a:lnTo>
                    <a:pt x="365101" y="39971"/>
                  </a:lnTo>
                  <a:lnTo>
                    <a:pt x="399764" y="68553"/>
                  </a:lnTo>
                  <a:lnTo>
                    <a:pt x="428366" y="103196"/>
                  </a:lnTo>
                  <a:lnTo>
                    <a:pt x="449964" y="142962"/>
                  </a:lnTo>
                  <a:lnTo>
                    <a:pt x="463615" y="186909"/>
                  </a:lnTo>
                  <a:lnTo>
                    <a:pt x="468376" y="234099"/>
                  </a:lnTo>
                  <a:lnTo>
                    <a:pt x="463615" y="281290"/>
                  </a:lnTo>
                  <a:lnTo>
                    <a:pt x="449964" y="325245"/>
                  </a:lnTo>
                  <a:lnTo>
                    <a:pt x="428366" y="365021"/>
                  </a:lnTo>
                  <a:lnTo>
                    <a:pt x="399764" y="399676"/>
                  </a:lnTo>
                  <a:lnTo>
                    <a:pt x="365101" y="428270"/>
                  </a:lnTo>
                  <a:lnTo>
                    <a:pt x="325322" y="449859"/>
                  </a:lnTo>
                  <a:lnTo>
                    <a:pt x="281369" y="463504"/>
                  </a:lnTo>
                  <a:lnTo>
                    <a:pt x="234188" y="468261"/>
                  </a:lnTo>
                  <a:lnTo>
                    <a:pt x="187006" y="463504"/>
                  </a:lnTo>
                  <a:lnTo>
                    <a:pt x="143053" y="449859"/>
                  </a:lnTo>
                  <a:lnTo>
                    <a:pt x="103274" y="428270"/>
                  </a:lnTo>
                  <a:lnTo>
                    <a:pt x="68611" y="399676"/>
                  </a:lnTo>
                  <a:lnTo>
                    <a:pt x="40009" y="365021"/>
                  </a:lnTo>
                  <a:lnTo>
                    <a:pt x="18411" y="325245"/>
                  </a:lnTo>
                  <a:lnTo>
                    <a:pt x="4760" y="281290"/>
                  </a:lnTo>
                  <a:lnTo>
                    <a:pt x="0" y="234099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852031" y="5579465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7064819" y="4538027"/>
            <a:ext cx="3043555" cy="1050290"/>
            <a:chOff x="7064819" y="4538027"/>
            <a:chExt cx="3043555" cy="1050290"/>
          </a:xfrm>
        </p:grpSpPr>
        <p:sp>
          <p:nvSpPr>
            <p:cNvPr id="45" name="object 45"/>
            <p:cNvSpPr/>
            <p:nvPr/>
          </p:nvSpPr>
          <p:spPr>
            <a:xfrm>
              <a:off x="7079106" y="4910455"/>
              <a:ext cx="1062355" cy="663575"/>
            </a:xfrm>
            <a:custGeom>
              <a:avLst/>
              <a:gdLst/>
              <a:ahLst/>
              <a:cxnLst/>
              <a:rect l="l" t="t" r="r" b="b"/>
              <a:pathLst>
                <a:path w="1062354" h="663575">
                  <a:moveTo>
                    <a:pt x="708025" y="12700"/>
                  </a:moveTo>
                  <a:lnTo>
                    <a:pt x="1062101" y="663575"/>
                  </a:lnTo>
                </a:path>
                <a:path w="1062354" h="663575">
                  <a:moveTo>
                    <a:pt x="412750" y="0"/>
                  </a:moveTo>
                  <a:lnTo>
                    <a:pt x="0" y="649351"/>
                  </a:lnTo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625837" y="4552315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29">
                  <a:moveTo>
                    <a:pt x="234187" y="0"/>
                  </a:moveTo>
                  <a:lnTo>
                    <a:pt x="186969" y="4760"/>
                  </a:lnTo>
                  <a:lnTo>
                    <a:pt x="143000" y="18411"/>
                  </a:lnTo>
                  <a:lnTo>
                    <a:pt x="103218" y="40009"/>
                  </a:lnTo>
                  <a:lnTo>
                    <a:pt x="68564" y="68611"/>
                  </a:lnTo>
                  <a:lnTo>
                    <a:pt x="39975" y="103274"/>
                  </a:lnTo>
                  <a:lnTo>
                    <a:pt x="18393" y="143053"/>
                  </a:lnTo>
                  <a:lnTo>
                    <a:pt x="4754" y="187006"/>
                  </a:lnTo>
                  <a:lnTo>
                    <a:pt x="0" y="234187"/>
                  </a:lnTo>
                  <a:lnTo>
                    <a:pt x="4754" y="281369"/>
                  </a:lnTo>
                  <a:lnTo>
                    <a:pt x="18393" y="325322"/>
                  </a:lnTo>
                  <a:lnTo>
                    <a:pt x="39975" y="365101"/>
                  </a:lnTo>
                  <a:lnTo>
                    <a:pt x="68564" y="399764"/>
                  </a:lnTo>
                  <a:lnTo>
                    <a:pt x="103218" y="428366"/>
                  </a:lnTo>
                  <a:lnTo>
                    <a:pt x="143000" y="449964"/>
                  </a:lnTo>
                  <a:lnTo>
                    <a:pt x="186969" y="463615"/>
                  </a:lnTo>
                  <a:lnTo>
                    <a:pt x="234187" y="468376"/>
                  </a:lnTo>
                  <a:lnTo>
                    <a:pt x="281364" y="463615"/>
                  </a:lnTo>
                  <a:lnTo>
                    <a:pt x="325302" y="449964"/>
                  </a:lnTo>
                  <a:lnTo>
                    <a:pt x="365061" y="428366"/>
                  </a:lnTo>
                  <a:lnTo>
                    <a:pt x="399700" y="399764"/>
                  </a:lnTo>
                  <a:lnTo>
                    <a:pt x="428279" y="365101"/>
                  </a:lnTo>
                  <a:lnTo>
                    <a:pt x="449857" y="325322"/>
                  </a:lnTo>
                  <a:lnTo>
                    <a:pt x="463494" y="281369"/>
                  </a:lnTo>
                  <a:lnTo>
                    <a:pt x="468248" y="234187"/>
                  </a:lnTo>
                  <a:lnTo>
                    <a:pt x="463494" y="187006"/>
                  </a:lnTo>
                  <a:lnTo>
                    <a:pt x="449857" y="143053"/>
                  </a:lnTo>
                  <a:lnTo>
                    <a:pt x="428279" y="103274"/>
                  </a:lnTo>
                  <a:lnTo>
                    <a:pt x="399700" y="68611"/>
                  </a:lnTo>
                  <a:lnTo>
                    <a:pt x="365061" y="40009"/>
                  </a:lnTo>
                  <a:lnTo>
                    <a:pt x="325302" y="18411"/>
                  </a:lnTo>
                  <a:lnTo>
                    <a:pt x="281364" y="4760"/>
                  </a:lnTo>
                  <a:lnTo>
                    <a:pt x="234187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9625837" y="4552315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29">
                  <a:moveTo>
                    <a:pt x="0" y="234187"/>
                  </a:moveTo>
                  <a:lnTo>
                    <a:pt x="4754" y="187006"/>
                  </a:lnTo>
                  <a:lnTo>
                    <a:pt x="18393" y="143053"/>
                  </a:lnTo>
                  <a:lnTo>
                    <a:pt x="39975" y="103274"/>
                  </a:lnTo>
                  <a:lnTo>
                    <a:pt x="68564" y="68611"/>
                  </a:lnTo>
                  <a:lnTo>
                    <a:pt x="103218" y="40009"/>
                  </a:lnTo>
                  <a:lnTo>
                    <a:pt x="143000" y="18411"/>
                  </a:lnTo>
                  <a:lnTo>
                    <a:pt x="186969" y="4760"/>
                  </a:lnTo>
                  <a:lnTo>
                    <a:pt x="234187" y="0"/>
                  </a:lnTo>
                  <a:lnTo>
                    <a:pt x="281364" y="4760"/>
                  </a:lnTo>
                  <a:lnTo>
                    <a:pt x="325302" y="18411"/>
                  </a:lnTo>
                  <a:lnTo>
                    <a:pt x="365061" y="40009"/>
                  </a:lnTo>
                  <a:lnTo>
                    <a:pt x="399700" y="68611"/>
                  </a:lnTo>
                  <a:lnTo>
                    <a:pt x="428279" y="103274"/>
                  </a:lnTo>
                  <a:lnTo>
                    <a:pt x="449857" y="143053"/>
                  </a:lnTo>
                  <a:lnTo>
                    <a:pt x="463494" y="187006"/>
                  </a:lnTo>
                  <a:lnTo>
                    <a:pt x="468248" y="234187"/>
                  </a:lnTo>
                  <a:lnTo>
                    <a:pt x="463494" y="281369"/>
                  </a:lnTo>
                  <a:lnTo>
                    <a:pt x="449857" y="325322"/>
                  </a:lnTo>
                  <a:lnTo>
                    <a:pt x="428279" y="365101"/>
                  </a:lnTo>
                  <a:lnTo>
                    <a:pt x="399700" y="399764"/>
                  </a:lnTo>
                  <a:lnTo>
                    <a:pt x="365061" y="428366"/>
                  </a:lnTo>
                  <a:lnTo>
                    <a:pt x="325302" y="449964"/>
                  </a:lnTo>
                  <a:lnTo>
                    <a:pt x="281364" y="463615"/>
                  </a:lnTo>
                  <a:lnTo>
                    <a:pt x="234187" y="468376"/>
                  </a:lnTo>
                  <a:lnTo>
                    <a:pt x="186969" y="463615"/>
                  </a:lnTo>
                  <a:lnTo>
                    <a:pt x="143000" y="449964"/>
                  </a:lnTo>
                  <a:lnTo>
                    <a:pt x="103218" y="428366"/>
                  </a:lnTo>
                  <a:lnTo>
                    <a:pt x="68564" y="399764"/>
                  </a:lnTo>
                  <a:lnTo>
                    <a:pt x="39975" y="365101"/>
                  </a:lnTo>
                  <a:lnTo>
                    <a:pt x="18393" y="325322"/>
                  </a:lnTo>
                  <a:lnTo>
                    <a:pt x="4754" y="281369"/>
                  </a:lnTo>
                  <a:lnTo>
                    <a:pt x="0" y="234187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9738741" y="4581525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9153715" y="5557202"/>
            <a:ext cx="497205" cy="497205"/>
            <a:chOff x="9153715" y="5557202"/>
            <a:chExt cx="497205" cy="497205"/>
          </a:xfrm>
        </p:grpSpPr>
        <p:sp>
          <p:nvSpPr>
            <p:cNvPr id="50" name="object 50"/>
            <p:cNvSpPr/>
            <p:nvPr/>
          </p:nvSpPr>
          <p:spPr>
            <a:xfrm>
              <a:off x="9168003" y="5571490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29">
                  <a:moveTo>
                    <a:pt x="234188" y="0"/>
                  </a:moveTo>
                  <a:lnTo>
                    <a:pt x="186969" y="4757"/>
                  </a:lnTo>
                  <a:lnTo>
                    <a:pt x="143000" y="18401"/>
                  </a:lnTo>
                  <a:lnTo>
                    <a:pt x="103218" y="39991"/>
                  </a:lnTo>
                  <a:lnTo>
                    <a:pt x="68564" y="68584"/>
                  </a:lnTo>
                  <a:lnTo>
                    <a:pt x="39975" y="103240"/>
                  </a:lnTo>
                  <a:lnTo>
                    <a:pt x="18393" y="143016"/>
                  </a:lnTo>
                  <a:lnTo>
                    <a:pt x="4754" y="186970"/>
                  </a:lnTo>
                  <a:lnTo>
                    <a:pt x="0" y="234162"/>
                  </a:lnTo>
                  <a:lnTo>
                    <a:pt x="4754" y="281354"/>
                  </a:lnTo>
                  <a:lnTo>
                    <a:pt x="18393" y="325309"/>
                  </a:lnTo>
                  <a:lnTo>
                    <a:pt x="39975" y="365084"/>
                  </a:lnTo>
                  <a:lnTo>
                    <a:pt x="68564" y="399740"/>
                  </a:lnTo>
                  <a:lnTo>
                    <a:pt x="103218" y="428333"/>
                  </a:lnTo>
                  <a:lnTo>
                    <a:pt x="143000" y="449923"/>
                  </a:lnTo>
                  <a:lnTo>
                    <a:pt x="186969" y="463567"/>
                  </a:lnTo>
                  <a:lnTo>
                    <a:pt x="234188" y="468325"/>
                  </a:lnTo>
                  <a:lnTo>
                    <a:pt x="281364" y="463567"/>
                  </a:lnTo>
                  <a:lnTo>
                    <a:pt x="325302" y="449923"/>
                  </a:lnTo>
                  <a:lnTo>
                    <a:pt x="365061" y="428333"/>
                  </a:lnTo>
                  <a:lnTo>
                    <a:pt x="399700" y="399740"/>
                  </a:lnTo>
                  <a:lnTo>
                    <a:pt x="428279" y="365084"/>
                  </a:lnTo>
                  <a:lnTo>
                    <a:pt x="449857" y="325309"/>
                  </a:lnTo>
                  <a:lnTo>
                    <a:pt x="463494" y="281354"/>
                  </a:lnTo>
                  <a:lnTo>
                    <a:pt x="468249" y="234162"/>
                  </a:lnTo>
                  <a:lnTo>
                    <a:pt x="463494" y="186970"/>
                  </a:lnTo>
                  <a:lnTo>
                    <a:pt x="449857" y="143016"/>
                  </a:lnTo>
                  <a:lnTo>
                    <a:pt x="428279" y="103240"/>
                  </a:lnTo>
                  <a:lnTo>
                    <a:pt x="399700" y="68584"/>
                  </a:lnTo>
                  <a:lnTo>
                    <a:pt x="365061" y="39991"/>
                  </a:lnTo>
                  <a:lnTo>
                    <a:pt x="325302" y="18401"/>
                  </a:lnTo>
                  <a:lnTo>
                    <a:pt x="281364" y="4757"/>
                  </a:lnTo>
                  <a:lnTo>
                    <a:pt x="234188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9168003" y="5571490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29">
                  <a:moveTo>
                    <a:pt x="0" y="234162"/>
                  </a:moveTo>
                  <a:lnTo>
                    <a:pt x="4754" y="186970"/>
                  </a:lnTo>
                  <a:lnTo>
                    <a:pt x="18393" y="143016"/>
                  </a:lnTo>
                  <a:lnTo>
                    <a:pt x="39975" y="103240"/>
                  </a:lnTo>
                  <a:lnTo>
                    <a:pt x="68564" y="68584"/>
                  </a:lnTo>
                  <a:lnTo>
                    <a:pt x="103218" y="39991"/>
                  </a:lnTo>
                  <a:lnTo>
                    <a:pt x="143000" y="18401"/>
                  </a:lnTo>
                  <a:lnTo>
                    <a:pt x="186969" y="4757"/>
                  </a:lnTo>
                  <a:lnTo>
                    <a:pt x="234188" y="0"/>
                  </a:lnTo>
                  <a:lnTo>
                    <a:pt x="281364" y="4757"/>
                  </a:lnTo>
                  <a:lnTo>
                    <a:pt x="325302" y="18401"/>
                  </a:lnTo>
                  <a:lnTo>
                    <a:pt x="365061" y="39991"/>
                  </a:lnTo>
                  <a:lnTo>
                    <a:pt x="399700" y="68584"/>
                  </a:lnTo>
                  <a:lnTo>
                    <a:pt x="428279" y="103240"/>
                  </a:lnTo>
                  <a:lnTo>
                    <a:pt x="449857" y="143016"/>
                  </a:lnTo>
                  <a:lnTo>
                    <a:pt x="463494" y="186970"/>
                  </a:lnTo>
                  <a:lnTo>
                    <a:pt x="468249" y="234162"/>
                  </a:lnTo>
                  <a:lnTo>
                    <a:pt x="463494" y="281354"/>
                  </a:lnTo>
                  <a:lnTo>
                    <a:pt x="449857" y="325309"/>
                  </a:lnTo>
                  <a:lnTo>
                    <a:pt x="428279" y="365084"/>
                  </a:lnTo>
                  <a:lnTo>
                    <a:pt x="399700" y="399740"/>
                  </a:lnTo>
                  <a:lnTo>
                    <a:pt x="365061" y="428333"/>
                  </a:lnTo>
                  <a:lnTo>
                    <a:pt x="325302" y="449923"/>
                  </a:lnTo>
                  <a:lnTo>
                    <a:pt x="281364" y="463567"/>
                  </a:lnTo>
                  <a:lnTo>
                    <a:pt x="234188" y="468325"/>
                  </a:lnTo>
                  <a:lnTo>
                    <a:pt x="186969" y="463567"/>
                  </a:lnTo>
                  <a:lnTo>
                    <a:pt x="143000" y="449923"/>
                  </a:lnTo>
                  <a:lnTo>
                    <a:pt x="103218" y="428333"/>
                  </a:lnTo>
                  <a:lnTo>
                    <a:pt x="68564" y="399740"/>
                  </a:lnTo>
                  <a:lnTo>
                    <a:pt x="39975" y="365084"/>
                  </a:lnTo>
                  <a:lnTo>
                    <a:pt x="18393" y="325309"/>
                  </a:lnTo>
                  <a:lnTo>
                    <a:pt x="4754" y="281354"/>
                  </a:lnTo>
                  <a:lnTo>
                    <a:pt x="0" y="234162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9280652" y="5600801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G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8562784" y="3455352"/>
            <a:ext cx="1185545" cy="2164080"/>
            <a:chOff x="8562784" y="3455352"/>
            <a:chExt cx="1185545" cy="2164080"/>
          </a:xfrm>
        </p:grpSpPr>
        <p:sp>
          <p:nvSpPr>
            <p:cNvPr id="54" name="object 54"/>
            <p:cNvSpPr/>
            <p:nvPr/>
          </p:nvSpPr>
          <p:spPr>
            <a:xfrm>
              <a:off x="9436861" y="5001641"/>
              <a:ext cx="297180" cy="603250"/>
            </a:xfrm>
            <a:custGeom>
              <a:avLst/>
              <a:gdLst/>
              <a:ahLst/>
              <a:cxnLst/>
              <a:rect l="l" t="t" r="r" b="b"/>
              <a:pathLst>
                <a:path w="297179" h="603250">
                  <a:moveTo>
                    <a:pt x="296926" y="0"/>
                  </a:moveTo>
                  <a:lnTo>
                    <a:pt x="0" y="603199"/>
                  </a:lnTo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8577071" y="3469640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29">
                  <a:moveTo>
                    <a:pt x="234187" y="0"/>
                  </a:moveTo>
                  <a:lnTo>
                    <a:pt x="187006" y="4760"/>
                  </a:lnTo>
                  <a:lnTo>
                    <a:pt x="143053" y="18411"/>
                  </a:lnTo>
                  <a:lnTo>
                    <a:pt x="103274" y="40009"/>
                  </a:lnTo>
                  <a:lnTo>
                    <a:pt x="68611" y="68611"/>
                  </a:lnTo>
                  <a:lnTo>
                    <a:pt x="40009" y="103274"/>
                  </a:lnTo>
                  <a:lnTo>
                    <a:pt x="18411" y="143053"/>
                  </a:lnTo>
                  <a:lnTo>
                    <a:pt x="4760" y="187006"/>
                  </a:lnTo>
                  <a:lnTo>
                    <a:pt x="0" y="234187"/>
                  </a:lnTo>
                  <a:lnTo>
                    <a:pt x="4760" y="281369"/>
                  </a:lnTo>
                  <a:lnTo>
                    <a:pt x="18411" y="325322"/>
                  </a:lnTo>
                  <a:lnTo>
                    <a:pt x="40009" y="365101"/>
                  </a:lnTo>
                  <a:lnTo>
                    <a:pt x="68611" y="399764"/>
                  </a:lnTo>
                  <a:lnTo>
                    <a:pt x="103274" y="428366"/>
                  </a:lnTo>
                  <a:lnTo>
                    <a:pt x="143053" y="449964"/>
                  </a:lnTo>
                  <a:lnTo>
                    <a:pt x="187006" y="463615"/>
                  </a:lnTo>
                  <a:lnTo>
                    <a:pt x="234187" y="468376"/>
                  </a:lnTo>
                  <a:lnTo>
                    <a:pt x="281369" y="463615"/>
                  </a:lnTo>
                  <a:lnTo>
                    <a:pt x="325322" y="449964"/>
                  </a:lnTo>
                  <a:lnTo>
                    <a:pt x="365101" y="428366"/>
                  </a:lnTo>
                  <a:lnTo>
                    <a:pt x="399764" y="399764"/>
                  </a:lnTo>
                  <a:lnTo>
                    <a:pt x="428366" y="365101"/>
                  </a:lnTo>
                  <a:lnTo>
                    <a:pt x="449964" y="325322"/>
                  </a:lnTo>
                  <a:lnTo>
                    <a:pt x="463615" y="281369"/>
                  </a:lnTo>
                  <a:lnTo>
                    <a:pt x="468375" y="234187"/>
                  </a:lnTo>
                  <a:lnTo>
                    <a:pt x="463615" y="187006"/>
                  </a:lnTo>
                  <a:lnTo>
                    <a:pt x="449964" y="143053"/>
                  </a:lnTo>
                  <a:lnTo>
                    <a:pt x="428366" y="103274"/>
                  </a:lnTo>
                  <a:lnTo>
                    <a:pt x="399764" y="68611"/>
                  </a:lnTo>
                  <a:lnTo>
                    <a:pt x="365101" y="40009"/>
                  </a:lnTo>
                  <a:lnTo>
                    <a:pt x="325322" y="18411"/>
                  </a:lnTo>
                  <a:lnTo>
                    <a:pt x="281369" y="4760"/>
                  </a:lnTo>
                  <a:lnTo>
                    <a:pt x="234187" y="0"/>
                  </a:lnTo>
                  <a:close/>
                </a:path>
              </a:pathLst>
            </a:custGeom>
            <a:solidFill>
              <a:srgbClr val="B4B4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577071" y="3469640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29" h="468629">
                  <a:moveTo>
                    <a:pt x="0" y="234187"/>
                  </a:moveTo>
                  <a:lnTo>
                    <a:pt x="4760" y="187006"/>
                  </a:lnTo>
                  <a:lnTo>
                    <a:pt x="18411" y="143053"/>
                  </a:lnTo>
                  <a:lnTo>
                    <a:pt x="40009" y="103274"/>
                  </a:lnTo>
                  <a:lnTo>
                    <a:pt x="68611" y="68611"/>
                  </a:lnTo>
                  <a:lnTo>
                    <a:pt x="103274" y="40009"/>
                  </a:lnTo>
                  <a:lnTo>
                    <a:pt x="143053" y="18411"/>
                  </a:lnTo>
                  <a:lnTo>
                    <a:pt x="187006" y="4760"/>
                  </a:lnTo>
                  <a:lnTo>
                    <a:pt x="234187" y="0"/>
                  </a:lnTo>
                  <a:lnTo>
                    <a:pt x="281369" y="4760"/>
                  </a:lnTo>
                  <a:lnTo>
                    <a:pt x="325322" y="18411"/>
                  </a:lnTo>
                  <a:lnTo>
                    <a:pt x="365101" y="40009"/>
                  </a:lnTo>
                  <a:lnTo>
                    <a:pt x="399764" y="68611"/>
                  </a:lnTo>
                  <a:lnTo>
                    <a:pt x="428366" y="103274"/>
                  </a:lnTo>
                  <a:lnTo>
                    <a:pt x="449964" y="143053"/>
                  </a:lnTo>
                  <a:lnTo>
                    <a:pt x="463615" y="187006"/>
                  </a:lnTo>
                  <a:lnTo>
                    <a:pt x="468375" y="234187"/>
                  </a:lnTo>
                  <a:lnTo>
                    <a:pt x="463615" y="281369"/>
                  </a:lnTo>
                  <a:lnTo>
                    <a:pt x="449964" y="325322"/>
                  </a:lnTo>
                  <a:lnTo>
                    <a:pt x="428366" y="365101"/>
                  </a:lnTo>
                  <a:lnTo>
                    <a:pt x="399764" y="399764"/>
                  </a:lnTo>
                  <a:lnTo>
                    <a:pt x="365101" y="428366"/>
                  </a:lnTo>
                  <a:lnTo>
                    <a:pt x="325322" y="449964"/>
                  </a:lnTo>
                  <a:lnTo>
                    <a:pt x="281369" y="463615"/>
                  </a:lnTo>
                  <a:lnTo>
                    <a:pt x="234187" y="468376"/>
                  </a:lnTo>
                  <a:lnTo>
                    <a:pt x="187006" y="463615"/>
                  </a:lnTo>
                  <a:lnTo>
                    <a:pt x="143053" y="449964"/>
                  </a:lnTo>
                  <a:lnTo>
                    <a:pt x="103274" y="428366"/>
                  </a:lnTo>
                  <a:lnTo>
                    <a:pt x="68611" y="399764"/>
                  </a:lnTo>
                  <a:lnTo>
                    <a:pt x="40009" y="365101"/>
                  </a:lnTo>
                  <a:lnTo>
                    <a:pt x="18411" y="325322"/>
                  </a:lnTo>
                  <a:lnTo>
                    <a:pt x="4760" y="281369"/>
                  </a:lnTo>
                  <a:lnTo>
                    <a:pt x="0" y="234187"/>
                  </a:lnTo>
                  <a:close/>
                </a:path>
              </a:pathLst>
            </a:custGeom>
            <a:ln w="28574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8697594" y="3498595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7787131" y="3869944"/>
            <a:ext cx="2020570" cy="753110"/>
          </a:xfrm>
          <a:custGeom>
            <a:avLst/>
            <a:gdLst/>
            <a:ahLst/>
            <a:cxnLst/>
            <a:rect l="l" t="t" r="r" b="b"/>
            <a:pathLst>
              <a:path w="2020570" h="753110">
                <a:moveTo>
                  <a:pt x="836929" y="9651"/>
                </a:moveTo>
                <a:lnTo>
                  <a:pt x="0" y="753109"/>
                </a:lnTo>
              </a:path>
              <a:path w="2020570" h="753110">
                <a:moveTo>
                  <a:pt x="1027429" y="55371"/>
                </a:moveTo>
                <a:lnTo>
                  <a:pt x="1027429" y="645921"/>
                </a:lnTo>
              </a:path>
              <a:path w="2020570" h="753110">
                <a:moveTo>
                  <a:pt x="2020316" y="743457"/>
                </a:moveTo>
                <a:lnTo>
                  <a:pt x="1183386" y="0"/>
                </a:lnTo>
              </a:path>
            </a:pathLst>
          </a:custGeom>
          <a:ln w="28575">
            <a:solidFill>
              <a:srgbClr val="507C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259224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931160" y="3899789"/>
            <a:ext cx="6569075" cy="725805"/>
          </a:xfrm>
          <a:custGeom>
            <a:avLst/>
            <a:gdLst/>
            <a:ahLst/>
            <a:cxnLst/>
            <a:rect l="l" t="t" r="r" b="b"/>
            <a:pathLst>
              <a:path w="6569075" h="725804">
                <a:moveTo>
                  <a:pt x="6447917" y="0"/>
                </a:moveTo>
                <a:lnTo>
                  <a:pt x="0" y="0"/>
                </a:lnTo>
                <a:lnTo>
                  <a:pt x="0" y="604774"/>
                </a:lnTo>
                <a:lnTo>
                  <a:pt x="120903" y="725678"/>
                </a:lnTo>
                <a:lnTo>
                  <a:pt x="6568821" y="725678"/>
                </a:lnTo>
                <a:lnTo>
                  <a:pt x="6568821" y="121031"/>
                </a:lnTo>
                <a:lnTo>
                  <a:pt x="6447917" y="0"/>
                </a:lnTo>
                <a:close/>
              </a:path>
            </a:pathLst>
          </a:custGeom>
          <a:solidFill>
            <a:srgbClr val="5C2F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225922" y="4126483"/>
            <a:ext cx="626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Microsoft YaHei UI"/>
                <a:cs typeface="Microsoft YaHei UI"/>
              </a:rPr>
              <a:t>5-7-1</a:t>
            </a:r>
            <a:endParaRPr sz="1800">
              <a:latin typeface="Microsoft YaHei UI"/>
              <a:cs typeface="Microsoft YaHei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26022" y="4126483"/>
            <a:ext cx="1168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Microsoft YaHei UI"/>
                <a:cs typeface="Microsoft YaHei UI"/>
              </a:rPr>
              <a:t>哈夫曼算法</a:t>
            </a:r>
            <a:endParaRPr sz="1800">
              <a:latin typeface="Microsoft YaHei UI"/>
              <a:cs typeface="Microsoft YaHei U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40482" y="1998345"/>
            <a:ext cx="7670800" cy="1345565"/>
          </a:xfrm>
          <a:custGeom>
            <a:avLst/>
            <a:gdLst/>
            <a:ahLst/>
            <a:cxnLst/>
            <a:rect l="l" t="t" r="r" b="b"/>
            <a:pathLst>
              <a:path w="7670800" h="1345564">
                <a:moveTo>
                  <a:pt x="7446137" y="0"/>
                </a:moveTo>
                <a:lnTo>
                  <a:pt x="224155" y="0"/>
                </a:lnTo>
                <a:lnTo>
                  <a:pt x="178972" y="4558"/>
                </a:lnTo>
                <a:lnTo>
                  <a:pt x="136892" y="17631"/>
                </a:lnTo>
                <a:lnTo>
                  <a:pt x="98815" y="38315"/>
                </a:lnTo>
                <a:lnTo>
                  <a:pt x="65643" y="65706"/>
                </a:lnTo>
                <a:lnTo>
                  <a:pt x="38274" y="98902"/>
                </a:lnTo>
                <a:lnTo>
                  <a:pt x="17611" y="136999"/>
                </a:lnTo>
                <a:lnTo>
                  <a:pt x="4552" y="179093"/>
                </a:lnTo>
                <a:lnTo>
                  <a:pt x="0" y="224281"/>
                </a:lnTo>
                <a:lnTo>
                  <a:pt x="0" y="1121028"/>
                </a:lnTo>
                <a:lnTo>
                  <a:pt x="4552" y="1166253"/>
                </a:lnTo>
                <a:lnTo>
                  <a:pt x="17611" y="1208365"/>
                </a:lnTo>
                <a:lnTo>
                  <a:pt x="38274" y="1246464"/>
                </a:lnTo>
                <a:lnTo>
                  <a:pt x="65643" y="1279652"/>
                </a:lnTo>
                <a:lnTo>
                  <a:pt x="98815" y="1307029"/>
                </a:lnTo>
                <a:lnTo>
                  <a:pt x="136892" y="1327697"/>
                </a:lnTo>
                <a:lnTo>
                  <a:pt x="178972" y="1340757"/>
                </a:lnTo>
                <a:lnTo>
                  <a:pt x="224155" y="1345310"/>
                </a:lnTo>
                <a:lnTo>
                  <a:pt x="7446137" y="1345310"/>
                </a:lnTo>
                <a:lnTo>
                  <a:pt x="7491319" y="1340757"/>
                </a:lnTo>
                <a:lnTo>
                  <a:pt x="7533399" y="1327697"/>
                </a:lnTo>
                <a:lnTo>
                  <a:pt x="7571476" y="1307029"/>
                </a:lnTo>
                <a:lnTo>
                  <a:pt x="7604648" y="1279652"/>
                </a:lnTo>
                <a:lnTo>
                  <a:pt x="7632017" y="1246464"/>
                </a:lnTo>
                <a:lnTo>
                  <a:pt x="7652680" y="1208365"/>
                </a:lnTo>
                <a:lnTo>
                  <a:pt x="7665739" y="1166253"/>
                </a:lnTo>
                <a:lnTo>
                  <a:pt x="7670292" y="1121028"/>
                </a:lnTo>
                <a:lnTo>
                  <a:pt x="7670292" y="224281"/>
                </a:lnTo>
                <a:lnTo>
                  <a:pt x="7665739" y="179093"/>
                </a:lnTo>
                <a:lnTo>
                  <a:pt x="7652680" y="136999"/>
                </a:lnTo>
                <a:lnTo>
                  <a:pt x="7632017" y="98902"/>
                </a:lnTo>
                <a:lnTo>
                  <a:pt x="7604648" y="65706"/>
                </a:lnTo>
                <a:lnTo>
                  <a:pt x="7571476" y="38315"/>
                </a:lnTo>
                <a:lnTo>
                  <a:pt x="7533399" y="17631"/>
                </a:lnTo>
                <a:lnTo>
                  <a:pt x="7491319" y="4558"/>
                </a:lnTo>
                <a:lnTo>
                  <a:pt x="74461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343362" y="2585989"/>
            <a:ext cx="6264872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33245" algn="l"/>
              </a:tabLst>
            </a:pPr>
            <a:r>
              <a:rPr dirty="0">
                <a:solidFill>
                  <a:srgbClr val="5C2F7C"/>
                </a:solidFill>
                <a:latin typeface="Microsoft YaHei UI"/>
                <a:cs typeface="Microsoft YaHei UI"/>
              </a:rPr>
              <a:t>第五章	</a:t>
            </a:r>
            <a:r>
              <a:rPr lang="en-US" dirty="0">
                <a:solidFill>
                  <a:srgbClr val="5C2F7C"/>
                </a:solidFill>
                <a:latin typeface="Microsoft YaHei UI"/>
                <a:cs typeface="Microsoft YaHei UI"/>
              </a:rPr>
              <a:t>  </a:t>
            </a:r>
            <a:r>
              <a:rPr dirty="0" err="1">
                <a:solidFill>
                  <a:srgbClr val="5C2F7C"/>
                </a:solidFill>
                <a:latin typeface="Microsoft YaHei UI"/>
                <a:cs typeface="Microsoft YaHei UI"/>
              </a:rPr>
              <a:t>树和二叉树</a:t>
            </a:r>
            <a:endParaRPr dirty="0">
              <a:solidFill>
                <a:srgbClr val="5C2F7C"/>
              </a:solidFill>
              <a:latin typeface="Microsoft YaHei UI"/>
              <a:cs typeface="Microsoft YaHei UI"/>
            </a:endParaRPr>
          </a:p>
        </p:txBody>
      </p:sp>
    </p:spTree>
    <p:extLst>
      <p:ext uri="{BB962C8B-B14F-4D97-AF65-F5344CB8AC3E}">
        <p14:creationId xmlns:p14="http://schemas.microsoft.com/office/powerpoint/2010/main" val="2011037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48643" y="2017267"/>
            <a:ext cx="152400" cy="25355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algn="just">
              <a:lnSpc>
                <a:spcPts val="1000"/>
              </a:lnSpc>
              <a:spcBef>
                <a:spcPts val="2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数 据 结 构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880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（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从 概 念 到 实 现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975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640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清 华 大 学 出 版 社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42925" y="100964"/>
            <a:ext cx="2376170" cy="540385"/>
          </a:xfrm>
          <a:custGeom>
            <a:avLst/>
            <a:gdLst/>
            <a:ahLst/>
            <a:cxnLst/>
            <a:rect l="l" t="t" r="r" b="b"/>
            <a:pathLst>
              <a:path w="2376170" h="540385">
                <a:moveTo>
                  <a:pt x="2286000" y="0"/>
                </a:moveTo>
                <a:lnTo>
                  <a:pt x="90004" y="0"/>
                </a:lnTo>
                <a:lnTo>
                  <a:pt x="54971" y="7068"/>
                </a:lnTo>
                <a:lnTo>
                  <a:pt x="26362" y="26352"/>
                </a:lnTo>
                <a:lnTo>
                  <a:pt x="7073" y="54971"/>
                </a:lnTo>
                <a:lnTo>
                  <a:pt x="0" y="90042"/>
                </a:lnTo>
                <a:lnTo>
                  <a:pt x="0" y="449960"/>
                </a:lnTo>
                <a:lnTo>
                  <a:pt x="7073" y="485032"/>
                </a:lnTo>
                <a:lnTo>
                  <a:pt x="26362" y="513651"/>
                </a:lnTo>
                <a:lnTo>
                  <a:pt x="54971" y="532935"/>
                </a:lnTo>
                <a:lnTo>
                  <a:pt x="90004" y="540003"/>
                </a:lnTo>
                <a:lnTo>
                  <a:pt x="2286000" y="540003"/>
                </a:lnTo>
                <a:lnTo>
                  <a:pt x="2321018" y="532935"/>
                </a:lnTo>
                <a:lnTo>
                  <a:pt x="2349642" y="513651"/>
                </a:lnTo>
                <a:lnTo>
                  <a:pt x="2368956" y="485032"/>
                </a:lnTo>
                <a:lnTo>
                  <a:pt x="2376043" y="449960"/>
                </a:lnTo>
                <a:lnTo>
                  <a:pt x="2376043" y="90042"/>
                </a:lnTo>
                <a:lnTo>
                  <a:pt x="2368956" y="54971"/>
                </a:lnTo>
                <a:lnTo>
                  <a:pt x="2349642" y="26352"/>
                </a:lnTo>
                <a:lnTo>
                  <a:pt x="2321018" y="7068"/>
                </a:lnTo>
                <a:lnTo>
                  <a:pt x="2286000" y="0"/>
                </a:lnTo>
                <a:close/>
              </a:path>
            </a:pathLst>
          </a:custGeom>
          <a:solidFill>
            <a:srgbClr val="5A31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6991" y="141809"/>
            <a:ext cx="206375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solidFill>
                  <a:schemeClr val="bg1"/>
                </a:solidFill>
              </a:rPr>
              <a:t>最优</a:t>
            </a:r>
            <a:r>
              <a:rPr sz="2800" spc="-10" dirty="0">
                <a:solidFill>
                  <a:schemeClr val="bg1"/>
                </a:solidFill>
              </a:rPr>
              <a:t>二</a:t>
            </a:r>
            <a:r>
              <a:rPr sz="2800" spc="-5" dirty="0">
                <a:solidFill>
                  <a:schemeClr val="bg1"/>
                </a:solidFill>
              </a:rPr>
              <a:t>叉</a:t>
            </a:r>
            <a:r>
              <a:rPr sz="2800" spc="-10" dirty="0">
                <a:solidFill>
                  <a:schemeClr val="bg1"/>
                </a:solidFill>
              </a:rPr>
              <a:t>树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82150" y="1096073"/>
            <a:ext cx="89084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0000"/>
                </a:solidFill>
                <a:latin typeface="微软雅黑"/>
                <a:cs typeface="微软雅黑"/>
              </a:rPr>
              <a:t>叶子结点的权值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：对叶子结点赋予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的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一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个</a:t>
            </a:r>
            <a:r>
              <a:rPr sz="2800" dirty="0">
                <a:solidFill>
                  <a:srgbClr val="B42C2C"/>
                </a:solidFill>
                <a:latin typeface="微软雅黑"/>
                <a:cs typeface="微软雅黑"/>
              </a:rPr>
              <a:t>有</a:t>
            </a:r>
            <a:r>
              <a:rPr sz="2800" spc="-5" dirty="0">
                <a:solidFill>
                  <a:srgbClr val="B42C2C"/>
                </a:solidFill>
                <a:latin typeface="微软雅黑"/>
                <a:cs typeface="微软雅黑"/>
              </a:rPr>
              <a:t>意义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的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数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值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量</a:t>
            </a:r>
            <a:endParaRPr sz="2800" dirty="0">
              <a:latin typeface="微软雅黑"/>
              <a:cs typeface="微软雅黑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40511" y="1128141"/>
            <a:ext cx="7616825" cy="2332355"/>
            <a:chOff x="840511" y="1128141"/>
            <a:chExt cx="7616825" cy="2332355"/>
          </a:xfrm>
        </p:grpSpPr>
        <p:sp>
          <p:nvSpPr>
            <p:cNvPr id="7" name="object 7"/>
            <p:cNvSpPr/>
            <p:nvPr/>
          </p:nvSpPr>
          <p:spPr>
            <a:xfrm>
              <a:off x="886790" y="1128141"/>
              <a:ext cx="386080" cy="387985"/>
            </a:xfrm>
            <a:custGeom>
              <a:avLst/>
              <a:gdLst/>
              <a:ahLst/>
              <a:cxnLst/>
              <a:rect l="l" t="t" r="r" b="b"/>
              <a:pathLst>
                <a:path w="386080" h="387984">
                  <a:moveTo>
                    <a:pt x="216966" y="385825"/>
                  </a:moveTo>
                  <a:lnTo>
                    <a:pt x="208203" y="385825"/>
                  </a:lnTo>
                  <a:lnTo>
                    <a:pt x="210388" y="387985"/>
                  </a:lnTo>
                  <a:lnTo>
                    <a:pt x="214769" y="387985"/>
                  </a:lnTo>
                  <a:lnTo>
                    <a:pt x="216966" y="385825"/>
                  </a:lnTo>
                  <a:close/>
                </a:path>
                <a:path w="386080" h="387984">
                  <a:moveTo>
                    <a:pt x="109575" y="123444"/>
                  </a:moveTo>
                  <a:lnTo>
                    <a:pt x="51776" y="134762"/>
                  </a:lnTo>
                  <a:lnTo>
                    <a:pt x="2197" y="167512"/>
                  </a:lnTo>
                  <a:lnTo>
                    <a:pt x="0" y="171958"/>
                  </a:lnTo>
                  <a:lnTo>
                    <a:pt x="0" y="176403"/>
                  </a:lnTo>
                  <a:lnTo>
                    <a:pt x="2197" y="180721"/>
                  </a:lnTo>
                  <a:lnTo>
                    <a:pt x="206006" y="385825"/>
                  </a:lnTo>
                  <a:lnTo>
                    <a:pt x="219163" y="385825"/>
                  </a:lnTo>
                  <a:lnTo>
                    <a:pt x="242890" y="353067"/>
                  </a:lnTo>
                  <a:lnTo>
                    <a:pt x="257784" y="315785"/>
                  </a:lnTo>
                  <a:lnTo>
                    <a:pt x="263230" y="276026"/>
                  </a:lnTo>
                  <a:lnTo>
                    <a:pt x="258610" y="235838"/>
                  </a:lnTo>
                  <a:lnTo>
                    <a:pt x="317779" y="176403"/>
                  </a:lnTo>
                  <a:lnTo>
                    <a:pt x="352278" y="176403"/>
                  </a:lnTo>
                  <a:lnTo>
                    <a:pt x="383463" y="143256"/>
                  </a:lnTo>
                  <a:lnTo>
                    <a:pt x="385749" y="141097"/>
                  </a:lnTo>
                  <a:lnTo>
                    <a:pt x="385749" y="136651"/>
                  </a:lnTo>
                  <a:lnTo>
                    <a:pt x="383463" y="134493"/>
                  </a:lnTo>
                  <a:lnTo>
                    <a:pt x="381330" y="134493"/>
                  </a:lnTo>
                  <a:lnTo>
                    <a:pt x="374764" y="127888"/>
                  </a:lnTo>
                  <a:lnTo>
                    <a:pt x="151218" y="127888"/>
                  </a:lnTo>
                  <a:lnTo>
                    <a:pt x="141324" y="126283"/>
                  </a:lnTo>
                  <a:lnTo>
                    <a:pt x="131221" y="124856"/>
                  </a:lnTo>
                  <a:lnTo>
                    <a:pt x="120706" y="123834"/>
                  </a:lnTo>
                  <a:lnTo>
                    <a:pt x="109575" y="123444"/>
                  </a:lnTo>
                  <a:close/>
                </a:path>
                <a:path w="386080" h="387984">
                  <a:moveTo>
                    <a:pt x="352278" y="176403"/>
                  </a:moveTo>
                  <a:lnTo>
                    <a:pt x="317779" y="176403"/>
                  </a:lnTo>
                  <a:lnTo>
                    <a:pt x="328739" y="187451"/>
                  </a:lnTo>
                  <a:lnTo>
                    <a:pt x="333121" y="189611"/>
                  </a:lnTo>
                  <a:lnTo>
                    <a:pt x="337502" y="189611"/>
                  </a:lnTo>
                  <a:lnTo>
                    <a:pt x="341884" y="187451"/>
                  </a:lnTo>
                  <a:lnTo>
                    <a:pt x="352278" y="176403"/>
                  </a:lnTo>
                  <a:close/>
                </a:path>
                <a:path w="386080" h="387984">
                  <a:moveTo>
                    <a:pt x="249847" y="0"/>
                  </a:moveTo>
                  <a:lnTo>
                    <a:pt x="243268" y="0"/>
                  </a:lnTo>
                  <a:lnTo>
                    <a:pt x="241071" y="4445"/>
                  </a:lnTo>
                  <a:lnTo>
                    <a:pt x="199440" y="44069"/>
                  </a:lnTo>
                  <a:lnTo>
                    <a:pt x="197243" y="46355"/>
                  </a:lnTo>
                  <a:lnTo>
                    <a:pt x="197243" y="55118"/>
                  </a:lnTo>
                  <a:lnTo>
                    <a:pt x="199440" y="57276"/>
                  </a:lnTo>
                  <a:lnTo>
                    <a:pt x="210388" y="68325"/>
                  </a:lnTo>
                  <a:lnTo>
                    <a:pt x="151218" y="127888"/>
                  </a:lnTo>
                  <a:lnTo>
                    <a:pt x="374764" y="127888"/>
                  </a:lnTo>
                  <a:lnTo>
                    <a:pt x="252031" y="4445"/>
                  </a:lnTo>
                  <a:lnTo>
                    <a:pt x="249847" y="0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0511" y="1390015"/>
              <a:ext cx="170891" cy="17018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86790" y="3028442"/>
              <a:ext cx="386080" cy="387985"/>
            </a:xfrm>
            <a:custGeom>
              <a:avLst/>
              <a:gdLst/>
              <a:ahLst/>
              <a:cxnLst/>
              <a:rect l="l" t="t" r="r" b="b"/>
              <a:pathLst>
                <a:path w="386080" h="387985">
                  <a:moveTo>
                    <a:pt x="216966" y="385699"/>
                  </a:moveTo>
                  <a:lnTo>
                    <a:pt x="208203" y="385699"/>
                  </a:lnTo>
                  <a:lnTo>
                    <a:pt x="210388" y="387985"/>
                  </a:lnTo>
                  <a:lnTo>
                    <a:pt x="214769" y="387985"/>
                  </a:lnTo>
                  <a:lnTo>
                    <a:pt x="216966" y="385699"/>
                  </a:lnTo>
                  <a:close/>
                </a:path>
                <a:path w="386080" h="387985">
                  <a:moveTo>
                    <a:pt x="109575" y="123444"/>
                  </a:moveTo>
                  <a:lnTo>
                    <a:pt x="51776" y="134715"/>
                  </a:lnTo>
                  <a:lnTo>
                    <a:pt x="2197" y="167512"/>
                  </a:lnTo>
                  <a:lnTo>
                    <a:pt x="0" y="171958"/>
                  </a:lnTo>
                  <a:lnTo>
                    <a:pt x="0" y="176275"/>
                  </a:lnTo>
                  <a:lnTo>
                    <a:pt x="2197" y="180721"/>
                  </a:lnTo>
                  <a:lnTo>
                    <a:pt x="206006" y="385699"/>
                  </a:lnTo>
                  <a:lnTo>
                    <a:pt x="219163" y="385699"/>
                  </a:lnTo>
                  <a:lnTo>
                    <a:pt x="242890" y="353014"/>
                  </a:lnTo>
                  <a:lnTo>
                    <a:pt x="257784" y="315769"/>
                  </a:lnTo>
                  <a:lnTo>
                    <a:pt x="263230" y="276024"/>
                  </a:lnTo>
                  <a:lnTo>
                    <a:pt x="258610" y="235838"/>
                  </a:lnTo>
                  <a:lnTo>
                    <a:pt x="317779" y="176275"/>
                  </a:lnTo>
                  <a:lnTo>
                    <a:pt x="352283" y="176275"/>
                  </a:lnTo>
                  <a:lnTo>
                    <a:pt x="381330" y="145415"/>
                  </a:lnTo>
                  <a:lnTo>
                    <a:pt x="383463" y="143256"/>
                  </a:lnTo>
                  <a:lnTo>
                    <a:pt x="385749" y="141097"/>
                  </a:lnTo>
                  <a:lnTo>
                    <a:pt x="385749" y="136652"/>
                  </a:lnTo>
                  <a:lnTo>
                    <a:pt x="383463" y="134493"/>
                  </a:lnTo>
                  <a:lnTo>
                    <a:pt x="381330" y="134493"/>
                  </a:lnTo>
                  <a:lnTo>
                    <a:pt x="374644" y="127762"/>
                  </a:lnTo>
                  <a:lnTo>
                    <a:pt x="151218" y="127762"/>
                  </a:lnTo>
                  <a:lnTo>
                    <a:pt x="141324" y="126176"/>
                  </a:lnTo>
                  <a:lnTo>
                    <a:pt x="131221" y="124793"/>
                  </a:lnTo>
                  <a:lnTo>
                    <a:pt x="120706" y="123815"/>
                  </a:lnTo>
                  <a:lnTo>
                    <a:pt x="109575" y="123444"/>
                  </a:lnTo>
                  <a:close/>
                </a:path>
                <a:path w="386080" h="387985">
                  <a:moveTo>
                    <a:pt x="352283" y="176275"/>
                  </a:moveTo>
                  <a:lnTo>
                    <a:pt x="317779" y="176275"/>
                  </a:lnTo>
                  <a:lnTo>
                    <a:pt x="328739" y="187325"/>
                  </a:lnTo>
                  <a:lnTo>
                    <a:pt x="333121" y="189484"/>
                  </a:lnTo>
                  <a:lnTo>
                    <a:pt x="337502" y="189484"/>
                  </a:lnTo>
                  <a:lnTo>
                    <a:pt x="341884" y="187325"/>
                  </a:lnTo>
                  <a:lnTo>
                    <a:pt x="352283" y="176275"/>
                  </a:lnTo>
                  <a:close/>
                </a:path>
                <a:path w="386080" h="387985">
                  <a:moveTo>
                    <a:pt x="249847" y="0"/>
                  </a:moveTo>
                  <a:lnTo>
                    <a:pt x="243268" y="0"/>
                  </a:lnTo>
                  <a:lnTo>
                    <a:pt x="241071" y="4318"/>
                  </a:lnTo>
                  <a:lnTo>
                    <a:pt x="199440" y="44069"/>
                  </a:lnTo>
                  <a:lnTo>
                    <a:pt x="197243" y="46228"/>
                  </a:lnTo>
                  <a:lnTo>
                    <a:pt x="197243" y="55118"/>
                  </a:lnTo>
                  <a:lnTo>
                    <a:pt x="199440" y="57277"/>
                  </a:lnTo>
                  <a:lnTo>
                    <a:pt x="210388" y="68325"/>
                  </a:lnTo>
                  <a:lnTo>
                    <a:pt x="151218" y="127762"/>
                  </a:lnTo>
                  <a:lnTo>
                    <a:pt x="374644" y="127762"/>
                  </a:lnTo>
                  <a:lnTo>
                    <a:pt x="252031" y="4318"/>
                  </a:lnTo>
                  <a:lnTo>
                    <a:pt x="249847" y="0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0511" y="3290189"/>
              <a:ext cx="170891" cy="17018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154923" y="1620647"/>
              <a:ext cx="288290" cy="432434"/>
            </a:xfrm>
            <a:custGeom>
              <a:avLst/>
              <a:gdLst/>
              <a:ahLst/>
              <a:cxnLst/>
              <a:rect l="l" t="t" r="r" b="b"/>
              <a:pathLst>
                <a:path w="288290" h="432435">
                  <a:moveTo>
                    <a:pt x="215900" y="0"/>
                  </a:moveTo>
                  <a:lnTo>
                    <a:pt x="215900" y="287908"/>
                  </a:lnTo>
                  <a:lnTo>
                    <a:pt x="287908" y="287908"/>
                  </a:lnTo>
                  <a:lnTo>
                    <a:pt x="143891" y="431926"/>
                  </a:lnTo>
                  <a:lnTo>
                    <a:pt x="0" y="287908"/>
                  </a:lnTo>
                  <a:lnTo>
                    <a:pt x="71881" y="287908"/>
                  </a:lnTo>
                  <a:lnTo>
                    <a:pt x="71881" y="0"/>
                  </a:lnTo>
                  <a:lnTo>
                    <a:pt x="215900" y="0"/>
                  </a:lnTo>
                  <a:close/>
                </a:path>
              </a:pathLst>
            </a:custGeom>
            <a:ln w="28575">
              <a:solidFill>
                <a:srgbClr val="B42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410969" y="2879496"/>
            <a:ext cx="9972675" cy="9956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100"/>
              </a:spcBef>
            </a:pPr>
            <a:r>
              <a:rPr sz="2800" spc="-5" dirty="0">
                <a:solidFill>
                  <a:srgbClr val="FF0000"/>
                </a:solidFill>
                <a:latin typeface="微软雅黑"/>
                <a:cs typeface="微软雅黑"/>
              </a:rPr>
              <a:t>二叉树的带权路径长度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：从根结点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到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各个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叶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子结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点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的路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径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长度与 相应叶子结点权值的乘积之和</a:t>
            </a:r>
            <a:endParaRPr sz="2800" dirty="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29982" y="2162302"/>
            <a:ext cx="2159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取决于具体问题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94586" y="4181006"/>
            <a:ext cx="20193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i="1" spc="335" dirty="0">
                <a:latin typeface="Times New Roman"/>
                <a:cs typeface="Times New Roman"/>
              </a:rPr>
              <a:t>n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89415" y="4354187"/>
            <a:ext cx="1400175" cy="8540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5"/>
              </a:spcBef>
            </a:pPr>
            <a:r>
              <a:rPr sz="4950" spc="1125" baseline="-6734" dirty="0">
                <a:latin typeface="Symbol"/>
                <a:cs typeface="Symbol"/>
              </a:rPr>
              <a:t></a:t>
            </a:r>
            <a:r>
              <a:rPr sz="4950" spc="-330" baseline="-6734" dirty="0">
                <a:latin typeface="Times New Roman"/>
                <a:cs typeface="Times New Roman"/>
              </a:rPr>
              <a:t> </a:t>
            </a:r>
            <a:r>
              <a:rPr sz="2700" i="1" spc="495" dirty="0">
                <a:latin typeface="Times New Roman"/>
                <a:cs typeface="Times New Roman"/>
              </a:rPr>
              <a:t>w</a:t>
            </a:r>
            <a:r>
              <a:rPr sz="3150" i="1" spc="892" baseline="-18518" dirty="0">
                <a:latin typeface="Times New Roman"/>
                <a:cs typeface="Times New Roman"/>
              </a:rPr>
              <a:t>k</a:t>
            </a:r>
            <a:r>
              <a:rPr sz="2700" i="1" spc="315" dirty="0">
                <a:latin typeface="Times New Roman"/>
                <a:cs typeface="Times New Roman"/>
              </a:rPr>
              <a:t>l</a:t>
            </a:r>
            <a:r>
              <a:rPr sz="3150" i="1" spc="442" baseline="-18518" dirty="0">
                <a:latin typeface="Times New Roman"/>
                <a:cs typeface="Times New Roman"/>
              </a:rPr>
              <a:t>k</a:t>
            </a:r>
            <a:endParaRPr sz="3150" baseline="-18518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2100" i="1" spc="295" dirty="0">
                <a:latin typeface="Times New Roman"/>
                <a:cs typeface="Times New Roman"/>
              </a:rPr>
              <a:t>k</a:t>
            </a:r>
            <a:r>
              <a:rPr sz="2100" i="1" spc="-100" dirty="0">
                <a:latin typeface="Times New Roman"/>
                <a:cs typeface="Times New Roman"/>
              </a:rPr>
              <a:t> </a:t>
            </a:r>
            <a:r>
              <a:rPr sz="2100" spc="290" dirty="0">
                <a:latin typeface="Symbol"/>
                <a:cs typeface="Symbol"/>
              </a:rPr>
              <a:t></a:t>
            </a:r>
            <a:r>
              <a:rPr sz="2100" spc="335" dirty="0">
                <a:latin typeface="Times New Roman"/>
                <a:cs typeface="Times New Roman"/>
              </a:rPr>
              <a:t>1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035173" y="5090159"/>
            <a:ext cx="287655" cy="431800"/>
          </a:xfrm>
          <a:custGeom>
            <a:avLst/>
            <a:gdLst/>
            <a:ahLst/>
            <a:cxnLst/>
            <a:rect l="l" t="t" r="r" b="b"/>
            <a:pathLst>
              <a:path w="287654" h="431800">
                <a:moveTo>
                  <a:pt x="0" y="329056"/>
                </a:moveTo>
                <a:lnTo>
                  <a:pt x="71754" y="329056"/>
                </a:lnTo>
                <a:lnTo>
                  <a:pt x="71754" y="0"/>
                </a:lnTo>
                <a:lnTo>
                  <a:pt x="215519" y="0"/>
                </a:lnTo>
                <a:lnTo>
                  <a:pt x="215519" y="329056"/>
                </a:lnTo>
                <a:lnTo>
                  <a:pt x="287274" y="329056"/>
                </a:lnTo>
                <a:lnTo>
                  <a:pt x="143637" y="431799"/>
                </a:lnTo>
                <a:lnTo>
                  <a:pt x="0" y="329056"/>
                </a:lnTo>
                <a:close/>
              </a:path>
            </a:pathLst>
          </a:custGeom>
          <a:ln w="28575">
            <a:solidFill>
              <a:srgbClr val="285A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023364" y="5026867"/>
            <a:ext cx="6563359" cy="969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134870">
              <a:lnSpc>
                <a:spcPct val="129000"/>
              </a:lnSpc>
              <a:spcBef>
                <a:spcPts val="95"/>
              </a:spcBef>
            </a:pPr>
            <a:r>
              <a:rPr sz="2400" dirty="0">
                <a:solidFill>
                  <a:srgbClr val="404040"/>
                </a:solidFill>
                <a:latin typeface="宋体"/>
                <a:cs typeface="宋体"/>
              </a:rPr>
              <a:t>从根结点到第</a:t>
            </a: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k</a:t>
            </a:r>
            <a:r>
              <a:rPr sz="2400" dirty="0">
                <a:solidFill>
                  <a:srgbClr val="404040"/>
                </a:solidFill>
                <a:latin typeface="宋体"/>
                <a:cs typeface="宋体"/>
              </a:rPr>
              <a:t>个叶子的路径长度 </a:t>
            </a:r>
            <a:r>
              <a:rPr sz="2400" spc="-5" dirty="0">
                <a:solidFill>
                  <a:srgbClr val="404040"/>
                </a:solidFill>
                <a:latin typeface="宋体"/>
                <a:cs typeface="宋体"/>
              </a:rPr>
              <a:t>第</a:t>
            </a: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k</a:t>
            </a:r>
            <a:r>
              <a:rPr sz="2400" dirty="0">
                <a:solidFill>
                  <a:srgbClr val="404040"/>
                </a:solidFill>
                <a:latin typeface="宋体"/>
                <a:cs typeface="宋体"/>
              </a:rPr>
              <a:t>个叶子的</a:t>
            </a:r>
            <a:r>
              <a:rPr sz="2400" spc="-15" dirty="0">
                <a:solidFill>
                  <a:srgbClr val="404040"/>
                </a:solidFill>
                <a:latin typeface="宋体"/>
                <a:cs typeface="宋体"/>
              </a:rPr>
              <a:t>权</a:t>
            </a:r>
            <a:r>
              <a:rPr sz="2400" dirty="0">
                <a:solidFill>
                  <a:srgbClr val="404040"/>
                </a:solidFill>
                <a:latin typeface="宋体"/>
                <a:cs typeface="宋体"/>
              </a:rPr>
              <a:t>值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520313" y="5118734"/>
            <a:ext cx="501650" cy="400050"/>
          </a:xfrm>
          <a:custGeom>
            <a:avLst/>
            <a:gdLst/>
            <a:ahLst/>
            <a:cxnLst/>
            <a:rect l="l" t="t" r="r" b="b"/>
            <a:pathLst>
              <a:path w="501650" h="400050">
                <a:moveTo>
                  <a:pt x="501650" y="286003"/>
                </a:moveTo>
                <a:lnTo>
                  <a:pt x="354202" y="171957"/>
                </a:lnTo>
                <a:lnTo>
                  <a:pt x="354202" y="228091"/>
                </a:lnTo>
                <a:lnTo>
                  <a:pt x="168783" y="228091"/>
                </a:lnTo>
                <a:lnTo>
                  <a:pt x="168783" y="0"/>
                </a:lnTo>
                <a:lnTo>
                  <a:pt x="0" y="0"/>
                </a:lnTo>
                <a:lnTo>
                  <a:pt x="0" y="343788"/>
                </a:lnTo>
                <a:lnTo>
                  <a:pt x="354202" y="343788"/>
                </a:lnTo>
                <a:lnTo>
                  <a:pt x="354202" y="400049"/>
                </a:lnTo>
                <a:lnTo>
                  <a:pt x="501650" y="286003"/>
                </a:lnTo>
                <a:close/>
              </a:path>
            </a:pathLst>
          </a:custGeom>
          <a:ln w="28575">
            <a:solidFill>
              <a:srgbClr val="285A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30303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48643" y="2017267"/>
            <a:ext cx="152400" cy="25355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algn="just">
              <a:lnSpc>
                <a:spcPts val="1000"/>
              </a:lnSpc>
              <a:spcBef>
                <a:spcPts val="2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数 据 结 构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880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（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从 概 念 到 实 现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975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640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清 华 大 学 出 版 社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42925" y="100964"/>
            <a:ext cx="2376170" cy="540385"/>
          </a:xfrm>
          <a:custGeom>
            <a:avLst/>
            <a:gdLst/>
            <a:ahLst/>
            <a:cxnLst/>
            <a:rect l="l" t="t" r="r" b="b"/>
            <a:pathLst>
              <a:path w="2376170" h="540385">
                <a:moveTo>
                  <a:pt x="2286000" y="0"/>
                </a:moveTo>
                <a:lnTo>
                  <a:pt x="90004" y="0"/>
                </a:lnTo>
                <a:lnTo>
                  <a:pt x="54971" y="7068"/>
                </a:lnTo>
                <a:lnTo>
                  <a:pt x="26362" y="26352"/>
                </a:lnTo>
                <a:lnTo>
                  <a:pt x="7073" y="54971"/>
                </a:lnTo>
                <a:lnTo>
                  <a:pt x="0" y="90042"/>
                </a:lnTo>
                <a:lnTo>
                  <a:pt x="0" y="449960"/>
                </a:lnTo>
                <a:lnTo>
                  <a:pt x="7073" y="485032"/>
                </a:lnTo>
                <a:lnTo>
                  <a:pt x="26362" y="513651"/>
                </a:lnTo>
                <a:lnTo>
                  <a:pt x="54971" y="532935"/>
                </a:lnTo>
                <a:lnTo>
                  <a:pt x="90004" y="540003"/>
                </a:lnTo>
                <a:lnTo>
                  <a:pt x="2286000" y="540003"/>
                </a:lnTo>
                <a:lnTo>
                  <a:pt x="2321018" y="532935"/>
                </a:lnTo>
                <a:lnTo>
                  <a:pt x="2349642" y="513651"/>
                </a:lnTo>
                <a:lnTo>
                  <a:pt x="2368956" y="485032"/>
                </a:lnTo>
                <a:lnTo>
                  <a:pt x="2376043" y="449960"/>
                </a:lnTo>
                <a:lnTo>
                  <a:pt x="2376043" y="90042"/>
                </a:lnTo>
                <a:lnTo>
                  <a:pt x="2368956" y="54971"/>
                </a:lnTo>
                <a:lnTo>
                  <a:pt x="2349642" y="26352"/>
                </a:lnTo>
                <a:lnTo>
                  <a:pt x="2321018" y="7068"/>
                </a:lnTo>
                <a:lnTo>
                  <a:pt x="2286000" y="0"/>
                </a:lnTo>
                <a:close/>
              </a:path>
            </a:pathLst>
          </a:custGeom>
          <a:solidFill>
            <a:srgbClr val="5A31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6991" y="141809"/>
            <a:ext cx="206375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solidFill>
                  <a:schemeClr val="bg1"/>
                </a:solidFill>
              </a:rPr>
              <a:t>最优</a:t>
            </a:r>
            <a:r>
              <a:rPr sz="2800" spc="-10" dirty="0">
                <a:solidFill>
                  <a:schemeClr val="bg1"/>
                </a:solidFill>
              </a:rPr>
              <a:t>二</a:t>
            </a:r>
            <a:r>
              <a:rPr sz="2800" spc="-5" dirty="0">
                <a:solidFill>
                  <a:schemeClr val="bg1"/>
                </a:solidFill>
              </a:rPr>
              <a:t>叉</a:t>
            </a:r>
            <a:r>
              <a:rPr sz="2800" spc="-10" dirty="0">
                <a:solidFill>
                  <a:schemeClr val="bg1"/>
                </a:solidFill>
              </a:rPr>
              <a:t>树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10969" y="978814"/>
            <a:ext cx="9975215" cy="1040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100"/>
              </a:spcBef>
            </a:pPr>
            <a:r>
              <a:rPr sz="2800" spc="-5" dirty="0">
                <a:solidFill>
                  <a:srgbClr val="B42C2C"/>
                </a:solidFill>
                <a:latin typeface="微软雅黑"/>
                <a:cs typeface="微软雅黑"/>
              </a:rPr>
              <a:t>最优二叉树（哈夫曼树）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：给定一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组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具有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确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定权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值</a:t>
            </a:r>
            <a:r>
              <a:rPr sz="2800" spc="10" dirty="0">
                <a:solidFill>
                  <a:srgbClr val="404040"/>
                </a:solidFill>
                <a:latin typeface="微软雅黑"/>
                <a:cs typeface="微软雅黑"/>
              </a:rPr>
              <a:t>的</a:t>
            </a:r>
            <a:r>
              <a:rPr sz="2800" spc="-5" dirty="0">
                <a:solidFill>
                  <a:srgbClr val="B42C2C"/>
                </a:solidFill>
                <a:latin typeface="微软雅黑"/>
                <a:cs typeface="微软雅黑"/>
              </a:rPr>
              <a:t>叶</a:t>
            </a:r>
            <a:r>
              <a:rPr sz="2800" spc="5" dirty="0">
                <a:solidFill>
                  <a:srgbClr val="B42C2C"/>
                </a:solidFill>
                <a:latin typeface="微软雅黑"/>
                <a:cs typeface="微软雅黑"/>
              </a:rPr>
              <a:t>子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结点， 带权路径长度最小的二叉树</a:t>
            </a:r>
            <a:endParaRPr sz="2800">
              <a:latin typeface="微软雅黑"/>
              <a:cs typeface="微软雅黑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40511" y="1128141"/>
            <a:ext cx="5828030" cy="3335020"/>
            <a:chOff x="840511" y="1128141"/>
            <a:chExt cx="5828030" cy="3335020"/>
          </a:xfrm>
        </p:grpSpPr>
        <p:sp>
          <p:nvSpPr>
            <p:cNvPr id="7" name="object 7"/>
            <p:cNvSpPr/>
            <p:nvPr/>
          </p:nvSpPr>
          <p:spPr>
            <a:xfrm>
              <a:off x="886790" y="1128141"/>
              <a:ext cx="386080" cy="387985"/>
            </a:xfrm>
            <a:custGeom>
              <a:avLst/>
              <a:gdLst/>
              <a:ahLst/>
              <a:cxnLst/>
              <a:rect l="l" t="t" r="r" b="b"/>
              <a:pathLst>
                <a:path w="386080" h="387984">
                  <a:moveTo>
                    <a:pt x="216966" y="385825"/>
                  </a:moveTo>
                  <a:lnTo>
                    <a:pt x="208203" y="385825"/>
                  </a:lnTo>
                  <a:lnTo>
                    <a:pt x="210388" y="387985"/>
                  </a:lnTo>
                  <a:lnTo>
                    <a:pt x="214769" y="387985"/>
                  </a:lnTo>
                  <a:lnTo>
                    <a:pt x="216966" y="385825"/>
                  </a:lnTo>
                  <a:close/>
                </a:path>
                <a:path w="386080" h="387984">
                  <a:moveTo>
                    <a:pt x="109575" y="123444"/>
                  </a:moveTo>
                  <a:lnTo>
                    <a:pt x="51776" y="134762"/>
                  </a:lnTo>
                  <a:lnTo>
                    <a:pt x="2197" y="167512"/>
                  </a:lnTo>
                  <a:lnTo>
                    <a:pt x="0" y="171958"/>
                  </a:lnTo>
                  <a:lnTo>
                    <a:pt x="0" y="176403"/>
                  </a:lnTo>
                  <a:lnTo>
                    <a:pt x="2197" y="180721"/>
                  </a:lnTo>
                  <a:lnTo>
                    <a:pt x="206006" y="385825"/>
                  </a:lnTo>
                  <a:lnTo>
                    <a:pt x="219163" y="385825"/>
                  </a:lnTo>
                  <a:lnTo>
                    <a:pt x="242890" y="353067"/>
                  </a:lnTo>
                  <a:lnTo>
                    <a:pt x="257784" y="315785"/>
                  </a:lnTo>
                  <a:lnTo>
                    <a:pt x="263230" y="276026"/>
                  </a:lnTo>
                  <a:lnTo>
                    <a:pt x="258610" y="235838"/>
                  </a:lnTo>
                  <a:lnTo>
                    <a:pt x="317779" y="176403"/>
                  </a:lnTo>
                  <a:lnTo>
                    <a:pt x="352278" y="176403"/>
                  </a:lnTo>
                  <a:lnTo>
                    <a:pt x="383463" y="143256"/>
                  </a:lnTo>
                  <a:lnTo>
                    <a:pt x="385749" y="141097"/>
                  </a:lnTo>
                  <a:lnTo>
                    <a:pt x="385749" y="136651"/>
                  </a:lnTo>
                  <a:lnTo>
                    <a:pt x="383463" y="134493"/>
                  </a:lnTo>
                  <a:lnTo>
                    <a:pt x="381330" y="134493"/>
                  </a:lnTo>
                  <a:lnTo>
                    <a:pt x="374764" y="127888"/>
                  </a:lnTo>
                  <a:lnTo>
                    <a:pt x="151218" y="127888"/>
                  </a:lnTo>
                  <a:lnTo>
                    <a:pt x="141324" y="126283"/>
                  </a:lnTo>
                  <a:lnTo>
                    <a:pt x="131221" y="124856"/>
                  </a:lnTo>
                  <a:lnTo>
                    <a:pt x="120706" y="123834"/>
                  </a:lnTo>
                  <a:lnTo>
                    <a:pt x="109575" y="123444"/>
                  </a:lnTo>
                  <a:close/>
                </a:path>
                <a:path w="386080" h="387984">
                  <a:moveTo>
                    <a:pt x="352278" y="176403"/>
                  </a:moveTo>
                  <a:lnTo>
                    <a:pt x="317779" y="176403"/>
                  </a:lnTo>
                  <a:lnTo>
                    <a:pt x="328739" y="187451"/>
                  </a:lnTo>
                  <a:lnTo>
                    <a:pt x="333121" y="189611"/>
                  </a:lnTo>
                  <a:lnTo>
                    <a:pt x="337502" y="189611"/>
                  </a:lnTo>
                  <a:lnTo>
                    <a:pt x="341884" y="187451"/>
                  </a:lnTo>
                  <a:lnTo>
                    <a:pt x="352278" y="176403"/>
                  </a:lnTo>
                  <a:close/>
                </a:path>
                <a:path w="386080" h="387984">
                  <a:moveTo>
                    <a:pt x="249847" y="0"/>
                  </a:moveTo>
                  <a:lnTo>
                    <a:pt x="243268" y="0"/>
                  </a:lnTo>
                  <a:lnTo>
                    <a:pt x="241071" y="4445"/>
                  </a:lnTo>
                  <a:lnTo>
                    <a:pt x="199440" y="44069"/>
                  </a:lnTo>
                  <a:lnTo>
                    <a:pt x="197243" y="46355"/>
                  </a:lnTo>
                  <a:lnTo>
                    <a:pt x="197243" y="55118"/>
                  </a:lnTo>
                  <a:lnTo>
                    <a:pt x="199440" y="57276"/>
                  </a:lnTo>
                  <a:lnTo>
                    <a:pt x="210388" y="68325"/>
                  </a:lnTo>
                  <a:lnTo>
                    <a:pt x="151218" y="127888"/>
                  </a:lnTo>
                  <a:lnTo>
                    <a:pt x="374764" y="127888"/>
                  </a:lnTo>
                  <a:lnTo>
                    <a:pt x="252031" y="4445"/>
                  </a:lnTo>
                  <a:lnTo>
                    <a:pt x="249847" y="0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0511" y="1390015"/>
              <a:ext cx="170891" cy="17018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215762" y="2522474"/>
              <a:ext cx="1433830" cy="1921510"/>
            </a:xfrm>
            <a:custGeom>
              <a:avLst/>
              <a:gdLst/>
              <a:ahLst/>
              <a:cxnLst/>
              <a:rect l="l" t="t" r="r" b="b"/>
              <a:pathLst>
                <a:path w="1433829" h="1921510">
                  <a:moveTo>
                    <a:pt x="0" y="216026"/>
                  </a:moveTo>
                  <a:lnTo>
                    <a:pt x="5701" y="166471"/>
                  </a:lnTo>
                  <a:lnTo>
                    <a:pt x="21944" y="120992"/>
                  </a:lnTo>
                  <a:lnTo>
                    <a:pt x="47436" y="80883"/>
                  </a:lnTo>
                  <a:lnTo>
                    <a:pt x="80883" y="47436"/>
                  </a:lnTo>
                  <a:lnTo>
                    <a:pt x="120992" y="21944"/>
                  </a:lnTo>
                  <a:lnTo>
                    <a:pt x="166471" y="5701"/>
                  </a:lnTo>
                  <a:lnTo>
                    <a:pt x="216026" y="0"/>
                  </a:lnTo>
                  <a:lnTo>
                    <a:pt x="265542" y="5701"/>
                  </a:lnTo>
                  <a:lnTo>
                    <a:pt x="311005" y="21944"/>
                  </a:lnTo>
                  <a:lnTo>
                    <a:pt x="351117" y="47436"/>
                  </a:lnTo>
                  <a:lnTo>
                    <a:pt x="384577" y="80883"/>
                  </a:lnTo>
                  <a:lnTo>
                    <a:pt x="410087" y="120992"/>
                  </a:lnTo>
                  <a:lnTo>
                    <a:pt x="426345" y="166471"/>
                  </a:lnTo>
                  <a:lnTo>
                    <a:pt x="432053" y="216026"/>
                  </a:lnTo>
                  <a:lnTo>
                    <a:pt x="426345" y="265535"/>
                  </a:lnTo>
                  <a:lnTo>
                    <a:pt x="410087" y="310980"/>
                  </a:lnTo>
                  <a:lnTo>
                    <a:pt x="384577" y="351067"/>
                  </a:lnTo>
                  <a:lnTo>
                    <a:pt x="351117" y="384500"/>
                  </a:lnTo>
                  <a:lnTo>
                    <a:pt x="311005" y="409985"/>
                  </a:lnTo>
                  <a:lnTo>
                    <a:pt x="265542" y="426225"/>
                  </a:lnTo>
                  <a:lnTo>
                    <a:pt x="216026" y="431926"/>
                  </a:lnTo>
                  <a:lnTo>
                    <a:pt x="166471" y="426225"/>
                  </a:lnTo>
                  <a:lnTo>
                    <a:pt x="120992" y="409985"/>
                  </a:lnTo>
                  <a:lnTo>
                    <a:pt x="80883" y="384500"/>
                  </a:lnTo>
                  <a:lnTo>
                    <a:pt x="47436" y="351067"/>
                  </a:lnTo>
                  <a:lnTo>
                    <a:pt x="21944" y="310980"/>
                  </a:lnTo>
                  <a:lnTo>
                    <a:pt x="5701" y="265535"/>
                  </a:lnTo>
                  <a:lnTo>
                    <a:pt x="0" y="216026"/>
                  </a:lnTo>
                  <a:close/>
                </a:path>
                <a:path w="1433829" h="1921510">
                  <a:moveTo>
                    <a:pt x="558800" y="949451"/>
                  </a:moveTo>
                  <a:lnTo>
                    <a:pt x="564501" y="899896"/>
                  </a:lnTo>
                  <a:lnTo>
                    <a:pt x="580744" y="854417"/>
                  </a:lnTo>
                  <a:lnTo>
                    <a:pt x="606236" y="814308"/>
                  </a:lnTo>
                  <a:lnTo>
                    <a:pt x="639683" y="780861"/>
                  </a:lnTo>
                  <a:lnTo>
                    <a:pt x="679792" y="755369"/>
                  </a:lnTo>
                  <a:lnTo>
                    <a:pt x="725271" y="739126"/>
                  </a:lnTo>
                  <a:lnTo>
                    <a:pt x="774826" y="733425"/>
                  </a:lnTo>
                  <a:lnTo>
                    <a:pt x="824335" y="739126"/>
                  </a:lnTo>
                  <a:lnTo>
                    <a:pt x="869780" y="755369"/>
                  </a:lnTo>
                  <a:lnTo>
                    <a:pt x="909867" y="780861"/>
                  </a:lnTo>
                  <a:lnTo>
                    <a:pt x="943300" y="814308"/>
                  </a:lnTo>
                  <a:lnTo>
                    <a:pt x="968785" y="854417"/>
                  </a:lnTo>
                  <a:lnTo>
                    <a:pt x="985025" y="899896"/>
                  </a:lnTo>
                  <a:lnTo>
                    <a:pt x="990726" y="949451"/>
                  </a:lnTo>
                  <a:lnTo>
                    <a:pt x="985025" y="998960"/>
                  </a:lnTo>
                  <a:lnTo>
                    <a:pt x="968785" y="1044405"/>
                  </a:lnTo>
                  <a:lnTo>
                    <a:pt x="943300" y="1084492"/>
                  </a:lnTo>
                  <a:lnTo>
                    <a:pt x="909867" y="1117925"/>
                  </a:lnTo>
                  <a:lnTo>
                    <a:pt x="869780" y="1143410"/>
                  </a:lnTo>
                  <a:lnTo>
                    <a:pt x="824335" y="1159650"/>
                  </a:lnTo>
                  <a:lnTo>
                    <a:pt x="774826" y="1165352"/>
                  </a:lnTo>
                  <a:lnTo>
                    <a:pt x="725271" y="1159650"/>
                  </a:lnTo>
                  <a:lnTo>
                    <a:pt x="679792" y="1143410"/>
                  </a:lnTo>
                  <a:lnTo>
                    <a:pt x="639683" y="1117925"/>
                  </a:lnTo>
                  <a:lnTo>
                    <a:pt x="606236" y="1084492"/>
                  </a:lnTo>
                  <a:lnTo>
                    <a:pt x="580744" y="1044405"/>
                  </a:lnTo>
                  <a:lnTo>
                    <a:pt x="564501" y="998960"/>
                  </a:lnTo>
                  <a:lnTo>
                    <a:pt x="558800" y="949451"/>
                  </a:lnTo>
                  <a:close/>
                </a:path>
                <a:path w="1433829" h="1921510">
                  <a:moveTo>
                    <a:pt x="1001649" y="1705356"/>
                  </a:moveTo>
                  <a:lnTo>
                    <a:pt x="1007357" y="1655840"/>
                  </a:lnTo>
                  <a:lnTo>
                    <a:pt x="1023615" y="1610377"/>
                  </a:lnTo>
                  <a:lnTo>
                    <a:pt x="1049125" y="1570265"/>
                  </a:lnTo>
                  <a:lnTo>
                    <a:pt x="1082585" y="1536805"/>
                  </a:lnTo>
                  <a:lnTo>
                    <a:pt x="1122697" y="1511295"/>
                  </a:lnTo>
                  <a:lnTo>
                    <a:pt x="1168160" y="1495037"/>
                  </a:lnTo>
                  <a:lnTo>
                    <a:pt x="1217676" y="1489328"/>
                  </a:lnTo>
                  <a:lnTo>
                    <a:pt x="1267231" y="1495037"/>
                  </a:lnTo>
                  <a:lnTo>
                    <a:pt x="1312710" y="1511295"/>
                  </a:lnTo>
                  <a:lnTo>
                    <a:pt x="1352819" y="1536805"/>
                  </a:lnTo>
                  <a:lnTo>
                    <a:pt x="1386266" y="1570265"/>
                  </a:lnTo>
                  <a:lnTo>
                    <a:pt x="1411758" y="1610377"/>
                  </a:lnTo>
                  <a:lnTo>
                    <a:pt x="1428001" y="1655840"/>
                  </a:lnTo>
                  <a:lnTo>
                    <a:pt x="1433703" y="1705356"/>
                  </a:lnTo>
                  <a:lnTo>
                    <a:pt x="1428001" y="1754871"/>
                  </a:lnTo>
                  <a:lnTo>
                    <a:pt x="1411758" y="1800334"/>
                  </a:lnTo>
                  <a:lnTo>
                    <a:pt x="1386266" y="1840446"/>
                  </a:lnTo>
                  <a:lnTo>
                    <a:pt x="1352819" y="1873906"/>
                  </a:lnTo>
                  <a:lnTo>
                    <a:pt x="1312710" y="1899416"/>
                  </a:lnTo>
                  <a:lnTo>
                    <a:pt x="1267231" y="1915674"/>
                  </a:lnTo>
                  <a:lnTo>
                    <a:pt x="1217676" y="1921383"/>
                  </a:lnTo>
                  <a:lnTo>
                    <a:pt x="1168160" y="1915674"/>
                  </a:lnTo>
                  <a:lnTo>
                    <a:pt x="1122697" y="1899416"/>
                  </a:lnTo>
                  <a:lnTo>
                    <a:pt x="1082585" y="1873906"/>
                  </a:lnTo>
                  <a:lnTo>
                    <a:pt x="1049125" y="1840446"/>
                  </a:lnTo>
                  <a:lnTo>
                    <a:pt x="1023615" y="1800334"/>
                  </a:lnTo>
                  <a:lnTo>
                    <a:pt x="1007357" y="1754871"/>
                  </a:lnTo>
                  <a:lnTo>
                    <a:pt x="1001649" y="1705356"/>
                  </a:lnTo>
                  <a:close/>
                </a:path>
              </a:pathLst>
            </a:custGeom>
            <a:ln w="38100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89906" y="325589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6026"/>
                  </a:moveTo>
                  <a:lnTo>
                    <a:pt x="5708" y="166471"/>
                  </a:lnTo>
                  <a:lnTo>
                    <a:pt x="21966" y="120992"/>
                  </a:lnTo>
                  <a:lnTo>
                    <a:pt x="47476" y="80883"/>
                  </a:lnTo>
                  <a:lnTo>
                    <a:pt x="80936" y="47436"/>
                  </a:lnTo>
                  <a:lnTo>
                    <a:pt x="121048" y="21944"/>
                  </a:lnTo>
                  <a:lnTo>
                    <a:pt x="166511" y="5701"/>
                  </a:lnTo>
                  <a:lnTo>
                    <a:pt x="216026" y="0"/>
                  </a:lnTo>
                  <a:lnTo>
                    <a:pt x="265542" y="5701"/>
                  </a:lnTo>
                  <a:lnTo>
                    <a:pt x="311005" y="21944"/>
                  </a:lnTo>
                  <a:lnTo>
                    <a:pt x="351117" y="47436"/>
                  </a:lnTo>
                  <a:lnTo>
                    <a:pt x="384577" y="80883"/>
                  </a:lnTo>
                  <a:lnTo>
                    <a:pt x="410087" y="120992"/>
                  </a:lnTo>
                  <a:lnTo>
                    <a:pt x="426345" y="166471"/>
                  </a:lnTo>
                  <a:lnTo>
                    <a:pt x="432053" y="216026"/>
                  </a:lnTo>
                  <a:lnTo>
                    <a:pt x="426345" y="265535"/>
                  </a:lnTo>
                  <a:lnTo>
                    <a:pt x="410087" y="310980"/>
                  </a:lnTo>
                  <a:lnTo>
                    <a:pt x="384577" y="351067"/>
                  </a:lnTo>
                  <a:lnTo>
                    <a:pt x="351117" y="384500"/>
                  </a:lnTo>
                  <a:lnTo>
                    <a:pt x="311005" y="409985"/>
                  </a:lnTo>
                  <a:lnTo>
                    <a:pt x="265542" y="426225"/>
                  </a:lnTo>
                  <a:lnTo>
                    <a:pt x="216026" y="431926"/>
                  </a:lnTo>
                  <a:lnTo>
                    <a:pt x="166511" y="426225"/>
                  </a:lnTo>
                  <a:lnTo>
                    <a:pt x="121048" y="409985"/>
                  </a:lnTo>
                  <a:lnTo>
                    <a:pt x="80936" y="384500"/>
                  </a:lnTo>
                  <a:lnTo>
                    <a:pt x="47476" y="351067"/>
                  </a:lnTo>
                  <a:lnTo>
                    <a:pt x="21966" y="310980"/>
                  </a:lnTo>
                  <a:lnTo>
                    <a:pt x="5708" y="265535"/>
                  </a:lnTo>
                  <a:lnTo>
                    <a:pt x="0" y="216026"/>
                  </a:lnTo>
                  <a:close/>
                </a:path>
              </a:pathLst>
            </a:custGeom>
            <a:ln w="28575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717541" y="3247771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158485" y="4011803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5" h="432435">
                <a:moveTo>
                  <a:pt x="0" y="216027"/>
                </a:moveTo>
                <a:lnTo>
                  <a:pt x="5708" y="166511"/>
                </a:lnTo>
                <a:lnTo>
                  <a:pt x="21966" y="121048"/>
                </a:lnTo>
                <a:lnTo>
                  <a:pt x="47476" y="80936"/>
                </a:lnTo>
                <a:lnTo>
                  <a:pt x="80936" y="47476"/>
                </a:lnTo>
                <a:lnTo>
                  <a:pt x="121048" y="21966"/>
                </a:lnTo>
                <a:lnTo>
                  <a:pt x="166511" y="5708"/>
                </a:lnTo>
                <a:lnTo>
                  <a:pt x="216026" y="0"/>
                </a:lnTo>
                <a:lnTo>
                  <a:pt x="265542" y="5708"/>
                </a:lnTo>
                <a:lnTo>
                  <a:pt x="311005" y="21966"/>
                </a:lnTo>
                <a:lnTo>
                  <a:pt x="351117" y="47476"/>
                </a:lnTo>
                <a:lnTo>
                  <a:pt x="384577" y="80936"/>
                </a:lnTo>
                <a:lnTo>
                  <a:pt x="410087" y="121048"/>
                </a:lnTo>
                <a:lnTo>
                  <a:pt x="426345" y="166511"/>
                </a:lnTo>
                <a:lnTo>
                  <a:pt x="432053" y="216027"/>
                </a:lnTo>
                <a:lnTo>
                  <a:pt x="426345" y="265542"/>
                </a:lnTo>
                <a:lnTo>
                  <a:pt x="410087" y="311005"/>
                </a:lnTo>
                <a:lnTo>
                  <a:pt x="384577" y="351117"/>
                </a:lnTo>
                <a:lnTo>
                  <a:pt x="351117" y="384577"/>
                </a:lnTo>
                <a:lnTo>
                  <a:pt x="311005" y="410087"/>
                </a:lnTo>
                <a:lnTo>
                  <a:pt x="265542" y="426345"/>
                </a:lnTo>
                <a:lnTo>
                  <a:pt x="216026" y="432054"/>
                </a:lnTo>
                <a:lnTo>
                  <a:pt x="166511" y="426345"/>
                </a:lnTo>
                <a:lnTo>
                  <a:pt x="121048" y="410087"/>
                </a:lnTo>
                <a:lnTo>
                  <a:pt x="80936" y="384577"/>
                </a:lnTo>
                <a:lnTo>
                  <a:pt x="47476" y="351117"/>
                </a:lnTo>
                <a:lnTo>
                  <a:pt x="21966" y="311005"/>
                </a:lnTo>
                <a:lnTo>
                  <a:pt x="5708" y="265542"/>
                </a:lnTo>
                <a:lnTo>
                  <a:pt x="0" y="216027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286247" y="4003624"/>
            <a:ext cx="1784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846445" y="4854194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5" h="432435">
                <a:moveTo>
                  <a:pt x="0" y="216026"/>
                </a:moveTo>
                <a:lnTo>
                  <a:pt x="5701" y="166511"/>
                </a:lnTo>
                <a:lnTo>
                  <a:pt x="21944" y="121048"/>
                </a:lnTo>
                <a:lnTo>
                  <a:pt x="47436" y="80936"/>
                </a:lnTo>
                <a:lnTo>
                  <a:pt x="80883" y="47476"/>
                </a:lnTo>
                <a:lnTo>
                  <a:pt x="120992" y="21966"/>
                </a:lnTo>
                <a:lnTo>
                  <a:pt x="166471" y="5708"/>
                </a:lnTo>
                <a:lnTo>
                  <a:pt x="216026" y="0"/>
                </a:lnTo>
                <a:lnTo>
                  <a:pt x="265535" y="5708"/>
                </a:lnTo>
                <a:lnTo>
                  <a:pt x="310980" y="21966"/>
                </a:lnTo>
                <a:lnTo>
                  <a:pt x="351067" y="47476"/>
                </a:lnTo>
                <a:lnTo>
                  <a:pt x="384500" y="80936"/>
                </a:lnTo>
                <a:lnTo>
                  <a:pt x="409985" y="121048"/>
                </a:lnTo>
                <a:lnTo>
                  <a:pt x="426225" y="166511"/>
                </a:lnTo>
                <a:lnTo>
                  <a:pt x="431926" y="216026"/>
                </a:lnTo>
                <a:lnTo>
                  <a:pt x="426225" y="265582"/>
                </a:lnTo>
                <a:lnTo>
                  <a:pt x="409985" y="311061"/>
                </a:lnTo>
                <a:lnTo>
                  <a:pt x="384500" y="351170"/>
                </a:lnTo>
                <a:lnTo>
                  <a:pt x="351067" y="384617"/>
                </a:lnTo>
                <a:lnTo>
                  <a:pt x="310980" y="410109"/>
                </a:lnTo>
                <a:lnTo>
                  <a:pt x="265535" y="426352"/>
                </a:lnTo>
                <a:lnTo>
                  <a:pt x="216026" y="432053"/>
                </a:lnTo>
                <a:lnTo>
                  <a:pt x="166471" y="426352"/>
                </a:lnTo>
                <a:lnTo>
                  <a:pt x="120992" y="410109"/>
                </a:lnTo>
                <a:lnTo>
                  <a:pt x="80883" y="384617"/>
                </a:lnTo>
                <a:lnTo>
                  <a:pt x="47436" y="351170"/>
                </a:lnTo>
                <a:lnTo>
                  <a:pt x="21944" y="311061"/>
                </a:lnTo>
                <a:lnTo>
                  <a:pt x="5701" y="265582"/>
                </a:lnTo>
                <a:lnTo>
                  <a:pt x="0" y="216026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974207" y="484644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613143" y="4854194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5">
                <a:moveTo>
                  <a:pt x="0" y="216026"/>
                </a:moveTo>
                <a:lnTo>
                  <a:pt x="5708" y="166511"/>
                </a:lnTo>
                <a:lnTo>
                  <a:pt x="21966" y="121048"/>
                </a:lnTo>
                <a:lnTo>
                  <a:pt x="47476" y="80936"/>
                </a:lnTo>
                <a:lnTo>
                  <a:pt x="80936" y="47476"/>
                </a:lnTo>
                <a:lnTo>
                  <a:pt x="121048" y="21966"/>
                </a:lnTo>
                <a:lnTo>
                  <a:pt x="166511" y="5708"/>
                </a:lnTo>
                <a:lnTo>
                  <a:pt x="216026" y="0"/>
                </a:lnTo>
                <a:lnTo>
                  <a:pt x="265542" y="5708"/>
                </a:lnTo>
                <a:lnTo>
                  <a:pt x="311005" y="21966"/>
                </a:lnTo>
                <a:lnTo>
                  <a:pt x="351117" y="47476"/>
                </a:lnTo>
                <a:lnTo>
                  <a:pt x="384577" y="80936"/>
                </a:lnTo>
                <a:lnTo>
                  <a:pt x="410087" y="121048"/>
                </a:lnTo>
                <a:lnTo>
                  <a:pt x="426345" y="166511"/>
                </a:lnTo>
                <a:lnTo>
                  <a:pt x="432053" y="216026"/>
                </a:lnTo>
                <a:lnTo>
                  <a:pt x="426345" y="265582"/>
                </a:lnTo>
                <a:lnTo>
                  <a:pt x="410087" y="311061"/>
                </a:lnTo>
                <a:lnTo>
                  <a:pt x="384577" y="351170"/>
                </a:lnTo>
                <a:lnTo>
                  <a:pt x="351117" y="384617"/>
                </a:lnTo>
                <a:lnTo>
                  <a:pt x="311005" y="410109"/>
                </a:lnTo>
                <a:lnTo>
                  <a:pt x="265542" y="426352"/>
                </a:lnTo>
                <a:lnTo>
                  <a:pt x="216026" y="432053"/>
                </a:lnTo>
                <a:lnTo>
                  <a:pt x="166511" y="426352"/>
                </a:lnTo>
                <a:lnTo>
                  <a:pt x="121048" y="410109"/>
                </a:lnTo>
                <a:lnTo>
                  <a:pt x="80936" y="384617"/>
                </a:lnTo>
                <a:lnTo>
                  <a:pt x="47476" y="351170"/>
                </a:lnTo>
                <a:lnTo>
                  <a:pt x="21966" y="311061"/>
                </a:lnTo>
                <a:lnTo>
                  <a:pt x="5708" y="265582"/>
                </a:lnTo>
                <a:lnTo>
                  <a:pt x="0" y="216026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741032" y="484644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258252" y="2503423"/>
            <a:ext cx="5506085" cy="2385060"/>
            <a:chOff x="1258252" y="2503423"/>
            <a:chExt cx="5506085" cy="2385060"/>
          </a:xfrm>
        </p:grpSpPr>
        <p:sp>
          <p:nvSpPr>
            <p:cNvPr id="19" name="object 19"/>
            <p:cNvSpPr/>
            <p:nvPr/>
          </p:nvSpPr>
          <p:spPr>
            <a:xfrm>
              <a:off x="4945761" y="2892932"/>
              <a:ext cx="1804670" cy="1981200"/>
            </a:xfrm>
            <a:custGeom>
              <a:avLst/>
              <a:gdLst/>
              <a:ahLst/>
              <a:cxnLst/>
              <a:rect l="l" t="t" r="r" b="b"/>
              <a:pathLst>
                <a:path w="1804670" h="1981200">
                  <a:moveTo>
                    <a:pt x="1177543" y="1976500"/>
                  </a:moveTo>
                  <a:lnTo>
                    <a:pt x="1420494" y="1544573"/>
                  </a:lnTo>
                </a:path>
                <a:path w="1804670" h="1981200">
                  <a:moveTo>
                    <a:pt x="1561084" y="1549145"/>
                  </a:moveTo>
                  <a:lnTo>
                    <a:pt x="1804162" y="1981072"/>
                  </a:lnTo>
                </a:path>
                <a:path w="1804670" h="1981200">
                  <a:moveTo>
                    <a:pt x="0" y="432053"/>
                  </a:moveTo>
                  <a:lnTo>
                    <a:pt x="319404" y="0"/>
                  </a:lnTo>
                </a:path>
                <a:path w="1804670" h="1981200">
                  <a:moveTo>
                    <a:pt x="621411" y="25400"/>
                  </a:moveTo>
                  <a:lnTo>
                    <a:pt x="900684" y="408177"/>
                  </a:lnTo>
                </a:path>
                <a:path w="1804670" h="1981200">
                  <a:moveTo>
                    <a:pt x="1159383" y="768857"/>
                  </a:moveTo>
                  <a:lnTo>
                    <a:pt x="1438655" y="1151635"/>
                  </a:lnTo>
                </a:path>
                <a:path w="1804670" h="1981200">
                  <a:moveTo>
                    <a:pt x="601344" y="1195196"/>
                  </a:moveTo>
                  <a:lnTo>
                    <a:pt x="920876" y="763142"/>
                  </a:lnTo>
                </a:path>
              </a:pathLst>
            </a:custGeom>
            <a:ln w="28575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898395" y="2522473"/>
              <a:ext cx="1433830" cy="1921510"/>
            </a:xfrm>
            <a:custGeom>
              <a:avLst/>
              <a:gdLst/>
              <a:ahLst/>
              <a:cxnLst/>
              <a:rect l="l" t="t" r="r" b="b"/>
              <a:pathLst>
                <a:path w="1433829" h="1921510">
                  <a:moveTo>
                    <a:pt x="0" y="216026"/>
                  </a:moveTo>
                  <a:lnTo>
                    <a:pt x="5701" y="166471"/>
                  </a:lnTo>
                  <a:lnTo>
                    <a:pt x="21941" y="120992"/>
                  </a:lnTo>
                  <a:lnTo>
                    <a:pt x="47426" y="80883"/>
                  </a:lnTo>
                  <a:lnTo>
                    <a:pt x="80859" y="47436"/>
                  </a:lnTo>
                  <a:lnTo>
                    <a:pt x="120946" y="21944"/>
                  </a:lnTo>
                  <a:lnTo>
                    <a:pt x="166391" y="5701"/>
                  </a:lnTo>
                  <a:lnTo>
                    <a:pt x="215900" y="0"/>
                  </a:lnTo>
                  <a:lnTo>
                    <a:pt x="265455" y="5701"/>
                  </a:lnTo>
                  <a:lnTo>
                    <a:pt x="310934" y="21944"/>
                  </a:lnTo>
                  <a:lnTo>
                    <a:pt x="351043" y="47436"/>
                  </a:lnTo>
                  <a:lnTo>
                    <a:pt x="384490" y="80883"/>
                  </a:lnTo>
                  <a:lnTo>
                    <a:pt x="409982" y="120992"/>
                  </a:lnTo>
                  <a:lnTo>
                    <a:pt x="426225" y="166471"/>
                  </a:lnTo>
                  <a:lnTo>
                    <a:pt x="431927" y="216026"/>
                  </a:lnTo>
                  <a:lnTo>
                    <a:pt x="426225" y="265535"/>
                  </a:lnTo>
                  <a:lnTo>
                    <a:pt x="409982" y="310980"/>
                  </a:lnTo>
                  <a:lnTo>
                    <a:pt x="384490" y="351067"/>
                  </a:lnTo>
                  <a:lnTo>
                    <a:pt x="351043" y="384500"/>
                  </a:lnTo>
                  <a:lnTo>
                    <a:pt x="310934" y="409985"/>
                  </a:lnTo>
                  <a:lnTo>
                    <a:pt x="265455" y="426225"/>
                  </a:lnTo>
                  <a:lnTo>
                    <a:pt x="215900" y="431926"/>
                  </a:lnTo>
                  <a:lnTo>
                    <a:pt x="166391" y="426225"/>
                  </a:lnTo>
                  <a:lnTo>
                    <a:pt x="120946" y="409985"/>
                  </a:lnTo>
                  <a:lnTo>
                    <a:pt x="80859" y="384500"/>
                  </a:lnTo>
                  <a:lnTo>
                    <a:pt x="47426" y="351067"/>
                  </a:lnTo>
                  <a:lnTo>
                    <a:pt x="21941" y="310980"/>
                  </a:lnTo>
                  <a:lnTo>
                    <a:pt x="5701" y="265535"/>
                  </a:lnTo>
                  <a:lnTo>
                    <a:pt x="0" y="216026"/>
                  </a:lnTo>
                  <a:close/>
                </a:path>
                <a:path w="1433829" h="1921510">
                  <a:moveTo>
                    <a:pt x="558800" y="949451"/>
                  </a:moveTo>
                  <a:lnTo>
                    <a:pt x="564501" y="899896"/>
                  </a:lnTo>
                  <a:lnTo>
                    <a:pt x="580741" y="854417"/>
                  </a:lnTo>
                  <a:lnTo>
                    <a:pt x="606226" y="814308"/>
                  </a:lnTo>
                  <a:lnTo>
                    <a:pt x="639659" y="780861"/>
                  </a:lnTo>
                  <a:lnTo>
                    <a:pt x="679746" y="755369"/>
                  </a:lnTo>
                  <a:lnTo>
                    <a:pt x="725191" y="739126"/>
                  </a:lnTo>
                  <a:lnTo>
                    <a:pt x="774700" y="733425"/>
                  </a:lnTo>
                  <a:lnTo>
                    <a:pt x="824255" y="739126"/>
                  </a:lnTo>
                  <a:lnTo>
                    <a:pt x="869734" y="755369"/>
                  </a:lnTo>
                  <a:lnTo>
                    <a:pt x="909843" y="780861"/>
                  </a:lnTo>
                  <a:lnTo>
                    <a:pt x="943290" y="814308"/>
                  </a:lnTo>
                  <a:lnTo>
                    <a:pt x="968782" y="854417"/>
                  </a:lnTo>
                  <a:lnTo>
                    <a:pt x="985025" y="899896"/>
                  </a:lnTo>
                  <a:lnTo>
                    <a:pt x="990727" y="949451"/>
                  </a:lnTo>
                  <a:lnTo>
                    <a:pt x="985025" y="998960"/>
                  </a:lnTo>
                  <a:lnTo>
                    <a:pt x="968782" y="1044405"/>
                  </a:lnTo>
                  <a:lnTo>
                    <a:pt x="943290" y="1084492"/>
                  </a:lnTo>
                  <a:lnTo>
                    <a:pt x="909843" y="1117925"/>
                  </a:lnTo>
                  <a:lnTo>
                    <a:pt x="869734" y="1143410"/>
                  </a:lnTo>
                  <a:lnTo>
                    <a:pt x="824255" y="1159650"/>
                  </a:lnTo>
                  <a:lnTo>
                    <a:pt x="774700" y="1165352"/>
                  </a:lnTo>
                  <a:lnTo>
                    <a:pt x="725191" y="1159650"/>
                  </a:lnTo>
                  <a:lnTo>
                    <a:pt x="679746" y="1143410"/>
                  </a:lnTo>
                  <a:lnTo>
                    <a:pt x="639659" y="1117925"/>
                  </a:lnTo>
                  <a:lnTo>
                    <a:pt x="606226" y="1084492"/>
                  </a:lnTo>
                  <a:lnTo>
                    <a:pt x="580741" y="1044405"/>
                  </a:lnTo>
                  <a:lnTo>
                    <a:pt x="564501" y="998960"/>
                  </a:lnTo>
                  <a:lnTo>
                    <a:pt x="558800" y="949451"/>
                  </a:lnTo>
                  <a:close/>
                </a:path>
                <a:path w="1433829" h="1921510">
                  <a:moveTo>
                    <a:pt x="1001649" y="1705356"/>
                  </a:moveTo>
                  <a:lnTo>
                    <a:pt x="1007357" y="1655840"/>
                  </a:lnTo>
                  <a:lnTo>
                    <a:pt x="1023615" y="1610377"/>
                  </a:lnTo>
                  <a:lnTo>
                    <a:pt x="1049125" y="1570265"/>
                  </a:lnTo>
                  <a:lnTo>
                    <a:pt x="1082585" y="1536805"/>
                  </a:lnTo>
                  <a:lnTo>
                    <a:pt x="1122697" y="1511295"/>
                  </a:lnTo>
                  <a:lnTo>
                    <a:pt x="1168160" y="1495037"/>
                  </a:lnTo>
                  <a:lnTo>
                    <a:pt x="1217676" y="1489328"/>
                  </a:lnTo>
                  <a:lnTo>
                    <a:pt x="1267191" y="1495037"/>
                  </a:lnTo>
                  <a:lnTo>
                    <a:pt x="1312654" y="1511295"/>
                  </a:lnTo>
                  <a:lnTo>
                    <a:pt x="1352766" y="1536805"/>
                  </a:lnTo>
                  <a:lnTo>
                    <a:pt x="1386226" y="1570265"/>
                  </a:lnTo>
                  <a:lnTo>
                    <a:pt x="1411736" y="1610377"/>
                  </a:lnTo>
                  <a:lnTo>
                    <a:pt x="1427994" y="1655840"/>
                  </a:lnTo>
                  <a:lnTo>
                    <a:pt x="1433703" y="1705356"/>
                  </a:lnTo>
                  <a:lnTo>
                    <a:pt x="1427994" y="1754871"/>
                  </a:lnTo>
                  <a:lnTo>
                    <a:pt x="1411736" y="1800334"/>
                  </a:lnTo>
                  <a:lnTo>
                    <a:pt x="1386226" y="1840446"/>
                  </a:lnTo>
                  <a:lnTo>
                    <a:pt x="1352766" y="1873906"/>
                  </a:lnTo>
                  <a:lnTo>
                    <a:pt x="1312654" y="1899416"/>
                  </a:lnTo>
                  <a:lnTo>
                    <a:pt x="1267191" y="1915674"/>
                  </a:lnTo>
                  <a:lnTo>
                    <a:pt x="1217676" y="1921383"/>
                  </a:lnTo>
                  <a:lnTo>
                    <a:pt x="1168160" y="1915674"/>
                  </a:lnTo>
                  <a:lnTo>
                    <a:pt x="1122697" y="1899416"/>
                  </a:lnTo>
                  <a:lnTo>
                    <a:pt x="1082585" y="1873906"/>
                  </a:lnTo>
                  <a:lnTo>
                    <a:pt x="1049125" y="1840446"/>
                  </a:lnTo>
                  <a:lnTo>
                    <a:pt x="1023615" y="1800334"/>
                  </a:lnTo>
                  <a:lnTo>
                    <a:pt x="1007357" y="1754871"/>
                  </a:lnTo>
                  <a:lnTo>
                    <a:pt x="1001649" y="1705356"/>
                  </a:lnTo>
                  <a:close/>
                </a:path>
              </a:pathLst>
            </a:custGeom>
            <a:ln w="38100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72539" y="325589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6026"/>
                  </a:moveTo>
                  <a:lnTo>
                    <a:pt x="5701" y="166471"/>
                  </a:lnTo>
                  <a:lnTo>
                    <a:pt x="21944" y="120992"/>
                  </a:lnTo>
                  <a:lnTo>
                    <a:pt x="47436" y="80883"/>
                  </a:lnTo>
                  <a:lnTo>
                    <a:pt x="80883" y="47436"/>
                  </a:lnTo>
                  <a:lnTo>
                    <a:pt x="120992" y="21944"/>
                  </a:lnTo>
                  <a:lnTo>
                    <a:pt x="166471" y="5701"/>
                  </a:lnTo>
                  <a:lnTo>
                    <a:pt x="216026" y="0"/>
                  </a:lnTo>
                  <a:lnTo>
                    <a:pt x="265535" y="5701"/>
                  </a:lnTo>
                  <a:lnTo>
                    <a:pt x="310980" y="21944"/>
                  </a:lnTo>
                  <a:lnTo>
                    <a:pt x="351067" y="47436"/>
                  </a:lnTo>
                  <a:lnTo>
                    <a:pt x="384500" y="80883"/>
                  </a:lnTo>
                  <a:lnTo>
                    <a:pt x="409985" y="120992"/>
                  </a:lnTo>
                  <a:lnTo>
                    <a:pt x="426225" y="166471"/>
                  </a:lnTo>
                  <a:lnTo>
                    <a:pt x="431927" y="216026"/>
                  </a:lnTo>
                  <a:lnTo>
                    <a:pt x="426225" y="265535"/>
                  </a:lnTo>
                  <a:lnTo>
                    <a:pt x="409985" y="310980"/>
                  </a:lnTo>
                  <a:lnTo>
                    <a:pt x="384500" y="351067"/>
                  </a:lnTo>
                  <a:lnTo>
                    <a:pt x="351067" y="384500"/>
                  </a:lnTo>
                  <a:lnTo>
                    <a:pt x="310980" y="409985"/>
                  </a:lnTo>
                  <a:lnTo>
                    <a:pt x="265535" y="426225"/>
                  </a:lnTo>
                  <a:lnTo>
                    <a:pt x="216026" y="431926"/>
                  </a:lnTo>
                  <a:lnTo>
                    <a:pt x="166471" y="426225"/>
                  </a:lnTo>
                  <a:lnTo>
                    <a:pt x="120992" y="409985"/>
                  </a:lnTo>
                  <a:lnTo>
                    <a:pt x="80883" y="384500"/>
                  </a:lnTo>
                  <a:lnTo>
                    <a:pt x="47436" y="351067"/>
                  </a:lnTo>
                  <a:lnTo>
                    <a:pt x="21944" y="310980"/>
                  </a:lnTo>
                  <a:lnTo>
                    <a:pt x="5701" y="265535"/>
                  </a:lnTo>
                  <a:lnTo>
                    <a:pt x="0" y="216026"/>
                  </a:lnTo>
                  <a:close/>
                </a:path>
              </a:pathLst>
            </a:custGeom>
            <a:ln w="28575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399794" y="3247771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483357" y="4854194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5" h="432435">
                <a:moveTo>
                  <a:pt x="0" y="216026"/>
                </a:moveTo>
                <a:lnTo>
                  <a:pt x="5701" y="166511"/>
                </a:lnTo>
                <a:lnTo>
                  <a:pt x="21941" y="121048"/>
                </a:lnTo>
                <a:lnTo>
                  <a:pt x="47426" y="80936"/>
                </a:lnTo>
                <a:lnTo>
                  <a:pt x="80859" y="47476"/>
                </a:lnTo>
                <a:lnTo>
                  <a:pt x="120946" y="21966"/>
                </a:lnTo>
                <a:lnTo>
                  <a:pt x="166391" y="5708"/>
                </a:lnTo>
                <a:lnTo>
                  <a:pt x="215900" y="0"/>
                </a:lnTo>
                <a:lnTo>
                  <a:pt x="265455" y="5708"/>
                </a:lnTo>
                <a:lnTo>
                  <a:pt x="310934" y="21966"/>
                </a:lnTo>
                <a:lnTo>
                  <a:pt x="351043" y="47476"/>
                </a:lnTo>
                <a:lnTo>
                  <a:pt x="384490" y="80936"/>
                </a:lnTo>
                <a:lnTo>
                  <a:pt x="409982" y="121048"/>
                </a:lnTo>
                <a:lnTo>
                  <a:pt x="426225" y="166511"/>
                </a:lnTo>
                <a:lnTo>
                  <a:pt x="431927" y="216026"/>
                </a:lnTo>
                <a:lnTo>
                  <a:pt x="426225" y="265582"/>
                </a:lnTo>
                <a:lnTo>
                  <a:pt x="409982" y="311061"/>
                </a:lnTo>
                <a:lnTo>
                  <a:pt x="384490" y="351170"/>
                </a:lnTo>
                <a:lnTo>
                  <a:pt x="351043" y="384617"/>
                </a:lnTo>
                <a:lnTo>
                  <a:pt x="310934" y="410109"/>
                </a:lnTo>
                <a:lnTo>
                  <a:pt x="265455" y="426352"/>
                </a:lnTo>
                <a:lnTo>
                  <a:pt x="215900" y="432053"/>
                </a:lnTo>
                <a:lnTo>
                  <a:pt x="166391" y="426352"/>
                </a:lnTo>
                <a:lnTo>
                  <a:pt x="120946" y="410109"/>
                </a:lnTo>
                <a:lnTo>
                  <a:pt x="80859" y="384617"/>
                </a:lnTo>
                <a:lnTo>
                  <a:pt x="47426" y="351170"/>
                </a:lnTo>
                <a:lnTo>
                  <a:pt x="21941" y="311061"/>
                </a:lnTo>
                <a:lnTo>
                  <a:pt x="5701" y="265582"/>
                </a:lnTo>
                <a:lnTo>
                  <a:pt x="0" y="216026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610739" y="484644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341496" y="4854194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5" h="432435">
                <a:moveTo>
                  <a:pt x="0" y="216026"/>
                </a:moveTo>
                <a:lnTo>
                  <a:pt x="5701" y="166511"/>
                </a:lnTo>
                <a:lnTo>
                  <a:pt x="21944" y="121048"/>
                </a:lnTo>
                <a:lnTo>
                  <a:pt x="47436" y="80936"/>
                </a:lnTo>
                <a:lnTo>
                  <a:pt x="80883" y="47476"/>
                </a:lnTo>
                <a:lnTo>
                  <a:pt x="120992" y="21966"/>
                </a:lnTo>
                <a:lnTo>
                  <a:pt x="166471" y="5708"/>
                </a:lnTo>
                <a:lnTo>
                  <a:pt x="216026" y="0"/>
                </a:lnTo>
                <a:lnTo>
                  <a:pt x="265535" y="5708"/>
                </a:lnTo>
                <a:lnTo>
                  <a:pt x="310980" y="21966"/>
                </a:lnTo>
                <a:lnTo>
                  <a:pt x="351067" y="47476"/>
                </a:lnTo>
                <a:lnTo>
                  <a:pt x="384500" y="80936"/>
                </a:lnTo>
                <a:lnTo>
                  <a:pt x="409985" y="121048"/>
                </a:lnTo>
                <a:lnTo>
                  <a:pt x="426225" y="166511"/>
                </a:lnTo>
                <a:lnTo>
                  <a:pt x="431926" y="216026"/>
                </a:lnTo>
                <a:lnTo>
                  <a:pt x="426225" y="265582"/>
                </a:lnTo>
                <a:lnTo>
                  <a:pt x="409985" y="311061"/>
                </a:lnTo>
                <a:lnTo>
                  <a:pt x="384500" y="351170"/>
                </a:lnTo>
                <a:lnTo>
                  <a:pt x="351067" y="384617"/>
                </a:lnTo>
                <a:lnTo>
                  <a:pt x="310980" y="410109"/>
                </a:lnTo>
                <a:lnTo>
                  <a:pt x="265535" y="426352"/>
                </a:lnTo>
                <a:lnTo>
                  <a:pt x="216026" y="432053"/>
                </a:lnTo>
                <a:lnTo>
                  <a:pt x="166471" y="426352"/>
                </a:lnTo>
                <a:lnTo>
                  <a:pt x="120992" y="410109"/>
                </a:lnTo>
                <a:lnTo>
                  <a:pt x="80883" y="384617"/>
                </a:lnTo>
                <a:lnTo>
                  <a:pt x="47436" y="351170"/>
                </a:lnTo>
                <a:lnTo>
                  <a:pt x="21944" y="311061"/>
                </a:lnTo>
                <a:lnTo>
                  <a:pt x="5701" y="265582"/>
                </a:lnTo>
                <a:lnTo>
                  <a:pt x="0" y="216026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469004" y="484644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387665" y="2878645"/>
            <a:ext cx="2089785" cy="2407285"/>
            <a:chOff x="1387665" y="2878645"/>
            <a:chExt cx="2089785" cy="2407285"/>
          </a:xfrm>
        </p:grpSpPr>
        <p:sp>
          <p:nvSpPr>
            <p:cNvPr id="28" name="object 28"/>
            <p:cNvSpPr/>
            <p:nvPr/>
          </p:nvSpPr>
          <p:spPr>
            <a:xfrm>
              <a:off x="1628266" y="2892932"/>
              <a:ext cx="1835150" cy="1998345"/>
            </a:xfrm>
            <a:custGeom>
              <a:avLst/>
              <a:gdLst/>
              <a:ahLst/>
              <a:cxnLst/>
              <a:rect l="l" t="t" r="r" b="b"/>
              <a:pathLst>
                <a:path w="1835150" h="1998345">
                  <a:moveTo>
                    <a:pt x="1162303" y="1976500"/>
                  </a:moveTo>
                  <a:lnTo>
                    <a:pt x="1405382" y="1544573"/>
                  </a:lnTo>
                </a:path>
                <a:path w="1835150" h="1998345">
                  <a:moveTo>
                    <a:pt x="1591690" y="1529841"/>
                  </a:moveTo>
                  <a:lnTo>
                    <a:pt x="1834769" y="1997836"/>
                  </a:lnTo>
                </a:path>
                <a:path w="1835150" h="1998345">
                  <a:moveTo>
                    <a:pt x="0" y="432053"/>
                  </a:moveTo>
                  <a:lnTo>
                    <a:pt x="319531" y="0"/>
                  </a:lnTo>
                </a:path>
                <a:path w="1835150" h="1998345">
                  <a:moveTo>
                    <a:pt x="621538" y="25400"/>
                  </a:moveTo>
                  <a:lnTo>
                    <a:pt x="900810" y="408177"/>
                  </a:lnTo>
                </a:path>
                <a:path w="1835150" h="1998345">
                  <a:moveTo>
                    <a:pt x="1159509" y="768857"/>
                  </a:moveTo>
                  <a:lnTo>
                    <a:pt x="1438656" y="1151635"/>
                  </a:lnTo>
                </a:path>
                <a:path w="1835150" h="1998345">
                  <a:moveTo>
                    <a:pt x="601344" y="1195196"/>
                  </a:moveTo>
                  <a:lnTo>
                    <a:pt x="920876" y="763142"/>
                  </a:lnTo>
                </a:path>
              </a:pathLst>
            </a:custGeom>
            <a:ln w="28575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401952" y="483958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5900"/>
                  </a:moveTo>
                  <a:lnTo>
                    <a:pt x="5708" y="166391"/>
                  </a:lnTo>
                  <a:lnTo>
                    <a:pt x="21966" y="120946"/>
                  </a:lnTo>
                  <a:lnTo>
                    <a:pt x="47476" y="80859"/>
                  </a:lnTo>
                  <a:lnTo>
                    <a:pt x="80936" y="47426"/>
                  </a:lnTo>
                  <a:lnTo>
                    <a:pt x="121048" y="21941"/>
                  </a:lnTo>
                  <a:lnTo>
                    <a:pt x="166511" y="5701"/>
                  </a:lnTo>
                  <a:lnTo>
                    <a:pt x="216027" y="0"/>
                  </a:lnTo>
                  <a:lnTo>
                    <a:pt x="265542" y="5701"/>
                  </a:lnTo>
                  <a:lnTo>
                    <a:pt x="311005" y="21941"/>
                  </a:lnTo>
                  <a:lnTo>
                    <a:pt x="351117" y="47426"/>
                  </a:lnTo>
                  <a:lnTo>
                    <a:pt x="384577" y="80859"/>
                  </a:lnTo>
                  <a:lnTo>
                    <a:pt x="410087" y="120946"/>
                  </a:lnTo>
                  <a:lnTo>
                    <a:pt x="426345" y="166391"/>
                  </a:lnTo>
                  <a:lnTo>
                    <a:pt x="432053" y="215900"/>
                  </a:lnTo>
                  <a:lnTo>
                    <a:pt x="426345" y="265455"/>
                  </a:lnTo>
                  <a:lnTo>
                    <a:pt x="410087" y="310934"/>
                  </a:lnTo>
                  <a:lnTo>
                    <a:pt x="384577" y="351043"/>
                  </a:lnTo>
                  <a:lnTo>
                    <a:pt x="351117" y="384490"/>
                  </a:lnTo>
                  <a:lnTo>
                    <a:pt x="311005" y="409982"/>
                  </a:lnTo>
                  <a:lnTo>
                    <a:pt x="265542" y="426225"/>
                  </a:lnTo>
                  <a:lnTo>
                    <a:pt x="216027" y="431927"/>
                  </a:lnTo>
                  <a:lnTo>
                    <a:pt x="166511" y="426225"/>
                  </a:lnTo>
                  <a:lnTo>
                    <a:pt x="121048" y="409982"/>
                  </a:lnTo>
                  <a:lnTo>
                    <a:pt x="80936" y="384490"/>
                  </a:lnTo>
                  <a:lnTo>
                    <a:pt x="47476" y="351043"/>
                  </a:lnTo>
                  <a:lnTo>
                    <a:pt x="21966" y="310934"/>
                  </a:lnTo>
                  <a:lnTo>
                    <a:pt x="5708" y="265455"/>
                  </a:lnTo>
                  <a:lnTo>
                    <a:pt x="0" y="215900"/>
                  </a:lnTo>
                  <a:close/>
                </a:path>
              </a:pathLst>
            </a:custGeom>
            <a:ln w="28575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529333" y="4831842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697799" y="2503423"/>
            <a:ext cx="8242934" cy="2376170"/>
            <a:chOff x="1697799" y="2503423"/>
            <a:chExt cx="8242934" cy="2376170"/>
          </a:xfrm>
        </p:grpSpPr>
        <p:sp>
          <p:nvSpPr>
            <p:cNvPr id="32" name="object 32"/>
            <p:cNvSpPr/>
            <p:nvPr/>
          </p:nvSpPr>
          <p:spPr>
            <a:xfrm>
              <a:off x="1883155" y="4011802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6027"/>
                  </a:moveTo>
                  <a:lnTo>
                    <a:pt x="5701" y="166511"/>
                  </a:lnTo>
                  <a:lnTo>
                    <a:pt x="21941" y="121048"/>
                  </a:lnTo>
                  <a:lnTo>
                    <a:pt x="47426" y="80936"/>
                  </a:lnTo>
                  <a:lnTo>
                    <a:pt x="80859" y="47476"/>
                  </a:lnTo>
                  <a:lnTo>
                    <a:pt x="120946" y="21966"/>
                  </a:lnTo>
                  <a:lnTo>
                    <a:pt x="166391" y="5708"/>
                  </a:lnTo>
                  <a:lnTo>
                    <a:pt x="215900" y="0"/>
                  </a:lnTo>
                  <a:lnTo>
                    <a:pt x="265455" y="5708"/>
                  </a:lnTo>
                  <a:lnTo>
                    <a:pt x="310934" y="21966"/>
                  </a:lnTo>
                  <a:lnTo>
                    <a:pt x="351043" y="47476"/>
                  </a:lnTo>
                  <a:lnTo>
                    <a:pt x="384490" y="80936"/>
                  </a:lnTo>
                  <a:lnTo>
                    <a:pt x="409982" y="121048"/>
                  </a:lnTo>
                  <a:lnTo>
                    <a:pt x="426225" y="166511"/>
                  </a:lnTo>
                  <a:lnTo>
                    <a:pt x="431926" y="216027"/>
                  </a:lnTo>
                  <a:lnTo>
                    <a:pt x="426225" y="265542"/>
                  </a:lnTo>
                  <a:lnTo>
                    <a:pt x="409982" y="311005"/>
                  </a:lnTo>
                  <a:lnTo>
                    <a:pt x="384490" y="351117"/>
                  </a:lnTo>
                  <a:lnTo>
                    <a:pt x="351043" y="384577"/>
                  </a:lnTo>
                  <a:lnTo>
                    <a:pt x="310934" y="410087"/>
                  </a:lnTo>
                  <a:lnTo>
                    <a:pt x="265455" y="426345"/>
                  </a:lnTo>
                  <a:lnTo>
                    <a:pt x="215900" y="432054"/>
                  </a:lnTo>
                  <a:lnTo>
                    <a:pt x="166391" y="426345"/>
                  </a:lnTo>
                  <a:lnTo>
                    <a:pt x="120946" y="410087"/>
                  </a:lnTo>
                  <a:lnTo>
                    <a:pt x="80859" y="384577"/>
                  </a:lnTo>
                  <a:lnTo>
                    <a:pt x="47426" y="351117"/>
                  </a:lnTo>
                  <a:lnTo>
                    <a:pt x="21941" y="311005"/>
                  </a:lnTo>
                  <a:lnTo>
                    <a:pt x="5701" y="265542"/>
                  </a:lnTo>
                  <a:lnTo>
                    <a:pt x="0" y="216027"/>
                  </a:lnTo>
                  <a:close/>
                </a:path>
              </a:pathLst>
            </a:custGeom>
            <a:ln w="38100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712086" y="4422775"/>
              <a:ext cx="252095" cy="442595"/>
            </a:xfrm>
            <a:custGeom>
              <a:avLst/>
              <a:gdLst/>
              <a:ahLst/>
              <a:cxnLst/>
              <a:rect l="l" t="t" r="r" b="b"/>
              <a:pathLst>
                <a:path w="252094" h="442595">
                  <a:moveTo>
                    <a:pt x="0" y="442213"/>
                  </a:moveTo>
                  <a:lnTo>
                    <a:pt x="251968" y="0"/>
                  </a:lnTo>
                </a:path>
              </a:pathLst>
            </a:custGeom>
            <a:ln w="28575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487409" y="2522473"/>
              <a:ext cx="1433830" cy="1921510"/>
            </a:xfrm>
            <a:custGeom>
              <a:avLst/>
              <a:gdLst/>
              <a:ahLst/>
              <a:cxnLst/>
              <a:rect l="l" t="t" r="r" b="b"/>
              <a:pathLst>
                <a:path w="1433829" h="1921510">
                  <a:moveTo>
                    <a:pt x="0" y="216026"/>
                  </a:moveTo>
                  <a:lnTo>
                    <a:pt x="5708" y="166471"/>
                  </a:lnTo>
                  <a:lnTo>
                    <a:pt x="21966" y="120992"/>
                  </a:lnTo>
                  <a:lnTo>
                    <a:pt x="47476" y="80883"/>
                  </a:lnTo>
                  <a:lnTo>
                    <a:pt x="80936" y="47436"/>
                  </a:lnTo>
                  <a:lnTo>
                    <a:pt x="121048" y="21944"/>
                  </a:lnTo>
                  <a:lnTo>
                    <a:pt x="166511" y="5701"/>
                  </a:lnTo>
                  <a:lnTo>
                    <a:pt x="216026" y="0"/>
                  </a:lnTo>
                  <a:lnTo>
                    <a:pt x="265542" y="5701"/>
                  </a:lnTo>
                  <a:lnTo>
                    <a:pt x="311005" y="21944"/>
                  </a:lnTo>
                  <a:lnTo>
                    <a:pt x="351117" y="47436"/>
                  </a:lnTo>
                  <a:lnTo>
                    <a:pt x="384577" y="80883"/>
                  </a:lnTo>
                  <a:lnTo>
                    <a:pt x="410087" y="120992"/>
                  </a:lnTo>
                  <a:lnTo>
                    <a:pt x="426345" y="166471"/>
                  </a:lnTo>
                  <a:lnTo>
                    <a:pt x="432054" y="216026"/>
                  </a:lnTo>
                  <a:lnTo>
                    <a:pt x="426345" y="265535"/>
                  </a:lnTo>
                  <a:lnTo>
                    <a:pt x="410087" y="310980"/>
                  </a:lnTo>
                  <a:lnTo>
                    <a:pt x="384577" y="351067"/>
                  </a:lnTo>
                  <a:lnTo>
                    <a:pt x="351117" y="384500"/>
                  </a:lnTo>
                  <a:lnTo>
                    <a:pt x="311005" y="409985"/>
                  </a:lnTo>
                  <a:lnTo>
                    <a:pt x="265542" y="426225"/>
                  </a:lnTo>
                  <a:lnTo>
                    <a:pt x="216026" y="431926"/>
                  </a:lnTo>
                  <a:lnTo>
                    <a:pt x="166511" y="426225"/>
                  </a:lnTo>
                  <a:lnTo>
                    <a:pt x="121048" y="409985"/>
                  </a:lnTo>
                  <a:lnTo>
                    <a:pt x="80936" y="384500"/>
                  </a:lnTo>
                  <a:lnTo>
                    <a:pt x="47476" y="351067"/>
                  </a:lnTo>
                  <a:lnTo>
                    <a:pt x="21966" y="310980"/>
                  </a:lnTo>
                  <a:lnTo>
                    <a:pt x="5708" y="265535"/>
                  </a:lnTo>
                  <a:lnTo>
                    <a:pt x="0" y="216026"/>
                  </a:lnTo>
                  <a:close/>
                </a:path>
                <a:path w="1433829" h="1921510">
                  <a:moveTo>
                    <a:pt x="558800" y="949451"/>
                  </a:moveTo>
                  <a:lnTo>
                    <a:pt x="564508" y="899896"/>
                  </a:lnTo>
                  <a:lnTo>
                    <a:pt x="580766" y="854417"/>
                  </a:lnTo>
                  <a:lnTo>
                    <a:pt x="606276" y="814308"/>
                  </a:lnTo>
                  <a:lnTo>
                    <a:pt x="639736" y="780861"/>
                  </a:lnTo>
                  <a:lnTo>
                    <a:pt x="679848" y="755369"/>
                  </a:lnTo>
                  <a:lnTo>
                    <a:pt x="725311" y="739126"/>
                  </a:lnTo>
                  <a:lnTo>
                    <a:pt x="774826" y="733425"/>
                  </a:lnTo>
                  <a:lnTo>
                    <a:pt x="824342" y="739126"/>
                  </a:lnTo>
                  <a:lnTo>
                    <a:pt x="869805" y="755369"/>
                  </a:lnTo>
                  <a:lnTo>
                    <a:pt x="909917" y="780861"/>
                  </a:lnTo>
                  <a:lnTo>
                    <a:pt x="943377" y="814308"/>
                  </a:lnTo>
                  <a:lnTo>
                    <a:pt x="968887" y="854417"/>
                  </a:lnTo>
                  <a:lnTo>
                    <a:pt x="985145" y="899896"/>
                  </a:lnTo>
                  <a:lnTo>
                    <a:pt x="990854" y="949451"/>
                  </a:lnTo>
                  <a:lnTo>
                    <a:pt x="985145" y="998960"/>
                  </a:lnTo>
                  <a:lnTo>
                    <a:pt x="968887" y="1044405"/>
                  </a:lnTo>
                  <a:lnTo>
                    <a:pt x="943377" y="1084492"/>
                  </a:lnTo>
                  <a:lnTo>
                    <a:pt x="909917" y="1117925"/>
                  </a:lnTo>
                  <a:lnTo>
                    <a:pt x="869805" y="1143410"/>
                  </a:lnTo>
                  <a:lnTo>
                    <a:pt x="824342" y="1159650"/>
                  </a:lnTo>
                  <a:lnTo>
                    <a:pt x="774826" y="1165352"/>
                  </a:lnTo>
                  <a:lnTo>
                    <a:pt x="725311" y="1159650"/>
                  </a:lnTo>
                  <a:lnTo>
                    <a:pt x="679848" y="1143410"/>
                  </a:lnTo>
                  <a:lnTo>
                    <a:pt x="639736" y="1117925"/>
                  </a:lnTo>
                  <a:lnTo>
                    <a:pt x="606276" y="1084492"/>
                  </a:lnTo>
                  <a:lnTo>
                    <a:pt x="580766" y="1044405"/>
                  </a:lnTo>
                  <a:lnTo>
                    <a:pt x="564508" y="998960"/>
                  </a:lnTo>
                  <a:lnTo>
                    <a:pt x="558800" y="949451"/>
                  </a:lnTo>
                  <a:close/>
                </a:path>
                <a:path w="1433829" h="1921510">
                  <a:moveTo>
                    <a:pt x="1001776" y="1705356"/>
                  </a:moveTo>
                  <a:lnTo>
                    <a:pt x="1007477" y="1655840"/>
                  </a:lnTo>
                  <a:lnTo>
                    <a:pt x="1023720" y="1610377"/>
                  </a:lnTo>
                  <a:lnTo>
                    <a:pt x="1049212" y="1570265"/>
                  </a:lnTo>
                  <a:lnTo>
                    <a:pt x="1082659" y="1536805"/>
                  </a:lnTo>
                  <a:lnTo>
                    <a:pt x="1122768" y="1511295"/>
                  </a:lnTo>
                  <a:lnTo>
                    <a:pt x="1168247" y="1495037"/>
                  </a:lnTo>
                  <a:lnTo>
                    <a:pt x="1217803" y="1489328"/>
                  </a:lnTo>
                  <a:lnTo>
                    <a:pt x="1267311" y="1495037"/>
                  </a:lnTo>
                  <a:lnTo>
                    <a:pt x="1312756" y="1511295"/>
                  </a:lnTo>
                  <a:lnTo>
                    <a:pt x="1352843" y="1536805"/>
                  </a:lnTo>
                  <a:lnTo>
                    <a:pt x="1386276" y="1570265"/>
                  </a:lnTo>
                  <a:lnTo>
                    <a:pt x="1411761" y="1610377"/>
                  </a:lnTo>
                  <a:lnTo>
                    <a:pt x="1428001" y="1655840"/>
                  </a:lnTo>
                  <a:lnTo>
                    <a:pt x="1433703" y="1705356"/>
                  </a:lnTo>
                  <a:lnTo>
                    <a:pt x="1428001" y="1754871"/>
                  </a:lnTo>
                  <a:lnTo>
                    <a:pt x="1411761" y="1800334"/>
                  </a:lnTo>
                  <a:lnTo>
                    <a:pt x="1386276" y="1840446"/>
                  </a:lnTo>
                  <a:lnTo>
                    <a:pt x="1352843" y="1873906"/>
                  </a:lnTo>
                  <a:lnTo>
                    <a:pt x="1312756" y="1899416"/>
                  </a:lnTo>
                  <a:lnTo>
                    <a:pt x="1267311" y="1915674"/>
                  </a:lnTo>
                  <a:lnTo>
                    <a:pt x="1217803" y="1921383"/>
                  </a:lnTo>
                  <a:lnTo>
                    <a:pt x="1168247" y="1915674"/>
                  </a:lnTo>
                  <a:lnTo>
                    <a:pt x="1122768" y="1899416"/>
                  </a:lnTo>
                  <a:lnTo>
                    <a:pt x="1082659" y="1873906"/>
                  </a:lnTo>
                  <a:lnTo>
                    <a:pt x="1049212" y="1840446"/>
                  </a:lnTo>
                  <a:lnTo>
                    <a:pt x="1023720" y="1800334"/>
                  </a:lnTo>
                  <a:lnTo>
                    <a:pt x="1007477" y="1754871"/>
                  </a:lnTo>
                  <a:lnTo>
                    <a:pt x="1001776" y="1705356"/>
                  </a:lnTo>
                  <a:close/>
                </a:path>
              </a:pathLst>
            </a:custGeom>
            <a:ln w="38100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861553" y="3255898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0" y="216026"/>
                  </a:moveTo>
                  <a:lnTo>
                    <a:pt x="5708" y="166471"/>
                  </a:lnTo>
                  <a:lnTo>
                    <a:pt x="21966" y="120992"/>
                  </a:lnTo>
                  <a:lnTo>
                    <a:pt x="47476" y="80883"/>
                  </a:lnTo>
                  <a:lnTo>
                    <a:pt x="80936" y="47436"/>
                  </a:lnTo>
                  <a:lnTo>
                    <a:pt x="121048" y="21944"/>
                  </a:lnTo>
                  <a:lnTo>
                    <a:pt x="166511" y="5701"/>
                  </a:lnTo>
                  <a:lnTo>
                    <a:pt x="216026" y="0"/>
                  </a:lnTo>
                  <a:lnTo>
                    <a:pt x="265542" y="5701"/>
                  </a:lnTo>
                  <a:lnTo>
                    <a:pt x="311005" y="21944"/>
                  </a:lnTo>
                  <a:lnTo>
                    <a:pt x="351117" y="47436"/>
                  </a:lnTo>
                  <a:lnTo>
                    <a:pt x="384577" y="80883"/>
                  </a:lnTo>
                  <a:lnTo>
                    <a:pt x="410087" y="120992"/>
                  </a:lnTo>
                  <a:lnTo>
                    <a:pt x="426345" y="166471"/>
                  </a:lnTo>
                  <a:lnTo>
                    <a:pt x="432053" y="216026"/>
                  </a:lnTo>
                  <a:lnTo>
                    <a:pt x="426345" y="265535"/>
                  </a:lnTo>
                  <a:lnTo>
                    <a:pt x="410087" y="310980"/>
                  </a:lnTo>
                  <a:lnTo>
                    <a:pt x="384577" y="351067"/>
                  </a:lnTo>
                  <a:lnTo>
                    <a:pt x="351117" y="384500"/>
                  </a:lnTo>
                  <a:lnTo>
                    <a:pt x="311005" y="409985"/>
                  </a:lnTo>
                  <a:lnTo>
                    <a:pt x="265542" y="426225"/>
                  </a:lnTo>
                  <a:lnTo>
                    <a:pt x="216026" y="431926"/>
                  </a:lnTo>
                  <a:lnTo>
                    <a:pt x="166511" y="426225"/>
                  </a:lnTo>
                  <a:lnTo>
                    <a:pt x="121048" y="409985"/>
                  </a:lnTo>
                  <a:lnTo>
                    <a:pt x="80936" y="384500"/>
                  </a:lnTo>
                  <a:lnTo>
                    <a:pt x="47476" y="351067"/>
                  </a:lnTo>
                  <a:lnTo>
                    <a:pt x="21966" y="310980"/>
                  </a:lnTo>
                  <a:lnTo>
                    <a:pt x="5708" y="265535"/>
                  </a:lnTo>
                  <a:lnTo>
                    <a:pt x="0" y="216026"/>
                  </a:lnTo>
                  <a:close/>
                </a:path>
              </a:pathLst>
            </a:custGeom>
            <a:ln w="28575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989569" y="3247771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8430259" y="4011803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5">
                <a:moveTo>
                  <a:pt x="0" y="216027"/>
                </a:moveTo>
                <a:lnTo>
                  <a:pt x="5701" y="166511"/>
                </a:lnTo>
                <a:lnTo>
                  <a:pt x="21941" y="121048"/>
                </a:lnTo>
                <a:lnTo>
                  <a:pt x="47426" y="80936"/>
                </a:lnTo>
                <a:lnTo>
                  <a:pt x="80859" y="47476"/>
                </a:lnTo>
                <a:lnTo>
                  <a:pt x="120946" y="21966"/>
                </a:lnTo>
                <a:lnTo>
                  <a:pt x="166391" y="5708"/>
                </a:lnTo>
                <a:lnTo>
                  <a:pt x="215900" y="0"/>
                </a:lnTo>
                <a:lnTo>
                  <a:pt x="265455" y="5708"/>
                </a:lnTo>
                <a:lnTo>
                  <a:pt x="310934" y="21966"/>
                </a:lnTo>
                <a:lnTo>
                  <a:pt x="351043" y="47476"/>
                </a:lnTo>
                <a:lnTo>
                  <a:pt x="384490" y="80936"/>
                </a:lnTo>
                <a:lnTo>
                  <a:pt x="409982" y="121048"/>
                </a:lnTo>
                <a:lnTo>
                  <a:pt x="426225" y="166511"/>
                </a:lnTo>
                <a:lnTo>
                  <a:pt x="431926" y="216027"/>
                </a:lnTo>
                <a:lnTo>
                  <a:pt x="426225" y="265542"/>
                </a:lnTo>
                <a:lnTo>
                  <a:pt x="409982" y="311005"/>
                </a:lnTo>
                <a:lnTo>
                  <a:pt x="384490" y="351117"/>
                </a:lnTo>
                <a:lnTo>
                  <a:pt x="351043" y="384577"/>
                </a:lnTo>
                <a:lnTo>
                  <a:pt x="310934" y="410087"/>
                </a:lnTo>
                <a:lnTo>
                  <a:pt x="265455" y="426345"/>
                </a:lnTo>
                <a:lnTo>
                  <a:pt x="215900" y="432054"/>
                </a:lnTo>
                <a:lnTo>
                  <a:pt x="166391" y="426345"/>
                </a:lnTo>
                <a:lnTo>
                  <a:pt x="120946" y="410087"/>
                </a:lnTo>
                <a:lnTo>
                  <a:pt x="80859" y="384577"/>
                </a:lnTo>
                <a:lnTo>
                  <a:pt x="47426" y="351117"/>
                </a:lnTo>
                <a:lnTo>
                  <a:pt x="21941" y="311005"/>
                </a:lnTo>
                <a:lnTo>
                  <a:pt x="5701" y="265542"/>
                </a:lnTo>
                <a:lnTo>
                  <a:pt x="0" y="216027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8558276" y="4003624"/>
            <a:ext cx="1784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9118092" y="4854194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5">
                <a:moveTo>
                  <a:pt x="0" y="216026"/>
                </a:moveTo>
                <a:lnTo>
                  <a:pt x="5708" y="166511"/>
                </a:lnTo>
                <a:lnTo>
                  <a:pt x="21966" y="121048"/>
                </a:lnTo>
                <a:lnTo>
                  <a:pt x="47476" y="80936"/>
                </a:lnTo>
                <a:lnTo>
                  <a:pt x="80936" y="47476"/>
                </a:lnTo>
                <a:lnTo>
                  <a:pt x="121048" y="21966"/>
                </a:lnTo>
                <a:lnTo>
                  <a:pt x="166511" y="5708"/>
                </a:lnTo>
                <a:lnTo>
                  <a:pt x="216026" y="0"/>
                </a:lnTo>
                <a:lnTo>
                  <a:pt x="265542" y="5708"/>
                </a:lnTo>
                <a:lnTo>
                  <a:pt x="311005" y="21966"/>
                </a:lnTo>
                <a:lnTo>
                  <a:pt x="351117" y="47476"/>
                </a:lnTo>
                <a:lnTo>
                  <a:pt x="384577" y="80936"/>
                </a:lnTo>
                <a:lnTo>
                  <a:pt x="410087" y="121048"/>
                </a:lnTo>
                <a:lnTo>
                  <a:pt x="426345" y="166511"/>
                </a:lnTo>
                <a:lnTo>
                  <a:pt x="432053" y="216026"/>
                </a:lnTo>
                <a:lnTo>
                  <a:pt x="426345" y="265582"/>
                </a:lnTo>
                <a:lnTo>
                  <a:pt x="410087" y="311061"/>
                </a:lnTo>
                <a:lnTo>
                  <a:pt x="384577" y="351170"/>
                </a:lnTo>
                <a:lnTo>
                  <a:pt x="351117" y="384617"/>
                </a:lnTo>
                <a:lnTo>
                  <a:pt x="311005" y="410109"/>
                </a:lnTo>
                <a:lnTo>
                  <a:pt x="265542" y="426352"/>
                </a:lnTo>
                <a:lnTo>
                  <a:pt x="216026" y="432053"/>
                </a:lnTo>
                <a:lnTo>
                  <a:pt x="166511" y="426352"/>
                </a:lnTo>
                <a:lnTo>
                  <a:pt x="121048" y="410109"/>
                </a:lnTo>
                <a:lnTo>
                  <a:pt x="80936" y="384617"/>
                </a:lnTo>
                <a:lnTo>
                  <a:pt x="47476" y="351170"/>
                </a:lnTo>
                <a:lnTo>
                  <a:pt x="21966" y="311061"/>
                </a:lnTo>
                <a:lnTo>
                  <a:pt x="5708" y="265582"/>
                </a:lnTo>
                <a:lnTo>
                  <a:pt x="0" y="216026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9246234" y="484644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9884791" y="4854194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5">
                <a:moveTo>
                  <a:pt x="0" y="216026"/>
                </a:moveTo>
                <a:lnTo>
                  <a:pt x="5708" y="166511"/>
                </a:lnTo>
                <a:lnTo>
                  <a:pt x="21966" y="121048"/>
                </a:lnTo>
                <a:lnTo>
                  <a:pt x="47476" y="80936"/>
                </a:lnTo>
                <a:lnTo>
                  <a:pt x="80936" y="47476"/>
                </a:lnTo>
                <a:lnTo>
                  <a:pt x="121048" y="21966"/>
                </a:lnTo>
                <a:lnTo>
                  <a:pt x="166511" y="5708"/>
                </a:lnTo>
                <a:lnTo>
                  <a:pt x="216026" y="0"/>
                </a:lnTo>
                <a:lnTo>
                  <a:pt x="265582" y="5708"/>
                </a:lnTo>
                <a:lnTo>
                  <a:pt x="311061" y="21966"/>
                </a:lnTo>
                <a:lnTo>
                  <a:pt x="351170" y="47476"/>
                </a:lnTo>
                <a:lnTo>
                  <a:pt x="384617" y="80936"/>
                </a:lnTo>
                <a:lnTo>
                  <a:pt x="410109" y="121048"/>
                </a:lnTo>
                <a:lnTo>
                  <a:pt x="426352" y="166511"/>
                </a:lnTo>
                <a:lnTo>
                  <a:pt x="432053" y="216026"/>
                </a:lnTo>
                <a:lnTo>
                  <a:pt x="426352" y="265582"/>
                </a:lnTo>
                <a:lnTo>
                  <a:pt x="410109" y="311061"/>
                </a:lnTo>
                <a:lnTo>
                  <a:pt x="384617" y="351170"/>
                </a:lnTo>
                <a:lnTo>
                  <a:pt x="351170" y="384617"/>
                </a:lnTo>
                <a:lnTo>
                  <a:pt x="311061" y="410109"/>
                </a:lnTo>
                <a:lnTo>
                  <a:pt x="265582" y="426352"/>
                </a:lnTo>
                <a:lnTo>
                  <a:pt x="216026" y="432053"/>
                </a:lnTo>
                <a:lnTo>
                  <a:pt x="166511" y="426352"/>
                </a:lnTo>
                <a:lnTo>
                  <a:pt x="121048" y="410109"/>
                </a:lnTo>
                <a:lnTo>
                  <a:pt x="80936" y="384617"/>
                </a:lnTo>
                <a:lnTo>
                  <a:pt x="47476" y="351170"/>
                </a:lnTo>
                <a:lnTo>
                  <a:pt x="21966" y="311061"/>
                </a:lnTo>
                <a:lnTo>
                  <a:pt x="5708" y="265582"/>
                </a:lnTo>
                <a:lnTo>
                  <a:pt x="0" y="216026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10013060" y="484644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8217407" y="2892932"/>
            <a:ext cx="1804670" cy="1981200"/>
          </a:xfrm>
          <a:custGeom>
            <a:avLst/>
            <a:gdLst/>
            <a:ahLst/>
            <a:cxnLst/>
            <a:rect l="l" t="t" r="r" b="b"/>
            <a:pathLst>
              <a:path w="1804670" h="1981200">
                <a:moveTo>
                  <a:pt x="1177544" y="1976500"/>
                </a:moveTo>
                <a:lnTo>
                  <a:pt x="1420622" y="1544573"/>
                </a:lnTo>
              </a:path>
              <a:path w="1804670" h="1981200">
                <a:moveTo>
                  <a:pt x="1561211" y="1549145"/>
                </a:moveTo>
                <a:lnTo>
                  <a:pt x="1804162" y="1981072"/>
                </a:lnTo>
              </a:path>
              <a:path w="1804670" h="1981200">
                <a:moveTo>
                  <a:pt x="0" y="432053"/>
                </a:moveTo>
                <a:lnTo>
                  <a:pt x="319532" y="0"/>
                </a:lnTo>
              </a:path>
              <a:path w="1804670" h="1981200">
                <a:moveTo>
                  <a:pt x="621538" y="25400"/>
                </a:moveTo>
                <a:lnTo>
                  <a:pt x="900684" y="408177"/>
                </a:lnTo>
              </a:path>
              <a:path w="1804670" h="1981200">
                <a:moveTo>
                  <a:pt x="1159510" y="768857"/>
                </a:moveTo>
                <a:lnTo>
                  <a:pt x="1438656" y="1151635"/>
                </a:lnTo>
              </a:path>
              <a:path w="1804670" h="1981200">
                <a:moveTo>
                  <a:pt x="601345" y="1195196"/>
                </a:moveTo>
                <a:lnTo>
                  <a:pt x="920876" y="763142"/>
                </a:lnTo>
              </a:path>
            </a:pathLst>
          </a:custGeom>
          <a:ln w="28575">
            <a:solidFill>
              <a:srgbClr val="285A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2160777" y="5645562"/>
            <a:ext cx="381000" cy="419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0"/>
              </a:lnSpc>
            </a:pPr>
            <a:r>
              <a:rPr sz="2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32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446799" y="5645562"/>
            <a:ext cx="381000" cy="419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0"/>
              </a:lnSpc>
            </a:pPr>
            <a:r>
              <a:rPr sz="2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34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001270" y="5645562"/>
            <a:ext cx="381000" cy="419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0"/>
              </a:lnSpc>
            </a:pPr>
            <a:r>
              <a:rPr sz="2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28</a:t>
            </a:r>
            <a:endParaRPr sz="28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84614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48643" y="2017267"/>
            <a:ext cx="152400" cy="25355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algn="just">
              <a:lnSpc>
                <a:spcPts val="1000"/>
              </a:lnSpc>
              <a:spcBef>
                <a:spcPts val="2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数 据 结 构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880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（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从 概 念 到 实 现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975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640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清 华 大 学 出 版 社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42925" y="100964"/>
            <a:ext cx="2376170" cy="540385"/>
          </a:xfrm>
          <a:custGeom>
            <a:avLst/>
            <a:gdLst/>
            <a:ahLst/>
            <a:cxnLst/>
            <a:rect l="l" t="t" r="r" b="b"/>
            <a:pathLst>
              <a:path w="2376170" h="540385">
                <a:moveTo>
                  <a:pt x="2286000" y="0"/>
                </a:moveTo>
                <a:lnTo>
                  <a:pt x="90004" y="0"/>
                </a:lnTo>
                <a:lnTo>
                  <a:pt x="54971" y="7068"/>
                </a:lnTo>
                <a:lnTo>
                  <a:pt x="26362" y="26352"/>
                </a:lnTo>
                <a:lnTo>
                  <a:pt x="7073" y="54971"/>
                </a:lnTo>
                <a:lnTo>
                  <a:pt x="0" y="90042"/>
                </a:lnTo>
                <a:lnTo>
                  <a:pt x="0" y="449960"/>
                </a:lnTo>
                <a:lnTo>
                  <a:pt x="7073" y="485032"/>
                </a:lnTo>
                <a:lnTo>
                  <a:pt x="26362" y="513651"/>
                </a:lnTo>
                <a:lnTo>
                  <a:pt x="54971" y="532935"/>
                </a:lnTo>
                <a:lnTo>
                  <a:pt x="90004" y="540003"/>
                </a:lnTo>
                <a:lnTo>
                  <a:pt x="2286000" y="540003"/>
                </a:lnTo>
                <a:lnTo>
                  <a:pt x="2321018" y="532935"/>
                </a:lnTo>
                <a:lnTo>
                  <a:pt x="2349642" y="513651"/>
                </a:lnTo>
                <a:lnTo>
                  <a:pt x="2368956" y="485032"/>
                </a:lnTo>
                <a:lnTo>
                  <a:pt x="2376043" y="449960"/>
                </a:lnTo>
                <a:lnTo>
                  <a:pt x="2376043" y="90042"/>
                </a:lnTo>
                <a:lnTo>
                  <a:pt x="2368956" y="54971"/>
                </a:lnTo>
                <a:lnTo>
                  <a:pt x="2349642" y="26352"/>
                </a:lnTo>
                <a:lnTo>
                  <a:pt x="2321018" y="7068"/>
                </a:lnTo>
                <a:lnTo>
                  <a:pt x="2286000" y="0"/>
                </a:lnTo>
                <a:close/>
              </a:path>
            </a:pathLst>
          </a:custGeom>
          <a:solidFill>
            <a:srgbClr val="5A31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6991" y="141809"/>
            <a:ext cx="206375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solidFill>
                  <a:schemeClr val="bg1"/>
                </a:solidFill>
              </a:rPr>
              <a:t>最优</a:t>
            </a:r>
            <a:r>
              <a:rPr sz="2800" spc="-10" dirty="0">
                <a:solidFill>
                  <a:schemeClr val="bg1"/>
                </a:solidFill>
              </a:rPr>
              <a:t>二</a:t>
            </a:r>
            <a:r>
              <a:rPr sz="2800" spc="-5" dirty="0">
                <a:solidFill>
                  <a:schemeClr val="bg1"/>
                </a:solidFill>
              </a:rPr>
              <a:t>叉</a:t>
            </a:r>
            <a:r>
              <a:rPr sz="2800" spc="-10" dirty="0">
                <a:solidFill>
                  <a:schemeClr val="bg1"/>
                </a:solidFill>
              </a:rPr>
              <a:t>树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850353" y="1018158"/>
            <a:ext cx="466090" cy="432434"/>
            <a:chOff x="850353" y="1018158"/>
            <a:chExt cx="466090" cy="432434"/>
          </a:xfrm>
        </p:grpSpPr>
        <p:sp>
          <p:nvSpPr>
            <p:cNvPr id="6" name="object 6"/>
            <p:cNvSpPr/>
            <p:nvPr/>
          </p:nvSpPr>
          <p:spPr>
            <a:xfrm>
              <a:off x="937056" y="1387093"/>
              <a:ext cx="292735" cy="63500"/>
            </a:xfrm>
            <a:custGeom>
              <a:avLst/>
              <a:gdLst/>
              <a:ahLst/>
              <a:cxnLst/>
              <a:rect l="l" t="t" r="r" b="b"/>
              <a:pathLst>
                <a:path w="292734" h="63500">
                  <a:moveTo>
                    <a:pt x="251586" y="0"/>
                  </a:moveTo>
                  <a:lnTo>
                    <a:pt x="40741" y="0"/>
                  </a:lnTo>
                  <a:lnTo>
                    <a:pt x="35940" y="2031"/>
                  </a:lnTo>
                  <a:lnTo>
                    <a:pt x="35940" y="4190"/>
                  </a:lnTo>
                  <a:lnTo>
                    <a:pt x="2400" y="50418"/>
                  </a:lnTo>
                  <a:lnTo>
                    <a:pt x="0" y="54736"/>
                  </a:lnTo>
                  <a:lnTo>
                    <a:pt x="0" y="58927"/>
                  </a:lnTo>
                  <a:lnTo>
                    <a:pt x="4800" y="60959"/>
                  </a:lnTo>
                  <a:lnTo>
                    <a:pt x="7188" y="63118"/>
                  </a:lnTo>
                  <a:lnTo>
                    <a:pt x="14376" y="63118"/>
                  </a:lnTo>
                  <a:lnTo>
                    <a:pt x="16776" y="60959"/>
                  </a:lnTo>
                  <a:lnTo>
                    <a:pt x="19176" y="58927"/>
                  </a:lnTo>
                  <a:lnTo>
                    <a:pt x="47929" y="16763"/>
                  </a:lnTo>
                  <a:lnTo>
                    <a:pt x="265497" y="16763"/>
                  </a:lnTo>
                  <a:lnTo>
                    <a:pt x="256374" y="4190"/>
                  </a:lnTo>
                  <a:lnTo>
                    <a:pt x="253974" y="2031"/>
                  </a:lnTo>
                  <a:lnTo>
                    <a:pt x="251586" y="0"/>
                  </a:lnTo>
                  <a:close/>
                </a:path>
                <a:path w="292734" h="63500">
                  <a:moveTo>
                    <a:pt x="265497" y="16763"/>
                  </a:moveTo>
                  <a:lnTo>
                    <a:pt x="244398" y="16763"/>
                  </a:lnTo>
                  <a:lnTo>
                    <a:pt x="273138" y="58927"/>
                  </a:lnTo>
                  <a:lnTo>
                    <a:pt x="275539" y="60959"/>
                  </a:lnTo>
                  <a:lnTo>
                    <a:pt x="277939" y="63118"/>
                  </a:lnTo>
                  <a:lnTo>
                    <a:pt x="285127" y="63118"/>
                  </a:lnTo>
                  <a:lnTo>
                    <a:pt x="287515" y="60959"/>
                  </a:lnTo>
                  <a:lnTo>
                    <a:pt x="292315" y="58927"/>
                  </a:lnTo>
                  <a:lnTo>
                    <a:pt x="292315" y="54736"/>
                  </a:lnTo>
                  <a:lnTo>
                    <a:pt x="289915" y="50418"/>
                  </a:lnTo>
                  <a:lnTo>
                    <a:pt x="265497" y="16763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0353" y="1018158"/>
              <a:ext cx="145453" cy="11404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9225" y="1018158"/>
              <a:ext cx="146875" cy="11404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00696" y="1059433"/>
              <a:ext cx="362585" cy="316865"/>
            </a:xfrm>
            <a:custGeom>
              <a:avLst/>
              <a:gdLst/>
              <a:ahLst/>
              <a:cxnLst/>
              <a:rect l="l" t="t" r="r" b="b"/>
              <a:pathLst>
                <a:path w="362584" h="316865">
                  <a:moveTo>
                    <a:pt x="182321" y="0"/>
                  </a:moveTo>
                  <a:lnTo>
                    <a:pt x="133829" y="5654"/>
                  </a:lnTo>
                  <a:lnTo>
                    <a:pt x="90269" y="21613"/>
                  </a:lnTo>
                  <a:lnTo>
                    <a:pt x="53374" y="46370"/>
                  </a:lnTo>
                  <a:lnTo>
                    <a:pt x="24876" y="78420"/>
                  </a:lnTo>
                  <a:lnTo>
                    <a:pt x="6507" y="116254"/>
                  </a:lnTo>
                  <a:lnTo>
                    <a:pt x="0" y="158368"/>
                  </a:lnTo>
                  <a:lnTo>
                    <a:pt x="6507" y="200483"/>
                  </a:lnTo>
                  <a:lnTo>
                    <a:pt x="24876" y="238317"/>
                  </a:lnTo>
                  <a:lnTo>
                    <a:pt x="53374" y="270367"/>
                  </a:lnTo>
                  <a:lnTo>
                    <a:pt x="90269" y="295124"/>
                  </a:lnTo>
                  <a:lnTo>
                    <a:pt x="133829" y="311083"/>
                  </a:lnTo>
                  <a:lnTo>
                    <a:pt x="182321" y="316738"/>
                  </a:lnTo>
                  <a:lnTo>
                    <a:pt x="230631" y="311083"/>
                  </a:lnTo>
                  <a:lnTo>
                    <a:pt x="273744" y="295124"/>
                  </a:lnTo>
                  <a:lnTo>
                    <a:pt x="310062" y="270367"/>
                  </a:lnTo>
                  <a:lnTo>
                    <a:pt x="337984" y="238317"/>
                  </a:lnTo>
                  <a:lnTo>
                    <a:pt x="355911" y="200483"/>
                  </a:lnTo>
                  <a:lnTo>
                    <a:pt x="360371" y="170814"/>
                  </a:lnTo>
                  <a:lnTo>
                    <a:pt x="175120" y="170814"/>
                  </a:lnTo>
                  <a:lnTo>
                    <a:pt x="170319" y="164591"/>
                  </a:lnTo>
                  <a:lnTo>
                    <a:pt x="170319" y="43814"/>
                  </a:lnTo>
                  <a:lnTo>
                    <a:pt x="175120" y="37464"/>
                  </a:lnTo>
                  <a:lnTo>
                    <a:pt x="296998" y="37464"/>
                  </a:lnTo>
                  <a:lnTo>
                    <a:pt x="273744" y="21613"/>
                  </a:lnTo>
                  <a:lnTo>
                    <a:pt x="230631" y="5654"/>
                  </a:lnTo>
                  <a:lnTo>
                    <a:pt x="182321" y="0"/>
                  </a:lnTo>
                  <a:close/>
                </a:path>
                <a:path w="362584" h="316865">
                  <a:moveTo>
                    <a:pt x="296998" y="37464"/>
                  </a:moveTo>
                  <a:lnTo>
                    <a:pt x="191909" y="37464"/>
                  </a:lnTo>
                  <a:lnTo>
                    <a:pt x="199110" y="43814"/>
                  </a:lnTo>
                  <a:lnTo>
                    <a:pt x="199110" y="145923"/>
                  </a:lnTo>
                  <a:lnTo>
                    <a:pt x="256679" y="145923"/>
                  </a:lnTo>
                  <a:lnTo>
                    <a:pt x="263880" y="149987"/>
                  </a:lnTo>
                  <a:lnTo>
                    <a:pt x="263880" y="164591"/>
                  </a:lnTo>
                  <a:lnTo>
                    <a:pt x="256679" y="170814"/>
                  </a:lnTo>
                  <a:lnTo>
                    <a:pt x="360371" y="170814"/>
                  </a:lnTo>
                  <a:lnTo>
                    <a:pt x="362242" y="158368"/>
                  </a:lnTo>
                  <a:lnTo>
                    <a:pt x="355911" y="116254"/>
                  </a:lnTo>
                  <a:lnTo>
                    <a:pt x="337984" y="78420"/>
                  </a:lnTo>
                  <a:lnTo>
                    <a:pt x="310062" y="46370"/>
                  </a:lnTo>
                  <a:lnTo>
                    <a:pt x="296998" y="37464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399794" y="639199"/>
            <a:ext cx="9315477" cy="1955663"/>
          </a:xfrm>
          <a:prstGeom prst="rect">
            <a:avLst/>
          </a:prstGeom>
        </p:spPr>
        <p:txBody>
          <a:bodyPr vert="horz" wrap="square" lIns="0" tIns="252729" rIns="0" bIns="0" rtlCol="0">
            <a:spAutoFit/>
          </a:bodyPr>
          <a:lstStyle/>
          <a:p>
            <a:pPr marL="252095">
              <a:lnSpc>
                <a:spcPct val="100000"/>
              </a:lnSpc>
              <a:spcBef>
                <a:spcPts val="1989"/>
              </a:spcBef>
            </a:pPr>
            <a:r>
              <a:rPr sz="3200" spc="-5" dirty="0">
                <a:solidFill>
                  <a:srgbClr val="404040"/>
                </a:solidFill>
                <a:latin typeface="微软雅黑"/>
                <a:cs typeface="微软雅黑"/>
              </a:rPr>
              <a:t>最优二叉树有什么特点</a:t>
            </a:r>
            <a:r>
              <a:rPr sz="3200" spc="-5" dirty="0">
                <a:solidFill>
                  <a:srgbClr val="404040"/>
                </a:solidFill>
                <a:latin typeface="Times New Roman"/>
                <a:cs typeface="Times New Roman"/>
              </a:rPr>
              <a:t>?</a:t>
            </a:r>
            <a:endParaRPr sz="3200" dirty="0">
              <a:latin typeface="Times New Roman"/>
              <a:cs typeface="Times New Roman"/>
            </a:endParaRPr>
          </a:p>
          <a:p>
            <a:pPr marL="775335" indent="-763270">
              <a:lnSpc>
                <a:spcPct val="100000"/>
              </a:lnSpc>
              <a:spcBef>
                <a:spcPts val="1630"/>
              </a:spcBef>
              <a:buSzPct val="95833"/>
              <a:buAutoNum type="arabicPlain"/>
              <a:tabLst>
                <a:tab pos="775970" algn="l"/>
              </a:tabLst>
            </a:pP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权值</a:t>
            </a:r>
            <a:r>
              <a:rPr sz="2800" dirty="0">
                <a:solidFill>
                  <a:srgbClr val="B42C2C"/>
                </a:solidFill>
                <a:latin typeface="微软雅黑"/>
                <a:cs typeface="微软雅黑"/>
              </a:rPr>
              <a:t>越大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的叶子结点越</a:t>
            </a:r>
            <a:r>
              <a:rPr sz="2800" dirty="0">
                <a:solidFill>
                  <a:srgbClr val="B42C2C"/>
                </a:solidFill>
                <a:latin typeface="微软雅黑"/>
                <a:cs typeface="微软雅黑"/>
              </a:rPr>
              <a:t>靠近根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结点</a:t>
            </a:r>
            <a:endParaRPr sz="2800" dirty="0">
              <a:latin typeface="微软雅黑"/>
              <a:cs typeface="微软雅黑"/>
            </a:endParaRPr>
          </a:p>
          <a:p>
            <a:pPr marL="779780" indent="-763270">
              <a:lnSpc>
                <a:spcPct val="100000"/>
              </a:lnSpc>
              <a:spcBef>
                <a:spcPts val="1070"/>
              </a:spcBef>
              <a:buSzPct val="95833"/>
              <a:buAutoNum type="arabicPlain"/>
              <a:tabLst>
                <a:tab pos="780415" algn="l"/>
              </a:tabLst>
            </a:pP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只有度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为</a:t>
            </a:r>
            <a:r>
              <a:rPr sz="2800" spc="-135" dirty="0">
                <a:solidFill>
                  <a:srgbClr val="404040"/>
                </a:solidFill>
                <a:latin typeface="微软雅黑"/>
                <a:cs typeface="微软雅黑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0</a:t>
            </a:r>
            <a:r>
              <a:rPr sz="2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和度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为</a:t>
            </a:r>
            <a:r>
              <a:rPr sz="2800" spc="-125" dirty="0">
                <a:solidFill>
                  <a:srgbClr val="404040"/>
                </a:solidFill>
                <a:latin typeface="微软雅黑"/>
                <a:cs typeface="微软雅黑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2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的结点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，</a:t>
            </a:r>
            <a:r>
              <a:rPr sz="2800" spc="-5" dirty="0">
                <a:solidFill>
                  <a:srgbClr val="B42C2C"/>
                </a:solidFill>
                <a:latin typeface="微软雅黑"/>
                <a:cs typeface="微软雅黑"/>
              </a:rPr>
              <a:t>不存在度</a:t>
            </a:r>
            <a:r>
              <a:rPr sz="2800" dirty="0">
                <a:solidFill>
                  <a:srgbClr val="B42C2C"/>
                </a:solidFill>
                <a:latin typeface="微软雅黑"/>
                <a:cs typeface="微软雅黑"/>
              </a:rPr>
              <a:t>为</a:t>
            </a:r>
            <a:r>
              <a:rPr sz="2800" spc="-125" dirty="0">
                <a:solidFill>
                  <a:srgbClr val="B42C2C"/>
                </a:solidFill>
                <a:latin typeface="微软雅黑"/>
                <a:cs typeface="微软雅黑"/>
              </a:rPr>
              <a:t> </a:t>
            </a:r>
            <a:r>
              <a:rPr sz="2800" dirty="0">
                <a:solidFill>
                  <a:srgbClr val="B42C2C"/>
                </a:solidFill>
                <a:latin typeface="Times New Roman"/>
                <a:cs typeface="Times New Roman"/>
              </a:rPr>
              <a:t>1</a:t>
            </a:r>
            <a:r>
              <a:rPr sz="2800" spc="-15" dirty="0">
                <a:solidFill>
                  <a:srgbClr val="B42C2C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B42C2C"/>
                </a:solidFill>
                <a:latin typeface="微软雅黑"/>
                <a:cs typeface="微软雅黑"/>
              </a:rPr>
              <a:t>的结点</a:t>
            </a:r>
            <a:endParaRPr sz="2800" dirty="0">
              <a:latin typeface="微软雅黑"/>
              <a:cs typeface="微软雅黑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575619" y="2671064"/>
            <a:ext cx="2092960" cy="1959610"/>
            <a:chOff x="4575619" y="2671064"/>
            <a:chExt cx="2092960" cy="1959610"/>
          </a:xfrm>
        </p:grpSpPr>
        <p:sp>
          <p:nvSpPr>
            <p:cNvPr id="12" name="object 12"/>
            <p:cNvSpPr/>
            <p:nvPr/>
          </p:nvSpPr>
          <p:spPr>
            <a:xfrm>
              <a:off x="5215763" y="2690114"/>
              <a:ext cx="1433830" cy="1921510"/>
            </a:xfrm>
            <a:custGeom>
              <a:avLst/>
              <a:gdLst/>
              <a:ahLst/>
              <a:cxnLst/>
              <a:rect l="l" t="t" r="r" b="b"/>
              <a:pathLst>
                <a:path w="1433829" h="1921510">
                  <a:moveTo>
                    <a:pt x="0" y="216026"/>
                  </a:moveTo>
                  <a:lnTo>
                    <a:pt x="5701" y="166471"/>
                  </a:lnTo>
                  <a:lnTo>
                    <a:pt x="21944" y="120992"/>
                  </a:lnTo>
                  <a:lnTo>
                    <a:pt x="47436" y="80883"/>
                  </a:lnTo>
                  <a:lnTo>
                    <a:pt x="80883" y="47436"/>
                  </a:lnTo>
                  <a:lnTo>
                    <a:pt x="120992" y="21944"/>
                  </a:lnTo>
                  <a:lnTo>
                    <a:pt x="166471" y="5701"/>
                  </a:lnTo>
                  <a:lnTo>
                    <a:pt x="216026" y="0"/>
                  </a:lnTo>
                  <a:lnTo>
                    <a:pt x="265542" y="5701"/>
                  </a:lnTo>
                  <a:lnTo>
                    <a:pt x="311005" y="21944"/>
                  </a:lnTo>
                  <a:lnTo>
                    <a:pt x="351117" y="47436"/>
                  </a:lnTo>
                  <a:lnTo>
                    <a:pt x="384577" y="80883"/>
                  </a:lnTo>
                  <a:lnTo>
                    <a:pt x="410087" y="120992"/>
                  </a:lnTo>
                  <a:lnTo>
                    <a:pt x="426345" y="166471"/>
                  </a:lnTo>
                  <a:lnTo>
                    <a:pt x="432053" y="216026"/>
                  </a:lnTo>
                  <a:lnTo>
                    <a:pt x="426345" y="265535"/>
                  </a:lnTo>
                  <a:lnTo>
                    <a:pt x="410087" y="310980"/>
                  </a:lnTo>
                  <a:lnTo>
                    <a:pt x="384577" y="351067"/>
                  </a:lnTo>
                  <a:lnTo>
                    <a:pt x="351117" y="384500"/>
                  </a:lnTo>
                  <a:lnTo>
                    <a:pt x="311005" y="409985"/>
                  </a:lnTo>
                  <a:lnTo>
                    <a:pt x="265542" y="426225"/>
                  </a:lnTo>
                  <a:lnTo>
                    <a:pt x="216026" y="431926"/>
                  </a:lnTo>
                  <a:lnTo>
                    <a:pt x="166471" y="426225"/>
                  </a:lnTo>
                  <a:lnTo>
                    <a:pt x="120992" y="409985"/>
                  </a:lnTo>
                  <a:lnTo>
                    <a:pt x="80883" y="384500"/>
                  </a:lnTo>
                  <a:lnTo>
                    <a:pt x="47436" y="351067"/>
                  </a:lnTo>
                  <a:lnTo>
                    <a:pt x="21944" y="310980"/>
                  </a:lnTo>
                  <a:lnTo>
                    <a:pt x="5701" y="265535"/>
                  </a:lnTo>
                  <a:lnTo>
                    <a:pt x="0" y="216026"/>
                  </a:lnTo>
                  <a:close/>
                </a:path>
                <a:path w="1433829" h="1921510">
                  <a:moveTo>
                    <a:pt x="558800" y="949452"/>
                  </a:moveTo>
                  <a:lnTo>
                    <a:pt x="564501" y="899896"/>
                  </a:lnTo>
                  <a:lnTo>
                    <a:pt x="580744" y="854417"/>
                  </a:lnTo>
                  <a:lnTo>
                    <a:pt x="606236" y="814308"/>
                  </a:lnTo>
                  <a:lnTo>
                    <a:pt x="639683" y="780861"/>
                  </a:lnTo>
                  <a:lnTo>
                    <a:pt x="679792" y="755369"/>
                  </a:lnTo>
                  <a:lnTo>
                    <a:pt x="725271" y="739126"/>
                  </a:lnTo>
                  <a:lnTo>
                    <a:pt x="774826" y="733425"/>
                  </a:lnTo>
                  <a:lnTo>
                    <a:pt x="824335" y="739126"/>
                  </a:lnTo>
                  <a:lnTo>
                    <a:pt x="869780" y="755369"/>
                  </a:lnTo>
                  <a:lnTo>
                    <a:pt x="909867" y="780861"/>
                  </a:lnTo>
                  <a:lnTo>
                    <a:pt x="943300" y="814308"/>
                  </a:lnTo>
                  <a:lnTo>
                    <a:pt x="968785" y="854417"/>
                  </a:lnTo>
                  <a:lnTo>
                    <a:pt x="985025" y="899896"/>
                  </a:lnTo>
                  <a:lnTo>
                    <a:pt x="990726" y="949452"/>
                  </a:lnTo>
                  <a:lnTo>
                    <a:pt x="985025" y="998960"/>
                  </a:lnTo>
                  <a:lnTo>
                    <a:pt x="968785" y="1044405"/>
                  </a:lnTo>
                  <a:lnTo>
                    <a:pt x="943300" y="1084492"/>
                  </a:lnTo>
                  <a:lnTo>
                    <a:pt x="909867" y="1117925"/>
                  </a:lnTo>
                  <a:lnTo>
                    <a:pt x="869780" y="1143410"/>
                  </a:lnTo>
                  <a:lnTo>
                    <a:pt x="824335" y="1159650"/>
                  </a:lnTo>
                  <a:lnTo>
                    <a:pt x="774826" y="1165352"/>
                  </a:lnTo>
                  <a:lnTo>
                    <a:pt x="725271" y="1159650"/>
                  </a:lnTo>
                  <a:lnTo>
                    <a:pt x="679792" y="1143410"/>
                  </a:lnTo>
                  <a:lnTo>
                    <a:pt x="639683" y="1117925"/>
                  </a:lnTo>
                  <a:lnTo>
                    <a:pt x="606236" y="1084492"/>
                  </a:lnTo>
                  <a:lnTo>
                    <a:pt x="580744" y="1044405"/>
                  </a:lnTo>
                  <a:lnTo>
                    <a:pt x="564501" y="998960"/>
                  </a:lnTo>
                  <a:lnTo>
                    <a:pt x="558800" y="949452"/>
                  </a:lnTo>
                  <a:close/>
                </a:path>
                <a:path w="1433829" h="1921510">
                  <a:moveTo>
                    <a:pt x="1001649" y="1705356"/>
                  </a:moveTo>
                  <a:lnTo>
                    <a:pt x="1007357" y="1655840"/>
                  </a:lnTo>
                  <a:lnTo>
                    <a:pt x="1023615" y="1610377"/>
                  </a:lnTo>
                  <a:lnTo>
                    <a:pt x="1049125" y="1570265"/>
                  </a:lnTo>
                  <a:lnTo>
                    <a:pt x="1082585" y="1536805"/>
                  </a:lnTo>
                  <a:lnTo>
                    <a:pt x="1122697" y="1511295"/>
                  </a:lnTo>
                  <a:lnTo>
                    <a:pt x="1168160" y="1495037"/>
                  </a:lnTo>
                  <a:lnTo>
                    <a:pt x="1217676" y="1489329"/>
                  </a:lnTo>
                  <a:lnTo>
                    <a:pt x="1267231" y="1495037"/>
                  </a:lnTo>
                  <a:lnTo>
                    <a:pt x="1312710" y="1511295"/>
                  </a:lnTo>
                  <a:lnTo>
                    <a:pt x="1352819" y="1536805"/>
                  </a:lnTo>
                  <a:lnTo>
                    <a:pt x="1386266" y="1570265"/>
                  </a:lnTo>
                  <a:lnTo>
                    <a:pt x="1411758" y="1610377"/>
                  </a:lnTo>
                  <a:lnTo>
                    <a:pt x="1428001" y="1655840"/>
                  </a:lnTo>
                  <a:lnTo>
                    <a:pt x="1433703" y="1705356"/>
                  </a:lnTo>
                  <a:lnTo>
                    <a:pt x="1428001" y="1754871"/>
                  </a:lnTo>
                  <a:lnTo>
                    <a:pt x="1411758" y="1800334"/>
                  </a:lnTo>
                  <a:lnTo>
                    <a:pt x="1386266" y="1840446"/>
                  </a:lnTo>
                  <a:lnTo>
                    <a:pt x="1352819" y="1873906"/>
                  </a:lnTo>
                  <a:lnTo>
                    <a:pt x="1312710" y="1899416"/>
                  </a:lnTo>
                  <a:lnTo>
                    <a:pt x="1267231" y="1915674"/>
                  </a:lnTo>
                  <a:lnTo>
                    <a:pt x="1217676" y="1921383"/>
                  </a:lnTo>
                  <a:lnTo>
                    <a:pt x="1168160" y="1915674"/>
                  </a:lnTo>
                  <a:lnTo>
                    <a:pt x="1122697" y="1899416"/>
                  </a:lnTo>
                  <a:lnTo>
                    <a:pt x="1082585" y="1873906"/>
                  </a:lnTo>
                  <a:lnTo>
                    <a:pt x="1049125" y="1840446"/>
                  </a:lnTo>
                  <a:lnTo>
                    <a:pt x="1023615" y="1800334"/>
                  </a:lnTo>
                  <a:lnTo>
                    <a:pt x="1007357" y="1754871"/>
                  </a:lnTo>
                  <a:lnTo>
                    <a:pt x="1001649" y="1705356"/>
                  </a:lnTo>
                  <a:close/>
                </a:path>
              </a:pathLst>
            </a:custGeom>
            <a:ln w="38100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89907" y="3423539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6027"/>
                  </a:moveTo>
                  <a:lnTo>
                    <a:pt x="5708" y="166471"/>
                  </a:lnTo>
                  <a:lnTo>
                    <a:pt x="21966" y="120992"/>
                  </a:lnTo>
                  <a:lnTo>
                    <a:pt x="47476" y="80883"/>
                  </a:lnTo>
                  <a:lnTo>
                    <a:pt x="80936" y="47436"/>
                  </a:lnTo>
                  <a:lnTo>
                    <a:pt x="121048" y="21944"/>
                  </a:lnTo>
                  <a:lnTo>
                    <a:pt x="166511" y="5701"/>
                  </a:lnTo>
                  <a:lnTo>
                    <a:pt x="216026" y="0"/>
                  </a:lnTo>
                  <a:lnTo>
                    <a:pt x="265542" y="5701"/>
                  </a:lnTo>
                  <a:lnTo>
                    <a:pt x="311005" y="21944"/>
                  </a:lnTo>
                  <a:lnTo>
                    <a:pt x="351117" y="47436"/>
                  </a:lnTo>
                  <a:lnTo>
                    <a:pt x="384577" y="80883"/>
                  </a:lnTo>
                  <a:lnTo>
                    <a:pt x="410087" y="120992"/>
                  </a:lnTo>
                  <a:lnTo>
                    <a:pt x="426345" y="166471"/>
                  </a:lnTo>
                  <a:lnTo>
                    <a:pt x="432053" y="216027"/>
                  </a:lnTo>
                  <a:lnTo>
                    <a:pt x="426345" y="265535"/>
                  </a:lnTo>
                  <a:lnTo>
                    <a:pt x="410087" y="310980"/>
                  </a:lnTo>
                  <a:lnTo>
                    <a:pt x="384577" y="351067"/>
                  </a:lnTo>
                  <a:lnTo>
                    <a:pt x="351117" y="384500"/>
                  </a:lnTo>
                  <a:lnTo>
                    <a:pt x="311005" y="409985"/>
                  </a:lnTo>
                  <a:lnTo>
                    <a:pt x="265542" y="426225"/>
                  </a:lnTo>
                  <a:lnTo>
                    <a:pt x="216026" y="431927"/>
                  </a:lnTo>
                  <a:lnTo>
                    <a:pt x="166511" y="426225"/>
                  </a:lnTo>
                  <a:lnTo>
                    <a:pt x="121048" y="409985"/>
                  </a:lnTo>
                  <a:lnTo>
                    <a:pt x="80936" y="384500"/>
                  </a:lnTo>
                  <a:lnTo>
                    <a:pt x="47476" y="351067"/>
                  </a:lnTo>
                  <a:lnTo>
                    <a:pt x="21966" y="310980"/>
                  </a:lnTo>
                  <a:lnTo>
                    <a:pt x="5708" y="265535"/>
                  </a:lnTo>
                  <a:lnTo>
                    <a:pt x="0" y="216027"/>
                  </a:lnTo>
                  <a:close/>
                </a:path>
              </a:pathLst>
            </a:custGeom>
            <a:ln w="28575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717541" y="3415410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158485" y="4179442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5" h="432435">
                <a:moveTo>
                  <a:pt x="0" y="216026"/>
                </a:moveTo>
                <a:lnTo>
                  <a:pt x="5708" y="166511"/>
                </a:lnTo>
                <a:lnTo>
                  <a:pt x="21966" y="121048"/>
                </a:lnTo>
                <a:lnTo>
                  <a:pt x="47476" y="80936"/>
                </a:lnTo>
                <a:lnTo>
                  <a:pt x="80936" y="47476"/>
                </a:lnTo>
                <a:lnTo>
                  <a:pt x="121048" y="21966"/>
                </a:lnTo>
                <a:lnTo>
                  <a:pt x="166511" y="5708"/>
                </a:lnTo>
                <a:lnTo>
                  <a:pt x="216026" y="0"/>
                </a:lnTo>
                <a:lnTo>
                  <a:pt x="265542" y="5708"/>
                </a:lnTo>
                <a:lnTo>
                  <a:pt x="311005" y="21966"/>
                </a:lnTo>
                <a:lnTo>
                  <a:pt x="351117" y="47476"/>
                </a:lnTo>
                <a:lnTo>
                  <a:pt x="384577" y="80936"/>
                </a:lnTo>
                <a:lnTo>
                  <a:pt x="410087" y="121048"/>
                </a:lnTo>
                <a:lnTo>
                  <a:pt x="426345" y="166511"/>
                </a:lnTo>
                <a:lnTo>
                  <a:pt x="432053" y="216026"/>
                </a:lnTo>
                <a:lnTo>
                  <a:pt x="426345" y="265542"/>
                </a:lnTo>
                <a:lnTo>
                  <a:pt x="410087" y="311005"/>
                </a:lnTo>
                <a:lnTo>
                  <a:pt x="384577" y="351117"/>
                </a:lnTo>
                <a:lnTo>
                  <a:pt x="351117" y="384577"/>
                </a:lnTo>
                <a:lnTo>
                  <a:pt x="311005" y="410087"/>
                </a:lnTo>
                <a:lnTo>
                  <a:pt x="265542" y="426345"/>
                </a:lnTo>
                <a:lnTo>
                  <a:pt x="216026" y="432053"/>
                </a:lnTo>
                <a:lnTo>
                  <a:pt x="166511" y="426345"/>
                </a:lnTo>
                <a:lnTo>
                  <a:pt x="121048" y="410087"/>
                </a:lnTo>
                <a:lnTo>
                  <a:pt x="80936" y="384577"/>
                </a:lnTo>
                <a:lnTo>
                  <a:pt x="47476" y="351117"/>
                </a:lnTo>
                <a:lnTo>
                  <a:pt x="21966" y="311005"/>
                </a:lnTo>
                <a:lnTo>
                  <a:pt x="5708" y="265542"/>
                </a:lnTo>
                <a:lnTo>
                  <a:pt x="0" y="216026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286247" y="417156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846445" y="5021834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5" h="432435">
                <a:moveTo>
                  <a:pt x="0" y="216027"/>
                </a:moveTo>
                <a:lnTo>
                  <a:pt x="5701" y="166511"/>
                </a:lnTo>
                <a:lnTo>
                  <a:pt x="21944" y="121048"/>
                </a:lnTo>
                <a:lnTo>
                  <a:pt x="47436" y="80936"/>
                </a:lnTo>
                <a:lnTo>
                  <a:pt x="80883" y="47476"/>
                </a:lnTo>
                <a:lnTo>
                  <a:pt x="120992" y="21966"/>
                </a:lnTo>
                <a:lnTo>
                  <a:pt x="166471" y="5708"/>
                </a:lnTo>
                <a:lnTo>
                  <a:pt x="216026" y="0"/>
                </a:lnTo>
                <a:lnTo>
                  <a:pt x="265535" y="5708"/>
                </a:lnTo>
                <a:lnTo>
                  <a:pt x="310980" y="21966"/>
                </a:lnTo>
                <a:lnTo>
                  <a:pt x="351067" y="47476"/>
                </a:lnTo>
                <a:lnTo>
                  <a:pt x="384500" y="80936"/>
                </a:lnTo>
                <a:lnTo>
                  <a:pt x="409985" y="121048"/>
                </a:lnTo>
                <a:lnTo>
                  <a:pt x="426225" y="166511"/>
                </a:lnTo>
                <a:lnTo>
                  <a:pt x="431926" y="216027"/>
                </a:lnTo>
                <a:lnTo>
                  <a:pt x="426225" y="265582"/>
                </a:lnTo>
                <a:lnTo>
                  <a:pt x="409985" y="311061"/>
                </a:lnTo>
                <a:lnTo>
                  <a:pt x="384500" y="351170"/>
                </a:lnTo>
                <a:lnTo>
                  <a:pt x="351067" y="384617"/>
                </a:lnTo>
                <a:lnTo>
                  <a:pt x="310980" y="410109"/>
                </a:lnTo>
                <a:lnTo>
                  <a:pt x="265535" y="426352"/>
                </a:lnTo>
                <a:lnTo>
                  <a:pt x="216026" y="432054"/>
                </a:lnTo>
                <a:lnTo>
                  <a:pt x="166471" y="426352"/>
                </a:lnTo>
                <a:lnTo>
                  <a:pt x="120992" y="410109"/>
                </a:lnTo>
                <a:lnTo>
                  <a:pt x="80883" y="384617"/>
                </a:lnTo>
                <a:lnTo>
                  <a:pt x="47436" y="351170"/>
                </a:lnTo>
                <a:lnTo>
                  <a:pt x="21944" y="311061"/>
                </a:lnTo>
                <a:lnTo>
                  <a:pt x="5701" y="265582"/>
                </a:lnTo>
                <a:lnTo>
                  <a:pt x="0" y="216027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974207" y="501408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613143" y="5021834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5">
                <a:moveTo>
                  <a:pt x="0" y="216027"/>
                </a:moveTo>
                <a:lnTo>
                  <a:pt x="5708" y="166511"/>
                </a:lnTo>
                <a:lnTo>
                  <a:pt x="21966" y="121048"/>
                </a:lnTo>
                <a:lnTo>
                  <a:pt x="47476" y="80936"/>
                </a:lnTo>
                <a:lnTo>
                  <a:pt x="80936" y="47476"/>
                </a:lnTo>
                <a:lnTo>
                  <a:pt x="121048" y="21966"/>
                </a:lnTo>
                <a:lnTo>
                  <a:pt x="166511" y="5708"/>
                </a:lnTo>
                <a:lnTo>
                  <a:pt x="216026" y="0"/>
                </a:lnTo>
                <a:lnTo>
                  <a:pt x="265542" y="5708"/>
                </a:lnTo>
                <a:lnTo>
                  <a:pt x="311005" y="21966"/>
                </a:lnTo>
                <a:lnTo>
                  <a:pt x="351117" y="47476"/>
                </a:lnTo>
                <a:lnTo>
                  <a:pt x="384577" y="80936"/>
                </a:lnTo>
                <a:lnTo>
                  <a:pt x="410087" y="121048"/>
                </a:lnTo>
                <a:lnTo>
                  <a:pt x="426345" y="166511"/>
                </a:lnTo>
                <a:lnTo>
                  <a:pt x="432053" y="216027"/>
                </a:lnTo>
                <a:lnTo>
                  <a:pt x="426345" y="265582"/>
                </a:lnTo>
                <a:lnTo>
                  <a:pt x="410087" y="311061"/>
                </a:lnTo>
                <a:lnTo>
                  <a:pt x="384577" y="351170"/>
                </a:lnTo>
                <a:lnTo>
                  <a:pt x="351117" y="384617"/>
                </a:lnTo>
                <a:lnTo>
                  <a:pt x="311005" y="410109"/>
                </a:lnTo>
                <a:lnTo>
                  <a:pt x="265542" y="426352"/>
                </a:lnTo>
                <a:lnTo>
                  <a:pt x="216026" y="432054"/>
                </a:lnTo>
                <a:lnTo>
                  <a:pt x="166511" y="426352"/>
                </a:lnTo>
                <a:lnTo>
                  <a:pt x="121048" y="410109"/>
                </a:lnTo>
                <a:lnTo>
                  <a:pt x="80936" y="384617"/>
                </a:lnTo>
                <a:lnTo>
                  <a:pt x="47476" y="351170"/>
                </a:lnTo>
                <a:lnTo>
                  <a:pt x="21966" y="311061"/>
                </a:lnTo>
                <a:lnTo>
                  <a:pt x="5708" y="265582"/>
                </a:lnTo>
                <a:lnTo>
                  <a:pt x="0" y="216027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741032" y="501408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258252" y="2671064"/>
            <a:ext cx="5506085" cy="2385060"/>
            <a:chOff x="1258252" y="2671064"/>
            <a:chExt cx="5506085" cy="2385060"/>
          </a:xfrm>
        </p:grpSpPr>
        <p:sp>
          <p:nvSpPr>
            <p:cNvPr id="22" name="object 22"/>
            <p:cNvSpPr/>
            <p:nvPr/>
          </p:nvSpPr>
          <p:spPr>
            <a:xfrm>
              <a:off x="4945761" y="3060573"/>
              <a:ext cx="1804670" cy="1981200"/>
            </a:xfrm>
            <a:custGeom>
              <a:avLst/>
              <a:gdLst/>
              <a:ahLst/>
              <a:cxnLst/>
              <a:rect l="l" t="t" r="r" b="b"/>
              <a:pathLst>
                <a:path w="1804670" h="1981200">
                  <a:moveTo>
                    <a:pt x="1177543" y="1976501"/>
                  </a:moveTo>
                  <a:lnTo>
                    <a:pt x="1420494" y="1544574"/>
                  </a:lnTo>
                </a:path>
                <a:path w="1804670" h="1981200">
                  <a:moveTo>
                    <a:pt x="1561084" y="1549145"/>
                  </a:moveTo>
                  <a:lnTo>
                    <a:pt x="1804162" y="1981072"/>
                  </a:lnTo>
                </a:path>
                <a:path w="1804670" h="1981200">
                  <a:moveTo>
                    <a:pt x="0" y="432053"/>
                  </a:moveTo>
                  <a:lnTo>
                    <a:pt x="319404" y="0"/>
                  </a:lnTo>
                </a:path>
                <a:path w="1804670" h="1981200">
                  <a:moveTo>
                    <a:pt x="621411" y="25400"/>
                  </a:moveTo>
                  <a:lnTo>
                    <a:pt x="900684" y="408177"/>
                  </a:lnTo>
                </a:path>
                <a:path w="1804670" h="1981200">
                  <a:moveTo>
                    <a:pt x="1159383" y="768857"/>
                  </a:moveTo>
                  <a:lnTo>
                    <a:pt x="1438655" y="1151635"/>
                  </a:lnTo>
                </a:path>
                <a:path w="1804670" h="1981200">
                  <a:moveTo>
                    <a:pt x="601344" y="1195196"/>
                  </a:moveTo>
                  <a:lnTo>
                    <a:pt x="920876" y="763143"/>
                  </a:lnTo>
                </a:path>
              </a:pathLst>
            </a:custGeom>
            <a:ln w="28575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898395" y="2690114"/>
              <a:ext cx="1433830" cy="1921510"/>
            </a:xfrm>
            <a:custGeom>
              <a:avLst/>
              <a:gdLst/>
              <a:ahLst/>
              <a:cxnLst/>
              <a:rect l="l" t="t" r="r" b="b"/>
              <a:pathLst>
                <a:path w="1433829" h="1921510">
                  <a:moveTo>
                    <a:pt x="0" y="216026"/>
                  </a:moveTo>
                  <a:lnTo>
                    <a:pt x="5701" y="166471"/>
                  </a:lnTo>
                  <a:lnTo>
                    <a:pt x="21941" y="120992"/>
                  </a:lnTo>
                  <a:lnTo>
                    <a:pt x="47426" y="80883"/>
                  </a:lnTo>
                  <a:lnTo>
                    <a:pt x="80859" y="47436"/>
                  </a:lnTo>
                  <a:lnTo>
                    <a:pt x="120946" y="21944"/>
                  </a:lnTo>
                  <a:lnTo>
                    <a:pt x="166391" y="5701"/>
                  </a:lnTo>
                  <a:lnTo>
                    <a:pt x="215900" y="0"/>
                  </a:lnTo>
                  <a:lnTo>
                    <a:pt x="265455" y="5701"/>
                  </a:lnTo>
                  <a:lnTo>
                    <a:pt x="310934" y="21944"/>
                  </a:lnTo>
                  <a:lnTo>
                    <a:pt x="351043" y="47436"/>
                  </a:lnTo>
                  <a:lnTo>
                    <a:pt x="384490" y="80883"/>
                  </a:lnTo>
                  <a:lnTo>
                    <a:pt x="409982" y="120992"/>
                  </a:lnTo>
                  <a:lnTo>
                    <a:pt x="426225" y="166471"/>
                  </a:lnTo>
                  <a:lnTo>
                    <a:pt x="431927" y="216026"/>
                  </a:lnTo>
                  <a:lnTo>
                    <a:pt x="426225" y="265535"/>
                  </a:lnTo>
                  <a:lnTo>
                    <a:pt x="409982" y="310980"/>
                  </a:lnTo>
                  <a:lnTo>
                    <a:pt x="384490" y="351067"/>
                  </a:lnTo>
                  <a:lnTo>
                    <a:pt x="351043" y="384500"/>
                  </a:lnTo>
                  <a:lnTo>
                    <a:pt x="310934" y="409985"/>
                  </a:lnTo>
                  <a:lnTo>
                    <a:pt x="265455" y="426225"/>
                  </a:lnTo>
                  <a:lnTo>
                    <a:pt x="215900" y="431926"/>
                  </a:lnTo>
                  <a:lnTo>
                    <a:pt x="166391" y="426225"/>
                  </a:lnTo>
                  <a:lnTo>
                    <a:pt x="120946" y="409985"/>
                  </a:lnTo>
                  <a:lnTo>
                    <a:pt x="80859" y="384500"/>
                  </a:lnTo>
                  <a:lnTo>
                    <a:pt x="47426" y="351067"/>
                  </a:lnTo>
                  <a:lnTo>
                    <a:pt x="21941" y="310980"/>
                  </a:lnTo>
                  <a:lnTo>
                    <a:pt x="5701" y="265535"/>
                  </a:lnTo>
                  <a:lnTo>
                    <a:pt x="0" y="216026"/>
                  </a:lnTo>
                  <a:close/>
                </a:path>
                <a:path w="1433829" h="1921510">
                  <a:moveTo>
                    <a:pt x="558800" y="949452"/>
                  </a:moveTo>
                  <a:lnTo>
                    <a:pt x="564501" y="899896"/>
                  </a:lnTo>
                  <a:lnTo>
                    <a:pt x="580741" y="854417"/>
                  </a:lnTo>
                  <a:lnTo>
                    <a:pt x="606226" y="814308"/>
                  </a:lnTo>
                  <a:lnTo>
                    <a:pt x="639659" y="780861"/>
                  </a:lnTo>
                  <a:lnTo>
                    <a:pt x="679746" y="755369"/>
                  </a:lnTo>
                  <a:lnTo>
                    <a:pt x="725191" y="739126"/>
                  </a:lnTo>
                  <a:lnTo>
                    <a:pt x="774700" y="733425"/>
                  </a:lnTo>
                  <a:lnTo>
                    <a:pt x="824255" y="739126"/>
                  </a:lnTo>
                  <a:lnTo>
                    <a:pt x="869734" y="755369"/>
                  </a:lnTo>
                  <a:lnTo>
                    <a:pt x="909843" y="780861"/>
                  </a:lnTo>
                  <a:lnTo>
                    <a:pt x="943290" y="814308"/>
                  </a:lnTo>
                  <a:lnTo>
                    <a:pt x="968782" y="854417"/>
                  </a:lnTo>
                  <a:lnTo>
                    <a:pt x="985025" y="899896"/>
                  </a:lnTo>
                  <a:lnTo>
                    <a:pt x="990727" y="949452"/>
                  </a:lnTo>
                  <a:lnTo>
                    <a:pt x="985025" y="998960"/>
                  </a:lnTo>
                  <a:lnTo>
                    <a:pt x="968782" y="1044405"/>
                  </a:lnTo>
                  <a:lnTo>
                    <a:pt x="943290" y="1084492"/>
                  </a:lnTo>
                  <a:lnTo>
                    <a:pt x="909843" y="1117925"/>
                  </a:lnTo>
                  <a:lnTo>
                    <a:pt x="869734" y="1143410"/>
                  </a:lnTo>
                  <a:lnTo>
                    <a:pt x="824255" y="1159650"/>
                  </a:lnTo>
                  <a:lnTo>
                    <a:pt x="774700" y="1165352"/>
                  </a:lnTo>
                  <a:lnTo>
                    <a:pt x="725191" y="1159650"/>
                  </a:lnTo>
                  <a:lnTo>
                    <a:pt x="679746" y="1143410"/>
                  </a:lnTo>
                  <a:lnTo>
                    <a:pt x="639659" y="1117925"/>
                  </a:lnTo>
                  <a:lnTo>
                    <a:pt x="606226" y="1084492"/>
                  </a:lnTo>
                  <a:lnTo>
                    <a:pt x="580741" y="1044405"/>
                  </a:lnTo>
                  <a:lnTo>
                    <a:pt x="564501" y="998960"/>
                  </a:lnTo>
                  <a:lnTo>
                    <a:pt x="558800" y="949452"/>
                  </a:lnTo>
                  <a:close/>
                </a:path>
                <a:path w="1433829" h="1921510">
                  <a:moveTo>
                    <a:pt x="1001649" y="1705356"/>
                  </a:moveTo>
                  <a:lnTo>
                    <a:pt x="1007357" y="1655840"/>
                  </a:lnTo>
                  <a:lnTo>
                    <a:pt x="1023615" y="1610377"/>
                  </a:lnTo>
                  <a:lnTo>
                    <a:pt x="1049125" y="1570265"/>
                  </a:lnTo>
                  <a:lnTo>
                    <a:pt x="1082585" y="1536805"/>
                  </a:lnTo>
                  <a:lnTo>
                    <a:pt x="1122697" y="1511295"/>
                  </a:lnTo>
                  <a:lnTo>
                    <a:pt x="1168160" y="1495037"/>
                  </a:lnTo>
                  <a:lnTo>
                    <a:pt x="1217676" y="1489329"/>
                  </a:lnTo>
                  <a:lnTo>
                    <a:pt x="1267191" y="1495037"/>
                  </a:lnTo>
                  <a:lnTo>
                    <a:pt x="1312654" y="1511295"/>
                  </a:lnTo>
                  <a:lnTo>
                    <a:pt x="1352766" y="1536805"/>
                  </a:lnTo>
                  <a:lnTo>
                    <a:pt x="1386226" y="1570265"/>
                  </a:lnTo>
                  <a:lnTo>
                    <a:pt x="1411736" y="1610377"/>
                  </a:lnTo>
                  <a:lnTo>
                    <a:pt x="1427994" y="1655840"/>
                  </a:lnTo>
                  <a:lnTo>
                    <a:pt x="1433703" y="1705356"/>
                  </a:lnTo>
                  <a:lnTo>
                    <a:pt x="1427994" y="1754871"/>
                  </a:lnTo>
                  <a:lnTo>
                    <a:pt x="1411736" y="1800334"/>
                  </a:lnTo>
                  <a:lnTo>
                    <a:pt x="1386226" y="1840446"/>
                  </a:lnTo>
                  <a:lnTo>
                    <a:pt x="1352766" y="1873906"/>
                  </a:lnTo>
                  <a:lnTo>
                    <a:pt x="1312654" y="1899416"/>
                  </a:lnTo>
                  <a:lnTo>
                    <a:pt x="1267191" y="1915674"/>
                  </a:lnTo>
                  <a:lnTo>
                    <a:pt x="1217676" y="1921383"/>
                  </a:lnTo>
                  <a:lnTo>
                    <a:pt x="1168160" y="1915674"/>
                  </a:lnTo>
                  <a:lnTo>
                    <a:pt x="1122697" y="1899416"/>
                  </a:lnTo>
                  <a:lnTo>
                    <a:pt x="1082585" y="1873906"/>
                  </a:lnTo>
                  <a:lnTo>
                    <a:pt x="1049125" y="1840446"/>
                  </a:lnTo>
                  <a:lnTo>
                    <a:pt x="1023615" y="1800334"/>
                  </a:lnTo>
                  <a:lnTo>
                    <a:pt x="1007357" y="1754871"/>
                  </a:lnTo>
                  <a:lnTo>
                    <a:pt x="1001649" y="1705356"/>
                  </a:lnTo>
                  <a:close/>
                </a:path>
              </a:pathLst>
            </a:custGeom>
            <a:ln w="38100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272539" y="3423539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6027"/>
                  </a:moveTo>
                  <a:lnTo>
                    <a:pt x="5701" y="166471"/>
                  </a:lnTo>
                  <a:lnTo>
                    <a:pt x="21944" y="120992"/>
                  </a:lnTo>
                  <a:lnTo>
                    <a:pt x="47436" y="80883"/>
                  </a:lnTo>
                  <a:lnTo>
                    <a:pt x="80883" y="47436"/>
                  </a:lnTo>
                  <a:lnTo>
                    <a:pt x="120992" y="21944"/>
                  </a:lnTo>
                  <a:lnTo>
                    <a:pt x="166471" y="5701"/>
                  </a:lnTo>
                  <a:lnTo>
                    <a:pt x="216026" y="0"/>
                  </a:lnTo>
                  <a:lnTo>
                    <a:pt x="265535" y="5701"/>
                  </a:lnTo>
                  <a:lnTo>
                    <a:pt x="310980" y="21944"/>
                  </a:lnTo>
                  <a:lnTo>
                    <a:pt x="351067" y="47436"/>
                  </a:lnTo>
                  <a:lnTo>
                    <a:pt x="384500" y="80883"/>
                  </a:lnTo>
                  <a:lnTo>
                    <a:pt x="409985" y="120992"/>
                  </a:lnTo>
                  <a:lnTo>
                    <a:pt x="426225" y="166471"/>
                  </a:lnTo>
                  <a:lnTo>
                    <a:pt x="431927" y="216027"/>
                  </a:lnTo>
                  <a:lnTo>
                    <a:pt x="426225" y="265535"/>
                  </a:lnTo>
                  <a:lnTo>
                    <a:pt x="409985" y="310980"/>
                  </a:lnTo>
                  <a:lnTo>
                    <a:pt x="384500" y="351067"/>
                  </a:lnTo>
                  <a:lnTo>
                    <a:pt x="351067" y="384500"/>
                  </a:lnTo>
                  <a:lnTo>
                    <a:pt x="310980" y="409985"/>
                  </a:lnTo>
                  <a:lnTo>
                    <a:pt x="265535" y="426225"/>
                  </a:lnTo>
                  <a:lnTo>
                    <a:pt x="216026" y="431927"/>
                  </a:lnTo>
                  <a:lnTo>
                    <a:pt x="166471" y="426225"/>
                  </a:lnTo>
                  <a:lnTo>
                    <a:pt x="120992" y="409985"/>
                  </a:lnTo>
                  <a:lnTo>
                    <a:pt x="80883" y="384500"/>
                  </a:lnTo>
                  <a:lnTo>
                    <a:pt x="47436" y="351067"/>
                  </a:lnTo>
                  <a:lnTo>
                    <a:pt x="21944" y="310980"/>
                  </a:lnTo>
                  <a:lnTo>
                    <a:pt x="5701" y="265535"/>
                  </a:lnTo>
                  <a:lnTo>
                    <a:pt x="0" y="216027"/>
                  </a:lnTo>
                  <a:close/>
                </a:path>
              </a:pathLst>
            </a:custGeom>
            <a:ln w="28575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399794" y="3415410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483357" y="5021834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5" h="432435">
                <a:moveTo>
                  <a:pt x="0" y="216027"/>
                </a:moveTo>
                <a:lnTo>
                  <a:pt x="5701" y="166511"/>
                </a:lnTo>
                <a:lnTo>
                  <a:pt x="21941" y="121048"/>
                </a:lnTo>
                <a:lnTo>
                  <a:pt x="47426" y="80936"/>
                </a:lnTo>
                <a:lnTo>
                  <a:pt x="80859" y="47476"/>
                </a:lnTo>
                <a:lnTo>
                  <a:pt x="120946" y="21966"/>
                </a:lnTo>
                <a:lnTo>
                  <a:pt x="166391" y="5708"/>
                </a:lnTo>
                <a:lnTo>
                  <a:pt x="215900" y="0"/>
                </a:lnTo>
                <a:lnTo>
                  <a:pt x="265455" y="5708"/>
                </a:lnTo>
                <a:lnTo>
                  <a:pt x="310934" y="21966"/>
                </a:lnTo>
                <a:lnTo>
                  <a:pt x="351043" y="47476"/>
                </a:lnTo>
                <a:lnTo>
                  <a:pt x="384490" y="80936"/>
                </a:lnTo>
                <a:lnTo>
                  <a:pt x="409982" y="121048"/>
                </a:lnTo>
                <a:lnTo>
                  <a:pt x="426225" y="166511"/>
                </a:lnTo>
                <a:lnTo>
                  <a:pt x="431927" y="216027"/>
                </a:lnTo>
                <a:lnTo>
                  <a:pt x="426225" y="265582"/>
                </a:lnTo>
                <a:lnTo>
                  <a:pt x="409982" y="311061"/>
                </a:lnTo>
                <a:lnTo>
                  <a:pt x="384490" y="351170"/>
                </a:lnTo>
                <a:lnTo>
                  <a:pt x="351043" y="384617"/>
                </a:lnTo>
                <a:lnTo>
                  <a:pt x="310934" y="410109"/>
                </a:lnTo>
                <a:lnTo>
                  <a:pt x="265455" y="426352"/>
                </a:lnTo>
                <a:lnTo>
                  <a:pt x="215900" y="432054"/>
                </a:lnTo>
                <a:lnTo>
                  <a:pt x="166391" y="426352"/>
                </a:lnTo>
                <a:lnTo>
                  <a:pt x="120946" y="410109"/>
                </a:lnTo>
                <a:lnTo>
                  <a:pt x="80859" y="384617"/>
                </a:lnTo>
                <a:lnTo>
                  <a:pt x="47426" y="351170"/>
                </a:lnTo>
                <a:lnTo>
                  <a:pt x="21941" y="311061"/>
                </a:lnTo>
                <a:lnTo>
                  <a:pt x="5701" y="265582"/>
                </a:lnTo>
                <a:lnTo>
                  <a:pt x="0" y="216027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610739" y="501408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341496" y="5021834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5" h="432435">
                <a:moveTo>
                  <a:pt x="0" y="216027"/>
                </a:moveTo>
                <a:lnTo>
                  <a:pt x="5701" y="166511"/>
                </a:lnTo>
                <a:lnTo>
                  <a:pt x="21944" y="121048"/>
                </a:lnTo>
                <a:lnTo>
                  <a:pt x="47436" y="80936"/>
                </a:lnTo>
                <a:lnTo>
                  <a:pt x="80883" y="47476"/>
                </a:lnTo>
                <a:lnTo>
                  <a:pt x="120992" y="21966"/>
                </a:lnTo>
                <a:lnTo>
                  <a:pt x="166471" y="5708"/>
                </a:lnTo>
                <a:lnTo>
                  <a:pt x="216026" y="0"/>
                </a:lnTo>
                <a:lnTo>
                  <a:pt x="265535" y="5708"/>
                </a:lnTo>
                <a:lnTo>
                  <a:pt x="310980" y="21966"/>
                </a:lnTo>
                <a:lnTo>
                  <a:pt x="351067" y="47476"/>
                </a:lnTo>
                <a:lnTo>
                  <a:pt x="384500" y="80936"/>
                </a:lnTo>
                <a:lnTo>
                  <a:pt x="409985" y="121048"/>
                </a:lnTo>
                <a:lnTo>
                  <a:pt x="426225" y="166511"/>
                </a:lnTo>
                <a:lnTo>
                  <a:pt x="431926" y="216027"/>
                </a:lnTo>
                <a:lnTo>
                  <a:pt x="426225" y="265582"/>
                </a:lnTo>
                <a:lnTo>
                  <a:pt x="409985" y="311061"/>
                </a:lnTo>
                <a:lnTo>
                  <a:pt x="384500" y="351170"/>
                </a:lnTo>
                <a:lnTo>
                  <a:pt x="351067" y="384617"/>
                </a:lnTo>
                <a:lnTo>
                  <a:pt x="310980" y="410109"/>
                </a:lnTo>
                <a:lnTo>
                  <a:pt x="265535" y="426352"/>
                </a:lnTo>
                <a:lnTo>
                  <a:pt x="216026" y="432054"/>
                </a:lnTo>
                <a:lnTo>
                  <a:pt x="166471" y="426352"/>
                </a:lnTo>
                <a:lnTo>
                  <a:pt x="120992" y="410109"/>
                </a:lnTo>
                <a:lnTo>
                  <a:pt x="80883" y="384617"/>
                </a:lnTo>
                <a:lnTo>
                  <a:pt x="47436" y="351170"/>
                </a:lnTo>
                <a:lnTo>
                  <a:pt x="21944" y="311061"/>
                </a:lnTo>
                <a:lnTo>
                  <a:pt x="5701" y="265582"/>
                </a:lnTo>
                <a:lnTo>
                  <a:pt x="0" y="216027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469004" y="501408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387665" y="3046285"/>
            <a:ext cx="2089785" cy="2407285"/>
            <a:chOff x="1387665" y="3046285"/>
            <a:chExt cx="2089785" cy="2407285"/>
          </a:xfrm>
        </p:grpSpPr>
        <p:sp>
          <p:nvSpPr>
            <p:cNvPr id="31" name="object 31"/>
            <p:cNvSpPr/>
            <p:nvPr/>
          </p:nvSpPr>
          <p:spPr>
            <a:xfrm>
              <a:off x="1628266" y="3060573"/>
              <a:ext cx="1835150" cy="1998345"/>
            </a:xfrm>
            <a:custGeom>
              <a:avLst/>
              <a:gdLst/>
              <a:ahLst/>
              <a:cxnLst/>
              <a:rect l="l" t="t" r="r" b="b"/>
              <a:pathLst>
                <a:path w="1835150" h="1998345">
                  <a:moveTo>
                    <a:pt x="1162303" y="1976501"/>
                  </a:moveTo>
                  <a:lnTo>
                    <a:pt x="1405382" y="1544574"/>
                  </a:lnTo>
                </a:path>
                <a:path w="1835150" h="1998345">
                  <a:moveTo>
                    <a:pt x="1591690" y="1529841"/>
                  </a:moveTo>
                  <a:lnTo>
                    <a:pt x="1834769" y="1997837"/>
                  </a:lnTo>
                </a:path>
                <a:path w="1835150" h="1998345">
                  <a:moveTo>
                    <a:pt x="0" y="432053"/>
                  </a:moveTo>
                  <a:lnTo>
                    <a:pt x="319531" y="0"/>
                  </a:lnTo>
                </a:path>
                <a:path w="1835150" h="1998345">
                  <a:moveTo>
                    <a:pt x="621538" y="25400"/>
                  </a:moveTo>
                  <a:lnTo>
                    <a:pt x="900810" y="408177"/>
                  </a:lnTo>
                </a:path>
                <a:path w="1835150" h="1998345">
                  <a:moveTo>
                    <a:pt x="1159509" y="768857"/>
                  </a:moveTo>
                  <a:lnTo>
                    <a:pt x="1438656" y="1151635"/>
                  </a:lnTo>
                </a:path>
                <a:path w="1835150" h="1998345">
                  <a:moveTo>
                    <a:pt x="601344" y="1195196"/>
                  </a:moveTo>
                  <a:lnTo>
                    <a:pt x="920876" y="763143"/>
                  </a:lnTo>
                </a:path>
              </a:pathLst>
            </a:custGeom>
            <a:ln w="28575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401952" y="5007229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5900"/>
                  </a:moveTo>
                  <a:lnTo>
                    <a:pt x="5708" y="166391"/>
                  </a:lnTo>
                  <a:lnTo>
                    <a:pt x="21966" y="120946"/>
                  </a:lnTo>
                  <a:lnTo>
                    <a:pt x="47476" y="80859"/>
                  </a:lnTo>
                  <a:lnTo>
                    <a:pt x="80936" y="47426"/>
                  </a:lnTo>
                  <a:lnTo>
                    <a:pt x="121048" y="21941"/>
                  </a:lnTo>
                  <a:lnTo>
                    <a:pt x="166511" y="5701"/>
                  </a:lnTo>
                  <a:lnTo>
                    <a:pt x="216027" y="0"/>
                  </a:lnTo>
                  <a:lnTo>
                    <a:pt x="265542" y="5701"/>
                  </a:lnTo>
                  <a:lnTo>
                    <a:pt x="311005" y="21941"/>
                  </a:lnTo>
                  <a:lnTo>
                    <a:pt x="351117" y="47426"/>
                  </a:lnTo>
                  <a:lnTo>
                    <a:pt x="384577" y="80859"/>
                  </a:lnTo>
                  <a:lnTo>
                    <a:pt x="410087" y="120946"/>
                  </a:lnTo>
                  <a:lnTo>
                    <a:pt x="426345" y="166391"/>
                  </a:lnTo>
                  <a:lnTo>
                    <a:pt x="432053" y="215900"/>
                  </a:lnTo>
                  <a:lnTo>
                    <a:pt x="426345" y="265455"/>
                  </a:lnTo>
                  <a:lnTo>
                    <a:pt x="410087" y="310934"/>
                  </a:lnTo>
                  <a:lnTo>
                    <a:pt x="384577" y="351043"/>
                  </a:lnTo>
                  <a:lnTo>
                    <a:pt x="351117" y="384490"/>
                  </a:lnTo>
                  <a:lnTo>
                    <a:pt x="311005" y="409982"/>
                  </a:lnTo>
                  <a:lnTo>
                    <a:pt x="265542" y="426225"/>
                  </a:lnTo>
                  <a:lnTo>
                    <a:pt x="216027" y="431927"/>
                  </a:lnTo>
                  <a:lnTo>
                    <a:pt x="166511" y="426225"/>
                  </a:lnTo>
                  <a:lnTo>
                    <a:pt x="121048" y="409982"/>
                  </a:lnTo>
                  <a:lnTo>
                    <a:pt x="80936" y="384490"/>
                  </a:lnTo>
                  <a:lnTo>
                    <a:pt x="47476" y="351043"/>
                  </a:lnTo>
                  <a:lnTo>
                    <a:pt x="21966" y="310934"/>
                  </a:lnTo>
                  <a:lnTo>
                    <a:pt x="5708" y="265455"/>
                  </a:lnTo>
                  <a:lnTo>
                    <a:pt x="0" y="215900"/>
                  </a:lnTo>
                  <a:close/>
                </a:path>
              </a:pathLst>
            </a:custGeom>
            <a:ln w="28575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529333" y="4999482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697799" y="2671064"/>
            <a:ext cx="8242934" cy="2376170"/>
            <a:chOff x="1697799" y="2671064"/>
            <a:chExt cx="8242934" cy="2376170"/>
          </a:xfrm>
        </p:grpSpPr>
        <p:sp>
          <p:nvSpPr>
            <p:cNvPr id="35" name="object 35"/>
            <p:cNvSpPr/>
            <p:nvPr/>
          </p:nvSpPr>
          <p:spPr>
            <a:xfrm>
              <a:off x="1883155" y="4179443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6026"/>
                  </a:moveTo>
                  <a:lnTo>
                    <a:pt x="5701" y="166511"/>
                  </a:lnTo>
                  <a:lnTo>
                    <a:pt x="21941" y="121048"/>
                  </a:lnTo>
                  <a:lnTo>
                    <a:pt x="47426" y="80936"/>
                  </a:lnTo>
                  <a:lnTo>
                    <a:pt x="80859" y="47476"/>
                  </a:lnTo>
                  <a:lnTo>
                    <a:pt x="120946" y="21966"/>
                  </a:lnTo>
                  <a:lnTo>
                    <a:pt x="166391" y="5708"/>
                  </a:lnTo>
                  <a:lnTo>
                    <a:pt x="215900" y="0"/>
                  </a:lnTo>
                  <a:lnTo>
                    <a:pt x="265455" y="5708"/>
                  </a:lnTo>
                  <a:lnTo>
                    <a:pt x="310934" y="21966"/>
                  </a:lnTo>
                  <a:lnTo>
                    <a:pt x="351043" y="47476"/>
                  </a:lnTo>
                  <a:lnTo>
                    <a:pt x="384490" y="80936"/>
                  </a:lnTo>
                  <a:lnTo>
                    <a:pt x="409982" y="121048"/>
                  </a:lnTo>
                  <a:lnTo>
                    <a:pt x="426225" y="166511"/>
                  </a:lnTo>
                  <a:lnTo>
                    <a:pt x="431926" y="216026"/>
                  </a:lnTo>
                  <a:lnTo>
                    <a:pt x="426225" y="265542"/>
                  </a:lnTo>
                  <a:lnTo>
                    <a:pt x="409982" y="311005"/>
                  </a:lnTo>
                  <a:lnTo>
                    <a:pt x="384490" y="351117"/>
                  </a:lnTo>
                  <a:lnTo>
                    <a:pt x="351043" y="384577"/>
                  </a:lnTo>
                  <a:lnTo>
                    <a:pt x="310934" y="410087"/>
                  </a:lnTo>
                  <a:lnTo>
                    <a:pt x="265455" y="426345"/>
                  </a:lnTo>
                  <a:lnTo>
                    <a:pt x="215900" y="432053"/>
                  </a:lnTo>
                  <a:lnTo>
                    <a:pt x="166391" y="426345"/>
                  </a:lnTo>
                  <a:lnTo>
                    <a:pt x="120946" y="410087"/>
                  </a:lnTo>
                  <a:lnTo>
                    <a:pt x="80859" y="384577"/>
                  </a:lnTo>
                  <a:lnTo>
                    <a:pt x="47426" y="351117"/>
                  </a:lnTo>
                  <a:lnTo>
                    <a:pt x="21941" y="311005"/>
                  </a:lnTo>
                  <a:lnTo>
                    <a:pt x="5701" y="265542"/>
                  </a:lnTo>
                  <a:lnTo>
                    <a:pt x="0" y="216026"/>
                  </a:lnTo>
                  <a:close/>
                </a:path>
              </a:pathLst>
            </a:custGeom>
            <a:ln w="38100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712086" y="4590415"/>
              <a:ext cx="252095" cy="442595"/>
            </a:xfrm>
            <a:custGeom>
              <a:avLst/>
              <a:gdLst/>
              <a:ahLst/>
              <a:cxnLst/>
              <a:rect l="l" t="t" r="r" b="b"/>
              <a:pathLst>
                <a:path w="252094" h="442595">
                  <a:moveTo>
                    <a:pt x="0" y="442214"/>
                  </a:moveTo>
                  <a:lnTo>
                    <a:pt x="251968" y="0"/>
                  </a:lnTo>
                </a:path>
              </a:pathLst>
            </a:custGeom>
            <a:ln w="28575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487409" y="2690114"/>
              <a:ext cx="1433830" cy="1921510"/>
            </a:xfrm>
            <a:custGeom>
              <a:avLst/>
              <a:gdLst/>
              <a:ahLst/>
              <a:cxnLst/>
              <a:rect l="l" t="t" r="r" b="b"/>
              <a:pathLst>
                <a:path w="1433829" h="1921510">
                  <a:moveTo>
                    <a:pt x="0" y="216026"/>
                  </a:moveTo>
                  <a:lnTo>
                    <a:pt x="5708" y="166471"/>
                  </a:lnTo>
                  <a:lnTo>
                    <a:pt x="21966" y="120992"/>
                  </a:lnTo>
                  <a:lnTo>
                    <a:pt x="47476" y="80883"/>
                  </a:lnTo>
                  <a:lnTo>
                    <a:pt x="80936" y="47436"/>
                  </a:lnTo>
                  <a:lnTo>
                    <a:pt x="121048" y="21944"/>
                  </a:lnTo>
                  <a:lnTo>
                    <a:pt x="166511" y="5701"/>
                  </a:lnTo>
                  <a:lnTo>
                    <a:pt x="216026" y="0"/>
                  </a:lnTo>
                  <a:lnTo>
                    <a:pt x="265542" y="5701"/>
                  </a:lnTo>
                  <a:lnTo>
                    <a:pt x="311005" y="21944"/>
                  </a:lnTo>
                  <a:lnTo>
                    <a:pt x="351117" y="47436"/>
                  </a:lnTo>
                  <a:lnTo>
                    <a:pt x="384577" y="80883"/>
                  </a:lnTo>
                  <a:lnTo>
                    <a:pt x="410087" y="120992"/>
                  </a:lnTo>
                  <a:lnTo>
                    <a:pt x="426345" y="166471"/>
                  </a:lnTo>
                  <a:lnTo>
                    <a:pt x="432054" y="216026"/>
                  </a:lnTo>
                  <a:lnTo>
                    <a:pt x="426345" y="265535"/>
                  </a:lnTo>
                  <a:lnTo>
                    <a:pt x="410087" y="310980"/>
                  </a:lnTo>
                  <a:lnTo>
                    <a:pt x="384577" y="351067"/>
                  </a:lnTo>
                  <a:lnTo>
                    <a:pt x="351117" y="384500"/>
                  </a:lnTo>
                  <a:lnTo>
                    <a:pt x="311005" y="409985"/>
                  </a:lnTo>
                  <a:lnTo>
                    <a:pt x="265542" y="426225"/>
                  </a:lnTo>
                  <a:lnTo>
                    <a:pt x="216026" y="431926"/>
                  </a:lnTo>
                  <a:lnTo>
                    <a:pt x="166511" y="426225"/>
                  </a:lnTo>
                  <a:lnTo>
                    <a:pt x="121048" y="409985"/>
                  </a:lnTo>
                  <a:lnTo>
                    <a:pt x="80936" y="384500"/>
                  </a:lnTo>
                  <a:lnTo>
                    <a:pt x="47476" y="351067"/>
                  </a:lnTo>
                  <a:lnTo>
                    <a:pt x="21966" y="310980"/>
                  </a:lnTo>
                  <a:lnTo>
                    <a:pt x="5708" y="265535"/>
                  </a:lnTo>
                  <a:lnTo>
                    <a:pt x="0" y="216026"/>
                  </a:lnTo>
                  <a:close/>
                </a:path>
                <a:path w="1433829" h="1921510">
                  <a:moveTo>
                    <a:pt x="558800" y="949452"/>
                  </a:moveTo>
                  <a:lnTo>
                    <a:pt x="564508" y="899896"/>
                  </a:lnTo>
                  <a:lnTo>
                    <a:pt x="580766" y="854417"/>
                  </a:lnTo>
                  <a:lnTo>
                    <a:pt x="606276" y="814308"/>
                  </a:lnTo>
                  <a:lnTo>
                    <a:pt x="639736" y="780861"/>
                  </a:lnTo>
                  <a:lnTo>
                    <a:pt x="679848" y="755369"/>
                  </a:lnTo>
                  <a:lnTo>
                    <a:pt x="725311" y="739126"/>
                  </a:lnTo>
                  <a:lnTo>
                    <a:pt x="774826" y="733425"/>
                  </a:lnTo>
                  <a:lnTo>
                    <a:pt x="824342" y="739126"/>
                  </a:lnTo>
                  <a:lnTo>
                    <a:pt x="869805" y="755369"/>
                  </a:lnTo>
                  <a:lnTo>
                    <a:pt x="909917" y="780861"/>
                  </a:lnTo>
                  <a:lnTo>
                    <a:pt x="943377" y="814308"/>
                  </a:lnTo>
                  <a:lnTo>
                    <a:pt x="968887" y="854417"/>
                  </a:lnTo>
                  <a:lnTo>
                    <a:pt x="985145" y="899896"/>
                  </a:lnTo>
                  <a:lnTo>
                    <a:pt x="990854" y="949452"/>
                  </a:lnTo>
                  <a:lnTo>
                    <a:pt x="985145" y="998960"/>
                  </a:lnTo>
                  <a:lnTo>
                    <a:pt x="968887" y="1044405"/>
                  </a:lnTo>
                  <a:lnTo>
                    <a:pt x="943377" y="1084492"/>
                  </a:lnTo>
                  <a:lnTo>
                    <a:pt x="909917" y="1117925"/>
                  </a:lnTo>
                  <a:lnTo>
                    <a:pt x="869805" y="1143410"/>
                  </a:lnTo>
                  <a:lnTo>
                    <a:pt x="824342" y="1159650"/>
                  </a:lnTo>
                  <a:lnTo>
                    <a:pt x="774826" y="1165352"/>
                  </a:lnTo>
                  <a:lnTo>
                    <a:pt x="725311" y="1159650"/>
                  </a:lnTo>
                  <a:lnTo>
                    <a:pt x="679848" y="1143410"/>
                  </a:lnTo>
                  <a:lnTo>
                    <a:pt x="639736" y="1117925"/>
                  </a:lnTo>
                  <a:lnTo>
                    <a:pt x="606276" y="1084492"/>
                  </a:lnTo>
                  <a:lnTo>
                    <a:pt x="580766" y="1044405"/>
                  </a:lnTo>
                  <a:lnTo>
                    <a:pt x="564508" y="998960"/>
                  </a:lnTo>
                  <a:lnTo>
                    <a:pt x="558800" y="949452"/>
                  </a:lnTo>
                  <a:close/>
                </a:path>
                <a:path w="1433829" h="1921510">
                  <a:moveTo>
                    <a:pt x="1001776" y="1705356"/>
                  </a:moveTo>
                  <a:lnTo>
                    <a:pt x="1007477" y="1655840"/>
                  </a:lnTo>
                  <a:lnTo>
                    <a:pt x="1023720" y="1610377"/>
                  </a:lnTo>
                  <a:lnTo>
                    <a:pt x="1049212" y="1570265"/>
                  </a:lnTo>
                  <a:lnTo>
                    <a:pt x="1082659" y="1536805"/>
                  </a:lnTo>
                  <a:lnTo>
                    <a:pt x="1122768" y="1511295"/>
                  </a:lnTo>
                  <a:lnTo>
                    <a:pt x="1168247" y="1495037"/>
                  </a:lnTo>
                  <a:lnTo>
                    <a:pt x="1217803" y="1489329"/>
                  </a:lnTo>
                  <a:lnTo>
                    <a:pt x="1267311" y="1495037"/>
                  </a:lnTo>
                  <a:lnTo>
                    <a:pt x="1312756" y="1511295"/>
                  </a:lnTo>
                  <a:lnTo>
                    <a:pt x="1352843" y="1536805"/>
                  </a:lnTo>
                  <a:lnTo>
                    <a:pt x="1386276" y="1570265"/>
                  </a:lnTo>
                  <a:lnTo>
                    <a:pt x="1411761" y="1610377"/>
                  </a:lnTo>
                  <a:lnTo>
                    <a:pt x="1428001" y="1655840"/>
                  </a:lnTo>
                  <a:lnTo>
                    <a:pt x="1433703" y="1705356"/>
                  </a:lnTo>
                  <a:lnTo>
                    <a:pt x="1428001" y="1754871"/>
                  </a:lnTo>
                  <a:lnTo>
                    <a:pt x="1411761" y="1800334"/>
                  </a:lnTo>
                  <a:lnTo>
                    <a:pt x="1386276" y="1840446"/>
                  </a:lnTo>
                  <a:lnTo>
                    <a:pt x="1352843" y="1873906"/>
                  </a:lnTo>
                  <a:lnTo>
                    <a:pt x="1312756" y="1899416"/>
                  </a:lnTo>
                  <a:lnTo>
                    <a:pt x="1267311" y="1915674"/>
                  </a:lnTo>
                  <a:lnTo>
                    <a:pt x="1217803" y="1921383"/>
                  </a:lnTo>
                  <a:lnTo>
                    <a:pt x="1168247" y="1915674"/>
                  </a:lnTo>
                  <a:lnTo>
                    <a:pt x="1122768" y="1899416"/>
                  </a:lnTo>
                  <a:lnTo>
                    <a:pt x="1082659" y="1873906"/>
                  </a:lnTo>
                  <a:lnTo>
                    <a:pt x="1049212" y="1840446"/>
                  </a:lnTo>
                  <a:lnTo>
                    <a:pt x="1023720" y="1800334"/>
                  </a:lnTo>
                  <a:lnTo>
                    <a:pt x="1007477" y="1754871"/>
                  </a:lnTo>
                  <a:lnTo>
                    <a:pt x="1001776" y="1705356"/>
                  </a:lnTo>
                  <a:close/>
                </a:path>
              </a:pathLst>
            </a:custGeom>
            <a:ln w="38100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861553" y="3423539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0" y="216027"/>
                  </a:moveTo>
                  <a:lnTo>
                    <a:pt x="5708" y="166471"/>
                  </a:lnTo>
                  <a:lnTo>
                    <a:pt x="21966" y="120992"/>
                  </a:lnTo>
                  <a:lnTo>
                    <a:pt x="47476" y="80883"/>
                  </a:lnTo>
                  <a:lnTo>
                    <a:pt x="80936" y="47436"/>
                  </a:lnTo>
                  <a:lnTo>
                    <a:pt x="121048" y="21944"/>
                  </a:lnTo>
                  <a:lnTo>
                    <a:pt x="166511" y="5701"/>
                  </a:lnTo>
                  <a:lnTo>
                    <a:pt x="216026" y="0"/>
                  </a:lnTo>
                  <a:lnTo>
                    <a:pt x="265542" y="5701"/>
                  </a:lnTo>
                  <a:lnTo>
                    <a:pt x="311005" y="21944"/>
                  </a:lnTo>
                  <a:lnTo>
                    <a:pt x="351117" y="47436"/>
                  </a:lnTo>
                  <a:lnTo>
                    <a:pt x="384577" y="80883"/>
                  </a:lnTo>
                  <a:lnTo>
                    <a:pt x="410087" y="120992"/>
                  </a:lnTo>
                  <a:lnTo>
                    <a:pt x="426345" y="166471"/>
                  </a:lnTo>
                  <a:lnTo>
                    <a:pt x="432053" y="216027"/>
                  </a:lnTo>
                  <a:lnTo>
                    <a:pt x="426345" y="265535"/>
                  </a:lnTo>
                  <a:lnTo>
                    <a:pt x="410087" y="310980"/>
                  </a:lnTo>
                  <a:lnTo>
                    <a:pt x="384577" y="351067"/>
                  </a:lnTo>
                  <a:lnTo>
                    <a:pt x="351117" y="384500"/>
                  </a:lnTo>
                  <a:lnTo>
                    <a:pt x="311005" y="409985"/>
                  </a:lnTo>
                  <a:lnTo>
                    <a:pt x="265542" y="426225"/>
                  </a:lnTo>
                  <a:lnTo>
                    <a:pt x="216026" y="431927"/>
                  </a:lnTo>
                  <a:lnTo>
                    <a:pt x="166511" y="426225"/>
                  </a:lnTo>
                  <a:lnTo>
                    <a:pt x="121048" y="409985"/>
                  </a:lnTo>
                  <a:lnTo>
                    <a:pt x="80936" y="384500"/>
                  </a:lnTo>
                  <a:lnTo>
                    <a:pt x="47476" y="351067"/>
                  </a:lnTo>
                  <a:lnTo>
                    <a:pt x="21966" y="310980"/>
                  </a:lnTo>
                  <a:lnTo>
                    <a:pt x="5708" y="265535"/>
                  </a:lnTo>
                  <a:lnTo>
                    <a:pt x="0" y="216027"/>
                  </a:lnTo>
                  <a:close/>
                </a:path>
              </a:pathLst>
            </a:custGeom>
            <a:ln w="28575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7989569" y="3415410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8430259" y="4179442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5">
                <a:moveTo>
                  <a:pt x="0" y="216026"/>
                </a:moveTo>
                <a:lnTo>
                  <a:pt x="5701" y="166511"/>
                </a:lnTo>
                <a:lnTo>
                  <a:pt x="21941" y="121048"/>
                </a:lnTo>
                <a:lnTo>
                  <a:pt x="47426" y="80936"/>
                </a:lnTo>
                <a:lnTo>
                  <a:pt x="80859" y="47476"/>
                </a:lnTo>
                <a:lnTo>
                  <a:pt x="120946" y="21966"/>
                </a:lnTo>
                <a:lnTo>
                  <a:pt x="166391" y="5708"/>
                </a:lnTo>
                <a:lnTo>
                  <a:pt x="215900" y="0"/>
                </a:lnTo>
                <a:lnTo>
                  <a:pt x="265455" y="5708"/>
                </a:lnTo>
                <a:lnTo>
                  <a:pt x="310934" y="21966"/>
                </a:lnTo>
                <a:lnTo>
                  <a:pt x="351043" y="47476"/>
                </a:lnTo>
                <a:lnTo>
                  <a:pt x="384490" y="80936"/>
                </a:lnTo>
                <a:lnTo>
                  <a:pt x="409982" y="121048"/>
                </a:lnTo>
                <a:lnTo>
                  <a:pt x="426225" y="166511"/>
                </a:lnTo>
                <a:lnTo>
                  <a:pt x="431926" y="216026"/>
                </a:lnTo>
                <a:lnTo>
                  <a:pt x="426225" y="265542"/>
                </a:lnTo>
                <a:lnTo>
                  <a:pt x="409982" y="311005"/>
                </a:lnTo>
                <a:lnTo>
                  <a:pt x="384490" y="351117"/>
                </a:lnTo>
                <a:lnTo>
                  <a:pt x="351043" y="384577"/>
                </a:lnTo>
                <a:lnTo>
                  <a:pt x="310934" y="410087"/>
                </a:lnTo>
                <a:lnTo>
                  <a:pt x="265455" y="426345"/>
                </a:lnTo>
                <a:lnTo>
                  <a:pt x="215900" y="432053"/>
                </a:lnTo>
                <a:lnTo>
                  <a:pt x="166391" y="426345"/>
                </a:lnTo>
                <a:lnTo>
                  <a:pt x="120946" y="410087"/>
                </a:lnTo>
                <a:lnTo>
                  <a:pt x="80859" y="384577"/>
                </a:lnTo>
                <a:lnTo>
                  <a:pt x="47426" y="351117"/>
                </a:lnTo>
                <a:lnTo>
                  <a:pt x="21941" y="311005"/>
                </a:lnTo>
                <a:lnTo>
                  <a:pt x="5701" y="265542"/>
                </a:lnTo>
                <a:lnTo>
                  <a:pt x="0" y="216026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8558276" y="417156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9118092" y="5021834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5">
                <a:moveTo>
                  <a:pt x="0" y="216027"/>
                </a:moveTo>
                <a:lnTo>
                  <a:pt x="5708" y="166511"/>
                </a:lnTo>
                <a:lnTo>
                  <a:pt x="21966" y="121048"/>
                </a:lnTo>
                <a:lnTo>
                  <a:pt x="47476" y="80936"/>
                </a:lnTo>
                <a:lnTo>
                  <a:pt x="80936" y="47476"/>
                </a:lnTo>
                <a:lnTo>
                  <a:pt x="121048" y="21966"/>
                </a:lnTo>
                <a:lnTo>
                  <a:pt x="166511" y="5708"/>
                </a:lnTo>
                <a:lnTo>
                  <a:pt x="216026" y="0"/>
                </a:lnTo>
                <a:lnTo>
                  <a:pt x="265542" y="5708"/>
                </a:lnTo>
                <a:lnTo>
                  <a:pt x="311005" y="21966"/>
                </a:lnTo>
                <a:lnTo>
                  <a:pt x="351117" y="47476"/>
                </a:lnTo>
                <a:lnTo>
                  <a:pt x="384577" y="80936"/>
                </a:lnTo>
                <a:lnTo>
                  <a:pt x="410087" y="121048"/>
                </a:lnTo>
                <a:lnTo>
                  <a:pt x="426345" y="166511"/>
                </a:lnTo>
                <a:lnTo>
                  <a:pt x="432053" y="216027"/>
                </a:lnTo>
                <a:lnTo>
                  <a:pt x="426345" y="265582"/>
                </a:lnTo>
                <a:lnTo>
                  <a:pt x="410087" y="311061"/>
                </a:lnTo>
                <a:lnTo>
                  <a:pt x="384577" y="351170"/>
                </a:lnTo>
                <a:lnTo>
                  <a:pt x="351117" y="384617"/>
                </a:lnTo>
                <a:lnTo>
                  <a:pt x="311005" y="410109"/>
                </a:lnTo>
                <a:lnTo>
                  <a:pt x="265542" y="426352"/>
                </a:lnTo>
                <a:lnTo>
                  <a:pt x="216026" y="432054"/>
                </a:lnTo>
                <a:lnTo>
                  <a:pt x="166511" y="426352"/>
                </a:lnTo>
                <a:lnTo>
                  <a:pt x="121048" y="410109"/>
                </a:lnTo>
                <a:lnTo>
                  <a:pt x="80936" y="384617"/>
                </a:lnTo>
                <a:lnTo>
                  <a:pt x="47476" y="351170"/>
                </a:lnTo>
                <a:lnTo>
                  <a:pt x="21966" y="311061"/>
                </a:lnTo>
                <a:lnTo>
                  <a:pt x="5708" y="265582"/>
                </a:lnTo>
                <a:lnTo>
                  <a:pt x="0" y="216027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9246234" y="501408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9884791" y="5021834"/>
            <a:ext cx="432434" cy="432434"/>
          </a:xfrm>
          <a:custGeom>
            <a:avLst/>
            <a:gdLst/>
            <a:ahLst/>
            <a:cxnLst/>
            <a:rect l="l" t="t" r="r" b="b"/>
            <a:pathLst>
              <a:path w="432434" h="432435">
                <a:moveTo>
                  <a:pt x="0" y="216027"/>
                </a:moveTo>
                <a:lnTo>
                  <a:pt x="5708" y="166511"/>
                </a:lnTo>
                <a:lnTo>
                  <a:pt x="21966" y="121048"/>
                </a:lnTo>
                <a:lnTo>
                  <a:pt x="47476" y="80936"/>
                </a:lnTo>
                <a:lnTo>
                  <a:pt x="80936" y="47476"/>
                </a:lnTo>
                <a:lnTo>
                  <a:pt x="121048" y="21966"/>
                </a:lnTo>
                <a:lnTo>
                  <a:pt x="166511" y="5708"/>
                </a:lnTo>
                <a:lnTo>
                  <a:pt x="216026" y="0"/>
                </a:lnTo>
                <a:lnTo>
                  <a:pt x="265582" y="5708"/>
                </a:lnTo>
                <a:lnTo>
                  <a:pt x="311061" y="21966"/>
                </a:lnTo>
                <a:lnTo>
                  <a:pt x="351170" y="47476"/>
                </a:lnTo>
                <a:lnTo>
                  <a:pt x="384617" y="80936"/>
                </a:lnTo>
                <a:lnTo>
                  <a:pt x="410109" y="121048"/>
                </a:lnTo>
                <a:lnTo>
                  <a:pt x="426352" y="166511"/>
                </a:lnTo>
                <a:lnTo>
                  <a:pt x="432053" y="216027"/>
                </a:lnTo>
                <a:lnTo>
                  <a:pt x="426352" y="265582"/>
                </a:lnTo>
                <a:lnTo>
                  <a:pt x="410109" y="311061"/>
                </a:lnTo>
                <a:lnTo>
                  <a:pt x="384617" y="351170"/>
                </a:lnTo>
                <a:lnTo>
                  <a:pt x="351170" y="384617"/>
                </a:lnTo>
                <a:lnTo>
                  <a:pt x="311061" y="410109"/>
                </a:lnTo>
                <a:lnTo>
                  <a:pt x="265582" y="426352"/>
                </a:lnTo>
                <a:lnTo>
                  <a:pt x="216026" y="432054"/>
                </a:lnTo>
                <a:lnTo>
                  <a:pt x="166511" y="426352"/>
                </a:lnTo>
                <a:lnTo>
                  <a:pt x="121048" y="410109"/>
                </a:lnTo>
                <a:lnTo>
                  <a:pt x="80936" y="384617"/>
                </a:lnTo>
                <a:lnTo>
                  <a:pt x="47476" y="351170"/>
                </a:lnTo>
                <a:lnTo>
                  <a:pt x="21966" y="311061"/>
                </a:lnTo>
                <a:lnTo>
                  <a:pt x="5708" y="265582"/>
                </a:lnTo>
                <a:lnTo>
                  <a:pt x="0" y="216027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10013060" y="5014086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8217407" y="3060573"/>
            <a:ext cx="1804670" cy="1981200"/>
          </a:xfrm>
          <a:custGeom>
            <a:avLst/>
            <a:gdLst/>
            <a:ahLst/>
            <a:cxnLst/>
            <a:rect l="l" t="t" r="r" b="b"/>
            <a:pathLst>
              <a:path w="1804670" h="1981200">
                <a:moveTo>
                  <a:pt x="1177544" y="1976501"/>
                </a:moveTo>
                <a:lnTo>
                  <a:pt x="1420622" y="1544574"/>
                </a:lnTo>
              </a:path>
              <a:path w="1804670" h="1981200">
                <a:moveTo>
                  <a:pt x="1561211" y="1549145"/>
                </a:moveTo>
                <a:lnTo>
                  <a:pt x="1804162" y="1981072"/>
                </a:lnTo>
              </a:path>
              <a:path w="1804670" h="1981200">
                <a:moveTo>
                  <a:pt x="0" y="432053"/>
                </a:moveTo>
                <a:lnTo>
                  <a:pt x="319532" y="0"/>
                </a:lnTo>
              </a:path>
              <a:path w="1804670" h="1981200">
                <a:moveTo>
                  <a:pt x="621538" y="25400"/>
                </a:moveTo>
                <a:lnTo>
                  <a:pt x="900684" y="408177"/>
                </a:lnTo>
              </a:path>
              <a:path w="1804670" h="1981200">
                <a:moveTo>
                  <a:pt x="1159510" y="768857"/>
                </a:moveTo>
                <a:lnTo>
                  <a:pt x="1438656" y="1151635"/>
                </a:lnTo>
              </a:path>
              <a:path w="1804670" h="1981200">
                <a:moveTo>
                  <a:pt x="601345" y="1195196"/>
                </a:moveTo>
                <a:lnTo>
                  <a:pt x="920876" y="763143"/>
                </a:lnTo>
              </a:path>
            </a:pathLst>
          </a:custGeom>
          <a:ln w="28575">
            <a:solidFill>
              <a:srgbClr val="285A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2160777" y="5645562"/>
            <a:ext cx="381000" cy="419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0"/>
              </a:lnSpc>
            </a:pPr>
            <a:r>
              <a:rPr sz="2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32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446799" y="5645562"/>
            <a:ext cx="381000" cy="419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0"/>
              </a:lnSpc>
            </a:pPr>
            <a:r>
              <a:rPr sz="2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34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001270" y="5645562"/>
            <a:ext cx="381000" cy="419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50"/>
              </a:lnSpc>
            </a:pPr>
            <a:r>
              <a:rPr sz="2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28</a:t>
            </a:r>
            <a:endParaRPr sz="28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41354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48643" y="2017267"/>
            <a:ext cx="152400" cy="25355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algn="just">
              <a:lnSpc>
                <a:spcPts val="1000"/>
              </a:lnSpc>
              <a:spcBef>
                <a:spcPts val="2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数 据 结 构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880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（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从 概 念 到 实 现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975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640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清 华 大 学 出 版 社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42925" y="100964"/>
            <a:ext cx="2376170" cy="540385"/>
          </a:xfrm>
          <a:custGeom>
            <a:avLst/>
            <a:gdLst/>
            <a:ahLst/>
            <a:cxnLst/>
            <a:rect l="l" t="t" r="r" b="b"/>
            <a:pathLst>
              <a:path w="2376170" h="540385">
                <a:moveTo>
                  <a:pt x="2286000" y="0"/>
                </a:moveTo>
                <a:lnTo>
                  <a:pt x="90004" y="0"/>
                </a:lnTo>
                <a:lnTo>
                  <a:pt x="54971" y="7068"/>
                </a:lnTo>
                <a:lnTo>
                  <a:pt x="26362" y="26352"/>
                </a:lnTo>
                <a:lnTo>
                  <a:pt x="7073" y="54971"/>
                </a:lnTo>
                <a:lnTo>
                  <a:pt x="0" y="90042"/>
                </a:lnTo>
                <a:lnTo>
                  <a:pt x="0" y="449960"/>
                </a:lnTo>
                <a:lnTo>
                  <a:pt x="7073" y="485032"/>
                </a:lnTo>
                <a:lnTo>
                  <a:pt x="26362" y="513651"/>
                </a:lnTo>
                <a:lnTo>
                  <a:pt x="54971" y="532935"/>
                </a:lnTo>
                <a:lnTo>
                  <a:pt x="90004" y="540003"/>
                </a:lnTo>
                <a:lnTo>
                  <a:pt x="2286000" y="540003"/>
                </a:lnTo>
                <a:lnTo>
                  <a:pt x="2321018" y="532935"/>
                </a:lnTo>
                <a:lnTo>
                  <a:pt x="2349642" y="513651"/>
                </a:lnTo>
                <a:lnTo>
                  <a:pt x="2368956" y="485032"/>
                </a:lnTo>
                <a:lnTo>
                  <a:pt x="2376043" y="449960"/>
                </a:lnTo>
                <a:lnTo>
                  <a:pt x="2376043" y="90042"/>
                </a:lnTo>
                <a:lnTo>
                  <a:pt x="2368956" y="54971"/>
                </a:lnTo>
                <a:lnTo>
                  <a:pt x="2349642" y="26352"/>
                </a:lnTo>
                <a:lnTo>
                  <a:pt x="2321018" y="7068"/>
                </a:lnTo>
                <a:lnTo>
                  <a:pt x="2286000" y="0"/>
                </a:lnTo>
                <a:close/>
              </a:path>
            </a:pathLst>
          </a:custGeom>
          <a:solidFill>
            <a:srgbClr val="5A31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6991" y="141809"/>
            <a:ext cx="206375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solidFill>
                  <a:schemeClr val="bg1"/>
                </a:solidFill>
              </a:rPr>
              <a:t>哈夫</a:t>
            </a:r>
            <a:r>
              <a:rPr sz="2800" spc="-10" dirty="0">
                <a:solidFill>
                  <a:schemeClr val="bg1"/>
                </a:solidFill>
              </a:rPr>
              <a:t>曼</a:t>
            </a:r>
            <a:r>
              <a:rPr sz="2800" spc="-5" dirty="0">
                <a:solidFill>
                  <a:schemeClr val="bg1"/>
                </a:solidFill>
              </a:rPr>
              <a:t>算</a:t>
            </a:r>
            <a:r>
              <a:rPr sz="2800" spc="-10" dirty="0">
                <a:solidFill>
                  <a:schemeClr val="bg1"/>
                </a:solidFill>
              </a:rPr>
              <a:t>法</a:t>
            </a:r>
          </a:p>
        </p:txBody>
      </p:sp>
      <p:sp>
        <p:nvSpPr>
          <p:cNvPr id="5" name="object 5"/>
          <p:cNvSpPr/>
          <p:nvPr/>
        </p:nvSpPr>
        <p:spPr>
          <a:xfrm>
            <a:off x="1094739" y="2330704"/>
            <a:ext cx="10030460" cy="3683000"/>
          </a:xfrm>
          <a:custGeom>
            <a:avLst/>
            <a:gdLst/>
            <a:ahLst/>
            <a:cxnLst/>
            <a:rect l="l" t="t" r="r" b="b"/>
            <a:pathLst>
              <a:path w="10030460" h="3683000">
                <a:moveTo>
                  <a:pt x="0" y="3683000"/>
                </a:moveTo>
                <a:lnTo>
                  <a:pt x="10030460" y="3683000"/>
                </a:lnTo>
                <a:lnTo>
                  <a:pt x="10030460" y="0"/>
                </a:lnTo>
                <a:lnTo>
                  <a:pt x="0" y="0"/>
                </a:lnTo>
                <a:lnTo>
                  <a:pt x="0" y="3683000"/>
                </a:lnTo>
                <a:close/>
              </a:path>
            </a:pathLst>
          </a:custGeom>
          <a:ln w="9525">
            <a:solidFill>
              <a:srgbClr val="5A317C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64640" y="2315338"/>
            <a:ext cx="9896475" cy="35801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265" marR="95250" indent="-342265" algn="just">
              <a:lnSpc>
                <a:spcPct val="121400"/>
              </a:lnSpc>
              <a:spcBef>
                <a:spcPts val="95"/>
              </a:spcBef>
              <a:buClr>
                <a:srgbClr val="404040"/>
              </a:buClr>
              <a:buFont typeface="Times New Roman"/>
              <a:buAutoNum type="arabicPeriod"/>
              <a:tabLst>
                <a:tab pos="342265" algn="l"/>
              </a:tabLst>
            </a:pPr>
            <a:r>
              <a:rPr sz="2400" dirty="0">
                <a:solidFill>
                  <a:srgbClr val="B42C2C"/>
                </a:solidFill>
                <a:latin typeface="微软雅黑"/>
                <a:cs typeface="微软雅黑"/>
              </a:rPr>
              <a:t>初始</a:t>
            </a:r>
            <a:r>
              <a:rPr sz="2400" spc="-5" dirty="0">
                <a:solidFill>
                  <a:srgbClr val="B42C2C"/>
                </a:solidFill>
                <a:latin typeface="微软雅黑"/>
                <a:cs typeface="微软雅黑"/>
              </a:rPr>
              <a:t>化</a:t>
            </a: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：由</a:t>
            </a:r>
            <a:r>
              <a:rPr sz="2400" spc="-140" dirty="0">
                <a:solidFill>
                  <a:srgbClr val="404040"/>
                </a:solidFill>
                <a:latin typeface="微软雅黑"/>
                <a:cs typeface="微软雅黑"/>
              </a:rPr>
              <a:t> </a:t>
            </a: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sz="2400" i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个权值构造</a:t>
            </a:r>
            <a:r>
              <a:rPr sz="2400" spc="-140" dirty="0">
                <a:solidFill>
                  <a:srgbClr val="404040"/>
                </a:solidFill>
                <a:latin typeface="微软雅黑"/>
                <a:cs typeface="微软雅黑"/>
              </a:rPr>
              <a:t> </a:t>
            </a: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sz="2400" i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棵只有一个根结点的二叉</a:t>
            </a:r>
            <a:r>
              <a:rPr sz="2400" spc="-25" dirty="0">
                <a:solidFill>
                  <a:srgbClr val="404040"/>
                </a:solidFill>
                <a:latin typeface="微软雅黑"/>
                <a:cs typeface="微软雅黑"/>
              </a:rPr>
              <a:t>树</a:t>
            </a: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，得</a:t>
            </a:r>
            <a:r>
              <a:rPr sz="2400" spc="-5" dirty="0">
                <a:solidFill>
                  <a:srgbClr val="404040"/>
                </a:solidFill>
                <a:latin typeface="微软雅黑"/>
                <a:cs typeface="微软雅黑"/>
              </a:rPr>
              <a:t>到</a:t>
            </a: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一个二叉 </a:t>
            </a:r>
            <a:r>
              <a:rPr sz="2400" spc="-5" dirty="0">
                <a:solidFill>
                  <a:srgbClr val="404040"/>
                </a:solidFill>
                <a:latin typeface="微软雅黑"/>
                <a:cs typeface="微软雅黑"/>
              </a:rPr>
              <a:t>树</a:t>
            </a: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集合</a:t>
            </a:r>
            <a:r>
              <a:rPr sz="2400" spc="-135" dirty="0">
                <a:solidFill>
                  <a:srgbClr val="404040"/>
                </a:solidFill>
                <a:latin typeface="微软雅黑"/>
                <a:cs typeface="微软雅黑"/>
              </a:rPr>
              <a:t> </a:t>
            </a:r>
            <a:r>
              <a:rPr sz="2400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r>
              <a:rPr sz="2400" spc="-5" dirty="0">
                <a:solidFill>
                  <a:srgbClr val="404040"/>
                </a:solidFill>
                <a:latin typeface="微软雅黑"/>
                <a:cs typeface="微软雅黑"/>
              </a:rPr>
              <a:t>＝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{</a:t>
            </a:r>
            <a:r>
              <a:rPr sz="2400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T</a:t>
            </a:r>
            <a:r>
              <a:rPr sz="2400" spc="-7" baseline="-24305" dirty="0">
                <a:solidFill>
                  <a:srgbClr val="404040"/>
                </a:solidFill>
                <a:latin typeface="Times New Roman"/>
                <a:cs typeface="Times New Roman"/>
              </a:rPr>
              <a:t>1</a:t>
            </a:r>
            <a:r>
              <a:rPr sz="2400" spc="-5" dirty="0">
                <a:solidFill>
                  <a:srgbClr val="404040"/>
                </a:solidFill>
                <a:latin typeface="微软雅黑"/>
                <a:cs typeface="微软雅黑"/>
              </a:rPr>
              <a:t>，</a:t>
            </a:r>
            <a:r>
              <a:rPr sz="2400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T</a:t>
            </a:r>
            <a:r>
              <a:rPr sz="2400" spc="-7" baseline="-24305" dirty="0">
                <a:solidFill>
                  <a:srgbClr val="404040"/>
                </a:solidFill>
                <a:latin typeface="Times New Roman"/>
                <a:cs typeface="Times New Roman"/>
              </a:rPr>
              <a:t>2</a:t>
            </a:r>
            <a:r>
              <a:rPr sz="2400" spc="-5" dirty="0">
                <a:solidFill>
                  <a:srgbClr val="404040"/>
                </a:solidFill>
                <a:latin typeface="微软雅黑"/>
                <a:cs typeface="微软雅黑"/>
              </a:rPr>
              <a:t>，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…</a:t>
            </a:r>
            <a:r>
              <a:rPr sz="2400" spc="-5" dirty="0">
                <a:solidFill>
                  <a:srgbClr val="404040"/>
                </a:solidFill>
                <a:latin typeface="微软雅黑"/>
                <a:cs typeface="微软雅黑"/>
              </a:rPr>
              <a:t>，</a:t>
            </a:r>
            <a:r>
              <a:rPr sz="2400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T</a:t>
            </a:r>
            <a:r>
              <a:rPr sz="2400" i="1" spc="-7" baseline="-24305" dirty="0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}</a:t>
            </a:r>
            <a:r>
              <a:rPr sz="2400" spc="-5" dirty="0">
                <a:solidFill>
                  <a:srgbClr val="404040"/>
                </a:solidFill>
                <a:latin typeface="微软雅黑"/>
                <a:cs typeface="微软雅黑"/>
              </a:rPr>
              <a:t>；</a:t>
            </a:r>
            <a:endParaRPr sz="2400">
              <a:latin typeface="微软雅黑"/>
              <a:cs typeface="微软雅黑"/>
            </a:endParaRPr>
          </a:p>
          <a:p>
            <a:pPr marL="341630" indent="-304165" algn="just">
              <a:lnSpc>
                <a:spcPct val="100000"/>
              </a:lnSpc>
              <a:spcBef>
                <a:spcPts val="625"/>
              </a:spcBef>
              <a:buFont typeface="Times New Roman"/>
              <a:buAutoNum type="arabicPeriod"/>
              <a:tabLst>
                <a:tab pos="342265" algn="l"/>
              </a:tabLst>
            </a:pP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重复下述操作，直到集合</a:t>
            </a:r>
            <a:r>
              <a:rPr sz="2400" spc="-135" dirty="0">
                <a:solidFill>
                  <a:srgbClr val="404040"/>
                </a:solidFill>
                <a:latin typeface="微软雅黑"/>
                <a:cs typeface="微软雅黑"/>
              </a:rPr>
              <a:t> </a:t>
            </a: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r>
              <a:rPr sz="2400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中只剩下一棵二叉树</a:t>
            </a:r>
            <a:endParaRPr sz="2400">
              <a:latin typeface="微软雅黑"/>
              <a:cs typeface="微软雅黑"/>
            </a:endParaRPr>
          </a:p>
          <a:p>
            <a:pPr marL="860425" marR="30480" lvl="1" indent="-860425" algn="just">
              <a:lnSpc>
                <a:spcPct val="121500"/>
              </a:lnSpc>
              <a:spcBef>
                <a:spcPts val="5"/>
              </a:spcBef>
              <a:buClr>
                <a:srgbClr val="404040"/>
              </a:buClr>
              <a:buFont typeface="Times New Roman"/>
              <a:buAutoNum type="arabicPeriod"/>
              <a:tabLst>
                <a:tab pos="860425" algn="l"/>
              </a:tabLst>
            </a:pPr>
            <a:r>
              <a:rPr sz="2400" dirty="0">
                <a:solidFill>
                  <a:srgbClr val="B42C2C"/>
                </a:solidFill>
                <a:latin typeface="微软雅黑"/>
                <a:cs typeface="微软雅黑"/>
              </a:rPr>
              <a:t>选</a:t>
            </a:r>
            <a:r>
              <a:rPr sz="2400" spc="-5" dirty="0">
                <a:solidFill>
                  <a:srgbClr val="B42C2C"/>
                </a:solidFill>
                <a:latin typeface="微软雅黑"/>
                <a:cs typeface="微软雅黑"/>
              </a:rPr>
              <a:t>取</a:t>
            </a:r>
            <a:r>
              <a:rPr sz="2400" dirty="0">
                <a:solidFill>
                  <a:srgbClr val="B42C2C"/>
                </a:solidFill>
                <a:latin typeface="微软雅黑"/>
                <a:cs typeface="微软雅黑"/>
              </a:rPr>
              <a:t>与合</a:t>
            </a:r>
            <a:r>
              <a:rPr sz="2400" spc="-5" dirty="0">
                <a:solidFill>
                  <a:srgbClr val="B42C2C"/>
                </a:solidFill>
                <a:latin typeface="微软雅黑"/>
                <a:cs typeface="微软雅黑"/>
              </a:rPr>
              <a:t>并</a:t>
            </a: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：在</a:t>
            </a:r>
            <a:r>
              <a:rPr sz="2400" spc="305" dirty="0">
                <a:solidFill>
                  <a:srgbClr val="404040"/>
                </a:solidFill>
                <a:latin typeface="微软雅黑"/>
                <a:cs typeface="微软雅黑"/>
              </a:rPr>
              <a:t> </a:t>
            </a: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r>
              <a:rPr sz="2400" i="1" spc="4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中选取根结点的权值最小的两棵二叉树分别作为 </a:t>
            </a:r>
            <a:r>
              <a:rPr sz="2400" spc="70" dirty="0">
                <a:solidFill>
                  <a:srgbClr val="404040"/>
                </a:solidFill>
                <a:latin typeface="微软雅黑"/>
                <a:cs typeface="微软雅黑"/>
              </a:rPr>
              <a:t>左右子</a:t>
            </a:r>
            <a:r>
              <a:rPr sz="2400" spc="60" dirty="0">
                <a:solidFill>
                  <a:srgbClr val="404040"/>
                </a:solidFill>
                <a:latin typeface="微软雅黑"/>
                <a:cs typeface="微软雅黑"/>
              </a:rPr>
              <a:t>树</a:t>
            </a:r>
            <a:r>
              <a:rPr sz="2400" spc="70" dirty="0">
                <a:solidFill>
                  <a:srgbClr val="404040"/>
                </a:solidFill>
                <a:latin typeface="微软雅黑"/>
                <a:cs typeface="微软雅黑"/>
              </a:rPr>
              <a:t>构造一</a:t>
            </a:r>
            <a:r>
              <a:rPr sz="2400" spc="60" dirty="0">
                <a:solidFill>
                  <a:srgbClr val="404040"/>
                </a:solidFill>
                <a:latin typeface="微软雅黑"/>
                <a:cs typeface="微软雅黑"/>
              </a:rPr>
              <a:t>棵</a:t>
            </a:r>
            <a:r>
              <a:rPr sz="2400" spc="70" dirty="0">
                <a:solidFill>
                  <a:srgbClr val="404040"/>
                </a:solidFill>
                <a:latin typeface="微软雅黑"/>
                <a:cs typeface="微软雅黑"/>
              </a:rPr>
              <a:t>新的二</a:t>
            </a:r>
            <a:r>
              <a:rPr sz="2400" spc="60" dirty="0">
                <a:solidFill>
                  <a:srgbClr val="404040"/>
                </a:solidFill>
                <a:latin typeface="微软雅黑"/>
                <a:cs typeface="微软雅黑"/>
              </a:rPr>
              <a:t>叉</a:t>
            </a:r>
            <a:r>
              <a:rPr sz="2400" spc="75" dirty="0">
                <a:solidFill>
                  <a:srgbClr val="404040"/>
                </a:solidFill>
                <a:latin typeface="微软雅黑"/>
                <a:cs typeface="微软雅黑"/>
              </a:rPr>
              <a:t>树</a:t>
            </a:r>
            <a:r>
              <a:rPr sz="2400" spc="70" dirty="0">
                <a:solidFill>
                  <a:srgbClr val="404040"/>
                </a:solidFill>
                <a:latin typeface="微软雅黑"/>
                <a:cs typeface="微软雅黑"/>
              </a:rPr>
              <a:t>，这</a:t>
            </a:r>
            <a:r>
              <a:rPr sz="2400" spc="60" dirty="0">
                <a:solidFill>
                  <a:srgbClr val="404040"/>
                </a:solidFill>
                <a:latin typeface="微软雅黑"/>
                <a:cs typeface="微软雅黑"/>
              </a:rPr>
              <a:t>棵</a:t>
            </a:r>
            <a:r>
              <a:rPr sz="2400" spc="70" dirty="0">
                <a:solidFill>
                  <a:srgbClr val="404040"/>
                </a:solidFill>
                <a:latin typeface="微软雅黑"/>
                <a:cs typeface="微软雅黑"/>
              </a:rPr>
              <a:t>新二叉</a:t>
            </a:r>
            <a:r>
              <a:rPr sz="2400" spc="60" dirty="0">
                <a:solidFill>
                  <a:srgbClr val="404040"/>
                </a:solidFill>
                <a:latin typeface="微软雅黑"/>
                <a:cs typeface="微软雅黑"/>
              </a:rPr>
              <a:t>树</a:t>
            </a:r>
            <a:r>
              <a:rPr sz="2400" spc="80" dirty="0">
                <a:solidFill>
                  <a:srgbClr val="404040"/>
                </a:solidFill>
                <a:latin typeface="微软雅黑"/>
                <a:cs typeface="微软雅黑"/>
              </a:rPr>
              <a:t>的根</a:t>
            </a: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结 点的权值为</a:t>
            </a:r>
            <a:r>
              <a:rPr sz="2400" spc="-15" dirty="0">
                <a:solidFill>
                  <a:srgbClr val="404040"/>
                </a:solidFill>
                <a:latin typeface="微软雅黑"/>
                <a:cs typeface="微软雅黑"/>
              </a:rPr>
              <a:t>其</a:t>
            </a: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左</a:t>
            </a:r>
            <a:r>
              <a:rPr sz="2400" spc="-5" dirty="0">
                <a:solidFill>
                  <a:srgbClr val="404040"/>
                </a:solidFill>
                <a:latin typeface="微软雅黑"/>
                <a:cs typeface="微软雅黑"/>
              </a:rPr>
              <a:t>右</a:t>
            </a: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子树根结点的权值之和；</a:t>
            </a:r>
            <a:endParaRPr sz="2400">
              <a:latin typeface="微软雅黑"/>
              <a:cs typeface="微软雅黑"/>
            </a:endParaRPr>
          </a:p>
          <a:p>
            <a:pPr marL="860425" marR="34290" lvl="1" indent="-860425" algn="just">
              <a:lnSpc>
                <a:spcPct val="121200"/>
              </a:lnSpc>
              <a:spcBef>
                <a:spcPts val="10"/>
              </a:spcBef>
              <a:buClr>
                <a:srgbClr val="404040"/>
              </a:buClr>
              <a:buFont typeface="Times New Roman"/>
              <a:buAutoNum type="arabicPeriod"/>
              <a:tabLst>
                <a:tab pos="860425" algn="l"/>
              </a:tabLst>
            </a:pPr>
            <a:r>
              <a:rPr sz="2400" dirty="0">
                <a:solidFill>
                  <a:srgbClr val="B42C2C"/>
                </a:solidFill>
                <a:latin typeface="微软雅黑"/>
                <a:cs typeface="微软雅黑"/>
              </a:rPr>
              <a:t>删</a:t>
            </a:r>
            <a:r>
              <a:rPr sz="2400" spc="-5" dirty="0">
                <a:solidFill>
                  <a:srgbClr val="B42C2C"/>
                </a:solidFill>
                <a:latin typeface="微软雅黑"/>
                <a:cs typeface="微软雅黑"/>
              </a:rPr>
              <a:t>除</a:t>
            </a:r>
            <a:r>
              <a:rPr sz="2400" dirty="0">
                <a:solidFill>
                  <a:srgbClr val="B42C2C"/>
                </a:solidFill>
                <a:latin typeface="微软雅黑"/>
                <a:cs typeface="微软雅黑"/>
              </a:rPr>
              <a:t>与加</a:t>
            </a:r>
            <a:r>
              <a:rPr sz="2400" spc="-5" dirty="0">
                <a:solidFill>
                  <a:srgbClr val="B42C2C"/>
                </a:solidFill>
                <a:latin typeface="微软雅黑"/>
                <a:cs typeface="微软雅黑"/>
              </a:rPr>
              <a:t>入</a:t>
            </a: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：在</a:t>
            </a:r>
            <a:r>
              <a:rPr sz="2400" spc="305" dirty="0">
                <a:solidFill>
                  <a:srgbClr val="404040"/>
                </a:solidFill>
                <a:latin typeface="微软雅黑"/>
                <a:cs typeface="微软雅黑"/>
              </a:rPr>
              <a:t> </a:t>
            </a: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r>
              <a:rPr sz="2400" i="1" spc="4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中删除作</a:t>
            </a:r>
            <a:r>
              <a:rPr sz="2400" spc="-10" dirty="0">
                <a:solidFill>
                  <a:srgbClr val="404040"/>
                </a:solidFill>
                <a:latin typeface="微软雅黑"/>
                <a:cs typeface="微软雅黑"/>
              </a:rPr>
              <a:t>为</a:t>
            </a: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左</a:t>
            </a:r>
            <a:r>
              <a:rPr sz="2400" spc="-5" dirty="0">
                <a:solidFill>
                  <a:srgbClr val="404040"/>
                </a:solidFill>
                <a:latin typeface="微软雅黑"/>
                <a:cs typeface="微软雅黑"/>
              </a:rPr>
              <a:t>右</a:t>
            </a: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子树的两棵二叉</a:t>
            </a:r>
            <a:r>
              <a:rPr sz="2400" spc="-15" dirty="0">
                <a:solidFill>
                  <a:srgbClr val="404040"/>
                </a:solidFill>
                <a:latin typeface="微软雅黑"/>
                <a:cs typeface="微软雅黑"/>
              </a:rPr>
              <a:t>树</a:t>
            </a: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，并将新建立 的二叉树加入</a:t>
            </a:r>
            <a:r>
              <a:rPr sz="2400" spc="-15" dirty="0">
                <a:solidFill>
                  <a:srgbClr val="404040"/>
                </a:solidFill>
                <a:latin typeface="微软雅黑"/>
                <a:cs typeface="微软雅黑"/>
              </a:rPr>
              <a:t>到</a:t>
            </a:r>
            <a:r>
              <a:rPr sz="2400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中；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6991" y="813058"/>
            <a:ext cx="6418580" cy="1247140"/>
          </a:xfrm>
          <a:prstGeom prst="rect">
            <a:avLst/>
          </a:prstGeom>
        </p:spPr>
        <p:txBody>
          <a:bodyPr vert="horz" wrap="square" lIns="0" tIns="196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0"/>
              </a:spcBef>
            </a:pPr>
            <a:r>
              <a:rPr sz="2800" spc="-10" dirty="0">
                <a:solidFill>
                  <a:srgbClr val="B42C2C"/>
                </a:solidFill>
                <a:latin typeface="微软雅黑"/>
                <a:cs typeface="微软雅黑"/>
              </a:rPr>
              <a:t>【问题】</a:t>
            </a:r>
            <a:r>
              <a:rPr sz="2800" spc="-10" dirty="0">
                <a:solidFill>
                  <a:srgbClr val="404040"/>
                </a:solidFill>
                <a:latin typeface="微软雅黑"/>
                <a:cs typeface="微软雅黑"/>
              </a:rPr>
              <a:t>给定一组权值，构造最优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二</a:t>
            </a:r>
            <a:r>
              <a:rPr sz="2800" spc="-10" dirty="0">
                <a:solidFill>
                  <a:srgbClr val="404040"/>
                </a:solidFill>
                <a:latin typeface="微软雅黑"/>
                <a:cs typeface="微软雅黑"/>
              </a:rPr>
              <a:t>叉树</a:t>
            </a:r>
            <a:endParaRPr sz="2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2800" spc="-5" dirty="0">
                <a:solidFill>
                  <a:srgbClr val="B42C2C"/>
                </a:solidFill>
                <a:latin typeface="微软雅黑"/>
                <a:cs typeface="微软雅黑"/>
              </a:rPr>
              <a:t>【想法</a:t>
            </a:r>
            <a:r>
              <a:rPr sz="2800" spc="-5" dirty="0">
                <a:solidFill>
                  <a:srgbClr val="B42C2C"/>
                </a:solidFill>
                <a:latin typeface="Times New Roman"/>
                <a:cs typeface="Times New Roman"/>
              </a:rPr>
              <a:t>——</a:t>
            </a:r>
            <a:r>
              <a:rPr sz="2800" spc="-5" dirty="0">
                <a:solidFill>
                  <a:srgbClr val="B42C2C"/>
                </a:solidFill>
                <a:latin typeface="微软雅黑"/>
                <a:cs typeface="微软雅黑"/>
              </a:rPr>
              <a:t>哈夫曼算法的基本思想】</a:t>
            </a:r>
            <a:endParaRPr sz="280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370366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48643" y="2017267"/>
            <a:ext cx="152400" cy="25355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algn="just">
              <a:lnSpc>
                <a:spcPts val="1000"/>
              </a:lnSpc>
              <a:spcBef>
                <a:spcPts val="2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数 据 结 构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880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（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从 概 念 到 实 现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975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640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清 华 大 学 出 版 社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42925" y="100964"/>
            <a:ext cx="2376170" cy="540385"/>
          </a:xfrm>
          <a:custGeom>
            <a:avLst/>
            <a:gdLst/>
            <a:ahLst/>
            <a:cxnLst/>
            <a:rect l="l" t="t" r="r" b="b"/>
            <a:pathLst>
              <a:path w="2376170" h="540385">
                <a:moveTo>
                  <a:pt x="2286000" y="0"/>
                </a:moveTo>
                <a:lnTo>
                  <a:pt x="90004" y="0"/>
                </a:lnTo>
                <a:lnTo>
                  <a:pt x="54971" y="7068"/>
                </a:lnTo>
                <a:lnTo>
                  <a:pt x="26362" y="26352"/>
                </a:lnTo>
                <a:lnTo>
                  <a:pt x="7073" y="54971"/>
                </a:lnTo>
                <a:lnTo>
                  <a:pt x="0" y="90042"/>
                </a:lnTo>
                <a:lnTo>
                  <a:pt x="0" y="449960"/>
                </a:lnTo>
                <a:lnTo>
                  <a:pt x="7073" y="485032"/>
                </a:lnTo>
                <a:lnTo>
                  <a:pt x="26362" y="513651"/>
                </a:lnTo>
                <a:lnTo>
                  <a:pt x="54971" y="532935"/>
                </a:lnTo>
                <a:lnTo>
                  <a:pt x="90004" y="540003"/>
                </a:lnTo>
                <a:lnTo>
                  <a:pt x="2286000" y="540003"/>
                </a:lnTo>
                <a:lnTo>
                  <a:pt x="2321018" y="532935"/>
                </a:lnTo>
                <a:lnTo>
                  <a:pt x="2349642" y="513651"/>
                </a:lnTo>
                <a:lnTo>
                  <a:pt x="2368956" y="485032"/>
                </a:lnTo>
                <a:lnTo>
                  <a:pt x="2376043" y="449960"/>
                </a:lnTo>
                <a:lnTo>
                  <a:pt x="2376043" y="90042"/>
                </a:lnTo>
                <a:lnTo>
                  <a:pt x="2368956" y="54971"/>
                </a:lnTo>
                <a:lnTo>
                  <a:pt x="2349642" y="26352"/>
                </a:lnTo>
                <a:lnTo>
                  <a:pt x="2321018" y="7068"/>
                </a:lnTo>
                <a:lnTo>
                  <a:pt x="2286000" y="0"/>
                </a:lnTo>
                <a:close/>
              </a:path>
            </a:pathLst>
          </a:custGeom>
          <a:solidFill>
            <a:srgbClr val="5A31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6991" y="141809"/>
            <a:ext cx="206375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solidFill>
                  <a:schemeClr val="bg1"/>
                </a:solidFill>
              </a:rPr>
              <a:t>哈夫</a:t>
            </a:r>
            <a:r>
              <a:rPr sz="2800" spc="-10" dirty="0">
                <a:solidFill>
                  <a:schemeClr val="bg1"/>
                </a:solidFill>
              </a:rPr>
              <a:t>曼</a:t>
            </a:r>
            <a:r>
              <a:rPr sz="2800" spc="-5" dirty="0">
                <a:solidFill>
                  <a:schemeClr val="bg1"/>
                </a:solidFill>
              </a:rPr>
              <a:t>算</a:t>
            </a:r>
            <a:r>
              <a:rPr sz="2800" spc="-10" dirty="0">
                <a:solidFill>
                  <a:schemeClr val="bg1"/>
                </a:solidFill>
              </a:rPr>
              <a:t>法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88186" y="973581"/>
            <a:ext cx="35763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哈夫曼算法的运行实例</a:t>
            </a:r>
            <a:endParaRPr sz="2800">
              <a:latin typeface="微软雅黑"/>
              <a:cs typeface="微软雅黑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49109" y="1043813"/>
            <a:ext cx="8031480" cy="1829435"/>
            <a:chOff x="949109" y="1043813"/>
            <a:chExt cx="8031480" cy="182943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263" y="1043813"/>
              <a:ext cx="88112" cy="8039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49109" y="1117853"/>
              <a:ext cx="360045" cy="358140"/>
            </a:xfrm>
            <a:custGeom>
              <a:avLst/>
              <a:gdLst/>
              <a:ahLst/>
              <a:cxnLst/>
              <a:rect l="l" t="t" r="r" b="b"/>
              <a:pathLst>
                <a:path w="360044" h="358140">
                  <a:moveTo>
                    <a:pt x="62941" y="279019"/>
                  </a:moveTo>
                  <a:lnTo>
                    <a:pt x="60693" y="279019"/>
                  </a:lnTo>
                  <a:lnTo>
                    <a:pt x="43230" y="258178"/>
                  </a:lnTo>
                  <a:lnTo>
                    <a:pt x="28930" y="249212"/>
                  </a:lnTo>
                  <a:lnTo>
                    <a:pt x="19278" y="247345"/>
                  </a:lnTo>
                  <a:lnTo>
                    <a:pt x="15735" y="247777"/>
                  </a:lnTo>
                  <a:lnTo>
                    <a:pt x="8991" y="247777"/>
                  </a:lnTo>
                  <a:lnTo>
                    <a:pt x="0" y="316738"/>
                  </a:lnTo>
                  <a:lnTo>
                    <a:pt x="2247" y="316738"/>
                  </a:lnTo>
                  <a:lnTo>
                    <a:pt x="2247" y="319024"/>
                  </a:lnTo>
                  <a:lnTo>
                    <a:pt x="4495" y="319024"/>
                  </a:lnTo>
                  <a:lnTo>
                    <a:pt x="62941" y="279019"/>
                  </a:lnTo>
                  <a:close/>
                </a:path>
                <a:path w="360044" h="358140">
                  <a:moveTo>
                    <a:pt x="211467" y="33782"/>
                  </a:moveTo>
                  <a:lnTo>
                    <a:pt x="191833" y="22479"/>
                  </a:lnTo>
                  <a:lnTo>
                    <a:pt x="182130" y="16903"/>
                  </a:lnTo>
                  <a:lnTo>
                    <a:pt x="182130" y="33782"/>
                  </a:lnTo>
                  <a:lnTo>
                    <a:pt x="179870" y="38227"/>
                  </a:lnTo>
                  <a:lnTo>
                    <a:pt x="121196" y="137160"/>
                  </a:lnTo>
                  <a:lnTo>
                    <a:pt x="118935" y="141605"/>
                  </a:lnTo>
                  <a:lnTo>
                    <a:pt x="107645" y="141605"/>
                  </a:lnTo>
                  <a:lnTo>
                    <a:pt x="103136" y="139446"/>
                  </a:lnTo>
                  <a:lnTo>
                    <a:pt x="103136" y="132715"/>
                  </a:lnTo>
                  <a:lnTo>
                    <a:pt x="105397" y="128143"/>
                  </a:lnTo>
                  <a:lnTo>
                    <a:pt x="164071" y="29210"/>
                  </a:lnTo>
                  <a:lnTo>
                    <a:pt x="166331" y="24765"/>
                  </a:lnTo>
                  <a:lnTo>
                    <a:pt x="173101" y="22479"/>
                  </a:lnTo>
                  <a:lnTo>
                    <a:pt x="177622" y="24765"/>
                  </a:lnTo>
                  <a:lnTo>
                    <a:pt x="179870" y="29210"/>
                  </a:lnTo>
                  <a:lnTo>
                    <a:pt x="182130" y="33782"/>
                  </a:lnTo>
                  <a:lnTo>
                    <a:pt x="182130" y="16903"/>
                  </a:lnTo>
                  <a:lnTo>
                    <a:pt x="152793" y="0"/>
                  </a:lnTo>
                  <a:lnTo>
                    <a:pt x="150533" y="0"/>
                  </a:lnTo>
                  <a:lnTo>
                    <a:pt x="15113" y="229362"/>
                  </a:lnTo>
                  <a:lnTo>
                    <a:pt x="24625" y="230263"/>
                  </a:lnTo>
                  <a:lnTo>
                    <a:pt x="38798" y="234950"/>
                  </a:lnTo>
                  <a:lnTo>
                    <a:pt x="56362" y="246405"/>
                  </a:lnTo>
                  <a:lnTo>
                    <a:pt x="76047" y="267589"/>
                  </a:lnTo>
                  <a:lnTo>
                    <a:pt x="149733" y="141605"/>
                  </a:lnTo>
                  <a:lnTo>
                    <a:pt x="211467" y="36068"/>
                  </a:lnTo>
                  <a:lnTo>
                    <a:pt x="211467" y="33782"/>
                  </a:lnTo>
                  <a:close/>
                </a:path>
                <a:path w="360044" h="358140">
                  <a:moveTo>
                    <a:pt x="360006" y="179832"/>
                  </a:moveTo>
                  <a:lnTo>
                    <a:pt x="357720" y="175387"/>
                  </a:lnTo>
                  <a:lnTo>
                    <a:pt x="355434" y="170815"/>
                  </a:lnTo>
                  <a:lnTo>
                    <a:pt x="348703" y="170815"/>
                  </a:lnTo>
                  <a:lnTo>
                    <a:pt x="346417" y="173101"/>
                  </a:lnTo>
                  <a:lnTo>
                    <a:pt x="341972" y="175387"/>
                  </a:lnTo>
                  <a:lnTo>
                    <a:pt x="335241" y="179832"/>
                  </a:lnTo>
                  <a:lnTo>
                    <a:pt x="295135" y="206222"/>
                  </a:lnTo>
                  <a:lnTo>
                    <a:pt x="277342" y="228904"/>
                  </a:lnTo>
                  <a:lnTo>
                    <a:pt x="277380" y="240411"/>
                  </a:lnTo>
                  <a:lnTo>
                    <a:pt x="282067" y="249834"/>
                  </a:lnTo>
                  <a:lnTo>
                    <a:pt x="287820" y="256540"/>
                  </a:lnTo>
                  <a:lnTo>
                    <a:pt x="270116" y="262128"/>
                  </a:lnTo>
                  <a:lnTo>
                    <a:pt x="251155" y="265798"/>
                  </a:lnTo>
                  <a:lnTo>
                    <a:pt x="231343" y="268211"/>
                  </a:lnTo>
                  <a:lnTo>
                    <a:pt x="211112" y="270002"/>
                  </a:lnTo>
                  <a:lnTo>
                    <a:pt x="185407" y="271932"/>
                  </a:lnTo>
                  <a:lnTo>
                    <a:pt x="159499" y="275120"/>
                  </a:lnTo>
                  <a:lnTo>
                    <a:pt x="134023" y="280835"/>
                  </a:lnTo>
                  <a:lnTo>
                    <a:pt x="109601" y="290322"/>
                  </a:lnTo>
                  <a:lnTo>
                    <a:pt x="107340" y="290322"/>
                  </a:lnTo>
                  <a:lnTo>
                    <a:pt x="105092" y="292595"/>
                  </a:lnTo>
                  <a:lnTo>
                    <a:pt x="105079" y="297053"/>
                  </a:lnTo>
                  <a:lnTo>
                    <a:pt x="105537" y="308660"/>
                  </a:lnTo>
                  <a:lnTo>
                    <a:pt x="112128" y="317106"/>
                  </a:lnTo>
                  <a:lnTo>
                    <a:pt x="122529" y="323443"/>
                  </a:lnTo>
                  <a:lnTo>
                    <a:pt x="134416" y="328676"/>
                  </a:lnTo>
                  <a:lnTo>
                    <a:pt x="141173" y="330962"/>
                  </a:lnTo>
                  <a:lnTo>
                    <a:pt x="150202" y="335407"/>
                  </a:lnTo>
                  <a:lnTo>
                    <a:pt x="152463" y="337693"/>
                  </a:lnTo>
                  <a:lnTo>
                    <a:pt x="152463" y="339979"/>
                  </a:lnTo>
                  <a:lnTo>
                    <a:pt x="132156" y="339979"/>
                  </a:lnTo>
                  <a:lnTo>
                    <a:pt x="118618" y="339598"/>
                  </a:lnTo>
                  <a:lnTo>
                    <a:pt x="105079" y="338556"/>
                  </a:lnTo>
                  <a:lnTo>
                    <a:pt x="91541" y="337096"/>
                  </a:lnTo>
                  <a:lnTo>
                    <a:pt x="78016" y="335407"/>
                  </a:lnTo>
                  <a:lnTo>
                    <a:pt x="64122" y="332486"/>
                  </a:lnTo>
                  <a:lnTo>
                    <a:pt x="49809" y="330377"/>
                  </a:lnTo>
                  <a:lnTo>
                    <a:pt x="35496" y="329107"/>
                  </a:lnTo>
                  <a:lnTo>
                    <a:pt x="21615" y="328676"/>
                  </a:lnTo>
                  <a:lnTo>
                    <a:pt x="17106" y="328676"/>
                  </a:lnTo>
                  <a:lnTo>
                    <a:pt x="12585" y="333121"/>
                  </a:lnTo>
                  <a:lnTo>
                    <a:pt x="12585" y="342138"/>
                  </a:lnTo>
                  <a:lnTo>
                    <a:pt x="17106" y="346710"/>
                  </a:lnTo>
                  <a:lnTo>
                    <a:pt x="21615" y="346710"/>
                  </a:lnTo>
                  <a:lnTo>
                    <a:pt x="34823" y="347103"/>
                  </a:lnTo>
                  <a:lnTo>
                    <a:pt x="47828" y="348132"/>
                  </a:lnTo>
                  <a:lnTo>
                    <a:pt x="75755" y="351155"/>
                  </a:lnTo>
                  <a:lnTo>
                    <a:pt x="89636" y="354164"/>
                  </a:lnTo>
                  <a:lnTo>
                    <a:pt x="103949" y="356298"/>
                  </a:lnTo>
                  <a:lnTo>
                    <a:pt x="118262" y="357593"/>
                  </a:lnTo>
                  <a:lnTo>
                    <a:pt x="132156" y="358013"/>
                  </a:lnTo>
                  <a:lnTo>
                    <a:pt x="156972" y="358013"/>
                  </a:lnTo>
                  <a:lnTo>
                    <a:pt x="165989" y="355727"/>
                  </a:lnTo>
                  <a:lnTo>
                    <a:pt x="170510" y="348996"/>
                  </a:lnTo>
                  <a:lnTo>
                    <a:pt x="175018" y="339979"/>
                  </a:lnTo>
                  <a:lnTo>
                    <a:pt x="168249" y="330962"/>
                  </a:lnTo>
                  <a:lnTo>
                    <a:pt x="168249" y="328676"/>
                  </a:lnTo>
                  <a:lnTo>
                    <a:pt x="162750" y="322681"/>
                  </a:lnTo>
                  <a:lnTo>
                    <a:pt x="156400" y="317944"/>
                  </a:lnTo>
                  <a:lnTo>
                    <a:pt x="149212" y="314071"/>
                  </a:lnTo>
                  <a:lnTo>
                    <a:pt x="141173" y="310642"/>
                  </a:lnTo>
                  <a:lnTo>
                    <a:pt x="136664" y="310642"/>
                  </a:lnTo>
                  <a:lnTo>
                    <a:pt x="127647" y="306070"/>
                  </a:lnTo>
                  <a:lnTo>
                    <a:pt x="167398" y="292595"/>
                  </a:lnTo>
                  <a:lnTo>
                    <a:pt x="213372" y="288036"/>
                  </a:lnTo>
                  <a:lnTo>
                    <a:pt x="237020" y="284937"/>
                  </a:lnTo>
                  <a:lnTo>
                    <a:pt x="260451" y="281597"/>
                  </a:lnTo>
                  <a:lnTo>
                    <a:pt x="283476" y="276974"/>
                  </a:lnTo>
                  <a:lnTo>
                    <a:pt x="305866" y="270002"/>
                  </a:lnTo>
                  <a:lnTo>
                    <a:pt x="310375" y="270002"/>
                  </a:lnTo>
                  <a:lnTo>
                    <a:pt x="310375" y="267716"/>
                  </a:lnTo>
                  <a:lnTo>
                    <a:pt x="312623" y="265557"/>
                  </a:lnTo>
                  <a:lnTo>
                    <a:pt x="312623" y="256540"/>
                  </a:lnTo>
                  <a:lnTo>
                    <a:pt x="308114" y="251968"/>
                  </a:lnTo>
                  <a:lnTo>
                    <a:pt x="305866" y="247523"/>
                  </a:lnTo>
                  <a:lnTo>
                    <a:pt x="301345" y="245237"/>
                  </a:lnTo>
                  <a:lnTo>
                    <a:pt x="292328" y="233934"/>
                  </a:lnTo>
                  <a:lnTo>
                    <a:pt x="299097" y="227203"/>
                  </a:lnTo>
                  <a:lnTo>
                    <a:pt x="307340" y="219125"/>
                  </a:lnTo>
                  <a:lnTo>
                    <a:pt x="317715" y="211683"/>
                  </a:lnTo>
                  <a:lnTo>
                    <a:pt x="339686" y="197866"/>
                  </a:lnTo>
                  <a:lnTo>
                    <a:pt x="346417" y="193421"/>
                  </a:lnTo>
                  <a:lnTo>
                    <a:pt x="350989" y="191135"/>
                  </a:lnTo>
                  <a:lnTo>
                    <a:pt x="355434" y="188849"/>
                  </a:lnTo>
                  <a:lnTo>
                    <a:pt x="360006" y="184404"/>
                  </a:lnTo>
                  <a:lnTo>
                    <a:pt x="360006" y="179832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68035" y="2441193"/>
              <a:ext cx="2477770" cy="432434"/>
            </a:xfrm>
            <a:custGeom>
              <a:avLst/>
              <a:gdLst/>
              <a:ahLst/>
              <a:cxnLst/>
              <a:rect l="l" t="t" r="r" b="b"/>
              <a:pathLst>
                <a:path w="2477770" h="432435">
                  <a:moveTo>
                    <a:pt x="171450" y="171450"/>
                  </a:moveTo>
                  <a:lnTo>
                    <a:pt x="142875" y="114300"/>
                  </a:lnTo>
                  <a:lnTo>
                    <a:pt x="85725" y="0"/>
                  </a:lnTo>
                  <a:lnTo>
                    <a:pt x="0" y="171450"/>
                  </a:lnTo>
                  <a:lnTo>
                    <a:pt x="57150" y="133350"/>
                  </a:lnTo>
                  <a:lnTo>
                    <a:pt x="57150" y="421767"/>
                  </a:lnTo>
                  <a:lnTo>
                    <a:pt x="114300" y="421767"/>
                  </a:lnTo>
                  <a:lnTo>
                    <a:pt x="114300" y="133350"/>
                  </a:lnTo>
                  <a:lnTo>
                    <a:pt x="171450" y="171450"/>
                  </a:lnTo>
                  <a:close/>
                </a:path>
                <a:path w="2477770" h="432435">
                  <a:moveTo>
                    <a:pt x="2477389" y="181864"/>
                  </a:moveTo>
                  <a:lnTo>
                    <a:pt x="2448814" y="124714"/>
                  </a:lnTo>
                  <a:lnTo>
                    <a:pt x="2391664" y="10414"/>
                  </a:lnTo>
                  <a:lnTo>
                    <a:pt x="2305939" y="181864"/>
                  </a:lnTo>
                  <a:lnTo>
                    <a:pt x="2363089" y="143764"/>
                  </a:lnTo>
                  <a:lnTo>
                    <a:pt x="2363089" y="432054"/>
                  </a:lnTo>
                  <a:lnTo>
                    <a:pt x="2420239" y="432054"/>
                  </a:lnTo>
                  <a:lnTo>
                    <a:pt x="2420239" y="143764"/>
                  </a:lnTo>
                  <a:lnTo>
                    <a:pt x="2477389" y="181864"/>
                  </a:lnTo>
                  <a:close/>
                </a:path>
              </a:pathLst>
            </a:custGeom>
            <a:solidFill>
              <a:srgbClr val="285A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59451" y="1785112"/>
              <a:ext cx="3702050" cy="583565"/>
            </a:xfrm>
            <a:custGeom>
              <a:avLst/>
              <a:gdLst/>
              <a:ahLst/>
              <a:cxnLst/>
              <a:rect l="l" t="t" r="r" b="b"/>
              <a:pathLst>
                <a:path w="3702050" h="583564">
                  <a:moveTo>
                    <a:pt x="179959" y="583311"/>
                  </a:moveTo>
                  <a:lnTo>
                    <a:pt x="144887" y="579520"/>
                  </a:lnTo>
                  <a:lnTo>
                    <a:pt x="116268" y="569182"/>
                  </a:lnTo>
                  <a:lnTo>
                    <a:pt x="96984" y="553843"/>
                  </a:lnTo>
                  <a:lnTo>
                    <a:pt x="89915" y="535051"/>
                  </a:lnTo>
                  <a:lnTo>
                    <a:pt x="89915" y="361696"/>
                  </a:lnTo>
                  <a:lnTo>
                    <a:pt x="82849" y="342903"/>
                  </a:lnTo>
                  <a:lnTo>
                    <a:pt x="63579" y="327564"/>
                  </a:lnTo>
                  <a:lnTo>
                    <a:pt x="34998" y="317226"/>
                  </a:lnTo>
                  <a:lnTo>
                    <a:pt x="0" y="313436"/>
                  </a:lnTo>
                  <a:lnTo>
                    <a:pt x="34998" y="309625"/>
                  </a:lnTo>
                  <a:lnTo>
                    <a:pt x="63579" y="299243"/>
                  </a:lnTo>
                  <a:lnTo>
                    <a:pt x="82849" y="283860"/>
                  </a:lnTo>
                  <a:lnTo>
                    <a:pt x="89915" y="265049"/>
                  </a:lnTo>
                  <a:lnTo>
                    <a:pt x="89915" y="91693"/>
                  </a:lnTo>
                  <a:lnTo>
                    <a:pt x="96984" y="72901"/>
                  </a:lnTo>
                  <a:lnTo>
                    <a:pt x="116268" y="57562"/>
                  </a:lnTo>
                  <a:lnTo>
                    <a:pt x="144887" y="47224"/>
                  </a:lnTo>
                  <a:lnTo>
                    <a:pt x="179959" y="43434"/>
                  </a:lnTo>
                </a:path>
                <a:path w="3702050" h="583564">
                  <a:moveTo>
                    <a:pt x="3521964" y="0"/>
                  </a:moveTo>
                  <a:lnTo>
                    <a:pt x="3557035" y="3790"/>
                  </a:lnTo>
                  <a:lnTo>
                    <a:pt x="3585654" y="14128"/>
                  </a:lnTo>
                  <a:lnTo>
                    <a:pt x="3604938" y="29467"/>
                  </a:lnTo>
                  <a:lnTo>
                    <a:pt x="3612006" y="48260"/>
                  </a:lnTo>
                  <a:lnTo>
                    <a:pt x="3612006" y="221614"/>
                  </a:lnTo>
                  <a:lnTo>
                    <a:pt x="3619075" y="240426"/>
                  </a:lnTo>
                  <a:lnTo>
                    <a:pt x="3638359" y="255809"/>
                  </a:lnTo>
                  <a:lnTo>
                    <a:pt x="3666978" y="266191"/>
                  </a:lnTo>
                  <a:lnTo>
                    <a:pt x="3702050" y="270001"/>
                  </a:lnTo>
                  <a:lnTo>
                    <a:pt x="3666978" y="273792"/>
                  </a:lnTo>
                  <a:lnTo>
                    <a:pt x="3638359" y="284130"/>
                  </a:lnTo>
                  <a:lnTo>
                    <a:pt x="3619075" y="299469"/>
                  </a:lnTo>
                  <a:lnTo>
                    <a:pt x="3612006" y="318262"/>
                  </a:lnTo>
                  <a:lnTo>
                    <a:pt x="3612006" y="491616"/>
                  </a:lnTo>
                  <a:lnTo>
                    <a:pt x="3604938" y="510428"/>
                  </a:lnTo>
                  <a:lnTo>
                    <a:pt x="3585654" y="525811"/>
                  </a:lnTo>
                  <a:lnTo>
                    <a:pt x="3557035" y="536193"/>
                  </a:lnTo>
                  <a:lnTo>
                    <a:pt x="3521964" y="540003"/>
                  </a:lnTo>
                </a:path>
              </a:pathLst>
            </a:custGeom>
            <a:ln w="38100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44464" y="1888871"/>
              <a:ext cx="2717165" cy="432434"/>
            </a:xfrm>
            <a:custGeom>
              <a:avLst/>
              <a:gdLst/>
              <a:ahLst/>
              <a:cxnLst/>
              <a:rect l="l" t="t" r="r" b="b"/>
              <a:pathLst>
                <a:path w="2717165" h="432435">
                  <a:moveTo>
                    <a:pt x="0" y="215900"/>
                  </a:moveTo>
                  <a:lnTo>
                    <a:pt x="5708" y="166391"/>
                  </a:lnTo>
                  <a:lnTo>
                    <a:pt x="21966" y="120946"/>
                  </a:lnTo>
                  <a:lnTo>
                    <a:pt x="47476" y="80859"/>
                  </a:lnTo>
                  <a:lnTo>
                    <a:pt x="80936" y="47426"/>
                  </a:lnTo>
                  <a:lnTo>
                    <a:pt x="121048" y="21941"/>
                  </a:lnTo>
                  <a:lnTo>
                    <a:pt x="166511" y="5701"/>
                  </a:lnTo>
                  <a:lnTo>
                    <a:pt x="216026" y="0"/>
                  </a:lnTo>
                  <a:lnTo>
                    <a:pt x="265542" y="5701"/>
                  </a:lnTo>
                  <a:lnTo>
                    <a:pt x="311005" y="21941"/>
                  </a:lnTo>
                  <a:lnTo>
                    <a:pt x="351117" y="47426"/>
                  </a:lnTo>
                  <a:lnTo>
                    <a:pt x="384577" y="80859"/>
                  </a:lnTo>
                  <a:lnTo>
                    <a:pt x="410087" y="120946"/>
                  </a:lnTo>
                  <a:lnTo>
                    <a:pt x="426345" y="166391"/>
                  </a:lnTo>
                  <a:lnTo>
                    <a:pt x="432053" y="215900"/>
                  </a:lnTo>
                  <a:lnTo>
                    <a:pt x="426345" y="265455"/>
                  </a:lnTo>
                  <a:lnTo>
                    <a:pt x="410087" y="310934"/>
                  </a:lnTo>
                  <a:lnTo>
                    <a:pt x="384577" y="351043"/>
                  </a:lnTo>
                  <a:lnTo>
                    <a:pt x="351117" y="384490"/>
                  </a:lnTo>
                  <a:lnTo>
                    <a:pt x="311005" y="409982"/>
                  </a:lnTo>
                  <a:lnTo>
                    <a:pt x="265542" y="426225"/>
                  </a:lnTo>
                  <a:lnTo>
                    <a:pt x="216026" y="431926"/>
                  </a:lnTo>
                  <a:lnTo>
                    <a:pt x="166511" y="426225"/>
                  </a:lnTo>
                  <a:lnTo>
                    <a:pt x="121048" y="409982"/>
                  </a:lnTo>
                  <a:lnTo>
                    <a:pt x="80936" y="384490"/>
                  </a:lnTo>
                  <a:lnTo>
                    <a:pt x="47476" y="351043"/>
                  </a:lnTo>
                  <a:lnTo>
                    <a:pt x="21966" y="310934"/>
                  </a:lnTo>
                  <a:lnTo>
                    <a:pt x="5708" y="265455"/>
                  </a:lnTo>
                  <a:lnTo>
                    <a:pt x="0" y="215900"/>
                  </a:lnTo>
                  <a:close/>
                </a:path>
                <a:path w="2717165" h="432435">
                  <a:moveTo>
                    <a:pt x="751459" y="215900"/>
                  </a:moveTo>
                  <a:lnTo>
                    <a:pt x="757167" y="166391"/>
                  </a:lnTo>
                  <a:lnTo>
                    <a:pt x="773425" y="120946"/>
                  </a:lnTo>
                  <a:lnTo>
                    <a:pt x="798935" y="80859"/>
                  </a:lnTo>
                  <a:lnTo>
                    <a:pt x="832395" y="47426"/>
                  </a:lnTo>
                  <a:lnTo>
                    <a:pt x="872507" y="21941"/>
                  </a:lnTo>
                  <a:lnTo>
                    <a:pt x="917970" y="5701"/>
                  </a:lnTo>
                  <a:lnTo>
                    <a:pt x="967486" y="0"/>
                  </a:lnTo>
                  <a:lnTo>
                    <a:pt x="1017041" y="5701"/>
                  </a:lnTo>
                  <a:lnTo>
                    <a:pt x="1062520" y="21941"/>
                  </a:lnTo>
                  <a:lnTo>
                    <a:pt x="1102629" y="47426"/>
                  </a:lnTo>
                  <a:lnTo>
                    <a:pt x="1136076" y="80859"/>
                  </a:lnTo>
                  <a:lnTo>
                    <a:pt x="1161568" y="120946"/>
                  </a:lnTo>
                  <a:lnTo>
                    <a:pt x="1177811" y="166391"/>
                  </a:lnTo>
                  <a:lnTo>
                    <a:pt x="1183513" y="215900"/>
                  </a:lnTo>
                  <a:lnTo>
                    <a:pt x="1177811" y="265455"/>
                  </a:lnTo>
                  <a:lnTo>
                    <a:pt x="1161568" y="310934"/>
                  </a:lnTo>
                  <a:lnTo>
                    <a:pt x="1136076" y="351043"/>
                  </a:lnTo>
                  <a:lnTo>
                    <a:pt x="1102629" y="384490"/>
                  </a:lnTo>
                  <a:lnTo>
                    <a:pt x="1062520" y="409982"/>
                  </a:lnTo>
                  <a:lnTo>
                    <a:pt x="1017041" y="426225"/>
                  </a:lnTo>
                  <a:lnTo>
                    <a:pt x="967486" y="431926"/>
                  </a:lnTo>
                  <a:lnTo>
                    <a:pt x="917970" y="426225"/>
                  </a:lnTo>
                  <a:lnTo>
                    <a:pt x="872507" y="409982"/>
                  </a:lnTo>
                  <a:lnTo>
                    <a:pt x="832395" y="384490"/>
                  </a:lnTo>
                  <a:lnTo>
                    <a:pt x="798935" y="351043"/>
                  </a:lnTo>
                  <a:lnTo>
                    <a:pt x="773425" y="310934"/>
                  </a:lnTo>
                  <a:lnTo>
                    <a:pt x="757167" y="265455"/>
                  </a:lnTo>
                  <a:lnTo>
                    <a:pt x="751459" y="215900"/>
                  </a:lnTo>
                  <a:close/>
                </a:path>
                <a:path w="2717165" h="432435">
                  <a:moveTo>
                    <a:pt x="1518285" y="215900"/>
                  </a:moveTo>
                  <a:lnTo>
                    <a:pt x="1523986" y="166391"/>
                  </a:lnTo>
                  <a:lnTo>
                    <a:pt x="1540229" y="120946"/>
                  </a:lnTo>
                  <a:lnTo>
                    <a:pt x="1565721" y="80859"/>
                  </a:lnTo>
                  <a:lnTo>
                    <a:pt x="1599168" y="47426"/>
                  </a:lnTo>
                  <a:lnTo>
                    <a:pt x="1639277" y="21941"/>
                  </a:lnTo>
                  <a:lnTo>
                    <a:pt x="1684756" y="5701"/>
                  </a:lnTo>
                  <a:lnTo>
                    <a:pt x="1734312" y="0"/>
                  </a:lnTo>
                  <a:lnTo>
                    <a:pt x="1783820" y="5701"/>
                  </a:lnTo>
                  <a:lnTo>
                    <a:pt x="1829265" y="21941"/>
                  </a:lnTo>
                  <a:lnTo>
                    <a:pt x="1869352" y="47426"/>
                  </a:lnTo>
                  <a:lnTo>
                    <a:pt x="1902785" y="80859"/>
                  </a:lnTo>
                  <a:lnTo>
                    <a:pt x="1928270" y="120946"/>
                  </a:lnTo>
                  <a:lnTo>
                    <a:pt x="1944510" y="166391"/>
                  </a:lnTo>
                  <a:lnTo>
                    <a:pt x="1950212" y="215900"/>
                  </a:lnTo>
                  <a:lnTo>
                    <a:pt x="1944510" y="265455"/>
                  </a:lnTo>
                  <a:lnTo>
                    <a:pt x="1928270" y="310934"/>
                  </a:lnTo>
                  <a:lnTo>
                    <a:pt x="1902785" y="351043"/>
                  </a:lnTo>
                  <a:lnTo>
                    <a:pt x="1869352" y="384490"/>
                  </a:lnTo>
                  <a:lnTo>
                    <a:pt x="1829265" y="409982"/>
                  </a:lnTo>
                  <a:lnTo>
                    <a:pt x="1783820" y="426225"/>
                  </a:lnTo>
                  <a:lnTo>
                    <a:pt x="1734312" y="431926"/>
                  </a:lnTo>
                  <a:lnTo>
                    <a:pt x="1684756" y="426225"/>
                  </a:lnTo>
                  <a:lnTo>
                    <a:pt x="1639277" y="409982"/>
                  </a:lnTo>
                  <a:lnTo>
                    <a:pt x="1599168" y="384490"/>
                  </a:lnTo>
                  <a:lnTo>
                    <a:pt x="1565721" y="351043"/>
                  </a:lnTo>
                  <a:lnTo>
                    <a:pt x="1540229" y="310934"/>
                  </a:lnTo>
                  <a:lnTo>
                    <a:pt x="1523986" y="265455"/>
                  </a:lnTo>
                  <a:lnTo>
                    <a:pt x="1518285" y="215900"/>
                  </a:lnTo>
                  <a:close/>
                </a:path>
                <a:path w="2717165" h="432435">
                  <a:moveTo>
                    <a:pt x="2284984" y="215900"/>
                  </a:moveTo>
                  <a:lnTo>
                    <a:pt x="2290685" y="166391"/>
                  </a:lnTo>
                  <a:lnTo>
                    <a:pt x="2306928" y="120946"/>
                  </a:lnTo>
                  <a:lnTo>
                    <a:pt x="2332420" y="80859"/>
                  </a:lnTo>
                  <a:lnTo>
                    <a:pt x="2365867" y="47426"/>
                  </a:lnTo>
                  <a:lnTo>
                    <a:pt x="2405976" y="21941"/>
                  </a:lnTo>
                  <a:lnTo>
                    <a:pt x="2451455" y="5701"/>
                  </a:lnTo>
                  <a:lnTo>
                    <a:pt x="2501011" y="0"/>
                  </a:lnTo>
                  <a:lnTo>
                    <a:pt x="2550526" y="5701"/>
                  </a:lnTo>
                  <a:lnTo>
                    <a:pt x="2595989" y="21941"/>
                  </a:lnTo>
                  <a:lnTo>
                    <a:pt x="2636101" y="47426"/>
                  </a:lnTo>
                  <a:lnTo>
                    <a:pt x="2669561" y="80859"/>
                  </a:lnTo>
                  <a:lnTo>
                    <a:pt x="2695071" y="120946"/>
                  </a:lnTo>
                  <a:lnTo>
                    <a:pt x="2711329" y="166391"/>
                  </a:lnTo>
                  <a:lnTo>
                    <a:pt x="2717038" y="215900"/>
                  </a:lnTo>
                  <a:lnTo>
                    <a:pt x="2711329" y="265455"/>
                  </a:lnTo>
                  <a:lnTo>
                    <a:pt x="2695071" y="310934"/>
                  </a:lnTo>
                  <a:lnTo>
                    <a:pt x="2669561" y="351043"/>
                  </a:lnTo>
                  <a:lnTo>
                    <a:pt x="2636101" y="384490"/>
                  </a:lnTo>
                  <a:lnTo>
                    <a:pt x="2595989" y="409982"/>
                  </a:lnTo>
                  <a:lnTo>
                    <a:pt x="2550526" y="426225"/>
                  </a:lnTo>
                  <a:lnTo>
                    <a:pt x="2501011" y="431926"/>
                  </a:lnTo>
                  <a:lnTo>
                    <a:pt x="2451455" y="426225"/>
                  </a:lnTo>
                  <a:lnTo>
                    <a:pt x="2405976" y="409982"/>
                  </a:lnTo>
                  <a:lnTo>
                    <a:pt x="2365867" y="384490"/>
                  </a:lnTo>
                  <a:lnTo>
                    <a:pt x="2332420" y="351043"/>
                  </a:lnTo>
                  <a:lnTo>
                    <a:pt x="2306928" y="310934"/>
                  </a:lnTo>
                  <a:lnTo>
                    <a:pt x="2290685" y="265455"/>
                  </a:lnTo>
                  <a:lnTo>
                    <a:pt x="2284984" y="215900"/>
                  </a:lnTo>
                  <a:close/>
                </a:path>
              </a:pathLst>
            </a:custGeom>
            <a:ln w="28575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251955" y="952652"/>
            <a:ext cx="5163185" cy="523240"/>
          </a:xfrm>
          <a:prstGeom prst="rect">
            <a:avLst/>
          </a:prstGeom>
          <a:ln w="9525">
            <a:solidFill>
              <a:srgbClr val="5A317C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95"/>
              </a:spcBef>
              <a:tabLst>
                <a:tab pos="623570" algn="l"/>
              </a:tabLst>
            </a:pPr>
            <a:r>
              <a:rPr sz="2800" spc="-5" dirty="0">
                <a:solidFill>
                  <a:srgbClr val="5A317C"/>
                </a:solidFill>
                <a:latin typeface="微软雅黑"/>
                <a:cs typeface="微软雅黑"/>
              </a:rPr>
              <a:t>例	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给定权值集合</a:t>
            </a:r>
            <a:r>
              <a:rPr sz="2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{2</a:t>
            </a:r>
            <a:r>
              <a:rPr sz="2800" b="1" spc="-5" dirty="0">
                <a:solidFill>
                  <a:srgbClr val="404040"/>
                </a:solidFill>
                <a:latin typeface="宋体"/>
                <a:cs typeface="宋体"/>
              </a:rPr>
              <a:t>，</a:t>
            </a:r>
            <a:r>
              <a:rPr sz="2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4</a:t>
            </a:r>
            <a:r>
              <a:rPr sz="2800" b="1" spc="-5" dirty="0">
                <a:solidFill>
                  <a:srgbClr val="404040"/>
                </a:solidFill>
                <a:latin typeface="宋体"/>
                <a:cs typeface="宋体"/>
              </a:rPr>
              <a:t>，</a:t>
            </a:r>
            <a:r>
              <a:rPr sz="2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5 </a:t>
            </a:r>
            <a:r>
              <a:rPr sz="2800" b="1" spc="-5" dirty="0">
                <a:solidFill>
                  <a:srgbClr val="404040"/>
                </a:solidFill>
                <a:latin typeface="宋体"/>
                <a:cs typeface="宋体"/>
              </a:rPr>
              <a:t>，</a:t>
            </a:r>
            <a:r>
              <a:rPr sz="2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3}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94129" y="1855978"/>
            <a:ext cx="939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初始化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94129" y="3069463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选取与合并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94129" y="4764989"/>
            <a:ext cx="15494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微软雅黑"/>
                <a:cs typeface="微软雅黑"/>
              </a:rPr>
              <a:t>删除与加入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872353" y="1880361"/>
            <a:ext cx="2463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3905" algn="l"/>
                <a:tab pos="1530350" algn="l"/>
                <a:tab pos="2297430" algn="l"/>
              </a:tabLst>
            </a:pPr>
            <a:r>
              <a:rPr sz="2400" dirty="0">
                <a:latin typeface="Times New Roman"/>
                <a:cs typeface="Times New Roman"/>
              </a:rPr>
              <a:t>2	4	5	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236208" y="3844671"/>
            <a:ext cx="1183640" cy="432434"/>
          </a:xfrm>
          <a:custGeom>
            <a:avLst/>
            <a:gdLst/>
            <a:ahLst/>
            <a:cxnLst/>
            <a:rect l="l" t="t" r="r" b="b"/>
            <a:pathLst>
              <a:path w="1183640" h="432435">
                <a:moveTo>
                  <a:pt x="0" y="216026"/>
                </a:moveTo>
                <a:lnTo>
                  <a:pt x="5708" y="166511"/>
                </a:lnTo>
                <a:lnTo>
                  <a:pt x="21966" y="121048"/>
                </a:lnTo>
                <a:lnTo>
                  <a:pt x="47476" y="80936"/>
                </a:lnTo>
                <a:lnTo>
                  <a:pt x="80936" y="47476"/>
                </a:lnTo>
                <a:lnTo>
                  <a:pt x="121048" y="21966"/>
                </a:lnTo>
                <a:lnTo>
                  <a:pt x="166511" y="5708"/>
                </a:lnTo>
                <a:lnTo>
                  <a:pt x="216026" y="0"/>
                </a:lnTo>
                <a:lnTo>
                  <a:pt x="265542" y="5708"/>
                </a:lnTo>
                <a:lnTo>
                  <a:pt x="311005" y="21966"/>
                </a:lnTo>
                <a:lnTo>
                  <a:pt x="351117" y="47476"/>
                </a:lnTo>
                <a:lnTo>
                  <a:pt x="384577" y="80936"/>
                </a:lnTo>
                <a:lnTo>
                  <a:pt x="410087" y="121048"/>
                </a:lnTo>
                <a:lnTo>
                  <a:pt x="426345" y="166511"/>
                </a:lnTo>
                <a:lnTo>
                  <a:pt x="432053" y="216026"/>
                </a:lnTo>
                <a:lnTo>
                  <a:pt x="426345" y="265582"/>
                </a:lnTo>
                <a:lnTo>
                  <a:pt x="410087" y="311061"/>
                </a:lnTo>
                <a:lnTo>
                  <a:pt x="384577" y="351170"/>
                </a:lnTo>
                <a:lnTo>
                  <a:pt x="351117" y="384617"/>
                </a:lnTo>
                <a:lnTo>
                  <a:pt x="311005" y="410109"/>
                </a:lnTo>
                <a:lnTo>
                  <a:pt x="265542" y="426352"/>
                </a:lnTo>
                <a:lnTo>
                  <a:pt x="216026" y="432053"/>
                </a:lnTo>
                <a:lnTo>
                  <a:pt x="166511" y="426352"/>
                </a:lnTo>
                <a:lnTo>
                  <a:pt x="121048" y="410109"/>
                </a:lnTo>
                <a:lnTo>
                  <a:pt x="80936" y="384617"/>
                </a:lnTo>
                <a:lnTo>
                  <a:pt x="47476" y="351170"/>
                </a:lnTo>
                <a:lnTo>
                  <a:pt x="21966" y="311061"/>
                </a:lnTo>
                <a:lnTo>
                  <a:pt x="5708" y="265582"/>
                </a:lnTo>
                <a:lnTo>
                  <a:pt x="0" y="216026"/>
                </a:lnTo>
                <a:close/>
              </a:path>
              <a:path w="1183640" h="432435">
                <a:moveTo>
                  <a:pt x="751586" y="216026"/>
                </a:moveTo>
                <a:lnTo>
                  <a:pt x="757287" y="166511"/>
                </a:lnTo>
                <a:lnTo>
                  <a:pt x="773527" y="121048"/>
                </a:lnTo>
                <a:lnTo>
                  <a:pt x="799012" y="80936"/>
                </a:lnTo>
                <a:lnTo>
                  <a:pt x="832445" y="47476"/>
                </a:lnTo>
                <a:lnTo>
                  <a:pt x="872532" y="21966"/>
                </a:lnTo>
                <a:lnTo>
                  <a:pt x="917977" y="5708"/>
                </a:lnTo>
                <a:lnTo>
                  <a:pt x="967486" y="0"/>
                </a:lnTo>
                <a:lnTo>
                  <a:pt x="1017041" y="5708"/>
                </a:lnTo>
                <a:lnTo>
                  <a:pt x="1062520" y="21966"/>
                </a:lnTo>
                <a:lnTo>
                  <a:pt x="1102629" y="47476"/>
                </a:lnTo>
                <a:lnTo>
                  <a:pt x="1136076" y="80936"/>
                </a:lnTo>
                <a:lnTo>
                  <a:pt x="1161568" y="121048"/>
                </a:lnTo>
                <a:lnTo>
                  <a:pt x="1177811" y="166511"/>
                </a:lnTo>
                <a:lnTo>
                  <a:pt x="1183513" y="216026"/>
                </a:lnTo>
                <a:lnTo>
                  <a:pt x="1177811" y="265582"/>
                </a:lnTo>
                <a:lnTo>
                  <a:pt x="1161568" y="311061"/>
                </a:lnTo>
                <a:lnTo>
                  <a:pt x="1136076" y="351170"/>
                </a:lnTo>
                <a:lnTo>
                  <a:pt x="1102629" y="384617"/>
                </a:lnTo>
                <a:lnTo>
                  <a:pt x="1062520" y="410109"/>
                </a:lnTo>
                <a:lnTo>
                  <a:pt x="1017041" y="426352"/>
                </a:lnTo>
                <a:lnTo>
                  <a:pt x="967486" y="432053"/>
                </a:lnTo>
                <a:lnTo>
                  <a:pt x="917977" y="426352"/>
                </a:lnTo>
                <a:lnTo>
                  <a:pt x="872532" y="410109"/>
                </a:lnTo>
                <a:lnTo>
                  <a:pt x="832445" y="384617"/>
                </a:lnTo>
                <a:lnTo>
                  <a:pt x="799012" y="351170"/>
                </a:lnTo>
                <a:lnTo>
                  <a:pt x="773527" y="311061"/>
                </a:lnTo>
                <a:lnTo>
                  <a:pt x="757287" y="265582"/>
                </a:lnTo>
                <a:lnTo>
                  <a:pt x="751586" y="216026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363970" y="3836670"/>
            <a:ext cx="929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3905" algn="l"/>
              </a:tabLst>
            </a:pPr>
            <a:r>
              <a:rPr sz="2400" dirty="0">
                <a:latin typeface="Times New Roman"/>
                <a:cs typeface="Times New Roman"/>
              </a:rPr>
              <a:t>2	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543929" y="3427984"/>
            <a:ext cx="611505" cy="436880"/>
          </a:xfrm>
          <a:custGeom>
            <a:avLst/>
            <a:gdLst/>
            <a:ahLst/>
            <a:cxnLst/>
            <a:rect l="l" t="t" r="r" b="b"/>
            <a:pathLst>
              <a:path w="611504" h="436879">
                <a:moveTo>
                  <a:pt x="0" y="431926"/>
                </a:moveTo>
                <a:lnTo>
                  <a:pt x="243077" y="0"/>
                </a:lnTo>
              </a:path>
              <a:path w="611504" h="436879">
                <a:moveTo>
                  <a:pt x="368426" y="4571"/>
                </a:moveTo>
                <a:lnTo>
                  <a:pt x="611504" y="436498"/>
                </a:lnTo>
              </a:path>
            </a:pathLst>
          </a:custGeom>
          <a:ln w="28575">
            <a:solidFill>
              <a:srgbClr val="285A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576568" y="2994088"/>
            <a:ext cx="546100" cy="449580"/>
          </a:xfrm>
          <a:prstGeom prst="rect">
            <a:avLst/>
          </a:prstGeom>
          <a:ln w="28575">
            <a:solidFill>
              <a:srgbClr val="B42C2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7800">
              <a:lnSpc>
                <a:spcPts val="3350"/>
              </a:lnSpc>
            </a:pPr>
            <a:r>
              <a:rPr sz="2800" b="1" spc="-5" dirty="0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196078" y="4488815"/>
            <a:ext cx="3740150" cy="621665"/>
            <a:chOff x="5196078" y="4488815"/>
            <a:chExt cx="3740150" cy="621665"/>
          </a:xfrm>
        </p:grpSpPr>
        <p:sp>
          <p:nvSpPr>
            <p:cNvPr id="22" name="object 22"/>
            <p:cNvSpPr/>
            <p:nvPr/>
          </p:nvSpPr>
          <p:spPr>
            <a:xfrm>
              <a:off x="5215128" y="4507865"/>
              <a:ext cx="3702050" cy="583565"/>
            </a:xfrm>
            <a:custGeom>
              <a:avLst/>
              <a:gdLst/>
              <a:ahLst/>
              <a:cxnLst/>
              <a:rect l="l" t="t" r="r" b="b"/>
              <a:pathLst>
                <a:path w="3702050" h="583564">
                  <a:moveTo>
                    <a:pt x="179959" y="583311"/>
                  </a:moveTo>
                  <a:lnTo>
                    <a:pt x="144960" y="579520"/>
                  </a:lnTo>
                  <a:lnTo>
                    <a:pt x="116379" y="569182"/>
                  </a:lnTo>
                  <a:lnTo>
                    <a:pt x="97109" y="553843"/>
                  </a:lnTo>
                  <a:lnTo>
                    <a:pt x="90043" y="535051"/>
                  </a:lnTo>
                  <a:lnTo>
                    <a:pt x="90043" y="361696"/>
                  </a:lnTo>
                  <a:lnTo>
                    <a:pt x="82956" y="342884"/>
                  </a:lnTo>
                  <a:lnTo>
                    <a:pt x="63642" y="327501"/>
                  </a:lnTo>
                  <a:lnTo>
                    <a:pt x="35018" y="317119"/>
                  </a:lnTo>
                  <a:lnTo>
                    <a:pt x="0" y="313309"/>
                  </a:lnTo>
                  <a:lnTo>
                    <a:pt x="35018" y="309518"/>
                  </a:lnTo>
                  <a:lnTo>
                    <a:pt x="63642" y="299180"/>
                  </a:lnTo>
                  <a:lnTo>
                    <a:pt x="82956" y="283841"/>
                  </a:lnTo>
                  <a:lnTo>
                    <a:pt x="90043" y="265049"/>
                  </a:lnTo>
                  <a:lnTo>
                    <a:pt x="90043" y="91693"/>
                  </a:lnTo>
                  <a:lnTo>
                    <a:pt x="97109" y="72882"/>
                  </a:lnTo>
                  <a:lnTo>
                    <a:pt x="116379" y="57499"/>
                  </a:lnTo>
                  <a:lnTo>
                    <a:pt x="144960" y="47117"/>
                  </a:lnTo>
                  <a:lnTo>
                    <a:pt x="179959" y="43307"/>
                  </a:lnTo>
                </a:path>
                <a:path w="3702050" h="583564">
                  <a:moveTo>
                    <a:pt x="3522091" y="0"/>
                  </a:moveTo>
                  <a:lnTo>
                    <a:pt x="3557089" y="3790"/>
                  </a:lnTo>
                  <a:lnTo>
                    <a:pt x="3585670" y="14128"/>
                  </a:lnTo>
                  <a:lnTo>
                    <a:pt x="3604940" y="29467"/>
                  </a:lnTo>
                  <a:lnTo>
                    <a:pt x="3612006" y="48260"/>
                  </a:lnTo>
                  <a:lnTo>
                    <a:pt x="3612006" y="221615"/>
                  </a:lnTo>
                  <a:lnTo>
                    <a:pt x="3619075" y="240426"/>
                  </a:lnTo>
                  <a:lnTo>
                    <a:pt x="3638359" y="255809"/>
                  </a:lnTo>
                  <a:lnTo>
                    <a:pt x="3666978" y="266192"/>
                  </a:lnTo>
                  <a:lnTo>
                    <a:pt x="3702050" y="270002"/>
                  </a:lnTo>
                  <a:lnTo>
                    <a:pt x="3666978" y="273792"/>
                  </a:lnTo>
                  <a:lnTo>
                    <a:pt x="3638359" y="284130"/>
                  </a:lnTo>
                  <a:lnTo>
                    <a:pt x="3619075" y="299469"/>
                  </a:lnTo>
                  <a:lnTo>
                    <a:pt x="3612006" y="318262"/>
                  </a:lnTo>
                  <a:lnTo>
                    <a:pt x="3612006" y="491617"/>
                  </a:lnTo>
                  <a:lnTo>
                    <a:pt x="3604940" y="510409"/>
                  </a:lnTo>
                  <a:lnTo>
                    <a:pt x="3585670" y="525748"/>
                  </a:lnTo>
                  <a:lnTo>
                    <a:pt x="3557089" y="536086"/>
                  </a:lnTo>
                  <a:lnTo>
                    <a:pt x="3522091" y="539877"/>
                  </a:lnTo>
                </a:path>
              </a:pathLst>
            </a:custGeom>
            <a:ln w="38100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00268" y="4611497"/>
              <a:ext cx="1183640" cy="432434"/>
            </a:xfrm>
            <a:custGeom>
              <a:avLst/>
              <a:gdLst/>
              <a:ahLst/>
              <a:cxnLst/>
              <a:rect l="l" t="t" r="r" b="b"/>
              <a:pathLst>
                <a:path w="1183640" h="432435">
                  <a:moveTo>
                    <a:pt x="0" y="216026"/>
                  </a:moveTo>
                  <a:lnTo>
                    <a:pt x="5701" y="166511"/>
                  </a:lnTo>
                  <a:lnTo>
                    <a:pt x="21941" y="121048"/>
                  </a:lnTo>
                  <a:lnTo>
                    <a:pt x="47426" y="80936"/>
                  </a:lnTo>
                  <a:lnTo>
                    <a:pt x="80859" y="47476"/>
                  </a:lnTo>
                  <a:lnTo>
                    <a:pt x="120946" y="21966"/>
                  </a:lnTo>
                  <a:lnTo>
                    <a:pt x="166391" y="5708"/>
                  </a:lnTo>
                  <a:lnTo>
                    <a:pt x="215900" y="0"/>
                  </a:lnTo>
                  <a:lnTo>
                    <a:pt x="265455" y="5708"/>
                  </a:lnTo>
                  <a:lnTo>
                    <a:pt x="310934" y="21966"/>
                  </a:lnTo>
                  <a:lnTo>
                    <a:pt x="351043" y="47476"/>
                  </a:lnTo>
                  <a:lnTo>
                    <a:pt x="384490" y="80936"/>
                  </a:lnTo>
                  <a:lnTo>
                    <a:pt x="409982" y="121048"/>
                  </a:lnTo>
                  <a:lnTo>
                    <a:pt x="426225" y="166511"/>
                  </a:lnTo>
                  <a:lnTo>
                    <a:pt x="431927" y="216026"/>
                  </a:lnTo>
                  <a:lnTo>
                    <a:pt x="426225" y="265582"/>
                  </a:lnTo>
                  <a:lnTo>
                    <a:pt x="409982" y="311061"/>
                  </a:lnTo>
                  <a:lnTo>
                    <a:pt x="384490" y="351170"/>
                  </a:lnTo>
                  <a:lnTo>
                    <a:pt x="351043" y="384617"/>
                  </a:lnTo>
                  <a:lnTo>
                    <a:pt x="310934" y="410109"/>
                  </a:lnTo>
                  <a:lnTo>
                    <a:pt x="265455" y="426352"/>
                  </a:lnTo>
                  <a:lnTo>
                    <a:pt x="215900" y="432053"/>
                  </a:lnTo>
                  <a:lnTo>
                    <a:pt x="166391" y="426352"/>
                  </a:lnTo>
                  <a:lnTo>
                    <a:pt x="120946" y="410109"/>
                  </a:lnTo>
                  <a:lnTo>
                    <a:pt x="80859" y="384617"/>
                  </a:lnTo>
                  <a:lnTo>
                    <a:pt x="47426" y="351170"/>
                  </a:lnTo>
                  <a:lnTo>
                    <a:pt x="21941" y="311061"/>
                  </a:lnTo>
                  <a:lnTo>
                    <a:pt x="5701" y="265582"/>
                  </a:lnTo>
                  <a:lnTo>
                    <a:pt x="0" y="216026"/>
                  </a:lnTo>
                  <a:close/>
                </a:path>
                <a:path w="1183640" h="432435">
                  <a:moveTo>
                    <a:pt x="751459" y="216026"/>
                  </a:moveTo>
                  <a:lnTo>
                    <a:pt x="757160" y="166511"/>
                  </a:lnTo>
                  <a:lnTo>
                    <a:pt x="773403" y="121048"/>
                  </a:lnTo>
                  <a:lnTo>
                    <a:pt x="798895" y="80936"/>
                  </a:lnTo>
                  <a:lnTo>
                    <a:pt x="832342" y="47476"/>
                  </a:lnTo>
                  <a:lnTo>
                    <a:pt x="872451" y="21966"/>
                  </a:lnTo>
                  <a:lnTo>
                    <a:pt x="917930" y="5708"/>
                  </a:lnTo>
                  <a:lnTo>
                    <a:pt x="967486" y="0"/>
                  </a:lnTo>
                  <a:lnTo>
                    <a:pt x="1016994" y="5708"/>
                  </a:lnTo>
                  <a:lnTo>
                    <a:pt x="1062439" y="21966"/>
                  </a:lnTo>
                  <a:lnTo>
                    <a:pt x="1102526" y="47476"/>
                  </a:lnTo>
                  <a:lnTo>
                    <a:pt x="1135959" y="80936"/>
                  </a:lnTo>
                  <a:lnTo>
                    <a:pt x="1161444" y="121048"/>
                  </a:lnTo>
                  <a:lnTo>
                    <a:pt x="1177684" y="166511"/>
                  </a:lnTo>
                  <a:lnTo>
                    <a:pt x="1183386" y="216026"/>
                  </a:lnTo>
                  <a:lnTo>
                    <a:pt x="1177684" y="265582"/>
                  </a:lnTo>
                  <a:lnTo>
                    <a:pt x="1161444" y="311061"/>
                  </a:lnTo>
                  <a:lnTo>
                    <a:pt x="1135959" y="351170"/>
                  </a:lnTo>
                  <a:lnTo>
                    <a:pt x="1102526" y="384617"/>
                  </a:lnTo>
                  <a:lnTo>
                    <a:pt x="1062439" y="410109"/>
                  </a:lnTo>
                  <a:lnTo>
                    <a:pt x="1016994" y="426352"/>
                  </a:lnTo>
                  <a:lnTo>
                    <a:pt x="967486" y="432053"/>
                  </a:lnTo>
                  <a:lnTo>
                    <a:pt x="917930" y="426352"/>
                  </a:lnTo>
                  <a:lnTo>
                    <a:pt x="872451" y="410109"/>
                  </a:lnTo>
                  <a:lnTo>
                    <a:pt x="832342" y="384617"/>
                  </a:lnTo>
                  <a:lnTo>
                    <a:pt x="798895" y="351170"/>
                  </a:lnTo>
                  <a:lnTo>
                    <a:pt x="773403" y="311061"/>
                  </a:lnTo>
                  <a:lnTo>
                    <a:pt x="757160" y="265582"/>
                  </a:lnTo>
                  <a:lnTo>
                    <a:pt x="751459" y="216026"/>
                  </a:lnTo>
                  <a:close/>
                </a:path>
              </a:pathLst>
            </a:custGeom>
            <a:ln w="28575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827903" y="4603445"/>
            <a:ext cx="9296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3905" algn="l"/>
              </a:tabLst>
            </a:pPr>
            <a:r>
              <a:rPr sz="2400" dirty="0">
                <a:latin typeface="Times New Roman"/>
                <a:cs typeface="Times New Roman"/>
              </a:rPr>
              <a:t>4	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115936" y="5461761"/>
            <a:ext cx="1183640" cy="432434"/>
          </a:xfrm>
          <a:custGeom>
            <a:avLst/>
            <a:gdLst/>
            <a:ahLst/>
            <a:cxnLst/>
            <a:rect l="l" t="t" r="r" b="b"/>
            <a:pathLst>
              <a:path w="1183640" h="432435">
                <a:moveTo>
                  <a:pt x="0" y="216026"/>
                </a:moveTo>
                <a:lnTo>
                  <a:pt x="5701" y="166511"/>
                </a:lnTo>
                <a:lnTo>
                  <a:pt x="21944" y="121048"/>
                </a:lnTo>
                <a:lnTo>
                  <a:pt x="47436" y="80936"/>
                </a:lnTo>
                <a:lnTo>
                  <a:pt x="80883" y="47476"/>
                </a:lnTo>
                <a:lnTo>
                  <a:pt x="120992" y="21966"/>
                </a:lnTo>
                <a:lnTo>
                  <a:pt x="166471" y="5708"/>
                </a:lnTo>
                <a:lnTo>
                  <a:pt x="216027" y="0"/>
                </a:lnTo>
                <a:lnTo>
                  <a:pt x="265535" y="5708"/>
                </a:lnTo>
                <a:lnTo>
                  <a:pt x="310980" y="21966"/>
                </a:lnTo>
                <a:lnTo>
                  <a:pt x="351067" y="47476"/>
                </a:lnTo>
                <a:lnTo>
                  <a:pt x="384500" y="80936"/>
                </a:lnTo>
                <a:lnTo>
                  <a:pt x="409985" y="121048"/>
                </a:lnTo>
                <a:lnTo>
                  <a:pt x="426225" y="166511"/>
                </a:lnTo>
                <a:lnTo>
                  <a:pt x="431927" y="216026"/>
                </a:lnTo>
                <a:lnTo>
                  <a:pt x="426225" y="265552"/>
                </a:lnTo>
                <a:lnTo>
                  <a:pt x="409985" y="311015"/>
                </a:lnTo>
                <a:lnTo>
                  <a:pt x="384500" y="351118"/>
                </a:lnTo>
                <a:lnTo>
                  <a:pt x="351067" y="384566"/>
                </a:lnTo>
                <a:lnTo>
                  <a:pt x="310980" y="410063"/>
                </a:lnTo>
                <a:lnTo>
                  <a:pt x="265535" y="426311"/>
                </a:lnTo>
                <a:lnTo>
                  <a:pt x="216027" y="432015"/>
                </a:lnTo>
                <a:lnTo>
                  <a:pt x="166471" y="426311"/>
                </a:lnTo>
                <a:lnTo>
                  <a:pt x="120992" y="410063"/>
                </a:lnTo>
                <a:lnTo>
                  <a:pt x="80883" y="384566"/>
                </a:lnTo>
                <a:lnTo>
                  <a:pt x="47436" y="351118"/>
                </a:lnTo>
                <a:lnTo>
                  <a:pt x="21944" y="311015"/>
                </a:lnTo>
                <a:lnTo>
                  <a:pt x="5701" y="265552"/>
                </a:lnTo>
                <a:lnTo>
                  <a:pt x="0" y="216026"/>
                </a:lnTo>
                <a:close/>
              </a:path>
              <a:path w="1183640" h="432435">
                <a:moveTo>
                  <a:pt x="751459" y="216026"/>
                </a:moveTo>
                <a:lnTo>
                  <a:pt x="757160" y="166511"/>
                </a:lnTo>
                <a:lnTo>
                  <a:pt x="773403" y="121048"/>
                </a:lnTo>
                <a:lnTo>
                  <a:pt x="798895" y="80936"/>
                </a:lnTo>
                <a:lnTo>
                  <a:pt x="832342" y="47476"/>
                </a:lnTo>
                <a:lnTo>
                  <a:pt x="872451" y="21966"/>
                </a:lnTo>
                <a:lnTo>
                  <a:pt x="917930" y="5708"/>
                </a:lnTo>
                <a:lnTo>
                  <a:pt x="967486" y="0"/>
                </a:lnTo>
                <a:lnTo>
                  <a:pt x="1017001" y="5708"/>
                </a:lnTo>
                <a:lnTo>
                  <a:pt x="1062464" y="21966"/>
                </a:lnTo>
                <a:lnTo>
                  <a:pt x="1102576" y="47476"/>
                </a:lnTo>
                <a:lnTo>
                  <a:pt x="1136036" y="80936"/>
                </a:lnTo>
                <a:lnTo>
                  <a:pt x="1161546" y="121048"/>
                </a:lnTo>
                <a:lnTo>
                  <a:pt x="1177804" y="166511"/>
                </a:lnTo>
                <a:lnTo>
                  <a:pt x="1183513" y="216026"/>
                </a:lnTo>
                <a:lnTo>
                  <a:pt x="1177804" y="265552"/>
                </a:lnTo>
                <a:lnTo>
                  <a:pt x="1161546" y="311015"/>
                </a:lnTo>
                <a:lnTo>
                  <a:pt x="1136036" y="351118"/>
                </a:lnTo>
                <a:lnTo>
                  <a:pt x="1102576" y="384566"/>
                </a:lnTo>
                <a:lnTo>
                  <a:pt x="1062464" y="410063"/>
                </a:lnTo>
                <a:lnTo>
                  <a:pt x="1017001" y="426311"/>
                </a:lnTo>
                <a:lnTo>
                  <a:pt x="967486" y="432015"/>
                </a:lnTo>
                <a:lnTo>
                  <a:pt x="917930" y="426311"/>
                </a:lnTo>
                <a:lnTo>
                  <a:pt x="872451" y="410063"/>
                </a:lnTo>
                <a:lnTo>
                  <a:pt x="832342" y="384566"/>
                </a:lnTo>
                <a:lnTo>
                  <a:pt x="798895" y="351118"/>
                </a:lnTo>
                <a:lnTo>
                  <a:pt x="773403" y="311015"/>
                </a:lnTo>
                <a:lnTo>
                  <a:pt x="757160" y="265552"/>
                </a:lnTo>
                <a:lnTo>
                  <a:pt x="751459" y="216026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243698" y="5453888"/>
            <a:ext cx="9296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3905" algn="l"/>
              </a:tabLst>
            </a:pPr>
            <a:r>
              <a:rPr sz="2400" dirty="0">
                <a:latin typeface="Times New Roman"/>
                <a:cs typeface="Times New Roman"/>
              </a:rPr>
              <a:t>2	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423657" y="5045075"/>
            <a:ext cx="611505" cy="436880"/>
          </a:xfrm>
          <a:custGeom>
            <a:avLst/>
            <a:gdLst/>
            <a:ahLst/>
            <a:cxnLst/>
            <a:rect l="l" t="t" r="r" b="b"/>
            <a:pathLst>
              <a:path w="611504" h="436879">
                <a:moveTo>
                  <a:pt x="0" y="431927"/>
                </a:moveTo>
                <a:lnTo>
                  <a:pt x="242950" y="0"/>
                </a:lnTo>
              </a:path>
              <a:path w="611504" h="436879">
                <a:moveTo>
                  <a:pt x="368300" y="4444"/>
                </a:moveTo>
                <a:lnTo>
                  <a:pt x="611377" y="436499"/>
                </a:lnTo>
              </a:path>
            </a:pathLst>
          </a:custGeom>
          <a:ln w="28575">
            <a:solidFill>
              <a:srgbClr val="285A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456296" y="4611179"/>
            <a:ext cx="546100" cy="449580"/>
          </a:xfrm>
          <a:prstGeom prst="rect">
            <a:avLst/>
          </a:prstGeom>
          <a:ln w="28575">
            <a:solidFill>
              <a:srgbClr val="B42C2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7165">
              <a:lnSpc>
                <a:spcPts val="3350"/>
              </a:lnSpc>
            </a:pPr>
            <a:r>
              <a:rPr sz="2800" b="1" spc="-5" dirty="0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618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48643" y="2017267"/>
            <a:ext cx="152400" cy="25355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algn="just">
              <a:lnSpc>
                <a:spcPts val="1000"/>
              </a:lnSpc>
              <a:spcBef>
                <a:spcPts val="2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数 据 结 构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880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（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从 概 念 到 实 现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975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640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清 华 大 学 出 版 社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42925" y="100964"/>
            <a:ext cx="2376170" cy="540385"/>
          </a:xfrm>
          <a:custGeom>
            <a:avLst/>
            <a:gdLst/>
            <a:ahLst/>
            <a:cxnLst/>
            <a:rect l="l" t="t" r="r" b="b"/>
            <a:pathLst>
              <a:path w="2376170" h="540385">
                <a:moveTo>
                  <a:pt x="2286000" y="0"/>
                </a:moveTo>
                <a:lnTo>
                  <a:pt x="90004" y="0"/>
                </a:lnTo>
                <a:lnTo>
                  <a:pt x="54971" y="7068"/>
                </a:lnTo>
                <a:lnTo>
                  <a:pt x="26362" y="26352"/>
                </a:lnTo>
                <a:lnTo>
                  <a:pt x="7073" y="54971"/>
                </a:lnTo>
                <a:lnTo>
                  <a:pt x="0" y="90042"/>
                </a:lnTo>
                <a:lnTo>
                  <a:pt x="0" y="449960"/>
                </a:lnTo>
                <a:lnTo>
                  <a:pt x="7073" y="485032"/>
                </a:lnTo>
                <a:lnTo>
                  <a:pt x="26362" y="513651"/>
                </a:lnTo>
                <a:lnTo>
                  <a:pt x="54971" y="532935"/>
                </a:lnTo>
                <a:lnTo>
                  <a:pt x="90004" y="540003"/>
                </a:lnTo>
                <a:lnTo>
                  <a:pt x="2286000" y="540003"/>
                </a:lnTo>
                <a:lnTo>
                  <a:pt x="2321018" y="532935"/>
                </a:lnTo>
                <a:lnTo>
                  <a:pt x="2349642" y="513651"/>
                </a:lnTo>
                <a:lnTo>
                  <a:pt x="2368956" y="485032"/>
                </a:lnTo>
                <a:lnTo>
                  <a:pt x="2376043" y="449960"/>
                </a:lnTo>
                <a:lnTo>
                  <a:pt x="2376043" y="90042"/>
                </a:lnTo>
                <a:lnTo>
                  <a:pt x="2368956" y="54971"/>
                </a:lnTo>
                <a:lnTo>
                  <a:pt x="2349642" y="26352"/>
                </a:lnTo>
                <a:lnTo>
                  <a:pt x="2321018" y="7068"/>
                </a:lnTo>
                <a:lnTo>
                  <a:pt x="2286000" y="0"/>
                </a:lnTo>
                <a:close/>
              </a:path>
            </a:pathLst>
          </a:custGeom>
          <a:solidFill>
            <a:srgbClr val="5A317C"/>
          </a:solidFill>
        </p:spPr>
        <p:txBody>
          <a:bodyPr wrap="square" lIns="0" tIns="0" rIns="0" bIns="0" rtlCol="0"/>
          <a:lstStyle/>
          <a:p>
            <a:endParaRPr sz="2800" dirty="0">
              <a:solidFill>
                <a:schemeClr val="bg1"/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6991" y="141809"/>
            <a:ext cx="206375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solidFill>
                  <a:schemeClr val="bg1"/>
                </a:solidFill>
              </a:rPr>
              <a:t>哈夫</a:t>
            </a:r>
            <a:r>
              <a:rPr sz="2800" spc="-10" dirty="0">
                <a:solidFill>
                  <a:schemeClr val="bg1"/>
                </a:solidFill>
              </a:rPr>
              <a:t>曼</a:t>
            </a:r>
            <a:r>
              <a:rPr sz="2800" spc="-5" dirty="0">
                <a:solidFill>
                  <a:schemeClr val="bg1"/>
                </a:solidFill>
              </a:rPr>
              <a:t>算</a:t>
            </a:r>
            <a:r>
              <a:rPr sz="2800" spc="-10" dirty="0">
                <a:solidFill>
                  <a:schemeClr val="bg1"/>
                </a:solidFill>
              </a:rPr>
              <a:t>法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949109" y="1043813"/>
            <a:ext cx="5638800" cy="1694814"/>
            <a:chOff x="949109" y="1043813"/>
            <a:chExt cx="5638800" cy="1694814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263" y="1043813"/>
              <a:ext cx="88112" cy="8039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49109" y="1117853"/>
              <a:ext cx="360045" cy="358140"/>
            </a:xfrm>
            <a:custGeom>
              <a:avLst/>
              <a:gdLst/>
              <a:ahLst/>
              <a:cxnLst/>
              <a:rect l="l" t="t" r="r" b="b"/>
              <a:pathLst>
                <a:path w="360044" h="358140">
                  <a:moveTo>
                    <a:pt x="62941" y="279019"/>
                  </a:moveTo>
                  <a:lnTo>
                    <a:pt x="60693" y="279019"/>
                  </a:lnTo>
                  <a:lnTo>
                    <a:pt x="43230" y="258178"/>
                  </a:lnTo>
                  <a:lnTo>
                    <a:pt x="28930" y="249212"/>
                  </a:lnTo>
                  <a:lnTo>
                    <a:pt x="19278" y="247345"/>
                  </a:lnTo>
                  <a:lnTo>
                    <a:pt x="15735" y="247777"/>
                  </a:lnTo>
                  <a:lnTo>
                    <a:pt x="8991" y="247777"/>
                  </a:lnTo>
                  <a:lnTo>
                    <a:pt x="0" y="316738"/>
                  </a:lnTo>
                  <a:lnTo>
                    <a:pt x="2247" y="316738"/>
                  </a:lnTo>
                  <a:lnTo>
                    <a:pt x="2247" y="319024"/>
                  </a:lnTo>
                  <a:lnTo>
                    <a:pt x="4495" y="319024"/>
                  </a:lnTo>
                  <a:lnTo>
                    <a:pt x="62941" y="279019"/>
                  </a:lnTo>
                  <a:close/>
                </a:path>
                <a:path w="360044" h="358140">
                  <a:moveTo>
                    <a:pt x="211467" y="33782"/>
                  </a:moveTo>
                  <a:lnTo>
                    <a:pt x="191833" y="22479"/>
                  </a:lnTo>
                  <a:lnTo>
                    <a:pt x="182130" y="16903"/>
                  </a:lnTo>
                  <a:lnTo>
                    <a:pt x="182130" y="33782"/>
                  </a:lnTo>
                  <a:lnTo>
                    <a:pt x="179870" y="38227"/>
                  </a:lnTo>
                  <a:lnTo>
                    <a:pt x="121196" y="137160"/>
                  </a:lnTo>
                  <a:lnTo>
                    <a:pt x="118935" y="141605"/>
                  </a:lnTo>
                  <a:lnTo>
                    <a:pt x="107645" y="141605"/>
                  </a:lnTo>
                  <a:lnTo>
                    <a:pt x="103136" y="139446"/>
                  </a:lnTo>
                  <a:lnTo>
                    <a:pt x="103136" y="132715"/>
                  </a:lnTo>
                  <a:lnTo>
                    <a:pt x="105397" y="128143"/>
                  </a:lnTo>
                  <a:lnTo>
                    <a:pt x="164071" y="29210"/>
                  </a:lnTo>
                  <a:lnTo>
                    <a:pt x="166331" y="24765"/>
                  </a:lnTo>
                  <a:lnTo>
                    <a:pt x="173101" y="22479"/>
                  </a:lnTo>
                  <a:lnTo>
                    <a:pt x="177622" y="24765"/>
                  </a:lnTo>
                  <a:lnTo>
                    <a:pt x="179870" y="29210"/>
                  </a:lnTo>
                  <a:lnTo>
                    <a:pt x="182130" y="33782"/>
                  </a:lnTo>
                  <a:lnTo>
                    <a:pt x="182130" y="16903"/>
                  </a:lnTo>
                  <a:lnTo>
                    <a:pt x="152793" y="0"/>
                  </a:lnTo>
                  <a:lnTo>
                    <a:pt x="150533" y="0"/>
                  </a:lnTo>
                  <a:lnTo>
                    <a:pt x="15113" y="229362"/>
                  </a:lnTo>
                  <a:lnTo>
                    <a:pt x="24625" y="230263"/>
                  </a:lnTo>
                  <a:lnTo>
                    <a:pt x="38798" y="234950"/>
                  </a:lnTo>
                  <a:lnTo>
                    <a:pt x="56362" y="246405"/>
                  </a:lnTo>
                  <a:lnTo>
                    <a:pt x="76047" y="267589"/>
                  </a:lnTo>
                  <a:lnTo>
                    <a:pt x="149733" y="141605"/>
                  </a:lnTo>
                  <a:lnTo>
                    <a:pt x="211467" y="36068"/>
                  </a:lnTo>
                  <a:lnTo>
                    <a:pt x="211467" y="33782"/>
                  </a:lnTo>
                  <a:close/>
                </a:path>
                <a:path w="360044" h="358140">
                  <a:moveTo>
                    <a:pt x="360006" y="179832"/>
                  </a:moveTo>
                  <a:lnTo>
                    <a:pt x="357720" y="175387"/>
                  </a:lnTo>
                  <a:lnTo>
                    <a:pt x="355434" y="170815"/>
                  </a:lnTo>
                  <a:lnTo>
                    <a:pt x="348703" y="170815"/>
                  </a:lnTo>
                  <a:lnTo>
                    <a:pt x="346417" y="173101"/>
                  </a:lnTo>
                  <a:lnTo>
                    <a:pt x="341972" y="175387"/>
                  </a:lnTo>
                  <a:lnTo>
                    <a:pt x="335241" y="179832"/>
                  </a:lnTo>
                  <a:lnTo>
                    <a:pt x="295135" y="206222"/>
                  </a:lnTo>
                  <a:lnTo>
                    <a:pt x="277342" y="228904"/>
                  </a:lnTo>
                  <a:lnTo>
                    <a:pt x="277380" y="240411"/>
                  </a:lnTo>
                  <a:lnTo>
                    <a:pt x="282067" y="249834"/>
                  </a:lnTo>
                  <a:lnTo>
                    <a:pt x="287820" y="256540"/>
                  </a:lnTo>
                  <a:lnTo>
                    <a:pt x="270116" y="262128"/>
                  </a:lnTo>
                  <a:lnTo>
                    <a:pt x="251155" y="265798"/>
                  </a:lnTo>
                  <a:lnTo>
                    <a:pt x="231343" y="268211"/>
                  </a:lnTo>
                  <a:lnTo>
                    <a:pt x="211112" y="270002"/>
                  </a:lnTo>
                  <a:lnTo>
                    <a:pt x="185407" y="271932"/>
                  </a:lnTo>
                  <a:lnTo>
                    <a:pt x="159499" y="275120"/>
                  </a:lnTo>
                  <a:lnTo>
                    <a:pt x="134023" y="280835"/>
                  </a:lnTo>
                  <a:lnTo>
                    <a:pt x="109601" y="290322"/>
                  </a:lnTo>
                  <a:lnTo>
                    <a:pt x="107340" y="290322"/>
                  </a:lnTo>
                  <a:lnTo>
                    <a:pt x="105092" y="292595"/>
                  </a:lnTo>
                  <a:lnTo>
                    <a:pt x="105079" y="297053"/>
                  </a:lnTo>
                  <a:lnTo>
                    <a:pt x="105537" y="308660"/>
                  </a:lnTo>
                  <a:lnTo>
                    <a:pt x="112128" y="317106"/>
                  </a:lnTo>
                  <a:lnTo>
                    <a:pt x="122529" y="323443"/>
                  </a:lnTo>
                  <a:lnTo>
                    <a:pt x="134416" y="328676"/>
                  </a:lnTo>
                  <a:lnTo>
                    <a:pt x="141173" y="330962"/>
                  </a:lnTo>
                  <a:lnTo>
                    <a:pt x="150202" y="335407"/>
                  </a:lnTo>
                  <a:lnTo>
                    <a:pt x="152463" y="337693"/>
                  </a:lnTo>
                  <a:lnTo>
                    <a:pt x="152463" y="339979"/>
                  </a:lnTo>
                  <a:lnTo>
                    <a:pt x="132156" y="339979"/>
                  </a:lnTo>
                  <a:lnTo>
                    <a:pt x="118618" y="339598"/>
                  </a:lnTo>
                  <a:lnTo>
                    <a:pt x="105079" y="338556"/>
                  </a:lnTo>
                  <a:lnTo>
                    <a:pt x="91541" y="337096"/>
                  </a:lnTo>
                  <a:lnTo>
                    <a:pt x="78016" y="335407"/>
                  </a:lnTo>
                  <a:lnTo>
                    <a:pt x="64122" y="332486"/>
                  </a:lnTo>
                  <a:lnTo>
                    <a:pt x="49809" y="330377"/>
                  </a:lnTo>
                  <a:lnTo>
                    <a:pt x="35496" y="329107"/>
                  </a:lnTo>
                  <a:lnTo>
                    <a:pt x="21615" y="328676"/>
                  </a:lnTo>
                  <a:lnTo>
                    <a:pt x="17106" y="328676"/>
                  </a:lnTo>
                  <a:lnTo>
                    <a:pt x="12585" y="333121"/>
                  </a:lnTo>
                  <a:lnTo>
                    <a:pt x="12585" y="342138"/>
                  </a:lnTo>
                  <a:lnTo>
                    <a:pt x="17106" y="346710"/>
                  </a:lnTo>
                  <a:lnTo>
                    <a:pt x="21615" y="346710"/>
                  </a:lnTo>
                  <a:lnTo>
                    <a:pt x="34823" y="347103"/>
                  </a:lnTo>
                  <a:lnTo>
                    <a:pt x="47828" y="348132"/>
                  </a:lnTo>
                  <a:lnTo>
                    <a:pt x="75755" y="351155"/>
                  </a:lnTo>
                  <a:lnTo>
                    <a:pt x="89636" y="354164"/>
                  </a:lnTo>
                  <a:lnTo>
                    <a:pt x="103949" y="356298"/>
                  </a:lnTo>
                  <a:lnTo>
                    <a:pt x="118262" y="357593"/>
                  </a:lnTo>
                  <a:lnTo>
                    <a:pt x="132156" y="358013"/>
                  </a:lnTo>
                  <a:lnTo>
                    <a:pt x="156972" y="358013"/>
                  </a:lnTo>
                  <a:lnTo>
                    <a:pt x="165989" y="355727"/>
                  </a:lnTo>
                  <a:lnTo>
                    <a:pt x="170510" y="348996"/>
                  </a:lnTo>
                  <a:lnTo>
                    <a:pt x="175018" y="339979"/>
                  </a:lnTo>
                  <a:lnTo>
                    <a:pt x="168249" y="330962"/>
                  </a:lnTo>
                  <a:lnTo>
                    <a:pt x="168249" y="328676"/>
                  </a:lnTo>
                  <a:lnTo>
                    <a:pt x="162750" y="322681"/>
                  </a:lnTo>
                  <a:lnTo>
                    <a:pt x="156400" y="317944"/>
                  </a:lnTo>
                  <a:lnTo>
                    <a:pt x="149212" y="314071"/>
                  </a:lnTo>
                  <a:lnTo>
                    <a:pt x="141173" y="310642"/>
                  </a:lnTo>
                  <a:lnTo>
                    <a:pt x="136664" y="310642"/>
                  </a:lnTo>
                  <a:lnTo>
                    <a:pt x="127647" y="306070"/>
                  </a:lnTo>
                  <a:lnTo>
                    <a:pt x="167398" y="292595"/>
                  </a:lnTo>
                  <a:lnTo>
                    <a:pt x="213372" y="288036"/>
                  </a:lnTo>
                  <a:lnTo>
                    <a:pt x="237020" y="284937"/>
                  </a:lnTo>
                  <a:lnTo>
                    <a:pt x="260451" y="281597"/>
                  </a:lnTo>
                  <a:lnTo>
                    <a:pt x="283476" y="276974"/>
                  </a:lnTo>
                  <a:lnTo>
                    <a:pt x="305866" y="270002"/>
                  </a:lnTo>
                  <a:lnTo>
                    <a:pt x="310375" y="270002"/>
                  </a:lnTo>
                  <a:lnTo>
                    <a:pt x="310375" y="267716"/>
                  </a:lnTo>
                  <a:lnTo>
                    <a:pt x="312623" y="265557"/>
                  </a:lnTo>
                  <a:lnTo>
                    <a:pt x="312623" y="256540"/>
                  </a:lnTo>
                  <a:lnTo>
                    <a:pt x="308114" y="251968"/>
                  </a:lnTo>
                  <a:lnTo>
                    <a:pt x="305866" y="247523"/>
                  </a:lnTo>
                  <a:lnTo>
                    <a:pt x="301345" y="245237"/>
                  </a:lnTo>
                  <a:lnTo>
                    <a:pt x="292328" y="233934"/>
                  </a:lnTo>
                  <a:lnTo>
                    <a:pt x="299097" y="227203"/>
                  </a:lnTo>
                  <a:lnTo>
                    <a:pt x="307340" y="219125"/>
                  </a:lnTo>
                  <a:lnTo>
                    <a:pt x="317715" y="211683"/>
                  </a:lnTo>
                  <a:lnTo>
                    <a:pt x="339686" y="197866"/>
                  </a:lnTo>
                  <a:lnTo>
                    <a:pt x="346417" y="193421"/>
                  </a:lnTo>
                  <a:lnTo>
                    <a:pt x="350989" y="191135"/>
                  </a:lnTo>
                  <a:lnTo>
                    <a:pt x="355434" y="188849"/>
                  </a:lnTo>
                  <a:lnTo>
                    <a:pt x="360006" y="184404"/>
                  </a:lnTo>
                  <a:lnTo>
                    <a:pt x="360006" y="179832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81705" y="2306192"/>
              <a:ext cx="932815" cy="432434"/>
            </a:xfrm>
            <a:custGeom>
              <a:avLst/>
              <a:gdLst/>
              <a:ahLst/>
              <a:cxnLst/>
              <a:rect l="l" t="t" r="r" b="b"/>
              <a:pathLst>
                <a:path w="932814" h="432435">
                  <a:moveTo>
                    <a:pt x="171450" y="171450"/>
                  </a:moveTo>
                  <a:lnTo>
                    <a:pt x="142875" y="114300"/>
                  </a:lnTo>
                  <a:lnTo>
                    <a:pt x="85725" y="0"/>
                  </a:lnTo>
                  <a:lnTo>
                    <a:pt x="0" y="171450"/>
                  </a:lnTo>
                  <a:lnTo>
                    <a:pt x="57150" y="133350"/>
                  </a:lnTo>
                  <a:lnTo>
                    <a:pt x="57150" y="421640"/>
                  </a:lnTo>
                  <a:lnTo>
                    <a:pt x="114300" y="421640"/>
                  </a:lnTo>
                  <a:lnTo>
                    <a:pt x="114300" y="133350"/>
                  </a:lnTo>
                  <a:lnTo>
                    <a:pt x="171450" y="171450"/>
                  </a:lnTo>
                  <a:close/>
                </a:path>
                <a:path w="932814" h="432435">
                  <a:moveTo>
                    <a:pt x="932434" y="181864"/>
                  </a:moveTo>
                  <a:lnTo>
                    <a:pt x="903859" y="124714"/>
                  </a:lnTo>
                  <a:lnTo>
                    <a:pt x="846709" y="10414"/>
                  </a:lnTo>
                  <a:lnTo>
                    <a:pt x="760984" y="181864"/>
                  </a:lnTo>
                  <a:lnTo>
                    <a:pt x="818134" y="143764"/>
                  </a:lnTo>
                  <a:lnTo>
                    <a:pt x="818134" y="432054"/>
                  </a:lnTo>
                  <a:lnTo>
                    <a:pt x="875284" y="432054"/>
                  </a:lnTo>
                  <a:lnTo>
                    <a:pt x="875284" y="143764"/>
                  </a:lnTo>
                  <a:lnTo>
                    <a:pt x="932434" y="181864"/>
                  </a:lnTo>
                  <a:close/>
                </a:path>
              </a:pathLst>
            </a:custGeom>
            <a:solidFill>
              <a:srgbClr val="285A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66389" y="1659636"/>
              <a:ext cx="3702050" cy="540385"/>
            </a:xfrm>
            <a:custGeom>
              <a:avLst/>
              <a:gdLst/>
              <a:ahLst/>
              <a:cxnLst/>
              <a:rect l="l" t="t" r="r" b="b"/>
              <a:pathLst>
                <a:path w="3702050" h="540385">
                  <a:moveTo>
                    <a:pt x="179959" y="540003"/>
                  </a:moveTo>
                  <a:lnTo>
                    <a:pt x="144960" y="536213"/>
                  </a:lnTo>
                  <a:lnTo>
                    <a:pt x="116379" y="525875"/>
                  </a:lnTo>
                  <a:lnTo>
                    <a:pt x="97109" y="510536"/>
                  </a:lnTo>
                  <a:lnTo>
                    <a:pt x="90043" y="491743"/>
                  </a:lnTo>
                  <a:lnTo>
                    <a:pt x="90043" y="318388"/>
                  </a:lnTo>
                  <a:lnTo>
                    <a:pt x="82956" y="299577"/>
                  </a:lnTo>
                  <a:lnTo>
                    <a:pt x="63642" y="284194"/>
                  </a:lnTo>
                  <a:lnTo>
                    <a:pt x="35018" y="273812"/>
                  </a:lnTo>
                  <a:lnTo>
                    <a:pt x="0" y="270001"/>
                  </a:lnTo>
                  <a:lnTo>
                    <a:pt x="35018" y="266211"/>
                  </a:lnTo>
                  <a:lnTo>
                    <a:pt x="63642" y="255873"/>
                  </a:lnTo>
                  <a:lnTo>
                    <a:pt x="82956" y="240534"/>
                  </a:lnTo>
                  <a:lnTo>
                    <a:pt x="90043" y="221741"/>
                  </a:lnTo>
                  <a:lnTo>
                    <a:pt x="90043" y="48387"/>
                  </a:lnTo>
                  <a:lnTo>
                    <a:pt x="97109" y="29575"/>
                  </a:lnTo>
                  <a:lnTo>
                    <a:pt x="116379" y="14192"/>
                  </a:lnTo>
                  <a:lnTo>
                    <a:pt x="144960" y="3810"/>
                  </a:lnTo>
                  <a:lnTo>
                    <a:pt x="179959" y="0"/>
                  </a:lnTo>
                </a:path>
                <a:path w="3702050" h="540385">
                  <a:moveTo>
                    <a:pt x="3522091" y="0"/>
                  </a:moveTo>
                  <a:lnTo>
                    <a:pt x="3557089" y="3810"/>
                  </a:lnTo>
                  <a:lnTo>
                    <a:pt x="3585670" y="14192"/>
                  </a:lnTo>
                  <a:lnTo>
                    <a:pt x="3604940" y="29575"/>
                  </a:lnTo>
                  <a:lnTo>
                    <a:pt x="3612007" y="48387"/>
                  </a:lnTo>
                  <a:lnTo>
                    <a:pt x="3612007" y="221741"/>
                  </a:lnTo>
                  <a:lnTo>
                    <a:pt x="3619093" y="240534"/>
                  </a:lnTo>
                  <a:lnTo>
                    <a:pt x="3638407" y="255873"/>
                  </a:lnTo>
                  <a:lnTo>
                    <a:pt x="3667031" y="266211"/>
                  </a:lnTo>
                  <a:lnTo>
                    <a:pt x="3702050" y="270001"/>
                  </a:lnTo>
                  <a:lnTo>
                    <a:pt x="3667031" y="273812"/>
                  </a:lnTo>
                  <a:lnTo>
                    <a:pt x="3638407" y="284194"/>
                  </a:lnTo>
                  <a:lnTo>
                    <a:pt x="3619093" y="299577"/>
                  </a:lnTo>
                  <a:lnTo>
                    <a:pt x="3612007" y="318388"/>
                  </a:lnTo>
                  <a:lnTo>
                    <a:pt x="3612007" y="491743"/>
                  </a:lnTo>
                  <a:lnTo>
                    <a:pt x="3604940" y="510536"/>
                  </a:lnTo>
                  <a:lnTo>
                    <a:pt x="3585670" y="525875"/>
                  </a:lnTo>
                  <a:lnTo>
                    <a:pt x="3557089" y="536213"/>
                  </a:lnTo>
                  <a:lnTo>
                    <a:pt x="3522091" y="540003"/>
                  </a:lnTo>
                </a:path>
              </a:pathLst>
            </a:custGeom>
            <a:ln w="38100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51530" y="1763395"/>
              <a:ext cx="1183640" cy="432434"/>
            </a:xfrm>
            <a:custGeom>
              <a:avLst/>
              <a:gdLst/>
              <a:ahLst/>
              <a:cxnLst/>
              <a:rect l="l" t="t" r="r" b="b"/>
              <a:pathLst>
                <a:path w="1183639" h="432435">
                  <a:moveTo>
                    <a:pt x="0" y="216026"/>
                  </a:moveTo>
                  <a:lnTo>
                    <a:pt x="5701" y="166511"/>
                  </a:lnTo>
                  <a:lnTo>
                    <a:pt x="21941" y="121048"/>
                  </a:lnTo>
                  <a:lnTo>
                    <a:pt x="47426" y="80936"/>
                  </a:lnTo>
                  <a:lnTo>
                    <a:pt x="80859" y="47476"/>
                  </a:lnTo>
                  <a:lnTo>
                    <a:pt x="120946" y="21966"/>
                  </a:lnTo>
                  <a:lnTo>
                    <a:pt x="166391" y="5708"/>
                  </a:lnTo>
                  <a:lnTo>
                    <a:pt x="215900" y="0"/>
                  </a:lnTo>
                  <a:lnTo>
                    <a:pt x="265455" y="5708"/>
                  </a:lnTo>
                  <a:lnTo>
                    <a:pt x="310934" y="21966"/>
                  </a:lnTo>
                  <a:lnTo>
                    <a:pt x="351043" y="47476"/>
                  </a:lnTo>
                  <a:lnTo>
                    <a:pt x="384490" y="80936"/>
                  </a:lnTo>
                  <a:lnTo>
                    <a:pt x="409982" y="121048"/>
                  </a:lnTo>
                  <a:lnTo>
                    <a:pt x="426225" y="166511"/>
                  </a:lnTo>
                  <a:lnTo>
                    <a:pt x="431927" y="216026"/>
                  </a:lnTo>
                  <a:lnTo>
                    <a:pt x="426225" y="265542"/>
                  </a:lnTo>
                  <a:lnTo>
                    <a:pt x="409982" y="311005"/>
                  </a:lnTo>
                  <a:lnTo>
                    <a:pt x="384490" y="351117"/>
                  </a:lnTo>
                  <a:lnTo>
                    <a:pt x="351043" y="384577"/>
                  </a:lnTo>
                  <a:lnTo>
                    <a:pt x="310934" y="410087"/>
                  </a:lnTo>
                  <a:lnTo>
                    <a:pt x="265455" y="426345"/>
                  </a:lnTo>
                  <a:lnTo>
                    <a:pt x="215900" y="432053"/>
                  </a:lnTo>
                  <a:lnTo>
                    <a:pt x="166391" y="426345"/>
                  </a:lnTo>
                  <a:lnTo>
                    <a:pt x="120946" y="410087"/>
                  </a:lnTo>
                  <a:lnTo>
                    <a:pt x="80859" y="384577"/>
                  </a:lnTo>
                  <a:lnTo>
                    <a:pt x="47426" y="351117"/>
                  </a:lnTo>
                  <a:lnTo>
                    <a:pt x="21941" y="311005"/>
                  </a:lnTo>
                  <a:lnTo>
                    <a:pt x="5701" y="265542"/>
                  </a:lnTo>
                  <a:lnTo>
                    <a:pt x="0" y="216026"/>
                  </a:lnTo>
                  <a:close/>
                </a:path>
                <a:path w="1183639" h="432435">
                  <a:moveTo>
                    <a:pt x="751459" y="216026"/>
                  </a:moveTo>
                  <a:lnTo>
                    <a:pt x="757160" y="166511"/>
                  </a:lnTo>
                  <a:lnTo>
                    <a:pt x="773403" y="121048"/>
                  </a:lnTo>
                  <a:lnTo>
                    <a:pt x="798895" y="80936"/>
                  </a:lnTo>
                  <a:lnTo>
                    <a:pt x="832342" y="47476"/>
                  </a:lnTo>
                  <a:lnTo>
                    <a:pt x="872451" y="21966"/>
                  </a:lnTo>
                  <a:lnTo>
                    <a:pt x="917930" y="5708"/>
                  </a:lnTo>
                  <a:lnTo>
                    <a:pt x="967486" y="0"/>
                  </a:lnTo>
                  <a:lnTo>
                    <a:pt x="1016994" y="5708"/>
                  </a:lnTo>
                  <a:lnTo>
                    <a:pt x="1062439" y="21966"/>
                  </a:lnTo>
                  <a:lnTo>
                    <a:pt x="1102526" y="47476"/>
                  </a:lnTo>
                  <a:lnTo>
                    <a:pt x="1135959" y="80936"/>
                  </a:lnTo>
                  <a:lnTo>
                    <a:pt x="1161444" y="121048"/>
                  </a:lnTo>
                  <a:lnTo>
                    <a:pt x="1177684" y="166511"/>
                  </a:lnTo>
                  <a:lnTo>
                    <a:pt x="1183386" y="216026"/>
                  </a:lnTo>
                  <a:lnTo>
                    <a:pt x="1177684" y="265542"/>
                  </a:lnTo>
                  <a:lnTo>
                    <a:pt x="1161444" y="311005"/>
                  </a:lnTo>
                  <a:lnTo>
                    <a:pt x="1135959" y="351117"/>
                  </a:lnTo>
                  <a:lnTo>
                    <a:pt x="1102526" y="384577"/>
                  </a:lnTo>
                  <a:lnTo>
                    <a:pt x="1062439" y="410087"/>
                  </a:lnTo>
                  <a:lnTo>
                    <a:pt x="1016994" y="426345"/>
                  </a:lnTo>
                  <a:lnTo>
                    <a:pt x="967486" y="432053"/>
                  </a:lnTo>
                  <a:lnTo>
                    <a:pt x="917930" y="426345"/>
                  </a:lnTo>
                  <a:lnTo>
                    <a:pt x="872451" y="410087"/>
                  </a:lnTo>
                  <a:lnTo>
                    <a:pt x="832342" y="384577"/>
                  </a:lnTo>
                  <a:lnTo>
                    <a:pt x="798895" y="351117"/>
                  </a:lnTo>
                  <a:lnTo>
                    <a:pt x="773403" y="311005"/>
                  </a:lnTo>
                  <a:lnTo>
                    <a:pt x="757160" y="265542"/>
                  </a:lnTo>
                  <a:lnTo>
                    <a:pt x="751459" y="216026"/>
                  </a:lnTo>
                  <a:close/>
                </a:path>
              </a:pathLst>
            </a:custGeom>
            <a:ln w="28575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251955" y="952652"/>
            <a:ext cx="5163185" cy="523240"/>
          </a:xfrm>
          <a:prstGeom prst="rect">
            <a:avLst/>
          </a:prstGeom>
          <a:ln w="9525">
            <a:solidFill>
              <a:srgbClr val="5A317C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95"/>
              </a:spcBef>
              <a:tabLst>
                <a:tab pos="623570" algn="l"/>
              </a:tabLst>
            </a:pPr>
            <a:r>
              <a:rPr sz="2800" spc="-5" dirty="0">
                <a:solidFill>
                  <a:srgbClr val="5A317C"/>
                </a:solidFill>
                <a:latin typeface="微软雅黑"/>
                <a:cs typeface="微软雅黑"/>
              </a:rPr>
              <a:t>例	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给定权值集合</a:t>
            </a:r>
            <a:r>
              <a:rPr sz="2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{2</a:t>
            </a:r>
            <a:r>
              <a:rPr sz="2800" b="1" spc="-5" dirty="0">
                <a:solidFill>
                  <a:srgbClr val="404040"/>
                </a:solidFill>
                <a:latin typeface="宋体"/>
                <a:cs typeface="宋体"/>
              </a:rPr>
              <a:t>，</a:t>
            </a:r>
            <a:r>
              <a:rPr sz="2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4</a:t>
            </a:r>
            <a:r>
              <a:rPr sz="2800" b="1" spc="-5" dirty="0">
                <a:solidFill>
                  <a:srgbClr val="404040"/>
                </a:solidFill>
                <a:latin typeface="宋体"/>
                <a:cs typeface="宋体"/>
              </a:rPr>
              <a:t>，</a:t>
            </a:r>
            <a:r>
              <a:rPr sz="2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5 </a:t>
            </a:r>
            <a:r>
              <a:rPr sz="2800" b="1" spc="-5" dirty="0">
                <a:solidFill>
                  <a:srgbClr val="404040"/>
                </a:solidFill>
                <a:latin typeface="宋体"/>
                <a:cs typeface="宋体"/>
              </a:rPr>
              <a:t>，</a:t>
            </a:r>
            <a:r>
              <a:rPr sz="2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3}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0628" y="2974085"/>
            <a:ext cx="15506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选取与合并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0628" y="4258436"/>
            <a:ext cx="15506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删除与加入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88186" y="973581"/>
            <a:ext cx="3576320" cy="1172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哈夫曼算法的运行实例</a:t>
            </a:r>
            <a:endParaRPr sz="2800">
              <a:latin typeface="微软雅黑"/>
              <a:cs typeface="微软雅黑"/>
            </a:endParaRPr>
          </a:p>
          <a:p>
            <a:pPr marL="2003425">
              <a:lnSpc>
                <a:spcPct val="100000"/>
              </a:lnSpc>
              <a:spcBef>
                <a:spcPts val="2795"/>
              </a:spcBef>
              <a:tabLst>
                <a:tab pos="2754630" algn="l"/>
              </a:tabLst>
            </a:pPr>
            <a:r>
              <a:rPr sz="2400" dirty="0">
                <a:latin typeface="Times New Roman"/>
                <a:cs typeface="Times New Roman"/>
              </a:rPr>
              <a:t>4	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767198" y="2613660"/>
            <a:ext cx="1183640" cy="432434"/>
          </a:xfrm>
          <a:custGeom>
            <a:avLst/>
            <a:gdLst/>
            <a:ahLst/>
            <a:cxnLst/>
            <a:rect l="l" t="t" r="r" b="b"/>
            <a:pathLst>
              <a:path w="1183639" h="432435">
                <a:moveTo>
                  <a:pt x="0" y="216026"/>
                </a:moveTo>
                <a:lnTo>
                  <a:pt x="5701" y="166471"/>
                </a:lnTo>
                <a:lnTo>
                  <a:pt x="21944" y="120992"/>
                </a:lnTo>
                <a:lnTo>
                  <a:pt x="47436" y="80883"/>
                </a:lnTo>
                <a:lnTo>
                  <a:pt x="80883" y="47436"/>
                </a:lnTo>
                <a:lnTo>
                  <a:pt x="120992" y="21944"/>
                </a:lnTo>
                <a:lnTo>
                  <a:pt x="166471" y="5701"/>
                </a:lnTo>
                <a:lnTo>
                  <a:pt x="216026" y="0"/>
                </a:lnTo>
                <a:lnTo>
                  <a:pt x="265535" y="5701"/>
                </a:lnTo>
                <a:lnTo>
                  <a:pt x="310980" y="21944"/>
                </a:lnTo>
                <a:lnTo>
                  <a:pt x="351067" y="47436"/>
                </a:lnTo>
                <a:lnTo>
                  <a:pt x="384500" y="80883"/>
                </a:lnTo>
                <a:lnTo>
                  <a:pt x="409985" y="120992"/>
                </a:lnTo>
                <a:lnTo>
                  <a:pt x="426225" y="166471"/>
                </a:lnTo>
                <a:lnTo>
                  <a:pt x="431926" y="216026"/>
                </a:lnTo>
                <a:lnTo>
                  <a:pt x="426225" y="265542"/>
                </a:lnTo>
                <a:lnTo>
                  <a:pt x="409985" y="311005"/>
                </a:lnTo>
                <a:lnTo>
                  <a:pt x="384500" y="351117"/>
                </a:lnTo>
                <a:lnTo>
                  <a:pt x="351067" y="384577"/>
                </a:lnTo>
                <a:lnTo>
                  <a:pt x="310980" y="410087"/>
                </a:lnTo>
                <a:lnTo>
                  <a:pt x="265535" y="426345"/>
                </a:lnTo>
                <a:lnTo>
                  <a:pt x="216026" y="432053"/>
                </a:lnTo>
                <a:lnTo>
                  <a:pt x="166471" y="426345"/>
                </a:lnTo>
                <a:lnTo>
                  <a:pt x="120992" y="410087"/>
                </a:lnTo>
                <a:lnTo>
                  <a:pt x="80883" y="384577"/>
                </a:lnTo>
                <a:lnTo>
                  <a:pt x="47436" y="351117"/>
                </a:lnTo>
                <a:lnTo>
                  <a:pt x="21944" y="311005"/>
                </a:lnTo>
                <a:lnTo>
                  <a:pt x="5701" y="265542"/>
                </a:lnTo>
                <a:lnTo>
                  <a:pt x="0" y="216026"/>
                </a:lnTo>
                <a:close/>
              </a:path>
              <a:path w="1183639" h="432435">
                <a:moveTo>
                  <a:pt x="751459" y="216026"/>
                </a:moveTo>
                <a:lnTo>
                  <a:pt x="757167" y="166471"/>
                </a:lnTo>
                <a:lnTo>
                  <a:pt x="773425" y="120992"/>
                </a:lnTo>
                <a:lnTo>
                  <a:pt x="798935" y="80883"/>
                </a:lnTo>
                <a:lnTo>
                  <a:pt x="832395" y="47436"/>
                </a:lnTo>
                <a:lnTo>
                  <a:pt x="872507" y="21944"/>
                </a:lnTo>
                <a:lnTo>
                  <a:pt x="917970" y="5701"/>
                </a:lnTo>
                <a:lnTo>
                  <a:pt x="967486" y="0"/>
                </a:lnTo>
                <a:lnTo>
                  <a:pt x="1017001" y="5701"/>
                </a:lnTo>
                <a:lnTo>
                  <a:pt x="1062464" y="21944"/>
                </a:lnTo>
                <a:lnTo>
                  <a:pt x="1102576" y="47436"/>
                </a:lnTo>
                <a:lnTo>
                  <a:pt x="1136036" y="80883"/>
                </a:lnTo>
                <a:lnTo>
                  <a:pt x="1161546" y="120992"/>
                </a:lnTo>
                <a:lnTo>
                  <a:pt x="1177804" y="166471"/>
                </a:lnTo>
                <a:lnTo>
                  <a:pt x="1183513" y="216026"/>
                </a:lnTo>
                <a:lnTo>
                  <a:pt x="1177804" y="265542"/>
                </a:lnTo>
                <a:lnTo>
                  <a:pt x="1161546" y="311005"/>
                </a:lnTo>
                <a:lnTo>
                  <a:pt x="1136036" y="351117"/>
                </a:lnTo>
                <a:lnTo>
                  <a:pt x="1102576" y="384577"/>
                </a:lnTo>
                <a:lnTo>
                  <a:pt x="1062464" y="410087"/>
                </a:lnTo>
                <a:lnTo>
                  <a:pt x="1017001" y="426345"/>
                </a:lnTo>
                <a:lnTo>
                  <a:pt x="967486" y="432053"/>
                </a:lnTo>
                <a:lnTo>
                  <a:pt x="917970" y="426345"/>
                </a:lnTo>
                <a:lnTo>
                  <a:pt x="872507" y="410087"/>
                </a:lnTo>
                <a:lnTo>
                  <a:pt x="832395" y="384577"/>
                </a:lnTo>
                <a:lnTo>
                  <a:pt x="798935" y="351117"/>
                </a:lnTo>
                <a:lnTo>
                  <a:pt x="773425" y="311005"/>
                </a:lnTo>
                <a:lnTo>
                  <a:pt x="757167" y="265542"/>
                </a:lnTo>
                <a:lnTo>
                  <a:pt x="751459" y="216026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894834" y="2605278"/>
            <a:ext cx="929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3905" algn="l"/>
              </a:tabLst>
            </a:pPr>
            <a:r>
              <a:rPr sz="2400" dirty="0">
                <a:latin typeface="Times New Roman"/>
                <a:cs typeface="Times New Roman"/>
              </a:rPr>
              <a:t>2	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074920" y="2196845"/>
            <a:ext cx="611505" cy="436880"/>
          </a:xfrm>
          <a:custGeom>
            <a:avLst/>
            <a:gdLst/>
            <a:ahLst/>
            <a:cxnLst/>
            <a:rect l="l" t="t" r="r" b="b"/>
            <a:pathLst>
              <a:path w="611504" h="436880">
                <a:moveTo>
                  <a:pt x="0" y="432053"/>
                </a:moveTo>
                <a:lnTo>
                  <a:pt x="242950" y="0"/>
                </a:lnTo>
              </a:path>
              <a:path w="611504" h="436880">
                <a:moveTo>
                  <a:pt x="368300" y="4571"/>
                </a:moveTo>
                <a:lnTo>
                  <a:pt x="611377" y="436625"/>
                </a:lnTo>
              </a:path>
            </a:pathLst>
          </a:custGeom>
          <a:ln w="28575">
            <a:solidFill>
              <a:srgbClr val="285A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107559" y="1763077"/>
            <a:ext cx="546100" cy="449580"/>
          </a:xfrm>
          <a:prstGeom prst="rect">
            <a:avLst/>
          </a:prstGeom>
          <a:ln w="28575">
            <a:solidFill>
              <a:srgbClr val="B42C2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7165">
              <a:lnSpc>
                <a:spcPts val="3350"/>
              </a:lnSpc>
            </a:pPr>
            <a:r>
              <a:rPr sz="2800" b="1" spc="-5" dirty="0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295396" y="3846195"/>
            <a:ext cx="1183640" cy="432434"/>
          </a:xfrm>
          <a:custGeom>
            <a:avLst/>
            <a:gdLst/>
            <a:ahLst/>
            <a:cxnLst/>
            <a:rect l="l" t="t" r="r" b="b"/>
            <a:pathLst>
              <a:path w="1183639" h="432435">
                <a:moveTo>
                  <a:pt x="0" y="216026"/>
                </a:moveTo>
                <a:lnTo>
                  <a:pt x="5701" y="166511"/>
                </a:lnTo>
                <a:lnTo>
                  <a:pt x="21944" y="121048"/>
                </a:lnTo>
                <a:lnTo>
                  <a:pt x="47436" y="80936"/>
                </a:lnTo>
                <a:lnTo>
                  <a:pt x="80883" y="47476"/>
                </a:lnTo>
                <a:lnTo>
                  <a:pt x="120992" y="21966"/>
                </a:lnTo>
                <a:lnTo>
                  <a:pt x="166471" y="5708"/>
                </a:lnTo>
                <a:lnTo>
                  <a:pt x="216026" y="0"/>
                </a:lnTo>
                <a:lnTo>
                  <a:pt x="265535" y="5708"/>
                </a:lnTo>
                <a:lnTo>
                  <a:pt x="310980" y="21966"/>
                </a:lnTo>
                <a:lnTo>
                  <a:pt x="351067" y="47476"/>
                </a:lnTo>
                <a:lnTo>
                  <a:pt x="384500" y="80936"/>
                </a:lnTo>
                <a:lnTo>
                  <a:pt x="409985" y="121048"/>
                </a:lnTo>
                <a:lnTo>
                  <a:pt x="426225" y="166511"/>
                </a:lnTo>
                <a:lnTo>
                  <a:pt x="431926" y="216026"/>
                </a:lnTo>
                <a:lnTo>
                  <a:pt x="426225" y="265582"/>
                </a:lnTo>
                <a:lnTo>
                  <a:pt x="409985" y="311061"/>
                </a:lnTo>
                <a:lnTo>
                  <a:pt x="384500" y="351170"/>
                </a:lnTo>
                <a:lnTo>
                  <a:pt x="351067" y="384617"/>
                </a:lnTo>
                <a:lnTo>
                  <a:pt x="310980" y="410109"/>
                </a:lnTo>
                <a:lnTo>
                  <a:pt x="265535" y="426352"/>
                </a:lnTo>
                <a:lnTo>
                  <a:pt x="216026" y="432053"/>
                </a:lnTo>
                <a:lnTo>
                  <a:pt x="166471" y="426352"/>
                </a:lnTo>
                <a:lnTo>
                  <a:pt x="120992" y="410109"/>
                </a:lnTo>
                <a:lnTo>
                  <a:pt x="80883" y="384617"/>
                </a:lnTo>
                <a:lnTo>
                  <a:pt x="47436" y="351170"/>
                </a:lnTo>
                <a:lnTo>
                  <a:pt x="21944" y="311061"/>
                </a:lnTo>
                <a:lnTo>
                  <a:pt x="5701" y="265582"/>
                </a:lnTo>
                <a:lnTo>
                  <a:pt x="0" y="216026"/>
                </a:lnTo>
                <a:close/>
              </a:path>
              <a:path w="1183639" h="432435">
                <a:moveTo>
                  <a:pt x="751458" y="216026"/>
                </a:moveTo>
                <a:lnTo>
                  <a:pt x="757167" y="166511"/>
                </a:lnTo>
                <a:lnTo>
                  <a:pt x="773425" y="121048"/>
                </a:lnTo>
                <a:lnTo>
                  <a:pt x="798935" y="80936"/>
                </a:lnTo>
                <a:lnTo>
                  <a:pt x="832395" y="47476"/>
                </a:lnTo>
                <a:lnTo>
                  <a:pt x="872507" y="21966"/>
                </a:lnTo>
                <a:lnTo>
                  <a:pt x="917970" y="5708"/>
                </a:lnTo>
                <a:lnTo>
                  <a:pt x="967486" y="0"/>
                </a:lnTo>
                <a:lnTo>
                  <a:pt x="1017001" y="5708"/>
                </a:lnTo>
                <a:lnTo>
                  <a:pt x="1062464" y="21966"/>
                </a:lnTo>
                <a:lnTo>
                  <a:pt x="1102576" y="47476"/>
                </a:lnTo>
                <a:lnTo>
                  <a:pt x="1136036" y="80936"/>
                </a:lnTo>
                <a:lnTo>
                  <a:pt x="1161546" y="121048"/>
                </a:lnTo>
                <a:lnTo>
                  <a:pt x="1177804" y="166511"/>
                </a:lnTo>
                <a:lnTo>
                  <a:pt x="1183513" y="216026"/>
                </a:lnTo>
                <a:lnTo>
                  <a:pt x="1177804" y="265582"/>
                </a:lnTo>
                <a:lnTo>
                  <a:pt x="1161546" y="311061"/>
                </a:lnTo>
                <a:lnTo>
                  <a:pt x="1136036" y="351170"/>
                </a:lnTo>
                <a:lnTo>
                  <a:pt x="1102576" y="384617"/>
                </a:lnTo>
                <a:lnTo>
                  <a:pt x="1062464" y="410109"/>
                </a:lnTo>
                <a:lnTo>
                  <a:pt x="1017001" y="426352"/>
                </a:lnTo>
                <a:lnTo>
                  <a:pt x="967486" y="432053"/>
                </a:lnTo>
                <a:lnTo>
                  <a:pt x="917970" y="426352"/>
                </a:lnTo>
                <a:lnTo>
                  <a:pt x="872507" y="410109"/>
                </a:lnTo>
                <a:lnTo>
                  <a:pt x="832395" y="384617"/>
                </a:lnTo>
                <a:lnTo>
                  <a:pt x="798935" y="351170"/>
                </a:lnTo>
                <a:lnTo>
                  <a:pt x="773425" y="311061"/>
                </a:lnTo>
                <a:lnTo>
                  <a:pt x="757167" y="265582"/>
                </a:lnTo>
                <a:lnTo>
                  <a:pt x="751458" y="216026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423030" y="3838194"/>
            <a:ext cx="929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3905" algn="l"/>
              </a:tabLst>
            </a:pPr>
            <a:r>
              <a:rPr sz="2400" dirty="0">
                <a:latin typeface="Times New Roman"/>
                <a:cs typeface="Times New Roman"/>
              </a:rPr>
              <a:t>4	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603116" y="3429508"/>
            <a:ext cx="611505" cy="436880"/>
          </a:xfrm>
          <a:custGeom>
            <a:avLst/>
            <a:gdLst/>
            <a:ahLst/>
            <a:cxnLst/>
            <a:rect l="l" t="t" r="r" b="b"/>
            <a:pathLst>
              <a:path w="611504" h="436879">
                <a:moveTo>
                  <a:pt x="0" y="431926"/>
                </a:moveTo>
                <a:lnTo>
                  <a:pt x="242950" y="0"/>
                </a:lnTo>
              </a:path>
              <a:path w="611504" h="436879">
                <a:moveTo>
                  <a:pt x="368427" y="4571"/>
                </a:moveTo>
                <a:lnTo>
                  <a:pt x="611378" y="436498"/>
                </a:lnTo>
              </a:path>
            </a:pathLst>
          </a:custGeom>
          <a:ln w="28575">
            <a:solidFill>
              <a:srgbClr val="285A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635755" y="2995599"/>
            <a:ext cx="546100" cy="452755"/>
          </a:xfrm>
          <a:prstGeom prst="rect">
            <a:avLst/>
          </a:prstGeom>
          <a:ln w="28575">
            <a:solidFill>
              <a:srgbClr val="B42C2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7165">
              <a:lnSpc>
                <a:spcPts val="3350"/>
              </a:lnSpc>
            </a:pPr>
            <a:r>
              <a:rPr sz="2800" b="1" spc="-5" dirty="0">
                <a:latin typeface="Times New Roman"/>
                <a:cs typeface="Times New Roman"/>
              </a:rPr>
              <a:t>9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771648" y="4596257"/>
            <a:ext cx="3740150" cy="1419860"/>
            <a:chOff x="2771648" y="4596257"/>
            <a:chExt cx="3740150" cy="1419860"/>
          </a:xfrm>
        </p:grpSpPr>
        <p:sp>
          <p:nvSpPr>
            <p:cNvPr id="24" name="object 24"/>
            <p:cNvSpPr/>
            <p:nvPr/>
          </p:nvSpPr>
          <p:spPr>
            <a:xfrm>
              <a:off x="2790698" y="4615307"/>
              <a:ext cx="3702050" cy="540385"/>
            </a:xfrm>
            <a:custGeom>
              <a:avLst/>
              <a:gdLst/>
              <a:ahLst/>
              <a:cxnLst/>
              <a:rect l="l" t="t" r="r" b="b"/>
              <a:pathLst>
                <a:path w="3702050" h="540385">
                  <a:moveTo>
                    <a:pt x="180085" y="540004"/>
                  </a:moveTo>
                  <a:lnTo>
                    <a:pt x="145014" y="536213"/>
                  </a:lnTo>
                  <a:lnTo>
                    <a:pt x="116395" y="525875"/>
                  </a:lnTo>
                  <a:lnTo>
                    <a:pt x="97111" y="510536"/>
                  </a:lnTo>
                  <a:lnTo>
                    <a:pt x="90043" y="491744"/>
                  </a:lnTo>
                  <a:lnTo>
                    <a:pt x="90043" y="318389"/>
                  </a:lnTo>
                  <a:lnTo>
                    <a:pt x="82974" y="299577"/>
                  </a:lnTo>
                  <a:lnTo>
                    <a:pt x="63690" y="284194"/>
                  </a:lnTo>
                  <a:lnTo>
                    <a:pt x="35071" y="273812"/>
                  </a:lnTo>
                  <a:lnTo>
                    <a:pt x="0" y="270002"/>
                  </a:lnTo>
                  <a:lnTo>
                    <a:pt x="35071" y="266211"/>
                  </a:lnTo>
                  <a:lnTo>
                    <a:pt x="63690" y="255873"/>
                  </a:lnTo>
                  <a:lnTo>
                    <a:pt x="82974" y="240534"/>
                  </a:lnTo>
                  <a:lnTo>
                    <a:pt x="90043" y="221742"/>
                  </a:lnTo>
                  <a:lnTo>
                    <a:pt x="90043" y="48387"/>
                  </a:lnTo>
                  <a:lnTo>
                    <a:pt x="97111" y="29575"/>
                  </a:lnTo>
                  <a:lnTo>
                    <a:pt x="116395" y="14192"/>
                  </a:lnTo>
                  <a:lnTo>
                    <a:pt x="145014" y="3810"/>
                  </a:lnTo>
                  <a:lnTo>
                    <a:pt x="180085" y="0"/>
                  </a:lnTo>
                </a:path>
                <a:path w="3702050" h="540385">
                  <a:moveTo>
                    <a:pt x="3522091" y="0"/>
                  </a:moveTo>
                  <a:lnTo>
                    <a:pt x="3557109" y="3810"/>
                  </a:lnTo>
                  <a:lnTo>
                    <a:pt x="3585733" y="14192"/>
                  </a:lnTo>
                  <a:lnTo>
                    <a:pt x="3605047" y="29575"/>
                  </a:lnTo>
                  <a:lnTo>
                    <a:pt x="3612134" y="48387"/>
                  </a:lnTo>
                  <a:lnTo>
                    <a:pt x="3612134" y="221742"/>
                  </a:lnTo>
                  <a:lnTo>
                    <a:pt x="3619200" y="240534"/>
                  </a:lnTo>
                  <a:lnTo>
                    <a:pt x="3638470" y="255873"/>
                  </a:lnTo>
                  <a:lnTo>
                    <a:pt x="3667051" y="266211"/>
                  </a:lnTo>
                  <a:lnTo>
                    <a:pt x="3702050" y="270002"/>
                  </a:lnTo>
                  <a:lnTo>
                    <a:pt x="3667051" y="273812"/>
                  </a:lnTo>
                  <a:lnTo>
                    <a:pt x="3638470" y="284194"/>
                  </a:lnTo>
                  <a:lnTo>
                    <a:pt x="3619200" y="299577"/>
                  </a:lnTo>
                  <a:lnTo>
                    <a:pt x="3612134" y="318389"/>
                  </a:lnTo>
                  <a:lnTo>
                    <a:pt x="3612134" y="491744"/>
                  </a:lnTo>
                  <a:lnTo>
                    <a:pt x="3605047" y="510536"/>
                  </a:lnTo>
                  <a:lnTo>
                    <a:pt x="3585733" y="525875"/>
                  </a:lnTo>
                  <a:lnTo>
                    <a:pt x="3557109" y="536213"/>
                  </a:lnTo>
                  <a:lnTo>
                    <a:pt x="3522091" y="540004"/>
                  </a:lnTo>
                </a:path>
              </a:pathLst>
            </a:custGeom>
            <a:ln w="38100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691507" y="5569331"/>
              <a:ext cx="1183640" cy="432434"/>
            </a:xfrm>
            <a:custGeom>
              <a:avLst/>
              <a:gdLst/>
              <a:ahLst/>
              <a:cxnLst/>
              <a:rect l="l" t="t" r="r" b="b"/>
              <a:pathLst>
                <a:path w="1183639" h="432435">
                  <a:moveTo>
                    <a:pt x="0" y="215988"/>
                  </a:moveTo>
                  <a:lnTo>
                    <a:pt x="5708" y="166463"/>
                  </a:lnTo>
                  <a:lnTo>
                    <a:pt x="21966" y="121000"/>
                  </a:lnTo>
                  <a:lnTo>
                    <a:pt x="47476" y="80897"/>
                  </a:lnTo>
                  <a:lnTo>
                    <a:pt x="80936" y="47449"/>
                  </a:lnTo>
                  <a:lnTo>
                    <a:pt x="121048" y="21952"/>
                  </a:lnTo>
                  <a:lnTo>
                    <a:pt x="166511" y="5704"/>
                  </a:lnTo>
                  <a:lnTo>
                    <a:pt x="216026" y="0"/>
                  </a:lnTo>
                  <a:lnTo>
                    <a:pt x="265542" y="5704"/>
                  </a:lnTo>
                  <a:lnTo>
                    <a:pt x="311005" y="21952"/>
                  </a:lnTo>
                  <a:lnTo>
                    <a:pt x="351117" y="47449"/>
                  </a:lnTo>
                  <a:lnTo>
                    <a:pt x="384577" y="80897"/>
                  </a:lnTo>
                  <a:lnTo>
                    <a:pt x="410087" y="121000"/>
                  </a:lnTo>
                  <a:lnTo>
                    <a:pt x="426345" y="166463"/>
                  </a:lnTo>
                  <a:lnTo>
                    <a:pt x="432053" y="215988"/>
                  </a:lnTo>
                  <a:lnTo>
                    <a:pt x="426345" y="265519"/>
                  </a:lnTo>
                  <a:lnTo>
                    <a:pt x="410087" y="310985"/>
                  </a:lnTo>
                  <a:lnTo>
                    <a:pt x="384577" y="351090"/>
                  </a:lnTo>
                  <a:lnTo>
                    <a:pt x="351117" y="384540"/>
                  </a:lnTo>
                  <a:lnTo>
                    <a:pt x="311005" y="410037"/>
                  </a:lnTo>
                  <a:lnTo>
                    <a:pt x="265542" y="426286"/>
                  </a:lnTo>
                  <a:lnTo>
                    <a:pt x="216026" y="431990"/>
                  </a:lnTo>
                  <a:lnTo>
                    <a:pt x="166511" y="426286"/>
                  </a:lnTo>
                  <a:lnTo>
                    <a:pt x="121048" y="410037"/>
                  </a:lnTo>
                  <a:lnTo>
                    <a:pt x="80936" y="384540"/>
                  </a:lnTo>
                  <a:lnTo>
                    <a:pt x="47476" y="351090"/>
                  </a:lnTo>
                  <a:lnTo>
                    <a:pt x="21966" y="310985"/>
                  </a:lnTo>
                  <a:lnTo>
                    <a:pt x="5708" y="265519"/>
                  </a:lnTo>
                  <a:lnTo>
                    <a:pt x="0" y="215988"/>
                  </a:lnTo>
                  <a:close/>
                </a:path>
                <a:path w="1183639" h="432435">
                  <a:moveTo>
                    <a:pt x="751458" y="215988"/>
                  </a:moveTo>
                  <a:lnTo>
                    <a:pt x="757167" y="166463"/>
                  </a:lnTo>
                  <a:lnTo>
                    <a:pt x="773425" y="121000"/>
                  </a:lnTo>
                  <a:lnTo>
                    <a:pt x="798935" y="80897"/>
                  </a:lnTo>
                  <a:lnTo>
                    <a:pt x="832395" y="47449"/>
                  </a:lnTo>
                  <a:lnTo>
                    <a:pt x="872507" y="21952"/>
                  </a:lnTo>
                  <a:lnTo>
                    <a:pt x="917970" y="5704"/>
                  </a:lnTo>
                  <a:lnTo>
                    <a:pt x="967485" y="0"/>
                  </a:lnTo>
                  <a:lnTo>
                    <a:pt x="1017001" y="5704"/>
                  </a:lnTo>
                  <a:lnTo>
                    <a:pt x="1062464" y="21952"/>
                  </a:lnTo>
                  <a:lnTo>
                    <a:pt x="1102576" y="47449"/>
                  </a:lnTo>
                  <a:lnTo>
                    <a:pt x="1136036" y="80897"/>
                  </a:lnTo>
                  <a:lnTo>
                    <a:pt x="1161546" y="121000"/>
                  </a:lnTo>
                  <a:lnTo>
                    <a:pt x="1177804" y="166463"/>
                  </a:lnTo>
                  <a:lnTo>
                    <a:pt x="1183513" y="215988"/>
                  </a:lnTo>
                  <a:lnTo>
                    <a:pt x="1177804" y="265519"/>
                  </a:lnTo>
                  <a:lnTo>
                    <a:pt x="1161546" y="310985"/>
                  </a:lnTo>
                  <a:lnTo>
                    <a:pt x="1136036" y="351090"/>
                  </a:lnTo>
                  <a:lnTo>
                    <a:pt x="1102576" y="384540"/>
                  </a:lnTo>
                  <a:lnTo>
                    <a:pt x="1062464" y="410037"/>
                  </a:lnTo>
                  <a:lnTo>
                    <a:pt x="1017001" y="426286"/>
                  </a:lnTo>
                  <a:lnTo>
                    <a:pt x="967485" y="431990"/>
                  </a:lnTo>
                  <a:lnTo>
                    <a:pt x="917970" y="426286"/>
                  </a:lnTo>
                  <a:lnTo>
                    <a:pt x="872507" y="410037"/>
                  </a:lnTo>
                  <a:lnTo>
                    <a:pt x="832395" y="384540"/>
                  </a:lnTo>
                  <a:lnTo>
                    <a:pt x="798935" y="351090"/>
                  </a:lnTo>
                  <a:lnTo>
                    <a:pt x="773425" y="310985"/>
                  </a:lnTo>
                  <a:lnTo>
                    <a:pt x="757167" y="265519"/>
                  </a:lnTo>
                  <a:lnTo>
                    <a:pt x="751458" y="215988"/>
                  </a:lnTo>
                  <a:close/>
                </a:path>
              </a:pathLst>
            </a:custGeom>
            <a:ln w="28575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999227" y="5152517"/>
              <a:ext cx="611505" cy="436880"/>
            </a:xfrm>
            <a:custGeom>
              <a:avLst/>
              <a:gdLst/>
              <a:ahLst/>
              <a:cxnLst/>
              <a:rect l="l" t="t" r="r" b="b"/>
              <a:pathLst>
                <a:path w="611504" h="436879">
                  <a:moveTo>
                    <a:pt x="0" y="432053"/>
                  </a:moveTo>
                  <a:lnTo>
                    <a:pt x="243077" y="0"/>
                  </a:lnTo>
                </a:path>
                <a:path w="611504" h="436879">
                  <a:moveTo>
                    <a:pt x="368426" y="4571"/>
                  </a:moveTo>
                  <a:lnTo>
                    <a:pt x="611377" y="436587"/>
                  </a:lnTo>
                </a:path>
              </a:pathLst>
            </a:custGeom>
            <a:ln w="28575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031866" y="4718748"/>
            <a:ext cx="546100" cy="449580"/>
          </a:xfrm>
          <a:prstGeom prst="rect">
            <a:avLst/>
          </a:prstGeom>
          <a:ln w="28575">
            <a:solidFill>
              <a:srgbClr val="B42C2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7165">
              <a:lnSpc>
                <a:spcPts val="3350"/>
              </a:lnSpc>
            </a:pPr>
            <a:r>
              <a:rPr sz="2800" b="1" spc="-5" dirty="0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254375" y="5568315"/>
            <a:ext cx="1183640" cy="432434"/>
          </a:xfrm>
          <a:custGeom>
            <a:avLst/>
            <a:gdLst/>
            <a:ahLst/>
            <a:cxnLst/>
            <a:rect l="l" t="t" r="r" b="b"/>
            <a:pathLst>
              <a:path w="1183639" h="432435">
                <a:moveTo>
                  <a:pt x="0" y="216001"/>
                </a:moveTo>
                <a:lnTo>
                  <a:pt x="5701" y="166475"/>
                </a:lnTo>
                <a:lnTo>
                  <a:pt x="21944" y="121011"/>
                </a:lnTo>
                <a:lnTo>
                  <a:pt x="47436" y="80904"/>
                </a:lnTo>
                <a:lnTo>
                  <a:pt x="80883" y="47454"/>
                </a:lnTo>
                <a:lnTo>
                  <a:pt x="120992" y="21955"/>
                </a:lnTo>
                <a:lnTo>
                  <a:pt x="166471" y="5704"/>
                </a:lnTo>
                <a:lnTo>
                  <a:pt x="216026" y="0"/>
                </a:lnTo>
                <a:lnTo>
                  <a:pt x="265542" y="5704"/>
                </a:lnTo>
                <a:lnTo>
                  <a:pt x="311005" y="21955"/>
                </a:lnTo>
                <a:lnTo>
                  <a:pt x="351117" y="47454"/>
                </a:lnTo>
                <a:lnTo>
                  <a:pt x="384577" y="80904"/>
                </a:lnTo>
                <a:lnTo>
                  <a:pt x="410087" y="121011"/>
                </a:lnTo>
                <a:lnTo>
                  <a:pt x="426345" y="166475"/>
                </a:lnTo>
                <a:lnTo>
                  <a:pt x="432053" y="216001"/>
                </a:lnTo>
                <a:lnTo>
                  <a:pt x="426345" y="265527"/>
                </a:lnTo>
                <a:lnTo>
                  <a:pt x="410087" y="310992"/>
                </a:lnTo>
                <a:lnTo>
                  <a:pt x="384577" y="351098"/>
                </a:lnTo>
                <a:lnTo>
                  <a:pt x="351117" y="384549"/>
                </a:lnTo>
                <a:lnTo>
                  <a:pt x="311005" y="410047"/>
                </a:lnTo>
                <a:lnTo>
                  <a:pt x="265542" y="426298"/>
                </a:lnTo>
                <a:lnTo>
                  <a:pt x="216026" y="432003"/>
                </a:lnTo>
                <a:lnTo>
                  <a:pt x="166471" y="426298"/>
                </a:lnTo>
                <a:lnTo>
                  <a:pt x="120992" y="410047"/>
                </a:lnTo>
                <a:lnTo>
                  <a:pt x="80883" y="384549"/>
                </a:lnTo>
                <a:lnTo>
                  <a:pt x="47436" y="351098"/>
                </a:lnTo>
                <a:lnTo>
                  <a:pt x="21944" y="310992"/>
                </a:lnTo>
                <a:lnTo>
                  <a:pt x="5701" y="265527"/>
                </a:lnTo>
                <a:lnTo>
                  <a:pt x="0" y="216001"/>
                </a:lnTo>
                <a:close/>
              </a:path>
              <a:path w="1183639" h="432435">
                <a:moveTo>
                  <a:pt x="751459" y="216001"/>
                </a:moveTo>
                <a:lnTo>
                  <a:pt x="757167" y="166475"/>
                </a:lnTo>
                <a:lnTo>
                  <a:pt x="773425" y="121011"/>
                </a:lnTo>
                <a:lnTo>
                  <a:pt x="798935" y="80904"/>
                </a:lnTo>
                <a:lnTo>
                  <a:pt x="832395" y="47454"/>
                </a:lnTo>
                <a:lnTo>
                  <a:pt x="872507" y="21955"/>
                </a:lnTo>
                <a:lnTo>
                  <a:pt x="917970" y="5704"/>
                </a:lnTo>
                <a:lnTo>
                  <a:pt x="967486" y="0"/>
                </a:lnTo>
                <a:lnTo>
                  <a:pt x="1017001" y="5704"/>
                </a:lnTo>
                <a:lnTo>
                  <a:pt x="1062464" y="21955"/>
                </a:lnTo>
                <a:lnTo>
                  <a:pt x="1102576" y="47454"/>
                </a:lnTo>
                <a:lnTo>
                  <a:pt x="1136036" y="80904"/>
                </a:lnTo>
                <a:lnTo>
                  <a:pt x="1161546" y="121011"/>
                </a:lnTo>
                <a:lnTo>
                  <a:pt x="1177804" y="166475"/>
                </a:lnTo>
                <a:lnTo>
                  <a:pt x="1183513" y="216001"/>
                </a:lnTo>
                <a:lnTo>
                  <a:pt x="1177804" y="265527"/>
                </a:lnTo>
                <a:lnTo>
                  <a:pt x="1161546" y="310992"/>
                </a:lnTo>
                <a:lnTo>
                  <a:pt x="1136036" y="351098"/>
                </a:lnTo>
                <a:lnTo>
                  <a:pt x="1102576" y="384549"/>
                </a:lnTo>
                <a:lnTo>
                  <a:pt x="1062464" y="410047"/>
                </a:lnTo>
                <a:lnTo>
                  <a:pt x="1017001" y="426298"/>
                </a:lnTo>
                <a:lnTo>
                  <a:pt x="967486" y="432003"/>
                </a:lnTo>
                <a:lnTo>
                  <a:pt x="917970" y="426298"/>
                </a:lnTo>
                <a:lnTo>
                  <a:pt x="872507" y="410047"/>
                </a:lnTo>
                <a:lnTo>
                  <a:pt x="832395" y="384549"/>
                </a:lnTo>
                <a:lnTo>
                  <a:pt x="798935" y="351098"/>
                </a:lnTo>
                <a:lnTo>
                  <a:pt x="773425" y="310992"/>
                </a:lnTo>
                <a:lnTo>
                  <a:pt x="757167" y="265527"/>
                </a:lnTo>
                <a:lnTo>
                  <a:pt x="751459" y="216001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381883" y="5561482"/>
            <a:ext cx="23666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3905" algn="l"/>
                <a:tab pos="1449705" algn="l"/>
                <a:tab pos="2200910" algn="l"/>
              </a:tabLst>
            </a:pPr>
            <a:r>
              <a:rPr sz="2400" dirty="0">
                <a:latin typeface="Times New Roman"/>
                <a:cs typeface="Times New Roman"/>
              </a:rPr>
              <a:t>4	5	2	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62096" y="5151501"/>
            <a:ext cx="611505" cy="436880"/>
          </a:xfrm>
          <a:custGeom>
            <a:avLst/>
            <a:gdLst/>
            <a:ahLst/>
            <a:cxnLst/>
            <a:rect l="l" t="t" r="r" b="b"/>
            <a:pathLst>
              <a:path w="611504" h="436879">
                <a:moveTo>
                  <a:pt x="0" y="432054"/>
                </a:moveTo>
                <a:lnTo>
                  <a:pt x="242950" y="0"/>
                </a:lnTo>
              </a:path>
              <a:path w="611504" h="436879">
                <a:moveTo>
                  <a:pt x="368426" y="4572"/>
                </a:moveTo>
                <a:lnTo>
                  <a:pt x="611377" y="436600"/>
                </a:lnTo>
              </a:path>
            </a:pathLst>
          </a:custGeom>
          <a:ln w="28575">
            <a:solidFill>
              <a:srgbClr val="285A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594734" y="4717719"/>
            <a:ext cx="546100" cy="452755"/>
          </a:xfrm>
          <a:prstGeom prst="rect">
            <a:avLst/>
          </a:prstGeom>
          <a:ln w="28575">
            <a:solidFill>
              <a:srgbClr val="B42C2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6530">
              <a:lnSpc>
                <a:spcPts val="3354"/>
              </a:lnSpc>
            </a:pPr>
            <a:r>
              <a:rPr sz="2800" b="1" spc="-5" dirty="0">
                <a:latin typeface="Times New Roman"/>
                <a:cs typeface="Times New Roman"/>
              </a:rPr>
              <a:t>9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693659" y="2907538"/>
            <a:ext cx="3740150" cy="2318385"/>
            <a:chOff x="7693659" y="2907538"/>
            <a:chExt cx="3740150" cy="2318385"/>
          </a:xfrm>
        </p:grpSpPr>
        <p:sp>
          <p:nvSpPr>
            <p:cNvPr id="33" name="object 33"/>
            <p:cNvSpPr/>
            <p:nvPr/>
          </p:nvSpPr>
          <p:spPr>
            <a:xfrm>
              <a:off x="7712709" y="2926588"/>
              <a:ext cx="3702050" cy="540385"/>
            </a:xfrm>
            <a:custGeom>
              <a:avLst/>
              <a:gdLst/>
              <a:ahLst/>
              <a:cxnLst/>
              <a:rect l="l" t="t" r="r" b="b"/>
              <a:pathLst>
                <a:path w="3702050" h="540385">
                  <a:moveTo>
                    <a:pt x="179959" y="540003"/>
                  </a:moveTo>
                  <a:lnTo>
                    <a:pt x="144960" y="536211"/>
                  </a:lnTo>
                  <a:lnTo>
                    <a:pt x="116379" y="525859"/>
                  </a:lnTo>
                  <a:lnTo>
                    <a:pt x="97109" y="510482"/>
                  </a:lnTo>
                  <a:lnTo>
                    <a:pt x="90043" y="491616"/>
                  </a:lnTo>
                  <a:lnTo>
                    <a:pt x="90043" y="318388"/>
                  </a:lnTo>
                  <a:lnTo>
                    <a:pt x="82956" y="299577"/>
                  </a:lnTo>
                  <a:lnTo>
                    <a:pt x="63642" y="284194"/>
                  </a:lnTo>
                  <a:lnTo>
                    <a:pt x="35018" y="273812"/>
                  </a:lnTo>
                  <a:lnTo>
                    <a:pt x="0" y="270001"/>
                  </a:lnTo>
                  <a:lnTo>
                    <a:pt x="35018" y="266209"/>
                  </a:lnTo>
                  <a:lnTo>
                    <a:pt x="63642" y="255857"/>
                  </a:lnTo>
                  <a:lnTo>
                    <a:pt x="82956" y="240480"/>
                  </a:lnTo>
                  <a:lnTo>
                    <a:pt x="90043" y="221614"/>
                  </a:lnTo>
                  <a:lnTo>
                    <a:pt x="90043" y="48387"/>
                  </a:lnTo>
                  <a:lnTo>
                    <a:pt x="97109" y="29575"/>
                  </a:lnTo>
                  <a:lnTo>
                    <a:pt x="116379" y="14192"/>
                  </a:lnTo>
                  <a:lnTo>
                    <a:pt x="144960" y="3810"/>
                  </a:lnTo>
                  <a:lnTo>
                    <a:pt x="179959" y="0"/>
                  </a:lnTo>
                </a:path>
                <a:path w="3702050" h="540385">
                  <a:moveTo>
                    <a:pt x="3522091" y="0"/>
                  </a:moveTo>
                  <a:lnTo>
                    <a:pt x="3557089" y="3810"/>
                  </a:lnTo>
                  <a:lnTo>
                    <a:pt x="3585670" y="14192"/>
                  </a:lnTo>
                  <a:lnTo>
                    <a:pt x="3604940" y="29575"/>
                  </a:lnTo>
                  <a:lnTo>
                    <a:pt x="3612007" y="48387"/>
                  </a:lnTo>
                  <a:lnTo>
                    <a:pt x="3612007" y="221614"/>
                  </a:lnTo>
                  <a:lnTo>
                    <a:pt x="3619093" y="240480"/>
                  </a:lnTo>
                  <a:lnTo>
                    <a:pt x="3638407" y="255857"/>
                  </a:lnTo>
                  <a:lnTo>
                    <a:pt x="3667031" y="266209"/>
                  </a:lnTo>
                  <a:lnTo>
                    <a:pt x="3702050" y="270001"/>
                  </a:lnTo>
                  <a:lnTo>
                    <a:pt x="3667031" y="273812"/>
                  </a:lnTo>
                  <a:lnTo>
                    <a:pt x="3638407" y="284194"/>
                  </a:lnTo>
                  <a:lnTo>
                    <a:pt x="3619093" y="299577"/>
                  </a:lnTo>
                  <a:lnTo>
                    <a:pt x="3612007" y="318388"/>
                  </a:lnTo>
                  <a:lnTo>
                    <a:pt x="3612007" y="491616"/>
                  </a:lnTo>
                  <a:lnTo>
                    <a:pt x="3604940" y="510482"/>
                  </a:lnTo>
                  <a:lnTo>
                    <a:pt x="3585670" y="525859"/>
                  </a:lnTo>
                  <a:lnTo>
                    <a:pt x="3557089" y="536211"/>
                  </a:lnTo>
                  <a:lnTo>
                    <a:pt x="3522091" y="540003"/>
                  </a:lnTo>
                </a:path>
              </a:pathLst>
            </a:custGeom>
            <a:ln w="38100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585705" y="4779136"/>
              <a:ext cx="1183640" cy="432434"/>
            </a:xfrm>
            <a:custGeom>
              <a:avLst/>
              <a:gdLst/>
              <a:ahLst/>
              <a:cxnLst/>
              <a:rect l="l" t="t" r="r" b="b"/>
              <a:pathLst>
                <a:path w="1183640" h="432435">
                  <a:moveTo>
                    <a:pt x="0" y="216026"/>
                  </a:moveTo>
                  <a:lnTo>
                    <a:pt x="5708" y="166471"/>
                  </a:lnTo>
                  <a:lnTo>
                    <a:pt x="21966" y="120992"/>
                  </a:lnTo>
                  <a:lnTo>
                    <a:pt x="47476" y="80883"/>
                  </a:lnTo>
                  <a:lnTo>
                    <a:pt x="80936" y="47436"/>
                  </a:lnTo>
                  <a:lnTo>
                    <a:pt x="121048" y="21944"/>
                  </a:lnTo>
                  <a:lnTo>
                    <a:pt x="166511" y="5701"/>
                  </a:lnTo>
                  <a:lnTo>
                    <a:pt x="216026" y="0"/>
                  </a:lnTo>
                  <a:lnTo>
                    <a:pt x="265542" y="5701"/>
                  </a:lnTo>
                  <a:lnTo>
                    <a:pt x="311005" y="21944"/>
                  </a:lnTo>
                  <a:lnTo>
                    <a:pt x="351117" y="47436"/>
                  </a:lnTo>
                  <a:lnTo>
                    <a:pt x="384577" y="80883"/>
                  </a:lnTo>
                  <a:lnTo>
                    <a:pt x="410087" y="120992"/>
                  </a:lnTo>
                  <a:lnTo>
                    <a:pt x="426345" y="166471"/>
                  </a:lnTo>
                  <a:lnTo>
                    <a:pt x="432053" y="216026"/>
                  </a:lnTo>
                  <a:lnTo>
                    <a:pt x="426345" y="265535"/>
                  </a:lnTo>
                  <a:lnTo>
                    <a:pt x="410087" y="310980"/>
                  </a:lnTo>
                  <a:lnTo>
                    <a:pt x="384577" y="351067"/>
                  </a:lnTo>
                  <a:lnTo>
                    <a:pt x="351117" y="384500"/>
                  </a:lnTo>
                  <a:lnTo>
                    <a:pt x="311005" y="409985"/>
                  </a:lnTo>
                  <a:lnTo>
                    <a:pt x="265542" y="426225"/>
                  </a:lnTo>
                  <a:lnTo>
                    <a:pt x="216026" y="431926"/>
                  </a:lnTo>
                  <a:lnTo>
                    <a:pt x="166511" y="426225"/>
                  </a:lnTo>
                  <a:lnTo>
                    <a:pt x="121048" y="409985"/>
                  </a:lnTo>
                  <a:lnTo>
                    <a:pt x="80936" y="384500"/>
                  </a:lnTo>
                  <a:lnTo>
                    <a:pt x="47476" y="351067"/>
                  </a:lnTo>
                  <a:lnTo>
                    <a:pt x="21966" y="310980"/>
                  </a:lnTo>
                  <a:lnTo>
                    <a:pt x="5708" y="265535"/>
                  </a:lnTo>
                  <a:lnTo>
                    <a:pt x="0" y="216026"/>
                  </a:lnTo>
                  <a:close/>
                </a:path>
                <a:path w="1183640" h="432435">
                  <a:moveTo>
                    <a:pt x="751459" y="216026"/>
                  </a:moveTo>
                  <a:lnTo>
                    <a:pt x="757167" y="166471"/>
                  </a:lnTo>
                  <a:lnTo>
                    <a:pt x="773425" y="120992"/>
                  </a:lnTo>
                  <a:lnTo>
                    <a:pt x="798935" y="80883"/>
                  </a:lnTo>
                  <a:lnTo>
                    <a:pt x="832395" y="47436"/>
                  </a:lnTo>
                  <a:lnTo>
                    <a:pt x="872507" y="21944"/>
                  </a:lnTo>
                  <a:lnTo>
                    <a:pt x="917970" y="5701"/>
                  </a:lnTo>
                  <a:lnTo>
                    <a:pt x="967486" y="0"/>
                  </a:lnTo>
                  <a:lnTo>
                    <a:pt x="1017001" y="5701"/>
                  </a:lnTo>
                  <a:lnTo>
                    <a:pt x="1062464" y="21944"/>
                  </a:lnTo>
                  <a:lnTo>
                    <a:pt x="1102576" y="47436"/>
                  </a:lnTo>
                  <a:lnTo>
                    <a:pt x="1136036" y="80883"/>
                  </a:lnTo>
                  <a:lnTo>
                    <a:pt x="1161546" y="120992"/>
                  </a:lnTo>
                  <a:lnTo>
                    <a:pt x="1177804" y="166471"/>
                  </a:lnTo>
                  <a:lnTo>
                    <a:pt x="1183513" y="216026"/>
                  </a:lnTo>
                  <a:lnTo>
                    <a:pt x="1177804" y="265535"/>
                  </a:lnTo>
                  <a:lnTo>
                    <a:pt x="1161546" y="310980"/>
                  </a:lnTo>
                  <a:lnTo>
                    <a:pt x="1136036" y="351067"/>
                  </a:lnTo>
                  <a:lnTo>
                    <a:pt x="1102576" y="384500"/>
                  </a:lnTo>
                  <a:lnTo>
                    <a:pt x="1062464" y="409985"/>
                  </a:lnTo>
                  <a:lnTo>
                    <a:pt x="1017001" y="426225"/>
                  </a:lnTo>
                  <a:lnTo>
                    <a:pt x="967486" y="431926"/>
                  </a:lnTo>
                  <a:lnTo>
                    <a:pt x="917970" y="426225"/>
                  </a:lnTo>
                  <a:lnTo>
                    <a:pt x="872507" y="409985"/>
                  </a:lnTo>
                  <a:lnTo>
                    <a:pt x="832395" y="384500"/>
                  </a:lnTo>
                  <a:lnTo>
                    <a:pt x="798935" y="351067"/>
                  </a:lnTo>
                  <a:lnTo>
                    <a:pt x="773425" y="310980"/>
                  </a:lnTo>
                  <a:lnTo>
                    <a:pt x="757167" y="265535"/>
                  </a:lnTo>
                  <a:lnTo>
                    <a:pt x="751459" y="216026"/>
                  </a:lnTo>
                  <a:close/>
                </a:path>
              </a:pathLst>
            </a:custGeom>
            <a:ln w="28575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893426" y="4362323"/>
              <a:ext cx="611505" cy="436880"/>
            </a:xfrm>
            <a:custGeom>
              <a:avLst/>
              <a:gdLst/>
              <a:ahLst/>
              <a:cxnLst/>
              <a:rect l="l" t="t" r="r" b="b"/>
              <a:pathLst>
                <a:path w="611504" h="436879">
                  <a:moveTo>
                    <a:pt x="0" y="432053"/>
                  </a:moveTo>
                  <a:lnTo>
                    <a:pt x="243077" y="0"/>
                  </a:lnTo>
                </a:path>
                <a:path w="611504" h="436879">
                  <a:moveTo>
                    <a:pt x="368426" y="4571"/>
                  </a:moveTo>
                  <a:lnTo>
                    <a:pt x="611377" y="436625"/>
                  </a:lnTo>
                </a:path>
              </a:pathLst>
            </a:custGeom>
            <a:ln w="28575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9926066" y="3928554"/>
            <a:ext cx="546100" cy="449580"/>
          </a:xfrm>
          <a:prstGeom prst="rect">
            <a:avLst/>
          </a:prstGeom>
          <a:ln w="28575">
            <a:solidFill>
              <a:srgbClr val="B42C2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7800">
              <a:lnSpc>
                <a:spcPts val="3350"/>
              </a:lnSpc>
            </a:pPr>
            <a:r>
              <a:rPr sz="2800" b="1" spc="-5" dirty="0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8148573" y="4778121"/>
            <a:ext cx="1183640" cy="432434"/>
          </a:xfrm>
          <a:custGeom>
            <a:avLst/>
            <a:gdLst/>
            <a:ahLst/>
            <a:cxnLst/>
            <a:rect l="l" t="t" r="r" b="b"/>
            <a:pathLst>
              <a:path w="1183640" h="432435">
                <a:moveTo>
                  <a:pt x="0" y="216026"/>
                </a:moveTo>
                <a:lnTo>
                  <a:pt x="5701" y="166471"/>
                </a:lnTo>
                <a:lnTo>
                  <a:pt x="21944" y="120992"/>
                </a:lnTo>
                <a:lnTo>
                  <a:pt x="47436" y="80883"/>
                </a:lnTo>
                <a:lnTo>
                  <a:pt x="80883" y="47436"/>
                </a:lnTo>
                <a:lnTo>
                  <a:pt x="120992" y="21944"/>
                </a:lnTo>
                <a:lnTo>
                  <a:pt x="166471" y="5701"/>
                </a:lnTo>
                <a:lnTo>
                  <a:pt x="216026" y="0"/>
                </a:lnTo>
                <a:lnTo>
                  <a:pt x="265542" y="5701"/>
                </a:lnTo>
                <a:lnTo>
                  <a:pt x="311005" y="21944"/>
                </a:lnTo>
                <a:lnTo>
                  <a:pt x="351117" y="47436"/>
                </a:lnTo>
                <a:lnTo>
                  <a:pt x="384577" y="80883"/>
                </a:lnTo>
                <a:lnTo>
                  <a:pt x="410087" y="120992"/>
                </a:lnTo>
                <a:lnTo>
                  <a:pt x="426345" y="166471"/>
                </a:lnTo>
                <a:lnTo>
                  <a:pt x="432053" y="216026"/>
                </a:lnTo>
                <a:lnTo>
                  <a:pt x="426345" y="265542"/>
                </a:lnTo>
                <a:lnTo>
                  <a:pt x="410087" y="311005"/>
                </a:lnTo>
                <a:lnTo>
                  <a:pt x="384577" y="351117"/>
                </a:lnTo>
                <a:lnTo>
                  <a:pt x="351117" y="384577"/>
                </a:lnTo>
                <a:lnTo>
                  <a:pt x="311005" y="410087"/>
                </a:lnTo>
                <a:lnTo>
                  <a:pt x="265542" y="426345"/>
                </a:lnTo>
                <a:lnTo>
                  <a:pt x="216026" y="432053"/>
                </a:lnTo>
                <a:lnTo>
                  <a:pt x="166471" y="426345"/>
                </a:lnTo>
                <a:lnTo>
                  <a:pt x="120992" y="410087"/>
                </a:lnTo>
                <a:lnTo>
                  <a:pt x="80883" y="384577"/>
                </a:lnTo>
                <a:lnTo>
                  <a:pt x="47436" y="351117"/>
                </a:lnTo>
                <a:lnTo>
                  <a:pt x="21944" y="311005"/>
                </a:lnTo>
                <a:lnTo>
                  <a:pt x="5701" y="265542"/>
                </a:lnTo>
                <a:lnTo>
                  <a:pt x="0" y="216026"/>
                </a:lnTo>
                <a:close/>
              </a:path>
              <a:path w="1183640" h="432435">
                <a:moveTo>
                  <a:pt x="751458" y="216026"/>
                </a:moveTo>
                <a:lnTo>
                  <a:pt x="757167" y="166471"/>
                </a:lnTo>
                <a:lnTo>
                  <a:pt x="773425" y="120992"/>
                </a:lnTo>
                <a:lnTo>
                  <a:pt x="798935" y="80883"/>
                </a:lnTo>
                <a:lnTo>
                  <a:pt x="832395" y="47436"/>
                </a:lnTo>
                <a:lnTo>
                  <a:pt x="872507" y="21944"/>
                </a:lnTo>
                <a:lnTo>
                  <a:pt x="917970" y="5701"/>
                </a:lnTo>
                <a:lnTo>
                  <a:pt x="967485" y="0"/>
                </a:lnTo>
                <a:lnTo>
                  <a:pt x="1017001" y="5701"/>
                </a:lnTo>
                <a:lnTo>
                  <a:pt x="1062464" y="21944"/>
                </a:lnTo>
                <a:lnTo>
                  <a:pt x="1102576" y="47436"/>
                </a:lnTo>
                <a:lnTo>
                  <a:pt x="1136036" y="80883"/>
                </a:lnTo>
                <a:lnTo>
                  <a:pt x="1161546" y="120992"/>
                </a:lnTo>
                <a:lnTo>
                  <a:pt x="1177804" y="166471"/>
                </a:lnTo>
                <a:lnTo>
                  <a:pt x="1183512" y="216026"/>
                </a:lnTo>
                <a:lnTo>
                  <a:pt x="1177804" y="265542"/>
                </a:lnTo>
                <a:lnTo>
                  <a:pt x="1161546" y="311005"/>
                </a:lnTo>
                <a:lnTo>
                  <a:pt x="1136036" y="351117"/>
                </a:lnTo>
                <a:lnTo>
                  <a:pt x="1102576" y="384577"/>
                </a:lnTo>
                <a:lnTo>
                  <a:pt x="1062464" y="410087"/>
                </a:lnTo>
                <a:lnTo>
                  <a:pt x="1017001" y="426345"/>
                </a:lnTo>
                <a:lnTo>
                  <a:pt x="967485" y="432053"/>
                </a:lnTo>
                <a:lnTo>
                  <a:pt x="917970" y="426345"/>
                </a:lnTo>
                <a:lnTo>
                  <a:pt x="872507" y="410087"/>
                </a:lnTo>
                <a:lnTo>
                  <a:pt x="832395" y="384577"/>
                </a:lnTo>
                <a:lnTo>
                  <a:pt x="798935" y="351117"/>
                </a:lnTo>
                <a:lnTo>
                  <a:pt x="773425" y="311005"/>
                </a:lnTo>
                <a:lnTo>
                  <a:pt x="757167" y="265542"/>
                </a:lnTo>
                <a:lnTo>
                  <a:pt x="751458" y="216026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8276590" y="4771135"/>
            <a:ext cx="23666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3905" algn="l"/>
                <a:tab pos="1449705" algn="l"/>
                <a:tab pos="2200910" algn="l"/>
              </a:tabLst>
            </a:pPr>
            <a:r>
              <a:rPr sz="2400" dirty="0">
                <a:latin typeface="Times New Roman"/>
                <a:cs typeface="Times New Roman"/>
              </a:rPr>
              <a:t>4	5	2	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8456294" y="4361307"/>
            <a:ext cx="611505" cy="436880"/>
          </a:xfrm>
          <a:custGeom>
            <a:avLst/>
            <a:gdLst/>
            <a:ahLst/>
            <a:cxnLst/>
            <a:rect l="l" t="t" r="r" b="b"/>
            <a:pathLst>
              <a:path w="611504" h="436879">
                <a:moveTo>
                  <a:pt x="0" y="432054"/>
                </a:moveTo>
                <a:lnTo>
                  <a:pt x="243077" y="0"/>
                </a:lnTo>
              </a:path>
              <a:path w="611504" h="436879">
                <a:moveTo>
                  <a:pt x="368426" y="4572"/>
                </a:moveTo>
                <a:lnTo>
                  <a:pt x="611377" y="436626"/>
                </a:lnTo>
              </a:path>
            </a:pathLst>
          </a:custGeom>
          <a:ln w="28575">
            <a:solidFill>
              <a:srgbClr val="285A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8488933" y="3927525"/>
            <a:ext cx="546100" cy="452755"/>
          </a:xfrm>
          <a:prstGeom prst="rect">
            <a:avLst/>
          </a:prstGeom>
          <a:ln w="28575">
            <a:solidFill>
              <a:srgbClr val="B42C2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7800">
              <a:lnSpc>
                <a:spcPts val="3354"/>
              </a:lnSpc>
            </a:pPr>
            <a:r>
              <a:rPr sz="2800" b="1" spc="-5" dirty="0">
                <a:latin typeface="Times New Roman"/>
                <a:cs typeface="Times New Roman"/>
              </a:rPr>
              <a:t>9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8900032" y="3349752"/>
            <a:ext cx="1143635" cy="577850"/>
          </a:xfrm>
          <a:custGeom>
            <a:avLst/>
            <a:gdLst/>
            <a:ahLst/>
            <a:cxnLst/>
            <a:rect l="l" t="t" r="r" b="b"/>
            <a:pathLst>
              <a:path w="1143634" h="577850">
                <a:moveTo>
                  <a:pt x="0" y="577723"/>
                </a:moveTo>
                <a:lnTo>
                  <a:pt x="504063" y="10668"/>
                </a:lnTo>
              </a:path>
              <a:path w="1143634" h="577850">
                <a:moveTo>
                  <a:pt x="675132" y="0"/>
                </a:moveTo>
                <a:lnTo>
                  <a:pt x="1143127" y="562483"/>
                </a:lnTo>
              </a:path>
            </a:pathLst>
          </a:custGeom>
          <a:ln w="28575">
            <a:solidFill>
              <a:srgbClr val="285A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9193783" y="2926638"/>
            <a:ext cx="546100" cy="452755"/>
          </a:xfrm>
          <a:prstGeom prst="rect">
            <a:avLst/>
          </a:prstGeom>
          <a:ln w="28575">
            <a:solidFill>
              <a:srgbClr val="B42C2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3350"/>
              </a:lnSpc>
            </a:pPr>
            <a:r>
              <a:rPr sz="2800" b="1" dirty="0">
                <a:latin typeface="Times New Roman"/>
                <a:cs typeface="Times New Roman"/>
              </a:rPr>
              <a:t>14</a:t>
            </a:r>
            <a:endParaRPr sz="28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40040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48643" y="2017267"/>
            <a:ext cx="152400" cy="25355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algn="just">
              <a:lnSpc>
                <a:spcPts val="1000"/>
              </a:lnSpc>
              <a:spcBef>
                <a:spcPts val="2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数 据 结 构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880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（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从 概 念 到 实 现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975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640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清 华 大 学 出 版 社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42925" y="100964"/>
            <a:ext cx="2376170" cy="540385"/>
          </a:xfrm>
          <a:custGeom>
            <a:avLst/>
            <a:gdLst/>
            <a:ahLst/>
            <a:cxnLst/>
            <a:rect l="l" t="t" r="r" b="b"/>
            <a:pathLst>
              <a:path w="2376170" h="540385">
                <a:moveTo>
                  <a:pt x="2286000" y="0"/>
                </a:moveTo>
                <a:lnTo>
                  <a:pt x="90004" y="0"/>
                </a:lnTo>
                <a:lnTo>
                  <a:pt x="54971" y="7068"/>
                </a:lnTo>
                <a:lnTo>
                  <a:pt x="26362" y="26352"/>
                </a:lnTo>
                <a:lnTo>
                  <a:pt x="7073" y="54971"/>
                </a:lnTo>
                <a:lnTo>
                  <a:pt x="0" y="90042"/>
                </a:lnTo>
                <a:lnTo>
                  <a:pt x="0" y="449960"/>
                </a:lnTo>
                <a:lnTo>
                  <a:pt x="7073" y="485032"/>
                </a:lnTo>
                <a:lnTo>
                  <a:pt x="26362" y="513651"/>
                </a:lnTo>
                <a:lnTo>
                  <a:pt x="54971" y="532935"/>
                </a:lnTo>
                <a:lnTo>
                  <a:pt x="90004" y="540003"/>
                </a:lnTo>
                <a:lnTo>
                  <a:pt x="2286000" y="540003"/>
                </a:lnTo>
                <a:lnTo>
                  <a:pt x="2321018" y="532935"/>
                </a:lnTo>
                <a:lnTo>
                  <a:pt x="2349642" y="513651"/>
                </a:lnTo>
                <a:lnTo>
                  <a:pt x="2368956" y="485032"/>
                </a:lnTo>
                <a:lnTo>
                  <a:pt x="2376043" y="449960"/>
                </a:lnTo>
                <a:lnTo>
                  <a:pt x="2376043" y="90042"/>
                </a:lnTo>
                <a:lnTo>
                  <a:pt x="2368956" y="54971"/>
                </a:lnTo>
                <a:lnTo>
                  <a:pt x="2349642" y="26352"/>
                </a:lnTo>
                <a:lnTo>
                  <a:pt x="2321018" y="7068"/>
                </a:lnTo>
                <a:lnTo>
                  <a:pt x="2286000" y="0"/>
                </a:lnTo>
                <a:close/>
              </a:path>
            </a:pathLst>
          </a:custGeom>
          <a:solidFill>
            <a:srgbClr val="5A31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6991" y="141809"/>
            <a:ext cx="206375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solidFill>
                  <a:schemeClr val="bg1"/>
                </a:solidFill>
              </a:rPr>
              <a:t>哈夫</a:t>
            </a:r>
            <a:r>
              <a:rPr sz="2800" spc="-10" dirty="0">
                <a:solidFill>
                  <a:schemeClr val="bg1"/>
                </a:solidFill>
              </a:rPr>
              <a:t>曼</a:t>
            </a:r>
            <a:r>
              <a:rPr sz="2800" spc="-5" dirty="0">
                <a:solidFill>
                  <a:schemeClr val="bg1"/>
                </a:solidFill>
              </a:rPr>
              <a:t>算</a:t>
            </a:r>
            <a:r>
              <a:rPr sz="2800" spc="-10" dirty="0">
                <a:solidFill>
                  <a:schemeClr val="bg1"/>
                </a:solidFill>
              </a:rPr>
              <a:t>法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6991" y="997661"/>
            <a:ext cx="71310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B42C2C"/>
                </a:solidFill>
                <a:latin typeface="微软雅黑"/>
                <a:cs typeface="微软雅黑"/>
              </a:rPr>
              <a:t>【算法</a:t>
            </a:r>
            <a:r>
              <a:rPr sz="2800" spc="-10" dirty="0">
                <a:solidFill>
                  <a:srgbClr val="B42C2C"/>
                </a:solidFill>
                <a:latin typeface="Times New Roman"/>
                <a:cs typeface="Times New Roman"/>
              </a:rPr>
              <a:t>——</a:t>
            </a:r>
            <a:r>
              <a:rPr sz="2800" spc="-10" dirty="0">
                <a:solidFill>
                  <a:srgbClr val="B42C2C"/>
                </a:solidFill>
                <a:latin typeface="微软雅黑"/>
                <a:cs typeface="微软雅黑"/>
              </a:rPr>
              <a:t>数据表示】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如何存</a:t>
            </a:r>
            <a:r>
              <a:rPr sz="2800" spc="-15" dirty="0">
                <a:solidFill>
                  <a:srgbClr val="404040"/>
                </a:solidFill>
                <a:latin typeface="微软雅黑"/>
                <a:cs typeface="微软雅黑"/>
              </a:rPr>
              <a:t>储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哈夫曼树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呢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？</a:t>
            </a:r>
            <a:endParaRPr sz="2800">
              <a:latin typeface="微软雅黑"/>
              <a:cs typeface="微软雅黑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0046525" y="4383087"/>
            <a:ext cx="1212215" cy="877569"/>
            <a:chOff x="10046525" y="4383087"/>
            <a:chExt cx="1212215" cy="877569"/>
          </a:xfrm>
        </p:grpSpPr>
        <p:sp>
          <p:nvSpPr>
            <p:cNvPr id="7" name="object 7"/>
            <p:cNvSpPr/>
            <p:nvPr/>
          </p:nvSpPr>
          <p:spPr>
            <a:xfrm>
              <a:off x="10060813" y="4814188"/>
              <a:ext cx="1183640" cy="432434"/>
            </a:xfrm>
            <a:custGeom>
              <a:avLst/>
              <a:gdLst/>
              <a:ahLst/>
              <a:cxnLst/>
              <a:rect l="l" t="t" r="r" b="b"/>
              <a:pathLst>
                <a:path w="1183640" h="432435">
                  <a:moveTo>
                    <a:pt x="0" y="216027"/>
                  </a:moveTo>
                  <a:lnTo>
                    <a:pt x="5708" y="166471"/>
                  </a:lnTo>
                  <a:lnTo>
                    <a:pt x="21966" y="120992"/>
                  </a:lnTo>
                  <a:lnTo>
                    <a:pt x="47476" y="80883"/>
                  </a:lnTo>
                  <a:lnTo>
                    <a:pt x="80936" y="47436"/>
                  </a:lnTo>
                  <a:lnTo>
                    <a:pt x="121048" y="21944"/>
                  </a:lnTo>
                  <a:lnTo>
                    <a:pt x="166511" y="5701"/>
                  </a:lnTo>
                  <a:lnTo>
                    <a:pt x="216026" y="0"/>
                  </a:lnTo>
                  <a:lnTo>
                    <a:pt x="265542" y="5701"/>
                  </a:lnTo>
                  <a:lnTo>
                    <a:pt x="311005" y="21944"/>
                  </a:lnTo>
                  <a:lnTo>
                    <a:pt x="351117" y="47436"/>
                  </a:lnTo>
                  <a:lnTo>
                    <a:pt x="384577" y="80883"/>
                  </a:lnTo>
                  <a:lnTo>
                    <a:pt x="410087" y="120992"/>
                  </a:lnTo>
                  <a:lnTo>
                    <a:pt x="426345" y="166471"/>
                  </a:lnTo>
                  <a:lnTo>
                    <a:pt x="432053" y="216027"/>
                  </a:lnTo>
                  <a:lnTo>
                    <a:pt x="426345" y="265542"/>
                  </a:lnTo>
                  <a:lnTo>
                    <a:pt x="410087" y="311005"/>
                  </a:lnTo>
                  <a:lnTo>
                    <a:pt x="384577" y="351117"/>
                  </a:lnTo>
                  <a:lnTo>
                    <a:pt x="351117" y="384577"/>
                  </a:lnTo>
                  <a:lnTo>
                    <a:pt x="311005" y="410087"/>
                  </a:lnTo>
                  <a:lnTo>
                    <a:pt x="265542" y="426345"/>
                  </a:lnTo>
                  <a:lnTo>
                    <a:pt x="216026" y="432054"/>
                  </a:lnTo>
                  <a:lnTo>
                    <a:pt x="166511" y="426345"/>
                  </a:lnTo>
                  <a:lnTo>
                    <a:pt x="121048" y="410087"/>
                  </a:lnTo>
                  <a:lnTo>
                    <a:pt x="80936" y="384577"/>
                  </a:lnTo>
                  <a:lnTo>
                    <a:pt x="47476" y="351117"/>
                  </a:lnTo>
                  <a:lnTo>
                    <a:pt x="21966" y="311005"/>
                  </a:lnTo>
                  <a:lnTo>
                    <a:pt x="5708" y="265542"/>
                  </a:lnTo>
                  <a:lnTo>
                    <a:pt x="0" y="216027"/>
                  </a:lnTo>
                  <a:close/>
                </a:path>
                <a:path w="1183640" h="432435">
                  <a:moveTo>
                    <a:pt x="751458" y="216027"/>
                  </a:moveTo>
                  <a:lnTo>
                    <a:pt x="757167" y="166471"/>
                  </a:lnTo>
                  <a:lnTo>
                    <a:pt x="773425" y="120992"/>
                  </a:lnTo>
                  <a:lnTo>
                    <a:pt x="798935" y="80883"/>
                  </a:lnTo>
                  <a:lnTo>
                    <a:pt x="832395" y="47436"/>
                  </a:lnTo>
                  <a:lnTo>
                    <a:pt x="872507" y="21944"/>
                  </a:lnTo>
                  <a:lnTo>
                    <a:pt x="917970" y="5701"/>
                  </a:lnTo>
                  <a:lnTo>
                    <a:pt x="967485" y="0"/>
                  </a:lnTo>
                  <a:lnTo>
                    <a:pt x="1017041" y="5701"/>
                  </a:lnTo>
                  <a:lnTo>
                    <a:pt x="1062520" y="21944"/>
                  </a:lnTo>
                  <a:lnTo>
                    <a:pt x="1102629" y="47436"/>
                  </a:lnTo>
                  <a:lnTo>
                    <a:pt x="1136076" y="80883"/>
                  </a:lnTo>
                  <a:lnTo>
                    <a:pt x="1161568" y="120992"/>
                  </a:lnTo>
                  <a:lnTo>
                    <a:pt x="1177811" y="166471"/>
                  </a:lnTo>
                  <a:lnTo>
                    <a:pt x="1183512" y="216027"/>
                  </a:lnTo>
                  <a:lnTo>
                    <a:pt x="1177811" y="265542"/>
                  </a:lnTo>
                  <a:lnTo>
                    <a:pt x="1161568" y="311005"/>
                  </a:lnTo>
                  <a:lnTo>
                    <a:pt x="1136076" y="351117"/>
                  </a:lnTo>
                  <a:lnTo>
                    <a:pt x="1102629" y="384577"/>
                  </a:lnTo>
                  <a:lnTo>
                    <a:pt x="1062520" y="410087"/>
                  </a:lnTo>
                  <a:lnTo>
                    <a:pt x="1017041" y="426345"/>
                  </a:lnTo>
                  <a:lnTo>
                    <a:pt x="967485" y="432054"/>
                  </a:lnTo>
                  <a:lnTo>
                    <a:pt x="917970" y="426345"/>
                  </a:lnTo>
                  <a:lnTo>
                    <a:pt x="872507" y="410087"/>
                  </a:lnTo>
                  <a:lnTo>
                    <a:pt x="832395" y="384577"/>
                  </a:lnTo>
                  <a:lnTo>
                    <a:pt x="798935" y="351117"/>
                  </a:lnTo>
                  <a:lnTo>
                    <a:pt x="773425" y="311005"/>
                  </a:lnTo>
                  <a:lnTo>
                    <a:pt x="757167" y="265542"/>
                  </a:lnTo>
                  <a:lnTo>
                    <a:pt x="751458" y="216027"/>
                  </a:lnTo>
                  <a:close/>
                </a:path>
              </a:pathLst>
            </a:custGeom>
            <a:ln w="28575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68534" y="4397375"/>
              <a:ext cx="611505" cy="436880"/>
            </a:xfrm>
            <a:custGeom>
              <a:avLst/>
              <a:gdLst/>
              <a:ahLst/>
              <a:cxnLst/>
              <a:rect l="l" t="t" r="r" b="b"/>
              <a:pathLst>
                <a:path w="611504" h="436879">
                  <a:moveTo>
                    <a:pt x="0" y="432054"/>
                  </a:moveTo>
                  <a:lnTo>
                    <a:pt x="243077" y="0"/>
                  </a:lnTo>
                </a:path>
                <a:path w="611504" h="436879">
                  <a:moveTo>
                    <a:pt x="368426" y="4572"/>
                  </a:moveTo>
                  <a:lnTo>
                    <a:pt x="611377" y="436625"/>
                  </a:lnTo>
                </a:path>
              </a:pathLst>
            </a:custGeom>
            <a:ln w="28575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401172" y="3963606"/>
            <a:ext cx="546100" cy="449580"/>
          </a:xfrm>
          <a:prstGeom prst="rect">
            <a:avLst/>
          </a:prstGeom>
          <a:ln w="28575">
            <a:solidFill>
              <a:srgbClr val="B42C2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7800">
              <a:lnSpc>
                <a:spcPts val="3350"/>
              </a:lnSpc>
            </a:pPr>
            <a:r>
              <a:rPr sz="2800" b="1" spc="-5" dirty="0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623681" y="4813172"/>
            <a:ext cx="1183640" cy="432434"/>
          </a:xfrm>
          <a:custGeom>
            <a:avLst/>
            <a:gdLst/>
            <a:ahLst/>
            <a:cxnLst/>
            <a:rect l="l" t="t" r="r" b="b"/>
            <a:pathLst>
              <a:path w="1183640" h="432435">
                <a:moveTo>
                  <a:pt x="0" y="216026"/>
                </a:moveTo>
                <a:lnTo>
                  <a:pt x="5701" y="166511"/>
                </a:lnTo>
                <a:lnTo>
                  <a:pt x="21944" y="121048"/>
                </a:lnTo>
                <a:lnTo>
                  <a:pt x="47436" y="80936"/>
                </a:lnTo>
                <a:lnTo>
                  <a:pt x="80883" y="47476"/>
                </a:lnTo>
                <a:lnTo>
                  <a:pt x="120992" y="21966"/>
                </a:lnTo>
                <a:lnTo>
                  <a:pt x="166471" y="5708"/>
                </a:lnTo>
                <a:lnTo>
                  <a:pt x="216026" y="0"/>
                </a:lnTo>
                <a:lnTo>
                  <a:pt x="265542" y="5708"/>
                </a:lnTo>
                <a:lnTo>
                  <a:pt x="311005" y="21966"/>
                </a:lnTo>
                <a:lnTo>
                  <a:pt x="351117" y="47476"/>
                </a:lnTo>
                <a:lnTo>
                  <a:pt x="384577" y="80936"/>
                </a:lnTo>
                <a:lnTo>
                  <a:pt x="410087" y="121048"/>
                </a:lnTo>
                <a:lnTo>
                  <a:pt x="426345" y="166511"/>
                </a:lnTo>
                <a:lnTo>
                  <a:pt x="432053" y="216026"/>
                </a:lnTo>
                <a:lnTo>
                  <a:pt x="426345" y="265542"/>
                </a:lnTo>
                <a:lnTo>
                  <a:pt x="410087" y="311005"/>
                </a:lnTo>
                <a:lnTo>
                  <a:pt x="384577" y="351117"/>
                </a:lnTo>
                <a:lnTo>
                  <a:pt x="351117" y="384577"/>
                </a:lnTo>
                <a:lnTo>
                  <a:pt x="311005" y="410087"/>
                </a:lnTo>
                <a:lnTo>
                  <a:pt x="265542" y="426345"/>
                </a:lnTo>
                <a:lnTo>
                  <a:pt x="216026" y="432053"/>
                </a:lnTo>
                <a:lnTo>
                  <a:pt x="166471" y="426345"/>
                </a:lnTo>
                <a:lnTo>
                  <a:pt x="120992" y="410087"/>
                </a:lnTo>
                <a:lnTo>
                  <a:pt x="80883" y="384577"/>
                </a:lnTo>
                <a:lnTo>
                  <a:pt x="47436" y="351117"/>
                </a:lnTo>
                <a:lnTo>
                  <a:pt x="21944" y="311005"/>
                </a:lnTo>
                <a:lnTo>
                  <a:pt x="5701" y="265542"/>
                </a:lnTo>
                <a:lnTo>
                  <a:pt x="0" y="216026"/>
                </a:lnTo>
                <a:close/>
              </a:path>
              <a:path w="1183640" h="432435">
                <a:moveTo>
                  <a:pt x="751459" y="216026"/>
                </a:moveTo>
                <a:lnTo>
                  <a:pt x="757167" y="166511"/>
                </a:lnTo>
                <a:lnTo>
                  <a:pt x="773425" y="121048"/>
                </a:lnTo>
                <a:lnTo>
                  <a:pt x="798935" y="80936"/>
                </a:lnTo>
                <a:lnTo>
                  <a:pt x="832395" y="47476"/>
                </a:lnTo>
                <a:lnTo>
                  <a:pt x="872507" y="21966"/>
                </a:lnTo>
                <a:lnTo>
                  <a:pt x="917970" y="5708"/>
                </a:lnTo>
                <a:lnTo>
                  <a:pt x="967486" y="0"/>
                </a:lnTo>
                <a:lnTo>
                  <a:pt x="1017001" y="5708"/>
                </a:lnTo>
                <a:lnTo>
                  <a:pt x="1062464" y="21966"/>
                </a:lnTo>
                <a:lnTo>
                  <a:pt x="1102576" y="47476"/>
                </a:lnTo>
                <a:lnTo>
                  <a:pt x="1136036" y="80936"/>
                </a:lnTo>
                <a:lnTo>
                  <a:pt x="1161546" y="121048"/>
                </a:lnTo>
                <a:lnTo>
                  <a:pt x="1177804" y="166511"/>
                </a:lnTo>
                <a:lnTo>
                  <a:pt x="1183513" y="216026"/>
                </a:lnTo>
                <a:lnTo>
                  <a:pt x="1177804" y="265542"/>
                </a:lnTo>
                <a:lnTo>
                  <a:pt x="1161546" y="311005"/>
                </a:lnTo>
                <a:lnTo>
                  <a:pt x="1136036" y="351117"/>
                </a:lnTo>
                <a:lnTo>
                  <a:pt x="1102576" y="384577"/>
                </a:lnTo>
                <a:lnTo>
                  <a:pt x="1062464" y="410087"/>
                </a:lnTo>
                <a:lnTo>
                  <a:pt x="1017001" y="426345"/>
                </a:lnTo>
                <a:lnTo>
                  <a:pt x="967486" y="432053"/>
                </a:lnTo>
                <a:lnTo>
                  <a:pt x="917970" y="426345"/>
                </a:lnTo>
                <a:lnTo>
                  <a:pt x="872507" y="410087"/>
                </a:lnTo>
                <a:lnTo>
                  <a:pt x="832395" y="384577"/>
                </a:lnTo>
                <a:lnTo>
                  <a:pt x="798935" y="351117"/>
                </a:lnTo>
                <a:lnTo>
                  <a:pt x="773425" y="311005"/>
                </a:lnTo>
                <a:lnTo>
                  <a:pt x="757167" y="265542"/>
                </a:lnTo>
                <a:lnTo>
                  <a:pt x="751459" y="216026"/>
                </a:lnTo>
                <a:close/>
              </a:path>
            </a:pathLst>
          </a:custGeom>
          <a:ln w="28575">
            <a:solidFill>
              <a:srgbClr val="5A31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751823" y="4805883"/>
            <a:ext cx="23672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3905" algn="l"/>
                <a:tab pos="1449705" algn="l"/>
                <a:tab pos="2200910" algn="l"/>
              </a:tabLst>
            </a:pPr>
            <a:r>
              <a:rPr sz="2400" dirty="0">
                <a:latin typeface="Times New Roman"/>
                <a:cs typeface="Times New Roman"/>
              </a:rPr>
              <a:t>4	5	2	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931402" y="4396359"/>
            <a:ext cx="611505" cy="436880"/>
          </a:xfrm>
          <a:custGeom>
            <a:avLst/>
            <a:gdLst/>
            <a:ahLst/>
            <a:cxnLst/>
            <a:rect l="l" t="t" r="r" b="b"/>
            <a:pathLst>
              <a:path w="611504" h="436879">
                <a:moveTo>
                  <a:pt x="0" y="432054"/>
                </a:moveTo>
                <a:lnTo>
                  <a:pt x="243077" y="0"/>
                </a:lnTo>
              </a:path>
              <a:path w="611504" h="436879">
                <a:moveTo>
                  <a:pt x="368426" y="4572"/>
                </a:moveTo>
                <a:lnTo>
                  <a:pt x="611377" y="436626"/>
                </a:lnTo>
              </a:path>
            </a:pathLst>
          </a:custGeom>
          <a:ln w="28575">
            <a:solidFill>
              <a:srgbClr val="285A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964041" y="3962577"/>
            <a:ext cx="546100" cy="452755"/>
          </a:xfrm>
          <a:prstGeom prst="rect">
            <a:avLst/>
          </a:prstGeom>
          <a:ln w="28575">
            <a:solidFill>
              <a:srgbClr val="B42C2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7800">
              <a:lnSpc>
                <a:spcPts val="3354"/>
              </a:lnSpc>
            </a:pPr>
            <a:r>
              <a:rPr sz="2800" b="1" spc="-5" dirty="0">
                <a:latin typeface="Times New Roman"/>
                <a:cs typeface="Times New Roman"/>
              </a:rPr>
              <a:t>9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375140" y="3384803"/>
            <a:ext cx="1143635" cy="577850"/>
          </a:xfrm>
          <a:custGeom>
            <a:avLst/>
            <a:gdLst/>
            <a:ahLst/>
            <a:cxnLst/>
            <a:rect l="l" t="t" r="r" b="b"/>
            <a:pathLst>
              <a:path w="1143634" h="577850">
                <a:moveTo>
                  <a:pt x="0" y="577723"/>
                </a:moveTo>
                <a:lnTo>
                  <a:pt x="504062" y="10795"/>
                </a:lnTo>
              </a:path>
              <a:path w="1143634" h="577850">
                <a:moveTo>
                  <a:pt x="675131" y="0"/>
                </a:moveTo>
                <a:lnTo>
                  <a:pt x="1143127" y="562483"/>
                </a:lnTo>
              </a:path>
            </a:pathLst>
          </a:custGeom>
          <a:ln w="28575">
            <a:solidFill>
              <a:srgbClr val="285A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668891" y="2961690"/>
            <a:ext cx="546100" cy="452755"/>
          </a:xfrm>
          <a:prstGeom prst="rect">
            <a:avLst/>
          </a:prstGeom>
          <a:ln w="28575">
            <a:solidFill>
              <a:srgbClr val="B42C2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3350"/>
              </a:lnSpc>
            </a:pPr>
            <a:r>
              <a:rPr sz="2800" b="1" dirty="0">
                <a:latin typeface="Times New Roman"/>
                <a:cs typeface="Times New Roman"/>
              </a:rPr>
              <a:t>14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79550" y="1838071"/>
            <a:ext cx="3073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采用数组还是链表呢？</a:t>
            </a:r>
            <a:endParaRPr sz="2400">
              <a:latin typeface="微软雅黑"/>
              <a:cs typeface="微软雅黑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33196" y="1880870"/>
            <a:ext cx="4991735" cy="2731135"/>
            <a:chOff x="833196" y="1880870"/>
            <a:chExt cx="4991735" cy="2731135"/>
          </a:xfrm>
        </p:grpSpPr>
        <p:sp>
          <p:nvSpPr>
            <p:cNvPr id="18" name="object 18"/>
            <p:cNvSpPr/>
            <p:nvPr/>
          </p:nvSpPr>
          <p:spPr>
            <a:xfrm>
              <a:off x="928484" y="2249678"/>
              <a:ext cx="292735" cy="63500"/>
            </a:xfrm>
            <a:custGeom>
              <a:avLst/>
              <a:gdLst/>
              <a:ahLst/>
              <a:cxnLst/>
              <a:rect l="l" t="t" r="r" b="b"/>
              <a:pathLst>
                <a:path w="292734" h="63500">
                  <a:moveTo>
                    <a:pt x="251574" y="0"/>
                  </a:moveTo>
                  <a:lnTo>
                    <a:pt x="40728" y="0"/>
                  </a:lnTo>
                  <a:lnTo>
                    <a:pt x="35940" y="2159"/>
                  </a:lnTo>
                  <a:lnTo>
                    <a:pt x="35940" y="4318"/>
                  </a:lnTo>
                  <a:lnTo>
                    <a:pt x="2400" y="50546"/>
                  </a:lnTo>
                  <a:lnTo>
                    <a:pt x="0" y="54737"/>
                  </a:lnTo>
                  <a:lnTo>
                    <a:pt x="0" y="58927"/>
                  </a:lnTo>
                  <a:lnTo>
                    <a:pt x="4800" y="61087"/>
                  </a:lnTo>
                  <a:lnTo>
                    <a:pt x="7188" y="63119"/>
                  </a:lnTo>
                  <a:lnTo>
                    <a:pt x="14376" y="63119"/>
                  </a:lnTo>
                  <a:lnTo>
                    <a:pt x="16776" y="61087"/>
                  </a:lnTo>
                  <a:lnTo>
                    <a:pt x="19164" y="58927"/>
                  </a:lnTo>
                  <a:lnTo>
                    <a:pt x="47917" y="16891"/>
                  </a:lnTo>
                  <a:lnTo>
                    <a:pt x="265497" y="16891"/>
                  </a:lnTo>
                  <a:lnTo>
                    <a:pt x="256374" y="4318"/>
                  </a:lnTo>
                  <a:lnTo>
                    <a:pt x="251574" y="0"/>
                  </a:lnTo>
                  <a:close/>
                </a:path>
                <a:path w="292734" h="63500">
                  <a:moveTo>
                    <a:pt x="265497" y="16891"/>
                  </a:moveTo>
                  <a:lnTo>
                    <a:pt x="244386" y="16891"/>
                  </a:lnTo>
                  <a:lnTo>
                    <a:pt x="273138" y="58927"/>
                  </a:lnTo>
                  <a:lnTo>
                    <a:pt x="275539" y="61087"/>
                  </a:lnTo>
                  <a:lnTo>
                    <a:pt x="277926" y="63119"/>
                  </a:lnTo>
                  <a:lnTo>
                    <a:pt x="285115" y="63119"/>
                  </a:lnTo>
                  <a:lnTo>
                    <a:pt x="287515" y="61087"/>
                  </a:lnTo>
                  <a:lnTo>
                    <a:pt x="292303" y="58927"/>
                  </a:lnTo>
                  <a:lnTo>
                    <a:pt x="292303" y="54737"/>
                  </a:lnTo>
                  <a:lnTo>
                    <a:pt x="289915" y="50546"/>
                  </a:lnTo>
                  <a:lnTo>
                    <a:pt x="265497" y="16891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1768" y="1880870"/>
              <a:ext cx="145453" cy="11404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0653" y="1880870"/>
              <a:ext cx="146812" cy="11404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92124" y="1922145"/>
              <a:ext cx="362585" cy="316865"/>
            </a:xfrm>
            <a:custGeom>
              <a:avLst/>
              <a:gdLst/>
              <a:ahLst/>
              <a:cxnLst/>
              <a:rect l="l" t="t" r="r" b="b"/>
              <a:pathLst>
                <a:path w="362584" h="316864">
                  <a:moveTo>
                    <a:pt x="182321" y="0"/>
                  </a:moveTo>
                  <a:lnTo>
                    <a:pt x="133829" y="5645"/>
                  </a:lnTo>
                  <a:lnTo>
                    <a:pt x="90269" y="21580"/>
                  </a:lnTo>
                  <a:lnTo>
                    <a:pt x="53374" y="46307"/>
                  </a:lnTo>
                  <a:lnTo>
                    <a:pt x="24876" y="78326"/>
                  </a:lnTo>
                  <a:lnTo>
                    <a:pt x="6507" y="116137"/>
                  </a:lnTo>
                  <a:lnTo>
                    <a:pt x="0" y="158241"/>
                  </a:lnTo>
                  <a:lnTo>
                    <a:pt x="6507" y="200400"/>
                  </a:lnTo>
                  <a:lnTo>
                    <a:pt x="24876" y="238247"/>
                  </a:lnTo>
                  <a:lnTo>
                    <a:pt x="53374" y="270287"/>
                  </a:lnTo>
                  <a:lnTo>
                    <a:pt x="90269" y="295025"/>
                  </a:lnTo>
                  <a:lnTo>
                    <a:pt x="133829" y="310965"/>
                  </a:lnTo>
                  <a:lnTo>
                    <a:pt x="182321" y="316610"/>
                  </a:lnTo>
                  <a:lnTo>
                    <a:pt x="230630" y="310965"/>
                  </a:lnTo>
                  <a:lnTo>
                    <a:pt x="273741" y="295025"/>
                  </a:lnTo>
                  <a:lnTo>
                    <a:pt x="310056" y="270287"/>
                  </a:lnTo>
                  <a:lnTo>
                    <a:pt x="337975" y="238247"/>
                  </a:lnTo>
                  <a:lnTo>
                    <a:pt x="355899" y="200400"/>
                  </a:lnTo>
                  <a:lnTo>
                    <a:pt x="360341" y="170814"/>
                  </a:lnTo>
                  <a:lnTo>
                    <a:pt x="175120" y="170814"/>
                  </a:lnTo>
                  <a:lnTo>
                    <a:pt x="170319" y="164591"/>
                  </a:lnTo>
                  <a:lnTo>
                    <a:pt x="170319" y="43687"/>
                  </a:lnTo>
                  <a:lnTo>
                    <a:pt x="175120" y="37464"/>
                  </a:lnTo>
                  <a:lnTo>
                    <a:pt x="297069" y="37464"/>
                  </a:lnTo>
                  <a:lnTo>
                    <a:pt x="273741" y="21580"/>
                  </a:lnTo>
                  <a:lnTo>
                    <a:pt x="230630" y="5645"/>
                  </a:lnTo>
                  <a:lnTo>
                    <a:pt x="182321" y="0"/>
                  </a:lnTo>
                  <a:close/>
                </a:path>
                <a:path w="362584" h="316864">
                  <a:moveTo>
                    <a:pt x="297069" y="37464"/>
                  </a:moveTo>
                  <a:lnTo>
                    <a:pt x="191909" y="37464"/>
                  </a:lnTo>
                  <a:lnTo>
                    <a:pt x="199110" y="43687"/>
                  </a:lnTo>
                  <a:lnTo>
                    <a:pt x="199110" y="145795"/>
                  </a:lnTo>
                  <a:lnTo>
                    <a:pt x="256679" y="145795"/>
                  </a:lnTo>
                  <a:lnTo>
                    <a:pt x="263880" y="149987"/>
                  </a:lnTo>
                  <a:lnTo>
                    <a:pt x="263880" y="164591"/>
                  </a:lnTo>
                  <a:lnTo>
                    <a:pt x="256679" y="170814"/>
                  </a:lnTo>
                  <a:lnTo>
                    <a:pt x="360341" y="170814"/>
                  </a:lnTo>
                  <a:lnTo>
                    <a:pt x="362229" y="158241"/>
                  </a:lnTo>
                  <a:lnTo>
                    <a:pt x="355899" y="116137"/>
                  </a:lnTo>
                  <a:lnTo>
                    <a:pt x="337975" y="78326"/>
                  </a:lnTo>
                  <a:lnTo>
                    <a:pt x="310056" y="46307"/>
                  </a:lnTo>
                  <a:lnTo>
                    <a:pt x="297069" y="37464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016504" y="2622804"/>
              <a:ext cx="2794635" cy="1081405"/>
            </a:xfrm>
            <a:custGeom>
              <a:avLst/>
              <a:gdLst/>
              <a:ahLst/>
              <a:cxnLst/>
              <a:rect l="l" t="t" r="r" b="b"/>
              <a:pathLst>
                <a:path w="2794635" h="1081404">
                  <a:moveTo>
                    <a:pt x="0" y="54101"/>
                  </a:moveTo>
                  <a:lnTo>
                    <a:pt x="323976" y="54101"/>
                  </a:lnTo>
                  <a:lnTo>
                    <a:pt x="323976" y="0"/>
                  </a:lnTo>
                  <a:lnTo>
                    <a:pt x="431926" y="108076"/>
                  </a:lnTo>
                  <a:lnTo>
                    <a:pt x="323976" y="216026"/>
                  </a:lnTo>
                  <a:lnTo>
                    <a:pt x="323976" y="162051"/>
                  </a:lnTo>
                  <a:lnTo>
                    <a:pt x="0" y="162051"/>
                  </a:lnTo>
                  <a:lnTo>
                    <a:pt x="0" y="54101"/>
                  </a:lnTo>
                  <a:close/>
                </a:path>
                <a:path w="2794635" h="1081404">
                  <a:moveTo>
                    <a:pt x="2362199" y="69469"/>
                  </a:moveTo>
                  <a:lnTo>
                    <a:pt x="2686176" y="69469"/>
                  </a:lnTo>
                  <a:lnTo>
                    <a:pt x="2686176" y="15494"/>
                  </a:lnTo>
                  <a:lnTo>
                    <a:pt x="2794126" y="123571"/>
                  </a:lnTo>
                  <a:lnTo>
                    <a:pt x="2686176" y="231521"/>
                  </a:lnTo>
                  <a:lnTo>
                    <a:pt x="2686176" y="177546"/>
                  </a:lnTo>
                  <a:lnTo>
                    <a:pt x="2362199" y="177546"/>
                  </a:lnTo>
                  <a:lnTo>
                    <a:pt x="2362199" y="69469"/>
                  </a:lnTo>
                  <a:close/>
                </a:path>
                <a:path w="2794635" h="1081404">
                  <a:moveTo>
                    <a:pt x="1515618" y="919099"/>
                  </a:moveTo>
                  <a:lnTo>
                    <a:pt x="1839595" y="919099"/>
                  </a:lnTo>
                  <a:lnTo>
                    <a:pt x="1839595" y="865124"/>
                  </a:lnTo>
                  <a:lnTo>
                    <a:pt x="1947545" y="973074"/>
                  </a:lnTo>
                  <a:lnTo>
                    <a:pt x="1839595" y="1081151"/>
                  </a:lnTo>
                  <a:lnTo>
                    <a:pt x="1839595" y="1027176"/>
                  </a:lnTo>
                  <a:lnTo>
                    <a:pt x="1515618" y="1027176"/>
                  </a:lnTo>
                  <a:lnTo>
                    <a:pt x="1515618" y="919099"/>
                  </a:lnTo>
                  <a:close/>
                </a:path>
              </a:pathLst>
            </a:custGeom>
            <a:ln w="28575">
              <a:solidFill>
                <a:srgbClr val="B42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19911" y="4548886"/>
              <a:ext cx="292735" cy="63500"/>
            </a:xfrm>
            <a:custGeom>
              <a:avLst/>
              <a:gdLst/>
              <a:ahLst/>
              <a:cxnLst/>
              <a:rect l="l" t="t" r="r" b="b"/>
              <a:pathLst>
                <a:path w="292734" h="63500">
                  <a:moveTo>
                    <a:pt x="251574" y="0"/>
                  </a:moveTo>
                  <a:lnTo>
                    <a:pt x="40728" y="0"/>
                  </a:lnTo>
                  <a:lnTo>
                    <a:pt x="35940" y="2031"/>
                  </a:lnTo>
                  <a:lnTo>
                    <a:pt x="35940" y="4190"/>
                  </a:lnTo>
                  <a:lnTo>
                    <a:pt x="2400" y="50418"/>
                  </a:lnTo>
                  <a:lnTo>
                    <a:pt x="0" y="54609"/>
                  </a:lnTo>
                  <a:lnTo>
                    <a:pt x="0" y="58800"/>
                  </a:lnTo>
                  <a:lnTo>
                    <a:pt x="4787" y="60959"/>
                  </a:lnTo>
                  <a:lnTo>
                    <a:pt x="7188" y="62991"/>
                  </a:lnTo>
                  <a:lnTo>
                    <a:pt x="14376" y="62991"/>
                  </a:lnTo>
                  <a:lnTo>
                    <a:pt x="16776" y="60959"/>
                  </a:lnTo>
                  <a:lnTo>
                    <a:pt x="19164" y="58800"/>
                  </a:lnTo>
                  <a:lnTo>
                    <a:pt x="47917" y="16763"/>
                  </a:lnTo>
                  <a:lnTo>
                    <a:pt x="265484" y="16763"/>
                  </a:lnTo>
                  <a:lnTo>
                    <a:pt x="256362" y="4190"/>
                  </a:lnTo>
                  <a:lnTo>
                    <a:pt x="253974" y="2031"/>
                  </a:lnTo>
                  <a:lnTo>
                    <a:pt x="251574" y="0"/>
                  </a:lnTo>
                  <a:close/>
                </a:path>
                <a:path w="292734" h="63500">
                  <a:moveTo>
                    <a:pt x="265484" y="16763"/>
                  </a:moveTo>
                  <a:lnTo>
                    <a:pt x="244386" y="16763"/>
                  </a:lnTo>
                  <a:lnTo>
                    <a:pt x="273138" y="58800"/>
                  </a:lnTo>
                  <a:lnTo>
                    <a:pt x="275539" y="60959"/>
                  </a:lnTo>
                  <a:lnTo>
                    <a:pt x="277926" y="62991"/>
                  </a:lnTo>
                  <a:lnTo>
                    <a:pt x="285115" y="62991"/>
                  </a:lnTo>
                  <a:lnTo>
                    <a:pt x="287515" y="60959"/>
                  </a:lnTo>
                  <a:lnTo>
                    <a:pt x="292303" y="58800"/>
                  </a:lnTo>
                  <a:lnTo>
                    <a:pt x="292303" y="54609"/>
                  </a:lnTo>
                  <a:lnTo>
                    <a:pt x="289902" y="50418"/>
                  </a:lnTo>
                  <a:lnTo>
                    <a:pt x="265484" y="16763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3196" y="4179951"/>
              <a:ext cx="145453" cy="11404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52080" y="4179951"/>
              <a:ext cx="146875" cy="114046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83551" y="4221226"/>
              <a:ext cx="362585" cy="316865"/>
            </a:xfrm>
            <a:custGeom>
              <a:avLst/>
              <a:gdLst/>
              <a:ahLst/>
              <a:cxnLst/>
              <a:rect l="l" t="t" r="r" b="b"/>
              <a:pathLst>
                <a:path w="362584" h="316864">
                  <a:moveTo>
                    <a:pt x="182308" y="0"/>
                  </a:moveTo>
                  <a:lnTo>
                    <a:pt x="133821" y="5645"/>
                  </a:lnTo>
                  <a:lnTo>
                    <a:pt x="90265" y="21585"/>
                  </a:lnTo>
                  <a:lnTo>
                    <a:pt x="53373" y="46323"/>
                  </a:lnTo>
                  <a:lnTo>
                    <a:pt x="24876" y="78363"/>
                  </a:lnTo>
                  <a:lnTo>
                    <a:pt x="6507" y="116210"/>
                  </a:lnTo>
                  <a:lnTo>
                    <a:pt x="0" y="158369"/>
                  </a:lnTo>
                  <a:lnTo>
                    <a:pt x="6507" y="200483"/>
                  </a:lnTo>
                  <a:lnTo>
                    <a:pt x="24876" y="238317"/>
                  </a:lnTo>
                  <a:lnTo>
                    <a:pt x="53373" y="270367"/>
                  </a:lnTo>
                  <a:lnTo>
                    <a:pt x="90265" y="295124"/>
                  </a:lnTo>
                  <a:lnTo>
                    <a:pt x="133821" y="311083"/>
                  </a:lnTo>
                  <a:lnTo>
                    <a:pt x="182308" y="316738"/>
                  </a:lnTo>
                  <a:lnTo>
                    <a:pt x="230622" y="311083"/>
                  </a:lnTo>
                  <a:lnTo>
                    <a:pt x="273737" y="295124"/>
                  </a:lnTo>
                  <a:lnTo>
                    <a:pt x="310054" y="270367"/>
                  </a:lnTo>
                  <a:lnTo>
                    <a:pt x="337974" y="238317"/>
                  </a:lnTo>
                  <a:lnTo>
                    <a:pt x="355899" y="200483"/>
                  </a:lnTo>
                  <a:lnTo>
                    <a:pt x="360358" y="170815"/>
                  </a:lnTo>
                  <a:lnTo>
                    <a:pt x="175120" y="170815"/>
                  </a:lnTo>
                  <a:lnTo>
                    <a:pt x="170319" y="164592"/>
                  </a:lnTo>
                  <a:lnTo>
                    <a:pt x="170319" y="43687"/>
                  </a:lnTo>
                  <a:lnTo>
                    <a:pt x="175120" y="37465"/>
                  </a:lnTo>
                  <a:lnTo>
                    <a:pt x="297050" y="37465"/>
                  </a:lnTo>
                  <a:lnTo>
                    <a:pt x="273737" y="21585"/>
                  </a:lnTo>
                  <a:lnTo>
                    <a:pt x="230622" y="5645"/>
                  </a:lnTo>
                  <a:lnTo>
                    <a:pt x="182308" y="0"/>
                  </a:lnTo>
                  <a:close/>
                </a:path>
                <a:path w="362584" h="316864">
                  <a:moveTo>
                    <a:pt x="297050" y="37465"/>
                  </a:moveTo>
                  <a:lnTo>
                    <a:pt x="191909" y="37465"/>
                  </a:lnTo>
                  <a:lnTo>
                    <a:pt x="199110" y="43687"/>
                  </a:lnTo>
                  <a:lnTo>
                    <a:pt x="199110" y="145796"/>
                  </a:lnTo>
                  <a:lnTo>
                    <a:pt x="256679" y="145796"/>
                  </a:lnTo>
                  <a:lnTo>
                    <a:pt x="263880" y="149987"/>
                  </a:lnTo>
                  <a:lnTo>
                    <a:pt x="263880" y="164592"/>
                  </a:lnTo>
                  <a:lnTo>
                    <a:pt x="256679" y="170815"/>
                  </a:lnTo>
                  <a:lnTo>
                    <a:pt x="360358" y="170815"/>
                  </a:lnTo>
                  <a:lnTo>
                    <a:pt x="362229" y="158369"/>
                  </a:lnTo>
                  <a:lnTo>
                    <a:pt x="355899" y="116210"/>
                  </a:lnTo>
                  <a:lnTo>
                    <a:pt x="337974" y="78363"/>
                  </a:lnTo>
                  <a:lnTo>
                    <a:pt x="310054" y="46323"/>
                  </a:lnTo>
                  <a:lnTo>
                    <a:pt x="297050" y="37465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995273" y="2522982"/>
            <a:ext cx="1778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sz="2400" i="1" spc="-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个叶子结点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693667" y="2536316"/>
            <a:ext cx="15481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合并</a:t>
            </a:r>
            <a:r>
              <a:rPr sz="2400" spc="-175" dirty="0">
                <a:solidFill>
                  <a:srgbClr val="404040"/>
                </a:solidFill>
                <a:latin typeface="微软雅黑"/>
                <a:cs typeface="微软雅黑"/>
              </a:rPr>
              <a:t> </a:t>
            </a: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sz="2400" dirty="0">
                <a:solidFill>
                  <a:srgbClr val="404040"/>
                </a:solidFill>
                <a:latin typeface="宋体"/>
                <a:cs typeface="宋体"/>
              </a:rPr>
              <a:t>-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1</a:t>
            </a:r>
            <a:r>
              <a:rPr sz="24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次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056121" y="2551938"/>
            <a:ext cx="2006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sz="2400" dirty="0">
                <a:solidFill>
                  <a:srgbClr val="404040"/>
                </a:solidFill>
                <a:latin typeface="宋体"/>
                <a:cs typeface="宋体"/>
              </a:rPr>
              <a:t>-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1</a:t>
            </a: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个分支结点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20597" y="3379089"/>
            <a:ext cx="34537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哈夫曼树共有</a:t>
            </a:r>
            <a:r>
              <a:rPr sz="2400" spc="-125" dirty="0">
                <a:solidFill>
                  <a:srgbClr val="404040"/>
                </a:solidFill>
                <a:latin typeface="微软雅黑"/>
                <a:cs typeface="微软雅黑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2</a:t>
            </a: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sz="2400" dirty="0">
                <a:solidFill>
                  <a:srgbClr val="404040"/>
                </a:solidFill>
                <a:latin typeface="宋体"/>
                <a:cs typeface="宋体"/>
              </a:rPr>
              <a:t>-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1</a:t>
            </a: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个结点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113146" y="3361690"/>
            <a:ext cx="28003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设数组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hu</a:t>
            </a:r>
            <a:r>
              <a:rPr sz="2400" spc="-60" dirty="0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r>
              <a:rPr sz="2400" spc="-95" dirty="0">
                <a:solidFill>
                  <a:srgbClr val="404040"/>
                </a:solidFill>
                <a:latin typeface="Times New Roman"/>
                <a:cs typeface="Times New Roman"/>
              </a:rPr>
              <a:t>T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re</a:t>
            </a:r>
            <a:r>
              <a:rPr sz="2400" spc="5" dirty="0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[2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n</a:t>
            </a:r>
            <a:r>
              <a:rPr sz="2400" dirty="0">
                <a:solidFill>
                  <a:srgbClr val="404040"/>
                </a:solidFill>
                <a:latin typeface="宋体"/>
                <a:cs typeface="宋体"/>
              </a:rPr>
              <a:t>-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1]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51687" y="4137405"/>
            <a:ext cx="3988435" cy="1114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72720"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须存储哪些关系呢？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404040"/>
                </a:solidFill>
                <a:latin typeface="微软雅黑"/>
                <a:cs typeface="微软雅黑"/>
              </a:rPr>
              <a:t>选取</a:t>
            </a:r>
            <a:r>
              <a:rPr sz="2400" spc="-5" dirty="0">
                <a:solidFill>
                  <a:srgbClr val="B42C2C"/>
                </a:solidFill>
                <a:latin typeface="微软雅黑"/>
                <a:cs typeface="微软雅黑"/>
              </a:rPr>
              <a:t>根</a:t>
            </a:r>
            <a:r>
              <a:rPr sz="2400" spc="-5" dirty="0">
                <a:solidFill>
                  <a:srgbClr val="404040"/>
                </a:solidFill>
                <a:latin typeface="微软雅黑"/>
                <a:cs typeface="微软雅黑"/>
              </a:rPr>
              <a:t>结点权值最小的二叉树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787390" y="4829632"/>
            <a:ext cx="20085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404040"/>
                </a:solidFill>
                <a:latin typeface="微软雅黑"/>
                <a:cs typeface="微软雅黑"/>
              </a:rPr>
              <a:t>存储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paren</a:t>
            </a:r>
            <a:r>
              <a:rPr sz="2400" spc="10" dirty="0">
                <a:solidFill>
                  <a:srgbClr val="404040"/>
                </a:solidFill>
                <a:latin typeface="Times New Roman"/>
                <a:cs typeface="Times New Roman"/>
              </a:rPr>
              <a:t>t</a:t>
            </a:r>
            <a:r>
              <a:rPr sz="2400" spc="-5" dirty="0">
                <a:solidFill>
                  <a:srgbClr val="404040"/>
                </a:solidFill>
                <a:latin typeface="微软雅黑"/>
                <a:cs typeface="微软雅黑"/>
              </a:rPr>
              <a:t>信息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206238" y="4958715"/>
            <a:ext cx="432434" cy="216535"/>
          </a:xfrm>
          <a:custGeom>
            <a:avLst/>
            <a:gdLst/>
            <a:ahLst/>
            <a:cxnLst/>
            <a:rect l="l" t="t" r="r" b="b"/>
            <a:pathLst>
              <a:path w="432435" h="216535">
                <a:moveTo>
                  <a:pt x="0" y="53975"/>
                </a:moveTo>
                <a:lnTo>
                  <a:pt x="323976" y="53975"/>
                </a:lnTo>
                <a:lnTo>
                  <a:pt x="323976" y="0"/>
                </a:lnTo>
                <a:lnTo>
                  <a:pt x="432053" y="107950"/>
                </a:lnTo>
                <a:lnTo>
                  <a:pt x="323976" y="216027"/>
                </a:lnTo>
                <a:lnTo>
                  <a:pt x="323976" y="161925"/>
                </a:lnTo>
                <a:lnTo>
                  <a:pt x="0" y="161925"/>
                </a:lnTo>
                <a:lnTo>
                  <a:pt x="0" y="53975"/>
                </a:lnTo>
                <a:close/>
              </a:path>
            </a:pathLst>
          </a:custGeom>
          <a:ln w="28575">
            <a:solidFill>
              <a:srgbClr val="B42C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928522" y="5515762"/>
            <a:ext cx="6861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16679" algn="l"/>
              </a:tabLst>
            </a:pP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作为左右子树进行合并	存储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l</a:t>
            </a:r>
            <a:r>
              <a:rPr sz="2400" spc="5" dirty="0">
                <a:solidFill>
                  <a:srgbClr val="404040"/>
                </a:solidFill>
                <a:latin typeface="Times New Roman"/>
                <a:cs typeface="Times New Roman"/>
              </a:rPr>
              <a:t>c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hi</a:t>
            </a:r>
            <a:r>
              <a:rPr sz="2400" spc="5" dirty="0">
                <a:solidFill>
                  <a:srgbClr val="404040"/>
                </a:solidFill>
                <a:latin typeface="Times New Roman"/>
                <a:cs typeface="Times New Roman"/>
              </a:rPr>
              <a:t>ld</a:t>
            </a: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和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rchil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d</a:t>
            </a: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信息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251959" y="5644502"/>
            <a:ext cx="432434" cy="216535"/>
          </a:xfrm>
          <a:custGeom>
            <a:avLst/>
            <a:gdLst/>
            <a:ahLst/>
            <a:cxnLst/>
            <a:rect l="l" t="t" r="r" b="b"/>
            <a:pathLst>
              <a:path w="432435" h="216535">
                <a:moveTo>
                  <a:pt x="0" y="54000"/>
                </a:moveTo>
                <a:lnTo>
                  <a:pt x="323976" y="54000"/>
                </a:lnTo>
                <a:lnTo>
                  <a:pt x="323976" y="0"/>
                </a:lnTo>
                <a:lnTo>
                  <a:pt x="432053" y="107988"/>
                </a:lnTo>
                <a:lnTo>
                  <a:pt x="323976" y="215988"/>
                </a:lnTo>
                <a:lnTo>
                  <a:pt x="323976" y="161988"/>
                </a:lnTo>
                <a:lnTo>
                  <a:pt x="0" y="161988"/>
                </a:lnTo>
                <a:lnTo>
                  <a:pt x="0" y="54000"/>
                </a:lnTo>
                <a:close/>
              </a:path>
            </a:pathLst>
          </a:custGeom>
          <a:ln w="28575">
            <a:solidFill>
              <a:srgbClr val="B42C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7" name="object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414359"/>
              </p:ext>
            </p:extLst>
          </p:nvPr>
        </p:nvGraphicFramePr>
        <p:xfrm>
          <a:off x="7152258" y="1871687"/>
          <a:ext cx="4497705" cy="530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2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7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4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8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2800" b="1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weight</a:t>
                      </a:r>
                      <a:endParaRPr sz="28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5715" marB="0">
                    <a:lnL w="38100">
                      <a:solidFill>
                        <a:srgbClr val="507C7C"/>
                      </a:solidFill>
                      <a:prstDash val="solid"/>
                    </a:lnL>
                    <a:lnR w="38100">
                      <a:solidFill>
                        <a:srgbClr val="507C7C"/>
                      </a:solidFill>
                      <a:prstDash val="solid"/>
                    </a:lnR>
                    <a:lnT w="38100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2800" b="1" spc="-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lchild</a:t>
                      </a:r>
                      <a:endParaRPr sz="28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5715" marB="0">
                    <a:lnL w="38100">
                      <a:solidFill>
                        <a:srgbClr val="507C7C"/>
                      </a:solidFill>
                      <a:prstDash val="solid"/>
                    </a:lnL>
                    <a:lnR w="38100">
                      <a:solidFill>
                        <a:srgbClr val="507C7C"/>
                      </a:solidFill>
                      <a:prstDash val="solid"/>
                    </a:lnR>
                    <a:lnT w="38100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2800" b="1" spc="-1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rchild</a:t>
                      </a:r>
                      <a:endParaRPr sz="28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5715" marB="0">
                    <a:lnL w="38100">
                      <a:solidFill>
                        <a:srgbClr val="507C7C"/>
                      </a:solidFill>
                      <a:prstDash val="solid"/>
                    </a:lnL>
                    <a:lnR w="38100">
                      <a:solidFill>
                        <a:srgbClr val="507C7C"/>
                      </a:solidFill>
                      <a:prstDash val="solid"/>
                    </a:lnR>
                    <a:lnT w="38100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2800" b="1" spc="-1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parent</a:t>
                      </a:r>
                      <a:endParaRPr sz="28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5715" marB="0">
                    <a:lnL w="38100">
                      <a:solidFill>
                        <a:srgbClr val="507C7C"/>
                      </a:solidFill>
                      <a:prstDash val="solid"/>
                    </a:lnL>
                    <a:lnR w="38100">
                      <a:solidFill>
                        <a:srgbClr val="507C7C"/>
                      </a:solidFill>
                      <a:prstDash val="solid"/>
                    </a:lnR>
                    <a:lnT w="38100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1995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48643" y="2017267"/>
            <a:ext cx="152400" cy="25355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algn="just">
              <a:lnSpc>
                <a:spcPts val="1000"/>
              </a:lnSpc>
              <a:spcBef>
                <a:spcPts val="2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数 据 结 构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880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（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从 概 念 到 实 现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975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640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清 华 大 学 出 版 社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42925" y="100964"/>
            <a:ext cx="2376170" cy="540385"/>
          </a:xfrm>
          <a:custGeom>
            <a:avLst/>
            <a:gdLst/>
            <a:ahLst/>
            <a:cxnLst/>
            <a:rect l="l" t="t" r="r" b="b"/>
            <a:pathLst>
              <a:path w="2376170" h="540385">
                <a:moveTo>
                  <a:pt x="2286000" y="0"/>
                </a:moveTo>
                <a:lnTo>
                  <a:pt x="90004" y="0"/>
                </a:lnTo>
                <a:lnTo>
                  <a:pt x="54971" y="7068"/>
                </a:lnTo>
                <a:lnTo>
                  <a:pt x="26362" y="26352"/>
                </a:lnTo>
                <a:lnTo>
                  <a:pt x="7073" y="54971"/>
                </a:lnTo>
                <a:lnTo>
                  <a:pt x="0" y="90042"/>
                </a:lnTo>
                <a:lnTo>
                  <a:pt x="0" y="449960"/>
                </a:lnTo>
                <a:lnTo>
                  <a:pt x="7073" y="485032"/>
                </a:lnTo>
                <a:lnTo>
                  <a:pt x="26362" y="513651"/>
                </a:lnTo>
                <a:lnTo>
                  <a:pt x="54971" y="532935"/>
                </a:lnTo>
                <a:lnTo>
                  <a:pt x="90004" y="540003"/>
                </a:lnTo>
                <a:lnTo>
                  <a:pt x="2286000" y="540003"/>
                </a:lnTo>
                <a:lnTo>
                  <a:pt x="2321018" y="532935"/>
                </a:lnTo>
                <a:lnTo>
                  <a:pt x="2349642" y="513651"/>
                </a:lnTo>
                <a:lnTo>
                  <a:pt x="2368956" y="485032"/>
                </a:lnTo>
                <a:lnTo>
                  <a:pt x="2376043" y="449960"/>
                </a:lnTo>
                <a:lnTo>
                  <a:pt x="2376043" y="90042"/>
                </a:lnTo>
                <a:lnTo>
                  <a:pt x="2368956" y="54971"/>
                </a:lnTo>
                <a:lnTo>
                  <a:pt x="2349642" y="26352"/>
                </a:lnTo>
                <a:lnTo>
                  <a:pt x="2321018" y="7068"/>
                </a:lnTo>
                <a:lnTo>
                  <a:pt x="2286000" y="0"/>
                </a:lnTo>
                <a:close/>
              </a:path>
            </a:pathLst>
          </a:custGeom>
          <a:solidFill>
            <a:srgbClr val="5A31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6991" y="141809"/>
            <a:ext cx="206375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solidFill>
                  <a:schemeClr val="bg1"/>
                </a:solidFill>
              </a:rPr>
              <a:t>哈夫</a:t>
            </a:r>
            <a:r>
              <a:rPr sz="2800" spc="-10" dirty="0">
                <a:solidFill>
                  <a:schemeClr val="bg1"/>
                </a:solidFill>
              </a:rPr>
              <a:t>曼</a:t>
            </a:r>
            <a:r>
              <a:rPr sz="2800" spc="-5" dirty="0">
                <a:solidFill>
                  <a:schemeClr val="bg1"/>
                </a:solidFill>
              </a:rPr>
              <a:t>算</a:t>
            </a:r>
            <a:r>
              <a:rPr sz="2800" spc="-10" dirty="0">
                <a:solidFill>
                  <a:schemeClr val="bg1"/>
                </a:solidFill>
              </a:rPr>
              <a:t>法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6991" y="997661"/>
            <a:ext cx="71310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B42C2C"/>
                </a:solidFill>
                <a:latin typeface="微软雅黑"/>
                <a:cs typeface="微软雅黑"/>
              </a:rPr>
              <a:t>【算法</a:t>
            </a:r>
            <a:r>
              <a:rPr sz="2800" spc="-10" dirty="0">
                <a:solidFill>
                  <a:srgbClr val="B42C2C"/>
                </a:solidFill>
                <a:latin typeface="Times New Roman"/>
                <a:cs typeface="Times New Roman"/>
              </a:rPr>
              <a:t>——</a:t>
            </a:r>
            <a:r>
              <a:rPr sz="2800" spc="-10" dirty="0">
                <a:solidFill>
                  <a:srgbClr val="B42C2C"/>
                </a:solidFill>
                <a:latin typeface="微软雅黑"/>
                <a:cs typeface="微软雅黑"/>
              </a:rPr>
              <a:t>数据表示】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如何存</a:t>
            </a:r>
            <a:r>
              <a:rPr sz="2800" spc="-15" dirty="0">
                <a:solidFill>
                  <a:srgbClr val="404040"/>
                </a:solidFill>
                <a:latin typeface="微软雅黑"/>
                <a:cs typeface="微软雅黑"/>
              </a:rPr>
              <a:t>储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哈夫曼树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呢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？</a:t>
            </a:r>
            <a:endParaRPr sz="2800">
              <a:latin typeface="微软雅黑"/>
              <a:cs typeface="微软雅黑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0046525" y="4383087"/>
            <a:ext cx="1212215" cy="877569"/>
            <a:chOff x="10046525" y="4383087"/>
            <a:chExt cx="1212215" cy="877569"/>
          </a:xfrm>
        </p:grpSpPr>
        <p:sp>
          <p:nvSpPr>
            <p:cNvPr id="7" name="object 7"/>
            <p:cNvSpPr/>
            <p:nvPr/>
          </p:nvSpPr>
          <p:spPr>
            <a:xfrm>
              <a:off x="10060813" y="4814188"/>
              <a:ext cx="1183640" cy="432434"/>
            </a:xfrm>
            <a:custGeom>
              <a:avLst/>
              <a:gdLst/>
              <a:ahLst/>
              <a:cxnLst/>
              <a:rect l="l" t="t" r="r" b="b"/>
              <a:pathLst>
                <a:path w="1183640" h="432435">
                  <a:moveTo>
                    <a:pt x="0" y="216027"/>
                  </a:moveTo>
                  <a:lnTo>
                    <a:pt x="5708" y="166471"/>
                  </a:lnTo>
                  <a:lnTo>
                    <a:pt x="21966" y="120992"/>
                  </a:lnTo>
                  <a:lnTo>
                    <a:pt x="47476" y="80883"/>
                  </a:lnTo>
                  <a:lnTo>
                    <a:pt x="80936" y="47436"/>
                  </a:lnTo>
                  <a:lnTo>
                    <a:pt x="121048" y="21944"/>
                  </a:lnTo>
                  <a:lnTo>
                    <a:pt x="166511" y="5701"/>
                  </a:lnTo>
                  <a:lnTo>
                    <a:pt x="216026" y="0"/>
                  </a:lnTo>
                  <a:lnTo>
                    <a:pt x="265542" y="5701"/>
                  </a:lnTo>
                  <a:lnTo>
                    <a:pt x="311005" y="21944"/>
                  </a:lnTo>
                  <a:lnTo>
                    <a:pt x="351117" y="47436"/>
                  </a:lnTo>
                  <a:lnTo>
                    <a:pt x="384577" y="80883"/>
                  </a:lnTo>
                  <a:lnTo>
                    <a:pt x="410087" y="120992"/>
                  </a:lnTo>
                  <a:lnTo>
                    <a:pt x="426345" y="166471"/>
                  </a:lnTo>
                  <a:lnTo>
                    <a:pt x="432053" y="216027"/>
                  </a:lnTo>
                  <a:lnTo>
                    <a:pt x="426345" y="265542"/>
                  </a:lnTo>
                  <a:lnTo>
                    <a:pt x="410087" y="311005"/>
                  </a:lnTo>
                  <a:lnTo>
                    <a:pt x="384577" y="351117"/>
                  </a:lnTo>
                  <a:lnTo>
                    <a:pt x="351117" y="384577"/>
                  </a:lnTo>
                  <a:lnTo>
                    <a:pt x="311005" y="410087"/>
                  </a:lnTo>
                  <a:lnTo>
                    <a:pt x="265542" y="426345"/>
                  </a:lnTo>
                  <a:lnTo>
                    <a:pt x="216026" y="432054"/>
                  </a:lnTo>
                  <a:lnTo>
                    <a:pt x="166511" y="426345"/>
                  </a:lnTo>
                  <a:lnTo>
                    <a:pt x="121048" y="410087"/>
                  </a:lnTo>
                  <a:lnTo>
                    <a:pt x="80936" y="384577"/>
                  </a:lnTo>
                  <a:lnTo>
                    <a:pt x="47476" y="351117"/>
                  </a:lnTo>
                  <a:lnTo>
                    <a:pt x="21966" y="311005"/>
                  </a:lnTo>
                  <a:lnTo>
                    <a:pt x="5708" y="265542"/>
                  </a:lnTo>
                  <a:lnTo>
                    <a:pt x="0" y="216027"/>
                  </a:lnTo>
                  <a:close/>
                </a:path>
                <a:path w="1183640" h="432435">
                  <a:moveTo>
                    <a:pt x="751458" y="216027"/>
                  </a:moveTo>
                  <a:lnTo>
                    <a:pt x="757167" y="166471"/>
                  </a:lnTo>
                  <a:lnTo>
                    <a:pt x="773425" y="120992"/>
                  </a:lnTo>
                  <a:lnTo>
                    <a:pt x="798935" y="80883"/>
                  </a:lnTo>
                  <a:lnTo>
                    <a:pt x="832395" y="47436"/>
                  </a:lnTo>
                  <a:lnTo>
                    <a:pt x="872507" y="21944"/>
                  </a:lnTo>
                  <a:lnTo>
                    <a:pt x="917970" y="5701"/>
                  </a:lnTo>
                  <a:lnTo>
                    <a:pt x="967485" y="0"/>
                  </a:lnTo>
                  <a:lnTo>
                    <a:pt x="1017041" y="5701"/>
                  </a:lnTo>
                  <a:lnTo>
                    <a:pt x="1062520" y="21944"/>
                  </a:lnTo>
                  <a:lnTo>
                    <a:pt x="1102629" y="47436"/>
                  </a:lnTo>
                  <a:lnTo>
                    <a:pt x="1136076" y="80883"/>
                  </a:lnTo>
                  <a:lnTo>
                    <a:pt x="1161568" y="120992"/>
                  </a:lnTo>
                  <a:lnTo>
                    <a:pt x="1177811" y="166471"/>
                  </a:lnTo>
                  <a:lnTo>
                    <a:pt x="1183512" y="216027"/>
                  </a:lnTo>
                  <a:lnTo>
                    <a:pt x="1177811" y="265542"/>
                  </a:lnTo>
                  <a:lnTo>
                    <a:pt x="1161568" y="311005"/>
                  </a:lnTo>
                  <a:lnTo>
                    <a:pt x="1136076" y="351117"/>
                  </a:lnTo>
                  <a:lnTo>
                    <a:pt x="1102629" y="384577"/>
                  </a:lnTo>
                  <a:lnTo>
                    <a:pt x="1062520" y="410087"/>
                  </a:lnTo>
                  <a:lnTo>
                    <a:pt x="1017041" y="426345"/>
                  </a:lnTo>
                  <a:lnTo>
                    <a:pt x="967485" y="432054"/>
                  </a:lnTo>
                  <a:lnTo>
                    <a:pt x="917970" y="426345"/>
                  </a:lnTo>
                  <a:lnTo>
                    <a:pt x="872507" y="410087"/>
                  </a:lnTo>
                  <a:lnTo>
                    <a:pt x="832395" y="384577"/>
                  </a:lnTo>
                  <a:lnTo>
                    <a:pt x="798935" y="351117"/>
                  </a:lnTo>
                  <a:lnTo>
                    <a:pt x="773425" y="311005"/>
                  </a:lnTo>
                  <a:lnTo>
                    <a:pt x="757167" y="265542"/>
                  </a:lnTo>
                  <a:lnTo>
                    <a:pt x="751458" y="216027"/>
                  </a:lnTo>
                  <a:close/>
                </a:path>
              </a:pathLst>
            </a:custGeom>
            <a:ln w="28575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68534" y="4397375"/>
              <a:ext cx="611505" cy="436880"/>
            </a:xfrm>
            <a:custGeom>
              <a:avLst/>
              <a:gdLst/>
              <a:ahLst/>
              <a:cxnLst/>
              <a:rect l="l" t="t" r="r" b="b"/>
              <a:pathLst>
                <a:path w="611504" h="436879">
                  <a:moveTo>
                    <a:pt x="0" y="432054"/>
                  </a:moveTo>
                  <a:lnTo>
                    <a:pt x="243077" y="0"/>
                  </a:lnTo>
                </a:path>
                <a:path w="611504" h="436879">
                  <a:moveTo>
                    <a:pt x="368426" y="4572"/>
                  </a:moveTo>
                  <a:lnTo>
                    <a:pt x="611377" y="436625"/>
                  </a:lnTo>
                </a:path>
              </a:pathLst>
            </a:custGeom>
            <a:ln w="28575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401172" y="3963606"/>
            <a:ext cx="546100" cy="449580"/>
          </a:xfrm>
          <a:prstGeom prst="rect">
            <a:avLst/>
          </a:prstGeom>
          <a:ln w="28575">
            <a:solidFill>
              <a:srgbClr val="B42C2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7800">
              <a:lnSpc>
                <a:spcPts val="3350"/>
              </a:lnSpc>
            </a:pPr>
            <a:r>
              <a:rPr sz="2800" b="1" spc="-5" dirty="0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609393" y="4382071"/>
            <a:ext cx="1212215" cy="877569"/>
            <a:chOff x="8609393" y="4382071"/>
            <a:chExt cx="1212215" cy="877569"/>
          </a:xfrm>
        </p:grpSpPr>
        <p:sp>
          <p:nvSpPr>
            <p:cNvPr id="11" name="object 11"/>
            <p:cNvSpPr/>
            <p:nvPr/>
          </p:nvSpPr>
          <p:spPr>
            <a:xfrm>
              <a:off x="8623681" y="4813173"/>
              <a:ext cx="1183640" cy="432434"/>
            </a:xfrm>
            <a:custGeom>
              <a:avLst/>
              <a:gdLst/>
              <a:ahLst/>
              <a:cxnLst/>
              <a:rect l="l" t="t" r="r" b="b"/>
              <a:pathLst>
                <a:path w="1183640" h="432435">
                  <a:moveTo>
                    <a:pt x="0" y="216026"/>
                  </a:moveTo>
                  <a:lnTo>
                    <a:pt x="5701" y="166511"/>
                  </a:lnTo>
                  <a:lnTo>
                    <a:pt x="21944" y="121048"/>
                  </a:lnTo>
                  <a:lnTo>
                    <a:pt x="47436" y="80936"/>
                  </a:lnTo>
                  <a:lnTo>
                    <a:pt x="80883" y="47476"/>
                  </a:lnTo>
                  <a:lnTo>
                    <a:pt x="120992" y="21966"/>
                  </a:lnTo>
                  <a:lnTo>
                    <a:pt x="166471" y="5708"/>
                  </a:lnTo>
                  <a:lnTo>
                    <a:pt x="216026" y="0"/>
                  </a:lnTo>
                  <a:lnTo>
                    <a:pt x="265542" y="5708"/>
                  </a:lnTo>
                  <a:lnTo>
                    <a:pt x="311005" y="21966"/>
                  </a:lnTo>
                  <a:lnTo>
                    <a:pt x="351117" y="47476"/>
                  </a:lnTo>
                  <a:lnTo>
                    <a:pt x="384577" y="80936"/>
                  </a:lnTo>
                  <a:lnTo>
                    <a:pt x="410087" y="121048"/>
                  </a:lnTo>
                  <a:lnTo>
                    <a:pt x="426345" y="166511"/>
                  </a:lnTo>
                  <a:lnTo>
                    <a:pt x="432053" y="216026"/>
                  </a:lnTo>
                  <a:lnTo>
                    <a:pt x="426345" y="265542"/>
                  </a:lnTo>
                  <a:lnTo>
                    <a:pt x="410087" y="311005"/>
                  </a:lnTo>
                  <a:lnTo>
                    <a:pt x="384577" y="351117"/>
                  </a:lnTo>
                  <a:lnTo>
                    <a:pt x="351117" y="384577"/>
                  </a:lnTo>
                  <a:lnTo>
                    <a:pt x="311005" y="410087"/>
                  </a:lnTo>
                  <a:lnTo>
                    <a:pt x="265542" y="426345"/>
                  </a:lnTo>
                  <a:lnTo>
                    <a:pt x="216026" y="432053"/>
                  </a:lnTo>
                  <a:lnTo>
                    <a:pt x="166471" y="426345"/>
                  </a:lnTo>
                  <a:lnTo>
                    <a:pt x="120992" y="410087"/>
                  </a:lnTo>
                  <a:lnTo>
                    <a:pt x="80883" y="384577"/>
                  </a:lnTo>
                  <a:lnTo>
                    <a:pt x="47436" y="351117"/>
                  </a:lnTo>
                  <a:lnTo>
                    <a:pt x="21944" y="311005"/>
                  </a:lnTo>
                  <a:lnTo>
                    <a:pt x="5701" y="265542"/>
                  </a:lnTo>
                  <a:lnTo>
                    <a:pt x="0" y="216026"/>
                  </a:lnTo>
                  <a:close/>
                </a:path>
                <a:path w="1183640" h="432435">
                  <a:moveTo>
                    <a:pt x="751459" y="216026"/>
                  </a:moveTo>
                  <a:lnTo>
                    <a:pt x="757167" y="166511"/>
                  </a:lnTo>
                  <a:lnTo>
                    <a:pt x="773425" y="121048"/>
                  </a:lnTo>
                  <a:lnTo>
                    <a:pt x="798935" y="80936"/>
                  </a:lnTo>
                  <a:lnTo>
                    <a:pt x="832395" y="47476"/>
                  </a:lnTo>
                  <a:lnTo>
                    <a:pt x="872507" y="21966"/>
                  </a:lnTo>
                  <a:lnTo>
                    <a:pt x="917970" y="5708"/>
                  </a:lnTo>
                  <a:lnTo>
                    <a:pt x="967486" y="0"/>
                  </a:lnTo>
                  <a:lnTo>
                    <a:pt x="1017001" y="5708"/>
                  </a:lnTo>
                  <a:lnTo>
                    <a:pt x="1062464" y="21966"/>
                  </a:lnTo>
                  <a:lnTo>
                    <a:pt x="1102576" y="47476"/>
                  </a:lnTo>
                  <a:lnTo>
                    <a:pt x="1136036" y="80936"/>
                  </a:lnTo>
                  <a:lnTo>
                    <a:pt x="1161546" y="121048"/>
                  </a:lnTo>
                  <a:lnTo>
                    <a:pt x="1177804" y="166511"/>
                  </a:lnTo>
                  <a:lnTo>
                    <a:pt x="1183513" y="216026"/>
                  </a:lnTo>
                  <a:lnTo>
                    <a:pt x="1177804" y="265542"/>
                  </a:lnTo>
                  <a:lnTo>
                    <a:pt x="1161546" y="311005"/>
                  </a:lnTo>
                  <a:lnTo>
                    <a:pt x="1136036" y="351117"/>
                  </a:lnTo>
                  <a:lnTo>
                    <a:pt x="1102576" y="384577"/>
                  </a:lnTo>
                  <a:lnTo>
                    <a:pt x="1062464" y="410087"/>
                  </a:lnTo>
                  <a:lnTo>
                    <a:pt x="1017001" y="426345"/>
                  </a:lnTo>
                  <a:lnTo>
                    <a:pt x="967486" y="432053"/>
                  </a:lnTo>
                  <a:lnTo>
                    <a:pt x="917970" y="426345"/>
                  </a:lnTo>
                  <a:lnTo>
                    <a:pt x="872507" y="410087"/>
                  </a:lnTo>
                  <a:lnTo>
                    <a:pt x="832395" y="384577"/>
                  </a:lnTo>
                  <a:lnTo>
                    <a:pt x="798935" y="351117"/>
                  </a:lnTo>
                  <a:lnTo>
                    <a:pt x="773425" y="311005"/>
                  </a:lnTo>
                  <a:lnTo>
                    <a:pt x="757167" y="265542"/>
                  </a:lnTo>
                  <a:lnTo>
                    <a:pt x="751459" y="216026"/>
                  </a:lnTo>
                  <a:close/>
                </a:path>
              </a:pathLst>
            </a:custGeom>
            <a:ln w="28575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931402" y="4396359"/>
              <a:ext cx="611505" cy="436880"/>
            </a:xfrm>
            <a:custGeom>
              <a:avLst/>
              <a:gdLst/>
              <a:ahLst/>
              <a:cxnLst/>
              <a:rect l="l" t="t" r="r" b="b"/>
              <a:pathLst>
                <a:path w="611504" h="436879">
                  <a:moveTo>
                    <a:pt x="0" y="432054"/>
                  </a:moveTo>
                  <a:lnTo>
                    <a:pt x="243077" y="0"/>
                  </a:lnTo>
                </a:path>
                <a:path w="611504" h="436879">
                  <a:moveTo>
                    <a:pt x="368426" y="4572"/>
                  </a:moveTo>
                  <a:lnTo>
                    <a:pt x="611377" y="436626"/>
                  </a:lnTo>
                </a:path>
              </a:pathLst>
            </a:custGeom>
            <a:ln w="28575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964041" y="3962577"/>
            <a:ext cx="546100" cy="452755"/>
          </a:xfrm>
          <a:prstGeom prst="rect">
            <a:avLst/>
          </a:prstGeom>
          <a:ln w="28575">
            <a:solidFill>
              <a:srgbClr val="B42C2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7800">
              <a:lnSpc>
                <a:spcPts val="3354"/>
              </a:lnSpc>
            </a:pPr>
            <a:r>
              <a:rPr sz="2800" b="1" spc="-5" dirty="0">
                <a:latin typeface="Times New Roman"/>
                <a:cs typeface="Times New Roman"/>
              </a:rPr>
              <a:t>9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375140" y="3384803"/>
            <a:ext cx="1143635" cy="577850"/>
          </a:xfrm>
          <a:custGeom>
            <a:avLst/>
            <a:gdLst/>
            <a:ahLst/>
            <a:cxnLst/>
            <a:rect l="l" t="t" r="r" b="b"/>
            <a:pathLst>
              <a:path w="1143634" h="577850">
                <a:moveTo>
                  <a:pt x="0" y="577723"/>
                </a:moveTo>
                <a:lnTo>
                  <a:pt x="504062" y="10795"/>
                </a:lnTo>
              </a:path>
              <a:path w="1143634" h="577850">
                <a:moveTo>
                  <a:pt x="675131" y="0"/>
                </a:moveTo>
                <a:lnTo>
                  <a:pt x="1143127" y="562483"/>
                </a:lnTo>
              </a:path>
            </a:pathLst>
          </a:custGeom>
          <a:ln w="28575">
            <a:solidFill>
              <a:srgbClr val="285A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668891" y="2961690"/>
            <a:ext cx="546100" cy="452755"/>
          </a:xfrm>
          <a:prstGeom prst="rect">
            <a:avLst/>
          </a:prstGeom>
          <a:ln w="28575">
            <a:solidFill>
              <a:srgbClr val="B42C2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3350"/>
              </a:lnSpc>
            </a:pPr>
            <a:r>
              <a:rPr sz="2800" b="1" dirty="0">
                <a:latin typeface="Times New Roman"/>
                <a:cs typeface="Times New Roman"/>
              </a:rPr>
              <a:t>14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755082"/>
              </p:ext>
            </p:extLst>
          </p:nvPr>
        </p:nvGraphicFramePr>
        <p:xfrm>
          <a:off x="7152258" y="1871687"/>
          <a:ext cx="4497705" cy="530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2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7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4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8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2800" b="1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weight</a:t>
                      </a:r>
                      <a:endParaRPr sz="28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5715" marB="0">
                    <a:lnL w="38100">
                      <a:solidFill>
                        <a:srgbClr val="507C7C"/>
                      </a:solidFill>
                      <a:prstDash val="solid"/>
                    </a:lnL>
                    <a:lnR w="38100">
                      <a:solidFill>
                        <a:srgbClr val="507C7C"/>
                      </a:solidFill>
                      <a:prstDash val="solid"/>
                    </a:lnR>
                    <a:lnT w="38100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2800" b="1" spc="-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lchild</a:t>
                      </a:r>
                      <a:endParaRPr sz="28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5715" marB="0">
                    <a:lnL w="38100">
                      <a:solidFill>
                        <a:srgbClr val="507C7C"/>
                      </a:solidFill>
                      <a:prstDash val="solid"/>
                    </a:lnL>
                    <a:lnR w="38100">
                      <a:solidFill>
                        <a:srgbClr val="507C7C"/>
                      </a:solidFill>
                      <a:prstDash val="solid"/>
                    </a:lnR>
                    <a:lnT w="38100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2800" b="1" spc="-1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rchild</a:t>
                      </a:r>
                      <a:endParaRPr sz="28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5715" marB="0">
                    <a:lnL w="38100">
                      <a:solidFill>
                        <a:srgbClr val="507C7C"/>
                      </a:solidFill>
                      <a:prstDash val="solid"/>
                    </a:lnL>
                    <a:lnR w="38100">
                      <a:solidFill>
                        <a:srgbClr val="507C7C"/>
                      </a:solidFill>
                      <a:prstDash val="solid"/>
                    </a:lnR>
                    <a:lnT w="38100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2800" b="1" spc="-1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parent</a:t>
                      </a:r>
                      <a:endParaRPr sz="280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5715" marB="0">
                    <a:lnL w="38100">
                      <a:solidFill>
                        <a:srgbClr val="507C7C"/>
                      </a:solidFill>
                      <a:prstDash val="solid"/>
                    </a:lnL>
                    <a:lnR w="38100">
                      <a:solidFill>
                        <a:srgbClr val="507C7C"/>
                      </a:solidFill>
                      <a:prstDash val="solid"/>
                    </a:lnR>
                    <a:lnT w="38100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object 17"/>
          <p:cNvSpPr/>
          <p:nvPr/>
        </p:nvSpPr>
        <p:spPr>
          <a:xfrm>
            <a:off x="1021080" y="2611627"/>
            <a:ext cx="5669280" cy="2016125"/>
          </a:xfrm>
          <a:custGeom>
            <a:avLst/>
            <a:gdLst/>
            <a:ahLst/>
            <a:cxnLst/>
            <a:rect l="l" t="t" r="r" b="b"/>
            <a:pathLst>
              <a:path w="5669280" h="2016125">
                <a:moveTo>
                  <a:pt x="0" y="2015998"/>
                </a:moveTo>
                <a:lnTo>
                  <a:pt x="5669280" y="2015998"/>
                </a:lnTo>
                <a:lnTo>
                  <a:pt x="5669280" y="0"/>
                </a:lnTo>
                <a:lnTo>
                  <a:pt x="0" y="0"/>
                </a:lnTo>
                <a:lnTo>
                  <a:pt x="0" y="2015998"/>
                </a:lnTo>
                <a:close/>
              </a:path>
            </a:pathLst>
          </a:custGeom>
          <a:ln w="9525">
            <a:solidFill>
              <a:srgbClr val="285A31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12519" y="2636596"/>
            <a:ext cx="2011680" cy="1153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struct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ElemType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40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303530">
              <a:lnSpc>
                <a:spcPct val="100000"/>
              </a:lnSpc>
              <a:spcBef>
                <a:spcPts val="120"/>
              </a:spcBef>
            </a:pPr>
            <a:r>
              <a:rPr sz="2400" dirty="0">
                <a:latin typeface="Times New Roman"/>
                <a:cs typeface="Times New Roman"/>
              </a:rPr>
              <a:t>int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weight;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68165" y="3398901"/>
            <a:ext cx="2621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5" dirty="0">
                <a:latin typeface="Times New Roman"/>
                <a:cs typeface="Times New Roman"/>
              </a:rPr>
              <a:t>/</a:t>
            </a:r>
            <a:r>
              <a:rPr sz="2400" dirty="0">
                <a:latin typeface="Times New Roman"/>
                <a:cs typeface="Times New Roman"/>
              </a:rPr>
              <a:t>*</a:t>
            </a:r>
            <a:r>
              <a:rPr sz="2400" dirty="0">
                <a:latin typeface="宋体"/>
                <a:cs typeface="宋体"/>
              </a:rPr>
              <a:t>假定权值为整</a:t>
            </a:r>
            <a:r>
              <a:rPr sz="2400" spc="-15" dirty="0">
                <a:latin typeface="宋体"/>
                <a:cs typeface="宋体"/>
              </a:rPr>
              <a:t>数</a:t>
            </a:r>
            <a:r>
              <a:rPr sz="2400" dirty="0">
                <a:latin typeface="Times New Roman"/>
                <a:cs typeface="Times New Roman"/>
              </a:rPr>
              <a:t>*/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16050" y="3779901"/>
            <a:ext cx="2966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int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parent,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lchild,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rchild;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12519" y="4160596"/>
            <a:ext cx="2438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};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16381" y="4805883"/>
            <a:ext cx="10402570" cy="996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  <a:tabLst>
                <a:tab pos="751205" algn="l"/>
                <a:tab pos="1437005" algn="l"/>
                <a:tab pos="2188210" algn="l"/>
              </a:tabLst>
            </a:pPr>
            <a:r>
              <a:rPr sz="2400" dirty="0">
                <a:latin typeface="Times New Roman"/>
                <a:cs typeface="Times New Roman"/>
              </a:rPr>
              <a:t>4	5	2	3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85"/>
              </a:spcBef>
            </a:pPr>
            <a:r>
              <a:rPr sz="2400" spc="-5" dirty="0">
                <a:latin typeface="宋体"/>
                <a:cs typeface="宋体"/>
              </a:rPr>
              <a:t>函数原型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dirty="0">
                <a:latin typeface="Times New Roman"/>
                <a:cs typeface="Times New Roman"/>
              </a:rPr>
              <a:t>void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HuffmanTree(ElemType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huffTree[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],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w[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],</a:t>
            </a:r>
            <a:r>
              <a:rPr sz="2400" dirty="0">
                <a:latin typeface="Times New Roman"/>
                <a:cs typeface="Times New Roman"/>
              </a:rPr>
              <a:t> int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 )</a:t>
            </a:r>
            <a:endParaRPr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13007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48643" y="2017267"/>
            <a:ext cx="152400" cy="228282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algn="just">
              <a:lnSpc>
                <a:spcPts val="1000"/>
              </a:lnSpc>
              <a:spcBef>
                <a:spcPts val="2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数 据 结 构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880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（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从 概 念 到 实 现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975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640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清 华 大 学 出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48643" y="4248784"/>
            <a:ext cx="152400" cy="30416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>
              <a:lnSpc>
                <a:spcPts val="1000"/>
              </a:lnSpc>
              <a:spcBef>
                <a:spcPts val="2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版 社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2925" y="100964"/>
            <a:ext cx="2376170" cy="540385"/>
          </a:xfrm>
          <a:custGeom>
            <a:avLst/>
            <a:gdLst/>
            <a:ahLst/>
            <a:cxnLst/>
            <a:rect l="l" t="t" r="r" b="b"/>
            <a:pathLst>
              <a:path w="2376170" h="540385">
                <a:moveTo>
                  <a:pt x="2286000" y="0"/>
                </a:moveTo>
                <a:lnTo>
                  <a:pt x="90004" y="0"/>
                </a:lnTo>
                <a:lnTo>
                  <a:pt x="54971" y="7068"/>
                </a:lnTo>
                <a:lnTo>
                  <a:pt x="26362" y="26352"/>
                </a:lnTo>
                <a:lnTo>
                  <a:pt x="7073" y="54971"/>
                </a:lnTo>
                <a:lnTo>
                  <a:pt x="0" y="90042"/>
                </a:lnTo>
                <a:lnTo>
                  <a:pt x="0" y="449960"/>
                </a:lnTo>
                <a:lnTo>
                  <a:pt x="7073" y="485032"/>
                </a:lnTo>
                <a:lnTo>
                  <a:pt x="26362" y="513651"/>
                </a:lnTo>
                <a:lnTo>
                  <a:pt x="54971" y="532935"/>
                </a:lnTo>
                <a:lnTo>
                  <a:pt x="90004" y="540003"/>
                </a:lnTo>
                <a:lnTo>
                  <a:pt x="2286000" y="540003"/>
                </a:lnTo>
                <a:lnTo>
                  <a:pt x="2321018" y="532935"/>
                </a:lnTo>
                <a:lnTo>
                  <a:pt x="2349642" y="513651"/>
                </a:lnTo>
                <a:lnTo>
                  <a:pt x="2368956" y="485032"/>
                </a:lnTo>
                <a:lnTo>
                  <a:pt x="2376043" y="449960"/>
                </a:lnTo>
                <a:lnTo>
                  <a:pt x="2376043" y="90042"/>
                </a:lnTo>
                <a:lnTo>
                  <a:pt x="2368956" y="54971"/>
                </a:lnTo>
                <a:lnTo>
                  <a:pt x="2349642" y="26352"/>
                </a:lnTo>
                <a:lnTo>
                  <a:pt x="2321018" y="7068"/>
                </a:lnTo>
                <a:lnTo>
                  <a:pt x="2286000" y="0"/>
                </a:lnTo>
                <a:close/>
              </a:path>
            </a:pathLst>
          </a:custGeom>
          <a:solidFill>
            <a:srgbClr val="5A317C"/>
          </a:solidFill>
        </p:spPr>
        <p:txBody>
          <a:bodyPr wrap="square" lIns="0" tIns="0" rIns="0" bIns="0" rtlCol="0"/>
          <a:lstStyle/>
          <a:p>
            <a:endParaRPr sz="2800" dirty="0">
              <a:solidFill>
                <a:schemeClr val="bg1"/>
              </a:solidFill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16991" y="141809"/>
            <a:ext cx="206375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solidFill>
                  <a:schemeClr val="bg1"/>
                </a:solidFill>
              </a:rPr>
              <a:t>哈夫</a:t>
            </a:r>
            <a:r>
              <a:rPr sz="2800" spc="-10" dirty="0">
                <a:solidFill>
                  <a:schemeClr val="bg1"/>
                </a:solidFill>
              </a:rPr>
              <a:t>曼</a:t>
            </a:r>
            <a:r>
              <a:rPr sz="2800" spc="-5" dirty="0">
                <a:solidFill>
                  <a:schemeClr val="bg1"/>
                </a:solidFill>
              </a:rPr>
              <a:t>算</a:t>
            </a:r>
            <a:r>
              <a:rPr sz="2800" spc="-10" dirty="0">
                <a:solidFill>
                  <a:schemeClr val="bg1"/>
                </a:solidFill>
              </a:rPr>
              <a:t>法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16991" y="997661"/>
            <a:ext cx="42875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B42C2C"/>
                </a:solidFill>
                <a:latin typeface="微软雅黑"/>
                <a:cs typeface="微软雅黑"/>
              </a:rPr>
              <a:t>【算法</a:t>
            </a:r>
            <a:r>
              <a:rPr sz="2800" spc="-10" dirty="0">
                <a:solidFill>
                  <a:srgbClr val="B42C2C"/>
                </a:solidFill>
                <a:latin typeface="Times New Roman"/>
                <a:cs typeface="Times New Roman"/>
              </a:rPr>
              <a:t>——</a:t>
            </a:r>
            <a:r>
              <a:rPr sz="2800" spc="-10" dirty="0">
                <a:solidFill>
                  <a:srgbClr val="B42C2C"/>
                </a:solidFill>
                <a:latin typeface="微软雅黑"/>
                <a:cs typeface="微软雅黑"/>
              </a:rPr>
              <a:t>数据处理过程</a:t>
            </a:r>
            <a:r>
              <a:rPr sz="2800" spc="-5" dirty="0">
                <a:solidFill>
                  <a:srgbClr val="B42C2C"/>
                </a:solidFill>
                <a:latin typeface="微软雅黑"/>
                <a:cs typeface="微软雅黑"/>
              </a:rPr>
              <a:t>】</a:t>
            </a:r>
            <a:endParaRPr sz="2800" dirty="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07273" y="1480515"/>
            <a:ext cx="3841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5A317C"/>
                </a:solidFill>
                <a:latin typeface="新宋体"/>
                <a:cs typeface="新宋体"/>
              </a:rPr>
              <a:t>-</a:t>
            </a:r>
            <a:r>
              <a:rPr sz="2800" spc="-5" dirty="0">
                <a:solidFill>
                  <a:srgbClr val="5A317C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74911" y="1480515"/>
            <a:ext cx="3841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5A317C"/>
                </a:solidFill>
                <a:latin typeface="新宋体"/>
                <a:cs typeface="新宋体"/>
              </a:rPr>
              <a:t>-</a:t>
            </a:r>
            <a:r>
              <a:rPr sz="2800" spc="-5" dirty="0">
                <a:solidFill>
                  <a:srgbClr val="5A317C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23068" y="1480515"/>
            <a:ext cx="3841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5A317C"/>
                </a:solidFill>
                <a:latin typeface="新宋体"/>
                <a:cs typeface="新宋体"/>
              </a:rPr>
              <a:t>-</a:t>
            </a:r>
            <a:r>
              <a:rPr sz="2800" spc="-5" dirty="0">
                <a:solidFill>
                  <a:srgbClr val="5A317C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07273" y="2078227"/>
            <a:ext cx="3841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5A317C"/>
                </a:solidFill>
                <a:latin typeface="新宋体"/>
                <a:cs typeface="新宋体"/>
              </a:rPr>
              <a:t>-</a:t>
            </a:r>
            <a:r>
              <a:rPr sz="2800" spc="-5" dirty="0">
                <a:solidFill>
                  <a:srgbClr val="5A317C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74911" y="2078227"/>
            <a:ext cx="3841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5A317C"/>
                </a:solidFill>
                <a:latin typeface="新宋体"/>
                <a:cs typeface="新宋体"/>
              </a:rPr>
              <a:t>-</a:t>
            </a:r>
            <a:r>
              <a:rPr sz="2800" spc="-5" dirty="0">
                <a:solidFill>
                  <a:srgbClr val="5A317C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323068" y="2078227"/>
            <a:ext cx="3841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5A317C"/>
                </a:solidFill>
                <a:latin typeface="新宋体"/>
                <a:cs typeface="新宋体"/>
              </a:rPr>
              <a:t>-</a:t>
            </a:r>
            <a:r>
              <a:rPr sz="2800" spc="-5" dirty="0">
                <a:solidFill>
                  <a:srgbClr val="5A317C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07273" y="2675636"/>
            <a:ext cx="3841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5A317C"/>
                </a:solidFill>
                <a:latin typeface="新宋体"/>
                <a:cs typeface="新宋体"/>
              </a:rPr>
              <a:t>-</a:t>
            </a:r>
            <a:r>
              <a:rPr sz="2800" spc="-5" dirty="0">
                <a:solidFill>
                  <a:srgbClr val="5A317C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74911" y="2675636"/>
            <a:ext cx="3841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5A317C"/>
                </a:solidFill>
                <a:latin typeface="新宋体"/>
                <a:cs typeface="新宋体"/>
              </a:rPr>
              <a:t>-</a:t>
            </a:r>
            <a:r>
              <a:rPr sz="2800" spc="-5" dirty="0">
                <a:solidFill>
                  <a:srgbClr val="5A317C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323068" y="2675636"/>
            <a:ext cx="3841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5A317C"/>
                </a:solidFill>
                <a:latin typeface="新宋体"/>
                <a:cs typeface="新宋体"/>
              </a:rPr>
              <a:t>-</a:t>
            </a:r>
            <a:r>
              <a:rPr sz="2800" spc="-5" dirty="0">
                <a:solidFill>
                  <a:srgbClr val="5A317C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07273" y="3273297"/>
            <a:ext cx="3841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5A317C"/>
                </a:solidFill>
                <a:latin typeface="新宋体"/>
                <a:cs typeface="新宋体"/>
              </a:rPr>
              <a:t>-</a:t>
            </a:r>
            <a:r>
              <a:rPr sz="2800" spc="-5" dirty="0">
                <a:solidFill>
                  <a:srgbClr val="5A317C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074911" y="3273297"/>
            <a:ext cx="3841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5A317C"/>
                </a:solidFill>
                <a:latin typeface="新宋体"/>
                <a:cs typeface="新宋体"/>
              </a:rPr>
              <a:t>-</a:t>
            </a:r>
            <a:r>
              <a:rPr sz="2800" spc="-5" dirty="0">
                <a:solidFill>
                  <a:srgbClr val="5A317C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323068" y="3273297"/>
            <a:ext cx="3841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5A317C"/>
                </a:solidFill>
                <a:latin typeface="新宋体"/>
                <a:cs typeface="新宋体"/>
              </a:rPr>
              <a:t>-</a:t>
            </a:r>
            <a:r>
              <a:rPr sz="2800" spc="-5" dirty="0">
                <a:solidFill>
                  <a:srgbClr val="5A317C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07273" y="3870705"/>
            <a:ext cx="3841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5A317C"/>
                </a:solidFill>
                <a:latin typeface="新宋体"/>
                <a:cs typeface="新宋体"/>
              </a:rPr>
              <a:t>-</a:t>
            </a:r>
            <a:r>
              <a:rPr sz="2800" spc="-5" dirty="0">
                <a:solidFill>
                  <a:srgbClr val="5A317C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074911" y="3870705"/>
            <a:ext cx="3841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5A317C"/>
                </a:solidFill>
                <a:latin typeface="新宋体"/>
                <a:cs typeface="新宋体"/>
              </a:rPr>
              <a:t>-</a:t>
            </a:r>
            <a:r>
              <a:rPr sz="2800" spc="-5" dirty="0">
                <a:solidFill>
                  <a:srgbClr val="5A317C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323068" y="3870705"/>
            <a:ext cx="3841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5A317C"/>
                </a:solidFill>
                <a:latin typeface="新宋体"/>
                <a:cs typeface="新宋体"/>
              </a:rPr>
              <a:t>-</a:t>
            </a:r>
            <a:r>
              <a:rPr sz="2800" spc="-5" dirty="0">
                <a:solidFill>
                  <a:srgbClr val="5A317C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907273" y="4468495"/>
            <a:ext cx="3841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5A317C"/>
                </a:solidFill>
                <a:latin typeface="新宋体"/>
                <a:cs typeface="新宋体"/>
              </a:rPr>
              <a:t>-</a:t>
            </a:r>
            <a:r>
              <a:rPr sz="2800" spc="-5" dirty="0">
                <a:solidFill>
                  <a:srgbClr val="5A317C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074911" y="4468495"/>
            <a:ext cx="3841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5A317C"/>
                </a:solidFill>
                <a:latin typeface="新宋体"/>
                <a:cs typeface="新宋体"/>
              </a:rPr>
              <a:t>-</a:t>
            </a:r>
            <a:r>
              <a:rPr sz="2800" spc="-5" dirty="0">
                <a:solidFill>
                  <a:srgbClr val="5A317C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323068" y="4468495"/>
            <a:ext cx="3841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5A317C"/>
                </a:solidFill>
                <a:latin typeface="新宋体"/>
                <a:cs typeface="新宋体"/>
              </a:rPr>
              <a:t>-</a:t>
            </a:r>
            <a:r>
              <a:rPr sz="2800" spc="-5" dirty="0">
                <a:solidFill>
                  <a:srgbClr val="5A317C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907273" y="5065902"/>
            <a:ext cx="3841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5A317C"/>
                </a:solidFill>
                <a:latin typeface="新宋体"/>
                <a:cs typeface="新宋体"/>
              </a:rPr>
              <a:t>-</a:t>
            </a:r>
            <a:r>
              <a:rPr sz="2800" spc="-5" dirty="0">
                <a:solidFill>
                  <a:srgbClr val="5A317C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074911" y="5065902"/>
            <a:ext cx="3841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5A317C"/>
                </a:solidFill>
                <a:latin typeface="新宋体"/>
                <a:cs typeface="新宋体"/>
              </a:rPr>
              <a:t>-</a:t>
            </a:r>
            <a:r>
              <a:rPr sz="2800" spc="-5" dirty="0">
                <a:solidFill>
                  <a:srgbClr val="5A317C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323068" y="5065902"/>
            <a:ext cx="3841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5A317C"/>
                </a:solidFill>
                <a:latin typeface="新宋体"/>
                <a:cs typeface="新宋体"/>
              </a:rPr>
              <a:t>-</a:t>
            </a:r>
            <a:r>
              <a:rPr sz="2800" spc="-5" dirty="0">
                <a:solidFill>
                  <a:srgbClr val="5A317C"/>
                </a:solidFill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91121" y="1387475"/>
            <a:ext cx="10499090" cy="4718050"/>
            <a:chOff x="691121" y="1387475"/>
            <a:chExt cx="10499090" cy="4718050"/>
          </a:xfrm>
        </p:grpSpPr>
        <p:sp>
          <p:nvSpPr>
            <p:cNvPr id="29" name="object 29"/>
            <p:cNvSpPr/>
            <p:nvPr/>
          </p:nvSpPr>
          <p:spPr>
            <a:xfrm>
              <a:off x="1296543" y="2651886"/>
              <a:ext cx="3702050" cy="583565"/>
            </a:xfrm>
            <a:custGeom>
              <a:avLst/>
              <a:gdLst/>
              <a:ahLst/>
              <a:cxnLst/>
              <a:rect l="l" t="t" r="r" b="b"/>
              <a:pathLst>
                <a:path w="3702050" h="583564">
                  <a:moveTo>
                    <a:pt x="179959" y="583438"/>
                  </a:moveTo>
                  <a:lnTo>
                    <a:pt x="144940" y="579645"/>
                  </a:lnTo>
                  <a:lnTo>
                    <a:pt x="116316" y="569293"/>
                  </a:lnTo>
                  <a:lnTo>
                    <a:pt x="97002" y="553916"/>
                  </a:lnTo>
                  <a:lnTo>
                    <a:pt x="89915" y="535051"/>
                  </a:lnTo>
                  <a:lnTo>
                    <a:pt x="89915" y="361823"/>
                  </a:lnTo>
                  <a:lnTo>
                    <a:pt x="82849" y="342957"/>
                  </a:lnTo>
                  <a:lnTo>
                    <a:pt x="63579" y="327580"/>
                  </a:lnTo>
                  <a:lnTo>
                    <a:pt x="34998" y="317228"/>
                  </a:lnTo>
                  <a:lnTo>
                    <a:pt x="0" y="313436"/>
                  </a:lnTo>
                  <a:lnTo>
                    <a:pt x="34998" y="309643"/>
                  </a:lnTo>
                  <a:lnTo>
                    <a:pt x="63579" y="299291"/>
                  </a:lnTo>
                  <a:lnTo>
                    <a:pt x="82849" y="283914"/>
                  </a:lnTo>
                  <a:lnTo>
                    <a:pt x="89915" y="265049"/>
                  </a:lnTo>
                  <a:lnTo>
                    <a:pt x="89915" y="91821"/>
                  </a:lnTo>
                  <a:lnTo>
                    <a:pt x="97002" y="72955"/>
                  </a:lnTo>
                  <a:lnTo>
                    <a:pt x="116316" y="57578"/>
                  </a:lnTo>
                  <a:lnTo>
                    <a:pt x="144940" y="47226"/>
                  </a:lnTo>
                  <a:lnTo>
                    <a:pt x="179959" y="43434"/>
                  </a:lnTo>
                </a:path>
                <a:path w="3702050" h="583564">
                  <a:moveTo>
                    <a:pt x="3521964" y="0"/>
                  </a:moveTo>
                  <a:lnTo>
                    <a:pt x="3557035" y="3810"/>
                  </a:lnTo>
                  <a:lnTo>
                    <a:pt x="3585654" y="14192"/>
                  </a:lnTo>
                  <a:lnTo>
                    <a:pt x="3604938" y="29575"/>
                  </a:lnTo>
                  <a:lnTo>
                    <a:pt x="3612006" y="48387"/>
                  </a:lnTo>
                  <a:lnTo>
                    <a:pt x="3612006" y="221614"/>
                  </a:lnTo>
                  <a:lnTo>
                    <a:pt x="3619075" y="240480"/>
                  </a:lnTo>
                  <a:lnTo>
                    <a:pt x="3638359" y="255857"/>
                  </a:lnTo>
                  <a:lnTo>
                    <a:pt x="3666978" y="266209"/>
                  </a:lnTo>
                  <a:lnTo>
                    <a:pt x="3702050" y="270001"/>
                  </a:lnTo>
                  <a:lnTo>
                    <a:pt x="3666978" y="273794"/>
                  </a:lnTo>
                  <a:lnTo>
                    <a:pt x="3638359" y="284146"/>
                  </a:lnTo>
                  <a:lnTo>
                    <a:pt x="3619075" y="299523"/>
                  </a:lnTo>
                  <a:lnTo>
                    <a:pt x="3612006" y="318388"/>
                  </a:lnTo>
                  <a:lnTo>
                    <a:pt x="3612006" y="491616"/>
                  </a:lnTo>
                  <a:lnTo>
                    <a:pt x="3604938" y="510482"/>
                  </a:lnTo>
                  <a:lnTo>
                    <a:pt x="3585654" y="525859"/>
                  </a:lnTo>
                  <a:lnTo>
                    <a:pt x="3557035" y="536211"/>
                  </a:lnTo>
                  <a:lnTo>
                    <a:pt x="3521964" y="540003"/>
                  </a:lnTo>
                </a:path>
              </a:pathLst>
            </a:custGeom>
            <a:ln w="38100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781555" y="2755646"/>
              <a:ext cx="2717165" cy="432434"/>
            </a:xfrm>
            <a:custGeom>
              <a:avLst/>
              <a:gdLst/>
              <a:ahLst/>
              <a:cxnLst/>
              <a:rect l="l" t="t" r="r" b="b"/>
              <a:pathLst>
                <a:path w="2717165" h="432435">
                  <a:moveTo>
                    <a:pt x="0" y="216026"/>
                  </a:moveTo>
                  <a:lnTo>
                    <a:pt x="5708" y="166471"/>
                  </a:lnTo>
                  <a:lnTo>
                    <a:pt x="21966" y="120992"/>
                  </a:lnTo>
                  <a:lnTo>
                    <a:pt x="47476" y="80883"/>
                  </a:lnTo>
                  <a:lnTo>
                    <a:pt x="80936" y="47436"/>
                  </a:lnTo>
                  <a:lnTo>
                    <a:pt x="121048" y="21944"/>
                  </a:lnTo>
                  <a:lnTo>
                    <a:pt x="166511" y="5701"/>
                  </a:lnTo>
                  <a:lnTo>
                    <a:pt x="216026" y="0"/>
                  </a:lnTo>
                  <a:lnTo>
                    <a:pt x="265542" y="5701"/>
                  </a:lnTo>
                  <a:lnTo>
                    <a:pt x="311005" y="21944"/>
                  </a:lnTo>
                  <a:lnTo>
                    <a:pt x="351117" y="47436"/>
                  </a:lnTo>
                  <a:lnTo>
                    <a:pt x="384577" y="80883"/>
                  </a:lnTo>
                  <a:lnTo>
                    <a:pt x="410087" y="120992"/>
                  </a:lnTo>
                  <a:lnTo>
                    <a:pt x="426345" y="166471"/>
                  </a:lnTo>
                  <a:lnTo>
                    <a:pt x="432054" y="216026"/>
                  </a:lnTo>
                  <a:lnTo>
                    <a:pt x="426345" y="265542"/>
                  </a:lnTo>
                  <a:lnTo>
                    <a:pt x="410087" y="311005"/>
                  </a:lnTo>
                  <a:lnTo>
                    <a:pt x="384577" y="351117"/>
                  </a:lnTo>
                  <a:lnTo>
                    <a:pt x="351117" y="384577"/>
                  </a:lnTo>
                  <a:lnTo>
                    <a:pt x="311005" y="410087"/>
                  </a:lnTo>
                  <a:lnTo>
                    <a:pt x="265542" y="426345"/>
                  </a:lnTo>
                  <a:lnTo>
                    <a:pt x="216026" y="432053"/>
                  </a:lnTo>
                  <a:lnTo>
                    <a:pt x="166511" y="426345"/>
                  </a:lnTo>
                  <a:lnTo>
                    <a:pt x="121048" y="410087"/>
                  </a:lnTo>
                  <a:lnTo>
                    <a:pt x="80936" y="384577"/>
                  </a:lnTo>
                  <a:lnTo>
                    <a:pt x="47476" y="351117"/>
                  </a:lnTo>
                  <a:lnTo>
                    <a:pt x="21966" y="311005"/>
                  </a:lnTo>
                  <a:lnTo>
                    <a:pt x="5708" y="265542"/>
                  </a:lnTo>
                  <a:lnTo>
                    <a:pt x="0" y="216026"/>
                  </a:lnTo>
                  <a:close/>
                </a:path>
                <a:path w="2717165" h="432435">
                  <a:moveTo>
                    <a:pt x="751586" y="216026"/>
                  </a:moveTo>
                  <a:lnTo>
                    <a:pt x="757287" y="166471"/>
                  </a:lnTo>
                  <a:lnTo>
                    <a:pt x="773527" y="120992"/>
                  </a:lnTo>
                  <a:lnTo>
                    <a:pt x="799012" y="80883"/>
                  </a:lnTo>
                  <a:lnTo>
                    <a:pt x="832445" y="47436"/>
                  </a:lnTo>
                  <a:lnTo>
                    <a:pt x="872532" y="21944"/>
                  </a:lnTo>
                  <a:lnTo>
                    <a:pt x="917977" y="5701"/>
                  </a:lnTo>
                  <a:lnTo>
                    <a:pt x="967486" y="0"/>
                  </a:lnTo>
                  <a:lnTo>
                    <a:pt x="1017041" y="5701"/>
                  </a:lnTo>
                  <a:lnTo>
                    <a:pt x="1062520" y="21944"/>
                  </a:lnTo>
                  <a:lnTo>
                    <a:pt x="1102629" y="47436"/>
                  </a:lnTo>
                  <a:lnTo>
                    <a:pt x="1136076" y="80883"/>
                  </a:lnTo>
                  <a:lnTo>
                    <a:pt x="1161568" y="120992"/>
                  </a:lnTo>
                  <a:lnTo>
                    <a:pt x="1177811" y="166471"/>
                  </a:lnTo>
                  <a:lnTo>
                    <a:pt x="1183513" y="216026"/>
                  </a:lnTo>
                  <a:lnTo>
                    <a:pt x="1177811" y="265542"/>
                  </a:lnTo>
                  <a:lnTo>
                    <a:pt x="1161568" y="311005"/>
                  </a:lnTo>
                  <a:lnTo>
                    <a:pt x="1136076" y="351117"/>
                  </a:lnTo>
                  <a:lnTo>
                    <a:pt x="1102629" y="384577"/>
                  </a:lnTo>
                  <a:lnTo>
                    <a:pt x="1062520" y="410087"/>
                  </a:lnTo>
                  <a:lnTo>
                    <a:pt x="1017041" y="426345"/>
                  </a:lnTo>
                  <a:lnTo>
                    <a:pt x="967486" y="432053"/>
                  </a:lnTo>
                  <a:lnTo>
                    <a:pt x="917977" y="426345"/>
                  </a:lnTo>
                  <a:lnTo>
                    <a:pt x="872532" y="410087"/>
                  </a:lnTo>
                  <a:lnTo>
                    <a:pt x="832445" y="384577"/>
                  </a:lnTo>
                  <a:lnTo>
                    <a:pt x="799012" y="351117"/>
                  </a:lnTo>
                  <a:lnTo>
                    <a:pt x="773527" y="311005"/>
                  </a:lnTo>
                  <a:lnTo>
                    <a:pt x="757287" y="265542"/>
                  </a:lnTo>
                  <a:lnTo>
                    <a:pt x="751586" y="216026"/>
                  </a:lnTo>
                  <a:close/>
                </a:path>
                <a:path w="2717165" h="432435">
                  <a:moveTo>
                    <a:pt x="1518284" y="216026"/>
                  </a:moveTo>
                  <a:lnTo>
                    <a:pt x="1523986" y="166471"/>
                  </a:lnTo>
                  <a:lnTo>
                    <a:pt x="1540229" y="120992"/>
                  </a:lnTo>
                  <a:lnTo>
                    <a:pt x="1565721" y="80883"/>
                  </a:lnTo>
                  <a:lnTo>
                    <a:pt x="1599168" y="47436"/>
                  </a:lnTo>
                  <a:lnTo>
                    <a:pt x="1639277" y="21944"/>
                  </a:lnTo>
                  <a:lnTo>
                    <a:pt x="1684756" y="5701"/>
                  </a:lnTo>
                  <a:lnTo>
                    <a:pt x="1734311" y="0"/>
                  </a:lnTo>
                  <a:lnTo>
                    <a:pt x="1783820" y="5701"/>
                  </a:lnTo>
                  <a:lnTo>
                    <a:pt x="1829265" y="21944"/>
                  </a:lnTo>
                  <a:lnTo>
                    <a:pt x="1869352" y="47436"/>
                  </a:lnTo>
                  <a:lnTo>
                    <a:pt x="1902785" y="80883"/>
                  </a:lnTo>
                  <a:lnTo>
                    <a:pt x="1928270" y="120992"/>
                  </a:lnTo>
                  <a:lnTo>
                    <a:pt x="1944510" y="166471"/>
                  </a:lnTo>
                  <a:lnTo>
                    <a:pt x="1950211" y="216026"/>
                  </a:lnTo>
                  <a:lnTo>
                    <a:pt x="1944510" y="265542"/>
                  </a:lnTo>
                  <a:lnTo>
                    <a:pt x="1928270" y="311005"/>
                  </a:lnTo>
                  <a:lnTo>
                    <a:pt x="1902785" y="351117"/>
                  </a:lnTo>
                  <a:lnTo>
                    <a:pt x="1869352" y="384577"/>
                  </a:lnTo>
                  <a:lnTo>
                    <a:pt x="1829265" y="410087"/>
                  </a:lnTo>
                  <a:lnTo>
                    <a:pt x="1783820" y="426345"/>
                  </a:lnTo>
                  <a:lnTo>
                    <a:pt x="1734311" y="432053"/>
                  </a:lnTo>
                  <a:lnTo>
                    <a:pt x="1684756" y="426345"/>
                  </a:lnTo>
                  <a:lnTo>
                    <a:pt x="1639277" y="410087"/>
                  </a:lnTo>
                  <a:lnTo>
                    <a:pt x="1599168" y="384577"/>
                  </a:lnTo>
                  <a:lnTo>
                    <a:pt x="1565721" y="351117"/>
                  </a:lnTo>
                  <a:lnTo>
                    <a:pt x="1540229" y="311005"/>
                  </a:lnTo>
                  <a:lnTo>
                    <a:pt x="1523986" y="265542"/>
                  </a:lnTo>
                  <a:lnTo>
                    <a:pt x="1518284" y="216026"/>
                  </a:lnTo>
                  <a:close/>
                </a:path>
                <a:path w="2717165" h="432435">
                  <a:moveTo>
                    <a:pt x="2284984" y="216026"/>
                  </a:moveTo>
                  <a:lnTo>
                    <a:pt x="2290692" y="166471"/>
                  </a:lnTo>
                  <a:lnTo>
                    <a:pt x="2306950" y="120992"/>
                  </a:lnTo>
                  <a:lnTo>
                    <a:pt x="2332460" y="80883"/>
                  </a:lnTo>
                  <a:lnTo>
                    <a:pt x="2365920" y="47436"/>
                  </a:lnTo>
                  <a:lnTo>
                    <a:pt x="2406032" y="21944"/>
                  </a:lnTo>
                  <a:lnTo>
                    <a:pt x="2451495" y="5701"/>
                  </a:lnTo>
                  <a:lnTo>
                    <a:pt x="2501010" y="0"/>
                  </a:lnTo>
                  <a:lnTo>
                    <a:pt x="2550526" y="5701"/>
                  </a:lnTo>
                  <a:lnTo>
                    <a:pt x="2595989" y="21944"/>
                  </a:lnTo>
                  <a:lnTo>
                    <a:pt x="2636101" y="47436"/>
                  </a:lnTo>
                  <a:lnTo>
                    <a:pt x="2669561" y="80883"/>
                  </a:lnTo>
                  <a:lnTo>
                    <a:pt x="2695071" y="120992"/>
                  </a:lnTo>
                  <a:lnTo>
                    <a:pt x="2711329" y="166471"/>
                  </a:lnTo>
                  <a:lnTo>
                    <a:pt x="2717038" y="216026"/>
                  </a:lnTo>
                  <a:lnTo>
                    <a:pt x="2711329" y="265542"/>
                  </a:lnTo>
                  <a:lnTo>
                    <a:pt x="2695071" y="311005"/>
                  </a:lnTo>
                  <a:lnTo>
                    <a:pt x="2669561" y="351117"/>
                  </a:lnTo>
                  <a:lnTo>
                    <a:pt x="2636101" y="384577"/>
                  </a:lnTo>
                  <a:lnTo>
                    <a:pt x="2595989" y="410087"/>
                  </a:lnTo>
                  <a:lnTo>
                    <a:pt x="2550526" y="426345"/>
                  </a:lnTo>
                  <a:lnTo>
                    <a:pt x="2501010" y="432053"/>
                  </a:lnTo>
                  <a:lnTo>
                    <a:pt x="2451495" y="426345"/>
                  </a:lnTo>
                  <a:lnTo>
                    <a:pt x="2406032" y="410087"/>
                  </a:lnTo>
                  <a:lnTo>
                    <a:pt x="2365920" y="384577"/>
                  </a:lnTo>
                  <a:lnTo>
                    <a:pt x="2332460" y="351117"/>
                  </a:lnTo>
                  <a:lnTo>
                    <a:pt x="2306950" y="311005"/>
                  </a:lnTo>
                  <a:lnTo>
                    <a:pt x="2290692" y="265542"/>
                  </a:lnTo>
                  <a:lnTo>
                    <a:pt x="2284984" y="216026"/>
                  </a:lnTo>
                  <a:close/>
                </a:path>
              </a:pathLst>
            </a:custGeom>
            <a:ln w="28575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329044" y="1406525"/>
              <a:ext cx="4841875" cy="4267200"/>
            </a:xfrm>
            <a:custGeom>
              <a:avLst/>
              <a:gdLst/>
              <a:ahLst/>
              <a:cxnLst/>
              <a:rect l="l" t="t" r="r" b="b"/>
              <a:pathLst>
                <a:path w="4841875" h="4267200">
                  <a:moveTo>
                    <a:pt x="0" y="4267200"/>
                  </a:moveTo>
                  <a:lnTo>
                    <a:pt x="4841875" y="4267200"/>
                  </a:lnTo>
                  <a:lnTo>
                    <a:pt x="4841875" y="0"/>
                  </a:lnTo>
                  <a:lnTo>
                    <a:pt x="0" y="0"/>
                  </a:lnTo>
                  <a:lnTo>
                    <a:pt x="0" y="4267200"/>
                  </a:lnTo>
                  <a:close/>
                </a:path>
              </a:pathLst>
            </a:custGeom>
            <a:ln w="38100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329044" y="1406525"/>
              <a:ext cx="4841875" cy="4267200"/>
            </a:xfrm>
            <a:custGeom>
              <a:avLst/>
              <a:gdLst/>
              <a:ahLst/>
              <a:cxnLst/>
              <a:rect l="l" t="t" r="r" b="b"/>
              <a:pathLst>
                <a:path w="4841875" h="4267200">
                  <a:moveTo>
                    <a:pt x="2362200" y="0"/>
                  </a:moveTo>
                  <a:lnTo>
                    <a:pt x="2362200" y="4267200"/>
                  </a:lnTo>
                </a:path>
                <a:path w="4841875" h="4267200">
                  <a:moveTo>
                    <a:pt x="3596639" y="0"/>
                  </a:moveTo>
                  <a:lnTo>
                    <a:pt x="3596639" y="4267200"/>
                  </a:lnTo>
                </a:path>
                <a:path w="4841875" h="4267200">
                  <a:moveTo>
                    <a:pt x="1143000" y="0"/>
                  </a:moveTo>
                  <a:lnTo>
                    <a:pt x="1143000" y="4267200"/>
                  </a:lnTo>
                </a:path>
                <a:path w="4841875" h="4267200">
                  <a:moveTo>
                    <a:pt x="0" y="609600"/>
                  </a:moveTo>
                  <a:lnTo>
                    <a:pt x="4841875" y="609600"/>
                  </a:lnTo>
                </a:path>
                <a:path w="4841875" h="4267200">
                  <a:moveTo>
                    <a:pt x="0" y="1219200"/>
                  </a:moveTo>
                  <a:lnTo>
                    <a:pt x="4841875" y="1219200"/>
                  </a:lnTo>
                </a:path>
                <a:path w="4841875" h="4267200">
                  <a:moveTo>
                    <a:pt x="0" y="1828800"/>
                  </a:moveTo>
                  <a:lnTo>
                    <a:pt x="4841875" y="1828800"/>
                  </a:lnTo>
                </a:path>
                <a:path w="4841875" h="4267200">
                  <a:moveTo>
                    <a:pt x="0" y="2438400"/>
                  </a:moveTo>
                  <a:lnTo>
                    <a:pt x="4841875" y="2438400"/>
                  </a:lnTo>
                </a:path>
                <a:path w="4841875" h="4267200">
                  <a:moveTo>
                    <a:pt x="0" y="3048000"/>
                  </a:moveTo>
                  <a:lnTo>
                    <a:pt x="4841875" y="3048000"/>
                  </a:lnTo>
                </a:path>
                <a:path w="4841875" h="4267200">
                  <a:moveTo>
                    <a:pt x="0" y="3657600"/>
                  </a:moveTo>
                  <a:lnTo>
                    <a:pt x="4841875" y="3657600"/>
                  </a:lnTo>
                </a:path>
              </a:pathLst>
            </a:custGeom>
            <a:ln w="38100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95883" y="4161434"/>
              <a:ext cx="5039995" cy="1939289"/>
            </a:xfrm>
            <a:custGeom>
              <a:avLst/>
              <a:gdLst/>
              <a:ahLst/>
              <a:cxnLst/>
              <a:rect l="l" t="t" r="r" b="b"/>
              <a:pathLst>
                <a:path w="5039995" h="1939289">
                  <a:moveTo>
                    <a:pt x="0" y="1939035"/>
                  </a:moveTo>
                  <a:lnTo>
                    <a:pt x="5039995" y="1939035"/>
                  </a:lnTo>
                  <a:lnTo>
                    <a:pt x="5039995" y="0"/>
                  </a:lnTo>
                  <a:lnTo>
                    <a:pt x="0" y="0"/>
                  </a:lnTo>
                  <a:lnTo>
                    <a:pt x="0" y="1939035"/>
                  </a:lnTo>
                  <a:close/>
                </a:path>
              </a:pathLst>
            </a:custGeom>
            <a:ln w="9525">
              <a:solidFill>
                <a:srgbClr val="5A317C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970270" y="1328054"/>
            <a:ext cx="203200" cy="3013710"/>
          </a:xfrm>
          <a:prstGeom prst="rect">
            <a:avLst/>
          </a:prstGeom>
        </p:spPr>
        <p:txBody>
          <a:bodyPr vert="horz" wrap="square" lIns="0" tIns="183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970270" y="4316120"/>
            <a:ext cx="203200" cy="1220470"/>
          </a:xfrm>
          <a:prstGeom prst="rect">
            <a:avLst/>
          </a:prstGeom>
        </p:spPr>
        <p:txBody>
          <a:bodyPr vert="horz" wrap="square" lIns="0" tIns="183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388734" y="848360"/>
            <a:ext cx="20554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55065" algn="l"/>
              </a:tabLst>
            </a:pP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weight	parent</a:t>
            </a:r>
            <a:endParaRPr sz="28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863965" y="848360"/>
            <a:ext cx="8350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lchi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endParaRPr sz="28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117073" y="848360"/>
            <a:ext cx="85534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rchi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endParaRPr sz="28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51966" y="4158741"/>
            <a:ext cx="2959735" cy="18815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510"/>
              </a:lnSpc>
              <a:spcBef>
                <a:spcPts val="95"/>
              </a:spcBef>
            </a:pPr>
            <a:r>
              <a:rPr sz="2200" spc="-5" dirty="0">
                <a:solidFill>
                  <a:srgbClr val="5A317C"/>
                </a:solidFill>
                <a:latin typeface="Times New Roman"/>
                <a:cs typeface="Times New Roman"/>
              </a:rPr>
              <a:t>for</a:t>
            </a:r>
            <a:r>
              <a:rPr sz="2200" spc="10" dirty="0">
                <a:solidFill>
                  <a:srgbClr val="5A317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5A317C"/>
                </a:solidFill>
                <a:latin typeface="Times New Roman"/>
                <a:cs typeface="Times New Roman"/>
              </a:rPr>
              <a:t>(i =</a:t>
            </a:r>
            <a:r>
              <a:rPr sz="2200" spc="-10" dirty="0">
                <a:solidFill>
                  <a:srgbClr val="5A317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5A317C"/>
                </a:solidFill>
                <a:latin typeface="Times New Roman"/>
                <a:cs typeface="Times New Roman"/>
              </a:rPr>
              <a:t>0;</a:t>
            </a:r>
            <a:r>
              <a:rPr sz="2200" spc="5" dirty="0">
                <a:solidFill>
                  <a:srgbClr val="5A317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5A317C"/>
                </a:solidFill>
                <a:latin typeface="Times New Roman"/>
                <a:cs typeface="Times New Roman"/>
              </a:rPr>
              <a:t>i</a:t>
            </a:r>
            <a:r>
              <a:rPr sz="2200" spc="-15" dirty="0">
                <a:solidFill>
                  <a:srgbClr val="5A317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5A317C"/>
                </a:solidFill>
                <a:latin typeface="Times New Roman"/>
                <a:cs typeface="Times New Roman"/>
              </a:rPr>
              <a:t>&lt;</a:t>
            </a:r>
            <a:r>
              <a:rPr sz="2200" spc="-10" dirty="0">
                <a:solidFill>
                  <a:srgbClr val="5A317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5A317C"/>
                </a:solidFill>
                <a:latin typeface="Times New Roman"/>
                <a:cs typeface="Times New Roman"/>
              </a:rPr>
              <a:t>2*n</a:t>
            </a:r>
            <a:r>
              <a:rPr sz="2200" dirty="0">
                <a:solidFill>
                  <a:srgbClr val="5A317C"/>
                </a:solidFill>
                <a:latin typeface="宋体"/>
                <a:cs typeface="宋体"/>
              </a:rPr>
              <a:t>-</a:t>
            </a:r>
            <a:r>
              <a:rPr sz="2200" dirty="0">
                <a:solidFill>
                  <a:srgbClr val="5A317C"/>
                </a:solidFill>
                <a:latin typeface="Times New Roman"/>
                <a:cs typeface="Times New Roman"/>
              </a:rPr>
              <a:t>1;</a:t>
            </a:r>
            <a:r>
              <a:rPr sz="2200" spc="-10" dirty="0">
                <a:solidFill>
                  <a:srgbClr val="5A317C"/>
                </a:solidFill>
                <a:latin typeface="Times New Roman"/>
                <a:cs typeface="Times New Roman"/>
              </a:rPr>
              <a:t> i++)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2400"/>
              </a:lnSpc>
            </a:pPr>
            <a:r>
              <a:rPr sz="2200" spc="-5" dirty="0">
                <a:solidFill>
                  <a:srgbClr val="5A317C"/>
                </a:solidFill>
                <a:latin typeface="Times New Roman"/>
                <a:cs typeface="Times New Roman"/>
              </a:rPr>
              <a:t>{</a:t>
            </a:r>
            <a:endParaRPr sz="2200">
              <a:latin typeface="Times New Roman"/>
              <a:cs typeface="Times New Roman"/>
            </a:endParaRPr>
          </a:p>
          <a:p>
            <a:pPr marL="293370">
              <a:lnSpc>
                <a:spcPts val="2415"/>
              </a:lnSpc>
            </a:pPr>
            <a:r>
              <a:rPr sz="2200" spc="-10" dirty="0">
                <a:solidFill>
                  <a:srgbClr val="5A317C"/>
                </a:solidFill>
                <a:latin typeface="Times New Roman"/>
                <a:cs typeface="Times New Roman"/>
              </a:rPr>
              <a:t>huffTree[i].parent</a:t>
            </a:r>
            <a:r>
              <a:rPr sz="2200" spc="5" dirty="0">
                <a:solidFill>
                  <a:srgbClr val="5A317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5A317C"/>
                </a:solidFill>
                <a:latin typeface="Times New Roman"/>
                <a:cs typeface="Times New Roman"/>
              </a:rPr>
              <a:t>=</a:t>
            </a:r>
            <a:r>
              <a:rPr sz="2200" spc="-30" dirty="0">
                <a:solidFill>
                  <a:srgbClr val="5A317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5A317C"/>
                </a:solidFill>
                <a:latin typeface="宋体"/>
                <a:cs typeface="宋体"/>
              </a:rPr>
              <a:t>-</a:t>
            </a:r>
            <a:r>
              <a:rPr sz="2200" dirty="0">
                <a:solidFill>
                  <a:srgbClr val="5A317C"/>
                </a:solidFill>
                <a:latin typeface="Times New Roman"/>
                <a:cs typeface="Times New Roman"/>
              </a:rPr>
              <a:t>1;</a:t>
            </a:r>
            <a:endParaRPr sz="2200">
              <a:latin typeface="Times New Roman"/>
              <a:cs typeface="Times New Roman"/>
            </a:endParaRPr>
          </a:p>
          <a:p>
            <a:pPr marL="293370">
              <a:lnSpc>
                <a:spcPts val="2400"/>
              </a:lnSpc>
            </a:pPr>
            <a:r>
              <a:rPr sz="2200" spc="-10" dirty="0">
                <a:solidFill>
                  <a:srgbClr val="5A317C"/>
                </a:solidFill>
                <a:latin typeface="Times New Roman"/>
                <a:cs typeface="Times New Roman"/>
              </a:rPr>
              <a:t>huffTree[i].lchild</a:t>
            </a:r>
            <a:r>
              <a:rPr sz="2200" spc="10" dirty="0">
                <a:solidFill>
                  <a:srgbClr val="5A317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5A317C"/>
                </a:solidFill>
                <a:latin typeface="Times New Roman"/>
                <a:cs typeface="Times New Roman"/>
              </a:rPr>
              <a:t>=</a:t>
            </a:r>
            <a:r>
              <a:rPr sz="2200" spc="-35" dirty="0">
                <a:solidFill>
                  <a:srgbClr val="5A317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5A317C"/>
                </a:solidFill>
                <a:latin typeface="宋体"/>
                <a:cs typeface="宋体"/>
              </a:rPr>
              <a:t>-</a:t>
            </a:r>
            <a:r>
              <a:rPr sz="2200" spc="-5" dirty="0">
                <a:solidFill>
                  <a:srgbClr val="5A317C"/>
                </a:solidFill>
                <a:latin typeface="Times New Roman"/>
                <a:cs typeface="Times New Roman"/>
              </a:rPr>
              <a:t>1;</a:t>
            </a:r>
            <a:endParaRPr sz="2200">
              <a:latin typeface="Times New Roman"/>
              <a:cs typeface="Times New Roman"/>
            </a:endParaRPr>
          </a:p>
          <a:p>
            <a:pPr marL="293370">
              <a:lnSpc>
                <a:spcPts val="2390"/>
              </a:lnSpc>
            </a:pPr>
            <a:r>
              <a:rPr sz="2200" spc="-10" dirty="0">
                <a:solidFill>
                  <a:srgbClr val="5A317C"/>
                </a:solidFill>
                <a:latin typeface="Times New Roman"/>
                <a:cs typeface="Times New Roman"/>
              </a:rPr>
              <a:t>huffTree[i].rchild</a:t>
            </a:r>
            <a:r>
              <a:rPr sz="2200" spc="5" dirty="0">
                <a:solidFill>
                  <a:srgbClr val="5A317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5A317C"/>
                </a:solidFill>
                <a:latin typeface="Times New Roman"/>
                <a:cs typeface="Times New Roman"/>
              </a:rPr>
              <a:t>=</a:t>
            </a:r>
            <a:r>
              <a:rPr sz="2200" spc="-45" dirty="0">
                <a:solidFill>
                  <a:srgbClr val="5A317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5A317C"/>
                </a:solidFill>
                <a:latin typeface="宋体"/>
                <a:cs typeface="宋体"/>
              </a:rPr>
              <a:t>-</a:t>
            </a:r>
            <a:r>
              <a:rPr sz="2200" dirty="0">
                <a:solidFill>
                  <a:srgbClr val="5A317C"/>
                </a:solidFill>
                <a:latin typeface="Times New Roman"/>
                <a:cs typeface="Times New Roman"/>
              </a:rPr>
              <a:t>1;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2510"/>
              </a:lnSpc>
            </a:pPr>
            <a:r>
              <a:rPr sz="2200" spc="-5" dirty="0">
                <a:solidFill>
                  <a:srgbClr val="5A317C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378383" y="3567303"/>
            <a:ext cx="540385" cy="432434"/>
            <a:chOff x="378383" y="3567303"/>
            <a:chExt cx="540385" cy="432434"/>
          </a:xfrm>
        </p:grpSpPr>
        <p:sp>
          <p:nvSpPr>
            <p:cNvPr id="41" name="object 41"/>
            <p:cNvSpPr/>
            <p:nvPr/>
          </p:nvSpPr>
          <p:spPr>
            <a:xfrm>
              <a:off x="550125" y="3567303"/>
              <a:ext cx="368300" cy="432434"/>
            </a:xfrm>
            <a:custGeom>
              <a:avLst/>
              <a:gdLst/>
              <a:ahLst/>
              <a:cxnLst/>
              <a:rect l="l" t="t" r="r" b="b"/>
              <a:pathLst>
                <a:path w="368300" h="432435">
                  <a:moveTo>
                    <a:pt x="358660" y="0"/>
                  </a:moveTo>
                  <a:lnTo>
                    <a:pt x="0" y="254381"/>
                  </a:lnTo>
                  <a:lnTo>
                    <a:pt x="130200" y="308864"/>
                  </a:lnTo>
                  <a:lnTo>
                    <a:pt x="358660" y="0"/>
                  </a:lnTo>
                  <a:close/>
                </a:path>
                <a:path w="368300" h="432435">
                  <a:moveTo>
                    <a:pt x="368249" y="8267"/>
                  </a:moveTo>
                  <a:lnTo>
                    <a:pt x="139788" y="316357"/>
                  </a:lnTo>
                  <a:lnTo>
                    <a:pt x="226060" y="431927"/>
                  </a:lnTo>
                  <a:lnTo>
                    <a:pt x="368249" y="8267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8383" y="3819271"/>
              <a:ext cx="301942" cy="160147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645058" y="1780108"/>
            <a:ext cx="4843145" cy="2249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44195" algn="l"/>
              </a:tabLst>
            </a:pPr>
            <a:r>
              <a:rPr sz="2800" spc="-5" dirty="0">
                <a:solidFill>
                  <a:srgbClr val="5A317C"/>
                </a:solidFill>
                <a:latin typeface="微软雅黑"/>
                <a:cs typeface="微软雅黑"/>
              </a:rPr>
              <a:t>例	</a:t>
            </a:r>
            <a:r>
              <a:rPr sz="2800" spc="-10" dirty="0">
                <a:solidFill>
                  <a:srgbClr val="404040"/>
                </a:solidFill>
                <a:latin typeface="微软雅黑"/>
                <a:cs typeface="微软雅黑"/>
              </a:rPr>
              <a:t>给定权值集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合</a:t>
            </a:r>
            <a:r>
              <a:rPr sz="2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{2</a:t>
            </a:r>
            <a:r>
              <a:rPr sz="2800" b="1" spc="-5" dirty="0">
                <a:solidFill>
                  <a:srgbClr val="404040"/>
                </a:solidFill>
                <a:latin typeface="宋体"/>
                <a:cs typeface="宋体"/>
              </a:rPr>
              <a:t>，</a:t>
            </a:r>
            <a:r>
              <a:rPr sz="2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4</a:t>
            </a:r>
            <a:r>
              <a:rPr sz="2800" b="1" spc="-5" dirty="0">
                <a:solidFill>
                  <a:srgbClr val="404040"/>
                </a:solidFill>
                <a:latin typeface="宋体"/>
                <a:cs typeface="宋体"/>
              </a:rPr>
              <a:t>，</a:t>
            </a:r>
            <a:r>
              <a:rPr sz="2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5</a:t>
            </a:r>
            <a:r>
              <a:rPr sz="28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404040"/>
                </a:solidFill>
                <a:latin typeface="宋体"/>
                <a:cs typeface="宋体"/>
              </a:rPr>
              <a:t>，</a:t>
            </a:r>
            <a:r>
              <a:rPr sz="2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3}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700">
              <a:latin typeface="Times New Roman"/>
              <a:cs typeface="Times New Roman"/>
            </a:endParaRPr>
          </a:p>
          <a:p>
            <a:pPr marL="147955" algn="ctr">
              <a:lnSpc>
                <a:spcPct val="100000"/>
              </a:lnSpc>
              <a:tabLst>
                <a:tab pos="899160" algn="l"/>
                <a:tab pos="1665605" algn="l"/>
                <a:tab pos="2432685" algn="l"/>
              </a:tabLst>
            </a:pPr>
            <a:r>
              <a:rPr sz="2400" dirty="0">
                <a:latin typeface="Times New Roman"/>
                <a:cs typeface="Times New Roman"/>
              </a:rPr>
              <a:t>2	4	5	3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150">
              <a:latin typeface="Times New Roman"/>
              <a:cs typeface="Times New Roman"/>
            </a:endParaRPr>
          </a:p>
          <a:p>
            <a:pPr marL="522605">
              <a:lnSpc>
                <a:spcPct val="100000"/>
              </a:lnSpc>
            </a:pPr>
            <a:r>
              <a:rPr sz="2800" spc="-5" dirty="0">
                <a:solidFill>
                  <a:srgbClr val="285A31"/>
                </a:solidFill>
                <a:latin typeface="微软雅黑"/>
                <a:cs typeface="微软雅黑"/>
              </a:rPr>
              <a:t>算法描</a:t>
            </a:r>
            <a:r>
              <a:rPr sz="2800" spc="-10" dirty="0">
                <a:solidFill>
                  <a:srgbClr val="285A31"/>
                </a:solidFill>
                <a:latin typeface="微软雅黑"/>
                <a:cs typeface="微软雅黑"/>
              </a:rPr>
              <a:t>述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：</a:t>
            </a:r>
            <a:endParaRPr sz="280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581306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48643" y="2017267"/>
            <a:ext cx="152400" cy="25355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algn="just">
              <a:lnSpc>
                <a:spcPts val="1000"/>
              </a:lnSpc>
              <a:spcBef>
                <a:spcPts val="2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数 据 结 构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880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（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从 概 念 到 实 现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975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640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清 华 大 学 出 版 社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42925" y="100964"/>
            <a:ext cx="2376170" cy="540385"/>
          </a:xfrm>
          <a:custGeom>
            <a:avLst/>
            <a:gdLst/>
            <a:ahLst/>
            <a:cxnLst/>
            <a:rect l="l" t="t" r="r" b="b"/>
            <a:pathLst>
              <a:path w="2376170" h="540385">
                <a:moveTo>
                  <a:pt x="2286000" y="0"/>
                </a:moveTo>
                <a:lnTo>
                  <a:pt x="90004" y="0"/>
                </a:lnTo>
                <a:lnTo>
                  <a:pt x="54971" y="7068"/>
                </a:lnTo>
                <a:lnTo>
                  <a:pt x="26362" y="26352"/>
                </a:lnTo>
                <a:lnTo>
                  <a:pt x="7073" y="54971"/>
                </a:lnTo>
                <a:lnTo>
                  <a:pt x="0" y="90042"/>
                </a:lnTo>
                <a:lnTo>
                  <a:pt x="0" y="449960"/>
                </a:lnTo>
                <a:lnTo>
                  <a:pt x="7073" y="485032"/>
                </a:lnTo>
                <a:lnTo>
                  <a:pt x="26362" y="513651"/>
                </a:lnTo>
                <a:lnTo>
                  <a:pt x="54971" y="532935"/>
                </a:lnTo>
                <a:lnTo>
                  <a:pt x="90004" y="540003"/>
                </a:lnTo>
                <a:lnTo>
                  <a:pt x="2286000" y="540003"/>
                </a:lnTo>
                <a:lnTo>
                  <a:pt x="2321018" y="532935"/>
                </a:lnTo>
                <a:lnTo>
                  <a:pt x="2349642" y="513651"/>
                </a:lnTo>
                <a:lnTo>
                  <a:pt x="2368956" y="485032"/>
                </a:lnTo>
                <a:lnTo>
                  <a:pt x="2376043" y="449960"/>
                </a:lnTo>
                <a:lnTo>
                  <a:pt x="2376043" y="90042"/>
                </a:lnTo>
                <a:lnTo>
                  <a:pt x="2368956" y="54971"/>
                </a:lnTo>
                <a:lnTo>
                  <a:pt x="2349642" y="26352"/>
                </a:lnTo>
                <a:lnTo>
                  <a:pt x="2321018" y="7068"/>
                </a:lnTo>
                <a:lnTo>
                  <a:pt x="2286000" y="0"/>
                </a:lnTo>
                <a:close/>
              </a:path>
            </a:pathLst>
          </a:custGeom>
          <a:solidFill>
            <a:srgbClr val="5A31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6991" y="141809"/>
            <a:ext cx="206375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solidFill>
                  <a:schemeClr val="bg1"/>
                </a:solidFill>
              </a:rPr>
              <a:t>哈夫</a:t>
            </a:r>
            <a:r>
              <a:rPr sz="2800" spc="-10" dirty="0">
                <a:solidFill>
                  <a:schemeClr val="bg1"/>
                </a:solidFill>
              </a:rPr>
              <a:t>曼</a:t>
            </a:r>
            <a:r>
              <a:rPr sz="2800" spc="-5" dirty="0">
                <a:solidFill>
                  <a:schemeClr val="bg1"/>
                </a:solidFill>
              </a:rPr>
              <a:t>算</a:t>
            </a:r>
            <a:r>
              <a:rPr sz="2800" spc="-10" dirty="0">
                <a:solidFill>
                  <a:schemeClr val="bg1"/>
                </a:solidFill>
              </a:rPr>
              <a:t>法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309995" y="1387475"/>
          <a:ext cx="4841874" cy="426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52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42672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2800" dirty="0">
                          <a:solidFill>
                            <a:srgbClr val="285A31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83185" marB="0">
                    <a:lnL w="38100">
                      <a:solidFill>
                        <a:srgbClr val="507C7C"/>
                      </a:solidFill>
                      <a:prstDash val="solid"/>
                    </a:lnL>
                    <a:lnR w="38100">
                      <a:solidFill>
                        <a:srgbClr val="507C7C"/>
                      </a:solidFill>
                      <a:prstDash val="solid"/>
                    </a:lnR>
                    <a:lnT w="38100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05130" algn="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2800" spc="-5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spc="-5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86360" marB="0">
                    <a:lnL w="38100">
                      <a:solidFill>
                        <a:srgbClr val="507C7C"/>
                      </a:solidFill>
                      <a:prstDash val="solid"/>
                    </a:lnL>
                    <a:lnR w="38100">
                      <a:solidFill>
                        <a:srgbClr val="507C7C"/>
                      </a:solidFill>
                      <a:prstDash val="solid"/>
                    </a:lnR>
                    <a:lnT w="38100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624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2800" spc="-5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spc="-5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86360" marB="0">
                    <a:lnL w="38100">
                      <a:solidFill>
                        <a:srgbClr val="507C7C"/>
                      </a:solidFill>
                      <a:prstDash val="solid"/>
                    </a:lnL>
                    <a:lnR w="38100">
                      <a:solidFill>
                        <a:srgbClr val="507C7C"/>
                      </a:solidFill>
                      <a:prstDash val="solid"/>
                    </a:lnR>
                    <a:lnT w="38100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957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2800" spc="-5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spc="-5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86360" marB="0">
                    <a:lnL w="38100">
                      <a:solidFill>
                        <a:srgbClr val="507C7C"/>
                      </a:solidFill>
                      <a:prstDash val="solid"/>
                    </a:lnL>
                    <a:lnR w="38100">
                      <a:solidFill>
                        <a:srgbClr val="507C7C"/>
                      </a:solidFill>
                      <a:prstDash val="solid"/>
                    </a:lnR>
                    <a:lnT w="38100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42672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2800" dirty="0">
                          <a:solidFill>
                            <a:srgbClr val="285A31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0485" marB="0">
                    <a:lnL w="38100">
                      <a:solidFill>
                        <a:srgbClr val="507C7C"/>
                      </a:solidFill>
                      <a:prstDash val="solid"/>
                    </a:lnL>
                    <a:lnR w="38100">
                      <a:solidFill>
                        <a:srgbClr val="507C7C"/>
                      </a:solidFill>
                      <a:prstDash val="solid"/>
                    </a:lnR>
                    <a:lnT w="38100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05130" algn="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4295" marB="0">
                    <a:lnL w="38100">
                      <a:solidFill>
                        <a:srgbClr val="507C7C"/>
                      </a:solidFill>
                      <a:prstDash val="solid"/>
                    </a:lnL>
                    <a:lnR w="38100">
                      <a:solidFill>
                        <a:srgbClr val="507C7C"/>
                      </a:solidFill>
                      <a:prstDash val="solid"/>
                    </a:lnR>
                    <a:lnT w="38100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624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4295" marB="0">
                    <a:lnL w="38100">
                      <a:solidFill>
                        <a:srgbClr val="507C7C"/>
                      </a:solidFill>
                      <a:prstDash val="solid"/>
                    </a:lnL>
                    <a:lnR w="38100">
                      <a:solidFill>
                        <a:srgbClr val="507C7C"/>
                      </a:solidFill>
                      <a:prstDash val="solid"/>
                    </a:lnR>
                    <a:lnT w="38100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957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4295" marB="0">
                    <a:lnL w="38100">
                      <a:solidFill>
                        <a:srgbClr val="507C7C"/>
                      </a:solidFill>
                      <a:prstDash val="solid"/>
                    </a:lnL>
                    <a:lnR w="38100">
                      <a:solidFill>
                        <a:srgbClr val="507C7C"/>
                      </a:solidFill>
                      <a:prstDash val="solid"/>
                    </a:lnR>
                    <a:lnT w="38100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426720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2800" dirty="0">
                          <a:solidFill>
                            <a:srgbClr val="285A31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59054" marB="0">
                    <a:lnL w="38100">
                      <a:solidFill>
                        <a:srgbClr val="507C7C"/>
                      </a:solidFill>
                      <a:prstDash val="solid"/>
                    </a:lnL>
                    <a:lnR w="38100">
                      <a:solidFill>
                        <a:srgbClr val="507C7C"/>
                      </a:solidFill>
                      <a:prstDash val="solid"/>
                    </a:lnR>
                    <a:lnT w="38100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05130" algn="r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62229" marB="0">
                    <a:lnL w="38100">
                      <a:solidFill>
                        <a:srgbClr val="507C7C"/>
                      </a:solidFill>
                      <a:prstDash val="solid"/>
                    </a:lnL>
                    <a:lnR w="38100">
                      <a:solidFill>
                        <a:srgbClr val="507C7C"/>
                      </a:solidFill>
                      <a:prstDash val="solid"/>
                    </a:lnR>
                    <a:lnT w="38100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6240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62229" marB="0">
                    <a:lnL w="38100">
                      <a:solidFill>
                        <a:srgbClr val="507C7C"/>
                      </a:solidFill>
                      <a:prstDash val="solid"/>
                    </a:lnL>
                    <a:lnR w="38100">
                      <a:solidFill>
                        <a:srgbClr val="507C7C"/>
                      </a:solidFill>
                      <a:prstDash val="solid"/>
                    </a:lnR>
                    <a:lnT w="38100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9575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62229" marB="0">
                    <a:lnL w="38100">
                      <a:solidFill>
                        <a:srgbClr val="507C7C"/>
                      </a:solidFill>
                      <a:prstDash val="solid"/>
                    </a:lnL>
                    <a:lnR w="38100">
                      <a:solidFill>
                        <a:srgbClr val="507C7C"/>
                      </a:solidFill>
                      <a:prstDash val="solid"/>
                    </a:lnR>
                    <a:lnT w="38100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42672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800" dirty="0">
                          <a:solidFill>
                            <a:srgbClr val="285A31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lnL w="38100">
                      <a:solidFill>
                        <a:srgbClr val="507C7C"/>
                      </a:solidFill>
                      <a:prstDash val="solid"/>
                    </a:lnL>
                    <a:lnR w="38100">
                      <a:solidFill>
                        <a:srgbClr val="507C7C"/>
                      </a:solidFill>
                      <a:prstDash val="solid"/>
                    </a:lnR>
                    <a:lnT w="38100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0513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38100">
                      <a:solidFill>
                        <a:srgbClr val="507C7C"/>
                      </a:solidFill>
                      <a:prstDash val="solid"/>
                    </a:lnL>
                    <a:lnR w="38100">
                      <a:solidFill>
                        <a:srgbClr val="507C7C"/>
                      </a:solidFill>
                      <a:prstDash val="solid"/>
                    </a:lnR>
                    <a:lnT w="38100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624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38100">
                      <a:solidFill>
                        <a:srgbClr val="507C7C"/>
                      </a:solidFill>
                      <a:prstDash val="solid"/>
                    </a:lnL>
                    <a:lnR w="38100">
                      <a:solidFill>
                        <a:srgbClr val="507C7C"/>
                      </a:solidFill>
                      <a:prstDash val="solid"/>
                    </a:lnR>
                    <a:lnT w="38100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95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38100">
                      <a:solidFill>
                        <a:srgbClr val="507C7C"/>
                      </a:solidFill>
                      <a:prstDash val="solid"/>
                    </a:lnL>
                    <a:lnR w="38100">
                      <a:solidFill>
                        <a:srgbClr val="507C7C"/>
                      </a:solidFill>
                      <a:prstDash val="solid"/>
                    </a:lnR>
                    <a:lnT w="38100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507C7C"/>
                      </a:solidFill>
                      <a:prstDash val="solid"/>
                    </a:lnL>
                    <a:lnR w="38100">
                      <a:solidFill>
                        <a:srgbClr val="507C7C"/>
                      </a:solidFill>
                      <a:prstDash val="solid"/>
                    </a:lnR>
                    <a:lnT w="38100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05130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38100">
                      <a:solidFill>
                        <a:srgbClr val="507C7C"/>
                      </a:solidFill>
                      <a:prstDash val="solid"/>
                    </a:lnL>
                    <a:lnR w="38100">
                      <a:solidFill>
                        <a:srgbClr val="507C7C"/>
                      </a:solidFill>
                      <a:prstDash val="solid"/>
                    </a:lnR>
                    <a:lnT w="38100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62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38100">
                      <a:solidFill>
                        <a:srgbClr val="507C7C"/>
                      </a:solidFill>
                      <a:prstDash val="solid"/>
                    </a:lnL>
                    <a:lnR w="38100">
                      <a:solidFill>
                        <a:srgbClr val="507C7C"/>
                      </a:solidFill>
                      <a:prstDash val="solid"/>
                    </a:lnR>
                    <a:lnT w="38100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95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38100">
                      <a:solidFill>
                        <a:srgbClr val="507C7C"/>
                      </a:solidFill>
                      <a:prstDash val="solid"/>
                    </a:lnL>
                    <a:lnR w="38100">
                      <a:solidFill>
                        <a:srgbClr val="507C7C"/>
                      </a:solidFill>
                      <a:prstDash val="solid"/>
                    </a:lnR>
                    <a:lnT w="38100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507C7C"/>
                      </a:solidFill>
                      <a:prstDash val="solid"/>
                    </a:lnL>
                    <a:lnR w="38100">
                      <a:solidFill>
                        <a:srgbClr val="507C7C"/>
                      </a:solidFill>
                      <a:prstDash val="solid"/>
                    </a:lnR>
                    <a:lnT w="38100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05130"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38100">
                      <a:solidFill>
                        <a:srgbClr val="507C7C"/>
                      </a:solidFill>
                      <a:prstDash val="solid"/>
                    </a:lnL>
                    <a:lnR w="38100">
                      <a:solidFill>
                        <a:srgbClr val="507C7C"/>
                      </a:solidFill>
                      <a:prstDash val="solid"/>
                    </a:lnR>
                    <a:lnT w="38100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62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38100">
                      <a:solidFill>
                        <a:srgbClr val="507C7C"/>
                      </a:solidFill>
                      <a:prstDash val="solid"/>
                    </a:lnL>
                    <a:lnR w="38100">
                      <a:solidFill>
                        <a:srgbClr val="507C7C"/>
                      </a:solidFill>
                      <a:prstDash val="solid"/>
                    </a:lnR>
                    <a:lnT w="38100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957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6034" marB="0">
                    <a:lnL w="38100">
                      <a:solidFill>
                        <a:srgbClr val="507C7C"/>
                      </a:solidFill>
                      <a:prstDash val="solid"/>
                    </a:lnL>
                    <a:lnR w="38100">
                      <a:solidFill>
                        <a:srgbClr val="507C7C"/>
                      </a:solidFill>
                      <a:prstDash val="solid"/>
                    </a:lnR>
                    <a:lnT w="38100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507C7C"/>
                      </a:solidFill>
                      <a:prstDash val="solid"/>
                    </a:lnL>
                    <a:lnR w="38100">
                      <a:solidFill>
                        <a:srgbClr val="507C7C"/>
                      </a:solidFill>
                      <a:prstDash val="solid"/>
                    </a:lnR>
                    <a:lnT w="38100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05130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38100">
                      <a:solidFill>
                        <a:srgbClr val="507C7C"/>
                      </a:solidFill>
                      <a:prstDash val="solid"/>
                    </a:lnL>
                    <a:lnR w="38100">
                      <a:solidFill>
                        <a:srgbClr val="507C7C"/>
                      </a:solidFill>
                      <a:prstDash val="solid"/>
                    </a:lnR>
                    <a:lnT w="38100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624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38100">
                      <a:solidFill>
                        <a:srgbClr val="507C7C"/>
                      </a:solidFill>
                      <a:prstDash val="solid"/>
                    </a:lnL>
                    <a:lnR w="38100">
                      <a:solidFill>
                        <a:srgbClr val="507C7C"/>
                      </a:solidFill>
                      <a:prstDash val="solid"/>
                    </a:lnR>
                    <a:lnT w="38100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95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38100">
                      <a:solidFill>
                        <a:srgbClr val="507C7C"/>
                      </a:solidFill>
                      <a:prstDash val="solid"/>
                    </a:lnL>
                    <a:lnR w="38100">
                      <a:solidFill>
                        <a:srgbClr val="507C7C"/>
                      </a:solidFill>
                      <a:prstDash val="solid"/>
                    </a:lnR>
                    <a:lnT w="38100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1277492" y="2632836"/>
            <a:ext cx="3740150" cy="621665"/>
            <a:chOff x="1277492" y="2632836"/>
            <a:chExt cx="3740150" cy="621665"/>
          </a:xfrm>
        </p:grpSpPr>
        <p:sp>
          <p:nvSpPr>
            <p:cNvPr id="7" name="object 7"/>
            <p:cNvSpPr/>
            <p:nvPr/>
          </p:nvSpPr>
          <p:spPr>
            <a:xfrm>
              <a:off x="1296542" y="2651886"/>
              <a:ext cx="3702050" cy="583565"/>
            </a:xfrm>
            <a:custGeom>
              <a:avLst/>
              <a:gdLst/>
              <a:ahLst/>
              <a:cxnLst/>
              <a:rect l="l" t="t" r="r" b="b"/>
              <a:pathLst>
                <a:path w="3702050" h="583564">
                  <a:moveTo>
                    <a:pt x="179959" y="583438"/>
                  </a:moveTo>
                  <a:lnTo>
                    <a:pt x="144940" y="579645"/>
                  </a:lnTo>
                  <a:lnTo>
                    <a:pt x="116316" y="569293"/>
                  </a:lnTo>
                  <a:lnTo>
                    <a:pt x="97002" y="553916"/>
                  </a:lnTo>
                  <a:lnTo>
                    <a:pt x="89915" y="535051"/>
                  </a:lnTo>
                  <a:lnTo>
                    <a:pt x="89915" y="361823"/>
                  </a:lnTo>
                  <a:lnTo>
                    <a:pt x="82849" y="342957"/>
                  </a:lnTo>
                  <a:lnTo>
                    <a:pt x="63579" y="327580"/>
                  </a:lnTo>
                  <a:lnTo>
                    <a:pt x="34998" y="317228"/>
                  </a:lnTo>
                  <a:lnTo>
                    <a:pt x="0" y="313436"/>
                  </a:lnTo>
                  <a:lnTo>
                    <a:pt x="34998" y="309643"/>
                  </a:lnTo>
                  <a:lnTo>
                    <a:pt x="63579" y="299291"/>
                  </a:lnTo>
                  <a:lnTo>
                    <a:pt x="82849" y="283914"/>
                  </a:lnTo>
                  <a:lnTo>
                    <a:pt x="89915" y="265049"/>
                  </a:lnTo>
                  <a:lnTo>
                    <a:pt x="89915" y="91821"/>
                  </a:lnTo>
                  <a:lnTo>
                    <a:pt x="97002" y="72955"/>
                  </a:lnTo>
                  <a:lnTo>
                    <a:pt x="116316" y="57578"/>
                  </a:lnTo>
                  <a:lnTo>
                    <a:pt x="144940" y="47226"/>
                  </a:lnTo>
                  <a:lnTo>
                    <a:pt x="179959" y="43434"/>
                  </a:lnTo>
                </a:path>
                <a:path w="3702050" h="583564">
                  <a:moveTo>
                    <a:pt x="3521964" y="0"/>
                  </a:moveTo>
                  <a:lnTo>
                    <a:pt x="3557035" y="3810"/>
                  </a:lnTo>
                  <a:lnTo>
                    <a:pt x="3585654" y="14192"/>
                  </a:lnTo>
                  <a:lnTo>
                    <a:pt x="3604938" y="29575"/>
                  </a:lnTo>
                  <a:lnTo>
                    <a:pt x="3612006" y="48387"/>
                  </a:lnTo>
                  <a:lnTo>
                    <a:pt x="3612006" y="221614"/>
                  </a:lnTo>
                  <a:lnTo>
                    <a:pt x="3619075" y="240480"/>
                  </a:lnTo>
                  <a:lnTo>
                    <a:pt x="3638359" y="255857"/>
                  </a:lnTo>
                  <a:lnTo>
                    <a:pt x="3666978" y="266209"/>
                  </a:lnTo>
                  <a:lnTo>
                    <a:pt x="3702050" y="270001"/>
                  </a:lnTo>
                  <a:lnTo>
                    <a:pt x="3666978" y="273794"/>
                  </a:lnTo>
                  <a:lnTo>
                    <a:pt x="3638359" y="284146"/>
                  </a:lnTo>
                  <a:lnTo>
                    <a:pt x="3619075" y="299523"/>
                  </a:lnTo>
                  <a:lnTo>
                    <a:pt x="3612006" y="318388"/>
                  </a:lnTo>
                  <a:lnTo>
                    <a:pt x="3612006" y="491616"/>
                  </a:lnTo>
                  <a:lnTo>
                    <a:pt x="3604938" y="510482"/>
                  </a:lnTo>
                  <a:lnTo>
                    <a:pt x="3585654" y="525859"/>
                  </a:lnTo>
                  <a:lnTo>
                    <a:pt x="3557035" y="536211"/>
                  </a:lnTo>
                  <a:lnTo>
                    <a:pt x="3521964" y="540003"/>
                  </a:lnTo>
                </a:path>
              </a:pathLst>
            </a:custGeom>
            <a:ln w="38100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81555" y="2755645"/>
              <a:ext cx="2717165" cy="432434"/>
            </a:xfrm>
            <a:custGeom>
              <a:avLst/>
              <a:gdLst/>
              <a:ahLst/>
              <a:cxnLst/>
              <a:rect l="l" t="t" r="r" b="b"/>
              <a:pathLst>
                <a:path w="2717165" h="432435">
                  <a:moveTo>
                    <a:pt x="0" y="216026"/>
                  </a:moveTo>
                  <a:lnTo>
                    <a:pt x="5708" y="166471"/>
                  </a:lnTo>
                  <a:lnTo>
                    <a:pt x="21966" y="120992"/>
                  </a:lnTo>
                  <a:lnTo>
                    <a:pt x="47476" y="80883"/>
                  </a:lnTo>
                  <a:lnTo>
                    <a:pt x="80936" y="47436"/>
                  </a:lnTo>
                  <a:lnTo>
                    <a:pt x="121048" y="21944"/>
                  </a:lnTo>
                  <a:lnTo>
                    <a:pt x="166511" y="5701"/>
                  </a:lnTo>
                  <a:lnTo>
                    <a:pt x="216026" y="0"/>
                  </a:lnTo>
                  <a:lnTo>
                    <a:pt x="265542" y="5701"/>
                  </a:lnTo>
                  <a:lnTo>
                    <a:pt x="311005" y="21944"/>
                  </a:lnTo>
                  <a:lnTo>
                    <a:pt x="351117" y="47436"/>
                  </a:lnTo>
                  <a:lnTo>
                    <a:pt x="384577" y="80883"/>
                  </a:lnTo>
                  <a:lnTo>
                    <a:pt x="410087" y="120992"/>
                  </a:lnTo>
                  <a:lnTo>
                    <a:pt x="426345" y="166471"/>
                  </a:lnTo>
                  <a:lnTo>
                    <a:pt x="432054" y="216026"/>
                  </a:lnTo>
                  <a:lnTo>
                    <a:pt x="426345" y="265542"/>
                  </a:lnTo>
                  <a:lnTo>
                    <a:pt x="410087" y="311005"/>
                  </a:lnTo>
                  <a:lnTo>
                    <a:pt x="384577" y="351117"/>
                  </a:lnTo>
                  <a:lnTo>
                    <a:pt x="351117" y="384577"/>
                  </a:lnTo>
                  <a:lnTo>
                    <a:pt x="311005" y="410087"/>
                  </a:lnTo>
                  <a:lnTo>
                    <a:pt x="265542" y="426345"/>
                  </a:lnTo>
                  <a:lnTo>
                    <a:pt x="216026" y="432053"/>
                  </a:lnTo>
                  <a:lnTo>
                    <a:pt x="166511" y="426345"/>
                  </a:lnTo>
                  <a:lnTo>
                    <a:pt x="121048" y="410087"/>
                  </a:lnTo>
                  <a:lnTo>
                    <a:pt x="80936" y="384577"/>
                  </a:lnTo>
                  <a:lnTo>
                    <a:pt x="47476" y="351117"/>
                  </a:lnTo>
                  <a:lnTo>
                    <a:pt x="21966" y="311005"/>
                  </a:lnTo>
                  <a:lnTo>
                    <a:pt x="5708" y="265542"/>
                  </a:lnTo>
                  <a:lnTo>
                    <a:pt x="0" y="216026"/>
                  </a:lnTo>
                  <a:close/>
                </a:path>
                <a:path w="2717165" h="432435">
                  <a:moveTo>
                    <a:pt x="751586" y="216026"/>
                  </a:moveTo>
                  <a:lnTo>
                    <a:pt x="757287" y="166471"/>
                  </a:lnTo>
                  <a:lnTo>
                    <a:pt x="773527" y="120992"/>
                  </a:lnTo>
                  <a:lnTo>
                    <a:pt x="799012" y="80883"/>
                  </a:lnTo>
                  <a:lnTo>
                    <a:pt x="832445" y="47436"/>
                  </a:lnTo>
                  <a:lnTo>
                    <a:pt x="872532" y="21944"/>
                  </a:lnTo>
                  <a:lnTo>
                    <a:pt x="917977" y="5701"/>
                  </a:lnTo>
                  <a:lnTo>
                    <a:pt x="967486" y="0"/>
                  </a:lnTo>
                  <a:lnTo>
                    <a:pt x="1017041" y="5701"/>
                  </a:lnTo>
                  <a:lnTo>
                    <a:pt x="1062520" y="21944"/>
                  </a:lnTo>
                  <a:lnTo>
                    <a:pt x="1102629" y="47436"/>
                  </a:lnTo>
                  <a:lnTo>
                    <a:pt x="1136076" y="80883"/>
                  </a:lnTo>
                  <a:lnTo>
                    <a:pt x="1161568" y="120992"/>
                  </a:lnTo>
                  <a:lnTo>
                    <a:pt x="1177811" y="166471"/>
                  </a:lnTo>
                  <a:lnTo>
                    <a:pt x="1183513" y="216026"/>
                  </a:lnTo>
                  <a:lnTo>
                    <a:pt x="1177811" y="265542"/>
                  </a:lnTo>
                  <a:lnTo>
                    <a:pt x="1161568" y="311005"/>
                  </a:lnTo>
                  <a:lnTo>
                    <a:pt x="1136076" y="351117"/>
                  </a:lnTo>
                  <a:lnTo>
                    <a:pt x="1102629" y="384577"/>
                  </a:lnTo>
                  <a:lnTo>
                    <a:pt x="1062520" y="410087"/>
                  </a:lnTo>
                  <a:lnTo>
                    <a:pt x="1017041" y="426345"/>
                  </a:lnTo>
                  <a:lnTo>
                    <a:pt x="967486" y="432053"/>
                  </a:lnTo>
                  <a:lnTo>
                    <a:pt x="917977" y="426345"/>
                  </a:lnTo>
                  <a:lnTo>
                    <a:pt x="872532" y="410087"/>
                  </a:lnTo>
                  <a:lnTo>
                    <a:pt x="832445" y="384577"/>
                  </a:lnTo>
                  <a:lnTo>
                    <a:pt x="799012" y="351117"/>
                  </a:lnTo>
                  <a:lnTo>
                    <a:pt x="773527" y="311005"/>
                  </a:lnTo>
                  <a:lnTo>
                    <a:pt x="757287" y="265542"/>
                  </a:lnTo>
                  <a:lnTo>
                    <a:pt x="751586" y="216026"/>
                  </a:lnTo>
                  <a:close/>
                </a:path>
                <a:path w="2717165" h="432435">
                  <a:moveTo>
                    <a:pt x="1518284" y="216026"/>
                  </a:moveTo>
                  <a:lnTo>
                    <a:pt x="1523986" y="166471"/>
                  </a:lnTo>
                  <a:lnTo>
                    <a:pt x="1540229" y="120992"/>
                  </a:lnTo>
                  <a:lnTo>
                    <a:pt x="1565721" y="80883"/>
                  </a:lnTo>
                  <a:lnTo>
                    <a:pt x="1599168" y="47436"/>
                  </a:lnTo>
                  <a:lnTo>
                    <a:pt x="1639277" y="21944"/>
                  </a:lnTo>
                  <a:lnTo>
                    <a:pt x="1684756" y="5701"/>
                  </a:lnTo>
                  <a:lnTo>
                    <a:pt x="1734311" y="0"/>
                  </a:lnTo>
                  <a:lnTo>
                    <a:pt x="1783820" y="5701"/>
                  </a:lnTo>
                  <a:lnTo>
                    <a:pt x="1829265" y="21944"/>
                  </a:lnTo>
                  <a:lnTo>
                    <a:pt x="1869352" y="47436"/>
                  </a:lnTo>
                  <a:lnTo>
                    <a:pt x="1902785" y="80883"/>
                  </a:lnTo>
                  <a:lnTo>
                    <a:pt x="1928270" y="120992"/>
                  </a:lnTo>
                  <a:lnTo>
                    <a:pt x="1944510" y="166471"/>
                  </a:lnTo>
                  <a:lnTo>
                    <a:pt x="1950211" y="216026"/>
                  </a:lnTo>
                  <a:lnTo>
                    <a:pt x="1944510" y="265542"/>
                  </a:lnTo>
                  <a:lnTo>
                    <a:pt x="1928270" y="311005"/>
                  </a:lnTo>
                  <a:lnTo>
                    <a:pt x="1902785" y="351117"/>
                  </a:lnTo>
                  <a:lnTo>
                    <a:pt x="1869352" y="384577"/>
                  </a:lnTo>
                  <a:lnTo>
                    <a:pt x="1829265" y="410087"/>
                  </a:lnTo>
                  <a:lnTo>
                    <a:pt x="1783820" y="426345"/>
                  </a:lnTo>
                  <a:lnTo>
                    <a:pt x="1734311" y="432053"/>
                  </a:lnTo>
                  <a:lnTo>
                    <a:pt x="1684756" y="426345"/>
                  </a:lnTo>
                  <a:lnTo>
                    <a:pt x="1639277" y="410087"/>
                  </a:lnTo>
                  <a:lnTo>
                    <a:pt x="1599168" y="384577"/>
                  </a:lnTo>
                  <a:lnTo>
                    <a:pt x="1565721" y="351117"/>
                  </a:lnTo>
                  <a:lnTo>
                    <a:pt x="1540229" y="311005"/>
                  </a:lnTo>
                  <a:lnTo>
                    <a:pt x="1523986" y="265542"/>
                  </a:lnTo>
                  <a:lnTo>
                    <a:pt x="1518284" y="216026"/>
                  </a:lnTo>
                  <a:close/>
                </a:path>
                <a:path w="2717165" h="432435">
                  <a:moveTo>
                    <a:pt x="2284984" y="216026"/>
                  </a:moveTo>
                  <a:lnTo>
                    <a:pt x="2290692" y="166471"/>
                  </a:lnTo>
                  <a:lnTo>
                    <a:pt x="2306950" y="120992"/>
                  </a:lnTo>
                  <a:lnTo>
                    <a:pt x="2332460" y="80883"/>
                  </a:lnTo>
                  <a:lnTo>
                    <a:pt x="2365920" y="47436"/>
                  </a:lnTo>
                  <a:lnTo>
                    <a:pt x="2406032" y="21944"/>
                  </a:lnTo>
                  <a:lnTo>
                    <a:pt x="2451495" y="5701"/>
                  </a:lnTo>
                  <a:lnTo>
                    <a:pt x="2501010" y="0"/>
                  </a:lnTo>
                  <a:lnTo>
                    <a:pt x="2550526" y="5701"/>
                  </a:lnTo>
                  <a:lnTo>
                    <a:pt x="2595989" y="21944"/>
                  </a:lnTo>
                  <a:lnTo>
                    <a:pt x="2636101" y="47436"/>
                  </a:lnTo>
                  <a:lnTo>
                    <a:pt x="2669561" y="80883"/>
                  </a:lnTo>
                  <a:lnTo>
                    <a:pt x="2695071" y="120992"/>
                  </a:lnTo>
                  <a:lnTo>
                    <a:pt x="2711329" y="166471"/>
                  </a:lnTo>
                  <a:lnTo>
                    <a:pt x="2717038" y="216026"/>
                  </a:lnTo>
                  <a:lnTo>
                    <a:pt x="2711329" y="265542"/>
                  </a:lnTo>
                  <a:lnTo>
                    <a:pt x="2695071" y="311005"/>
                  </a:lnTo>
                  <a:lnTo>
                    <a:pt x="2669561" y="351117"/>
                  </a:lnTo>
                  <a:lnTo>
                    <a:pt x="2636101" y="384577"/>
                  </a:lnTo>
                  <a:lnTo>
                    <a:pt x="2595989" y="410087"/>
                  </a:lnTo>
                  <a:lnTo>
                    <a:pt x="2550526" y="426345"/>
                  </a:lnTo>
                  <a:lnTo>
                    <a:pt x="2501010" y="432053"/>
                  </a:lnTo>
                  <a:lnTo>
                    <a:pt x="2451495" y="426345"/>
                  </a:lnTo>
                  <a:lnTo>
                    <a:pt x="2406032" y="410087"/>
                  </a:lnTo>
                  <a:lnTo>
                    <a:pt x="2365920" y="384577"/>
                  </a:lnTo>
                  <a:lnTo>
                    <a:pt x="2332460" y="351117"/>
                  </a:lnTo>
                  <a:lnTo>
                    <a:pt x="2306950" y="311005"/>
                  </a:lnTo>
                  <a:lnTo>
                    <a:pt x="2290692" y="265542"/>
                  </a:lnTo>
                  <a:lnTo>
                    <a:pt x="2284984" y="216026"/>
                  </a:lnTo>
                  <a:close/>
                </a:path>
              </a:pathLst>
            </a:custGeom>
            <a:ln w="28575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45058" y="997661"/>
            <a:ext cx="4843145" cy="2141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B42C2C"/>
                </a:solidFill>
                <a:latin typeface="微软雅黑"/>
                <a:cs typeface="微软雅黑"/>
              </a:rPr>
              <a:t>【算法</a:t>
            </a:r>
            <a:r>
              <a:rPr sz="2800" spc="-10" dirty="0">
                <a:solidFill>
                  <a:srgbClr val="B42C2C"/>
                </a:solidFill>
                <a:latin typeface="Times New Roman"/>
                <a:cs typeface="Times New Roman"/>
              </a:rPr>
              <a:t>——</a:t>
            </a:r>
            <a:r>
              <a:rPr sz="2800" spc="-10" dirty="0">
                <a:solidFill>
                  <a:srgbClr val="B42C2C"/>
                </a:solidFill>
                <a:latin typeface="微软雅黑"/>
                <a:cs typeface="微软雅黑"/>
              </a:rPr>
              <a:t>数据处理过程</a:t>
            </a:r>
            <a:r>
              <a:rPr sz="2800" spc="-5" dirty="0">
                <a:solidFill>
                  <a:srgbClr val="B42C2C"/>
                </a:solidFill>
                <a:latin typeface="微软雅黑"/>
                <a:cs typeface="微软雅黑"/>
              </a:rPr>
              <a:t>】</a:t>
            </a:r>
            <a:endParaRPr sz="2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805"/>
              </a:spcBef>
              <a:tabLst>
                <a:tab pos="544195" algn="l"/>
              </a:tabLst>
            </a:pPr>
            <a:r>
              <a:rPr sz="2800" spc="-5" dirty="0">
                <a:solidFill>
                  <a:srgbClr val="5A317C"/>
                </a:solidFill>
                <a:latin typeface="微软雅黑"/>
                <a:cs typeface="微软雅黑"/>
              </a:rPr>
              <a:t>例	</a:t>
            </a:r>
            <a:r>
              <a:rPr sz="2800" spc="-10" dirty="0">
                <a:solidFill>
                  <a:srgbClr val="404040"/>
                </a:solidFill>
                <a:latin typeface="微软雅黑"/>
                <a:cs typeface="微软雅黑"/>
              </a:rPr>
              <a:t>给定权值集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合</a:t>
            </a:r>
            <a:r>
              <a:rPr sz="2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{2</a:t>
            </a:r>
            <a:r>
              <a:rPr sz="2800" b="1" spc="-5" dirty="0">
                <a:solidFill>
                  <a:srgbClr val="404040"/>
                </a:solidFill>
                <a:latin typeface="宋体"/>
                <a:cs typeface="宋体"/>
              </a:rPr>
              <a:t>，</a:t>
            </a:r>
            <a:r>
              <a:rPr sz="2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4</a:t>
            </a:r>
            <a:r>
              <a:rPr sz="2800" b="1" spc="-5" dirty="0">
                <a:solidFill>
                  <a:srgbClr val="404040"/>
                </a:solidFill>
                <a:latin typeface="宋体"/>
                <a:cs typeface="宋体"/>
              </a:rPr>
              <a:t>，</a:t>
            </a:r>
            <a:r>
              <a:rPr sz="2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5</a:t>
            </a:r>
            <a:r>
              <a:rPr sz="28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404040"/>
                </a:solidFill>
                <a:latin typeface="宋体"/>
                <a:cs typeface="宋体"/>
              </a:rPr>
              <a:t>，</a:t>
            </a:r>
            <a:r>
              <a:rPr sz="2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3}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700">
              <a:latin typeface="Times New Roman"/>
              <a:cs typeface="Times New Roman"/>
            </a:endParaRPr>
          </a:p>
          <a:p>
            <a:pPr marL="147955" algn="ctr">
              <a:lnSpc>
                <a:spcPct val="100000"/>
              </a:lnSpc>
              <a:tabLst>
                <a:tab pos="899160" algn="l"/>
                <a:tab pos="1665605" algn="l"/>
                <a:tab pos="2432685" algn="l"/>
              </a:tabLst>
            </a:pPr>
            <a:r>
              <a:rPr sz="2400" dirty="0">
                <a:latin typeface="Times New Roman"/>
                <a:cs typeface="Times New Roman"/>
              </a:rPr>
              <a:t>2	4	5	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70270" y="1328054"/>
            <a:ext cx="203200" cy="4208780"/>
          </a:xfrm>
          <a:prstGeom prst="rect">
            <a:avLst/>
          </a:prstGeom>
        </p:spPr>
        <p:txBody>
          <a:bodyPr vert="horz" wrap="square" lIns="0" tIns="183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88734" y="848360"/>
            <a:ext cx="20554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55065" algn="l"/>
              </a:tabLst>
            </a:pP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weight	parent</a:t>
            </a:r>
            <a:endParaRPr sz="28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63965" y="848360"/>
            <a:ext cx="8350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lchi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endParaRPr sz="28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117073" y="848360"/>
            <a:ext cx="85534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rchi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endParaRPr sz="28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8162" y="4649228"/>
            <a:ext cx="5039995" cy="708025"/>
          </a:xfrm>
          <a:prstGeom prst="rect">
            <a:avLst/>
          </a:prstGeom>
          <a:ln w="9525">
            <a:solidFill>
              <a:srgbClr val="5A317C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368300">
              <a:lnSpc>
                <a:spcPts val="2520"/>
              </a:lnSpc>
              <a:spcBef>
                <a:spcPts val="50"/>
              </a:spcBef>
            </a:pPr>
            <a:r>
              <a:rPr sz="2200" spc="-5" dirty="0">
                <a:solidFill>
                  <a:srgbClr val="285A31"/>
                </a:solidFill>
                <a:latin typeface="Times New Roman"/>
                <a:cs typeface="Times New Roman"/>
              </a:rPr>
              <a:t>for</a:t>
            </a:r>
            <a:r>
              <a:rPr sz="2200" spc="5" dirty="0">
                <a:solidFill>
                  <a:srgbClr val="285A31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285A31"/>
                </a:solidFill>
                <a:latin typeface="Times New Roman"/>
                <a:cs typeface="Times New Roman"/>
              </a:rPr>
              <a:t>(i =</a:t>
            </a:r>
            <a:r>
              <a:rPr sz="2200" spc="-10" dirty="0">
                <a:solidFill>
                  <a:srgbClr val="285A31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285A31"/>
                </a:solidFill>
                <a:latin typeface="Times New Roman"/>
                <a:cs typeface="Times New Roman"/>
              </a:rPr>
              <a:t>0;</a:t>
            </a:r>
            <a:r>
              <a:rPr sz="2200" dirty="0">
                <a:solidFill>
                  <a:srgbClr val="285A31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285A31"/>
                </a:solidFill>
                <a:latin typeface="Times New Roman"/>
                <a:cs typeface="Times New Roman"/>
              </a:rPr>
              <a:t>i</a:t>
            </a:r>
            <a:r>
              <a:rPr sz="2200" spc="-20" dirty="0">
                <a:solidFill>
                  <a:srgbClr val="285A31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285A31"/>
                </a:solidFill>
                <a:latin typeface="Times New Roman"/>
                <a:cs typeface="Times New Roman"/>
              </a:rPr>
              <a:t>&lt;</a:t>
            </a:r>
            <a:r>
              <a:rPr sz="2200" spc="-10" dirty="0">
                <a:solidFill>
                  <a:srgbClr val="285A31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285A31"/>
                </a:solidFill>
                <a:latin typeface="Times New Roman"/>
                <a:cs typeface="Times New Roman"/>
              </a:rPr>
              <a:t>n;</a:t>
            </a:r>
            <a:r>
              <a:rPr sz="2200" dirty="0">
                <a:solidFill>
                  <a:srgbClr val="285A31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285A31"/>
                </a:solidFill>
                <a:latin typeface="Times New Roman"/>
                <a:cs typeface="Times New Roman"/>
              </a:rPr>
              <a:t>i++)</a:t>
            </a:r>
            <a:endParaRPr sz="2200">
              <a:latin typeface="Times New Roman"/>
              <a:cs typeface="Times New Roman"/>
            </a:endParaRPr>
          </a:p>
          <a:p>
            <a:pPr marL="648970">
              <a:lnSpc>
                <a:spcPts val="2520"/>
              </a:lnSpc>
            </a:pPr>
            <a:r>
              <a:rPr sz="2200" spc="-10" dirty="0">
                <a:solidFill>
                  <a:srgbClr val="285A31"/>
                </a:solidFill>
                <a:latin typeface="Times New Roman"/>
                <a:cs typeface="Times New Roman"/>
              </a:rPr>
              <a:t>huffTree[i].weight</a:t>
            </a:r>
            <a:r>
              <a:rPr sz="2200" spc="10" dirty="0">
                <a:solidFill>
                  <a:srgbClr val="285A31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285A31"/>
                </a:solidFill>
                <a:latin typeface="Times New Roman"/>
                <a:cs typeface="Times New Roman"/>
              </a:rPr>
              <a:t>=</a:t>
            </a:r>
            <a:r>
              <a:rPr sz="2200" spc="-25" dirty="0">
                <a:solidFill>
                  <a:srgbClr val="285A31"/>
                </a:solidFill>
                <a:latin typeface="Times New Roman"/>
                <a:cs typeface="Times New Roman"/>
              </a:rPr>
              <a:t> </a:t>
            </a:r>
            <a:r>
              <a:rPr sz="2200" spc="-15" dirty="0">
                <a:solidFill>
                  <a:srgbClr val="285A31"/>
                </a:solidFill>
                <a:latin typeface="Times New Roman"/>
                <a:cs typeface="Times New Roman"/>
              </a:rPr>
              <a:t>w[i];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03580" y="3982846"/>
            <a:ext cx="540385" cy="432434"/>
            <a:chOff x="403580" y="3982846"/>
            <a:chExt cx="540385" cy="432434"/>
          </a:xfrm>
        </p:grpSpPr>
        <p:sp>
          <p:nvSpPr>
            <p:cNvPr id="16" name="object 16"/>
            <p:cNvSpPr/>
            <p:nvPr/>
          </p:nvSpPr>
          <p:spPr>
            <a:xfrm>
              <a:off x="575322" y="3982846"/>
              <a:ext cx="368300" cy="432434"/>
            </a:xfrm>
            <a:custGeom>
              <a:avLst/>
              <a:gdLst/>
              <a:ahLst/>
              <a:cxnLst/>
              <a:rect l="l" t="t" r="r" b="b"/>
              <a:pathLst>
                <a:path w="368300" h="432435">
                  <a:moveTo>
                    <a:pt x="358673" y="0"/>
                  </a:moveTo>
                  <a:lnTo>
                    <a:pt x="0" y="254381"/>
                  </a:lnTo>
                  <a:lnTo>
                    <a:pt x="130213" y="308991"/>
                  </a:lnTo>
                  <a:lnTo>
                    <a:pt x="358673" y="0"/>
                  </a:lnTo>
                  <a:close/>
                </a:path>
                <a:path w="368300" h="432435">
                  <a:moveTo>
                    <a:pt x="368261" y="8255"/>
                  </a:moveTo>
                  <a:lnTo>
                    <a:pt x="139788" y="316357"/>
                  </a:lnTo>
                  <a:lnTo>
                    <a:pt x="226072" y="432054"/>
                  </a:lnTo>
                  <a:lnTo>
                    <a:pt x="368261" y="8255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580" y="4234814"/>
              <a:ext cx="301955" cy="160274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179982" y="3993260"/>
            <a:ext cx="18014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285A31"/>
                </a:solidFill>
                <a:latin typeface="微软雅黑"/>
                <a:cs typeface="微软雅黑"/>
              </a:rPr>
              <a:t>算法描述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：</a:t>
            </a:r>
            <a:endParaRPr sz="280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371163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48643" y="2017267"/>
            <a:ext cx="152400" cy="25355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algn="just">
              <a:lnSpc>
                <a:spcPts val="1000"/>
              </a:lnSpc>
              <a:spcBef>
                <a:spcPts val="2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数 据 结 构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880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（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从 概 念 到 实 现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975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640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清 华 大 学 出 版 社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6991" y="997661"/>
            <a:ext cx="42875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B42C2C"/>
                </a:solidFill>
                <a:latin typeface="微软雅黑"/>
                <a:cs typeface="微软雅黑"/>
              </a:rPr>
              <a:t>【算法</a:t>
            </a:r>
            <a:r>
              <a:rPr sz="2800" spc="-10" dirty="0">
                <a:solidFill>
                  <a:srgbClr val="B42C2C"/>
                </a:solidFill>
                <a:latin typeface="Times New Roman"/>
                <a:cs typeface="Times New Roman"/>
              </a:rPr>
              <a:t>——</a:t>
            </a:r>
            <a:r>
              <a:rPr sz="2800" spc="-10" dirty="0">
                <a:solidFill>
                  <a:srgbClr val="B42C2C"/>
                </a:solidFill>
                <a:latin typeface="微软雅黑"/>
                <a:cs typeface="微软雅黑"/>
              </a:rPr>
              <a:t>数据处理过程</a:t>
            </a:r>
            <a:r>
              <a:rPr sz="2800" spc="-5" dirty="0">
                <a:solidFill>
                  <a:srgbClr val="B42C2C"/>
                </a:solidFill>
                <a:latin typeface="微软雅黑"/>
                <a:cs typeface="微软雅黑"/>
              </a:rPr>
              <a:t>】</a:t>
            </a:r>
            <a:endParaRPr sz="2800">
              <a:latin typeface="微软雅黑"/>
              <a:cs typeface="微软雅黑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277492" y="2632836"/>
            <a:ext cx="3740150" cy="621665"/>
            <a:chOff x="1277492" y="2632836"/>
            <a:chExt cx="3740150" cy="621665"/>
          </a:xfrm>
        </p:grpSpPr>
        <p:sp>
          <p:nvSpPr>
            <p:cNvPr id="7" name="object 7"/>
            <p:cNvSpPr/>
            <p:nvPr/>
          </p:nvSpPr>
          <p:spPr>
            <a:xfrm>
              <a:off x="1296542" y="2651886"/>
              <a:ext cx="3702050" cy="583565"/>
            </a:xfrm>
            <a:custGeom>
              <a:avLst/>
              <a:gdLst/>
              <a:ahLst/>
              <a:cxnLst/>
              <a:rect l="l" t="t" r="r" b="b"/>
              <a:pathLst>
                <a:path w="3702050" h="583564">
                  <a:moveTo>
                    <a:pt x="179959" y="583438"/>
                  </a:moveTo>
                  <a:lnTo>
                    <a:pt x="144940" y="579645"/>
                  </a:lnTo>
                  <a:lnTo>
                    <a:pt x="116316" y="569293"/>
                  </a:lnTo>
                  <a:lnTo>
                    <a:pt x="97002" y="553916"/>
                  </a:lnTo>
                  <a:lnTo>
                    <a:pt x="89915" y="535051"/>
                  </a:lnTo>
                  <a:lnTo>
                    <a:pt x="89915" y="361823"/>
                  </a:lnTo>
                  <a:lnTo>
                    <a:pt x="82849" y="342957"/>
                  </a:lnTo>
                  <a:lnTo>
                    <a:pt x="63579" y="327580"/>
                  </a:lnTo>
                  <a:lnTo>
                    <a:pt x="34998" y="317228"/>
                  </a:lnTo>
                  <a:lnTo>
                    <a:pt x="0" y="313436"/>
                  </a:lnTo>
                  <a:lnTo>
                    <a:pt x="34998" y="309643"/>
                  </a:lnTo>
                  <a:lnTo>
                    <a:pt x="63579" y="299291"/>
                  </a:lnTo>
                  <a:lnTo>
                    <a:pt x="82849" y="283914"/>
                  </a:lnTo>
                  <a:lnTo>
                    <a:pt x="89915" y="265049"/>
                  </a:lnTo>
                  <a:lnTo>
                    <a:pt x="89915" y="91821"/>
                  </a:lnTo>
                  <a:lnTo>
                    <a:pt x="97002" y="72955"/>
                  </a:lnTo>
                  <a:lnTo>
                    <a:pt x="116316" y="57578"/>
                  </a:lnTo>
                  <a:lnTo>
                    <a:pt x="144940" y="47226"/>
                  </a:lnTo>
                  <a:lnTo>
                    <a:pt x="179959" y="43434"/>
                  </a:lnTo>
                </a:path>
                <a:path w="3702050" h="583564">
                  <a:moveTo>
                    <a:pt x="3521964" y="0"/>
                  </a:moveTo>
                  <a:lnTo>
                    <a:pt x="3557035" y="3810"/>
                  </a:lnTo>
                  <a:lnTo>
                    <a:pt x="3585654" y="14192"/>
                  </a:lnTo>
                  <a:lnTo>
                    <a:pt x="3604938" y="29575"/>
                  </a:lnTo>
                  <a:lnTo>
                    <a:pt x="3612006" y="48387"/>
                  </a:lnTo>
                  <a:lnTo>
                    <a:pt x="3612006" y="221614"/>
                  </a:lnTo>
                  <a:lnTo>
                    <a:pt x="3619075" y="240480"/>
                  </a:lnTo>
                  <a:lnTo>
                    <a:pt x="3638359" y="255857"/>
                  </a:lnTo>
                  <a:lnTo>
                    <a:pt x="3666978" y="266209"/>
                  </a:lnTo>
                  <a:lnTo>
                    <a:pt x="3702050" y="270001"/>
                  </a:lnTo>
                  <a:lnTo>
                    <a:pt x="3666978" y="273794"/>
                  </a:lnTo>
                  <a:lnTo>
                    <a:pt x="3638359" y="284146"/>
                  </a:lnTo>
                  <a:lnTo>
                    <a:pt x="3619075" y="299523"/>
                  </a:lnTo>
                  <a:lnTo>
                    <a:pt x="3612006" y="318388"/>
                  </a:lnTo>
                  <a:lnTo>
                    <a:pt x="3612006" y="491616"/>
                  </a:lnTo>
                  <a:lnTo>
                    <a:pt x="3604938" y="510482"/>
                  </a:lnTo>
                  <a:lnTo>
                    <a:pt x="3585654" y="525859"/>
                  </a:lnTo>
                  <a:lnTo>
                    <a:pt x="3557035" y="536211"/>
                  </a:lnTo>
                  <a:lnTo>
                    <a:pt x="3521964" y="540003"/>
                  </a:lnTo>
                </a:path>
              </a:pathLst>
            </a:custGeom>
            <a:ln w="38100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81555" y="2755645"/>
              <a:ext cx="2717165" cy="432434"/>
            </a:xfrm>
            <a:custGeom>
              <a:avLst/>
              <a:gdLst/>
              <a:ahLst/>
              <a:cxnLst/>
              <a:rect l="l" t="t" r="r" b="b"/>
              <a:pathLst>
                <a:path w="2717165" h="432435">
                  <a:moveTo>
                    <a:pt x="0" y="216026"/>
                  </a:moveTo>
                  <a:lnTo>
                    <a:pt x="5708" y="166471"/>
                  </a:lnTo>
                  <a:lnTo>
                    <a:pt x="21966" y="120992"/>
                  </a:lnTo>
                  <a:lnTo>
                    <a:pt x="47476" y="80883"/>
                  </a:lnTo>
                  <a:lnTo>
                    <a:pt x="80936" y="47436"/>
                  </a:lnTo>
                  <a:lnTo>
                    <a:pt x="121048" y="21944"/>
                  </a:lnTo>
                  <a:lnTo>
                    <a:pt x="166511" y="5701"/>
                  </a:lnTo>
                  <a:lnTo>
                    <a:pt x="216026" y="0"/>
                  </a:lnTo>
                  <a:lnTo>
                    <a:pt x="265542" y="5701"/>
                  </a:lnTo>
                  <a:lnTo>
                    <a:pt x="311005" y="21944"/>
                  </a:lnTo>
                  <a:lnTo>
                    <a:pt x="351117" y="47436"/>
                  </a:lnTo>
                  <a:lnTo>
                    <a:pt x="384577" y="80883"/>
                  </a:lnTo>
                  <a:lnTo>
                    <a:pt x="410087" y="120992"/>
                  </a:lnTo>
                  <a:lnTo>
                    <a:pt x="426345" y="166471"/>
                  </a:lnTo>
                  <a:lnTo>
                    <a:pt x="432054" y="216026"/>
                  </a:lnTo>
                  <a:lnTo>
                    <a:pt x="426345" y="265542"/>
                  </a:lnTo>
                  <a:lnTo>
                    <a:pt x="410087" y="311005"/>
                  </a:lnTo>
                  <a:lnTo>
                    <a:pt x="384577" y="351117"/>
                  </a:lnTo>
                  <a:lnTo>
                    <a:pt x="351117" y="384577"/>
                  </a:lnTo>
                  <a:lnTo>
                    <a:pt x="311005" y="410087"/>
                  </a:lnTo>
                  <a:lnTo>
                    <a:pt x="265542" y="426345"/>
                  </a:lnTo>
                  <a:lnTo>
                    <a:pt x="216026" y="432053"/>
                  </a:lnTo>
                  <a:lnTo>
                    <a:pt x="166511" y="426345"/>
                  </a:lnTo>
                  <a:lnTo>
                    <a:pt x="121048" y="410087"/>
                  </a:lnTo>
                  <a:lnTo>
                    <a:pt x="80936" y="384577"/>
                  </a:lnTo>
                  <a:lnTo>
                    <a:pt x="47476" y="351117"/>
                  </a:lnTo>
                  <a:lnTo>
                    <a:pt x="21966" y="311005"/>
                  </a:lnTo>
                  <a:lnTo>
                    <a:pt x="5708" y="265542"/>
                  </a:lnTo>
                  <a:lnTo>
                    <a:pt x="0" y="216026"/>
                  </a:lnTo>
                  <a:close/>
                </a:path>
                <a:path w="2717165" h="432435">
                  <a:moveTo>
                    <a:pt x="751586" y="216026"/>
                  </a:moveTo>
                  <a:lnTo>
                    <a:pt x="757287" y="166471"/>
                  </a:lnTo>
                  <a:lnTo>
                    <a:pt x="773527" y="120992"/>
                  </a:lnTo>
                  <a:lnTo>
                    <a:pt x="799012" y="80883"/>
                  </a:lnTo>
                  <a:lnTo>
                    <a:pt x="832445" y="47436"/>
                  </a:lnTo>
                  <a:lnTo>
                    <a:pt x="872532" y="21944"/>
                  </a:lnTo>
                  <a:lnTo>
                    <a:pt x="917977" y="5701"/>
                  </a:lnTo>
                  <a:lnTo>
                    <a:pt x="967486" y="0"/>
                  </a:lnTo>
                  <a:lnTo>
                    <a:pt x="1017041" y="5701"/>
                  </a:lnTo>
                  <a:lnTo>
                    <a:pt x="1062520" y="21944"/>
                  </a:lnTo>
                  <a:lnTo>
                    <a:pt x="1102629" y="47436"/>
                  </a:lnTo>
                  <a:lnTo>
                    <a:pt x="1136076" y="80883"/>
                  </a:lnTo>
                  <a:lnTo>
                    <a:pt x="1161568" y="120992"/>
                  </a:lnTo>
                  <a:lnTo>
                    <a:pt x="1177811" y="166471"/>
                  </a:lnTo>
                  <a:lnTo>
                    <a:pt x="1183513" y="216026"/>
                  </a:lnTo>
                  <a:lnTo>
                    <a:pt x="1177811" y="265542"/>
                  </a:lnTo>
                  <a:lnTo>
                    <a:pt x="1161568" y="311005"/>
                  </a:lnTo>
                  <a:lnTo>
                    <a:pt x="1136076" y="351117"/>
                  </a:lnTo>
                  <a:lnTo>
                    <a:pt x="1102629" y="384577"/>
                  </a:lnTo>
                  <a:lnTo>
                    <a:pt x="1062520" y="410087"/>
                  </a:lnTo>
                  <a:lnTo>
                    <a:pt x="1017041" y="426345"/>
                  </a:lnTo>
                  <a:lnTo>
                    <a:pt x="967486" y="432053"/>
                  </a:lnTo>
                  <a:lnTo>
                    <a:pt x="917977" y="426345"/>
                  </a:lnTo>
                  <a:lnTo>
                    <a:pt x="872532" y="410087"/>
                  </a:lnTo>
                  <a:lnTo>
                    <a:pt x="832445" y="384577"/>
                  </a:lnTo>
                  <a:lnTo>
                    <a:pt x="799012" y="351117"/>
                  </a:lnTo>
                  <a:lnTo>
                    <a:pt x="773527" y="311005"/>
                  </a:lnTo>
                  <a:lnTo>
                    <a:pt x="757287" y="265542"/>
                  </a:lnTo>
                  <a:lnTo>
                    <a:pt x="751586" y="216026"/>
                  </a:lnTo>
                  <a:close/>
                </a:path>
                <a:path w="2717165" h="432435">
                  <a:moveTo>
                    <a:pt x="1518284" y="216026"/>
                  </a:moveTo>
                  <a:lnTo>
                    <a:pt x="1523986" y="166471"/>
                  </a:lnTo>
                  <a:lnTo>
                    <a:pt x="1540229" y="120992"/>
                  </a:lnTo>
                  <a:lnTo>
                    <a:pt x="1565721" y="80883"/>
                  </a:lnTo>
                  <a:lnTo>
                    <a:pt x="1599168" y="47436"/>
                  </a:lnTo>
                  <a:lnTo>
                    <a:pt x="1639277" y="21944"/>
                  </a:lnTo>
                  <a:lnTo>
                    <a:pt x="1684756" y="5701"/>
                  </a:lnTo>
                  <a:lnTo>
                    <a:pt x="1734311" y="0"/>
                  </a:lnTo>
                  <a:lnTo>
                    <a:pt x="1783820" y="5701"/>
                  </a:lnTo>
                  <a:lnTo>
                    <a:pt x="1829265" y="21944"/>
                  </a:lnTo>
                  <a:lnTo>
                    <a:pt x="1869352" y="47436"/>
                  </a:lnTo>
                  <a:lnTo>
                    <a:pt x="1902785" y="80883"/>
                  </a:lnTo>
                  <a:lnTo>
                    <a:pt x="1928270" y="120992"/>
                  </a:lnTo>
                  <a:lnTo>
                    <a:pt x="1944510" y="166471"/>
                  </a:lnTo>
                  <a:lnTo>
                    <a:pt x="1950211" y="216026"/>
                  </a:lnTo>
                  <a:lnTo>
                    <a:pt x="1944510" y="265542"/>
                  </a:lnTo>
                  <a:lnTo>
                    <a:pt x="1928270" y="311005"/>
                  </a:lnTo>
                  <a:lnTo>
                    <a:pt x="1902785" y="351117"/>
                  </a:lnTo>
                  <a:lnTo>
                    <a:pt x="1869352" y="384577"/>
                  </a:lnTo>
                  <a:lnTo>
                    <a:pt x="1829265" y="410087"/>
                  </a:lnTo>
                  <a:lnTo>
                    <a:pt x="1783820" y="426345"/>
                  </a:lnTo>
                  <a:lnTo>
                    <a:pt x="1734311" y="432053"/>
                  </a:lnTo>
                  <a:lnTo>
                    <a:pt x="1684756" y="426345"/>
                  </a:lnTo>
                  <a:lnTo>
                    <a:pt x="1639277" y="410087"/>
                  </a:lnTo>
                  <a:lnTo>
                    <a:pt x="1599168" y="384577"/>
                  </a:lnTo>
                  <a:lnTo>
                    <a:pt x="1565721" y="351117"/>
                  </a:lnTo>
                  <a:lnTo>
                    <a:pt x="1540229" y="311005"/>
                  </a:lnTo>
                  <a:lnTo>
                    <a:pt x="1523986" y="265542"/>
                  </a:lnTo>
                  <a:lnTo>
                    <a:pt x="1518284" y="216026"/>
                  </a:lnTo>
                  <a:close/>
                </a:path>
                <a:path w="2717165" h="432435">
                  <a:moveTo>
                    <a:pt x="2284984" y="216026"/>
                  </a:moveTo>
                  <a:lnTo>
                    <a:pt x="2290692" y="166471"/>
                  </a:lnTo>
                  <a:lnTo>
                    <a:pt x="2306950" y="120992"/>
                  </a:lnTo>
                  <a:lnTo>
                    <a:pt x="2332460" y="80883"/>
                  </a:lnTo>
                  <a:lnTo>
                    <a:pt x="2365920" y="47436"/>
                  </a:lnTo>
                  <a:lnTo>
                    <a:pt x="2406032" y="21944"/>
                  </a:lnTo>
                  <a:lnTo>
                    <a:pt x="2451495" y="5701"/>
                  </a:lnTo>
                  <a:lnTo>
                    <a:pt x="2501010" y="0"/>
                  </a:lnTo>
                  <a:lnTo>
                    <a:pt x="2550526" y="5701"/>
                  </a:lnTo>
                  <a:lnTo>
                    <a:pt x="2595989" y="21944"/>
                  </a:lnTo>
                  <a:lnTo>
                    <a:pt x="2636101" y="47436"/>
                  </a:lnTo>
                  <a:lnTo>
                    <a:pt x="2669561" y="80883"/>
                  </a:lnTo>
                  <a:lnTo>
                    <a:pt x="2695071" y="120992"/>
                  </a:lnTo>
                  <a:lnTo>
                    <a:pt x="2711329" y="166471"/>
                  </a:lnTo>
                  <a:lnTo>
                    <a:pt x="2717038" y="216026"/>
                  </a:lnTo>
                  <a:lnTo>
                    <a:pt x="2711329" y="265542"/>
                  </a:lnTo>
                  <a:lnTo>
                    <a:pt x="2695071" y="311005"/>
                  </a:lnTo>
                  <a:lnTo>
                    <a:pt x="2669561" y="351117"/>
                  </a:lnTo>
                  <a:lnTo>
                    <a:pt x="2636101" y="384577"/>
                  </a:lnTo>
                  <a:lnTo>
                    <a:pt x="2595989" y="410087"/>
                  </a:lnTo>
                  <a:lnTo>
                    <a:pt x="2550526" y="426345"/>
                  </a:lnTo>
                  <a:lnTo>
                    <a:pt x="2501010" y="432053"/>
                  </a:lnTo>
                  <a:lnTo>
                    <a:pt x="2451495" y="426345"/>
                  </a:lnTo>
                  <a:lnTo>
                    <a:pt x="2406032" y="410087"/>
                  </a:lnTo>
                  <a:lnTo>
                    <a:pt x="2365920" y="384577"/>
                  </a:lnTo>
                  <a:lnTo>
                    <a:pt x="2332460" y="351117"/>
                  </a:lnTo>
                  <a:lnTo>
                    <a:pt x="2306950" y="311005"/>
                  </a:lnTo>
                  <a:lnTo>
                    <a:pt x="2290692" y="265542"/>
                  </a:lnTo>
                  <a:lnTo>
                    <a:pt x="2284984" y="216026"/>
                  </a:lnTo>
                  <a:close/>
                </a:path>
              </a:pathLst>
            </a:custGeom>
            <a:ln w="28575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45058" y="1780108"/>
            <a:ext cx="4843145" cy="1358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44195" algn="l"/>
              </a:tabLst>
            </a:pPr>
            <a:r>
              <a:rPr sz="2800" spc="-5" dirty="0">
                <a:solidFill>
                  <a:srgbClr val="5A317C"/>
                </a:solidFill>
                <a:latin typeface="微软雅黑"/>
                <a:cs typeface="微软雅黑"/>
              </a:rPr>
              <a:t>例	</a:t>
            </a:r>
            <a:r>
              <a:rPr sz="2800" spc="-10" dirty="0">
                <a:solidFill>
                  <a:srgbClr val="404040"/>
                </a:solidFill>
                <a:latin typeface="微软雅黑"/>
                <a:cs typeface="微软雅黑"/>
              </a:rPr>
              <a:t>给定权值集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合</a:t>
            </a:r>
            <a:r>
              <a:rPr sz="2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{2</a:t>
            </a:r>
            <a:r>
              <a:rPr sz="2800" b="1" spc="-5" dirty="0">
                <a:solidFill>
                  <a:srgbClr val="404040"/>
                </a:solidFill>
                <a:latin typeface="宋体"/>
                <a:cs typeface="宋体"/>
              </a:rPr>
              <a:t>，</a:t>
            </a:r>
            <a:r>
              <a:rPr sz="2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4</a:t>
            </a:r>
            <a:r>
              <a:rPr sz="2800" b="1" spc="-5" dirty="0">
                <a:solidFill>
                  <a:srgbClr val="404040"/>
                </a:solidFill>
                <a:latin typeface="宋体"/>
                <a:cs typeface="宋体"/>
              </a:rPr>
              <a:t>，</a:t>
            </a:r>
            <a:r>
              <a:rPr sz="2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5</a:t>
            </a:r>
            <a:r>
              <a:rPr sz="28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404040"/>
                </a:solidFill>
                <a:latin typeface="宋体"/>
                <a:cs typeface="宋体"/>
              </a:rPr>
              <a:t>，</a:t>
            </a:r>
            <a:r>
              <a:rPr sz="2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3}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700">
              <a:latin typeface="Times New Roman"/>
              <a:cs typeface="Times New Roman"/>
            </a:endParaRPr>
          </a:p>
          <a:p>
            <a:pPr marL="147955" algn="ctr">
              <a:lnSpc>
                <a:spcPct val="100000"/>
              </a:lnSpc>
              <a:tabLst>
                <a:tab pos="899160" algn="l"/>
                <a:tab pos="1665605" algn="l"/>
                <a:tab pos="2432685" algn="l"/>
              </a:tabLst>
            </a:pPr>
            <a:r>
              <a:rPr sz="2400" dirty="0">
                <a:latin typeface="Times New Roman"/>
                <a:cs typeface="Times New Roman"/>
              </a:rPr>
              <a:t>2	4	5	3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277492" y="1387475"/>
            <a:ext cx="9912985" cy="4305300"/>
            <a:chOff x="1277492" y="1387475"/>
            <a:chExt cx="9912985" cy="4305300"/>
          </a:xfrm>
        </p:grpSpPr>
        <p:sp>
          <p:nvSpPr>
            <p:cNvPr id="11" name="object 11"/>
            <p:cNvSpPr/>
            <p:nvPr/>
          </p:nvSpPr>
          <p:spPr>
            <a:xfrm>
              <a:off x="6329045" y="1406525"/>
              <a:ext cx="4841875" cy="4267200"/>
            </a:xfrm>
            <a:custGeom>
              <a:avLst/>
              <a:gdLst/>
              <a:ahLst/>
              <a:cxnLst/>
              <a:rect l="l" t="t" r="r" b="b"/>
              <a:pathLst>
                <a:path w="4841875" h="4267200">
                  <a:moveTo>
                    <a:pt x="0" y="4267200"/>
                  </a:moveTo>
                  <a:lnTo>
                    <a:pt x="4841875" y="4267200"/>
                  </a:lnTo>
                  <a:lnTo>
                    <a:pt x="4841875" y="0"/>
                  </a:lnTo>
                  <a:lnTo>
                    <a:pt x="0" y="0"/>
                  </a:lnTo>
                  <a:lnTo>
                    <a:pt x="0" y="4267200"/>
                  </a:lnTo>
                  <a:close/>
                </a:path>
              </a:pathLst>
            </a:custGeom>
            <a:ln w="38100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329045" y="1406525"/>
              <a:ext cx="4841875" cy="4267200"/>
            </a:xfrm>
            <a:custGeom>
              <a:avLst/>
              <a:gdLst/>
              <a:ahLst/>
              <a:cxnLst/>
              <a:rect l="l" t="t" r="r" b="b"/>
              <a:pathLst>
                <a:path w="4841875" h="4267200">
                  <a:moveTo>
                    <a:pt x="2362200" y="0"/>
                  </a:moveTo>
                  <a:lnTo>
                    <a:pt x="2362200" y="4267200"/>
                  </a:lnTo>
                </a:path>
                <a:path w="4841875" h="4267200">
                  <a:moveTo>
                    <a:pt x="3596639" y="0"/>
                  </a:moveTo>
                  <a:lnTo>
                    <a:pt x="3596639" y="4267200"/>
                  </a:lnTo>
                </a:path>
                <a:path w="4841875" h="4267200">
                  <a:moveTo>
                    <a:pt x="1143000" y="0"/>
                  </a:moveTo>
                  <a:lnTo>
                    <a:pt x="1143000" y="4267200"/>
                  </a:lnTo>
                </a:path>
                <a:path w="4841875" h="4267200">
                  <a:moveTo>
                    <a:pt x="0" y="609600"/>
                  </a:moveTo>
                  <a:lnTo>
                    <a:pt x="4841875" y="609600"/>
                  </a:lnTo>
                </a:path>
                <a:path w="4841875" h="4267200">
                  <a:moveTo>
                    <a:pt x="0" y="1219200"/>
                  </a:moveTo>
                  <a:lnTo>
                    <a:pt x="4841875" y="1219200"/>
                  </a:lnTo>
                </a:path>
                <a:path w="4841875" h="4267200">
                  <a:moveTo>
                    <a:pt x="0" y="1828800"/>
                  </a:moveTo>
                  <a:lnTo>
                    <a:pt x="4841875" y="1828800"/>
                  </a:lnTo>
                </a:path>
                <a:path w="4841875" h="4267200">
                  <a:moveTo>
                    <a:pt x="0" y="2438400"/>
                  </a:moveTo>
                  <a:lnTo>
                    <a:pt x="4841875" y="2438400"/>
                  </a:lnTo>
                </a:path>
                <a:path w="4841875" h="4267200">
                  <a:moveTo>
                    <a:pt x="0" y="3048000"/>
                  </a:moveTo>
                  <a:lnTo>
                    <a:pt x="4841875" y="3048000"/>
                  </a:lnTo>
                </a:path>
                <a:path w="4841875" h="4267200">
                  <a:moveTo>
                    <a:pt x="0" y="3657600"/>
                  </a:moveTo>
                  <a:lnTo>
                    <a:pt x="4841875" y="3657600"/>
                  </a:lnTo>
                </a:path>
              </a:pathLst>
            </a:custGeom>
            <a:ln w="38100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96542" y="3509645"/>
              <a:ext cx="3702050" cy="583565"/>
            </a:xfrm>
            <a:custGeom>
              <a:avLst/>
              <a:gdLst/>
              <a:ahLst/>
              <a:cxnLst/>
              <a:rect l="l" t="t" r="r" b="b"/>
              <a:pathLst>
                <a:path w="3702050" h="583564">
                  <a:moveTo>
                    <a:pt x="179959" y="583437"/>
                  </a:moveTo>
                  <a:lnTo>
                    <a:pt x="144940" y="579627"/>
                  </a:lnTo>
                  <a:lnTo>
                    <a:pt x="116316" y="569245"/>
                  </a:lnTo>
                  <a:lnTo>
                    <a:pt x="97002" y="553862"/>
                  </a:lnTo>
                  <a:lnTo>
                    <a:pt x="89915" y="535050"/>
                  </a:lnTo>
                  <a:lnTo>
                    <a:pt x="89915" y="361822"/>
                  </a:lnTo>
                  <a:lnTo>
                    <a:pt x="82849" y="342957"/>
                  </a:lnTo>
                  <a:lnTo>
                    <a:pt x="63579" y="327580"/>
                  </a:lnTo>
                  <a:lnTo>
                    <a:pt x="34998" y="317228"/>
                  </a:lnTo>
                  <a:lnTo>
                    <a:pt x="0" y="313435"/>
                  </a:lnTo>
                  <a:lnTo>
                    <a:pt x="34998" y="309643"/>
                  </a:lnTo>
                  <a:lnTo>
                    <a:pt x="63579" y="299291"/>
                  </a:lnTo>
                  <a:lnTo>
                    <a:pt x="82849" y="283914"/>
                  </a:lnTo>
                  <a:lnTo>
                    <a:pt x="89915" y="265048"/>
                  </a:lnTo>
                  <a:lnTo>
                    <a:pt x="89915" y="91820"/>
                  </a:lnTo>
                  <a:lnTo>
                    <a:pt x="97002" y="72955"/>
                  </a:lnTo>
                  <a:lnTo>
                    <a:pt x="116316" y="57578"/>
                  </a:lnTo>
                  <a:lnTo>
                    <a:pt x="144940" y="47226"/>
                  </a:lnTo>
                  <a:lnTo>
                    <a:pt x="179959" y="43433"/>
                  </a:lnTo>
                </a:path>
                <a:path w="3702050" h="583564">
                  <a:moveTo>
                    <a:pt x="3521964" y="0"/>
                  </a:moveTo>
                  <a:lnTo>
                    <a:pt x="3557035" y="3792"/>
                  </a:lnTo>
                  <a:lnTo>
                    <a:pt x="3585654" y="14144"/>
                  </a:lnTo>
                  <a:lnTo>
                    <a:pt x="3604938" y="29521"/>
                  </a:lnTo>
                  <a:lnTo>
                    <a:pt x="3612006" y="48387"/>
                  </a:lnTo>
                  <a:lnTo>
                    <a:pt x="3612006" y="221614"/>
                  </a:lnTo>
                  <a:lnTo>
                    <a:pt x="3619075" y="240480"/>
                  </a:lnTo>
                  <a:lnTo>
                    <a:pt x="3638359" y="255857"/>
                  </a:lnTo>
                  <a:lnTo>
                    <a:pt x="3666978" y="266209"/>
                  </a:lnTo>
                  <a:lnTo>
                    <a:pt x="3702050" y="270001"/>
                  </a:lnTo>
                  <a:lnTo>
                    <a:pt x="3666978" y="273794"/>
                  </a:lnTo>
                  <a:lnTo>
                    <a:pt x="3638359" y="284146"/>
                  </a:lnTo>
                  <a:lnTo>
                    <a:pt x="3619075" y="299523"/>
                  </a:lnTo>
                  <a:lnTo>
                    <a:pt x="3612006" y="318388"/>
                  </a:lnTo>
                  <a:lnTo>
                    <a:pt x="3612006" y="491616"/>
                  </a:lnTo>
                  <a:lnTo>
                    <a:pt x="3604938" y="510482"/>
                  </a:lnTo>
                  <a:lnTo>
                    <a:pt x="3585654" y="525859"/>
                  </a:lnTo>
                  <a:lnTo>
                    <a:pt x="3557035" y="536211"/>
                  </a:lnTo>
                  <a:lnTo>
                    <a:pt x="3521964" y="540003"/>
                  </a:lnTo>
                </a:path>
              </a:pathLst>
            </a:custGeom>
            <a:ln w="38100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81555" y="3613404"/>
              <a:ext cx="1183640" cy="432434"/>
            </a:xfrm>
            <a:custGeom>
              <a:avLst/>
              <a:gdLst/>
              <a:ahLst/>
              <a:cxnLst/>
              <a:rect l="l" t="t" r="r" b="b"/>
              <a:pathLst>
                <a:path w="1183639" h="432435">
                  <a:moveTo>
                    <a:pt x="0" y="216027"/>
                  </a:moveTo>
                  <a:lnTo>
                    <a:pt x="5708" y="166471"/>
                  </a:lnTo>
                  <a:lnTo>
                    <a:pt x="21966" y="120992"/>
                  </a:lnTo>
                  <a:lnTo>
                    <a:pt x="47476" y="80883"/>
                  </a:lnTo>
                  <a:lnTo>
                    <a:pt x="80936" y="47436"/>
                  </a:lnTo>
                  <a:lnTo>
                    <a:pt x="121048" y="21944"/>
                  </a:lnTo>
                  <a:lnTo>
                    <a:pt x="166511" y="5701"/>
                  </a:lnTo>
                  <a:lnTo>
                    <a:pt x="216026" y="0"/>
                  </a:lnTo>
                  <a:lnTo>
                    <a:pt x="265542" y="5701"/>
                  </a:lnTo>
                  <a:lnTo>
                    <a:pt x="311005" y="21944"/>
                  </a:lnTo>
                  <a:lnTo>
                    <a:pt x="351117" y="47436"/>
                  </a:lnTo>
                  <a:lnTo>
                    <a:pt x="384577" y="80883"/>
                  </a:lnTo>
                  <a:lnTo>
                    <a:pt x="410087" y="120992"/>
                  </a:lnTo>
                  <a:lnTo>
                    <a:pt x="426345" y="166471"/>
                  </a:lnTo>
                  <a:lnTo>
                    <a:pt x="432054" y="216027"/>
                  </a:lnTo>
                  <a:lnTo>
                    <a:pt x="426345" y="265542"/>
                  </a:lnTo>
                  <a:lnTo>
                    <a:pt x="410087" y="311005"/>
                  </a:lnTo>
                  <a:lnTo>
                    <a:pt x="384577" y="351117"/>
                  </a:lnTo>
                  <a:lnTo>
                    <a:pt x="351117" y="384577"/>
                  </a:lnTo>
                  <a:lnTo>
                    <a:pt x="311005" y="410087"/>
                  </a:lnTo>
                  <a:lnTo>
                    <a:pt x="265542" y="426345"/>
                  </a:lnTo>
                  <a:lnTo>
                    <a:pt x="216026" y="432054"/>
                  </a:lnTo>
                  <a:lnTo>
                    <a:pt x="166511" y="426345"/>
                  </a:lnTo>
                  <a:lnTo>
                    <a:pt x="121048" y="410087"/>
                  </a:lnTo>
                  <a:lnTo>
                    <a:pt x="80936" y="384577"/>
                  </a:lnTo>
                  <a:lnTo>
                    <a:pt x="47476" y="351117"/>
                  </a:lnTo>
                  <a:lnTo>
                    <a:pt x="21966" y="311005"/>
                  </a:lnTo>
                  <a:lnTo>
                    <a:pt x="5708" y="265542"/>
                  </a:lnTo>
                  <a:lnTo>
                    <a:pt x="0" y="216027"/>
                  </a:lnTo>
                  <a:close/>
                </a:path>
                <a:path w="1183639" h="432435">
                  <a:moveTo>
                    <a:pt x="751586" y="216027"/>
                  </a:moveTo>
                  <a:lnTo>
                    <a:pt x="757287" y="166471"/>
                  </a:lnTo>
                  <a:lnTo>
                    <a:pt x="773527" y="120992"/>
                  </a:lnTo>
                  <a:lnTo>
                    <a:pt x="799012" y="80883"/>
                  </a:lnTo>
                  <a:lnTo>
                    <a:pt x="832445" y="47436"/>
                  </a:lnTo>
                  <a:lnTo>
                    <a:pt x="872532" y="21944"/>
                  </a:lnTo>
                  <a:lnTo>
                    <a:pt x="917977" y="5701"/>
                  </a:lnTo>
                  <a:lnTo>
                    <a:pt x="967486" y="0"/>
                  </a:lnTo>
                  <a:lnTo>
                    <a:pt x="1017041" y="5701"/>
                  </a:lnTo>
                  <a:lnTo>
                    <a:pt x="1062520" y="21944"/>
                  </a:lnTo>
                  <a:lnTo>
                    <a:pt x="1102629" y="47436"/>
                  </a:lnTo>
                  <a:lnTo>
                    <a:pt x="1136076" y="80883"/>
                  </a:lnTo>
                  <a:lnTo>
                    <a:pt x="1161568" y="120992"/>
                  </a:lnTo>
                  <a:lnTo>
                    <a:pt x="1177811" y="166471"/>
                  </a:lnTo>
                  <a:lnTo>
                    <a:pt x="1183513" y="216027"/>
                  </a:lnTo>
                  <a:lnTo>
                    <a:pt x="1177811" y="265542"/>
                  </a:lnTo>
                  <a:lnTo>
                    <a:pt x="1161568" y="311005"/>
                  </a:lnTo>
                  <a:lnTo>
                    <a:pt x="1136076" y="351117"/>
                  </a:lnTo>
                  <a:lnTo>
                    <a:pt x="1102629" y="384577"/>
                  </a:lnTo>
                  <a:lnTo>
                    <a:pt x="1062520" y="410087"/>
                  </a:lnTo>
                  <a:lnTo>
                    <a:pt x="1017041" y="426345"/>
                  </a:lnTo>
                  <a:lnTo>
                    <a:pt x="967486" y="432054"/>
                  </a:lnTo>
                  <a:lnTo>
                    <a:pt x="917977" y="426345"/>
                  </a:lnTo>
                  <a:lnTo>
                    <a:pt x="872532" y="410087"/>
                  </a:lnTo>
                  <a:lnTo>
                    <a:pt x="832445" y="384577"/>
                  </a:lnTo>
                  <a:lnTo>
                    <a:pt x="799012" y="351117"/>
                  </a:lnTo>
                  <a:lnTo>
                    <a:pt x="773527" y="311005"/>
                  </a:lnTo>
                  <a:lnTo>
                    <a:pt x="757287" y="265542"/>
                  </a:lnTo>
                  <a:lnTo>
                    <a:pt x="751586" y="216027"/>
                  </a:lnTo>
                  <a:close/>
                </a:path>
              </a:pathLst>
            </a:custGeom>
            <a:ln w="28575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388734" y="848360"/>
            <a:ext cx="20554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55065" algn="l"/>
              </a:tabLst>
            </a:pP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weight	parent</a:t>
            </a:r>
            <a:endParaRPr sz="28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863965" y="848360"/>
            <a:ext cx="8350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lchi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endParaRPr sz="28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117073" y="848360"/>
            <a:ext cx="85534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rchi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endParaRPr sz="28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09064" y="3605276"/>
            <a:ext cx="929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3905" algn="l"/>
              </a:tabLst>
            </a:pPr>
            <a:r>
              <a:rPr sz="2400" dirty="0">
                <a:latin typeface="Times New Roman"/>
                <a:cs typeface="Times New Roman"/>
              </a:rPr>
              <a:t>4	5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183064" y="4032567"/>
            <a:ext cx="1212215" cy="877569"/>
            <a:chOff x="3183064" y="4032567"/>
            <a:chExt cx="1212215" cy="877569"/>
          </a:xfrm>
        </p:grpSpPr>
        <p:sp>
          <p:nvSpPr>
            <p:cNvPr id="20" name="object 20"/>
            <p:cNvSpPr/>
            <p:nvPr/>
          </p:nvSpPr>
          <p:spPr>
            <a:xfrm>
              <a:off x="3197351" y="4463668"/>
              <a:ext cx="1183640" cy="432434"/>
            </a:xfrm>
            <a:custGeom>
              <a:avLst/>
              <a:gdLst/>
              <a:ahLst/>
              <a:cxnLst/>
              <a:rect l="l" t="t" r="r" b="b"/>
              <a:pathLst>
                <a:path w="1183639" h="432435">
                  <a:moveTo>
                    <a:pt x="0" y="215899"/>
                  </a:moveTo>
                  <a:lnTo>
                    <a:pt x="5701" y="166391"/>
                  </a:lnTo>
                  <a:lnTo>
                    <a:pt x="21941" y="120946"/>
                  </a:lnTo>
                  <a:lnTo>
                    <a:pt x="47426" y="80859"/>
                  </a:lnTo>
                  <a:lnTo>
                    <a:pt x="80859" y="47426"/>
                  </a:lnTo>
                  <a:lnTo>
                    <a:pt x="120946" y="21941"/>
                  </a:lnTo>
                  <a:lnTo>
                    <a:pt x="166391" y="5701"/>
                  </a:lnTo>
                  <a:lnTo>
                    <a:pt x="215900" y="0"/>
                  </a:lnTo>
                  <a:lnTo>
                    <a:pt x="265455" y="5701"/>
                  </a:lnTo>
                  <a:lnTo>
                    <a:pt x="310934" y="21941"/>
                  </a:lnTo>
                  <a:lnTo>
                    <a:pt x="351043" y="47426"/>
                  </a:lnTo>
                  <a:lnTo>
                    <a:pt x="384490" y="80859"/>
                  </a:lnTo>
                  <a:lnTo>
                    <a:pt x="409982" y="120946"/>
                  </a:lnTo>
                  <a:lnTo>
                    <a:pt x="426225" y="166391"/>
                  </a:lnTo>
                  <a:lnTo>
                    <a:pt x="431926" y="215899"/>
                  </a:lnTo>
                  <a:lnTo>
                    <a:pt x="426225" y="265455"/>
                  </a:lnTo>
                  <a:lnTo>
                    <a:pt x="409982" y="310934"/>
                  </a:lnTo>
                  <a:lnTo>
                    <a:pt x="384490" y="351043"/>
                  </a:lnTo>
                  <a:lnTo>
                    <a:pt x="351043" y="384490"/>
                  </a:lnTo>
                  <a:lnTo>
                    <a:pt x="310934" y="409982"/>
                  </a:lnTo>
                  <a:lnTo>
                    <a:pt x="265455" y="426225"/>
                  </a:lnTo>
                  <a:lnTo>
                    <a:pt x="215900" y="431926"/>
                  </a:lnTo>
                  <a:lnTo>
                    <a:pt x="166391" y="426225"/>
                  </a:lnTo>
                  <a:lnTo>
                    <a:pt x="120946" y="409982"/>
                  </a:lnTo>
                  <a:lnTo>
                    <a:pt x="80859" y="384490"/>
                  </a:lnTo>
                  <a:lnTo>
                    <a:pt x="47426" y="351043"/>
                  </a:lnTo>
                  <a:lnTo>
                    <a:pt x="21941" y="310934"/>
                  </a:lnTo>
                  <a:lnTo>
                    <a:pt x="5701" y="265455"/>
                  </a:lnTo>
                  <a:lnTo>
                    <a:pt x="0" y="215899"/>
                  </a:lnTo>
                  <a:close/>
                </a:path>
                <a:path w="1183639" h="432435">
                  <a:moveTo>
                    <a:pt x="751459" y="215899"/>
                  </a:moveTo>
                  <a:lnTo>
                    <a:pt x="757160" y="166391"/>
                  </a:lnTo>
                  <a:lnTo>
                    <a:pt x="773403" y="120946"/>
                  </a:lnTo>
                  <a:lnTo>
                    <a:pt x="798895" y="80859"/>
                  </a:lnTo>
                  <a:lnTo>
                    <a:pt x="832342" y="47426"/>
                  </a:lnTo>
                  <a:lnTo>
                    <a:pt x="872451" y="21941"/>
                  </a:lnTo>
                  <a:lnTo>
                    <a:pt x="917930" y="5701"/>
                  </a:lnTo>
                  <a:lnTo>
                    <a:pt x="967486" y="0"/>
                  </a:lnTo>
                  <a:lnTo>
                    <a:pt x="1016994" y="5701"/>
                  </a:lnTo>
                  <a:lnTo>
                    <a:pt x="1062439" y="21941"/>
                  </a:lnTo>
                  <a:lnTo>
                    <a:pt x="1102526" y="47426"/>
                  </a:lnTo>
                  <a:lnTo>
                    <a:pt x="1135959" y="80859"/>
                  </a:lnTo>
                  <a:lnTo>
                    <a:pt x="1161444" y="120946"/>
                  </a:lnTo>
                  <a:lnTo>
                    <a:pt x="1177684" y="166391"/>
                  </a:lnTo>
                  <a:lnTo>
                    <a:pt x="1183386" y="215899"/>
                  </a:lnTo>
                  <a:lnTo>
                    <a:pt x="1177684" y="265455"/>
                  </a:lnTo>
                  <a:lnTo>
                    <a:pt x="1161444" y="310934"/>
                  </a:lnTo>
                  <a:lnTo>
                    <a:pt x="1135959" y="351043"/>
                  </a:lnTo>
                  <a:lnTo>
                    <a:pt x="1102526" y="384490"/>
                  </a:lnTo>
                  <a:lnTo>
                    <a:pt x="1062439" y="409982"/>
                  </a:lnTo>
                  <a:lnTo>
                    <a:pt x="1016994" y="426225"/>
                  </a:lnTo>
                  <a:lnTo>
                    <a:pt x="967486" y="431926"/>
                  </a:lnTo>
                  <a:lnTo>
                    <a:pt x="917930" y="426225"/>
                  </a:lnTo>
                  <a:lnTo>
                    <a:pt x="872451" y="409982"/>
                  </a:lnTo>
                  <a:lnTo>
                    <a:pt x="832342" y="384490"/>
                  </a:lnTo>
                  <a:lnTo>
                    <a:pt x="798895" y="351043"/>
                  </a:lnTo>
                  <a:lnTo>
                    <a:pt x="773403" y="310934"/>
                  </a:lnTo>
                  <a:lnTo>
                    <a:pt x="757160" y="265455"/>
                  </a:lnTo>
                  <a:lnTo>
                    <a:pt x="751459" y="215899"/>
                  </a:lnTo>
                  <a:close/>
                </a:path>
              </a:pathLst>
            </a:custGeom>
            <a:ln w="28575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505072" y="4046854"/>
              <a:ext cx="611505" cy="436880"/>
            </a:xfrm>
            <a:custGeom>
              <a:avLst/>
              <a:gdLst/>
              <a:ahLst/>
              <a:cxnLst/>
              <a:rect l="l" t="t" r="r" b="b"/>
              <a:pathLst>
                <a:path w="611504" h="436879">
                  <a:moveTo>
                    <a:pt x="0" y="432054"/>
                  </a:moveTo>
                  <a:lnTo>
                    <a:pt x="242950" y="0"/>
                  </a:lnTo>
                </a:path>
                <a:path w="611504" h="436879">
                  <a:moveTo>
                    <a:pt x="368300" y="4572"/>
                  </a:moveTo>
                  <a:lnTo>
                    <a:pt x="611377" y="436499"/>
                  </a:lnTo>
                </a:path>
              </a:pathLst>
            </a:custGeom>
            <a:ln w="28575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537711" y="3612959"/>
            <a:ext cx="546100" cy="449580"/>
          </a:xfrm>
          <a:prstGeom prst="rect">
            <a:avLst/>
          </a:prstGeom>
          <a:ln w="28575">
            <a:solidFill>
              <a:srgbClr val="B42C2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6530">
              <a:lnSpc>
                <a:spcPts val="3354"/>
              </a:lnSpc>
            </a:pPr>
            <a:r>
              <a:rPr sz="2800" b="1" spc="-5" dirty="0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509895" y="1732660"/>
            <a:ext cx="381000" cy="114300"/>
          </a:xfrm>
          <a:custGeom>
            <a:avLst/>
            <a:gdLst/>
            <a:ahLst/>
            <a:cxnLst/>
            <a:rect l="l" t="t" r="r" b="b"/>
            <a:pathLst>
              <a:path w="381000" h="114300">
                <a:moveTo>
                  <a:pt x="304800" y="57150"/>
                </a:moveTo>
                <a:lnTo>
                  <a:pt x="266700" y="114300"/>
                </a:lnTo>
                <a:lnTo>
                  <a:pt x="342900" y="76200"/>
                </a:lnTo>
                <a:lnTo>
                  <a:pt x="304800" y="76200"/>
                </a:lnTo>
                <a:lnTo>
                  <a:pt x="304800" y="57150"/>
                </a:lnTo>
                <a:close/>
              </a:path>
              <a:path w="381000" h="114300">
                <a:moveTo>
                  <a:pt x="2921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92100" y="76200"/>
                </a:lnTo>
                <a:lnTo>
                  <a:pt x="304800" y="57150"/>
                </a:lnTo>
                <a:lnTo>
                  <a:pt x="292100" y="38100"/>
                </a:lnTo>
                <a:close/>
              </a:path>
              <a:path w="381000" h="114300">
                <a:moveTo>
                  <a:pt x="342900" y="38100"/>
                </a:moveTo>
                <a:lnTo>
                  <a:pt x="304800" y="38100"/>
                </a:lnTo>
                <a:lnTo>
                  <a:pt x="304800" y="76200"/>
                </a:lnTo>
                <a:lnTo>
                  <a:pt x="342900" y="76200"/>
                </a:lnTo>
                <a:lnTo>
                  <a:pt x="381000" y="57150"/>
                </a:lnTo>
                <a:lnTo>
                  <a:pt x="342900" y="38100"/>
                </a:lnTo>
                <a:close/>
              </a:path>
              <a:path w="381000" h="114300">
                <a:moveTo>
                  <a:pt x="266700" y="0"/>
                </a:moveTo>
                <a:lnTo>
                  <a:pt x="304800" y="57150"/>
                </a:lnTo>
                <a:lnTo>
                  <a:pt x="304800" y="38100"/>
                </a:lnTo>
                <a:lnTo>
                  <a:pt x="342900" y="38100"/>
                </a:lnTo>
                <a:lnTo>
                  <a:pt x="266700" y="0"/>
                </a:lnTo>
                <a:close/>
              </a:path>
            </a:pathLst>
          </a:custGeom>
          <a:solidFill>
            <a:srgbClr val="4195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428869" y="1340053"/>
            <a:ext cx="2641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4195BD"/>
                </a:solidFill>
                <a:latin typeface="Times New Roman"/>
                <a:cs typeface="Times New Roman"/>
              </a:rPr>
              <a:t>i1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506720" y="3505834"/>
            <a:ext cx="381000" cy="114300"/>
          </a:xfrm>
          <a:custGeom>
            <a:avLst/>
            <a:gdLst/>
            <a:ahLst/>
            <a:cxnLst/>
            <a:rect l="l" t="t" r="r" b="b"/>
            <a:pathLst>
              <a:path w="381000" h="114300">
                <a:moveTo>
                  <a:pt x="304800" y="57150"/>
                </a:moveTo>
                <a:lnTo>
                  <a:pt x="266700" y="114300"/>
                </a:lnTo>
                <a:lnTo>
                  <a:pt x="342900" y="76200"/>
                </a:lnTo>
                <a:lnTo>
                  <a:pt x="304800" y="76200"/>
                </a:lnTo>
                <a:lnTo>
                  <a:pt x="304800" y="57150"/>
                </a:lnTo>
                <a:close/>
              </a:path>
              <a:path w="381000" h="114300">
                <a:moveTo>
                  <a:pt x="2921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92100" y="76200"/>
                </a:lnTo>
                <a:lnTo>
                  <a:pt x="304800" y="57150"/>
                </a:lnTo>
                <a:lnTo>
                  <a:pt x="292100" y="38100"/>
                </a:lnTo>
                <a:close/>
              </a:path>
              <a:path w="381000" h="114300">
                <a:moveTo>
                  <a:pt x="342900" y="38100"/>
                </a:moveTo>
                <a:lnTo>
                  <a:pt x="304800" y="38100"/>
                </a:lnTo>
                <a:lnTo>
                  <a:pt x="304800" y="76200"/>
                </a:lnTo>
                <a:lnTo>
                  <a:pt x="342900" y="76200"/>
                </a:lnTo>
                <a:lnTo>
                  <a:pt x="381000" y="57150"/>
                </a:lnTo>
                <a:lnTo>
                  <a:pt x="342900" y="38100"/>
                </a:lnTo>
                <a:close/>
              </a:path>
              <a:path w="381000" h="114300">
                <a:moveTo>
                  <a:pt x="266700" y="0"/>
                </a:moveTo>
                <a:lnTo>
                  <a:pt x="304800" y="57150"/>
                </a:lnTo>
                <a:lnTo>
                  <a:pt x="304800" y="38100"/>
                </a:lnTo>
                <a:lnTo>
                  <a:pt x="342900" y="38100"/>
                </a:lnTo>
                <a:lnTo>
                  <a:pt x="266700" y="0"/>
                </a:lnTo>
                <a:close/>
              </a:path>
            </a:pathLst>
          </a:custGeom>
          <a:solidFill>
            <a:srgbClr val="4195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425821" y="3129483"/>
            <a:ext cx="2641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4195BD"/>
                </a:solidFill>
                <a:latin typeface="Times New Roman"/>
                <a:cs typeface="Times New Roman"/>
              </a:rPr>
              <a:t>i2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5951220" y="1543192"/>
          <a:ext cx="4774565" cy="3985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0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2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marL="31750">
                        <a:lnSpc>
                          <a:spcPts val="3115"/>
                        </a:lnSpc>
                      </a:pPr>
                      <a:r>
                        <a:rPr sz="28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6720">
                        <a:lnSpc>
                          <a:spcPts val="2940"/>
                        </a:lnSpc>
                      </a:pPr>
                      <a:r>
                        <a:rPr sz="2800" dirty="0">
                          <a:solidFill>
                            <a:srgbClr val="285A31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96875" algn="r">
                        <a:lnSpc>
                          <a:spcPts val="2965"/>
                        </a:lnSpc>
                      </a:pPr>
                      <a:r>
                        <a:rPr sz="2800" spc="-5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spc="-5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4495">
                        <a:lnSpc>
                          <a:spcPts val="2965"/>
                        </a:lnSpc>
                      </a:pPr>
                      <a:r>
                        <a:rPr sz="2800" spc="-5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spc="-5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965"/>
                        </a:lnSpc>
                      </a:pPr>
                      <a:r>
                        <a:rPr sz="2800" spc="-5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spc="-5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28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92710" marB="0"/>
                </a:tc>
                <a:tc>
                  <a:txBody>
                    <a:bodyPr/>
                    <a:lstStyle/>
                    <a:p>
                      <a:pPr marL="42672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2800" dirty="0">
                          <a:solidFill>
                            <a:srgbClr val="285A31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0485" marB="0"/>
                </a:tc>
                <a:tc>
                  <a:txBody>
                    <a:bodyPr/>
                    <a:lstStyle/>
                    <a:p>
                      <a:pPr marR="396875" algn="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4295" marB="0"/>
                </a:tc>
                <a:tc>
                  <a:txBody>
                    <a:bodyPr/>
                    <a:lstStyle/>
                    <a:p>
                      <a:pPr marL="40449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429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429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8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80645" marB="0"/>
                </a:tc>
                <a:tc>
                  <a:txBody>
                    <a:bodyPr/>
                    <a:lstStyle/>
                    <a:p>
                      <a:pPr marL="426720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2800" dirty="0">
                          <a:solidFill>
                            <a:srgbClr val="285A31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59054" marB="0"/>
                </a:tc>
                <a:tc>
                  <a:txBody>
                    <a:bodyPr/>
                    <a:lstStyle/>
                    <a:p>
                      <a:pPr marR="396875" algn="r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62229" marB="0"/>
                </a:tc>
                <a:tc>
                  <a:txBody>
                    <a:bodyPr/>
                    <a:lstStyle/>
                    <a:p>
                      <a:pPr marL="404495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62229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62229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28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9215" marB="0"/>
                </a:tc>
                <a:tc>
                  <a:txBody>
                    <a:bodyPr/>
                    <a:lstStyle/>
                    <a:p>
                      <a:pPr marL="42672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800" dirty="0">
                          <a:solidFill>
                            <a:srgbClr val="285A31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46990" marB="0"/>
                </a:tc>
                <a:tc>
                  <a:txBody>
                    <a:bodyPr/>
                    <a:lstStyle/>
                    <a:p>
                      <a:pPr marR="39687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50165" marB="0"/>
                </a:tc>
                <a:tc>
                  <a:txBody>
                    <a:bodyPr/>
                    <a:lstStyle/>
                    <a:p>
                      <a:pPr marL="40449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5016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5016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28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/>
                </a:tc>
                <a:tc>
                  <a:txBody>
                    <a:bodyPr/>
                    <a:lstStyle/>
                    <a:p>
                      <a:pPr marL="429259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800" b="1" dirty="0">
                          <a:solidFill>
                            <a:srgbClr val="B42C2C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58419" marB="0"/>
                </a:tc>
                <a:tc>
                  <a:txBody>
                    <a:bodyPr/>
                    <a:lstStyle/>
                    <a:p>
                      <a:pPr marR="396875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marL="40449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3810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8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450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96875"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L="40449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6034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  <a:spcBef>
                          <a:spcPts val="254"/>
                        </a:spcBef>
                      </a:pPr>
                      <a:r>
                        <a:rPr sz="28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96875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40449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28" name="object 28"/>
          <p:cNvGrpSpPr/>
          <p:nvPr/>
        </p:nvGrpSpPr>
        <p:grpSpPr>
          <a:xfrm>
            <a:off x="437261" y="5115052"/>
            <a:ext cx="8236584" cy="994410"/>
            <a:chOff x="437261" y="5115052"/>
            <a:chExt cx="8236584" cy="994410"/>
          </a:xfrm>
        </p:grpSpPr>
        <p:sp>
          <p:nvSpPr>
            <p:cNvPr id="29" name="object 29"/>
            <p:cNvSpPr/>
            <p:nvPr/>
          </p:nvSpPr>
          <p:spPr>
            <a:xfrm>
              <a:off x="568629" y="5703989"/>
              <a:ext cx="8100059" cy="400685"/>
            </a:xfrm>
            <a:custGeom>
              <a:avLst/>
              <a:gdLst/>
              <a:ahLst/>
              <a:cxnLst/>
              <a:rect l="l" t="t" r="r" b="b"/>
              <a:pathLst>
                <a:path w="8100059" h="400685">
                  <a:moveTo>
                    <a:pt x="0" y="400113"/>
                  </a:moveTo>
                  <a:lnTo>
                    <a:pt x="8100059" y="400113"/>
                  </a:lnTo>
                  <a:lnTo>
                    <a:pt x="8100059" y="0"/>
                  </a:lnTo>
                  <a:lnTo>
                    <a:pt x="0" y="0"/>
                  </a:lnTo>
                  <a:lnTo>
                    <a:pt x="0" y="400113"/>
                  </a:lnTo>
                  <a:close/>
                </a:path>
              </a:pathLst>
            </a:custGeom>
            <a:ln w="9525">
              <a:solidFill>
                <a:srgbClr val="5A317C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09003" y="5115052"/>
              <a:ext cx="368300" cy="432434"/>
            </a:xfrm>
            <a:custGeom>
              <a:avLst/>
              <a:gdLst/>
              <a:ahLst/>
              <a:cxnLst/>
              <a:rect l="l" t="t" r="r" b="b"/>
              <a:pathLst>
                <a:path w="368300" h="432435">
                  <a:moveTo>
                    <a:pt x="358673" y="0"/>
                  </a:moveTo>
                  <a:lnTo>
                    <a:pt x="0" y="254381"/>
                  </a:lnTo>
                  <a:lnTo>
                    <a:pt x="130213" y="308864"/>
                  </a:lnTo>
                  <a:lnTo>
                    <a:pt x="358673" y="0"/>
                  </a:lnTo>
                  <a:close/>
                </a:path>
                <a:path w="368300" h="432435">
                  <a:moveTo>
                    <a:pt x="368249" y="8255"/>
                  </a:moveTo>
                  <a:lnTo>
                    <a:pt x="139788" y="316357"/>
                  </a:lnTo>
                  <a:lnTo>
                    <a:pt x="226060" y="431927"/>
                  </a:lnTo>
                  <a:lnTo>
                    <a:pt x="368249" y="8255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261" y="5367020"/>
              <a:ext cx="301955" cy="160147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924864" y="4455667"/>
            <a:ext cx="7214870" cy="1603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477645" algn="ctr">
              <a:lnSpc>
                <a:spcPct val="100000"/>
              </a:lnSpc>
              <a:spcBef>
                <a:spcPts val="100"/>
              </a:spcBef>
              <a:tabLst>
                <a:tab pos="751205" algn="l"/>
              </a:tabLst>
            </a:pPr>
            <a:r>
              <a:rPr sz="2400" dirty="0">
                <a:latin typeface="Times New Roman"/>
                <a:cs typeface="Times New Roman"/>
              </a:rPr>
              <a:t>2	3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50">
              <a:latin typeface="Times New Roman"/>
              <a:cs typeface="Times New Roman"/>
            </a:endParaRPr>
          </a:p>
          <a:p>
            <a:pPr marL="301625">
              <a:lnSpc>
                <a:spcPct val="100000"/>
              </a:lnSpc>
            </a:pPr>
            <a:r>
              <a:rPr sz="2800" spc="-5" dirty="0">
                <a:solidFill>
                  <a:srgbClr val="285A31"/>
                </a:solidFill>
                <a:latin typeface="微软雅黑"/>
                <a:cs typeface="微软雅黑"/>
              </a:rPr>
              <a:t>算法描述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：</a:t>
            </a:r>
            <a:endParaRPr sz="2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2200" spc="-10" dirty="0">
                <a:solidFill>
                  <a:srgbClr val="B42C2C"/>
                </a:solidFill>
                <a:latin typeface="Times New Roman"/>
                <a:cs typeface="Times New Roman"/>
              </a:rPr>
              <a:t>huffTree[k].weight</a:t>
            </a:r>
            <a:r>
              <a:rPr sz="2200" spc="40" dirty="0">
                <a:solidFill>
                  <a:srgbClr val="B42C2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B42C2C"/>
                </a:solidFill>
                <a:latin typeface="Times New Roman"/>
                <a:cs typeface="Times New Roman"/>
              </a:rPr>
              <a:t>= </a:t>
            </a:r>
            <a:r>
              <a:rPr sz="2200" spc="-10" dirty="0">
                <a:solidFill>
                  <a:srgbClr val="B42C2C"/>
                </a:solidFill>
                <a:latin typeface="Times New Roman"/>
                <a:cs typeface="Times New Roman"/>
              </a:rPr>
              <a:t>huffTree[i1].weight</a:t>
            </a:r>
            <a:r>
              <a:rPr sz="2200" spc="45" dirty="0">
                <a:solidFill>
                  <a:srgbClr val="B42C2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B42C2C"/>
                </a:solidFill>
                <a:latin typeface="Times New Roman"/>
                <a:cs typeface="Times New Roman"/>
              </a:rPr>
              <a:t>+</a:t>
            </a:r>
            <a:r>
              <a:rPr sz="2200" spc="10" dirty="0">
                <a:solidFill>
                  <a:srgbClr val="B42C2C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B42C2C"/>
                </a:solidFill>
                <a:latin typeface="Times New Roman"/>
                <a:cs typeface="Times New Roman"/>
              </a:rPr>
              <a:t>huffTree[i2].weight;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513832" y="4231259"/>
            <a:ext cx="381000" cy="114300"/>
          </a:xfrm>
          <a:custGeom>
            <a:avLst/>
            <a:gdLst/>
            <a:ahLst/>
            <a:cxnLst/>
            <a:rect l="l" t="t" r="r" b="b"/>
            <a:pathLst>
              <a:path w="381000" h="114300">
                <a:moveTo>
                  <a:pt x="304800" y="57150"/>
                </a:moveTo>
                <a:lnTo>
                  <a:pt x="266700" y="114300"/>
                </a:lnTo>
                <a:lnTo>
                  <a:pt x="342900" y="76200"/>
                </a:lnTo>
                <a:lnTo>
                  <a:pt x="304800" y="76200"/>
                </a:lnTo>
                <a:lnTo>
                  <a:pt x="304800" y="57150"/>
                </a:lnTo>
                <a:close/>
              </a:path>
              <a:path w="381000" h="114300">
                <a:moveTo>
                  <a:pt x="2921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92100" y="76200"/>
                </a:lnTo>
                <a:lnTo>
                  <a:pt x="304800" y="57150"/>
                </a:lnTo>
                <a:lnTo>
                  <a:pt x="292100" y="38100"/>
                </a:lnTo>
                <a:close/>
              </a:path>
              <a:path w="381000" h="114300">
                <a:moveTo>
                  <a:pt x="342900" y="38100"/>
                </a:moveTo>
                <a:lnTo>
                  <a:pt x="304800" y="38100"/>
                </a:lnTo>
                <a:lnTo>
                  <a:pt x="304800" y="76200"/>
                </a:lnTo>
                <a:lnTo>
                  <a:pt x="342900" y="76200"/>
                </a:lnTo>
                <a:lnTo>
                  <a:pt x="381000" y="57150"/>
                </a:lnTo>
                <a:lnTo>
                  <a:pt x="342900" y="38100"/>
                </a:lnTo>
                <a:close/>
              </a:path>
              <a:path w="381000" h="114300">
                <a:moveTo>
                  <a:pt x="266700" y="0"/>
                </a:moveTo>
                <a:lnTo>
                  <a:pt x="304800" y="57150"/>
                </a:lnTo>
                <a:lnTo>
                  <a:pt x="304800" y="38100"/>
                </a:lnTo>
                <a:lnTo>
                  <a:pt x="342900" y="38100"/>
                </a:lnTo>
                <a:lnTo>
                  <a:pt x="266700" y="0"/>
                </a:lnTo>
                <a:close/>
              </a:path>
            </a:pathLst>
          </a:custGeom>
          <a:solidFill>
            <a:srgbClr val="B4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5496305" y="3855211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B42C2C"/>
                </a:solidFill>
                <a:latin typeface="Times New Roman"/>
                <a:cs typeface="Times New Roman"/>
              </a:rPr>
              <a:t>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"/>
          <p:cNvSpPr/>
          <p:nvPr/>
        </p:nvSpPr>
        <p:spPr>
          <a:xfrm>
            <a:off x="542925" y="100964"/>
            <a:ext cx="2376170" cy="540385"/>
          </a:xfrm>
          <a:custGeom>
            <a:avLst/>
            <a:gdLst/>
            <a:ahLst/>
            <a:cxnLst/>
            <a:rect l="l" t="t" r="r" b="b"/>
            <a:pathLst>
              <a:path w="2376170" h="540385">
                <a:moveTo>
                  <a:pt x="2286000" y="0"/>
                </a:moveTo>
                <a:lnTo>
                  <a:pt x="90004" y="0"/>
                </a:lnTo>
                <a:lnTo>
                  <a:pt x="54971" y="7068"/>
                </a:lnTo>
                <a:lnTo>
                  <a:pt x="26362" y="26352"/>
                </a:lnTo>
                <a:lnTo>
                  <a:pt x="7073" y="54971"/>
                </a:lnTo>
                <a:lnTo>
                  <a:pt x="0" y="90042"/>
                </a:lnTo>
                <a:lnTo>
                  <a:pt x="0" y="449960"/>
                </a:lnTo>
                <a:lnTo>
                  <a:pt x="7073" y="485032"/>
                </a:lnTo>
                <a:lnTo>
                  <a:pt x="26362" y="513651"/>
                </a:lnTo>
                <a:lnTo>
                  <a:pt x="54971" y="532935"/>
                </a:lnTo>
                <a:lnTo>
                  <a:pt x="90004" y="540003"/>
                </a:lnTo>
                <a:lnTo>
                  <a:pt x="2286000" y="540003"/>
                </a:lnTo>
                <a:lnTo>
                  <a:pt x="2321018" y="532935"/>
                </a:lnTo>
                <a:lnTo>
                  <a:pt x="2349642" y="513651"/>
                </a:lnTo>
                <a:lnTo>
                  <a:pt x="2368956" y="485032"/>
                </a:lnTo>
                <a:lnTo>
                  <a:pt x="2376043" y="449960"/>
                </a:lnTo>
                <a:lnTo>
                  <a:pt x="2376043" y="90042"/>
                </a:lnTo>
                <a:lnTo>
                  <a:pt x="2368956" y="54971"/>
                </a:lnTo>
                <a:lnTo>
                  <a:pt x="2349642" y="26352"/>
                </a:lnTo>
                <a:lnTo>
                  <a:pt x="2321018" y="7068"/>
                </a:lnTo>
                <a:lnTo>
                  <a:pt x="2286000" y="0"/>
                </a:lnTo>
                <a:close/>
              </a:path>
            </a:pathLst>
          </a:custGeom>
          <a:solidFill>
            <a:srgbClr val="5A31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4"/>
          <p:cNvSpPr txBox="1">
            <a:spLocks noGrp="1"/>
          </p:cNvSpPr>
          <p:nvPr>
            <p:ph type="title"/>
          </p:nvPr>
        </p:nvSpPr>
        <p:spPr>
          <a:xfrm>
            <a:off x="716991" y="141809"/>
            <a:ext cx="206375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solidFill>
                  <a:schemeClr val="bg1"/>
                </a:solidFill>
              </a:rPr>
              <a:t>哈夫</a:t>
            </a:r>
            <a:r>
              <a:rPr sz="2800" spc="-10" dirty="0">
                <a:solidFill>
                  <a:schemeClr val="bg1"/>
                </a:solidFill>
              </a:rPr>
              <a:t>曼</a:t>
            </a:r>
            <a:r>
              <a:rPr sz="2800" spc="-5" dirty="0">
                <a:solidFill>
                  <a:schemeClr val="bg1"/>
                </a:solidFill>
              </a:rPr>
              <a:t>算</a:t>
            </a:r>
            <a:r>
              <a:rPr sz="2800" spc="-10" dirty="0">
                <a:solidFill>
                  <a:schemeClr val="bg1"/>
                </a:solidFill>
              </a:rPr>
              <a:t>法</a:t>
            </a:r>
          </a:p>
        </p:txBody>
      </p:sp>
    </p:spTree>
    <p:extLst>
      <p:ext uri="{BB962C8B-B14F-4D97-AF65-F5344CB8AC3E}">
        <p14:creationId xmlns:p14="http://schemas.microsoft.com/office/powerpoint/2010/main" val="1328278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48643" y="2017267"/>
            <a:ext cx="152400" cy="25355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algn="just">
              <a:lnSpc>
                <a:spcPts val="1000"/>
              </a:lnSpc>
              <a:spcBef>
                <a:spcPts val="2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数 据 结 构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880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（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从 概 念 到 实 现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975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640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清 华 大 学 出 版 社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6991" y="997661"/>
            <a:ext cx="42875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B42C2C"/>
                </a:solidFill>
                <a:latin typeface="微软雅黑"/>
                <a:cs typeface="微软雅黑"/>
              </a:rPr>
              <a:t>【算法</a:t>
            </a:r>
            <a:r>
              <a:rPr sz="2800" spc="-10" dirty="0">
                <a:solidFill>
                  <a:srgbClr val="B42C2C"/>
                </a:solidFill>
                <a:latin typeface="Times New Roman"/>
                <a:cs typeface="Times New Roman"/>
              </a:rPr>
              <a:t>——</a:t>
            </a:r>
            <a:r>
              <a:rPr sz="2800" spc="-10" dirty="0">
                <a:solidFill>
                  <a:srgbClr val="B42C2C"/>
                </a:solidFill>
                <a:latin typeface="微软雅黑"/>
                <a:cs typeface="微软雅黑"/>
              </a:rPr>
              <a:t>数据处理过程</a:t>
            </a:r>
            <a:r>
              <a:rPr sz="2800" spc="-5" dirty="0">
                <a:solidFill>
                  <a:srgbClr val="B42C2C"/>
                </a:solidFill>
                <a:latin typeface="微软雅黑"/>
                <a:cs typeface="微软雅黑"/>
              </a:rPr>
              <a:t>】</a:t>
            </a:r>
            <a:endParaRPr sz="2800">
              <a:latin typeface="微软雅黑"/>
              <a:cs typeface="微软雅黑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277492" y="2632836"/>
            <a:ext cx="3740150" cy="621665"/>
            <a:chOff x="1277492" y="2632836"/>
            <a:chExt cx="3740150" cy="621665"/>
          </a:xfrm>
        </p:grpSpPr>
        <p:sp>
          <p:nvSpPr>
            <p:cNvPr id="7" name="object 7"/>
            <p:cNvSpPr/>
            <p:nvPr/>
          </p:nvSpPr>
          <p:spPr>
            <a:xfrm>
              <a:off x="1296542" y="2651886"/>
              <a:ext cx="3702050" cy="583565"/>
            </a:xfrm>
            <a:custGeom>
              <a:avLst/>
              <a:gdLst/>
              <a:ahLst/>
              <a:cxnLst/>
              <a:rect l="l" t="t" r="r" b="b"/>
              <a:pathLst>
                <a:path w="3702050" h="583564">
                  <a:moveTo>
                    <a:pt x="179959" y="583438"/>
                  </a:moveTo>
                  <a:lnTo>
                    <a:pt x="144940" y="579645"/>
                  </a:lnTo>
                  <a:lnTo>
                    <a:pt x="116316" y="569293"/>
                  </a:lnTo>
                  <a:lnTo>
                    <a:pt x="97002" y="553916"/>
                  </a:lnTo>
                  <a:lnTo>
                    <a:pt x="89915" y="535051"/>
                  </a:lnTo>
                  <a:lnTo>
                    <a:pt x="89915" y="361823"/>
                  </a:lnTo>
                  <a:lnTo>
                    <a:pt x="82849" y="342957"/>
                  </a:lnTo>
                  <a:lnTo>
                    <a:pt x="63579" y="327580"/>
                  </a:lnTo>
                  <a:lnTo>
                    <a:pt x="34998" y="317228"/>
                  </a:lnTo>
                  <a:lnTo>
                    <a:pt x="0" y="313436"/>
                  </a:lnTo>
                  <a:lnTo>
                    <a:pt x="34998" y="309643"/>
                  </a:lnTo>
                  <a:lnTo>
                    <a:pt x="63579" y="299291"/>
                  </a:lnTo>
                  <a:lnTo>
                    <a:pt x="82849" y="283914"/>
                  </a:lnTo>
                  <a:lnTo>
                    <a:pt x="89915" y="265049"/>
                  </a:lnTo>
                  <a:lnTo>
                    <a:pt x="89915" y="91821"/>
                  </a:lnTo>
                  <a:lnTo>
                    <a:pt x="97002" y="72955"/>
                  </a:lnTo>
                  <a:lnTo>
                    <a:pt x="116316" y="57578"/>
                  </a:lnTo>
                  <a:lnTo>
                    <a:pt x="144940" y="47226"/>
                  </a:lnTo>
                  <a:lnTo>
                    <a:pt x="179959" y="43434"/>
                  </a:lnTo>
                </a:path>
                <a:path w="3702050" h="583564">
                  <a:moveTo>
                    <a:pt x="3521964" y="0"/>
                  </a:moveTo>
                  <a:lnTo>
                    <a:pt x="3557035" y="3810"/>
                  </a:lnTo>
                  <a:lnTo>
                    <a:pt x="3585654" y="14192"/>
                  </a:lnTo>
                  <a:lnTo>
                    <a:pt x="3604938" y="29575"/>
                  </a:lnTo>
                  <a:lnTo>
                    <a:pt x="3612006" y="48387"/>
                  </a:lnTo>
                  <a:lnTo>
                    <a:pt x="3612006" y="221614"/>
                  </a:lnTo>
                  <a:lnTo>
                    <a:pt x="3619075" y="240480"/>
                  </a:lnTo>
                  <a:lnTo>
                    <a:pt x="3638359" y="255857"/>
                  </a:lnTo>
                  <a:lnTo>
                    <a:pt x="3666978" y="266209"/>
                  </a:lnTo>
                  <a:lnTo>
                    <a:pt x="3702050" y="270001"/>
                  </a:lnTo>
                  <a:lnTo>
                    <a:pt x="3666978" y="273794"/>
                  </a:lnTo>
                  <a:lnTo>
                    <a:pt x="3638359" y="284146"/>
                  </a:lnTo>
                  <a:lnTo>
                    <a:pt x="3619075" y="299523"/>
                  </a:lnTo>
                  <a:lnTo>
                    <a:pt x="3612006" y="318388"/>
                  </a:lnTo>
                  <a:lnTo>
                    <a:pt x="3612006" y="491616"/>
                  </a:lnTo>
                  <a:lnTo>
                    <a:pt x="3604938" y="510482"/>
                  </a:lnTo>
                  <a:lnTo>
                    <a:pt x="3585654" y="525859"/>
                  </a:lnTo>
                  <a:lnTo>
                    <a:pt x="3557035" y="536211"/>
                  </a:lnTo>
                  <a:lnTo>
                    <a:pt x="3521964" y="540003"/>
                  </a:lnTo>
                </a:path>
              </a:pathLst>
            </a:custGeom>
            <a:ln w="38100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81555" y="2755645"/>
              <a:ext cx="2717165" cy="432434"/>
            </a:xfrm>
            <a:custGeom>
              <a:avLst/>
              <a:gdLst/>
              <a:ahLst/>
              <a:cxnLst/>
              <a:rect l="l" t="t" r="r" b="b"/>
              <a:pathLst>
                <a:path w="2717165" h="432435">
                  <a:moveTo>
                    <a:pt x="0" y="216026"/>
                  </a:moveTo>
                  <a:lnTo>
                    <a:pt x="5708" y="166471"/>
                  </a:lnTo>
                  <a:lnTo>
                    <a:pt x="21966" y="120992"/>
                  </a:lnTo>
                  <a:lnTo>
                    <a:pt x="47476" y="80883"/>
                  </a:lnTo>
                  <a:lnTo>
                    <a:pt x="80936" y="47436"/>
                  </a:lnTo>
                  <a:lnTo>
                    <a:pt x="121048" y="21944"/>
                  </a:lnTo>
                  <a:lnTo>
                    <a:pt x="166511" y="5701"/>
                  </a:lnTo>
                  <a:lnTo>
                    <a:pt x="216026" y="0"/>
                  </a:lnTo>
                  <a:lnTo>
                    <a:pt x="265542" y="5701"/>
                  </a:lnTo>
                  <a:lnTo>
                    <a:pt x="311005" y="21944"/>
                  </a:lnTo>
                  <a:lnTo>
                    <a:pt x="351117" y="47436"/>
                  </a:lnTo>
                  <a:lnTo>
                    <a:pt x="384577" y="80883"/>
                  </a:lnTo>
                  <a:lnTo>
                    <a:pt x="410087" y="120992"/>
                  </a:lnTo>
                  <a:lnTo>
                    <a:pt x="426345" y="166471"/>
                  </a:lnTo>
                  <a:lnTo>
                    <a:pt x="432054" y="216026"/>
                  </a:lnTo>
                  <a:lnTo>
                    <a:pt x="426345" y="265542"/>
                  </a:lnTo>
                  <a:lnTo>
                    <a:pt x="410087" y="311005"/>
                  </a:lnTo>
                  <a:lnTo>
                    <a:pt x="384577" y="351117"/>
                  </a:lnTo>
                  <a:lnTo>
                    <a:pt x="351117" y="384577"/>
                  </a:lnTo>
                  <a:lnTo>
                    <a:pt x="311005" y="410087"/>
                  </a:lnTo>
                  <a:lnTo>
                    <a:pt x="265542" y="426345"/>
                  </a:lnTo>
                  <a:lnTo>
                    <a:pt x="216026" y="432053"/>
                  </a:lnTo>
                  <a:lnTo>
                    <a:pt x="166511" y="426345"/>
                  </a:lnTo>
                  <a:lnTo>
                    <a:pt x="121048" y="410087"/>
                  </a:lnTo>
                  <a:lnTo>
                    <a:pt x="80936" y="384577"/>
                  </a:lnTo>
                  <a:lnTo>
                    <a:pt x="47476" y="351117"/>
                  </a:lnTo>
                  <a:lnTo>
                    <a:pt x="21966" y="311005"/>
                  </a:lnTo>
                  <a:lnTo>
                    <a:pt x="5708" y="265542"/>
                  </a:lnTo>
                  <a:lnTo>
                    <a:pt x="0" y="216026"/>
                  </a:lnTo>
                  <a:close/>
                </a:path>
                <a:path w="2717165" h="432435">
                  <a:moveTo>
                    <a:pt x="751586" y="216026"/>
                  </a:moveTo>
                  <a:lnTo>
                    <a:pt x="757287" y="166471"/>
                  </a:lnTo>
                  <a:lnTo>
                    <a:pt x="773527" y="120992"/>
                  </a:lnTo>
                  <a:lnTo>
                    <a:pt x="799012" y="80883"/>
                  </a:lnTo>
                  <a:lnTo>
                    <a:pt x="832445" y="47436"/>
                  </a:lnTo>
                  <a:lnTo>
                    <a:pt x="872532" y="21944"/>
                  </a:lnTo>
                  <a:lnTo>
                    <a:pt x="917977" y="5701"/>
                  </a:lnTo>
                  <a:lnTo>
                    <a:pt x="967486" y="0"/>
                  </a:lnTo>
                  <a:lnTo>
                    <a:pt x="1017041" y="5701"/>
                  </a:lnTo>
                  <a:lnTo>
                    <a:pt x="1062520" y="21944"/>
                  </a:lnTo>
                  <a:lnTo>
                    <a:pt x="1102629" y="47436"/>
                  </a:lnTo>
                  <a:lnTo>
                    <a:pt x="1136076" y="80883"/>
                  </a:lnTo>
                  <a:lnTo>
                    <a:pt x="1161568" y="120992"/>
                  </a:lnTo>
                  <a:lnTo>
                    <a:pt x="1177811" y="166471"/>
                  </a:lnTo>
                  <a:lnTo>
                    <a:pt x="1183513" y="216026"/>
                  </a:lnTo>
                  <a:lnTo>
                    <a:pt x="1177811" y="265542"/>
                  </a:lnTo>
                  <a:lnTo>
                    <a:pt x="1161568" y="311005"/>
                  </a:lnTo>
                  <a:lnTo>
                    <a:pt x="1136076" y="351117"/>
                  </a:lnTo>
                  <a:lnTo>
                    <a:pt x="1102629" y="384577"/>
                  </a:lnTo>
                  <a:lnTo>
                    <a:pt x="1062520" y="410087"/>
                  </a:lnTo>
                  <a:lnTo>
                    <a:pt x="1017041" y="426345"/>
                  </a:lnTo>
                  <a:lnTo>
                    <a:pt x="967486" y="432053"/>
                  </a:lnTo>
                  <a:lnTo>
                    <a:pt x="917977" y="426345"/>
                  </a:lnTo>
                  <a:lnTo>
                    <a:pt x="872532" y="410087"/>
                  </a:lnTo>
                  <a:lnTo>
                    <a:pt x="832445" y="384577"/>
                  </a:lnTo>
                  <a:lnTo>
                    <a:pt x="799012" y="351117"/>
                  </a:lnTo>
                  <a:lnTo>
                    <a:pt x="773527" y="311005"/>
                  </a:lnTo>
                  <a:lnTo>
                    <a:pt x="757287" y="265542"/>
                  </a:lnTo>
                  <a:lnTo>
                    <a:pt x="751586" y="216026"/>
                  </a:lnTo>
                  <a:close/>
                </a:path>
                <a:path w="2717165" h="432435">
                  <a:moveTo>
                    <a:pt x="1518284" y="216026"/>
                  </a:moveTo>
                  <a:lnTo>
                    <a:pt x="1523986" y="166471"/>
                  </a:lnTo>
                  <a:lnTo>
                    <a:pt x="1540229" y="120992"/>
                  </a:lnTo>
                  <a:lnTo>
                    <a:pt x="1565721" y="80883"/>
                  </a:lnTo>
                  <a:lnTo>
                    <a:pt x="1599168" y="47436"/>
                  </a:lnTo>
                  <a:lnTo>
                    <a:pt x="1639277" y="21944"/>
                  </a:lnTo>
                  <a:lnTo>
                    <a:pt x="1684756" y="5701"/>
                  </a:lnTo>
                  <a:lnTo>
                    <a:pt x="1734311" y="0"/>
                  </a:lnTo>
                  <a:lnTo>
                    <a:pt x="1783820" y="5701"/>
                  </a:lnTo>
                  <a:lnTo>
                    <a:pt x="1829265" y="21944"/>
                  </a:lnTo>
                  <a:lnTo>
                    <a:pt x="1869352" y="47436"/>
                  </a:lnTo>
                  <a:lnTo>
                    <a:pt x="1902785" y="80883"/>
                  </a:lnTo>
                  <a:lnTo>
                    <a:pt x="1928270" y="120992"/>
                  </a:lnTo>
                  <a:lnTo>
                    <a:pt x="1944510" y="166471"/>
                  </a:lnTo>
                  <a:lnTo>
                    <a:pt x="1950211" y="216026"/>
                  </a:lnTo>
                  <a:lnTo>
                    <a:pt x="1944510" y="265542"/>
                  </a:lnTo>
                  <a:lnTo>
                    <a:pt x="1928270" y="311005"/>
                  </a:lnTo>
                  <a:lnTo>
                    <a:pt x="1902785" y="351117"/>
                  </a:lnTo>
                  <a:lnTo>
                    <a:pt x="1869352" y="384577"/>
                  </a:lnTo>
                  <a:lnTo>
                    <a:pt x="1829265" y="410087"/>
                  </a:lnTo>
                  <a:lnTo>
                    <a:pt x="1783820" y="426345"/>
                  </a:lnTo>
                  <a:lnTo>
                    <a:pt x="1734311" y="432053"/>
                  </a:lnTo>
                  <a:lnTo>
                    <a:pt x="1684756" y="426345"/>
                  </a:lnTo>
                  <a:lnTo>
                    <a:pt x="1639277" y="410087"/>
                  </a:lnTo>
                  <a:lnTo>
                    <a:pt x="1599168" y="384577"/>
                  </a:lnTo>
                  <a:lnTo>
                    <a:pt x="1565721" y="351117"/>
                  </a:lnTo>
                  <a:lnTo>
                    <a:pt x="1540229" y="311005"/>
                  </a:lnTo>
                  <a:lnTo>
                    <a:pt x="1523986" y="265542"/>
                  </a:lnTo>
                  <a:lnTo>
                    <a:pt x="1518284" y="216026"/>
                  </a:lnTo>
                  <a:close/>
                </a:path>
                <a:path w="2717165" h="432435">
                  <a:moveTo>
                    <a:pt x="2284984" y="216026"/>
                  </a:moveTo>
                  <a:lnTo>
                    <a:pt x="2290692" y="166471"/>
                  </a:lnTo>
                  <a:lnTo>
                    <a:pt x="2306950" y="120992"/>
                  </a:lnTo>
                  <a:lnTo>
                    <a:pt x="2332460" y="80883"/>
                  </a:lnTo>
                  <a:lnTo>
                    <a:pt x="2365920" y="47436"/>
                  </a:lnTo>
                  <a:lnTo>
                    <a:pt x="2406032" y="21944"/>
                  </a:lnTo>
                  <a:lnTo>
                    <a:pt x="2451495" y="5701"/>
                  </a:lnTo>
                  <a:lnTo>
                    <a:pt x="2501010" y="0"/>
                  </a:lnTo>
                  <a:lnTo>
                    <a:pt x="2550526" y="5701"/>
                  </a:lnTo>
                  <a:lnTo>
                    <a:pt x="2595989" y="21944"/>
                  </a:lnTo>
                  <a:lnTo>
                    <a:pt x="2636101" y="47436"/>
                  </a:lnTo>
                  <a:lnTo>
                    <a:pt x="2669561" y="80883"/>
                  </a:lnTo>
                  <a:lnTo>
                    <a:pt x="2695071" y="120992"/>
                  </a:lnTo>
                  <a:lnTo>
                    <a:pt x="2711329" y="166471"/>
                  </a:lnTo>
                  <a:lnTo>
                    <a:pt x="2717038" y="216026"/>
                  </a:lnTo>
                  <a:lnTo>
                    <a:pt x="2711329" y="265542"/>
                  </a:lnTo>
                  <a:lnTo>
                    <a:pt x="2695071" y="311005"/>
                  </a:lnTo>
                  <a:lnTo>
                    <a:pt x="2669561" y="351117"/>
                  </a:lnTo>
                  <a:lnTo>
                    <a:pt x="2636101" y="384577"/>
                  </a:lnTo>
                  <a:lnTo>
                    <a:pt x="2595989" y="410087"/>
                  </a:lnTo>
                  <a:lnTo>
                    <a:pt x="2550526" y="426345"/>
                  </a:lnTo>
                  <a:lnTo>
                    <a:pt x="2501010" y="432053"/>
                  </a:lnTo>
                  <a:lnTo>
                    <a:pt x="2451495" y="426345"/>
                  </a:lnTo>
                  <a:lnTo>
                    <a:pt x="2406032" y="410087"/>
                  </a:lnTo>
                  <a:lnTo>
                    <a:pt x="2365920" y="384577"/>
                  </a:lnTo>
                  <a:lnTo>
                    <a:pt x="2332460" y="351117"/>
                  </a:lnTo>
                  <a:lnTo>
                    <a:pt x="2306950" y="311005"/>
                  </a:lnTo>
                  <a:lnTo>
                    <a:pt x="2290692" y="265542"/>
                  </a:lnTo>
                  <a:lnTo>
                    <a:pt x="2284984" y="216026"/>
                  </a:lnTo>
                  <a:close/>
                </a:path>
              </a:pathLst>
            </a:custGeom>
            <a:ln w="28575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45058" y="1780108"/>
            <a:ext cx="4843145" cy="1358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44195" algn="l"/>
              </a:tabLst>
            </a:pPr>
            <a:r>
              <a:rPr sz="2800" spc="-5" dirty="0">
                <a:solidFill>
                  <a:srgbClr val="5A317C"/>
                </a:solidFill>
                <a:latin typeface="微软雅黑"/>
                <a:cs typeface="微软雅黑"/>
              </a:rPr>
              <a:t>例	</a:t>
            </a:r>
            <a:r>
              <a:rPr sz="2800" spc="-10" dirty="0">
                <a:solidFill>
                  <a:srgbClr val="404040"/>
                </a:solidFill>
                <a:latin typeface="微软雅黑"/>
                <a:cs typeface="微软雅黑"/>
              </a:rPr>
              <a:t>给定权值集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合</a:t>
            </a:r>
            <a:r>
              <a:rPr sz="2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{2</a:t>
            </a:r>
            <a:r>
              <a:rPr sz="2800" b="1" spc="-5" dirty="0">
                <a:solidFill>
                  <a:srgbClr val="404040"/>
                </a:solidFill>
                <a:latin typeface="宋体"/>
                <a:cs typeface="宋体"/>
              </a:rPr>
              <a:t>，</a:t>
            </a:r>
            <a:r>
              <a:rPr sz="2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4</a:t>
            </a:r>
            <a:r>
              <a:rPr sz="2800" b="1" spc="-5" dirty="0">
                <a:solidFill>
                  <a:srgbClr val="404040"/>
                </a:solidFill>
                <a:latin typeface="宋体"/>
                <a:cs typeface="宋体"/>
              </a:rPr>
              <a:t>，</a:t>
            </a:r>
            <a:r>
              <a:rPr sz="2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5</a:t>
            </a:r>
            <a:r>
              <a:rPr sz="28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404040"/>
                </a:solidFill>
                <a:latin typeface="宋体"/>
                <a:cs typeface="宋体"/>
              </a:rPr>
              <a:t>，</a:t>
            </a:r>
            <a:r>
              <a:rPr sz="28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3}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700">
              <a:latin typeface="Times New Roman"/>
              <a:cs typeface="Times New Roman"/>
            </a:endParaRPr>
          </a:p>
          <a:p>
            <a:pPr marL="147955" algn="ctr">
              <a:lnSpc>
                <a:spcPct val="100000"/>
              </a:lnSpc>
              <a:tabLst>
                <a:tab pos="899160" algn="l"/>
                <a:tab pos="1665605" algn="l"/>
                <a:tab pos="2432685" algn="l"/>
              </a:tabLst>
            </a:pPr>
            <a:r>
              <a:rPr sz="2400" dirty="0">
                <a:latin typeface="Times New Roman"/>
                <a:cs typeface="Times New Roman"/>
              </a:rPr>
              <a:t>2	4	5	3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277492" y="1387475"/>
            <a:ext cx="9912985" cy="4305300"/>
            <a:chOff x="1277492" y="1387475"/>
            <a:chExt cx="9912985" cy="4305300"/>
          </a:xfrm>
        </p:grpSpPr>
        <p:sp>
          <p:nvSpPr>
            <p:cNvPr id="11" name="object 11"/>
            <p:cNvSpPr/>
            <p:nvPr/>
          </p:nvSpPr>
          <p:spPr>
            <a:xfrm>
              <a:off x="6329045" y="1406525"/>
              <a:ext cx="4841875" cy="4267200"/>
            </a:xfrm>
            <a:custGeom>
              <a:avLst/>
              <a:gdLst/>
              <a:ahLst/>
              <a:cxnLst/>
              <a:rect l="l" t="t" r="r" b="b"/>
              <a:pathLst>
                <a:path w="4841875" h="4267200">
                  <a:moveTo>
                    <a:pt x="0" y="4267200"/>
                  </a:moveTo>
                  <a:lnTo>
                    <a:pt x="4841875" y="4267200"/>
                  </a:lnTo>
                  <a:lnTo>
                    <a:pt x="4841875" y="0"/>
                  </a:lnTo>
                  <a:lnTo>
                    <a:pt x="0" y="0"/>
                  </a:lnTo>
                  <a:lnTo>
                    <a:pt x="0" y="4267200"/>
                  </a:lnTo>
                  <a:close/>
                </a:path>
              </a:pathLst>
            </a:custGeom>
            <a:ln w="38100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329045" y="1406525"/>
              <a:ext cx="4841875" cy="4267200"/>
            </a:xfrm>
            <a:custGeom>
              <a:avLst/>
              <a:gdLst/>
              <a:ahLst/>
              <a:cxnLst/>
              <a:rect l="l" t="t" r="r" b="b"/>
              <a:pathLst>
                <a:path w="4841875" h="4267200">
                  <a:moveTo>
                    <a:pt x="2362200" y="0"/>
                  </a:moveTo>
                  <a:lnTo>
                    <a:pt x="2362200" y="4267200"/>
                  </a:lnTo>
                </a:path>
                <a:path w="4841875" h="4267200">
                  <a:moveTo>
                    <a:pt x="3596639" y="0"/>
                  </a:moveTo>
                  <a:lnTo>
                    <a:pt x="3596639" y="4267200"/>
                  </a:lnTo>
                </a:path>
                <a:path w="4841875" h="4267200">
                  <a:moveTo>
                    <a:pt x="1143000" y="0"/>
                  </a:moveTo>
                  <a:lnTo>
                    <a:pt x="1143000" y="4267200"/>
                  </a:lnTo>
                </a:path>
                <a:path w="4841875" h="4267200">
                  <a:moveTo>
                    <a:pt x="0" y="609600"/>
                  </a:moveTo>
                  <a:lnTo>
                    <a:pt x="4841875" y="609600"/>
                  </a:lnTo>
                </a:path>
                <a:path w="4841875" h="4267200">
                  <a:moveTo>
                    <a:pt x="0" y="1219200"/>
                  </a:moveTo>
                  <a:lnTo>
                    <a:pt x="4841875" y="1219200"/>
                  </a:lnTo>
                </a:path>
                <a:path w="4841875" h="4267200">
                  <a:moveTo>
                    <a:pt x="0" y="1828800"/>
                  </a:moveTo>
                  <a:lnTo>
                    <a:pt x="4841875" y="1828800"/>
                  </a:lnTo>
                </a:path>
                <a:path w="4841875" h="4267200">
                  <a:moveTo>
                    <a:pt x="0" y="2438400"/>
                  </a:moveTo>
                  <a:lnTo>
                    <a:pt x="4841875" y="2438400"/>
                  </a:lnTo>
                </a:path>
                <a:path w="4841875" h="4267200">
                  <a:moveTo>
                    <a:pt x="0" y="3048000"/>
                  </a:moveTo>
                  <a:lnTo>
                    <a:pt x="4841875" y="3048000"/>
                  </a:lnTo>
                </a:path>
                <a:path w="4841875" h="4267200">
                  <a:moveTo>
                    <a:pt x="0" y="3657600"/>
                  </a:moveTo>
                  <a:lnTo>
                    <a:pt x="4841875" y="3657600"/>
                  </a:lnTo>
                </a:path>
              </a:pathLst>
            </a:custGeom>
            <a:ln w="38100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96542" y="3509645"/>
              <a:ext cx="3702050" cy="583565"/>
            </a:xfrm>
            <a:custGeom>
              <a:avLst/>
              <a:gdLst/>
              <a:ahLst/>
              <a:cxnLst/>
              <a:rect l="l" t="t" r="r" b="b"/>
              <a:pathLst>
                <a:path w="3702050" h="583564">
                  <a:moveTo>
                    <a:pt x="179959" y="583437"/>
                  </a:moveTo>
                  <a:lnTo>
                    <a:pt x="144940" y="579627"/>
                  </a:lnTo>
                  <a:lnTo>
                    <a:pt x="116316" y="569245"/>
                  </a:lnTo>
                  <a:lnTo>
                    <a:pt x="97002" y="553862"/>
                  </a:lnTo>
                  <a:lnTo>
                    <a:pt x="89915" y="535050"/>
                  </a:lnTo>
                  <a:lnTo>
                    <a:pt x="89915" y="361822"/>
                  </a:lnTo>
                  <a:lnTo>
                    <a:pt x="82849" y="342957"/>
                  </a:lnTo>
                  <a:lnTo>
                    <a:pt x="63579" y="327580"/>
                  </a:lnTo>
                  <a:lnTo>
                    <a:pt x="34998" y="317228"/>
                  </a:lnTo>
                  <a:lnTo>
                    <a:pt x="0" y="313435"/>
                  </a:lnTo>
                  <a:lnTo>
                    <a:pt x="34998" y="309643"/>
                  </a:lnTo>
                  <a:lnTo>
                    <a:pt x="63579" y="299291"/>
                  </a:lnTo>
                  <a:lnTo>
                    <a:pt x="82849" y="283914"/>
                  </a:lnTo>
                  <a:lnTo>
                    <a:pt x="89915" y="265048"/>
                  </a:lnTo>
                  <a:lnTo>
                    <a:pt x="89915" y="91820"/>
                  </a:lnTo>
                  <a:lnTo>
                    <a:pt x="97002" y="72955"/>
                  </a:lnTo>
                  <a:lnTo>
                    <a:pt x="116316" y="57578"/>
                  </a:lnTo>
                  <a:lnTo>
                    <a:pt x="144940" y="47226"/>
                  </a:lnTo>
                  <a:lnTo>
                    <a:pt x="179959" y="43433"/>
                  </a:lnTo>
                </a:path>
                <a:path w="3702050" h="583564">
                  <a:moveTo>
                    <a:pt x="3521964" y="0"/>
                  </a:moveTo>
                  <a:lnTo>
                    <a:pt x="3557035" y="3792"/>
                  </a:lnTo>
                  <a:lnTo>
                    <a:pt x="3585654" y="14144"/>
                  </a:lnTo>
                  <a:lnTo>
                    <a:pt x="3604938" y="29521"/>
                  </a:lnTo>
                  <a:lnTo>
                    <a:pt x="3612006" y="48387"/>
                  </a:lnTo>
                  <a:lnTo>
                    <a:pt x="3612006" y="221614"/>
                  </a:lnTo>
                  <a:lnTo>
                    <a:pt x="3619075" y="240480"/>
                  </a:lnTo>
                  <a:lnTo>
                    <a:pt x="3638359" y="255857"/>
                  </a:lnTo>
                  <a:lnTo>
                    <a:pt x="3666978" y="266209"/>
                  </a:lnTo>
                  <a:lnTo>
                    <a:pt x="3702050" y="270001"/>
                  </a:lnTo>
                  <a:lnTo>
                    <a:pt x="3666978" y="273794"/>
                  </a:lnTo>
                  <a:lnTo>
                    <a:pt x="3638359" y="284146"/>
                  </a:lnTo>
                  <a:lnTo>
                    <a:pt x="3619075" y="299523"/>
                  </a:lnTo>
                  <a:lnTo>
                    <a:pt x="3612006" y="318388"/>
                  </a:lnTo>
                  <a:lnTo>
                    <a:pt x="3612006" y="491616"/>
                  </a:lnTo>
                  <a:lnTo>
                    <a:pt x="3604938" y="510482"/>
                  </a:lnTo>
                  <a:lnTo>
                    <a:pt x="3585654" y="525859"/>
                  </a:lnTo>
                  <a:lnTo>
                    <a:pt x="3557035" y="536211"/>
                  </a:lnTo>
                  <a:lnTo>
                    <a:pt x="3521964" y="540003"/>
                  </a:lnTo>
                </a:path>
              </a:pathLst>
            </a:custGeom>
            <a:ln w="38100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81555" y="3613404"/>
              <a:ext cx="1183640" cy="432434"/>
            </a:xfrm>
            <a:custGeom>
              <a:avLst/>
              <a:gdLst/>
              <a:ahLst/>
              <a:cxnLst/>
              <a:rect l="l" t="t" r="r" b="b"/>
              <a:pathLst>
                <a:path w="1183639" h="432435">
                  <a:moveTo>
                    <a:pt x="0" y="216027"/>
                  </a:moveTo>
                  <a:lnTo>
                    <a:pt x="5708" y="166471"/>
                  </a:lnTo>
                  <a:lnTo>
                    <a:pt x="21966" y="120992"/>
                  </a:lnTo>
                  <a:lnTo>
                    <a:pt x="47476" y="80883"/>
                  </a:lnTo>
                  <a:lnTo>
                    <a:pt x="80936" y="47436"/>
                  </a:lnTo>
                  <a:lnTo>
                    <a:pt x="121048" y="21944"/>
                  </a:lnTo>
                  <a:lnTo>
                    <a:pt x="166511" y="5701"/>
                  </a:lnTo>
                  <a:lnTo>
                    <a:pt x="216026" y="0"/>
                  </a:lnTo>
                  <a:lnTo>
                    <a:pt x="265542" y="5701"/>
                  </a:lnTo>
                  <a:lnTo>
                    <a:pt x="311005" y="21944"/>
                  </a:lnTo>
                  <a:lnTo>
                    <a:pt x="351117" y="47436"/>
                  </a:lnTo>
                  <a:lnTo>
                    <a:pt x="384577" y="80883"/>
                  </a:lnTo>
                  <a:lnTo>
                    <a:pt x="410087" y="120992"/>
                  </a:lnTo>
                  <a:lnTo>
                    <a:pt x="426345" y="166471"/>
                  </a:lnTo>
                  <a:lnTo>
                    <a:pt x="432054" y="216027"/>
                  </a:lnTo>
                  <a:lnTo>
                    <a:pt x="426345" y="265542"/>
                  </a:lnTo>
                  <a:lnTo>
                    <a:pt x="410087" y="311005"/>
                  </a:lnTo>
                  <a:lnTo>
                    <a:pt x="384577" y="351117"/>
                  </a:lnTo>
                  <a:lnTo>
                    <a:pt x="351117" y="384577"/>
                  </a:lnTo>
                  <a:lnTo>
                    <a:pt x="311005" y="410087"/>
                  </a:lnTo>
                  <a:lnTo>
                    <a:pt x="265542" y="426345"/>
                  </a:lnTo>
                  <a:lnTo>
                    <a:pt x="216026" y="432054"/>
                  </a:lnTo>
                  <a:lnTo>
                    <a:pt x="166511" y="426345"/>
                  </a:lnTo>
                  <a:lnTo>
                    <a:pt x="121048" y="410087"/>
                  </a:lnTo>
                  <a:lnTo>
                    <a:pt x="80936" y="384577"/>
                  </a:lnTo>
                  <a:lnTo>
                    <a:pt x="47476" y="351117"/>
                  </a:lnTo>
                  <a:lnTo>
                    <a:pt x="21966" y="311005"/>
                  </a:lnTo>
                  <a:lnTo>
                    <a:pt x="5708" y="265542"/>
                  </a:lnTo>
                  <a:lnTo>
                    <a:pt x="0" y="216027"/>
                  </a:lnTo>
                  <a:close/>
                </a:path>
                <a:path w="1183639" h="432435">
                  <a:moveTo>
                    <a:pt x="751586" y="216027"/>
                  </a:moveTo>
                  <a:lnTo>
                    <a:pt x="757287" y="166471"/>
                  </a:lnTo>
                  <a:lnTo>
                    <a:pt x="773527" y="120992"/>
                  </a:lnTo>
                  <a:lnTo>
                    <a:pt x="799012" y="80883"/>
                  </a:lnTo>
                  <a:lnTo>
                    <a:pt x="832445" y="47436"/>
                  </a:lnTo>
                  <a:lnTo>
                    <a:pt x="872532" y="21944"/>
                  </a:lnTo>
                  <a:lnTo>
                    <a:pt x="917977" y="5701"/>
                  </a:lnTo>
                  <a:lnTo>
                    <a:pt x="967486" y="0"/>
                  </a:lnTo>
                  <a:lnTo>
                    <a:pt x="1017041" y="5701"/>
                  </a:lnTo>
                  <a:lnTo>
                    <a:pt x="1062520" y="21944"/>
                  </a:lnTo>
                  <a:lnTo>
                    <a:pt x="1102629" y="47436"/>
                  </a:lnTo>
                  <a:lnTo>
                    <a:pt x="1136076" y="80883"/>
                  </a:lnTo>
                  <a:lnTo>
                    <a:pt x="1161568" y="120992"/>
                  </a:lnTo>
                  <a:lnTo>
                    <a:pt x="1177811" y="166471"/>
                  </a:lnTo>
                  <a:lnTo>
                    <a:pt x="1183513" y="216027"/>
                  </a:lnTo>
                  <a:lnTo>
                    <a:pt x="1177811" y="265542"/>
                  </a:lnTo>
                  <a:lnTo>
                    <a:pt x="1161568" y="311005"/>
                  </a:lnTo>
                  <a:lnTo>
                    <a:pt x="1136076" y="351117"/>
                  </a:lnTo>
                  <a:lnTo>
                    <a:pt x="1102629" y="384577"/>
                  </a:lnTo>
                  <a:lnTo>
                    <a:pt x="1062520" y="410087"/>
                  </a:lnTo>
                  <a:lnTo>
                    <a:pt x="1017041" y="426345"/>
                  </a:lnTo>
                  <a:lnTo>
                    <a:pt x="967486" y="432054"/>
                  </a:lnTo>
                  <a:lnTo>
                    <a:pt x="917977" y="426345"/>
                  </a:lnTo>
                  <a:lnTo>
                    <a:pt x="872532" y="410087"/>
                  </a:lnTo>
                  <a:lnTo>
                    <a:pt x="832445" y="384577"/>
                  </a:lnTo>
                  <a:lnTo>
                    <a:pt x="799012" y="351117"/>
                  </a:lnTo>
                  <a:lnTo>
                    <a:pt x="773527" y="311005"/>
                  </a:lnTo>
                  <a:lnTo>
                    <a:pt x="757287" y="265542"/>
                  </a:lnTo>
                  <a:lnTo>
                    <a:pt x="751586" y="216027"/>
                  </a:lnTo>
                  <a:close/>
                </a:path>
              </a:pathLst>
            </a:custGeom>
            <a:ln w="28575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388734" y="848360"/>
            <a:ext cx="20554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55065" algn="l"/>
              </a:tabLst>
            </a:pP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weight	parent</a:t>
            </a:r>
            <a:endParaRPr sz="28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863965" y="848360"/>
            <a:ext cx="8350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lchi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endParaRPr sz="280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117073" y="848360"/>
            <a:ext cx="85534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rchi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endParaRPr sz="28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09064" y="3605276"/>
            <a:ext cx="929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3905" algn="l"/>
              </a:tabLst>
            </a:pPr>
            <a:r>
              <a:rPr sz="2400" dirty="0">
                <a:latin typeface="Times New Roman"/>
                <a:cs typeface="Times New Roman"/>
              </a:rPr>
              <a:t>4	5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183064" y="4032567"/>
            <a:ext cx="1212215" cy="877569"/>
            <a:chOff x="3183064" y="4032567"/>
            <a:chExt cx="1212215" cy="877569"/>
          </a:xfrm>
        </p:grpSpPr>
        <p:sp>
          <p:nvSpPr>
            <p:cNvPr id="20" name="object 20"/>
            <p:cNvSpPr/>
            <p:nvPr/>
          </p:nvSpPr>
          <p:spPr>
            <a:xfrm>
              <a:off x="3197351" y="4463668"/>
              <a:ext cx="1183640" cy="432434"/>
            </a:xfrm>
            <a:custGeom>
              <a:avLst/>
              <a:gdLst/>
              <a:ahLst/>
              <a:cxnLst/>
              <a:rect l="l" t="t" r="r" b="b"/>
              <a:pathLst>
                <a:path w="1183639" h="432435">
                  <a:moveTo>
                    <a:pt x="0" y="215899"/>
                  </a:moveTo>
                  <a:lnTo>
                    <a:pt x="5701" y="166391"/>
                  </a:lnTo>
                  <a:lnTo>
                    <a:pt x="21941" y="120946"/>
                  </a:lnTo>
                  <a:lnTo>
                    <a:pt x="47426" y="80859"/>
                  </a:lnTo>
                  <a:lnTo>
                    <a:pt x="80859" y="47426"/>
                  </a:lnTo>
                  <a:lnTo>
                    <a:pt x="120946" y="21941"/>
                  </a:lnTo>
                  <a:lnTo>
                    <a:pt x="166391" y="5701"/>
                  </a:lnTo>
                  <a:lnTo>
                    <a:pt x="215900" y="0"/>
                  </a:lnTo>
                  <a:lnTo>
                    <a:pt x="265455" y="5701"/>
                  </a:lnTo>
                  <a:lnTo>
                    <a:pt x="310934" y="21941"/>
                  </a:lnTo>
                  <a:lnTo>
                    <a:pt x="351043" y="47426"/>
                  </a:lnTo>
                  <a:lnTo>
                    <a:pt x="384490" y="80859"/>
                  </a:lnTo>
                  <a:lnTo>
                    <a:pt x="409982" y="120946"/>
                  </a:lnTo>
                  <a:lnTo>
                    <a:pt x="426225" y="166391"/>
                  </a:lnTo>
                  <a:lnTo>
                    <a:pt x="431926" y="215899"/>
                  </a:lnTo>
                  <a:lnTo>
                    <a:pt x="426225" y="265455"/>
                  </a:lnTo>
                  <a:lnTo>
                    <a:pt x="409982" y="310934"/>
                  </a:lnTo>
                  <a:lnTo>
                    <a:pt x="384490" y="351043"/>
                  </a:lnTo>
                  <a:lnTo>
                    <a:pt x="351043" y="384490"/>
                  </a:lnTo>
                  <a:lnTo>
                    <a:pt x="310934" y="409982"/>
                  </a:lnTo>
                  <a:lnTo>
                    <a:pt x="265455" y="426225"/>
                  </a:lnTo>
                  <a:lnTo>
                    <a:pt x="215900" y="431926"/>
                  </a:lnTo>
                  <a:lnTo>
                    <a:pt x="166391" y="426225"/>
                  </a:lnTo>
                  <a:lnTo>
                    <a:pt x="120946" y="409982"/>
                  </a:lnTo>
                  <a:lnTo>
                    <a:pt x="80859" y="384490"/>
                  </a:lnTo>
                  <a:lnTo>
                    <a:pt x="47426" y="351043"/>
                  </a:lnTo>
                  <a:lnTo>
                    <a:pt x="21941" y="310934"/>
                  </a:lnTo>
                  <a:lnTo>
                    <a:pt x="5701" y="265455"/>
                  </a:lnTo>
                  <a:lnTo>
                    <a:pt x="0" y="215899"/>
                  </a:lnTo>
                  <a:close/>
                </a:path>
                <a:path w="1183639" h="432435">
                  <a:moveTo>
                    <a:pt x="751459" y="215899"/>
                  </a:moveTo>
                  <a:lnTo>
                    <a:pt x="757160" y="166391"/>
                  </a:lnTo>
                  <a:lnTo>
                    <a:pt x="773403" y="120946"/>
                  </a:lnTo>
                  <a:lnTo>
                    <a:pt x="798895" y="80859"/>
                  </a:lnTo>
                  <a:lnTo>
                    <a:pt x="832342" y="47426"/>
                  </a:lnTo>
                  <a:lnTo>
                    <a:pt x="872451" y="21941"/>
                  </a:lnTo>
                  <a:lnTo>
                    <a:pt x="917930" y="5701"/>
                  </a:lnTo>
                  <a:lnTo>
                    <a:pt x="967486" y="0"/>
                  </a:lnTo>
                  <a:lnTo>
                    <a:pt x="1016994" y="5701"/>
                  </a:lnTo>
                  <a:lnTo>
                    <a:pt x="1062439" y="21941"/>
                  </a:lnTo>
                  <a:lnTo>
                    <a:pt x="1102526" y="47426"/>
                  </a:lnTo>
                  <a:lnTo>
                    <a:pt x="1135959" y="80859"/>
                  </a:lnTo>
                  <a:lnTo>
                    <a:pt x="1161444" y="120946"/>
                  </a:lnTo>
                  <a:lnTo>
                    <a:pt x="1177684" y="166391"/>
                  </a:lnTo>
                  <a:lnTo>
                    <a:pt x="1183386" y="215899"/>
                  </a:lnTo>
                  <a:lnTo>
                    <a:pt x="1177684" y="265455"/>
                  </a:lnTo>
                  <a:lnTo>
                    <a:pt x="1161444" y="310934"/>
                  </a:lnTo>
                  <a:lnTo>
                    <a:pt x="1135959" y="351043"/>
                  </a:lnTo>
                  <a:lnTo>
                    <a:pt x="1102526" y="384490"/>
                  </a:lnTo>
                  <a:lnTo>
                    <a:pt x="1062439" y="409982"/>
                  </a:lnTo>
                  <a:lnTo>
                    <a:pt x="1016994" y="426225"/>
                  </a:lnTo>
                  <a:lnTo>
                    <a:pt x="967486" y="431926"/>
                  </a:lnTo>
                  <a:lnTo>
                    <a:pt x="917930" y="426225"/>
                  </a:lnTo>
                  <a:lnTo>
                    <a:pt x="872451" y="409982"/>
                  </a:lnTo>
                  <a:lnTo>
                    <a:pt x="832342" y="384490"/>
                  </a:lnTo>
                  <a:lnTo>
                    <a:pt x="798895" y="351043"/>
                  </a:lnTo>
                  <a:lnTo>
                    <a:pt x="773403" y="310934"/>
                  </a:lnTo>
                  <a:lnTo>
                    <a:pt x="757160" y="265455"/>
                  </a:lnTo>
                  <a:lnTo>
                    <a:pt x="751459" y="215899"/>
                  </a:lnTo>
                  <a:close/>
                </a:path>
              </a:pathLst>
            </a:custGeom>
            <a:ln w="28575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505072" y="4046854"/>
              <a:ext cx="611505" cy="436880"/>
            </a:xfrm>
            <a:custGeom>
              <a:avLst/>
              <a:gdLst/>
              <a:ahLst/>
              <a:cxnLst/>
              <a:rect l="l" t="t" r="r" b="b"/>
              <a:pathLst>
                <a:path w="611504" h="436879">
                  <a:moveTo>
                    <a:pt x="0" y="432054"/>
                  </a:moveTo>
                  <a:lnTo>
                    <a:pt x="242950" y="0"/>
                  </a:lnTo>
                </a:path>
                <a:path w="611504" h="436879">
                  <a:moveTo>
                    <a:pt x="368300" y="4572"/>
                  </a:moveTo>
                  <a:lnTo>
                    <a:pt x="611377" y="436499"/>
                  </a:lnTo>
                </a:path>
              </a:pathLst>
            </a:custGeom>
            <a:ln w="28575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537711" y="3612959"/>
            <a:ext cx="546100" cy="449580"/>
          </a:xfrm>
          <a:prstGeom prst="rect">
            <a:avLst/>
          </a:prstGeom>
          <a:ln w="28575">
            <a:solidFill>
              <a:srgbClr val="B42C2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6530">
              <a:lnSpc>
                <a:spcPts val="3354"/>
              </a:lnSpc>
            </a:pPr>
            <a:r>
              <a:rPr sz="2800" b="1" spc="-5" dirty="0"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509895" y="1732660"/>
            <a:ext cx="381000" cy="114300"/>
          </a:xfrm>
          <a:custGeom>
            <a:avLst/>
            <a:gdLst/>
            <a:ahLst/>
            <a:cxnLst/>
            <a:rect l="l" t="t" r="r" b="b"/>
            <a:pathLst>
              <a:path w="381000" h="114300">
                <a:moveTo>
                  <a:pt x="304800" y="57150"/>
                </a:moveTo>
                <a:lnTo>
                  <a:pt x="266700" y="114300"/>
                </a:lnTo>
                <a:lnTo>
                  <a:pt x="342900" y="76200"/>
                </a:lnTo>
                <a:lnTo>
                  <a:pt x="304800" y="76200"/>
                </a:lnTo>
                <a:lnTo>
                  <a:pt x="304800" y="57150"/>
                </a:lnTo>
                <a:close/>
              </a:path>
              <a:path w="381000" h="114300">
                <a:moveTo>
                  <a:pt x="2921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92100" y="76200"/>
                </a:lnTo>
                <a:lnTo>
                  <a:pt x="304800" y="57150"/>
                </a:lnTo>
                <a:lnTo>
                  <a:pt x="292100" y="38100"/>
                </a:lnTo>
                <a:close/>
              </a:path>
              <a:path w="381000" h="114300">
                <a:moveTo>
                  <a:pt x="342900" y="38100"/>
                </a:moveTo>
                <a:lnTo>
                  <a:pt x="304800" y="38100"/>
                </a:lnTo>
                <a:lnTo>
                  <a:pt x="304800" y="76200"/>
                </a:lnTo>
                <a:lnTo>
                  <a:pt x="342900" y="76200"/>
                </a:lnTo>
                <a:lnTo>
                  <a:pt x="381000" y="57150"/>
                </a:lnTo>
                <a:lnTo>
                  <a:pt x="342900" y="38100"/>
                </a:lnTo>
                <a:close/>
              </a:path>
              <a:path w="381000" h="114300">
                <a:moveTo>
                  <a:pt x="266700" y="0"/>
                </a:moveTo>
                <a:lnTo>
                  <a:pt x="304800" y="57150"/>
                </a:lnTo>
                <a:lnTo>
                  <a:pt x="304800" y="38100"/>
                </a:lnTo>
                <a:lnTo>
                  <a:pt x="342900" y="38100"/>
                </a:lnTo>
                <a:lnTo>
                  <a:pt x="266700" y="0"/>
                </a:lnTo>
                <a:close/>
              </a:path>
            </a:pathLst>
          </a:custGeom>
          <a:solidFill>
            <a:srgbClr val="4195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428869" y="1340053"/>
            <a:ext cx="2641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4195BD"/>
                </a:solidFill>
                <a:latin typeface="Times New Roman"/>
                <a:cs typeface="Times New Roman"/>
              </a:rPr>
              <a:t>i1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506720" y="3505834"/>
            <a:ext cx="381000" cy="114300"/>
          </a:xfrm>
          <a:custGeom>
            <a:avLst/>
            <a:gdLst/>
            <a:ahLst/>
            <a:cxnLst/>
            <a:rect l="l" t="t" r="r" b="b"/>
            <a:pathLst>
              <a:path w="381000" h="114300">
                <a:moveTo>
                  <a:pt x="304800" y="57150"/>
                </a:moveTo>
                <a:lnTo>
                  <a:pt x="266700" y="114300"/>
                </a:lnTo>
                <a:lnTo>
                  <a:pt x="342900" y="76200"/>
                </a:lnTo>
                <a:lnTo>
                  <a:pt x="304800" y="76200"/>
                </a:lnTo>
                <a:lnTo>
                  <a:pt x="304800" y="57150"/>
                </a:lnTo>
                <a:close/>
              </a:path>
              <a:path w="381000" h="114300">
                <a:moveTo>
                  <a:pt x="2921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92100" y="76200"/>
                </a:lnTo>
                <a:lnTo>
                  <a:pt x="304800" y="57150"/>
                </a:lnTo>
                <a:lnTo>
                  <a:pt x="292100" y="38100"/>
                </a:lnTo>
                <a:close/>
              </a:path>
              <a:path w="381000" h="114300">
                <a:moveTo>
                  <a:pt x="342900" y="38100"/>
                </a:moveTo>
                <a:lnTo>
                  <a:pt x="304800" y="38100"/>
                </a:lnTo>
                <a:lnTo>
                  <a:pt x="304800" y="76200"/>
                </a:lnTo>
                <a:lnTo>
                  <a:pt x="342900" y="76200"/>
                </a:lnTo>
                <a:lnTo>
                  <a:pt x="381000" y="57150"/>
                </a:lnTo>
                <a:lnTo>
                  <a:pt x="342900" y="38100"/>
                </a:lnTo>
                <a:close/>
              </a:path>
              <a:path w="381000" h="114300">
                <a:moveTo>
                  <a:pt x="266700" y="0"/>
                </a:moveTo>
                <a:lnTo>
                  <a:pt x="304800" y="57150"/>
                </a:lnTo>
                <a:lnTo>
                  <a:pt x="304800" y="38100"/>
                </a:lnTo>
                <a:lnTo>
                  <a:pt x="342900" y="38100"/>
                </a:lnTo>
                <a:lnTo>
                  <a:pt x="266700" y="0"/>
                </a:lnTo>
                <a:close/>
              </a:path>
            </a:pathLst>
          </a:custGeom>
          <a:solidFill>
            <a:srgbClr val="4195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425821" y="3129483"/>
            <a:ext cx="2641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4195BD"/>
                </a:solidFill>
                <a:latin typeface="Times New Roman"/>
                <a:cs typeface="Times New Roman"/>
              </a:rPr>
              <a:t>i2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070975" y="3966083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0" y="0"/>
                </a:moveTo>
                <a:lnTo>
                  <a:pt x="381000" y="304800"/>
                </a:lnTo>
              </a:path>
            </a:pathLst>
          </a:custGeom>
          <a:ln w="38100">
            <a:solidFill>
              <a:srgbClr val="B42C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0350500" y="3967607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0" y="0"/>
                </a:moveTo>
                <a:lnTo>
                  <a:pt x="381000" y="304800"/>
                </a:lnTo>
              </a:path>
            </a:pathLst>
          </a:custGeom>
          <a:ln w="38100">
            <a:solidFill>
              <a:srgbClr val="B42C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5951220" y="1543192"/>
          <a:ext cx="4772658" cy="3985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0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76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38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94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marL="31750">
                        <a:lnSpc>
                          <a:spcPts val="3115"/>
                        </a:lnSpc>
                      </a:pPr>
                      <a:r>
                        <a:rPr sz="28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4005">
                        <a:lnSpc>
                          <a:spcPts val="2940"/>
                        </a:lnSpc>
                      </a:pPr>
                      <a:r>
                        <a:rPr sz="2800" dirty="0">
                          <a:solidFill>
                            <a:srgbClr val="285A31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ts val="2905"/>
                        </a:lnSpc>
                      </a:pPr>
                      <a:r>
                        <a:rPr sz="2800" b="1" dirty="0">
                          <a:solidFill>
                            <a:srgbClr val="B42C2C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ts val="2965"/>
                        </a:lnSpc>
                      </a:pPr>
                      <a:r>
                        <a:rPr sz="2800" spc="-5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spc="-5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71805" algn="r">
                        <a:lnSpc>
                          <a:spcPts val="2965"/>
                        </a:lnSpc>
                      </a:pPr>
                      <a:r>
                        <a:rPr sz="2800" spc="-5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spc="-5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965"/>
                        </a:lnSpc>
                      </a:pPr>
                      <a:r>
                        <a:rPr sz="2800" spc="-5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spc="-5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28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927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2800" dirty="0">
                          <a:solidFill>
                            <a:srgbClr val="285A31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04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4295" marB="0"/>
                </a:tc>
                <a:tc>
                  <a:txBody>
                    <a:bodyPr/>
                    <a:lstStyle/>
                    <a:p>
                      <a:pPr marR="471805" algn="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429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429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8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806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2800" dirty="0">
                          <a:solidFill>
                            <a:srgbClr val="285A31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59054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62229" marB="0"/>
                </a:tc>
                <a:tc>
                  <a:txBody>
                    <a:bodyPr/>
                    <a:lstStyle/>
                    <a:p>
                      <a:pPr marR="471805" algn="r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62229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62229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28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692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800" dirty="0">
                          <a:solidFill>
                            <a:srgbClr val="285A31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46990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2800" b="1" dirty="0">
                          <a:solidFill>
                            <a:srgbClr val="B42C2C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48895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50165" marB="0"/>
                </a:tc>
                <a:tc>
                  <a:txBody>
                    <a:bodyPr/>
                    <a:lstStyle/>
                    <a:p>
                      <a:pPr marR="4718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5016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5016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28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654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800" b="1" dirty="0">
                          <a:solidFill>
                            <a:srgbClr val="B42C2C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5841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marR="471805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4200" b="1" spc="-7" baseline="-3968" dirty="0">
                          <a:solidFill>
                            <a:srgbClr val="B42C2C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sz="4200" b="1" spc="120" baseline="-3968" dirty="0">
                          <a:solidFill>
                            <a:srgbClr val="B4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4200" b="1" baseline="-3968" dirty="0">
                          <a:solidFill>
                            <a:srgbClr val="B42C2C"/>
                          </a:solidFill>
                          <a:latin typeface="Calibri"/>
                          <a:cs typeface="Calibri"/>
                        </a:rPr>
                        <a:t>3</a:t>
                      </a:r>
                      <a:r>
                        <a:rPr sz="4200" b="1" spc="-187" baseline="-3968" dirty="0">
                          <a:solidFill>
                            <a:srgbClr val="B4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5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3810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8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450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R="471805"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6034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  <a:spcBef>
                          <a:spcPts val="254"/>
                        </a:spcBef>
                      </a:pPr>
                      <a:r>
                        <a:rPr sz="28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R="471805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800" dirty="0">
                          <a:solidFill>
                            <a:srgbClr val="5A317C"/>
                          </a:solidFill>
                          <a:latin typeface="新宋体"/>
                          <a:cs typeface="新宋体"/>
                        </a:rPr>
                        <a:t>-</a:t>
                      </a:r>
                      <a:r>
                        <a:rPr sz="2800" dirty="0">
                          <a:solidFill>
                            <a:srgbClr val="5A317C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0" name="object 30"/>
          <p:cNvSpPr/>
          <p:nvPr/>
        </p:nvSpPr>
        <p:spPr>
          <a:xfrm>
            <a:off x="7951216" y="1576832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0" y="0"/>
                </a:moveTo>
                <a:lnTo>
                  <a:pt x="381000" y="304800"/>
                </a:lnTo>
              </a:path>
            </a:pathLst>
          </a:custGeom>
          <a:ln w="38100">
            <a:solidFill>
              <a:srgbClr val="B42C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951216" y="3375533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0" y="0"/>
                </a:moveTo>
                <a:lnTo>
                  <a:pt x="381000" y="304799"/>
                </a:lnTo>
              </a:path>
            </a:pathLst>
          </a:custGeom>
          <a:ln w="38100">
            <a:solidFill>
              <a:srgbClr val="B42C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32"/>
          <p:cNvGrpSpPr/>
          <p:nvPr/>
        </p:nvGrpSpPr>
        <p:grpSpPr>
          <a:xfrm>
            <a:off x="437261" y="4810252"/>
            <a:ext cx="6029325" cy="1320165"/>
            <a:chOff x="437261" y="4810252"/>
            <a:chExt cx="6029325" cy="1320165"/>
          </a:xfrm>
        </p:grpSpPr>
        <p:sp>
          <p:nvSpPr>
            <p:cNvPr id="33" name="object 33"/>
            <p:cNvSpPr/>
            <p:nvPr/>
          </p:nvSpPr>
          <p:spPr>
            <a:xfrm>
              <a:off x="470522" y="5417642"/>
              <a:ext cx="5991225" cy="708025"/>
            </a:xfrm>
            <a:custGeom>
              <a:avLst/>
              <a:gdLst/>
              <a:ahLst/>
              <a:cxnLst/>
              <a:rect l="l" t="t" r="r" b="b"/>
              <a:pathLst>
                <a:path w="5991225" h="708025">
                  <a:moveTo>
                    <a:pt x="0" y="707885"/>
                  </a:moveTo>
                  <a:lnTo>
                    <a:pt x="5991225" y="707885"/>
                  </a:lnTo>
                  <a:lnTo>
                    <a:pt x="5991225" y="0"/>
                  </a:lnTo>
                  <a:lnTo>
                    <a:pt x="0" y="0"/>
                  </a:lnTo>
                  <a:lnTo>
                    <a:pt x="0" y="707885"/>
                  </a:lnTo>
                  <a:close/>
                </a:path>
              </a:pathLst>
            </a:custGeom>
            <a:ln w="9525">
              <a:solidFill>
                <a:srgbClr val="5A317C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09003" y="4810252"/>
              <a:ext cx="368300" cy="432434"/>
            </a:xfrm>
            <a:custGeom>
              <a:avLst/>
              <a:gdLst/>
              <a:ahLst/>
              <a:cxnLst/>
              <a:rect l="l" t="t" r="r" b="b"/>
              <a:pathLst>
                <a:path w="368300" h="432435">
                  <a:moveTo>
                    <a:pt x="358673" y="0"/>
                  </a:moveTo>
                  <a:lnTo>
                    <a:pt x="0" y="254381"/>
                  </a:lnTo>
                  <a:lnTo>
                    <a:pt x="130213" y="308864"/>
                  </a:lnTo>
                  <a:lnTo>
                    <a:pt x="358673" y="0"/>
                  </a:lnTo>
                  <a:close/>
                </a:path>
                <a:path w="368300" h="432435">
                  <a:moveTo>
                    <a:pt x="368249" y="8255"/>
                  </a:moveTo>
                  <a:lnTo>
                    <a:pt x="139788" y="316357"/>
                  </a:lnTo>
                  <a:lnTo>
                    <a:pt x="226060" y="431927"/>
                  </a:lnTo>
                  <a:lnTo>
                    <a:pt x="368249" y="8255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261" y="5062220"/>
              <a:ext cx="301955" cy="160147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826719" y="4455667"/>
            <a:ext cx="5469255" cy="1621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5930" algn="ctr">
              <a:lnSpc>
                <a:spcPts val="2875"/>
              </a:lnSpc>
              <a:spcBef>
                <a:spcPts val="100"/>
              </a:spcBef>
              <a:tabLst>
                <a:tab pos="1207135" algn="l"/>
              </a:tabLst>
            </a:pPr>
            <a:r>
              <a:rPr sz="2400" dirty="0">
                <a:latin typeface="Times New Roman"/>
                <a:cs typeface="Times New Roman"/>
              </a:rPr>
              <a:t>2	3</a:t>
            </a:r>
            <a:endParaRPr sz="2400">
              <a:latin typeface="Times New Roman"/>
              <a:cs typeface="Times New Roman"/>
            </a:endParaRPr>
          </a:p>
          <a:p>
            <a:pPr marL="399415">
              <a:lnSpc>
                <a:spcPts val="3354"/>
              </a:lnSpc>
            </a:pPr>
            <a:r>
              <a:rPr sz="2800" spc="-5" dirty="0">
                <a:solidFill>
                  <a:srgbClr val="285A31"/>
                </a:solidFill>
                <a:latin typeface="微软雅黑"/>
                <a:cs typeface="微软雅黑"/>
              </a:rPr>
              <a:t>算法描述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：</a:t>
            </a:r>
            <a:endParaRPr sz="2800">
              <a:latin typeface="微软雅黑"/>
              <a:cs typeface="微软雅黑"/>
            </a:endParaRPr>
          </a:p>
          <a:p>
            <a:pPr marL="12700" marR="5080">
              <a:lnSpc>
                <a:spcPts val="2400"/>
              </a:lnSpc>
              <a:spcBef>
                <a:spcPts val="1575"/>
              </a:spcBef>
              <a:tabLst>
                <a:tab pos="2743835" algn="l"/>
                <a:tab pos="2804795" algn="l"/>
              </a:tabLst>
            </a:pPr>
            <a:r>
              <a:rPr sz="2200" spc="-10" dirty="0">
                <a:solidFill>
                  <a:srgbClr val="B42C2C"/>
                </a:solidFill>
                <a:latin typeface="Times New Roman"/>
                <a:cs typeface="Times New Roman"/>
              </a:rPr>
              <a:t>huffTree[i1].parent</a:t>
            </a:r>
            <a:r>
              <a:rPr sz="2200" spc="55" dirty="0">
                <a:solidFill>
                  <a:srgbClr val="B42C2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B42C2C"/>
                </a:solidFill>
                <a:latin typeface="Times New Roman"/>
                <a:cs typeface="Times New Roman"/>
              </a:rPr>
              <a:t>=</a:t>
            </a:r>
            <a:r>
              <a:rPr sz="2200" spc="10" dirty="0">
                <a:solidFill>
                  <a:srgbClr val="B42C2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B42C2C"/>
                </a:solidFill>
                <a:latin typeface="Times New Roman"/>
                <a:cs typeface="Times New Roman"/>
              </a:rPr>
              <a:t>k;		</a:t>
            </a:r>
            <a:r>
              <a:rPr sz="2200" spc="-10" dirty="0">
                <a:solidFill>
                  <a:srgbClr val="B42C2C"/>
                </a:solidFill>
                <a:latin typeface="Times New Roman"/>
                <a:cs typeface="Times New Roman"/>
              </a:rPr>
              <a:t>huffTree[i2].parent </a:t>
            </a:r>
            <a:r>
              <a:rPr sz="2200" spc="-5" dirty="0">
                <a:solidFill>
                  <a:srgbClr val="B42C2C"/>
                </a:solidFill>
                <a:latin typeface="Times New Roman"/>
                <a:cs typeface="Times New Roman"/>
              </a:rPr>
              <a:t>= k; </a:t>
            </a:r>
            <a:r>
              <a:rPr sz="2200" spc="-535" dirty="0">
                <a:solidFill>
                  <a:srgbClr val="B42C2C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B42C2C"/>
                </a:solidFill>
                <a:latin typeface="Times New Roman"/>
                <a:cs typeface="Times New Roman"/>
              </a:rPr>
              <a:t>huffTree[k].lchild</a:t>
            </a:r>
            <a:r>
              <a:rPr sz="2200" spc="50" dirty="0">
                <a:solidFill>
                  <a:srgbClr val="B42C2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B42C2C"/>
                </a:solidFill>
                <a:latin typeface="Times New Roman"/>
                <a:cs typeface="Times New Roman"/>
              </a:rPr>
              <a:t>=</a:t>
            </a:r>
            <a:r>
              <a:rPr sz="2200" dirty="0">
                <a:solidFill>
                  <a:srgbClr val="B42C2C"/>
                </a:solidFill>
                <a:latin typeface="Times New Roman"/>
                <a:cs typeface="Times New Roman"/>
              </a:rPr>
              <a:t> i1;	</a:t>
            </a:r>
            <a:r>
              <a:rPr sz="2200" spc="-10" dirty="0">
                <a:solidFill>
                  <a:srgbClr val="B42C2C"/>
                </a:solidFill>
                <a:latin typeface="Times New Roman"/>
                <a:cs typeface="Times New Roman"/>
              </a:rPr>
              <a:t>huffTree[k].rchild</a:t>
            </a:r>
            <a:r>
              <a:rPr sz="2200" spc="30" dirty="0">
                <a:solidFill>
                  <a:srgbClr val="B42C2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B42C2C"/>
                </a:solidFill>
                <a:latin typeface="Times New Roman"/>
                <a:cs typeface="Times New Roman"/>
              </a:rPr>
              <a:t>=</a:t>
            </a:r>
            <a:r>
              <a:rPr sz="2200" spc="-30" dirty="0">
                <a:solidFill>
                  <a:srgbClr val="B42C2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B42C2C"/>
                </a:solidFill>
                <a:latin typeface="Times New Roman"/>
                <a:cs typeface="Times New Roman"/>
              </a:rPr>
              <a:t>i2;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513832" y="4231259"/>
            <a:ext cx="381000" cy="114300"/>
          </a:xfrm>
          <a:custGeom>
            <a:avLst/>
            <a:gdLst/>
            <a:ahLst/>
            <a:cxnLst/>
            <a:rect l="l" t="t" r="r" b="b"/>
            <a:pathLst>
              <a:path w="381000" h="114300">
                <a:moveTo>
                  <a:pt x="304800" y="57150"/>
                </a:moveTo>
                <a:lnTo>
                  <a:pt x="266700" y="114300"/>
                </a:lnTo>
                <a:lnTo>
                  <a:pt x="342900" y="76200"/>
                </a:lnTo>
                <a:lnTo>
                  <a:pt x="304800" y="76200"/>
                </a:lnTo>
                <a:lnTo>
                  <a:pt x="304800" y="57150"/>
                </a:lnTo>
                <a:close/>
              </a:path>
              <a:path w="381000" h="114300">
                <a:moveTo>
                  <a:pt x="2921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92100" y="76200"/>
                </a:lnTo>
                <a:lnTo>
                  <a:pt x="304800" y="57150"/>
                </a:lnTo>
                <a:lnTo>
                  <a:pt x="292100" y="38100"/>
                </a:lnTo>
                <a:close/>
              </a:path>
              <a:path w="381000" h="114300">
                <a:moveTo>
                  <a:pt x="342900" y="38100"/>
                </a:moveTo>
                <a:lnTo>
                  <a:pt x="304800" y="38100"/>
                </a:lnTo>
                <a:lnTo>
                  <a:pt x="304800" y="76200"/>
                </a:lnTo>
                <a:lnTo>
                  <a:pt x="342900" y="76200"/>
                </a:lnTo>
                <a:lnTo>
                  <a:pt x="381000" y="57150"/>
                </a:lnTo>
                <a:lnTo>
                  <a:pt x="342900" y="38100"/>
                </a:lnTo>
                <a:close/>
              </a:path>
              <a:path w="381000" h="114300">
                <a:moveTo>
                  <a:pt x="266700" y="0"/>
                </a:moveTo>
                <a:lnTo>
                  <a:pt x="304800" y="57150"/>
                </a:lnTo>
                <a:lnTo>
                  <a:pt x="304800" y="38100"/>
                </a:lnTo>
                <a:lnTo>
                  <a:pt x="342900" y="38100"/>
                </a:lnTo>
                <a:lnTo>
                  <a:pt x="266700" y="0"/>
                </a:lnTo>
                <a:close/>
              </a:path>
            </a:pathLst>
          </a:custGeom>
          <a:solidFill>
            <a:srgbClr val="B4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5496305" y="3855211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B42C2C"/>
                </a:solidFill>
                <a:latin typeface="Times New Roman"/>
                <a:cs typeface="Times New Roman"/>
              </a:rPr>
              <a:t>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0" name="object 3"/>
          <p:cNvSpPr/>
          <p:nvPr/>
        </p:nvSpPr>
        <p:spPr>
          <a:xfrm>
            <a:off x="542925" y="100964"/>
            <a:ext cx="2376170" cy="540385"/>
          </a:xfrm>
          <a:custGeom>
            <a:avLst/>
            <a:gdLst/>
            <a:ahLst/>
            <a:cxnLst/>
            <a:rect l="l" t="t" r="r" b="b"/>
            <a:pathLst>
              <a:path w="2376170" h="540385">
                <a:moveTo>
                  <a:pt x="2286000" y="0"/>
                </a:moveTo>
                <a:lnTo>
                  <a:pt x="90004" y="0"/>
                </a:lnTo>
                <a:lnTo>
                  <a:pt x="54971" y="7068"/>
                </a:lnTo>
                <a:lnTo>
                  <a:pt x="26362" y="26352"/>
                </a:lnTo>
                <a:lnTo>
                  <a:pt x="7073" y="54971"/>
                </a:lnTo>
                <a:lnTo>
                  <a:pt x="0" y="90042"/>
                </a:lnTo>
                <a:lnTo>
                  <a:pt x="0" y="449960"/>
                </a:lnTo>
                <a:lnTo>
                  <a:pt x="7073" y="485032"/>
                </a:lnTo>
                <a:lnTo>
                  <a:pt x="26362" y="513651"/>
                </a:lnTo>
                <a:lnTo>
                  <a:pt x="54971" y="532935"/>
                </a:lnTo>
                <a:lnTo>
                  <a:pt x="90004" y="540003"/>
                </a:lnTo>
                <a:lnTo>
                  <a:pt x="2286000" y="540003"/>
                </a:lnTo>
                <a:lnTo>
                  <a:pt x="2321018" y="532935"/>
                </a:lnTo>
                <a:lnTo>
                  <a:pt x="2349642" y="513651"/>
                </a:lnTo>
                <a:lnTo>
                  <a:pt x="2368956" y="485032"/>
                </a:lnTo>
                <a:lnTo>
                  <a:pt x="2376043" y="449960"/>
                </a:lnTo>
                <a:lnTo>
                  <a:pt x="2376043" y="90042"/>
                </a:lnTo>
                <a:lnTo>
                  <a:pt x="2368956" y="54971"/>
                </a:lnTo>
                <a:lnTo>
                  <a:pt x="2349642" y="26352"/>
                </a:lnTo>
                <a:lnTo>
                  <a:pt x="2321018" y="7068"/>
                </a:lnTo>
                <a:lnTo>
                  <a:pt x="2286000" y="0"/>
                </a:lnTo>
                <a:close/>
              </a:path>
            </a:pathLst>
          </a:custGeom>
          <a:solidFill>
            <a:srgbClr val="5A31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"/>
          <p:cNvSpPr txBox="1">
            <a:spLocks noGrp="1"/>
          </p:cNvSpPr>
          <p:nvPr>
            <p:ph type="title"/>
          </p:nvPr>
        </p:nvSpPr>
        <p:spPr>
          <a:xfrm>
            <a:off x="716991" y="141809"/>
            <a:ext cx="206375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solidFill>
                  <a:schemeClr val="bg1"/>
                </a:solidFill>
              </a:rPr>
              <a:t>哈夫</a:t>
            </a:r>
            <a:r>
              <a:rPr sz="2800" spc="-10" dirty="0">
                <a:solidFill>
                  <a:schemeClr val="bg1"/>
                </a:solidFill>
              </a:rPr>
              <a:t>曼</a:t>
            </a:r>
            <a:r>
              <a:rPr sz="2800" spc="-5" dirty="0">
                <a:solidFill>
                  <a:schemeClr val="bg1"/>
                </a:solidFill>
              </a:rPr>
              <a:t>算</a:t>
            </a:r>
            <a:r>
              <a:rPr sz="2800" spc="-10" dirty="0">
                <a:solidFill>
                  <a:schemeClr val="bg1"/>
                </a:solidFill>
              </a:rPr>
              <a:t>法</a:t>
            </a:r>
          </a:p>
        </p:txBody>
      </p:sp>
    </p:spTree>
    <p:extLst>
      <p:ext uri="{BB962C8B-B14F-4D97-AF65-F5344CB8AC3E}">
        <p14:creationId xmlns:p14="http://schemas.microsoft.com/office/powerpoint/2010/main" val="992729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48643" y="2017267"/>
            <a:ext cx="152400" cy="25355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algn="just">
              <a:lnSpc>
                <a:spcPts val="1000"/>
              </a:lnSpc>
              <a:spcBef>
                <a:spcPts val="2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数 据 结 构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880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（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从 概 念 到 实 现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975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640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清 华 大 学 出 版 社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8871" y="997661"/>
            <a:ext cx="14465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B42C2C"/>
                </a:solidFill>
                <a:latin typeface="微软雅黑"/>
                <a:cs typeface="微软雅黑"/>
              </a:rPr>
              <a:t>【程序</a:t>
            </a:r>
            <a:r>
              <a:rPr sz="2800" spc="-5" dirty="0">
                <a:solidFill>
                  <a:srgbClr val="B42C2C"/>
                </a:solidFill>
                <a:latin typeface="微软雅黑"/>
                <a:cs typeface="微软雅黑"/>
              </a:rPr>
              <a:t>】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87879" y="737857"/>
            <a:ext cx="9067800" cy="5324475"/>
          </a:xfrm>
          <a:custGeom>
            <a:avLst/>
            <a:gdLst/>
            <a:ahLst/>
            <a:cxnLst/>
            <a:rect l="l" t="t" r="r" b="b"/>
            <a:pathLst>
              <a:path w="9067800" h="5324475">
                <a:moveTo>
                  <a:pt x="0" y="5324475"/>
                </a:moveTo>
                <a:lnTo>
                  <a:pt x="9067800" y="5324475"/>
                </a:lnTo>
                <a:lnTo>
                  <a:pt x="9067800" y="0"/>
                </a:lnTo>
                <a:lnTo>
                  <a:pt x="0" y="0"/>
                </a:lnTo>
                <a:lnTo>
                  <a:pt x="0" y="5324475"/>
                </a:lnTo>
                <a:close/>
              </a:path>
            </a:pathLst>
          </a:custGeom>
          <a:ln w="9525">
            <a:solidFill>
              <a:srgbClr val="5A317C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166873" y="731266"/>
            <a:ext cx="6294755" cy="970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52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void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HuffmanTree(</a:t>
            </a:r>
            <a:r>
              <a:rPr sz="2000" spc="-20" dirty="0">
                <a:latin typeface="Times New Roman"/>
                <a:cs typeface="Times New Roman"/>
              </a:rPr>
              <a:t>ElemType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Times New Roman"/>
                <a:cs typeface="Times New Roman"/>
              </a:rPr>
              <a:t>huffTree[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Times New Roman"/>
                <a:cs typeface="Times New Roman"/>
              </a:rPr>
              <a:t>],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w[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Times New Roman"/>
                <a:cs typeface="Times New Roman"/>
              </a:rPr>
              <a:t>],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int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)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ts val="2400"/>
              </a:lnSpc>
            </a:pPr>
            <a:r>
              <a:rPr sz="2200" spc="-5" dirty="0">
                <a:latin typeface="Times New Roman"/>
                <a:cs typeface="Times New Roman"/>
              </a:rPr>
              <a:t>{</a:t>
            </a:r>
            <a:endParaRPr sz="2200" dirty="0">
              <a:latin typeface="Times New Roman"/>
              <a:cs typeface="Times New Roman"/>
            </a:endParaRPr>
          </a:p>
          <a:p>
            <a:pPr marL="289560">
              <a:lnSpc>
                <a:spcPts val="2520"/>
              </a:lnSpc>
            </a:pPr>
            <a:r>
              <a:rPr sz="2200" spc="-5" dirty="0">
                <a:latin typeface="Times New Roman"/>
                <a:cs typeface="Times New Roman"/>
              </a:rPr>
              <a:t>int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i,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k,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i1,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i2;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73266" y="1628393"/>
            <a:ext cx="492633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5A317C"/>
                </a:solidFill>
                <a:latin typeface="Times New Roman"/>
                <a:cs typeface="Times New Roman"/>
              </a:rPr>
              <a:t>/</a:t>
            </a:r>
            <a:r>
              <a:rPr sz="2200" dirty="0">
                <a:solidFill>
                  <a:srgbClr val="5A317C"/>
                </a:solidFill>
                <a:latin typeface="Times New Roman"/>
                <a:cs typeface="Times New Roman"/>
              </a:rPr>
              <a:t>*</a:t>
            </a:r>
            <a:r>
              <a:rPr sz="2200" spc="-5" dirty="0">
                <a:solidFill>
                  <a:srgbClr val="5A317C"/>
                </a:solidFill>
                <a:latin typeface="宋体"/>
                <a:cs typeface="宋体"/>
              </a:rPr>
              <a:t>初始化，所有结点均没有双亲和</a:t>
            </a:r>
            <a:r>
              <a:rPr sz="2200" dirty="0">
                <a:solidFill>
                  <a:srgbClr val="5A317C"/>
                </a:solidFill>
                <a:latin typeface="宋体"/>
                <a:cs typeface="宋体"/>
              </a:rPr>
              <a:t>孩子</a:t>
            </a:r>
            <a:r>
              <a:rPr sz="2200" dirty="0">
                <a:solidFill>
                  <a:srgbClr val="5A317C"/>
                </a:solidFill>
                <a:latin typeface="Times New Roman"/>
                <a:cs typeface="Times New Roman"/>
              </a:rPr>
              <a:t>*/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85586" y="2238248"/>
            <a:ext cx="543433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13685" algn="l"/>
              </a:tabLst>
            </a:pPr>
            <a:r>
              <a:rPr sz="2200" spc="-10" dirty="0">
                <a:solidFill>
                  <a:srgbClr val="5A317C"/>
                </a:solidFill>
                <a:latin typeface="Times New Roman"/>
                <a:cs typeface="Times New Roman"/>
              </a:rPr>
              <a:t>huffTree[i].lchild</a:t>
            </a:r>
            <a:r>
              <a:rPr sz="2200" spc="55" dirty="0">
                <a:solidFill>
                  <a:srgbClr val="5A317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5A317C"/>
                </a:solidFill>
                <a:latin typeface="Times New Roman"/>
                <a:cs typeface="Times New Roman"/>
              </a:rPr>
              <a:t>=</a:t>
            </a:r>
            <a:r>
              <a:rPr sz="2200" dirty="0">
                <a:solidFill>
                  <a:srgbClr val="5A317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5A317C"/>
                </a:solidFill>
                <a:latin typeface="宋体"/>
                <a:cs typeface="宋体"/>
              </a:rPr>
              <a:t>-</a:t>
            </a:r>
            <a:r>
              <a:rPr sz="2200" dirty="0">
                <a:solidFill>
                  <a:srgbClr val="5A317C"/>
                </a:solidFill>
                <a:latin typeface="Times New Roman"/>
                <a:cs typeface="Times New Roman"/>
              </a:rPr>
              <a:t>1;	</a:t>
            </a:r>
            <a:r>
              <a:rPr sz="2200" spc="-10" dirty="0">
                <a:solidFill>
                  <a:srgbClr val="5A317C"/>
                </a:solidFill>
                <a:latin typeface="Times New Roman"/>
                <a:cs typeface="Times New Roman"/>
              </a:rPr>
              <a:t>huffTree[i].rchild</a:t>
            </a:r>
            <a:r>
              <a:rPr sz="2200" spc="15" dirty="0">
                <a:solidFill>
                  <a:srgbClr val="5A317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5A317C"/>
                </a:solidFill>
                <a:latin typeface="Times New Roman"/>
                <a:cs typeface="Times New Roman"/>
              </a:rPr>
              <a:t>=</a:t>
            </a:r>
            <a:r>
              <a:rPr sz="2200" spc="-35" dirty="0">
                <a:solidFill>
                  <a:srgbClr val="5A317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5A317C"/>
                </a:solidFill>
                <a:latin typeface="宋体"/>
                <a:cs typeface="宋体"/>
              </a:rPr>
              <a:t>-</a:t>
            </a:r>
            <a:r>
              <a:rPr sz="2200" dirty="0">
                <a:solidFill>
                  <a:srgbClr val="5A317C"/>
                </a:solidFill>
                <a:latin typeface="Times New Roman"/>
                <a:cs typeface="Times New Roman"/>
              </a:rPr>
              <a:t>1;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44242" y="1628393"/>
            <a:ext cx="2959100" cy="1271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510"/>
              </a:lnSpc>
              <a:spcBef>
                <a:spcPts val="95"/>
              </a:spcBef>
            </a:pPr>
            <a:r>
              <a:rPr sz="2200" spc="-5" dirty="0">
                <a:solidFill>
                  <a:srgbClr val="5A317C"/>
                </a:solidFill>
                <a:latin typeface="Times New Roman"/>
                <a:cs typeface="Times New Roman"/>
              </a:rPr>
              <a:t>for</a:t>
            </a:r>
            <a:r>
              <a:rPr sz="2200" spc="10" dirty="0">
                <a:solidFill>
                  <a:srgbClr val="5A317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5A317C"/>
                </a:solidFill>
                <a:latin typeface="Times New Roman"/>
                <a:cs typeface="Times New Roman"/>
              </a:rPr>
              <a:t>(i =</a:t>
            </a:r>
            <a:r>
              <a:rPr sz="2200" spc="-10" dirty="0">
                <a:solidFill>
                  <a:srgbClr val="5A317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5A317C"/>
                </a:solidFill>
                <a:latin typeface="Times New Roman"/>
                <a:cs typeface="Times New Roman"/>
              </a:rPr>
              <a:t>0;</a:t>
            </a:r>
            <a:r>
              <a:rPr sz="2200" spc="5" dirty="0">
                <a:solidFill>
                  <a:srgbClr val="5A317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5A317C"/>
                </a:solidFill>
                <a:latin typeface="Times New Roman"/>
                <a:cs typeface="Times New Roman"/>
              </a:rPr>
              <a:t>i</a:t>
            </a:r>
            <a:r>
              <a:rPr sz="2200" spc="-15" dirty="0">
                <a:solidFill>
                  <a:srgbClr val="5A317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5A317C"/>
                </a:solidFill>
                <a:latin typeface="Times New Roman"/>
                <a:cs typeface="Times New Roman"/>
              </a:rPr>
              <a:t>&lt;</a:t>
            </a:r>
            <a:r>
              <a:rPr sz="2200" spc="-10" dirty="0">
                <a:solidFill>
                  <a:srgbClr val="5A317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5A317C"/>
                </a:solidFill>
                <a:latin typeface="Times New Roman"/>
                <a:cs typeface="Times New Roman"/>
              </a:rPr>
              <a:t>2*n</a:t>
            </a:r>
            <a:r>
              <a:rPr sz="2200" dirty="0">
                <a:solidFill>
                  <a:srgbClr val="5A317C"/>
                </a:solidFill>
                <a:latin typeface="宋体"/>
                <a:cs typeface="宋体"/>
              </a:rPr>
              <a:t>-</a:t>
            </a:r>
            <a:r>
              <a:rPr sz="2200" dirty="0">
                <a:solidFill>
                  <a:srgbClr val="5A317C"/>
                </a:solidFill>
                <a:latin typeface="Times New Roman"/>
                <a:cs typeface="Times New Roman"/>
              </a:rPr>
              <a:t>1;</a:t>
            </a:r>
            <a:r>
              <a:rPr sz="2200" spc="-10" dirty="0">
                <a:solidFill>
                  <a:srgbClr val="5A317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5A317C"/>
                </a:solidFill>
                <a:latin typeface="Times New Roman"/>
                <a:cs typeface="Times New Roman"/>
              </a:rPr>
              <a:t>i++)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2400"/>
              </a:lnSpc>
            </a:pPr>
            <a:r>
              <a:rPr sz="2200" spc="-5" dirty="0">
                <a:solidFill>
                  <a:srgbClr val="5A317C"/>
                </a:solidFill>
                <a:latin typeface="Times New Roman"/>
                <a:cs typeface="Times New Roman"/>
              </a:rPr>
              <a:t>{</a:t>
            </a:r>
            <a:endParaRPr sz="2200">
              <a:latin typeface="Times New Roman"/>
              <a:cs typeface="Times New Roman"/>
            </a:endParaRPr>
          </a:p>
          <a:p>
            <a:pPr marL="292735">
              <a:lnSpc>
                <a:spcPts val="2400"/>
              </a:lnSpc>
            </a:pPr>
            <a:r>
              <a:rPr sz="2200" spc="-10" dirty="0">
                <a:solidFill>
                  <a:srgbClr val="5A317C"/>
                </a:solidFill>
                <a:latin typeface="Times New Roman"/>
                <a:cs typeface="Times New Roman"/>
              </a:rPr>
              <a:t>huffTree[i].parent</a:t>
            </a:r>
            <a:r>
              <a:rPr sz="2200" spc="5" dirty="0">
                <a:solidFill>
                  <a:srgbClr val="5A317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5A317C"/>
                </a:solidFill>
                <a:latin typeface="Times New Roman"/>
                <a:cs typeface="Times New Roman"/>
              </a:rPr>
              <a:t>=</a:t>
            </a:r>
            <a:r>
              <a:rPr sz="2200" spc="-30" dirty="0">
                <a:solidFill>
                  <a:srgbClr val="5A317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5A317C"/>
                </a:solidFill>
                <a:latin typeface="宋体"/>
                <a:cs typeface="宋体"/>
              </a:rPr>
              <a:t>-</a:t>
            </a:r>
            <a:r>
              <a:rPr sz="2200" dirty="0">
                <a:solidFill>
                  <a:srgbClr val="5A317C"/>
                </a:solidFill>
                <a:latin typeface="Times New Roman"/>
                <a:cs typeface="Times New Roman"/>
              </a:rPr>
              <a:t>1;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2510"/>
              </a:lnSpc>
            </a:pPr>
            <a:r>
              <a:rPr sz="2200" spc="-5" dirty="0">
                <a:solidFill>
                  <a:srgbClr val="5A317C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78778" y="3462020"/>
            <a:ext cx="171958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B42C2C"/>
                </a:solidFill>
                <a:latin typeface="Times New Roman"/>
                <a:cs typeface="Times New Roman"/>
              </a:rPr>
              <a:t>/*</a:t>
            </a:r>
            <a:r>
              <a:rPr sz="2200" dirty="0">
                <a:solidFill>
                  <a:srgbClr val="B42C2C"/>
                </a:solidFill>
                <a:latin typeface="Times New Roman"/>
                <a:cs typeface="Times New Roman"/>
              </a:rPr>
              <a:t>n</a:t>
            </a:r>
            <a:r>
              <a:rPr sz="2200" dirty="0">
                <a:solidFill>
                  <a:srgbClr val="B42C2C"/>
                </a:solidFill>
                <a:latin typeface="宋体"/>
                <a:cs typeface="宋体"/>
              </a:rPr>
              <a:t>-</a:t>
            </a:r>
            <a:r>
              <a:rPr sz="2200" dirty="0">
                <a:solidFill>
                  <a:srgbClr val="B42C2C"/>
                </a:solidFill>
                <a:latin typeface="Times New Roman"/>
                <a:cs typeface="Times New Roman"/>
              </a:rPr>
              <a:t>1</a:t>
            </a:r>
            <a:r>
              <a:rPr sz="2200" spc="-5" dirty="0">
                <a:solidFill>
                  <a:srgbClr val="B42C2C"/>
                </a:solidFill>
                <a:latin typeface="宋体"/>
                <a:cs typeface="宋体"/>
              </a:rPr>
              <a:t>次合并</a:t>
            </a:r>
            <a:r>
              <a:rPr sz="2200" dirty="0">
                <a:solidFill>
                  <a:srgbClr val="B42C2C"/>
                </a:solidFill>
                <a:latin typeface="Times New Roman"/>
                <a:cs typeface="Times New Roman"/>
              </a:rPr>
              <a:t>*/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24657" y="4071620"/>
            <a:ext cx="79863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97860" algn="l"/>
              </a:tabLst>
            </a:pPr>
            <a:r>
              <a:rPr sz="2200" spc="-10" dirty="0">
                <a:solidFill>
                  <a:srgbClr val="4195BD"/>
                </a:solidFill>
                <a:latin typeface="Times New Roman"/>
                <a:cs typeface="Times New Roman"/>
              </a:rPr>
              <a:t>Select(huffTree,</a:t>
            </a:r>
            <a:r>
              <a:rPr sz="2200" spc="35" dirty="0">
                <a:solidFill>
                  <a:srgbClr val="4195BD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4195BD"/>
                </a:solidFill>
                <a:latin typeface="Times New Roman"/>
                <a:cs typeface="Times New Roman"/>
              </a:rPr>
              <a:t>i1,</a:t>
            </a:r>
            <a:r>
              <a:rPr sz="2200" spc="5" dirty="0">
                <a:solidFill>
                  <a:srgbClr val="4195BD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4195BD"/>
                </a:solidFill>
                <a:latin typeface="Times New Roman"/>
                <a:cs typeface="Times New Roman"/>
              </a:rPr>
              <a:t>i2);	</a:t>
            </a:r>
            <a:r>
              <a:rPr sz="2200" dirty="0">
                <a:solidFill>
                  <a:srgbClr val="4195BD"/>
                </a:solidFill>
                <a:latin typeface="Times New Roman"/>
                <a:cs typeface="Times New Roman"/>
              </a:rPr>
              <a:t>/*</a:t>
            </a:r>
            <a:r>
              <a:rPr sz="2200" spc="-5" dirty="0">
                <a:solidFill>
                  <a:srgbClr val="4195BD"/>
                </a:solidFill>
                <a:latin typeface="宋体"/>
                <a:cs typeface="宋体"/>
              </a:rPr>
              <a:t>权值最小的两个根结点下标</a:t>
            </a:r>
            <a:r>
              <a:rPr sz="2200" dirty="0">
                <a:solidFill>
                  <a:srgbClr val="4195BD"/>
                </a:solidFill>
                <a:latin typeface="宋体"/>
                <a:cs typeface="宋体"/>
              </a:rPr>
              <a:t>为</a:t>
            </a:r>
            <a:r>
              <a:rPr sz="2200" dirty="0">
                <a:solidFill>
                  <a:srgbClr val="4195BD"/>
                </a:solidFill>
                <a:latin typeface="Times New Roman"/>
                <a:cs typeface="Times New Roman"/>
              </a:rPr>
              <a:t>i1</a:t>
            </a:r>
            <a:r>
              <a:rPr sz="2200" spc="-5" dirty="0">
                <a:solidFill>
                  <a:srgbClr val="4195BD"/>
                </a:solidFill>
                <a:latin typeface="宋体"/>
                <a:cs typeface="宋体"/>
              </a:rPr>
              <a:t>和</a:t>
            </a:r>
            <a:r>
              <a:rPr sz="2200" spc="-5" dirty="0">
                <a:solidFill>
                  <a:srgbClr val="4195BD"/>
                </a:solidFill>
                <a:latin typeface="Times New Roman"/>
                <a:cs typeface="Times New Roman"/>
              </a:rPr>
              <a:t>i2*/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24657" y="4373321"/>
            <a:ext cx="7212330" cy="97028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400"/>
              </a:lnSpc>
              <a:spcBef>
                <a:spcPts val="375"/>
              </a:spcBef>
              <a:tabLst>
                <a:tab pos="2741930" algn="l"/>
                <a:tab pos="2804795" algn="l"/>
              </a:tabLst>
            </a:pPr>
            <a:r>
              <a:rPr sz="2200" spc="-10" dirty="0">
                <a:solidFill>
                  <a:srgbClr val="B42C2C"/>
                </a:solidFill>
                <a:latin typeface="Times New Roman"/>
                <a:cs typeface="Times New Roman"/>
              </a:rPr>
              <a:t>huffTree[k].weight</a:t>
            </a:r>
            <a:r>
              <a:rPr sz="2200" spc="30" dirty="0">
                <a:solidFill>
                  <a:srgbClr val="B42C2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B42C2C"/>
                </a:solidFill>
                <a:latin typeface="Times New Roman"/>
                <a:cs typeface="Times New Roman"/>
              </a:rPr>
              <a:t>=</a:t>
            </a:r>
            <a:r>
              <a:rPr sz="2200" dirty="0">
                <a:solidFill>
                  <a:srgbClr val="B42C2C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B42C2C"/>
                </a:solidFill>
                <a:latin typeface="Times New Roman"/>
                <a:cs typeface="Times New Roman"/>
              </a:rPr>
              <a:t>huffTree[i1].weight</a:t>
            </a:r>
            <a:r>
              <a:rPr sz="2200" spc="35" dirty="0">
                <a:solidFill>
                  <a:srgbClr val="B42C2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B42C2C"/>
                </a:solidFill>
                <a:latin typeface="Times New Roman"/>
                <a:cs typeface="Times New Roman"/>
              </a:rPr>
              <a:t>+ </a:t>
            </a:r>
            <a:r>
              <a:rPr sz="2200" spc="-10" dirty="0">
                <a:solidFill>
                  <a:srgbClr val="B42C2C"/>
                </a:solidFill>
                <a:latin typeface="Times New Roman"/>
                <a:cs typeface="Times New Roman"/>
              </a:rPr>
              <a:t>huffTree[i2].weight; </a:t>
            </a:r>
            <a:r>
              <a:rPr sz="2200" spc="-535" dirty="0">
                <a:solidFill>
                  <a:srgbClr val="B42C2C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B42C2C"/>
                </a:solidFill>
                <a:latin typeface="Times New Roman"/>
                <a:cs typeface="Times New Roman"/>
              </a:rPr>
              <a:t>huffTree[i1].parent</a:t>
            </a:r>
            <a:r>
              <a:rPr sz="2200" spc="45" dirty="0">
                <a:solidFill>
                  <a:srgbClr val="B42C2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B42C2C"/>
                </a:solidFill>
                <a:latin typeface="Times New Roman"/>
                <a:cs typeface="Times New Roman"/>
              </a:rPr>
              <a:t>=</a:t>
            </a:r>
            <a:r>
              <a:rPr sz="2200" spc="5" dirty="0">
                <a:solidFill>
                  <a:srgbClr val="B42C2C"/>
                </a:solidFill>
                <a:latin typeface="Times New Roman"/>
                <a:cs typeface="Times New Roman"/>
              </a:rPr>
              <a:t> k;		</a:t>
            </a:r>
            <a:r>
              <a:rPr sz="2200" spc="-10" dirty="0">
                <a:solidFill>
                  <a:srgbClr val="B42C2C"/>
                </a:solidFill>
                <a:latin typeface="Times New Roman"/>
                <a:cs typeface="Times New Roman"/>
              </a:rPr>
              <a:t>huffTree[i2].parent</a:t>
            </a:r>
            <a:r>
              <a:rPr sz="2200" spc="40" dirty="0">
                <a:solidFill>
                  <a:srgbClr val="B42C2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B42C2C"/>
                </a:solidFill>
                <a:latin typeface="Times New Roman"/>
                <a:cs typeface="Times New Roman"/>
              </a:rPr>
              <a:t>=</a:t>
            </a:r>
            <a:r>
              <a:rPr sz="2200" spc="-10" dirty="0">
                <a:solidFill>
                  <a:srgbClr val="B42C2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B42C2C"/>
                </a:solidFill>
                <a:latin typeface="Times New Roman"/>
                <a:cs typeface="Times New Roman"/>
              </a:rPr>
              <a:t>k; </a:t>
            </a:r>
            <a:r>
              <a:rPr sz="2200" dirty="0">
                <a:solidFill>
                  <a:srgbClr val="B42C2C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B42C2C"/>
                </a:solidFill>
                <a:latin typeface="Times New Roman"/>
                <a:cs typeface="Times New Roman"/>
              </a:rPr>
              <a:t>huffTree[k].lchild</a:t>
            </a:r>
            <a:r>
              <a:rPr sz="2200" spc="55" dirty="0">
                <a:solidFill>
                  <a:srgbClr val="B42C2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B42C2C"/>
                </a:solidFill>
                <a:latin typeface="Times New Roman"/>
                <a:cs typeface="Times New Roman"/>
              </a:rPr>
              <a:t>=</a:t>
            </a:r>
            <a:r>
              <a:rPr sz="2200" dirty="0">
                <a:solidFill>
                  <a:srgbClr val="B42C2C"/>
                </a:solidFill>
                <a:latin typeface="Times New Roman"/>
                <a:cs typeface="Times New Roman"/>
              </a:rPr>
              <a:t> i1;	</a:t>
            </a:r>
            <a:r>
              <a:rPr sz="2200" spc="-10" dirty="0">
                <a:solidFill>
                  <a:srgbClr val="B42C2C"/>
                </a:solidFill>
                <a:latin typeface="Times New Roman"/>
                <a:cs typeface="Times New Roman"/>
              </a:rPr>
              <a:t>huffTree[k].rchild</a:t>
            </a:r>
            <a:r>
              <a:rPr sz="2200" spc="40" dirty="0">
                <a:solidFill>
                  <a:srgbClr val="B42C2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B42C2C"/>
                </a:solidFill>
                <a:latin typeface="Times New Roman"/>
                <a:cs typeface="Times New Roman"/>
              </a:rPr>
              <a:t>= </a:t>
            </a:r>
            <a:r>
              <a:rPr sz="2200" dirty="0">
                <a:solidFill>
                  <a:srgbClr val="B42C2C"/>
                </a:solidFill>
                <a:latin typeface="Times New Roman"/>
                <a:cs typeface="Times New Roman"/>
              </a:rPr>
              <a:t>i2;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66873" y="5288026"/>
            <a:ext cx="436880" cy="681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9560">
              <a:lnSpc>
                <a:spcPts val="2585"/>
              </a:lnSpc>
              <a:spcBef>
                <a:spcPts val="95"/>
              </a:spcBef>
            </a:pPr>
            <a:r>
              <a:rPr sz="2200" spc="-5" dirty="0">
                <a:solidFill>
                  <a:srgbClr val="B42C2C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2585"/>
              </a:lnSpc>
            </a:pPr>
            <a:r>
              <a:rPr sz="2200" spc="-5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48298" y="2875914"/>
            <a:ext cx="42284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285A31"/>
                </a:solidFill>
                <a:latin typeface="Times New Roman"/>
                <a:cs typeface="Times New Roman"/>
              </a:rPr>
              <a:t>/</a:t>
            </a:r>
            <a:r>
              <a:rPr sz="2200" dirty="0">
                <a:solidFill>
                  <a:srgbClr val="285A31"/>
                </a:solidFill>
                <a:latin typeface="Times New Roman"/>
                <a:cs typeface="Times New Roman"/>
              </a:rPr>
              <a:t>*</a:t>
            </a:r>
            <a:r>
              <a:rPr sz="2200" spc="-5" dirty="0">
                <a:solidFill>
                  <a:srgbClr val="285A31"/>
                </a:solidFill>
                <a:latin typeface="宋体"/>
                <a:cs typeface="宋体"/>
              </a:rPr>
              <a:t>构造</a:t>
            </a:r>
            <a:r>
              <a:rPr sz="2200" dirty="0">
                <a:solidFill>
                  <a:srgbClr val="285A31"/>
                </a:solidFill>
                <a:latin typeface="Times New Roman"/>
                <a:cs typeface="Times New Roman"/>
              </a:rPr>
              <a:t>n</a:t>
            </a:r>
            <a:r>
              <a:rPr sz="2200" spc="-5" dirty="0">
                <a:solidFill>
                  <a:srgbClr val="285A31"/>
                </a:solidFill>
                <a:latin typeface="宋体"/>
                <a:cs typeface="宋体"/>
              </a:rPr>
              <a:t>棵只含有根结点的二叉树</a:t>
            </a:r>
            <a:r>
              <a:rPr sz="2200" dirty="0">
                <a:solidFill>
                  <a:srgbClr val="285A31"/>
                </a:solidFill>
                <a:latin typeface="Times New Roman"/>
                <a:cs typeface="Times New Roman"/>
              </a:rPr>
              <a:t>*/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44242" y="2875914"/>
            <a:ext cx="3212465" cy="124841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07975" marR="5080" indent="-280670">
              <a:lnSpc>
                <a:spcPts val="2380"/>
              </a:lnSpc>
              <a:spcBef>
                <a:spcPts val="390"/>
              </a:spcBef>
            </a:pPr>
            <a:r>
              <a:rPr sz="2200" spc="-5" dirty="0">
                <a:solidFill>
                  <a:srgbClr val="285A31"/>
                </a:solidFill>
                <a:latin typeface="Times New Roman"/>
                <a:cs typeface="Times New Roman"/>
              </a:rPr>
              <a:t>for</a:t>
            </a:r>
            <a:r>
              <a:rPr sz="2200" spc="10" dirty="0">
                <a:solidFill>
                  <a:srgbClr val="285A31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285A31"/>
                </a:solidFill>
                <a:latin typeface="Times New Roman"/>
                <a:cs typeface="Times New Roman"/>
              </a:rPr>
              <a:t>(i</a:t>
            </a:r>
            <a:r>
              <a:rPr sz="2200" dirty="0">
                <a:solidFill>
                  <a:srgbClr val="285A31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285A31"/>
                </a:solidFill>
                <a:latin typeface="Times New Roman"/>
                <a:cs typeface="Times New Roman"/>
              </a:rPr>
              <a:t>=</a:t>
            </a:r>
            <a:r>
              <a:rPr sz="2200" spc="-10" dirty="0">
                <a:solidFill>
                  <a:srgbClr val="285A31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285A31"/>
                </a:solidFill>
                <a:latin typeface="Times New Roman"/>
                <a:cs typeface="Times New Roman"/>
              </a:rPr>
              <a:t>0;</a:t>
            </a:r>
            <a:r>
              <a:rPr sz="2200" spc="10" dirty="0">
                <a:solidFill>
                  <a:srgbClr val="285A31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285A31"/>
                </a:solidFill>
                <a:latin typeface="Times New Roman"/>
                <a:cs typeface="Times New Roman"/>
              </a:rPr>
              <a:t>i</a:t>
            </a:r>
            <a:r>
              <a:rPr sz="2200" spc="-15" dirty="0">
                <a:solidFill>
                  <a:srgbClr val="285A31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285A31"/>
                </a:solidFill>
                <a:latin typeface="Times New Roman"/>
                <a:cs typeface="Times New Roman"/>
              </a:rPr>
              <a:t>&lt; n;</a:t>
            </a:r>
            <a:r>
              <a:rPr sz="2200" spc="5" dirty="0">
                <a:solidFill>
                  <a:srgbClr val="285A31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285A31"/>
                </a:solidFill>
                <a:latin typeface="Times New Roman"/>
                <a:cs typeface="Times New Roman"/>
              </a:rPr>
              <a:t>i++) </a:t>
            </a:r>
            <a:r>
              <a:rPr sz="2200" dirty="0">
                <a:solidFill>
                  <a:srgbClr val="285A31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285A31"/>
                </a:solidFill>
                <a:latin typeface="Times New Roman"/>
                <a:cs typeface="Times New Roman"/>
              </a:rPr>
              <a:t>huffTree[i].weight</a:t>
            </a:r>
            <a:r>
              <a:rPr sz="2200" dirty="0">
                <a:solidFill>
                  <a:srgbClr val="285A31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285A31"/>
                </a:solidFill>
                <a:latin typeface="Times New Roman"/>
                <a:cs typeface="Times New Roman"/>
              </a:rPr>
              <a:t>=</a:t>
            </a:r>
            <a:r>
              <a:rPr sz="2200" spc="-40" dirty="0">
                <a:solidFill>
                  <a:srgbClr val="285A31"/>
                </a:solidFill>
                <a:latin typeface="Times New Roman"/>
                <a:cs typeface="Times New Roman"/>
              </a:rPr>
              <a:t> </a:t>
            </a:r>
            <a:r>
              <a:rPr sz="2200" spc="-15" dirty="0">
                <a:solidFill>
                  <a:srgbClr val="285A31"/>
                </a:solidFill>
                <a:latin typeface="Times New Roman"/>
                <a:cs typeface="Times New Roman"/>
              </a:rPr>
              <a:t>w[i];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2065"/>
              </a:lnSpc>
            </a:pPr>
            <a:r>
              <a:rPr sz="2200" spc="-5" dirty="0">
                <a:solidFill>
                  <a:srgbClr val="B42C2C"/>
                </a:solidFill>
                <a:latin typeface="Times New Roman"/>
                <a:cs typeface="Times New Roman"/>
              </a:rPr>
              <a:t>for</a:t>
            </a:r>
            <a:r>
              <a:rPr sz="2200" spc="5" dirty="0">
                <a:solidFill>
                  <a:srgbClr val="B42C2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B42C2C"/>
                </a:solidFill>
                <a:latin typeface="Times New Roman"/>
                <a:cs typeface="Times New Roman"/>
              </a:rPr>
              <a:t>(k =</a:t>
            </a:r>
            <a:r>
              <a:rPr sz="2200" spc="-10" dirty="0">
                <a:solidFill>
                  <a:srgbClr val="B42C2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B42C2C"/>
                </a:solidFill>
                <a:latin typeface="Times New Roman"/>
                <a:cs typeface="Times New Roman"/>
              </a:rPr>
              <a:t>n;</a:t>
            </a:r>
            <a:r>
              <a:rPr sz="2200" spc="-15" dirty="0">
                <a:solidFill>
                  <a:srgbClr val="B42C2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B42C2C"/>
                </a:solidFill>
                <a:latin typeface="Times New Roman"/>
                <a:cs typeface="Times New Roman"/>
              </a:rPr>
              <a:t>k</a:t>
            </a:r>
            <a:r>
              <a:rPr sz="2200" dirty="0">
                <a:solidFill>
                  <a:srgbClr val="B42C2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B42C2C"/>
                </a:solidFill>
                <a:latin typeface="Times New Roman"/>
                <a:cs typeface="Times New Roman"/>
              </a:rPr>
              <a:t>&lt;</a:t>
            </a:r>
            <a:r>
              <a:rPr sz="2200" spc="-10" dirty="0">
                <a:solidFill>
                  <a:srgbClr val="B42C2C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B42C2C"/>
                </a:solidFill>
                <a:latin typeface="Times New Roman"/>
                <a:cs typeface="Times New Roman"/>
              </a:rPr>
              <a:t>2*n</a:t>
            </a:r>
            <a:r>
              <a:rPr sz="2200" dirty="0">
                <a:solidFill>
                  <a:srgbClr val="B42C2C"/>
                </a:solidFill>
                <a:latin typeface="宋体"/>
                <a:cs typeface="宋体"/>
              </a:rPr>
              <a:t>-</a:t>
            </a:r>
            <a:r>
              <a:rPr sz="2200" dirty="0">
                <a:solidFill>
                  <a:srgbClr val="B42C2C"/>
                </a:solidFill>
                <a:latin typeface="Times New Roman"/>
                <a:cs typeface="Times New Roman"/>
              </a:rPr>
              <a:t>1;</a:t>
            </a:r>
            <a:r>
              <a:rPr sz="2200" spc="-20" dirty="0">
                <a:solidFill>
                  <a:srgbClr val="B42C2C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B42C2C"/>
                </a:solidFill>
                <a:latin typeface="Times New Roman"/>
                <a:cs typeface="Times New Roman"/>
              </a:rPr>
              <a:t>k++)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2510"/>
              </a:lnSpc>
            </a:pPr>
            <a:r>
              <a:rPr sz="2200" spc="-5" dirty="0">
                <a:solidFill>
                  <a:srgbClr val="B42C2C"/>
                </a:solidFill>
                <a:latin typeface="Times New Roman"/>
                <a:cs typeface="Times New Roman"/>
              </a:rPr>
              <a:t>{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8" name="object 3"/>
          <p:cNvSpPr/>
          <p:nvPr/>
        </p:nvSpPr>
        <p:spPr>
          <a:xfrm>
            <a:off x="542925" y="100964"/>
            <a:ext cx="2376170" cy="540385"/>
          </a:xfrm>
          <a:custGeom>
            <a:avLst/>
            <a:gdLst/>
            <a:ahLst/>
            <a:cxnLst/>
            <a:rect l="l" t="t" r="r" b="b"/>
            <a:pathLst>
              <a:path w="2376170" h="540385">
                <a:moveTo>
                  <a:pt x="2286000" y="0"/>
                </a:moveTo>
                <a:lnTo>
                  <a:pt x="90004" y="0"/>
                </a:lnTo>
                <a:lnTo>
                  <a:pt x="54971" y="7068"/>
                </a:lnTo>
                <a:lnTo>
                  <a:pt x="26362" y="26352"/>
                </a:lnTo>
                <a:lnTo>
                  <a:pt x="7073" y="54971"/>
                </a:lnTo>
                <a:lnTo>
                  <a:pt x="0" y="90042"/>
                </a:lnTo>
                <a:lnTo>
                  <a:pt x="0" y="449960"/>
                </a:lnTo>
                <a:lnTo>
                  <a:pt x="7073" y="485032"/>
                </a:lnTo>
                <a:lnTo>
                  <a:pt x="26362" y="513651"/>
                </a:lnTo>
                <a:lnTo>
                  <a:pt x="54971" y="532935"/>
                </a:lnTo>
                <a:lnTo>
                  <a:pt x="90004" y="540003"/>
                </a:lnTo>
                <a:lnTo>
                  <a:pt x="2286000" y="540003"/>
                </a:lnTo>
                <a:lnTo>
                  <a:pt x="2321018" y="532935"/>
                </a:lnTo>
                <a:lnTo>
                  <a:pt x="2349642" y="513651"/>
                </a:lnTo>
                <a:lnTo>
                  <a:pt x="2368956" y="485032"/>
                </a:lnTo>
                <a:lnTo>
                  <a:pt x="2376043" y="449960"/>
                </a:lnTo>
                <a:lnTo>
                  <a:pt x="2376043" y="90042"/>
                </a:lnTo>
                <a:lnTo>
                  <a:pt x="2368956" y="54971"/>
                </a:lnTo>
                <a:lnTo>
                  <a:pt x="2349642" y="26352"/>
                </a:lnTo>
                <a:lnTo>
                  <a:pt x="2321018" y="7068"/>
                </a:lnTo>
                <a:lnTo>
                  <a:pt x="2286000" y="0"/>
                </a:lnTo>
                <a:close/>
              </a:path>
            </a:pathLst>
          </a:custGeom>
          <a:solidFill>
            <a:srgbClr val="5A31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4"/>
          <p:cNvSpPr txBox="1">
            <a:spLocks noGrp="1"/>
          </p:cNvSpPr>
          <p:nvPr>
            <p:ph type="title"/>
          </p:nvPr>
        </p:nvSpPr>
        <p:spPr>
          <a:xfrm>
            <a:off x="716991" y="141809"/>
            <a:ext cx="206375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solidFill>
                  <a:schemeClr val="bg1"/>
                </a:solidFill>
              </a:rPr>
              <a:t>哈夫</a:t>
            </a:r>
            <a:r>
              <a:rPr sz="2800" spc="-10" dirty="0">
                <a:solidFill>
                  <a:schemeClr val="bg1"/>
                </a:solidFill>
              </a:rPr>
              <a:t>曼</a:t>
            </a:r>
            <a:r>
              <a:rPr sz="2800" spc="-5" dirty="0">
                <a:solidFill>
                  <a:schemeClr val="bg1"/>
                </a:solidFill>
              </a:rPr>
              <a:t>算</a:t>
            </a:r>
            <a:r>
              <a:rPr sz="2800" spc="-10" dirty="0">
                <a:solidFill>
                  <a:schemeClr val="bg1"/>
                </a:solidFill>
              </a:rPr>
              <a:t>法</a:t>
            </a:r>
          </a:p>
        </p:txBody>
      </p:sp>
    </p:spTree>
    <p:extLst>
      <p:ext uri="{BB962C8B-B14F-4D97-AF65-F5344CB8AC3E}">
        <p14:creationId xmlns:p14="http://schemas.microsoft.com/office/powerpoint/2010/main" val="2876998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931160" y="3899789"/>
            <a:ext cx="6569075" cy="725805"/>
          </a:xfrm>
          <a:custGeom>
            <a:avLst/>
            <a:gdLst/>
            <a:ahLst/>
            <a:cxnLst/>
            <a:rect l="l" t="t" r="r" b="b"/>
            <a:pathLst>
              <a:path w="6569075" h="725804">
                <a:moveTo>
                  <a:pt x="6447917" y="0"/>
                </a:moveTo>
                <a:lnTo>
                  <a:pt x="0" y="0"/>
                </a:lnTo>
                <a:lnTo>
                  <a:pt x="0" y="604774"/>
                </a:lnTo>
                <a:lnTo>
                  <a:pt x="120903" y="725678"/>
                </a:lnTo>
                <a:lnTo>
                  <a:pt x="6568821" y="725678"/>
                </a:lnTo>
                <a:lnTo>
                  <a:pt x="6568821" y="121031"/>
                </a:lnTo>
                <a:lnTo>
                  <a:pt x="6447917" y="0"/>
                </a:lnTo>
                <a:close/>
              </a:path>
            </a:pathLst>
          </a:custGeom>
          <a:solidFill>
            <a:srgbClr val="5C2F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225922" y="4126483"/>
            <a:ext cx="626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Microsoft YaHei UI"/>
                <a:cs typeface="Microsoft YaHei UI"/>
              </a:rPr>
              <a:t>5-7-2</a:t>
            </a:r>
            <a:endParaRPr sz="1800">
              <a:latin typeface="Microsoft YaHei UI"/>
              <a:cs typeface="Microsoft YaHei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26022" y="4126483"/>
            <a:ext cx="1168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Microsoft YaHei UI"/>
                <a:cs typeface="Microsoft YaHei UI"/>
              </a:rPr>
              <a:t>哈夫曼编码</a:t>
            </a:r>
            <a:endParaRPr sz="1800">
              <a:latin typeface="Microsoft YaHei UI"/>
              <a:cs typeface="Microsoft YaHei U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40482" y="1998345"/>
            <a:ext cx="7670800" cy="1345565"/>
          </a:xfrm>
          <a:custGeom>
            <a:avLst/>
            <a:gdLst/>
            <a:ahLst/>
            <a:cxnLst/>
            <a:rect l="l" t="t" r="r" b="b"/>
            <a:pathLst>
              <a:path w="7670800" h="1345564">
                <a:moveTo>
                  <a:pt x="7446137" y="0"/>
                </a:moveTo>
                <a:lnTo>
                  <a:pt x="224155" y="0"/>
                </a:lnTo>
                <a:lnTo>
                  <a:pt x="178972" y="4558"/>
                </a:lnTo>
                <a:lnTo>
                  <a:pt x="136892" y="17631"/>
                </a:lnTo>
                <a:lnTo>
                  <a:pt x="98815" y="38315"/>
                </a:lnTo>
                <a:lnTo>
                  <a:pt x="65643" y="65706"/>
                </a:lnTo>
                <a:lnTo>
                  <a:pt x="38274" y="98902"/>
                </a:lnTo>
                <a:lnTo>
                  <a:pt x="17611" y="136999"/>
                </a:lnTo>
                <a:lnTo>
                  <a:pt x="4552" y="179093"/>
                </a:lnTo>
                <a:lnTo>
                  <a:pt x="0" y="224281"/>
                </a:lnTo>
                <a:lnTo>
                  <a:pt x="0" y="1121028"/>
                </a:lnTo>
                <a:lnTo>
                  <a:pt x="4552" y="1166253"/>
                </a:lnTo>
                <a:lnTo>
                  <a:pt x="17611" y="1208365"/>
                </a:lnTo>
                <a:lnTo>
                  <a:pt x="38274" y="1246464"/>
                </a:lnTo>
                <a:lnTo>
                  <a:pt x="65643" y="1279652"/>
                </a:lnTo>
                <a:lnTo>
                  <a:pt x="98815" y="1307029"/>
                </a:lnTo>
                <a:lnTo>
                  <a:pt x="136892" y="1327697"/>
                </a:lnTo>
                <a:lnTo>
                  <a:pt x="178972" y="1340757"/>
                </a:lnTo>
                <a:lnTo>
                  <a:pt x="224155" y="1345310"/>
                </a:lnTo>
                <a:lnTo>
                  <a:pt x="7446137" y="1345310"/>
                </a:lnTo>
                <a:lnTo>
                  <a:pt x="7491319" y="1340757"/>
                </a:lnTo>
                <a:lnTo>
                  <a:pt x="7533399" y="1327697"/>
                </a:lnTo>
                <a:lnTo>
                  <a:pt x="7571476" y="1307029"/>
                </a:lnTo>
                <a:lnTo>
                  <a:pt x="7604648" y="1279652"/>
                </a:lnTo>
                <a:lnTo>
                  <a:pt x="7632017" y="1246464"/>
                </a:lnTo>
                <a:lnTo>
                  <a:pt x="7652680" y="1208365"/>
                </a:lnTo>
                <a:lnTo>
                  <a:pt x="7665739" y="1166253"/>
                </a:lnTo>
                <a:lnTo>
                  <a:pt x="7670292" y="1121028"/>
                </a:lnTo>
                <a:lnTo>
                  <a:pt x="7670292" y="224281"/>
                </a:lnTo>
                <a:lnTo>
                  <a:pt x="7665739" y="179093"/>
                </a:lnTo>
                <a:lnTo>
                  <a:pt x="7652680" y="136999"/>
                </a:lnTo>
                <a:lnTo>
                  <a:pt x="7632017" y="98902"/>
                </a:lnTo>
                <a:lnTo>
                  <a:pt x="7604648" y="65706"/>
                </a:lnTo>
                <a:lnTo>
                  <a:pt x="7571476" y="38315"/>
                </a:lnTo>
                <a:lnTo>
                  <a:pt x="7533399" y="17631"/>
                </a:lnTo>
                <a:lnTo>
                  <a:pt x="7491319" y="4558"/>
                </a:lnTo>
                <a:lnTo>
                  <a:pt x="74461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235570" y="2332064"/>
            <a:ext cx="6527408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33245" algn="l"/>
              </a:tabLst>
            </a:pPr>
            <a:r>
              <a:rPr dirty="0" err="1">
                <a:solidFill>
                  <a:srgbClr val="5C2F7C"/>
                </a:solidFill>
                <a:latin typeface="Microsoft YaHei UI"/>
                <a:cs typeface="Microsoft YaHei UI"/>
              </a:rPr>
              <a:t>第五章</a:t>
            </a:r>
            <a:r>
              <a:rPr lang="en-US" dirty="0">
                <a:solidFill>
                  <a:srgbClr val="5C2F7C"/>
                </a:solidFill>
                <a:latin typeface="Microsoft YaHei UI"/>
                <a:cs typeface="Microsoft YaHei UI"/>
              </a:rPr>
              <a:t> </a:t>
            </a:r>
            <a:r>
              <a:rPr dirty="0">
                <a:solidFill>
                  <a:srgbClr val="5C2F7C"/>
                </a:solidFill>
                <a:latin typeface="Microsoft YaHei UI"/>
                <a:cs typeface="Microsoft YaHei UI"/>
              </a:rPr>
              <a:t>	树和二叉树</a:t>
            </a:r>
          </a:p>
        </p:txBody>
      </p:sp>
    </p:spTree>
    <p:extLst>
      <p:ext uri="{BB962C8B-B14F-4D97-AF65-F5344CB8AC3E}">
        <p14:creationId xmlns:p14="http://schemas.microsoft.com/office/powerpoint/2010/main" val="3351383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48643" y="2017267"/>
            <a:ext cx="152400" cy="25355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algn="just">
              <a:lnSpc>
                <a:spcPts val="1000"/>
              </a:lnSpc>
              <a:spcBef>
                <a:spcPts val="2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数 据 结 构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880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（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从 概 念 到 实 现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975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640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清 华 大 学 出 版 社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42925" y="100964"/>
            <a:ext cx="1152525" cy="540385"/>
          </a:xfrm>
          <a:custGeom>
            <a:avLst/>
            <a:gdLst/>
            <a:ahLst/>
            <a:cxnLst/>
            <a:rect l="l" t="t" r="r" b="b"/>
            <a:pathLst>
              <a:path w="1152525" h="540385">
                <a:moveTo>
                  <a:pt x="1061974" y="0"/>
                </a:moveTo>
                <a:lnTo>
                  <a:pt x="90004" y="0"/>
                </a:lnTo>
                <a:lnTo>
                  <a:pt x="54971" y="7068"/>
                </a:lnTo>
                <a:lnTo>
                  <a:pt x="26362" y="26352"/>
                </a:lnTo>
                <a:lnTo>
                  <a:pt x="7073" y="54971"/>
                </a:lnTo>
                <a:lnTo>
                  <a:pt x="0" y="90042"/>
                </a:lnTo>
                <a:lnTo>
                  <a:pt x="0" y="449960"/>
                </a:lnTo>
                <a:lnTo>
                  <a:pt x="7073" y="485032"/>
                </a:lnTo>
                <a:lnTo>
                  <a:pt x="26362" y="513651"/>
                </a:lnTo>
                <a:lnTo>
                  <a:pt x="54971" y="532935"/>
                </a:lnTo>
                <a:lnTo>
                  <a:pt x="90004" y="540003"/>
                </a:lnTo>
                <a:lnTo>
                  <a:pt x="1061974" y="540003"/>
                </a:lnTo>
                <a:lnTo>
                  <a:pt x="1097045" y="532935"/>
                </a:lnTo>
                <a:lnTo>
                  <a:pt x="1125664" y="513651"/>
                </a:lnTo>
                <a:lnTo>
                  <a:pt x="1144948" y="485032"/>
                </a:lnTo>
                <a:lnTo>
                  <a:pt x="1152017" y="449960"/>
                </a:lnTo>
                <a:lnTo>
                  <a:pt x="1152017" y="90042"/>
                </a:lnTo>
                <a:lnTo>
                  <a:pt x="1144948" y="54971"/>
                </a:lnTo>
                <a:lnTo>
                  <a:pt x="1125664" y="26352"/>
                </a:lnTo>
                <a:lnTo>
                  <a:pt x="1097045" y="7068"/>
                </a:lnTo>
                <a:lnTo>
                  <a:pt x="1061974" y="0"/>
                </a:lnTo>
                <a:close/>
              </a:path>
            </a:pathLst>
          </a:custGeom>
          <a:solidFill>
            <a:srgbClr val="5A31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6991" y="141809"/>
            <a:ext cx="84264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chemeClr val="bg1"/>
                </a:solidFill>
              </a:rPr>
              <a:t>编码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985770" y="2403729"/>
          <a:ext cx="2385060" cy="92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78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2280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微软雅黑"/>
                          <a:cs typeface="微软雅黑"/>
                        </a:rPr>
                        <a:t>酸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507C7C"/>
                      </a:solidFill>
                      <a:prstDash val="solid"/>
                    </a:lnL>
                    <a:lnT w="28575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微软雅黑"/>
                          <a:cs typeface="微软雅黑"/>
                        </a:rPr>
                        <a:t>甜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38100" marB="0">
                    <a:lnT w="28575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微软雅黑"/>
                          <a:cs typeface="微软雅黑"/>
                        </a:rPr>
                        <a:t>苦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38100" marB="0">
                    <a:lnT w="28575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微软雅黑"/>
                          <a:cs typeface="微软雅黑"/>
                        </a:rPr>
                        <a:t>辣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38100" marB="0">
                    <a:lnR w="28575">
                      <a:solidFill>
                        <a:srgbClr val="507C7C"/>
                      </a:solidFill>
                      <a:prstDash val="solid"/>
                    </a:lnR>
                    <a:lnT w="28575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00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28575">
                      <a:solidFill>
                        <a:srgbClr val="507C7C"/>
                      </a:solidFill>
                      <a:prstDash val="solid"/>
                    </a:lnL>
                    <a:lnT w="38100">
                      <a:solidFill>
                        <a:srgbClr val="507C7C"/>
                      </a:solidFill>
                      <a:prstDash val="solid"/>
                    </a:lnT>
                    <a:lnB w="28575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01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T w="38100">
                      <a:solidFill>
                        <a:srgbClr val="507C7C"/>
                      </a:solidFill>
                      <a:prstDash val="solid"/>
                    </a:lnT>
                    <a:lnB w="28575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T w="38100">
                      <a:solidFill>
                        <a:srgbClr val="507C7C"/>
                      </a:solidFill>
                      <a:prstDash val="solid"/>
                    </a:lnT>
                    <a:lnB w="28575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45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R w="28575">
                      <a:solidFill>
                        <a:srgbClr val="507C7C"/>
                      </a:solidFill>
                      <a:prstDash val="solid"/>
                    </a:lnR>
                    <a:lnT w="38100">
                      <a:solidFill>
                        <a:srgbClr val="507C7C"/>
                      </a:solidFill>
                      <a:prstDash val="solid"/>
                    </a:lnT>
                    <a:lnB w="28575">
                      <a:solidFill>
                        <a:srgbClr val="507C7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639244" y="2403729"/>
          <a:ext cx="3994784" cy="927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3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5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92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微软雅黑"/>
                          <a:cs typeface="微软雅黑"/>
                        </a:rPr>
                        <a:t>酸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507C7C"/>
                      </a:solidFill>
                      <a:prstDash val="solid"/>
                    </a:lnL>
                    <a:lnT w="28575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04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微软雅黑"/>
                          <a:cs typeface="微软雅黑"/>
                        </a:rPr>
                        <a:t>甜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38100" marB="0">
                    <a:lnT w="28575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微软雅黑"/>
                          <a:cs typeface="微软雅黑"/>
                        </a:rPr>
                        <a:t>苦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38100" marB="0">
                    <a:lnT w="28575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3030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微软雅黑"/>
                          <a:cs typeface="微软雅黑"/>
                        </a:rPr>
                        <a:t>辣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38100" marB="0">
                    <a:lnT w="28575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591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微软雅黑"/>
                          <a:cs typeface="微软雅黑"/>
                        </a:rPr>
                        <a:t>咸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38100" marB="0">
                    <a:lnT w="28575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051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微软雅黑"/>
                          <a:cs typeface="微软雅黑"/>
                        </a:rPr>
                        <a:t>麻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38100" marB="0">
                    <a:lnR w="28575">
                      <a:solidFill>
                        <a:srgbClr val="507C7C"/>
                      </a:solidFill>
                      <a:prstDash val="solid"/>
                    </a:lnR>
                    <a:lnT w="28575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000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507C7C"/>
                      </a:solidFill>
                      <a:prstDash val="solid"/>
                    </a:lnL>
                    <a:lnT w="38100">
                      <a:solidFill>
                        <a:srgbClr val="507C7C"/>
                      </a:solidFill>
                      <a:prstDash val="solid"/>
                    </a:lnT>
                    <a:lnB w="28575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001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T w="38100">
                      <a:solidFill>
                        <a:srgbClr val="507C7C"/>
                      </a:solidFill>
                      <a:prstDash val="solid"/>
                    </a:lnT>
                    <a:lnB w="28575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010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T w="38100">
                      <a:solidFill>
                        <a:srgbClr val="507C7C"/>
                      </a:solidFill>
                      <a:prstDash val="solid"/>
                    </a:lnT>
                    <a:lnB w="28575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265" algn="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400" spc="-3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011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T w="38100">
                      <a:solidFill>
                        <a:srgbClr val="507C7C"/>
                      </a:solidFill>
                      <a:prstDash val="solid"/>
                    </a:lnT>
                    <a:lnB w="28575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100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T w="38100">
                      <a:solidFill>
                        <a:srgbClr val="507C7C"/>
                      </a:solidFill>
                      <a:prstDash val="solid"/>
                    </a:lnT>
                    <a:lnB w="28575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101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R w="28575">
                      <a:solidFill>
                        <a:srgbClr val="507C7C"/>
                      </a:solidFill>
                      <a:prstDash val="solid"/>
                    </a:lnR>
                    <a:lnT w="38100">
                      <a:solidFill>
                        <a:srgbClr val="507C7C"/>
                      </a:solidFill>
                      <a:prstDash val="solid"/>
                    </a:lnT>
                    <a:lnB w="28575">
                      <a:solidFill>
                        <a:srgbClr val="507C7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810031" y="1128141"/>
            <a:ext cx="4596130" cy="4091304"/>
            <a:chOff x="810031" y="1128141"/>
            <a:chExt cx="4596130" cy="4091304"/>
          </a:xfrm>
        </p:grpSpPr>
        <p:sp>
          <p:nvSpPr>
            <p:cNvPr id="8" name="object 8"/>
            <p:cNvSpPr/>
            <p:nvPr/>
          </p:nvSpPr>
          <p:spPr>
            <a:xfrm>
              <a:off x="886790" y="1128141"/>
              <a:ext cx="386080" cy="387985"/>
            </a:xfrm>
            <a:custGeom>
              <a:avLst/>
              <a:gdLst/>
              <a:ahLst/>
              <a:cxnLst/>
              <a:rect l="l" t="t" r="r" b="b"/>
              <a:pathLst>
                <a:path w="386080" h="387984">
                  <a:moveTo>
                    <a:pt x="216966" y="385825"/>
                  </a:moveTo>
                  <a:lnTo>
                    <a:pt x="208203" y="385825"/>
                  </a:lnTo>
                  <a:lnTo>
                    <a:pt x="210388" y="387985"/>
                  </a:lnTo>
                  <a:lnTo>
                    <a:pt x="214769" y="387985"/>
                  </a:lnTo>
                  <a:lnTo>
                    <a:pt x="216966" y="385825"/>
                  </a:lnTo>
                  <a:close/>
                </a:path>
                <a:path w="386080" h="387984">
                  <a:moveTo>
                    <a:pt x="109575" y="123444"/>
                  </a:moveTo>
                  <a:lnTo>
                    <a:pt x="51776" y="134762"/>
                  </a:lnTo>
                  <a:lnTo>
                    <a:pt x="2197" y="167512"/>
                  </a:lnTo>
                  <a:lnTo>
                    <a:pt x="0" y="171958"/>
                  </a:lnTo>
                  <a:lnTo>
                    <a:pt x="0" y="176403"/>
                  </a:lnTo>
                  <a:lnTo>
                    <a:pt x="2197" y="180721"/>
                  </a:lnTo>
                  <a:lnTo>
                    <a:pt x="206006" y="385825"/>
                  </a:lnTo>
                  <a:lnTo>
                    <a:pt x="219163" y="385825"/>
                  </a:lnTo>
                  <a:lnTo>
                    <a:pt x="242890" y="353067"/>
                  </a:lnTo>
                  <a:lnTo>
                    <a:pt x="257784" y="315785"/>
                  </a:lnTo>
                  <a:lnTo>
                    <a:pt x="263230" y="276026"/>
                  </a:lnTo>
                  <a:lnTo>
                    <a:pt x="258610" y="235838"/>
                  </a:lnTo>
                  <a:lnTo>
                    <a:pt x="317779" y="176403"/>
                  </a:lnTo>
                  <a:lnTo>
                    <a:pt x="352278" y="176403"/>
                  </a:lnTo>
                  <a:lnTo>
                    <a:pt x="383463" y="143256"/>
                  </a:lnTo>
                  <a:lnTo>
                    <a:pt x="385749" y="141097"/>
                  </a:lnTo>
                  <a:lnTo>
                    <a:pt x="385749" y="136651"/>
                  </a:lnTo>
                  <a:lnTo>
                    <a:pt x="383463" y="134493"/>
                  </a:lnTo>
                  <a:lnTo>
                    <a:pt x="381330" y="134493"/>
                  </a:lnTo>
                  <a:lnTo>
                    <a:pt x="374764" y="127888"/>
                  </a:lnTo>
                  <a:lnTo>
                    <a:pt x="151218" y="127888"/>
                  </a:lnTo>
                  <a:lnTo>
                    <a:pt x="141324" y="126283"/>
                  </a:lnTo>
                  <a:lnTo>
                    <a:pt x="131221" y="124856"/>
                  </a:lnTo>
                  <a:lnTo>
                    <a:pt x="120706" y="123834"/>
                  </a:lnTo>
                  <a:lnTo>
                    <a:pt x="109575" y="123444"/>
                  </a:lnTo>
                  <a:close/>
                </a:path>
                <a:path w="386080" h="387984">
                  <a:moveTo>
                    <a:pt x="352278" y="176403"/>
                  </a:moveTo>
                  <a:lnTo>
                    <a:pt x="317779" y="176403"/>
                  </a:lnTo>
                  <a:lnTo>
                    <a:pt x="328739" y="187451"/>
                  </a:lnTo>
                  <a:lnTo>
                    <a:pt x="333121" y="189611"/>
                  </a:lnTo>
                  <a:lnTo>
                    <a:pt x="337502" y="189611"/>
                  </a:lnTo>
                  <a:lnTo>
                    <a:pt x="341884" y="187451"/>
                  </a:lnTo>
                  <a:lnTo>
                    <a:pt x="352278" y="176403"/>
                  </a:lnTo>
                  <a:close/>
                </a:path>
                <a:path w="386080" h="387984">
                  <a:moveTo>
                    <a:pt x="249847" y="0"/>
                  </a:moveTo>
                  <a:lnTo>
                    <a:pt x="243268" y="0"/>
                  </a:lnTo>
                  <a:lnTo>
                    <a:pt x="241071" y="4445"/>
                  </a:lnTo>
                  <a:lnTo>
                    <a:pt x="199440" y="44069"/>
                  </a:lnTo>
                  <a:lnTo>
                    <a:pt x="197243" y="46355"/>
                  </a:lnTo>
                  <a:lnTo>
                    <a:pt x="197243" y="55118"/>
                  </a:lnTo>
                  <a:lnTo>
                    <a:pt x="199440" y="57276"/>
                  </a:lnTo>
                  <a:lnTo>
                    <a:pt x="210388" y="68325"/>
                  </a:lnTo>
                  <a:lnTo>
                    <a:pt x="151218" y="127888"/>
                  </a:lnTo>
                  <a:lnTo>
                    <a:pt x="374764" y="127888"/>
                  </a:lnTo>
                  <a:lnTo>
                    <a:pt x="252031" y="4445"/>
                  </a:lnTo>
                  <a:lnTo>
                    <a:pt x="249847" y="0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0511" y="1390015"/>
              <a:ext cx="170891" cy="17018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86790" y="1799209"/>
              <a:ext cx="386080" cy="387985"/>
            </a:xfrm>
            <a:custGeom>
              <a:avLst/>
              <a:gdLst/>
              <a:ahLst/>
              <a:cxnLst/>
              <a:rect l="l" t="t" r="r" b="b"/>
              <a:pathLst>
                <a:path w="386080" h="387985">
                  <a:moveTo>
                    <a:pt x="216966" y="385825"/>
                  </a:moveTo>
                  <a:lnTo>
                    <a:pt x="208203" y="385825"/>
                  </a:lnTo>
                  <a:lnTo>
                    <a:pt x="210388" y="387985"/>
                  </a:lnTo>
                  <a:lnTo>
                    <a:pt x="214769" y="387985"/>
                  </a:lnTo>
                  <a:lnTo>
                    <a:pt x="216966" y="385825"/>
                  </a:lnTo>
                  <a:close/>
                </a:path>
                <a:path w="386080" h="387985">
                  <a:moveTo>
                    <a:pt x="109575" y="123443"/>
                  </a:moveTo>
                  <a:lnTo>
                    <a:pt x="51776" y="134778"/>
                  </a:lnTo>
                  <a:lnTo>
                    <a:pt x="2197" y="167639"/>
                  </a:lnTo>
                  <a:lnTo>
                    <a:pt x="0" y="171957"/>
                  </a:lnTo>
                  <a:lnTo>
                    <a:pt x="0" y="176402"/>
                  </a:lnTo>
                  <a:lnTo>
                    <a:pt x="2197" y="180848"/>
                  </a:lnTo>
                  <a:lnTo>
                    <a:pt x="206006" y="385825"/>
                  </a:lnTo>
                  <a:lnTo>
                    <a:pt x="219163" y="385825"/>
                  </a:lnTo>
                  <a:lnTo>
                    <a:pt x="242890" y="353069"/>
                  </a:lnTo>
                  <a:lnTo>
                    <a:pt x="257784" y="315801"/>
                  </a:lnTo>
                  <a:lnTo>
                    <a:pt x="263230" y="276080"/>
                  </a:lnTo>
                  <a:lnTo>
                    <a:pt x="258610" y="235965"/>
                  </a:lnTo>
                  <a:lnTo>
                    <a:pt x="317779" y="176402"/>
                  </a:lnTo>
                  <a:lnTo>
                    <a:pt x="352283" y="176402"/>
                  </a:lnTo>
                  <a:lnTo>
                    <a:pt x="381330" y="145541"/>
                  </a:lnTo>
                  <a:lnTo>
                    <a:pt x="385749" y="141096"/>
                  </a:lnTo>
                  <a:lnTo>
                    <a:pt x="385749" y="136778"/>
                  </a:lnTo>
                  <a:lnTo>
                    <a:pt x="383463" y="134492"/>
                  </a:lnTo>
                  <a:lnTo>
                    <a:pt x="381330" y="134492"/>
                  </a:lnTo>
                  <a:lnTo>
                    <a:pt x="374764" y="127888"/>
                  </a:lnTo>
                  <a:lnTo>
                    <a:pt x="151218" y="127888"/>
                  </a:lnTo>
                  <a:lnTo>
                    <a:pt x="141324" y="126283"/>
                  </a:lnTo>
                  <a:lnTo>
                    <a:pt x="131221" y="124856"/>
                  </a:lnTo>
                  <a:lnTo>
                    <a:pt x="120706" y="123834"/>
                  </a:lnTo>
                  <a:lnTo>
                    <a:pt x="109575" y="123443"/>
                  </a:lnTo>
                  <a:close/>
                </a:path>
                <a:path w="386080" h="387985">
                  <a:moveTo>
                    <a:pt x="352283" y="176402"/>
                  </a:moveTo>
                  <a:lnTo>
                    <a:pt x="317779" y="176402"/>
                  </a:lnTo>
                  <a:lnTo>
                    <a:pt x="328739" y="187451"/>
                  </a:lnTo>
                  <a:lnTo>
                    <a:pt x="333121" y="189611"/>
                  </a:lnTo>
                  <a:lnTo>
                    <a:pt x="337502" y="189611"/>
                  </a:lnTo>
                  <a:lnTo>
                    <a:pt x="341884" y="187451"/>
                  </a:lnTo>
                  <a:lnTo>
                    <a:pt x="352283" y="176402"/>
                  </a:lnTo>
                  <a:close/>
                </a:path>
                <a:path w="386080" h="387985">
                  <a:moveTo>
                    <a:pt x="249847" y="0"/>
                  </a:moveTo>
                  <a:lnTo>
                    <a:pt x="243268" y="0"/>
                  </a:lnTo>
                  <a:lnTo>
                    <a:pt x="241071" y="4444"/>
                  </a:lnTo>
                  <a:lnTo>
                    <a:pt x="199440" y="44195"/>
                  </a:lnTo>
                  <a:lnTo>
                    <a:pt x="197243" y="46354"/>
                  </a:lnTo>
                  <a:lnTo>
                    <a:pt x="197243" y="55117"/>
                  </a:lnTo>
                  <a:lnTo>
                    <a:pt x="199440" y="57403"/>
                  </a:lnTo>
                  <a:lnTo>
                    <a:pt x="210388" y="68325"/>
                  </a:lnTo>
                  <a:lnTo>
                    <a:pt x="151218" y="127888"/>
                  </a:lnTo>
                  <a:lnTo>
                    <a:pt x="374764" y="127888"/>
                  </a:lnTo>
                  <a:lnTo>
                    <a:pt x="252031" y="4444"/>
                  </a:lnTo>
                  <a:lnTo>
                    <a:pt x="249847" y="0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0511" y="2061083"/>
              <a:ext cx="170891" cy="17017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469644" y="2418016"/>
              <a:ext cx="1214755" cy="929005"/>
            </a:xfrm>
            <a:custGeom>
              <a:avLst/>
              <a:gdLst/>
              <a:ahLst/>
              <a:cxnLst/>
              <a:rect l="l" t="t" r="r" b="b"/>
              <a:pathLst>
                <a:path w="1214755" h="929004">
                  <a:moveTo>
                    <a:pt x="0" y="461962"/>
                  </a:moveTo>
                  <a:lnTo>
                    <a:pt x="1214437" y="461962"/>
                  </a:lnTo>
                  <a:lnTo>
                    <a:pt x="1214437" y="0"/>
                  </a:lnTo>
                  <a:lnTo>
                    <a:pt x="0" y="0"/>
                  </a:lnTo>
                  <a:lnTo>
                    <a:pt x="0" y="461962"/>
                  </a:lnTo>
                  <a:close/>
                </a:path>
                <a:path w="1214755" h="929004">
                  <a:moveTo>
                    <a:pt x="0" y="928433"/>
                  </a:moveTo>
                  <a:lnTo>
                    <a:pt x="1214437" y="928433"/>
                  </a:lnTo>
                  <a:lnTo>
                    <a:pt x="1214437" y="466471"/>
                  </a:lnTo>
                  <a:lnTo>
                    <a:pt x="0" y="466471"/>
                  </a:lnTo>
                  <a:lnTo>
                    <a:pt x="0" y="928433"/>
                  </a:lnTo>
                  <a:close/>
                </a:path>
              </a:pathLst>
            </a:custGeom>
            <a:ln w="28575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6747" y="5155819"/>
              <a:ext cx="292735" cy="63500"/>
            </a:xfrm>
            <a:custGeom>
              <a:avLst/>
              <a:gdLst/>
              <a:ahLst/>
              <a:cxnLst/>
              <a:rect l="l" t="t" r="r" b="b"/>
              <a:pathLst>
                <a:path w="292734" h="63500">
                  <a:moveTo>
                    <a:pt x="251574" y="0"/>
                  </a:moveTo>
                  <a:lnTo>
                    <a:pt x="40728" y="0"/>
                  </a:lnTo>
                  <a:lnTo>
                    <a:pt x="35928" y="2158"/>
                  </a:lnTo>
                  <a:lnTo>
                    <a:pt x="35928" y="4317"/>
                  </a:lnTo>
                  <a:lnTo>
                    <a:pt x="2387" y="50545"/>
                  </a:lnTo>
                  <a:lnTo>
                    <a:pt x="0" y="54736"/>
                  </a:lnTo>
                  <a:lnTo>
                    <a:pt x="0" y="58927"/>
                  </a:lnTo>
                  <a:lnTo>
                    <a:pt x="4787" y="61086"/>
                  </a:lnTo>
                  <a:lnTo>
                    <a:pt x="7188" y="63118"/>
                  </a:lnTo>
                  <a:lnTo>
                    <a:pt x="14363" y="63118"/>
                  </a:lnTo>
                  <a:lnTo>
                    <a:pt x="16764" y="61086"/>
                  </a:lnTo>
                  <a:lnTo>
                    <a:pt x="19164" y="58927"/>
                  </a:lnTo>
                  <a:lnTo>
                    <a:pt x="47917" y="16890"/>
                  </a:lnTo>
                  <a:lnTo>
                    <a:pt x="265484" y="16890"/>
                  </a:lnTo>
                  <a:lnTo>
                    <a:pt x="256362" y="4317"/>
                  </a:lnTo>
                  <a:lnTo>
                    <a:pt x="251574" y="0"/>
                  </a:lnTo>
                  <a:close/>
                </a:path>
                <a:path w="292734" h="63500">
                  <a:moveTo>
                    <a:pt x="265484" y="16890"/>
                  </a:moveTo>
                  <a:lnTo>
                    <a:pt x="244386" y="16890"/>
                  </a:lnTo>
                  <a:lnTo>
                    <a:pt x="273126" y="58927"/>
                  </a:lnTo>
                  <a:lnTo>
                    <a:pt x="275526" y="61086"/>
                  </a:lnTo>
                  <a:lnTo>
                    <a:pt x="277926" y="63118"/>
                  </a:lnTo>
                  <a:lnTo>
                    <a:pt x="285115" y="63118"/>
                  </a:lnTo>
                  <a:lnTo>
                    <a:pt x="287502" y="61086"/>
                  </a:lnTo>
                  <a:lnTo>
                    <a:pt x="292303" y="58927"/>
                  </a:lnTo>
                  <a:lnTo>
                    <a:pt x="292303" y="54736"/>
                  </a:lnTo>
                  <a:lnTo>
                    <a:pt x="289902" y="50545"/>
                  </a:lnTo>
                  <a:lnTo>
                    <a:pt x="265484" y="16890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0031" y="4787011"/>
              <a:ext cx="145453" cy="11404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28903" y="4787011"/>
              <a:ext cx="146812" cy="11404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0374" y="4828286"/>
              <a:ext cx="362585" cy="316865"/>
            </a:xfrm>
            <a:custGeom>
              <a:avLst/>
              <a:gdLst/>
              <a:ahLst/>
              <a:cxnLst/>
              <a:rect l="l" t="t" r="r" b="b"/>
              <a:pathLst>
                <a:path w="362584" h="316864">
                  <a:moveTo>
                    <a:pt x="182321" y="0"/>
                  </a:moveTo>
                  <a:lnTo>
                    <a:pt x="133833" y="5645"/>
                  </a:lnTo>
                  <a:lnTo>
                    <a:pt x="90275" y="21585"/>
                  </a:lnTo>
                  <a:lnTo>
                    <a:pt x="53379" y="46323"/>
                  </a:lnTo>
                  <a:lnTo>
                    <a:pt x="24879" y="78363"/>
                  </a:lnTo>
                  <a:lnTo>
                    <a:pt x="6508" y="116210"/>
                  </a:lnTo>
                  <a:lnTo>
                    <a:pt x="0" y="158369"/>
                  </a:lnTo>
                  <a:lnTo>
                    <a:pt x="6508" y="200473"/>
                  </a:lnTo>
                  <a:lnTo>
                    <a:pt x="24879" y="238284"/>
                  </a:lnTo>
                  <a:lnTo>
                    <a:pt x="53379" y="270303"/>
                  </a:lnTo>
                  <a:lnTo>
                    <a:pt x="90275" y="295030"/>
                  </a:lnTo>
                  <a:lnTo>
                    <a:pt x="133833" y="310965"/>
                  </a:lnTo>
                  <a:lnTo>
                    <a:pt x="182321" y="316611"/>
                  </a:lnTo>
                  <a:lnTo>
                    <a:pt x="230631" y="310965"/>
                  </a:lnTo>
                  <a:lnTo>
                    <a:pt x="273744" y="295030"/>
                  </a:lnTo>
                  <a:lnTo>
                    <a:pt x="310062" y="270303"/>
                  </a:lnTo>
                  <a:lnTo>
                    <a:pt x="337984" y="238284"/>
                  </a:lnTo>
                  <a:lnTo>
                    <a:pt x="355911" y="200473"/>
                  </a:lnTo>
                  <a:lnTo>
                    <a:pt x="360370" y="170814"/>
                  </a:lnTo>
                  <a:lnTo>
                    <a:pt x="175120" y="170814"/>
                  </a:lnTo>
                  <a:lnTo>
                    <a:pt x="170319" y="164591"/>
                  </a:lnTo>
                  <a:lnTo>
                    <a:pt x="170319" y="43687"/>
                  </a:lnTo>
                  <a:lnTo>
                    <a:pt x="175120" y="37464"/>
                  </a:lnTo>
                  <a:lnTo>
                    <a:pt x="297057" y="37464"/>
                  </a:lnTo>
                  <a:lnTo>
                    <a:pt x="273744" y="21585"/>
                  </a:lnTo>
                  <a:lnTo>
                    <a:pt x="230631" y="5645"/>
                  </a:lnTo>
                  <a:lnTo>
                    <a:pt x="182321" y="0"/>
                  </a:lnTo>
                  <a:close/>
                </a:path>
                <a:path w="362584" h="316864">
                  <a:moveTo>
                    <a:pt x="297057" y="37464"/>
                  </a:moveTo>
                  <a:lnTo>
                    <a:pt x="191909" y="37464"/>
                  </a:lnTo>
                  <a:lnTo>
                    <a:pt x="199110" y="43687"/>
                  </a:lnTo>
                  <a:lnTo>
                    <a:pt x="199110" y="145795"/>
                  </a:lnTo>
                  <a:lnTo>
                    <a:pt x="256692" y="145795"/>
                  </a:lnTo>
                  <a:lnTo>
                    <a:pt x="263880" y="149987"/>
                  </a:lnTo>
                  <a:lnTo>
                    <a:pt x="263880" y="164591"/>
                  </a:lnTo>
                  <a:lnTo>
                    <a:pt x="256692" y="170814"/>
                  </a:lnTo>
                  <a:lnTo>
                    <a:pt x="360370" y="170814"/>
                  </a:lnTo>
                  <a:lnTo>
                    <a:pt x="362242" y="158369"/>
                  </a:lnTo>
                  <a:lnTo>
                    <a:pt x="355911" y="116210"/>
                  </a:lnTo>
                  <a:lnTo>
                    <a:pt x="337984" y="78363"/>
                  </a:lnTo>
                  <a:lnTo>
                    <a:pt x="310062" y="46323"/>
                  </a:lnTo>
                  <a:lnTo>
                    <a:pt x="297057" y="37464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15840" y="4841367"/>
              <a:ext cx="575945" cy="324485"/>
            </a:xfrm>
            <a:custGeom>
              <a:avLst/>
              <a:gdLst/>
              <a:ahLst/>
              <a:cxnLst/>
              <a:rect l="l" t="t" r="r" b="b"/>
              <a:pathLst>
                <a:path w="575945" h="324485">
                  <a:moveTo>
                    <a:pt x="0" y="81025"/>
                  </a:moveTo>
                  <a:lnTo>
                    <a:pt x="414020" y="81025"/>
                  </a:lnTo>
                  <a:lnTo>
                    <a:pt x="414020" y="0"/>
                  </a:lnTo>
                  <a:lnTo>
                    <a:pt x="575945" y="161924"/>
                  </a:lnTo>
                  <a:lnTo>
                    <a:pt x="414020" y="323976"/>
                  </a:lnTo>
                  <a:lnTo>
                    <a:pt x="414020" y="242950"/>
                  </a:lnTo>
                  <a:lnTo>
                    <a:pt x="0" y="242950"/>
                  </a:lnTo>
                  <a:lnTo>
                    <a:pt x="0" y="81025"/>
                  </a:lnTo>
                  <a:close/>
                </a:path>
              </a:pathLst>
            </a:custGeom>
            <a:ln w="28575">
              <a:solidFill>
                <a:srgbClr val="B42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447927" y="4746497"/>
            <a:ext cx="52076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29404" algn="l"/>
              </a:tabLst>
            </a:pP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编码的目的是什么?	数字化</a:t>
            </a:r>
            <a:endParaRPr sz="2800">
              <a:latin typeface="微软雅黑"/>
              <a:cs typeface="微软雅黑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94791" y="4841049"/>
            <a:ext cx="6685915" cy="1079500"/>
            <a:chOff x="794791" y="4841049"/>
            <a:chExt cx="6685915" cy="1079500"/>
          </a:xfrm>
        </p:grpSpPr>
        <p:sp>
          <p:nvSpPr>
            <p:cNvPr id="20" name="object 20"/>
            <p:cNvSpPr/>
            <p:nvPr/>
          </p:nvSpPr>
          <p:spPr>
            <a:xfrm>
              <a:off x="6890258" y="4855336"/>
              <a:ext cx="575945" cy="324485"/>
            </a:xfrm>
            <a:custGeom>
              <a:avLst/>
              <a:gdLst/>
              <a:ahLst/>
              <a:cxnLst/>
              <a:rect l="l" t="t" r="r" b="b"/>
              <a:pathLst>
                <a:path w="575945" h="324485">
                  <a:moveTo>
                    <a:pt x="0" y="81025"/>
                  </a:moveTo>
                  <a:lnTo>
                    <a:pt x="413893" y="81025"/>
                  </a:lnTo>
                  <a:lnTo>
                    <a:pt x="413893" y="0"/>
                  </a:lnTo>
                  <a:lnTo>
                    <a:pt x="575945" y="161925"/>
                  </a:lnTo>
                  <a:lnTo>
                    <a:pt x="413893" y="323976"/>
                  </a:lnTo>
                  <a:lnTo>
                    <a:pt x="413893" y="242950"/>
                  </a:lnTo>
                  <a:lnTo>
                    <a:pt x="0" y="242950"/>
                  </a:lnTo>
                  <a:lnTo>
                    <a:pt x="0" y="81025"/>
                  </a:lnTo>
                  <a:close/>
                </a:path>
              </a:pathLst>
            </a:custGeom>
            <a:ln w="28575">
              <a:solidFill>
                <a:srgbClr val="B42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81507" y="5856922"/>
              <a:ext cx="292735" cy="63500"/>
            </a:xfrm>
            <a:custGeom>
              <a:avLst/>
              <a:gdLst/>
              <a:ahLst/>
              <a:cxnLst/>
              <a:rect l="l" t="t" r="r" b="b"/>
              <a:pathLst>
                <a:path w="292734" h="63500">
                  <a:moveTo>
                    <a:pt x="251574" y="0"/>
                  </a:moveTo>
                  <a:lnTo>
                    <a:pt x="40728" y="0"/>
                  </a:lnTo>
                  <a:lnTo>
                    <a:pt x="35928" y="2095"/>
                  </a:lnTo>
                  <a:lnTo>
                    <a:pt x="35928" y="4203"/>
                  </a:lnTo>
                  <a:lnTo>
                    <a:pt x="2387" y="50482"/>
                  </a:lnTo>
                  <a:lnTo>
                    <a:pt x="0" y="54686"/>
                  </a:lnTo>
                  <a:lnTo>
                    <a:pt x="0" y="58889"/>
                  </a:lnTo>
                  <a:lnTo>
                    <a:pt x="4787" y="60998"/>
                  </a:lnTo>
                  <a:lnTo>
                    <a:pt x="7175" y="63093"/>
                  </a:lnTo>
                  <a:lnTo>
                    <a:pt x="14363" y="63093"/>
                  </a:lnTo>
                  <a:lnTo>
                    <a:pt x="19164" y="58889"/>
                  </a:lnTo>
                  <a:lnTo>
                    <a:pt x="47917" y="16827"/>
                  </a:lnTo>
                  <a:lnTo>
                    <a:pt x="265511" y="16827"/>
                  </a:lnTo>
                  <a:lnTo>
                    <a:pt x="256362" y="4203"/>
                  </a:lnTo>
                  <a:lnTo>
                    <a:pt x="251574" y="0"/>
                  </a:lnTo>
                  <a:close/>
                </a:path>
                <a:path w="292734" h="63500">
                  <a:moveTo>
                    <a:pt x="265511" y="16827"/>
                  </a:moveTo>
                  <a:lnTo>
                    <a:pt x="244386" y="16827"/>
                  </a:lnTo>
                  <a:lnTo>
                    <a:pt x="273126" y="58889"/>
                  </a:lnTo>
                  <a:lnTo>
                    <a:pt x="277926" y="63093"/>
                  </a:lnTo>
                  <a:lnTo>
                    <a:pt x="285115" y="63093"/>
                  </a:lnTo>
                  <a:lnTo>
                    <a:pt x="287502" y="60998"/>
                  </a:lnTo>
                  <a:lnTo>
                    <a:pt x="292303" y="58889"/>
                  </a:lnTo>
                  <a:lnTo>
                    <a:pt x="292303" y="54686"/>
                  </a:lnTo>
                  <a:lnTo>
                    <a:pt x="289902" y="50482"/>
                  </a:lnTo>
                  <a:lnTo>
                    <a:pt x="265511" y="16827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4791" y="5488050"/>
              <a:ext cx="145453" cy="1140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13663" y="5488050"/>
              <a:ext cx="146862" cy="11403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45134" y="5529325"/>
              <a:ext cx="362585" cy="316865"/>
            </a:xfrm>
            <a:custGeom>
              <a:avLst/>
              <a:gdLst/>
              <a:ahLst/>
              <a:cxnLst/>
              <a:rect l="l" t="t" r="r" b="b"/>
              <a:pathLst>
                <a:path w="362584" h="316864">
                  <a:moveTo>
                    <a:pt x="182321" y="0"/>
                  </a:moveTo>
                  <a:lnTo>
                    <a:pt x="133833" y="5649"/>
                  </a:lnTo>
                  <a:lnTo>
                    <a:pt x="90275" y="21597"/>
                  </a:lnTo>
                  <a:lnTo>
                    <a:pt x="53379" y="46340"/>
                  </a:lnTo>
                  <a:lnTo>
                    <a:pt x="24879" y="78376"/>
                  </a:lnTo>
                  <a:lnTo>
                    <a:pt x="6508" y="116203"/>
                  </a:lnTo>
                  <a:lnTo>
                    <a:pt x="0" y="158318"/>
                  </a:lnTo>
                  <a:lnTo>
                    <a:pt x="6508" y="200435"/>
                  </a:lnTo>
                  <a:lnTo>
                    <a:pt x="24879" y="238269"/>
                  </a:lnTo>
                  <a:lnTo>
                    <a:pt x="53379" y="270314"/>
                  </a:lnTo>
                  <a:lnTo>
                    <a:pt x="90275" y="295067"/>
                  </a:lnTo>
                  <a:lnTo>
                    <a:pt x="133833" y="311021"/>
                  </a:lnTo>
                  <a:lnTo>
                    <a:pt x="182321" y="316674"/>
                  </a:lnTo>
                  <a:lnTo>
                    <a:pt x="230631" y="311021"/>
                  </a:lnTo>
                  <a:lnTo>
                    <a:pt x="273744" y="295067"/>
                  </a:lnTo>
                  <a:lnTo>
                    <a:pt x="310062" y="270314"/>
                  </a:lnTo>
                  <a:lnTo>
                    <a:pt x="337984" y="238269"/>
                  </a:lnTo>
                  <a:lnTo>
                    <a:pt x="355911" y="200435"/>
                  </a:lnTo>
                  <a:lnTo>
                    <a:pt x="360363" y="170815"/>
                  </a:lnTo>
                  <a:lnTo>
                    <a:pt x="175120" y="170815"/>
                  </a:lnTo>
                  <a:lnTo>
                    <a:pt x="170319" y="164566"/>
                  </a:lnTo>
                  <a:lnTo>
                    <a:pt x="170319" y="43687"/>
                  </a:lnTo>
                  <a:lnTo>
                    <a:pt x="175120" y="37465"/>
                  </a:lnTo>
                  <a:lnTo>
                    <a:pt x="297034" y="37465"/>
                  </a:lnTo>
                  <a:lnTo>
                    <a:pt x="273744" y="21597"/>
                  </a:lnTo>
                  <a:lnTo>
                    <a:pt x="230631" y="5649"/>
                  </a:lnTo>
                  <a:lnTo>
                    <a:pt x="182321" y="0"/>
                  </a:lnTo>
                  <a:close/>
                </a:path>
                <a:path w="362584" h="316864">
                  <a:moveTo>
                    <a:pt x="297034" y="37465"/>
                  </a:moveTo>
                  <a:lnTo>
                    <a:pt x="191909" y="37465"/>
                  </a:lnTo>
                  <a:lnTo>
                    <a:pt x="199110" y="43687"/>
                  </a:lnTo>
                  <a:lnTo>
                    <a:pt x="199110" y="145808"/>
                  </a:lnTo>
                  <a:lnTo>
                    <a:pt x="256692" y="145808"/>
                  </a:lnTo>
                  <a:lnTo>
                    <a:pt x="263880" y="149974"/>
                  </a:lnTo>
                  <a:lnTo>
                    <a:pt x="263880" y="164566"/>
                  </a:lnTo>
                  <a:lnTo>
                    <a:pt x="256692" y="170815"/>
                  </a:lnTo>
                  <a:lnTo>
                    <a:pt x="360363" y="170815"/>
                  </a:lnTo>
                  <a:lnTo>
                    <a:pt x="362242" y="158318"/>
                  </a:lnTo>
                  <a:lnTo>
                    <a:pt x="355911" y="116203"/>
                  </a:lnTo>
                  <a:lnTo>
                    <a:pt x="337984" y="78376"/>
                  </a:lnTo>
                  <a:lnTo>
                    <a:pt x="310062" y="46340"/>
                  </a:lnTo>
                  <a:lnTo>
                    <a:pt x="297034" y="37465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592948" y="4760467"/>
            <a:ext cx="39319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编码效率取决于编码长度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32686" y="5442915"/>
            <a:ext cx="90798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如果每个对象的使用频率不等，如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何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获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得</a:t>
            </a:r>
            <a:r>
              <a:rPr sz="2800" spc="5" dirty="0">
                <a:solidFill>
                  <a:srgbClr val="404040"/>
                </a:solidFill>
                <a:latin typeface="微软雅黑"/>
                <a:cs typeface="微软雅黑"/>
              </a:rPr>
              <a:t>较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高的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编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码效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率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?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235450" y="4066387"/>
            <a:ext cx="3996054" cy="462280"/>
          </a:xfrm>
          <a:prstGeom prst="rect">
            <a:avLst/>
          </a:prstGeom>
          <a:ln w="28575">
            <a:solidFill>
              <a:srgbClr val="507C7C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0"/>
              </a:spcBef>
              <a:tabLst>
                <a:tab pos="601980" algn="l"/>
                <a:tab pos="1115695" algn="l"/>
                <a:tab pos="1627505" algn="l"/>
                <a:tab pos="3065145" algn="l"/>
                <a:tab pos="3731895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22	01	04	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19870126	444	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7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410969" y="815111"/>
            <a:ext cx="8908415" cy="3182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7300"/>
              </a:lnSpc>
              <a:spcBef>
                <a:spcPts val="100"/>
              </a:spcBef>
            </a:pPr>
            <a:r>
              <a:rPr sz="2800" spc="-5" dirty="0">
                <a:solidFill>
                  <a:srgbClr val="285A31"/>
                </a:solidFill>
                <a:latin typeface="微软雅黑"/>
                <a:cs typeface="微软雅黑"/>
              </a:rPr>
              <a:t>编码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：给每一个对象标记一个</a:t>
            </a:r>
            <a:r>
              <a:rPr sz="2800" spc="-5" dirty="0">
                <a:solidFill>
                  <a:srgbClr val="B42C2C"/>
                </a:solidFill>
                <a:latin typeface="微软雅黑"/>
                <a:cs typeface="微软雅黑"/>
              </a:rPr>
              <a:t>二进</a:t>
            </a:r>
            <a:r>
              <a:rPr sz="2800" dirty="0">
                <a:solidFill>
                  <a:srgbClr val="B42C2C"/>
                </a:solidFill>
                <a:latin typeface="微软雅黑"/>
                <a:cs typeface="微软雅黑"/>
              </a:rPr>
              <a:t>制</a:t>
            </a:r>
            <a:r>
              <a:rPr sz="2800" spc="-5" dirty="0">
                <a:solidFill>
                  <a:srgbClr val="B42C2C"/>
                </a:solidFill>
                <a:latin typeface="微软雅黑"/>
                <a:cs typeface="微软雅黑"/>
              </a:rPr>
              <a:t>位</a:t>
            </a:r>
            <a:r>
              <a:rPr sz="2800" dirty="0">
                <a:solidFill>
                  <a:srgbClr val="B42C2C"/>
                </a:solidFill>
                <a:latin typeface="微软雅黑"/>
                <a:cs typeface="微软雅黑"/>
              </a:rPr>
              <a:t>串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来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表示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一</a:t>
            </a:r>
            <a:r>
              <a:rPr sz="2800" spc="5" dirty="0">
                <a:solidFill>
                  <a:srgbClr val="404040"/>
                </a:solidFill>
                <a:latin typeface="微软雅黑"/>
                <a:cs typeface="微软雅黑"/>
              </a:rPr>
              <a:t>组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对象 </a:t>
            </a:r>
            <a:r>
              <a:rPr sz="2800" spc="-5" dirty="0">
                <a:solidFill>
                  <a:srgbClr val="285A31"/>
                </a:solidFill>
                <a:latin typeface="微软雅黑"/>
                <a:cs typeface="微软雅黑"/>
              </a:rPr>
              <a:t>等长编码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：用长度相等的二进制位</a:t>
            </a:r>
            <a:r>
              <a:rPr sz="2800" spc="5" dirty="0">
                <a:solidFill>
                  <a:srgbClr val="404040"/>
                </a:solidFill>
                <a:latin typeface="微软雅黑"/>
                <a:cs typeface="微软雅黑"/>
              </a:rPr>
              <a:t>串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表示</a:t>
            </a:r>
            <a:r>
              <a:rPr sz="2800" spc="5" dirty="0">
                <a:solidFill>
                  <a:srgbClr val="404040"/>
                </a:solidFill>
                <a:latin typeface="微软雅黑"/>
                <a:cs typeface="微软雅黑"/>
              </a:rPr>
              <a:t>一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组对象</a:t>
            </a:r>
            <a:endParaRPr sz="2800">
              <a:latin typeface="微软雅黑"/>
              <a:cs typeface="微软雅黑"/>
            </a:endParaRPr>
          </a:p>
          <a:p>
            <a:pPr marL="149860">
              <a:lnSpc>
                <a:spcPct val="100000"/>
              </a:lnSpc>
              <a:spcBef>
                <a:spcPts val="2250"/>
              </a:spcBef>
              <a:tabLst>
                <a:tab pos="834390" algn="l"/>
              </a:tabLst>
            </a:pP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酸	甜</a:t>
            </a:r>
            <a:endParaRPr sz="2400">
              <a:latin typeface="微软雅黑"/>
              <a:cs typeface="微软雅黑"/>
            </a:endParaRPr>
          </a:p>
          <a:p>
            <a:pPr marL="224790">
              <a:lnSpc>
                <a:spcPct val="100000"/>
              </a:lnSpc>
              <a:spcBef>
                <a:spcPts val="790"/>
              </a:spcBef>
              <a:tabLst>
                <a:tab pos="910590" algn="l"/>
              </a:tabLst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0	1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50">
              <a:latin typeface="Times New Roman"/>
              <a:cs typeface="Times New Roman"/>
            </a:endParaRPr>
          </a:p>
          <a:p>
            <a:pPr marL="2915920">
              <a:lnSpc>
                <a:spcPct val="100000"/>
              </a:lnSpc>
              <a:spcBef>
                <a:spcPts val="5"/>
              </a:spcBef>
              <a:tabLst>
                <a:tab pos="3400425" algn="l"/>
                <a:tab pos="3885565" algn="l"/>
                <a:tab pos="4462780" algn="l"/>
                <a:tab pos="5862320" algn="l"/>
              </a:tabLst>
            </a:pP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省	市	区	出生日期	顺序</a:t>
            </a:r>
            <a:r>
              <a:rPr sz="2400" spc="-40" dirty="0">
                <a:solidFill>
                  <a:srgbClr val="404040"/>
                </a:solidFill>
                <a:latin typeface="微软雅黑"/>
                <a:cs typeface="微软雅黑"/>
              </a:rPr>
              <a:t> </a:t>
            </a: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校验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301620" y="4090238"/>
            <a:ext cx="15494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404040"/>
                </a:solidFill>
                <a:latin typeface="微软雅黑"/>
                <a:cs typeface="微软雅黑"/>
              </a:rPr>
              <a:t>身份证号码</a:t>
            </a:r>
            <a:endParaRPr sz="240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455864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48643" y="2017267"/>
            <a:ext cx="152400" cy="25355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algn="just">
              <a:lnSpc>
                <a:spcPts val="1000"/>
              </a:lnSpc>
              <a:spcBef>
                <a:spcPts val="2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数 据 结 构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880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（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从 概 念 到 实 现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975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640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清 华 大 学 出 版 社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30578" y="984630"/>
            <a:ext cx="85528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285A31"/>
                </a:solidFill>
                <a:latin typeface="微软雅黑"/>
                <a:cs typeface="微软雅黑"/>
              </a:rPr>
              <a:t>不等长编码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：表示一组对象的二进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制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位串</a:t>
            </a:r>
            <a:r>
              <a:rPr sz="2800" spc="15" dirty="0">
                <a:solidFill>
                  <a:srgbClr val="404040"/>
                </a:solidFill>
                <a:latin typeface="微软雅黑"/>
                <a:cs typeface="微软雅黑"/>
              </a:rPr>
              <a:t>的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长度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不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相等</a:t>
            </a:r>
            <a:endParaRPr sz="2800">
              <a:latin typeface="微软雅黑"/>
              <a:cs typeface="微软雅黑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69912" y="1052449"/>
            <a:ext cx="8639175" cy="3968115"/>
            <a:chOff x="669912" y="1052449"/>
            <a:chExt cx="8639175" cy="3968115"/>
          </a:xfrm>
        </p:grpSpPr>
        <p:sp>
          <p:nvSpPr>
            <p:cNvPr id="7" name="object 7"/>
            <p:cNvSpPr/>
            <p:nvPr/>
          </p:nvSpPr>
          <p:spPr>
            <a:xfrm>
              <a:off x="806373" y="1052449"/>
              <a:ext cx="386080" cy="387985"/>
            </a:xfrm>
            <a:custGeom>
              <a:avLst/>
              <a:gdLst/>
              <a:ahLst/>
              <a:cxnLst/>
              <a:rect l="l" t="t" r="r" b="b"/>
              <a:pathLst>
                <a:path w="386080" h="387984">
                  <a:moveTo>
                    <a:pt x="216966" y="385825"/>
                  </a:moveTo>
                  <a:lnTo>
                    <a:pt x="208203" y="385825"/>
                  </a:lnTo>
                  <a:lnTo>
                    <a:pt x="210388" y="387985"/>
                  </a:lnTo>
                  <a:lnTo>
                    <a:pt x="214769" y="387985"/>
                  </a:lnTo>
                  <a:lnTo>
                    <a:pt x="216966" y="385825"/>
                  </a:lnTo>
                  <a:close/>
                </a:path>
                <a:path w="386080" h="387984">
                  <a:moveTo>
                    <a:pt x="109575" y="123443"/>
                  </a:moveTo>
                  <a:lnTo>
                    <a:pt x="51774" y="134778"/>
                  </a:lnTo>
                  <a:lnTo>
                    <a:pt x="2184" y="167639"/>
                  </a:lnTo>
                  <a:lnTo>
                    <a:pt x="0" y="171958"/>
                  </a:lnTo>
                  <a:lnTo>
                    <a:pt x="0" y="176402"/>
                  </a:lnTo>
                  <a:lnTo>
                    <a:pt x="2184" y="180848"/>
                  </a:lnTo>
                  <a:lnTo>
                    <a:pt x="206006" y="385825"/>
                  </a:lnTo>
                  <a:lnTo>
                    <a:pt x="219151" y="385825"/>
                  </a:lnTo>
                  <a:lnTo>
                    <a:pt x="242884" y="353069"/>
                  </a:lnTo>
                  <a:lnTo>
                    <a:pt x="257781" y="315801"/>
                  </a:lnTo>
                  <a:lnTo>
                    <a:pt x="263224" y="276080"/>
                  </a:lnTo>
                  <a:lnTo>
                    <a:pt x="258597" y="235965"/>
                  </a:lnTo>
                  <a:lnTo>
                    <a:pt x="317779" y="176402"/>
                  </a:lnTo>
                  <a:lnTo>
                    <a:pt x="352283" y="176402"/>
                  </a:lnTo>
                  <a:lnTo>
                    <a:pt x="381330" y="145541"/>
                  </a:lnTo>
                  <a:lnTo>
                    <a:pt x="383527" y="143383"/>
                  </a:lnTo>
                  <a:lnTo>
                    <a:pt x="385711" y="141097"/>
                  </a:lnTo>
                  <a:lnTo>
                    <a:pt x="385711" y="136778"/>
                  </a:lnTo>
                  <a:lnTo>
                    <a:pt x="383527" y="134492"/>
                  </a:lnTo>
                  <a:lnTo>
                    <a:pt x="381330" y="134492"/>
                  </a:lnTo>
                  <a:lnTo>
                    <a:pt x="374764" y="127888"/>
                  </a:lnTo>
                  <a:lnTo>
                    <a:pt x="151218" y="127888"/>
                  </a:lnTo>
                  <a:lnTo>
                    <a:pt x="141318" y="126283"/>
                  </a:lnTo>
                  <a:lnTo>
                    <a:pt x="131216" y="124856"/>
                  </a:lnTo>
                  <a:lnTo>
                    <a:pt x="120704" y="123834"/>
                  </a:lnTo>
                  <a:lnTo>
                    <a:pt x="109575" y="123443"/>
                  </a:lnTo>
                  <a:close/>
                </a:path>
                <a:path w="386080" h="387984">
                  <a:moveTo>
                    <a:pt x="352283" y="176402"/>
                  </a:moveTo>
                  <a:lnTo>
                    <a:pt x="317779" y="176402"/>
                  </a:lnTo>
                  <a:lnTo>
                    <a:pt x="328739" y="187451"/>
                  </a:lnTo>
                  <a:lnTo>
                    <a:pt x="333121" y="189611"/>
                  </a:lnTo>
                  <a:lnTo>
                    <a:pt x="337502" y="189611"/>
                  </a:lnTo>
                  <a:lnTo>
                    <a:pt x="341884" y="187451"/>
                  </a:lnTo>
                  <a:lnTo>
                    <a:pt x="352283" y="176402"/>
                  </a:lnTo>
                  <a:close/>
                </a:path>
                <a:path w="386080" h="387984">
                  <a:moveTo>
                    <a:pt x="249834" y="0"/>
                  </a:moveTo>
                  <a:lnTo>
                    <a:pt x="243268" y="0"/>
                  </a:lnTo>
                  <a:lnTo>
                    <a:pt x="241071" y="4445"/>
                  </a:lnTo>
                  <a:lnTo>
                    <a:pt x="199428" y="44196"/>
                  </a:lnTo>
                  <a:lnTo>
                    <a:pt x="197243" y="46354"/>
                  </a:lnTo>
                  <a:lnTo>
                    <a:pt x="197243" y="55117"/>
                  </a:lnTo>
                  <a:lnTo>
                    <a:pt x="199428" y="57403"/>
                  </a:lnTo>
                  <a:lnTo>
                    <a:pt x="210388" y="68325"/>
                  </a:lnTo>
                  <a:lnTo>
                    <a:pt x="151218" y="127888"/>
                  </a:lnTo>
                  <a:lnTo>
                    <a:pt x="374764" y="127888"/>
                  </a:lnTo>
                  <a:lnTo>
                    <a:pt x="252031" y="4445"/>
                  </a:lnTo>
                  <a:lnTo>
                    <a:pt x="249834" y="0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0082" y="1314323"/>
              <a:ext cx="170903" cy="17017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51611" y="1796541"/>
              <a:ext cx="90805" cy="548005"/>
            </a:xfrm>
            <a:custGeom>
              <a:avLst/>
              <a:gdLst/>
              <a:ahLst/>
              <a:cxnLst/>
              <a:rect l="l" t="t" r="r" b="b"/>
              <a:pathLst>
                <a:path w="90805" h="548005">
                  <a:moveTo>
                    <a:pt x="57150" y="5588"/>
                  </a:moveTo>
                  <a:lnTo>
                    <a:pt x="54190" y="0"/>
                  </a:lnTo>
                  <a:lnTo>
                    <a:pt x="39458" y="0"/>
                  </a:lnTo>
                  <a:lnTo>
                    <a:pt x="36499" y="5588"/>
                  </a:lnTo>
                  <a:lnTo>
                    <a:pt x="36499" y="73660"/>
                  </a:lnTo>
                  <a:lnTo>
                    <a:pt x="39458" y="79375"/>
                  </a:lnTo>
                  <a:lnTo>
                    <a:pt x="48298" y="79375"/>
                  </a:lnTo>
                  <a:lnTo>
                    <a:pt x="54190" y="79375"/>
                  </a:lnTo>
                  <a:lnTo>
                    <a:pt x="57150" y="73660"/>
                  </a:lnTo>
                  <a:lnTo>
                    <a:pt x="57150" y="5588"/>
                  </a:lnTo>
                  <a:close/>
                </a:path>
                <a:path w="90805" h="548005">
                  <a:moveTo>
                    <a:pt x="90487" y="529971"/>
                  </a:moveTo>
                  <a:lnTo>
                    <a:pt x="84823" y="527050"/>
                  </a:lnTo>
                  <a:lnTo>
                    <a:pt x="79171" y="527050"/>
                  </a:lnTo>
                  <a:lnTo>
                    <a:pt x="5651" y="527050"/>
                  </a:lnTo>
                  <a:lnTo>
                    <a:pt x="0" y="529971"/>
                  </a:lnTo>
                  <a:lnTo>
                    <a:pt x="0" y="544703"/>
                  </a:lnTo>
                  <a:lnTo>
                    <a:pt x="5651" y="547624"/>
                  </a:lnTo>
                  <a:lnTo>
                    <a:pt x="84823" y="547624"/>
                  </a:lnTo>
                  <a:lnTo>
                    <a:pt x="90487" y="544703"/>
                  </a:lnTo>
                  <a:lnTo>
                    <a:pt x="90487" y="529971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5561" y="1867916"/>
              <a:ext cx="65087" cy="651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4635" y="1867916"/>
              <a:ext cx="65100" cy="6515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26186" y="1899665"/>
              <a:ext cx="546100" cy="410209"/>
            </a:xfrm>
            <a:custGeom>
              <a:avLst/>
              <a:gdLst/>
              <a:ahLst/>
              <a:cxnLst/>
              <a:rect l="l" t="t" r="r" b="b"/>
              <a:pathLst>
                <a:path w="546100" h="410210">
                  <a:moveTo>
                    <a:pt x="79375" y="142113"/>
                  </a:moveTo>
                  <a:lnTo>
                    <a:pt x="73698" y="136525"/>
                  </a:lnTo>
                  <a:lnTo>
                    <a:pt x="68033" y="136525"/>
                  </a:lnTo>
                  <a:lnTo>
                    <a:pt x="2832" y="136525"/>
                  </a:lnTo>
                  <a:lnTo>
                    <a:pt x="0" y="142113"/>
                  </a:lnTo>
                  <a:lnTo>
                    <a:pt x="0" y="153162"/>
                  </a:lnTo>
                  <a:lnTo>
                    <a:pt x="2832" y="158750"/>
                  </a:lnTo>
                  <a:lnTo>
                    <a:pt x="73698" y="158750"/>
                  </a:lnTo>
                  <a:lnTo>
                    <a:pt x="79375" y="153162"/>
                  </a:lnTo>
                  <a:lnTo>
                    <a:pt x="79375" y="142113"/>
                  </a:lnTo>
                  <a:close/>
                </a:path>
                <a:path w="546100" h="410210">
                  <a:moveTo>
                    <a:pt x="317474" y="378841"/>
                  </a:moveTo>
                  <a:lnTo>
                    <a:pt x="311823" y="373634"/>
                  </a:lnTo>
                  <a:lnTo>
                    <a:pt x="306158" y="373634"/>
                  </a:lnTo>
                  <a:lnTo>
                    <a:pt x="232638" y="373634"/>
                  </a:lnTo>
                  <a:lnTo>
                    <a:pt x="226987" y="378841"/>
                  </a:lnTo>
                  <a:lnTo>
                    <a:pt x="226987" y="404495"/>
                  </a:lnTo>
                  <a:lnTo>
                    <a:pt x="232638" y="409702"/>
                  </a:lnTo>
                  <a:lnTo>
                    <a:pt x="311823" y="409702"/>
                  </a:lnTo>
                  <a:lnTo>
                    <a:pt x="317474" y="404495"/>
                  </a:lnTo>
                  <a:lnTo>
                    <a:pt x="317474" y="378841"/>
                  </a:lnTo>
                  <a:close/>
                </a:path>
                <a:path w="546100" h="410210">
                  <a:moveTo>
                    <a:pt x="423849" y="147701"/>
                  </a:moveTo>
                  <a:lnTo>
                    <a:pt x="419620" y="122174"/>
                  </a:lnTo>
                  <a:lnTo>
                    <a:pt x="416077" y="100698"/>
                  </a:lnTo>
                  <a:lnTo>
                    <a:pt x="394487" y="60109"/>
                  </a:lnTo>
                  <a:lnTo>
                    <a:pt x="361696" y="28257"/>
                  </a:lnTo>
                  <a:lnTo>
                    <a:pt x="321310" y="7975"/>
                  </a:lnTo>
                  <a:lnTo>
                    <a:pt x="321310" y="130683"/>
                  </a:lnTo>
                  <a:lnTo>
                    <a:pt x="318452" y="136271"/>
                  </a:lnTo>
                  <a:lnTo>
                    <a:pt x="289966" y="337947"/>
                  </a:lnTo>
                  <a:lnTo>
                    <a:pt x="289966" y="343662"/>
                  </a:lnTo>
                  <a:lnTo>
                    <a:pt x="287121" y="346456"/>
                  </a:lnTo>
                  <a:lnTo>
                    <a:pt x="275729" y="346456"/>
                  </a:lnTo>
                  <a:lnTo>
                    <a:pt x="272884" y="343662"/>
                  </a:lnTo>
                  <a:lnTo>
                    <a:pt x="272884" y="340868"/>
                  </a:lnTo>
                  <a:lnTo>
                    <a:pt x="267182" y="346456"/>
                  </a:lnTo>
                  <a:lnTo>
                    <a:pt x="258635" y="346456"/>
                  </a:lnTo>
                  <a:lnTo>
                    <a:pt x="252945" y="343662"/>
                  </a:lnTo>
                  <a:lnTo>
                    <a:pt x="252945" y="337947"/>
                  </a:lnTo>
                  <a:lnTo>
                    <a:pt x="224459" y="136271"/>
                  </a:lnTo>
                  <a:lnTo>
                    <a:pt x="221602" y="130683"/>
                  </a:lnTo>
                  <a:lnTo>
                    <a:pt x="227304" y="124968"/>
                  </a:lnTo>
                  <a:lnTo>
                    <a:pt x="232994" y="124968"/>
                  </a:lnTo>
                  <a:lnTo>
                    <a:pt x="238696" y="122174"/>
                  </a:lnTo>
                  <a:lnTo>
                    <a:pt x="244398" y="127762"/>
                  </a:lnTo>
                  <a:lnTo>
                    <a:pt x="244398" y="133477"/>
                  </a:lnTo>
                  <a:lnTo>
                    <a:pt x="272884" y="318135"/>
                  </a:lnTo>
                  <a:lnTo>
                    <a:pt x="298513" y="133477"/>
                  </a:lnTo>
                  <a:lnTo>
                    <a:pt x="298513" y="127762"/>
                  </a:lnTo>
                  <a:lnTo>
                    <a:pt x="304215" y="122174"/>
                  </a:lnTo>
                  <a:lnTo>
                    <a:pt x="309918" y="124968"/>
                  </a:lnTo>
                  <a:lnTo>
                    <a:pt x="315607" y="124968"/>
                  </a:lnTo>
                  <a:lnTo>
                    <a:pt x="321310" y="130683"/>
                  </a:lnTo>
                  <a:lnTo>
                    <a:pt x="321310" y="7975"/>
                  </a:lnTo>
                  <a:lnTo>
                    <a:pt x="320294" y="7454"/>
                  </a:lnTo>
                  <a:lnTo>
                    <a:pt x="272884" y="0"/>
                  </a:lnTo>
                  <a:lnTo>
                    <a:pt x="224066" y="7454"/>
                  </a:lnTo>
                  <a:lnTo>
                    <a:pt x="181813" y="28257"/>
                  </a:lnTo>
                  <a:lnTo>
                    <a:pt x="148577" y="60109"/>
                  </a:lnTo>
                  <a:lnTo>
                    <a:pt x="126834" y="100698"/>
                  </a:lnTo>
                  <a:lnTo>
                    <a:pt x="119049" y="147701"/>
                  </a:lnTo>
                  <a:lnTo>
                    <a:pt x="124701" y="187286"/>
                  </a:lnTo>
                  <a:lnTo>
                    <a:pt x="140766" y="223672"/>
                  </a:lnTo>
                  <a:lnTo>
                    <a:pt x="165912" y="254736"/>
                  </a:lnTo>
                  <a:lnTo>
                    <a:pt x="198818" y="278384"/>
                  </a:lnTo>
                  <a:lnTo>
                    <a:pt x="230149" y="363601"/>
                  </a:lnTo>
                  <a:lnTo>
                    <a:pt x="312762" y="363601"/>
                  </a:lnTo>
                  <a:lnTo>
                    <a:pt x="319062" y="346456"/>
                  </a:lnTo>
                  <a:lnTo>
                    <a:pt x="344093" y="278384"/>
                  </a:lnTo>
                  <a:lnTo>
                    <a:pt x="376974" y="254736"/>
                  </a:lnTo>
                  <a:lnTo>
                    <a:pt x="402120" y="223672"/>
                  </a:lnTo>
                  <a:lnTo>
                    <a:pt x="418185" y="187286"/>
                  </a:lnTo>
                  <a:lnTo>
                    <a:pt x="423849" y="147701"/>
                  </a:lnTo>
                  <a:close/>
                </a:path>
                <a:path w="546100" h="410210">
                  <a:moveTo>
                    <a:pt x="546100" y="142113"/>
                  </a:moveTo>
                  <a:lnTo>
                    <a:pt x="540397" y="136525"/>
                  </a:lnTo>
                  <a:lnTo>
                    <a:pt x="534708" y="136525"/>
                  </a:lnTo>
                  <a:lnTo>
                    <a:pt x="469239" y="136525"/>
                  </a:lnTo>
                  <a:lnTo>
                    <a:pt x="463550" y="142113"/>
                  </a:lnTo>
                  <a:lnTo>
                    <a:pt x="463550" y="153162"/>
                  </a:lnTo>
                  <a:lnTo>
                    <a:pt x="469239" y="158750"/>
                  </a:lnTo>
                  <a:lnTo>
                    <a:pt x="540397" y="158750"/>
                  </a:lnTo>
                  <a:lnTo>
                    <a:pt x="546100" y="153162"/>
                  </a:lnTo>
                  <a:lnTo>
                    <a:pt x="546100" y="142113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00311" y="3075178"/>
              <a:ext cx="196215" cy="907415"/>
            </a:xfrm>
            <a:custGeom>
              <a:avLst/>
              <a:gdLst/>
              <a:ahLst/>
              <a:cxnLst/>
              <a:rect l="l" t="t" r="r" b="b"/>
              <a:pathLst>
                <a:path w="196215" h="907414">
                  <a:moveTo>
                    <a:pt x="195707" y="0"/>
                  </a:moveTo>
                  <a:lnTo>
                    <a:pt x="157583" y="2587"/>
                  </a:lnTo>
                  <a:lnTo>
                    <a:pt x="126460" y="9652"/>
                  </a:lnTo>
                  <a:lnTo>
                    <a:pt x="105481" y="20145"/>
                  </a:lnTo>
                  <a:lnTo>
                    <a:pt x="97790" y="33020"/>
                  </a:lnTo>
                  <a:lnTo>
                    <a:pt x="97790" y="420497"/>
                  </a:lnTo>
                  <a:lnTo>
                    <a:pt x="90100" y="433371"/>
                  </a:lnTo>
                  <a:lnTo>
                    <a:pt x="69135" y="443865"/>
                  </a:lnTo>
                  <a:lnTo>
                    <a:pt x="38050" y="450929"/>
                  </a:lnTo>
                  <a:lnTo>
                    <a:pt x="0" y="453517"/>
                  </a:lnTo>
                  <a:lnTo>
                    <a:pt x="38050" y="456102"/>
                  </a:lnTo>
                  <a:lnTo>
                    <a:pt x="69135" y="463153"/>
                  </a:lnTo>
                  <a:lnTo>
                    <a:pt x="90100" y="473608"/>
                  </a:lnTo>
                  <a:lnTo>
                    <a:pt x="97790" y="486410"/>
                  </a:lnTo>
                  <a:lnTo>
                    <a:pt x="97790" y="874014"/>
                  </a:lnTo>
                  <a:lnTo>
                    <a:pt x="105481" y="886815"/>
                  </a:lnTo>
                  <a:lnTo>
                    <a:pt x="126460" y="897270"/>
                  </a:lnTo>
                  <a:lnTo>
                    <a:pt x="157583" y="904321"/>
                  </a:lnTo>
                  <a:lnTo>
                    <a:pt x="195707" y="906907"/>
                  </a:lnTo>
                </a:path>
              </a:pathLst>
            </a:custGeom>
            <a:ln w="25400">
              <a:solidFill>
                <a:srgbClr val="507C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16191" y="4588128"/>
              <a:ext cx="386080" cy="387985"/>
            </a:xfrm>
            <a:custGeom>
              <a:avLst/>
              <a:gdLst/>
              <a:ahLst/>
              <a:cxnLst/>
              <a:rect l="l" t="t" r="r" b="b"/>
              <a:pathLst>
                <a:path w="386080" h="387985">
                  <a:moveTo>
                    <a:pt x="216966" y="385826"/>
                  </a:moveTo>
                  <a:lnTo>
                    <a:pt x="208203" y="385826"/>
                  </a:lnTo>
                  <a:lnTo>
                    <a:pt x="210388" y="387985"/>
                  </a:lnTo>
                  <a:lnTo>
                    <a:pt x="214782" y="387985"/>
                  </a:lnTo>
                  <a:lnTo>
                    <a:pt x="216966" y="385826"/>
                  </a:lnTo>
                  <a:close/>
                </a:path>
                <a:path w="386080" h="387985">
                  <a:moveTo>
                    <a:pt x="109588" y="123444"/>
                  </a:moveTo>
                  <a:lnTo>
                    <a:pt x="51777" y="134778"/>
                  </a:lnTo>
                  <a:lnTo>
                    <a:pt x="2197" y="167640"/>
                  </a:lnTo>
                  <a:lnTo>
                    <a:pt x="0" y="171958"/>
                  </a:lnTo>
                  <a:lnTo>
                    <a:pt x="0" y="176403"/>
                  </a:lnTo>
                  <a:lnTo>
                    <a:pt x="2197" y="180848"/>
                  </a:lnTo>
                  <a:lnTo>
                    <a:pt x="206006" y="385826"/>
                  </a:lnTo>
                  <a:lnTo>
                    <a:pt x="219163" y="385826"/>
                  </a:lnTo>
                  <a:lnTo>
                    <a:pt x="242890" y="353069"/>
                  </a:lnTo>
                  <a:lnTo>
                    <a:pt x="257784" y="315801"/>
                  </a:lnTo>
                  <a:lnTo>
                    <a:pt x="263230" y="276080"/>
                  </a:lnTo>
                  <a:lnTo>
                    <a:pt x="258610" y="235966"/>
                  </a:lnTo>
                  <a:lnTo>
                    <a:pt x="317779" y="176403"/>
                  </a:lnTo>
                  <a:lnTo>
                    <a:pt x="352283" y="176403"/>
                  </a:lnTo>
                  <a:lnTo>
                    <a:pt x="381330" y="145542"/>
                  </a:lnTo>
                  <a:lnTo>
                    <a:pt x="383527" y="143383"/>
                  </a:lnTo>
                  <a:lnTo>
                    <a:pt x="385724" y="141097"/>
                  </a:lnTo>
                  <a:lnTo>
                    <a:pt x="385724" y="136779"/>
                  </a:lnTo>
                  <a:lnTo>
                    <a:pt x="383527" y="134493"/>
                  </a:lnTo>
                  <a:lnTo>
                    <a:pt x="381330" y="134493"/>
                  </a:lnTo>
                  <a:lnTo>
                    <a:pt x="374764" y="127889"/>
                  </a:lnTo>
                  <a:lnTo>
                    <a:pt x="151218" y="127889"/>
                  </a:lnTo>
                  <a:lnTo>
                    <a:pt x="141324" y="126283"/>
                  </a:lnTo>
                  <a:lnTo>
                    <a:pt x="131222" y="124856"/>
                  </a:lnTo>
                  <a:lnTo>
                    <a:pt x="120711" y="123834"/>
                  </a:lnTo>
                  <a:lnTo>
                    <a:pt x="109588" y="123444"/>
                  </a:lnTo>
                  <a:close/>
                </a:path>
                <a:path w="386080" h="387985">
                  <a:moveTo>
                    <a:pt x="352283" y="176403"/>
                  </a:moveTo>
                  <a:lnTo>
                    <a:pt x="317779" y="176403"/>
                  </a:lnTo>
                  <a:lnTo>
                    <a:pt x="328739" y="187452"/>
                  </a:lnTo>
                  <a:lnTo>
                    <a:pt x="333121" y="189611"/>
                  </a:lnTo>
                  <a:lnTo>
                    <a:pt x="337502" y="189611"/>
                  </a:lnTo>
                  <a:lnTo>
                    <a:pt x="341884" y="187452"/>
                  </a:lnTo>
                  <a:lnTo>
                    <a:pt x="352283" y="176403"/>
                  </a:lnTo>
                  <a:close/>
                </a:path>
                <a:path w="386080" h="387985">
                  <a:moveTo>
                    <a:pt x="249847" y="0"/>
                  </a:moveTo>
                  <a:lnTo>
                    <a:pt x="243268" y="0"/>
                  </a:lnTo>
                  <a:lnTo>
                    <a:pt x="241071" y="4445"/>
                  </a:lnTo>
                  <a:lnTo>
                    <a:pt x="199440" y="44196"/>
                  </a:lnTo>
                  <a:lnTo>
                    <a:pt x="197243" y="46355"/>
                  </a:lnTo>
                  <a:lnTo>
                    <a:pt x="197243" y="55118"/>
                  </a:lnTo>
                  <a:lnTo>
                    <a:pt x="199440" y="57404"/>
                  </a:lnTo>
                  <a:lnTo>
                    <a:pt x="210388" y="68326"/>
                  </a:lnTo>
                  <a:lnTo>
                    <a:pt x="151218" y="127889"/>
                  </a:lnTo>
                  <a:lnTo>
                    <a:pt x="374764" y="127889"/>
                  </a:lnTo>
                  <a:lnTo>
                    <a:pt x="252031" y="4445"/>
                  </a:lnTo>
                  <a:lnTo>
                    <a:pt x="249847" y="0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9912" y="4850002"/>
              <a:ext cx="170903" cy="17018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330578" y="1868550"/>
            <a:ext cx="67748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设计不等长编码时，必须考虑</a:t>
            </a:r>
            <a:r>
              <a:rPr sz="2800" spc="-5" dirty="0">
                <a:solidFill>
                  <a:srgbClr val="B42C2C"/>
                </a:solidFill>
                <a:latin typeface="微软雅黑"/>
                <a:cs typeface="微软雅黑"/>
              </a:rPr>
              <a:t>解码</a:t>
            </a:r>
            <a:r>
              <a:rPr sz="2800" spc="10" dirty="0">
                <a:solidFill>
                  <a:srgbClr val="B42C2C"/>
                </a:solidFill>
                <a:latin typeface="微软雅黑"/>
                <a:cs typeface="微软雅黑"/>
              </a:rPr>
              <a:t>的</a:t>
            </a:r>
            <a:r>
              <a:rPr sz="2800" spc="-5" dirty="0">
                <a:solidFill>
                  <a:srgbClr val="B42C2C"/>
                </a:solidFill>
                <a:latin typeface="微软雅黑"/>
                <a:cs typeface="微软雅黑"/>
              </a:rPr>
              <a:t>唯一性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55589" y="3290138"/>
            <a:ext cx="13087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AABACD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10093" y="3286125"/>
            <a:ext cx="12573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libri"/>
                <a:cs typeface="Calibri"/>
              </a:rPr>
              <a:t>00100110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377933" y="2861817"/>
            <a:ext cx="1461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3530" algn="l"/>
              </a:tabLst>
            </a:pPr>
            <a:r>
              <a:rPr sz="2400" dirty="0">
                <a:latin typeface="Calibri"/>
                <a:cs typeface="Calibri"/>
              </a:rPr>
              <a:t>0	</a:t>
            </a:r>
            <a:r>
              <a:rPr sz="2400" dirty="0">
                <a:solidFill>
                  <a:srgbClr val="B42C2C"/>
                </a:solidFill>
                <a:latin typeface="Calibri"/>
                <a:cs typeface="Calibri"/>
              </a:rPr>
              <a:t>0</a:t>
            </a:r>
            <a:r>
              <a:rPr sz="2400" spc="-105" dirty="0">
                <a:solidFill>
                  <a:srgbClr val="B42C2C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100110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377933" y="3727830"/>
            <a:ext cx="1461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3530" algn="l"/>
              </a:tabLst>
            </a:pPr>
            <a:r>
              <a:rPr sz="2400" dirty="0">
                <a:latin typeface="Calibri"/>
                <a:cs typeface="Calibri"/>
              </a:rPr>
              <a:t>0	</a:t>
            </a:r>
            <a:r>
              <a:rPr sz="2400" spc="-5" dirty="0">
                <a:solidFill>
                  <a:srgbClr val="285A31"/>
                </a:solidFill>
                <a:latin typeface="Calibri"/>
                <a:cs typeface="Calibri"/>
              </a:rPr>
              <a:t>01</a:t>
            </a:r>
            <a:r>
              <a:rPr sz="2400" spc="-100" dirty="0">
                <a:solidFill>
                  <a:srgbClr val="285A31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00110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2716148" y="2736342"/>
          <a:ext cx="2879089" cy="13785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9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8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03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pPr marR="130810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507C7C"/>
                      </a:solidFill>
                      <a:prstDash val="solid"/>
                    </a:lnL>
                    <a:lnT w="28575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065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T w="28575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T w="28575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T w="28575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R w="28575">
                      <a:solidFill>
                        <a:srgbClr val="507C7C"/>
                      </a:solidFill>
                      <a:prstDash val="solid"/>
                    </a:lnR>
                    <a:lnT w="28575">
                      <a:solidFill>
                        <a:srgbClr val="507C7C"/>
                      </a:solidFill>
                      <a:prstDash val="solid"/>
                    </a:lnT>
                    <a:lnB w="38100">
                      <a:solidFill>
                        <a:srgbClr val="507C7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70">
                <a:tc>
                  <a:txBody>
                    <a:bodyPr/>
                    <a:lstStyle/>
                    <a:p>
                      <a:pPr marR="10541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35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507C7C"/>
                      </a:solidFill>
                      <a:prstDash val="solid"/>
                    </a:lnL>
                    <a:lnT w="38100">
                      <a:solidFill>
                        <a:srgbClr val="507C7C"/>
                      </a:solidFill>
                      <a:prstDash val="solid"/>
                    </a:lnT>
                    <a:lnB w="57150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986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25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T w="38100">
                      <a:solidFill>
                        <a:srgbClr val="507C7C"/>
                      </a:solidFill>
                      <a:prstDash val="solid"/>
                    </a:lnT>
                    <a:lnB w="57150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15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T w="38100">
                      <a:solidFill>
                        <a:srgbClr val="507C7C"/>
                      </a:solidFill>
                      <a:prstDash val="solid"/>
                    </a:lnT>
                    <a:lnB w="57150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15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T w="38100">
                      <a:solidFill>
                        <a:srgbClr val="507C7C"/>
                      </a:solidFill>
                      <a:prstDash val="solid"/>
                    </a:lnT>
                    <a:lnB w="57150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R w="28575">
                      <a:solidFill>
                        <a:srgbClr val="507C7C"/>
                      </a:solidFill>
                      <a:prstDash val="solid"/>
                    </a:lnR>
                    <a:lnT w="38100">
                      <a:solidFill>
                        <a:srgbClr val="507C7C"/>
                      </a:solidFill>
                      <a:prstDash val="solid"/>
                    </a:lnT>
                    <a:lnB w="57150">
                      <a:solidFill>
                        <a:srgbClr val="507C7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28575">
                      <a:solidFill>
                        <a:srgbClr val="507C7C"/>
                      </a:solidFill>
                      <a:prstDash val="solid"/>
                    </a:lnL>
                    <a:lnT w="57150">
                      <a:solidFill>
                        <a:srgbClr val="507C7C"/>
                      </a:solidFill>
                      <a:prstDash val="solid"/>
                    </a:lnT>
                    <a:lnB w="28575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923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T w="57150">
                      <a:solidFill>
                        <a:srgbClr val="507C7C"/>
                      </a:solidFill>
                      <a:prstDash val="solid"/>
                    </a:lnT>
                    <a:lnB w="28575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01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T w="57150">
                      <a:solidFill>
                        <a:srgbClr val="507C7C"/>
                      </a:solidFill>
                      <a:prstDash val="solid"/>
                    </a:lnT>
                    <a:lnB w="28575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T w="57150">
                      <a:solidFill>
                        <a:srgbClr val="507C7C"/>
                      </a:solidFill>
                      <a:prstDash val="solid"/>
                    </a:lnT>
                    <a:lnB w="28575">
                      <a:solidFill>
                        <a:srgbClr val="507C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45" dirty="0">
                          <a:solidFill>
                            <a:srgbClr val="404040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R w="28575">
                      <a:solidFill>
                        <a:srgbClr val="507C7C"/>
                      </a:solidFill>
                      <a:prstDash val="solid"/>
                    </a:lnR>
                    <a:lnT w="57150">
                      <a:solidFill>
                        <a:srgbClr val="507C7C"/>
                      </a:solidFill>
                      <a:prstDash val="solid"/>
                    </a:lnT>
                    <a:lnB w="28575">
                      <a:solidFill>
                        <a:srgbClr val="507C7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object 22"/>
          <p:cNvSpPr txBox="1"/>
          <p:nvPr/>
        </p:nvSpPr>
        <p:spPr>
          <a:xfrm>
            <a:off x="808736" y="2730500"/>
            <a:ext cx="1549400" cy="1365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marR="5080" algn="r">
              <a:lnSpc>
                <a:spcPct val="1186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一组对象 使用频率</a:t>
            </a:r>
            <a:endParaRPr sz="2400">
              <a:latin typeface="微软雅黑"/>
              <a:cs typeface="微软雅黑"/>
            </a:endParaRPr>
          </a:p>
          <a:p>
            <a:pPr marR="5080" algn="r">
              <a:lnSpc>
                <a:spcPct val="100000"/>
              </a:lnSpc>
              <a:spcBef>
                <a:spcPts val="835"/>
              </a:spcBef>
            </a:pPr>
            <a:r>
              <a:rPr sz="2400" spc="-5" dirty="0">
                <a:solidFill>
                  <a:srgbClr val="404040"/>
                </a:solidFill>
                <a:latin typeface="微软雅黑"/>
                <a:cs typeface="微软雅黑"/>
              </a:rPr>
              <a:t>不等长编码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28901" y="5255818"/>
            <a:ext cx="8856345" cy="739140"/>
          </a:xfrm>
          <a:prstGeom prst="rect">
            <a:avLst/>
          </a:prstGeom>
          <a:ln w="38100">
            <a:solidFill>
              <a:srgbClr val="5A317C"/>
            </a:solidFill>
          </a:ln>
        </p:spPr>
        <p:txBody>
          <a:bodyPr vert="horz" wrap="square" lIns="0" tIns="174625" rIns="0" bIns="0" rtlCol="0">
            <a:spAutoFit/>
          </a:bodyPr>
          <a:lstStyle/>
          <a:p>
            <a:pPr marL="341630">
              <a:lnSpc>
                <a:spcPct val="100000"/>
              </a:lnSpc>
              <a:spcBef>
                <a:spcPts val="1375"/>
              </a:spcBef>
            </a:pPr>
            <a:r>
              <a:rPr sz="2800" spc="-5" dirty="0">
                <a:solidFill>
                  <a:srgbClr val="B42C2C"/>
                </a:solidFill>
                <a:latin typeface="微软雅黑"/>
                <a:cs typeface="微软雅黑"/>
              </a:rPr>
              <a:t>前缀（无歧义）编码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保证了在解码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时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不会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有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多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种</a:t>
            </a:r>
            <a:r>
              <a:rPr sz="2800" spc="5" dirty="0">
                <a:solidFill>
                  <a:srgbClr val="404040"/>
                </a:solidFill>
                <a:latin typeface="微软雅黑"/>
                <a:cs typeface="微软雅黑"/>
              </a:rPr>
              <a:t>可能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40332" y="4520946"/>
            <a:ext cx="99752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285A31"/>
                </a:solidFill>
                <a:latin typeface="微软雅黑"/>
                <a:cs typeface="微软雅黑"/>
              </a:rPr>
              <a:t>前缀编</a:t>
            </a:r>
            <a:r>
              <a:rPr sz="2800" spc="-10" dirty="0">
                <a:solidFill>
                  <a:srgbClr val="285A31"/>
                </a:solidFill>
                <a:latin typeface="微软雅黑"/>
                <a:cs typeface="微软雅黑"/>
              </a:rPr>
              <a:t>码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：在一组编码中，任一编</a:t>
            </a:r>
            <a:r>
              <a:rPr sz="2800" spc="5" dirty="0">
                <a:solidFill>
                  <a:srgbClr val="404040"/>
                </a:solidFill>
                <a:latin typeface="微软雅黑"/>
                <a:cs typeface="微软雅黑"/>
              </a:rPr>
              <a:t>码</a:t>
            </a:r>
            <a:r>
              <a:rPr sz="2800" spc="-5" dirty="0">
                <a:solidFill>
                  <a:srgbClr val="B42C2C"/>
                </a:solidFill>
                <a:latin typeface="微软雅黑"/>
                <a:cs typeface="微软雅黑"/>
              </a:rPr>
              <a:t>都不</a:t>
            </a:r>
            <a:r>
              <a:rPr sz="2800" spc="5" dirty="0">
                <a:solidFill>
                  <a:srgbClr val="B42C2C"/>
                </a:solidFill>
                <a:latin typeface="微软雅黑"/>
                <a:cs typeface="微软雅黑"/>
              </a:rPr>
              <a:t>是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其它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任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何编</a:t>
            </a:r>
            <a:r>
              <a:rPr sz="2800" spc="10" dirty="0">
                <a:solidFill>
                  <a:srgbClr val="404040"/>
                </a:solidFill>
                <a:latin typeface="微软雅黑"/>
                <a:cs typeface="微软雅黑"/>
              </a:rPr>
              <a:t>码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的前缀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26" name="object 3"/>
          <p:cNvSpPr/>
          <p:nvPr/>
        </p:nvSpPr>
        <p:spPr>
          <a:xfrm>
            <a:off x="542925" y="100964"/>
            <a:ext cx="1152525" cy="540385"/>
          </a:xfrm>
          <a:custGeom>
            <a:avLst/>
            <a:gdLst/>
            <a:ahLst/>
            <a:cxnLst/>
            <a:rect l="l" t="t" r="r" b="b"/>
            <a:pathLst>
              <a:path w="1152525" h="540385">
                <a:moveTo>
                  <a:pt x="1061974" y="0"/>
                </a:moveTo>
                <a:lnTo>
                  <a:pt x="90004" y="0"/>
                </a:lnTo>
                <a:lnTo>
                  <a:pt x="54971" y="7068"/>
                </a:lnTo>
                <a:lnTo>
                  <a:pt x="26362" y="26352"/>
                </a:lnTo>
                <a:lnTo>
                  <a:pt x="7073" y="54971"/>
                </a:lnTo>
                <a:lnTo>
                  <a:pt x="0" y="90042"/>
                </a:lnTo>
                <a:lnTo>
                  <a:pt x="0" y="449960"/>
                </a:lnTo>
                <a:lnTo>
                  <a:pt x="7073" y="485032"/>
                </a:lnTo>
                <a:lnTo>
                  <a:pt x="26362" y="513651"/>
                </a:lnTo>
                <a:lnTo>
                  <a:pt x="54971" y="532935"/>
                </a:lnTo>
                <a:lnTo>
                  <a:pt x="90004" y="540003"/>
                </a:lnTo>
                <a:lnTo>
                  <a:pt x="1061974" y="540003"/>
                </a:lnTo>
                <a:lnTo>
                  <a:pt x="1097045" y="532935"/>
                </a:lnTo>
                <a:lnTo>
                  <a:pt x="1125664" y="513651"/>
                </a:lnTo>
                <a:lnTo>
                  <a:pt x="1144948" y="485032"/>
                </a:lnTo>
                <a:lnTo>
                  <a:pt x="1152017" y="449960"/>
                </a:lnTo>
                <a:lnTo>
                  <a:pt x="1152017" y="90042"/>
                </a:lnTo>
                <a:lnTo>
                  <a:pt x="1144948" y="54971"/>
                </a:lnTo>
                <a:lnTo>
                  <a:pt x="1125664" y="26352"/>
                </a:lnTo>
                <a:lnTo>
                  <a:pt x="1097045" y="7068"/>
                </a:lnTo>
                <a:lnTo>
                  <a:pt x="1061974" y="0"/>
                </a:lnTo>
                <a:close/>
              </a:path>
            </a:pathLst>
          </a:custGeom>
          <a:solidFill>
            <a:srgbClr val="5A31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4"/>
          <p:cNvSpPr txBox="1">
            <a:spLocks noGrp="1"/>
          </p:cNvSpPr>
          <p:nvPr>
            <p:ph type="title"/>
          </p:nvPr>
        </p:nvSpPr>
        <p:spPr>
          <a:xfrm>
            <a:off x="716991" y="141809"/>
            <a:ext cx="84264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chemeClr val="bg1"/>
                </a:solidFill>
              </a:rPr>
              <a:t>编码</a:t>
            </a:r>
          </a:p>
        </p:txBody>
      </p:sp>
    </p:spTree>
    <p:extLst>
      <p:ext uri="{BB962C8B-B14F-4D97-AF65-F5344CB8AC3E}">
        <p14:creationId xmlns:p14="http://schemas.microsoft.com/office/powerpoint/2010/main" val="2636917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48643" y="2017267"/>
            <a:ext cx="152400" cy="25355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algn="just">
              <a:lnSpc>
                <a:spcPts val="1000"/>
              </a:lnSpc>
              <a:spcBef>
                <a:spcPts val="2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数 据 结 构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880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（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从 概 念 到 实 现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975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640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清 华 大 学 出 版 社</a:t>
            </a:r>
            <a:endParaRPr sz="1000">
              <a:latin typeface="微软雅黑"/>
              <a:cs typeface="微软雅黑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94791" y="1022730"/>
            <a:ext cx="8049259" cy="432434"/>
            <a:chOff x="794791" y="1022730"/>
            <a:chExt cx="8049259" cy="432434"/>
          </a:xfrm>
        </p:grpSpPr>
        <p:sp>
          <p:nvSpPr>
            <p:cNvPr id="6" name="object 6"/>
            <p:cNvSpPr/>
            <p:nvPr/>
          </p:nvSpPr>
          <p:spPr>
            <a:xfrm>
              <a:off x="881507" y="1391538"/>
              <a:ext cx="292735" cy="63500"/>
            </a:xfrm>
            <a:custGeom>
              <a:avLst/>
              <a:gdLst/>
              <a:ahLst/>
              <a:cxnLst/>
              <a:rect l="l" t="t" r="r" b="b"/>
              <a:pathLst>
                <a:path w="292734" h="63500">
                  <a:moveTo>
                    <a:pt x="251574" y="0"/>
                  </a:moveTo>
                  <a:lnTo>
                    <a:pt x="40728" y="0"/>
                  </a:lnTo>
                  <a:lnTo>
                    <a:pt x="35928" y="2159"/>
                  </a:lnTo>
                  <a:lnTo>
                    <a:pt x="35928" y="4318"/>
                  </a:lnTo>
                  <a:lnTo>
                    <a:pt x="2387" y="50546"/>
                  </a:lnTo>
                  <a:lnTo>
                    <a:pt x="0" y="54737"/>
                  </a:lnTo>
                  <a:lnTo>
                    <a:pt x="0" y="58927"/>
                  </a:lnTo>
                  <a:lnTo>
                    <a:pt x="4787" y="61087"/>
                  </a:lnTo>
                  <a:lnTo>
                    <a:pt x="7175" y="63119"/>
                  </a:lnTo>
                  <a:lnTo>
                    <a:pt x="14363" y="63119"/>
                  </a:lnTo>
                  <a:lnTo>
                    <a:pt x="16764" y="61087"/>
                  </a:lnTo>
                  <a:lnTo>
                    <a:pt x="19164" y="58927"/>
                  </a:lnTo>
                  <a:lnTo>
                    <a:pt x="47917" y="16890"/>
                  </a:lnTo>
                  <a:lnTo>
                    <a:pt x="265484" y="16890"/>
                  </a:lnTo>
                  <a:lnTo>
                    <a:pt x="256362" y="4318"/>
                  </a:lnTo>
                  <a:lnTo>
                    <a:pt x="251574" y="0"/>
                  </a:lnTo>
                  <a:close/>
                </a:path>
                <a:path w="292734" h="63500">
                  <a:moveTo>
                    <a:pt x="265484" y="16890"/>
                  </a:moveTo>
                  <a:lnTo>
                    <a:pt x="244386" y="16890"/>
                  </a:lnTo>
                  <a:lnTo>
                    <a:pt x="273126" y="58927"/>
                  </a:lnTo>
                  <a:lnTo>
                    <a:pt x="275526" y="61087"/>
                  </a:lnTo>
                  <a:lnTo>
                    <a:pt x="277926" y="63119"/>
                  </a:lnTo>
                  <a:lnTo>
                    <a:pt x="285115" y="63119"/>
                  </a:lnTo>
                  <a:lnTo>
                    <a:pt x="287502" y="61087"/>
                  </a:lnTo>
                  <a:lnTo>
                    <a:pt x="292303" y="58927"/>
                  </a:lnTo>
                  <a:lnTo>
                    <a:pt x="292303" y="54737"/>
                  </a:lnTo>
                  <a:lnTo>
                    <a:pt x="289902" y="50546"/>
                  </a:lnTo>
                  <a:lnTo>
                    <a:pt x="265484" y="16890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4791" y="1022730"/>
              <a:ext cx="145453" cy="11404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3663" y="1022730"/>
              <a:ext cx="146862" cy="11404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45134" y="1064005"/>
              <a:ext cx="362585" cy="316865"/>
            </a:xfrm>
            <a:custGeom>
              <a:avLst/>
              <a:gdLst/>
              <a:ahLst/>
              <a:cxnLst/>
              <a:rect l="l" t="t" r="r" b="b"/>
              <a:pathLst>
                <a:path w="362584" h="316865">
                  <a:moveTo>
                    <a:pt x="182321" y="0"/>
                  </a:moveTo>
                  <a:lnTo>
                    <a:pt x="133833" y="5645"/>
                  </a:lnTo>
                  <a:lnTo>
                    <a:pt x="90275" y="21585"/>
                  </a:lnTo>
                  <a:lnTo>
                    <a:pt x="53379" y="46323"/>
                  </a:lnTo>
                  <a:lnTo>
                    <a:pt x="24879" y="78363"/>
                  </a:lnTo>
                  <a:lnTo>
                    <a:pt x="6508" y="116210"/>
                  </a:lnTo>
                  <a:lnTo>
                    <a:pt x="0" y="158369"/>
                  </a:lnTo>
                  <a:lnTo>
                    <a:pt x="6508" y="200473"/>
                  </a:lnTo>
                  <a:lnTo>
                    <a:pt x="24879" y="238284"/>
                  </a:lnTo>
                  <a:lnTo>
                    <a:pt x="53379" y="270303"/>
                  </a:lnTo>
                  <a:lnTo>
                    <a:pt x="90275" y="295030"/>
                  </a:lnTo>
                  <a:lnTo>
                    <a:pt x="133833" y="310965"/>
                  </a:lnTo>
                  <a:lnTo>
                    <a:pt x="182321" y="316611"/>
                  </a:lnTo>
                  <a:lnTo>
                    <a:pt x="230631" y="310965"/>
                  </a:lnTo>
                  <a:lnTo>
                    <a:pt x="273744" y="295030"/>
                  </a:lnTo>
                  <a:lnTo>
                    <a:pt x="310062" y="270303"/>
                  </a:lnTo>
                  <a:lnTo>
                    <a:pt x="337984" y="238284"/>
                  </a:lnTo>
                  <a:lnTo>
                    <a:pt x="355911" y="200473"/>
                  </a:lnTo>
                  <a:lnTo>
                    <a:pt x="360370" y="170815"/>
                  </a:lnTo>
                  <a:lnTo>
                    <a:pt x="175120" y="170815"/>
                  </a:lnTo>
                  <a:lnTo>
                    <a:pt x="170319" y="164592"/>
                  </a:lnTo>
                  <a:lnTo>
                    <a:pt x="170319" y="43688"/>
                  </a:lnTo>
                  <a:lnTo>
                    <a:pt x="175120" y="37465"/>
                  </a:lnTo>
                  <a:lnTo>
                    <a:pt x="297057" y="37465"/>
                  </a:lnTo>
                  <a:lnTo>
                    <a:pt x="273744" y="21585"/>
                  </a:lnTo>
                  <a:lnTo>
                    <a:pt x="230631" y="5645"/>
                  </a:lnTo>
                  <a:lnTo>
                    <a:pt x="182321" y="0"/>
                  </a:lnTo>
                  <a:close/>
                </a:path>
                <a:path w="362584" h="316865">
                  <a:moveTo>
                    <a:pt x="297057" y="37465"/>
                  </a:moveTo>
                  <a:lnTo>
                    <a:pt x="191909" y="37465"/>
                  </a:lnTo>
                  <a:lnTo>
                    <a:pt x="199110" y="43688"/>
                  </a:lnTo>
                  <a:lnTo>
                    <a:pt x="199110" y="145796"/>
                  </a:lnTo>
                  <a:lnTo>
                    <a:pt x="256692" y="145796"/>
                  </a:lnTo>
                  <a:lnTo>
                    <a:pt x="263880" y="149987"/>
                  </a:lnTo>
                  <a:lnTo>
                    <a:pt x="263880" y="164592"/>
                  </a:lnTo>
                  <a:lnTo>
                    <a:pt x="256692" y="170815"/>
                  </a:lnTo>
                  <a:lnTo>
                    <a:pt x="360370" y="170815"/>
                  </a:lnTo>
                  <a:lnTo>
                    <a:pt x="362242" y="158369"/>
                  </a:lnTo>
                  <a:lnTo>
                    <a:pt x="355911" y="116210"/>
                  </a:lnTo>
                  <a:lnTo>
                    <a:pt x="337984" y="78363"/>
                  </a:lnTo>
                  <a:lnTo>
                    <a:pt x="310062" y="46323"/>
                  </a:lnTo>
                  <a:lnTo>
                    <a:pt x="297057" y="37465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53349" y="1075816"/>
              <a:ext cx="575945" cy="324485"/>
            </a:xfrm>
            <a:custGeom>
              <a:avLst/>
              <a:gdLst/>
              <a:ahLst/>
              <a:cxnLst/>
              <a:rect l="l" t="t" r="r" b="b"/>
              <a:pathLst>
                <a:path w="575945" h="324484">
                  <a:moveTo>
                    <a:pt x="0" y="81025"/>
                  </a:moveTo>
                  <a:lnTo>
                    <a:pt x="414020" y="81025"/>
                  </a:lnTo>
                  <a:lnTo>
                    <a:pt x="414020" y="0"/>
                  </a:lnTo>
                  <a:lnTo>
                    <a:pt x="575945" y="161925"/>
                  </a:lnTo>
                  <a:lnTo>
                    <a:pt x="414020" y="323977"/>
                  </a:lnTo>
                  <a:lnTo>
                    <a:pt x="414020" y="242950"/>
                  </a:lnTo>
                  <a:lnTo>
                    <a:pt x="0" y="242950"/>
                  </a:lnTo>
                  <a:lnTo>
                    <a:pt x="0" y="81025"/>
                  </a:lnTo>
                  <a:close/>
                </a:path>
              </a:pathLst>
            </a:custGeom>
            <a:ln w="28575">
              <a:solidFill>
                <a:srgbClr val="B42C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956293" y="980312"/>
            <a:ext cx="18008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哈夫曼编码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3658" y="829970"/>
            <a:ext cx="8017509" cy="1597660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571500">
              <a:lnSpc>
                <a:spcPct val="100000"/>
              </a:lnSpc>
              <a:spcBef>
                <a:spcPts val="1250"/>
              </a:spcBef>
            </a:pP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如何设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计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一个编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码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效率最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高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的</a:t>
            </a:r>
            <a:r>
              <a:rPr sz="2800" spc="-5" dirty="0">
                <a:solidFill>
                  <a:srgbClr val="FF0000"/>
                </a:solidFill>
                <a:latin typeface="微软雅黑"/>
                <a:cs typeface="微软雅黑"/>
              </a:rPr>
              <a:t>前缀</a:t>
            </a:r>
            <a:r>
              <a:rPr sz="2800" dirty="0">
                <a:solidFill>
                  <a:srgbClr val="FF0000"/>
                </a:solidFill>
                <a:latin typeface="微软雅黑"/>
                <a:cs typeface="微软雅黑"/>
              </a:rPr>
              <a:t>编</a:t>
            </a:r>
            <a:r>
              <a:rPr sz="2800" spc="-5" dirty="0">
                <a:solidFill>
                  <a:srgbClr val="FF0000"/>
                </a:solidFill>
                <a:latin typeface="微软雅黑"/>
                <a:cs typeface="微软雅黑"/>
              </a:rPr>
              <a:t>码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呢</a:t>
            </a:r>
            <a:r>
              <a:rPr sz="2800" spc="-65" dirty="0">
                <a:solidFill>
                  <a:srgbClr val="404040"/>
                </a:solidFill>
                <a:latin typeface="微软雅黑"/>
                <a:cs typeface="微软雅黑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?</a:t>
            </a:r>
            <a:endParaRPr sz="2800" dirty="0">
              <a:latin typeface="微软雅黑"/>
              <a:cs typeface="微软雅黑"/>
            </a:endParaRPr>
          </a:p>
          <a:p>
            <a:pPr marL="12700" marR="5080">
              <a:lnSpc>
                <a:spcPct val="100000"/>
              </a:lnSpc>
              <a:spcBef>
                <a:spcPts val="1150"/>
              </a:spcBef>
              <a:tabLst>
                <a:tab pos="2807970" algn="l"/>
                <a:tab pos="3275329" algn="l"/>
                <a:tab pos="3746500" algn="l"/>
                <a:tab pos="4235450" algn="l"/>
                <a:tab pos="4685665" algn="l"/>
                <a:tab pos="5089525" algn="l"/>
              </a:tabLst>
            </a:pPr>
            <a:r>
              <a:rPr sz="2800" spc="-5" dirty="0">
                <a:solidFill>
                  <a:srgbClr val="5A317C"/>
                </a:solidFill>
                <a:latin typeface="微软雅黑"/>
                <a:cs typeface="微软雅黑"/>
              </a:rPr>
              <a:t>例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：一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组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字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符</a:t>
            </a:r>
            <a:r>
              <a:rPr sz="2800" spc="5" dirty="0">
                <a:solidFill>
                  <a:srgbClr val="404040"/>
                </a:solidFill>
                <a:latin typeface="Times New Roman"/>
                <a:cs typeface="Times New Roman"/>
              </a:rPr>
              <a:t>{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A,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B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C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D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800" spc="-229" dirty="0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G</a:t>
            </a:r>
            <a:r>
              <a:rPr sz="2800" spc="5" dirty="0">
                <a:solidFill>
                  <a:srgbClr val="404040"/>
                </a:solidFill>
                <a:latin typeface="Times New Roman"/>
                <a:cs typeface="Times New Roman"/>
              </a:rPr>
              <a:t>}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出现的</a:t>
            </a:r>
            <a:r>
              <a:rPr sz="2800" dirty="0">
                <a:solidFill>
                  <a:srgbClr val="404040"/>
                </a:solidFill>
                <a:latin typeface="微软雅黑"/>
                <a:cs typeface="微软雅黑"/>
              </a:rPr>
              <a:t>频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率分别 是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{9,</a:t>
            </a:r>
            <a:r>
              <a:rPr sz="2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35" dirty="0">
                <a:solidFill>
                  <a:srgbClr val="404040"/>
                </a:solidFill>
                <a:latin typeface="Times New Roman"/>
                <a:cs typeface="Times New Roman"/>
              </a:rPr>
              <a:t>11,</a:t>
            </a:r>
            <a:r>
              <a:rPr sz="2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5, 7,</a:t>
            </a:r>
            <a:r>
              <a:rPr sz="2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404040"/>
                </a:solidFill>
                <a:latin typeface="Times New Roman"/>
                <a:cs typeface="Times New Roman"/>
              </a:rPr>
              <a:t>8, 2,</a:t>
            </a:r>
            <a:r>
              <a:rPr sz="2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Times New Roman"/>
                <a:cs typeface="Times New Roman"/>
              </a:rPr>
              <a:t>3}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，设计最经济的编码方案</a:t>
            </a:r>
            <a:endParaRPr sz="2800" dirty="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24366" y="205409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876026" y="308279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211816" y="2090165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930767" y="3064586"/>
            <a:ext cx="1784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390126" y="3949700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869808" y="3507232"/>
            <a:ext cx="3812540" cy="2232025"/>
          </a:xfrm>
          <a:custGeom>
            <a:avLst/>
            <a:gdLst/>
            <a:ahLst/>
            <a:cxnLst/>
            <a:rect l="l" t="t" r="r" b="b"/>
            <a:pathLst>
              <a:path w="3812540" h="2232025">
                <a:moveTo>
                  <a:pt x="0" y="215899"/>
                </a:moveTo>
                <a:lnTo>
                  <a:pt x="4754" y="172384"/>
                </a:lnTo>
                <a:lnTo>
                  <a:pt x="18391" y="131855"/>
                </a:lnTo>
                <a:lnTo>
                  <a:pt x="39969" y="95181"/>
                </a:lnTo>
                <a:lnTo>
                  <a:pt x="68548" y="63230"/>
                </a:lnTo>
                <a:lnTo>
                  <a:pt x="103187" y="36868"/>
                </a:lnTo>
                <a:lnTo>
                  <a:pt x="142946" y="16964"/>
                </a:lnTo>
                <a:lnTo>
                  <a:pt x="186884" y="4385"/>
                </a:lnTo>
                <a:lnTo>
                  <a:pt x="234061" y="0"/>
                </a:lnTo>
                <a:lnTo>
                  <a:pt x="281237" y="4385"/>
                </a:lnTo>
                <a:lnTo>
                  <a:pt x="325175" y="16964"/>
                </a:lnTo>
                <a:lnTo>
                  <a:pt x="364934" y="36868"/>
                </a:lnTo>
                <a:lnTo>
                  <a:pt x="399573" y="63230"/>
                </a:lnTo>
                <a:lnTo>
                  <a:pt x="428152" y="95181"/>
                </a:lnTo>
                <a:lnTo>
                  <a:pt x="449730" y="131855"/>
                </a:lnTo>
                <a:lnTo>
                  <a:pt x="463367" y="172384"/>
                </a:lnTo>
                <a:lnTo>
                  <a:pt x="468122" y="215899"/>
                </a:lnTo>
                <a:lnTo>
                  <a:pt x="463367" y="259415"/>
                </a:lnTo>
                <a:lnTo>
                  <a:pt x="449730" y="299944"/>
                </a:lnTo>
                <a:lnTo>
                  <a:pt x="428152" y="336618"/>
                </a:lnTo>
                <a:lnTo>
                  <a:pt x="399573" y="368569"/>
                </a:lnTo>
                <a:lnTo>
                  <a:pt x="364934" y="394931"/>
                </a:lnTo>
                <a:lnTo>
                  <a:pt x="325175" y="414835"/>
                </a:lnTo>
                <a:lnTo>
                  <a:pt x="281237" y="427414"/>
                </a:lnTo>
                <a:lnTo>
                  <a:pt x="234061" y="431799"/>
                </a:lnTo>
                <a:lnTo>
                  <a:pt x="186884" y="427414"/>
                </a:lnTo>
                <a:lnTo>
                  <a:pt x="142946" y="414835"/>
                </a:lnTo>
                <a:lnTo>
                  <a:pt x="103187" y="394931"/>
                </a:lnTo>
                <a:lnTo>
                  <a:pt x="68548" y="368569"/>
                </a:lnTo>
                <a:lnTo>
                  <a:pt x="39969" y="336618"/>
                </a:lnTo>
                <a:lnTo>
                  <a:pt x="18391" y="299944"/>
                </a:lnTo>
                <a:lnTo>
                  <a:pt x="4754" y="259415"/>
                </a:lnTo>
                <a:lnTo>
                  <a:pt x="0" y="215899"/>
                </a:lnTo>
                <a:close/>
              </a:path>
              <a:path w="3812540" h="2232025">
                <a:moveTo>
                  <a:pt x="472948" y="1107058"/>
                </a:moveTo>
                <a:lnTo>
                  <a:pt x="477702" y="1063585"/>
                </a:lnTo>
                <a:lnTo>
                  <a:pt x="491339" y="1023088"/>
                </a:lnTo>
                <a:lnTo>
                  <a:pt x="512917" y="986436"/>
                </a:lnTo>
                <a:lnTo>
                  <a:pt x="541496" y="954500"/>
                </a:lnTo>
                <a:lnTo>
                  <a:pt x="576135" y="928147"/>
                </a:lnTo>
                <a:lnTo>
                  <a:pt x="615894" y="908248"/>
                </a:lnTo>
                <a:lnTo>
                  <a:pt x="659832" y="895671"/>
                </a:lnTo>
                <a:lnTo>
                  <a:pt x="707009" y="891285"/>
                </a:lnTo>
                <a:lnTo>
                  <a:pt x="754185" y="895671"/>
                </a:lnTo>
                <a:lnTo>
                  <a:pt x="798123" y="908248"/>
                </a:lnTo>
                <a:lnTo>
                  <a:pt x="837882" y="928147"/>
                </a:lnTo>
                <a:lnTo>
                  <a:pt x="872521" y="954500"/>
                </a:lnTo>
                <a:lnTo>
                  <a:pt x="901100" y="986436"/>
                </a:lnTo>
                <a:lnTo>
                  <a:pt x="922678" y="1023088"/>
                </a:lnTo>
                <a:lnTo>
                  <a:pt x="936315" y="1063585"/>
                </a:lnTo>
                <a:lnTo>
                  <a:pt x="941070" y="1107058"/>
                </a:lnTo>
                <a:lnTo>
                  <a:pt x="936315" y="1150574"/>
                </a:lnTo>
                <a:lnTo>
                  <a:pt x="922678" y="1191103"/>
                </a:lnTo>
                <a:lnTo>
                  <a:pt x="901100" y="1227777"/>
                </a:lnTo>
                <a:lnTo>
                  <a:pt x="872521" y="1259728"/>
                </a:lnTo>
                <a:lnTo>
                  <a:pt x="837882" y="1286090"/>
                </a:lnTo>
                <a:lnTo>
                  <a:pt x="798123" y="1305994"/>
                </a:lnTo>
                <a:lnTo>
                  <a:pt x="754185" y="1318573"/>
                </a:lnTo>
                <a:lnTo>
                  <a:pt x="707009" y="1322958"/>
                </a:lnTo>
                <a:lnTo>
                  <a:pt x="659832" y="1318573"/>
                </a:lnTo>
                <a:lnTo>
                  <a:pt x="615894" y="1305994"/>
                </a:lnTo>
                <a:lnTo>
                  <a:pt x="576135" y="1286090"/>
                </a:lnTo>
                <a:lnTo>
                  <a:pt x="541496" y="1259728"/>
                </a:lnTo>
                <a:lnTo>
                  <a:pt x="512917" y="1227777"/>
                </a:lnTo>
                <a:lnTo>
                  <a:pt x="491339" y="1191103"/>
                </a:lnTo>
                <a:lnTo>
                  <a:pt x="477702" y="1150574"/>
                </a:lnTo>
                <a:lnTo>
                  <a:pt x="472948" y="1107058"/>
                </a:lnTo>
                <a:close/>
              </a:path>
              <a:path w="3812540" h="2232025">
                <a:moveTo>
                  <a:pt x="947674" y="2004567"/>
                </a:moveTo>
                <a:lnTo>
                  <a:pt x="952434" y="1961094"/>
                </a:lnTo>
                <a:lnTo>
                  <a:pt x="966085" y="1920597"/>
                </a:lnTo>
                <a:lnTo>
                  <a:pt x="987683" y="1883945"/>
                </a:lnTo>
                <a:lnTo>
                  <a:pt x="1016285" y="1852009"/>
                </a:lnTo>
                <a:lnTo>
                  <a:pt x="1050948" y="1825656"/>
                </a:lnTo>
                <a:lnTo>
                  <a:pt x="1090727" y="1805757"/>
                </a:lnTo>
                <a:lnTo>
                  <a:pt x="1134680" y="1793180"/>
                </a:lnTo>
                <a:lnTo>
                  <a:pt x="1181862" y="1788794"/>
                </a:lnTo>
                <a:lnTo>
                  <a:pt x="1229002" y="1793180"/>
                </a:lnTo>
                <a:lnTo>
                  <a:pt x="1272922" y="1805757"/>
                </a:lnTo>
                <a:lnTo>
                  <a:pt x="1312679" y="1825656"/>
                </a:lnTo>
                <a:lnTo>
                  <a:pt x="1347327" y="1852009"/>
                </a:lnTo>
                <a:lnTo>
                  <a:pt x="1375920" y="1883945"/>
                </a:lnTo>
                <a:lnTo>
                  <a:pt x="1397513" y="1920597"/>
                </a:lnTo>
                <a:lnTo>
                  <a:pt x="1411163" y="1961094"/>
                </a:lnTo>
                <a:lnTo>
                  <a:pt x="1415923" y="2004567"/>
                </a:lnTo>
                <a:lnTo>
                  <a:pt x="1411163" y="2048091"/>
                </a:lnTo>
                <a:lnTo>
                  <a:pt x="1397513" y="2088626"/>
                </a:lnTo>
                <a:lnTo>
                  <a:pt x="1375920" y="2125305"/>
                </a:lnTo>
                <a:lnTo>
                  <a:pt x="1347327" y="2157260"/>
                </a:lnTo>
                <a:lnTo>
                  <a:pt x="1312679" y="2183623"/>
                </a:lnTo>
                <a:lnTo>
                  <a:pt x="1272922" y="2203528"/>
                </a:lnTo>
                <a:lnTo>
                  <a:pt x="1229002" y="2216107"/>
                </a:lnTo>
                <a:lnTo>
                  <a:pt x="1181862" y="2220493"/>
                </a:lnTo>
                <a:lnTo>
                  <a:pt x="1134680" y="2216107"/>
                </a:lnTo>
                <a:lnTo>
                  <a:pt x="1090727" y="2203528"/>
                </a:lnTo>
                <a:lnTo>
                  <a:pt x="1050948" y="2183623"/>
                </a:lnTo>
                <a:lnTo>
                  <a:pt x="1016285" y="2157260"/>
                </a:lnTo>
                <a:lnTo>
                  <a:pt x="987683" y="2125305"/>
                </a:lnTo>
                <a:lnTo>
                  <a:pt x="966085" y="2088626"/>
                </a:lnTo>
                <a:lnTo>
                  <a:pt x="952434" y="2048091"/>
                </a:lnTo>
                <a:lnTo>
                  <a:pt x="947674" y="2004567"/>
                </a:lnTo>
                <a:close/>
              </a:path>
              <a:path w="3812540" h="2232025">
                <a:moveTo>
                  <a:pt x="1936877" y="2016124"/>
                </a:moveTo>
                <a:lnTo>
                  <a:pt x="1941631" y="1972609"/>
                </a:lnTo>
                <a:lnTo>
                  <a:pt x="1955268" y="1932080"/>
                </a:lnTo>
                <a:lnTo>
                  <a:pt x="1976846" y="1895406"/>
                </a:lnTo>
                <a:lnTo>
                  <a:pt x="2005425" y="1863455"/>
                </a:lnTo>
                <a:lnTo>
                  <a:pt x="2040064" y="1837093"/>
                </a:lnTo>
                <a:lnTo>
                  <a:pt x="2079823" y="1817189"/>
                </a:lnTo>
                <a:lnTo>
                  <a:pt x="2123761" y="1804610"/>
                </a:lnTo>
                <a:lnTo>
                  <a:pt x="2170938" y="1800224"/>
                </a:lnTo>
                <a:lnTo>
                  <a:pt x="2218114" y="1804610"/>
                </a:lnTo>
                <a:lnTo>
                  <a:pt x="2262052" y="1817189"/>
                </a:lnTo>
                <a:lnTo>
                  <a:pt x="2301811" y="1837093"/>
                </a:lnTo>
                <a:lnTo>
                  <a:pt x="2336450" y="1863455"/>
                </a:lnTo>
                <a:lnTo>
                  <a:pt x="2365029" y="1895406"/>
                </a:lnTo>
                <a:lnTo>
                  <a:pt x="2386607" y="1932080"/>
                </a:lnTo>
                <a:lnTo>
                  <a:pt x="2400244" y="1972609"/>
                </a:lnTo>
                <a:lnTo>
                  <a:pt x="2404999" y="2016124"/>
                </a:lnTo>
                <a:lnTo>
                  <a:pt x="2400244" y="2059623"/>
                </a:lnTo>
                <a:lnTo>
                  <a:pt x="2386607" y="2100139"/>
                </a:lnTo>
                <a:lnTo>
                  <a:pt x="2365029" y="2136804"/>
                </a:lnTo>
                <a:lnTo>
                  <a:pt x="2336450" y="2168750"/>
                </a:lnTo>
                <a:lnTo>
                  <a:pt x="2301811" y="2195108"/>
                </a:lnTo>
                <a:lnTo>
                  <a:pt x="2262052" y="2215010"/>
                </a:lnTo>
                <a:lnTo>
                  <a:pt x="2218114" y="2227588"/>
                </a:lnTo>
                <a:lnTo>
                  <a:pt x="2170938" y="2231974"/>
                </a:lnTo>
                <a:lnTo>
                  <a:pt x="2123761" y="2227588"/>
                </a:lnTo>
                <a:lnTo>
                  <a:pt x="2079823" y="2215010"/>
                </a:lnTo>
                <a:lnTo>
                  <a:pt x="2040064" y="2195108"/>
                </a:lnTo>
                <a:lnTo>
                  <a:pt x="2005425" y="2168750"/>
                </a:lnTo>
                <a:lnTo>
                  <a:pt x="1976846" y="2136804"/>
                </a:lnTo>
                <a:lnTo>
                  <a:pt x="1955268" y="2100139"/>
                </a:lnTo>
                <a:lnTo>
                  <a:pt x="1941631" y="2059623"/>
                </a:lnTo>
                <a:lnTo>
                  <a:pt x="1936877" y="2016124"/>
                </a:lnTo>
                <a:close/>
              </a:path>
              <a:path w="3812540" h="2232025">
                <a:moveTo>
                  <a:pt x="1958594" y="274446"/>
                </a:moveTo>
                <a:lnTo>
                  <a:pt x="1963348" y="230931"/>
                </a:lnTo>
                <a:lnTo>
                  <a:pt x="1976985" y="190402"/>
                </a:lnTo>
                <a:lnTo>
                  <a:pt x="1998563" y="153728"/>
                </a:lnTo>
                <a:lnTo>
                  <a:pt x="2027142" y="121777"/>
                </a:lnTo>
                <a:lnTo>
                  <a:pt x="2061781" y="95415"/>
                </a:lnTo>
                <a:lnTo>
                  <a:pt x="2101540" y="75511"/>
                </a:lnTo>
                <a:lnTo>
                  <a:pt x="2145478" y="62932"/>
                </a:lnTo>
                <a:lnTo>
                  <a:pt x="2192655" y="58546"/>
                </a:lnTo>
                <a:lnTo>
                  <a:pt x="2239831" y="62932"/>
                </a:lnTo>
                <a:lnTo>
                  <a:pt x="2283769" y="75511"/>
                </a:lnTo>
                <a:lnTo>
                  <a:pt x="2323528" y="95415"/>
                </a:lnTo>
                <a:lnTo>
                  <a:pt x="2358167" y="121777"/>
                </a:lnTo>
                <a:lnTo>
                  <a:pt x="2386746" y="153728"/>
                </a:lnTo>
                <a:lnTo>
                  <a:pt x="2408324" y="190402"/>
                </a:lnTo>
                <a:lnTo>
                  <a:pt x="2421961" y="230931"/>
                </a:lnTo>
                <a:lnTo>
                  <a:pt x="2426716" y="274446"/>
                </a:lnTo>
                <a:lnTo>
                  <a:pt x="2421961" y="317920"/>
                </a:lnTo>
                <a:lnTo>
                  <a:pt x="2408324" y="358417"/>
                </a:lnTo>
                <a:lnTo>
                  <a:pt x="2386746" y="395069"/>
                </a:lnTo>
                <a:lnTo>
                  <a:pt x="2358167" y="427005"/>
                </a:lnTo>
                <a:lnTo>
                  <a:pt x="2323528" y="453358"/>
                </a:lnTo>
                <a:lnTo>
                  <a:pt x="2283769" y="473257"/>
                </a:lnTo>
                <a:lnTo>
                  <a:pt x="2239831" y="485834"/>
                </a:lnTo>
                <a:lnTo>
                  <a:pt x="2192655" y="490219"/>
                </a:lnTo>
                <a:lnTo>
                  <a:pt x="2145478" y="485834"/>
                </a:lnTo>
                <a:lnTo>
                  <a:pt x="2101540" y="473257"/>
                </a:lnTo>
                <a:lnTo>
                  <a:pt x="2061781" y="453358"/>
                </a:lnTo>
                <a:lnTo>
                  <a:pt x="2027142" y="427005"/>
                </a:lnTo>
                <a:lnTo>
                  <a:pt x="1998563" y="395069"/>
                </a:lnTo>
                <a:lnTo>
                  <a:pt x="1976985" y="358417"/>
                </a:lnTo>
                <a:lnTo>
                  <a:pt x="1963348" y="317920"/>
                </a:lnTo>
                <a:lnTo>
                  <a:pt x="1958594" y="274446"/>
                </a:lnTo>
                <a:close/>
              </a:path>
              <a:path w="3812540" h="2232025">
                <a:moveTo>
                  <a:pt x="3344418" y="1124330"/>
                </a:moveTo>
                <a:lnTo>
                  <a:pt x="3349172" y="1080815"/>
                </a:lnTo>
                <a:lnTo>
                  <a:pt x="3362809" y="1040286"/>
                </a:lnTo>
                <a:lnTo>
                  <a:pt x="3384387" y="1003612"/>
                </a:lnTo>
                <a:lnTo>
                  <a:pt x="3412966" y="971661"/>
                </a:lnTo>
                <a:lnTo>
                  <a:pt x="3447605" y="945299"/>
                </a:lnTo>
                <a:lnTo>
                  <a:pt x="3487364" y="925395"/>
                </a:lnTo>
                <a:lnTo>
                  <a:pt x="3531302" y="912816"/>
                </a:lnTo>
                <a:lnTo>
                  <a:pt x="3578479" y="908430"/>
                </a:lnTo>
                <a:lnTo>
                  <a:pt x="3625655" y="912816"/>
                </a:lnTo>
                <a:lnTo>
                  <a:pt x="3669593" y="925395"/>
                </a:lnTo>
                <a:lnTo>
                  <a:pt x="3709352" y="945299"/>
                </a:lnTo>
                <a:lnTo>
                  <a:pt x="3743991" y="971661"/>
                </a:lnTo>
                <a:lnTo>
                  <a:pt x="3772570" y="1003612"/>
                </a:lnTo>
                <a:lnTo>
                  <a:pt x="3794148" y="1040286"/>
                </a:lnTo>
                <a:lnTo>
                  <a:pt x="3807785" y="1080815"/>
                </a:lnTo>
                <a:lnTo>
                  <a:pt x="3812540" y="1124330"/>
                </a:lnTo>
                <a:lnTo>
                  <a:pt x="3807785" y="1167804"/>
                </a:lnTo>
                <a:lnTo>
                  <a:pt x="3794148" y="1208301"/>
                </a:lnTo>
                <a:lnTo>
                  <a:pt x="3772570" y="1244953"/>
                </a:lnTo>
                <a:lnTo>
                  <a:pt x="3743991" y="1276889"/>
                </a:lnTo>
                <a:lnTo>
                  <a:pt x="3709352" y="1303242"/>
                </a:lnTo>
                <a:lnTo>
                  <a:pt x="3669593" y="1323141"/>
                </a:lnTo>
                <a:lnTo>
                  <a:pt x="3625655" y="1335718"/>
                </a:lnTo>
                <a:lnTo>
                  <a:pt x="3578479" y="1340103"/>
                </a:lnTo>
                <a:lnTo>
                  <a:pt x="3531302" y="1335718"/>
                </a:lnTo>
                <a:lnTo>
                  <a:pt x="3487364" y="1323141"/>
                </a:lnTo>
                <a:lnTo>
                  <a:pt x="3447605" y="1303242"/>
                </a:lnTo>
                <a:lnTo>
                  <a:pt x="3412966" y="1276889"/>
                </a:lnTo>
                <a:lnTo>
                  <a:pt x="3384387" y="1244953"/>
                </a:lnTo>
                <a:lnTo>
                  <a:pt x="3362809" y="1208301"/>
                </a:lnTo>
                <a:lnTo>
                  <a:pt x="3349172" y="1167804"/>
                </a:lnTo>
                <a:lnTo>
                  <a:pt x="3344418" y="1124330"/>
                </a:lnTo>
                <a:close/>
              </a:path>
              <a:path w="3812540" h="2232025">
                <a:moveTo>
                  <a:pt x="2302383" y="1124330"/>
                </a:moveTo>
                <a:lnTo>
                  <a:pt x="2307137" y="1080815"/>
                </a:lnTo>
                <a:lnTo>
                  <a:pt x="2320774" y="1040286"/>
                </a:lnTo>
                <a:lnTo>
                  <a:pt x="2342352" y="1003612"/>
                </a:lnTo>
                <a:lnTo>
                  <a:pt x="2370931" y="971661"/>
                </a:lnTo>
                <a:lnTo>
                  <a:pt x="2405570" y="945299"/>
                </a:lnTo>
                <a:lnTo>
                  <a:pt x="2445329" y="925395"/>
                </a:lnTo>
                <a:lnTo>
                  <a:pt x="2489267" y="912816"/>
                </a:lnTo>
                <a:lnTo>
                  <a:pt x="2536444" y="908430"/>
                </a:lnTo>
                <a:lnTo>
                  <a:pt x="2583620" y="912816"/>
                </a:lnTo>
                <a:lnTo>
                  <a:pt x="2627558" y="925395"/>
                </a:lnTo>
                <a:lnTo>
                  <a:pt x="2667317" y="945299"/>
                </a:lnTo>
                <a:lnTo>
                  <a:pt x="2701956" y="971661"/>
                </a:lnTo>
                <a:lnTo>
                  <a:pt x="2730535" y="1003612"/>
                </a:lnTo>
                <a:lnTo>
                  <a:pt x="2752113" y="1040286"/>
                </a:lnTo>
                <a:lnTo>
                  <a:pt x="2765750" y="1080815"/>
                </a:lnTo>
                <a:lnTo>
                  <a:pt x="2770505" y="1124330"/>
                </a:lnTo>
                <a:lnTo>
                  <a:pt x="2765750" y="1167804"/>
                </a:lnTo>
                <a:lnTo>
                  <a:pt x="2752113" y="1208301"/>
                </a:lnTo>
                <a:lnTo>
                  <a:pt x="2730535" y="1244953"/>
                </a:lnTo>
                <a:lnTo>
                  <a:pt x="2701956" y="1276889"/>
                </a:lnTo>
                <a:lnTo>
                  <a:pt x="2667317" y="1303242"/>
                </a:lnTo>
                <a:lnTo>
                  <a:pt x="2627558" y="1323141"/>
                </a:lnTo>
                <a:lnTo>
                  <a:pt x="2583620" y="1335718"/>
                </a:lnTo>
                <a:lnTo>
                  <a:pt x="2536444" y="1340103"/>
                </a:lnTo>
                <a:lnTo>
                  <a:pt x="2489267" y="1335718"/>
                </a:lnTo>
                <a:lnTo>
                  <a:pt x="2445329" y="1323141"/>
                </a:lnTo>
                <a:lnTo>
                  <a:pt x="2405570" y="1303242"/>
                </a:lnTo>
                <a:lnTo>
                  <a:pt x="2370931" y="1276889"/>
                </a:lnTo>
                <a:lnTo>
                  <a:pt x="2342352" y="1244953"/>
                </a:lnTo>
                <a:lnTo>
                  <a:pt x="2320774" y="1208301"/>
                </a:lnTo>
                <a:lnTo>
                  <a:pt x="2307137" y="1167804"/>
                </a:lnTo>
                <a:lnTo>
                  <a:pt x="2302383" y="1124330"/>
                </a:lnTo>
                <a:close/>
              </a:path>
            </a:pathLst>
          </a:custGeom>
          <a:ln w="28575">
            <a:solidFill>
              <a:srgbClr val="507C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971281" y="2955417"/>
            <a:ext cx="324485" cy="138493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58750">
              <a:lnSpc>
                <a:spcPct val="100000"/>
              </a:lnSpc>
              <a:spcBef>
                <a:spcPts val="869"/>
              </a:spcBef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57785">
              <a:lnSpc>
                <a:spcPct val="100000"/>
              </a:lnSpc>
              <a:spcBef>
                <a:spcPts val="775"/>
              </a:spcBef>
            </a:pPr>
            <a:r>
              <a:rPr sz="2400" b="1" dirty="0">
                <a:solidFill>
                  <a:srgbClr val="B42C2C"/>
                </a:solidFill>
                <a:latin typeface="Times New Roman"/>
                <a:cs typeface="Times New Roman"/>
              </a:rPr>
              <a:t>9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906761" y="2951869"/>
            <a:ext cx="337820" cy="1447800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172085">
              <a:lnSpc>
                <a:spcPct val="100000"/>
              </a:lnSpc>
              <a:spcBef>
                <a:spcPts val="1115"/>
              </a:spcBef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sz="2400" b="1" spc="-135" dirty="0">
                <a:solidFill>
                  <a:srgbClr val="B42C2C"/>
                </a:solidFill>
                <a:latin typeface="Times New Roman"/>
                <a:cs typeface="Times New Roman"/>
              </a:rPr>
              <a:t>11</a:t>
            </a:r>
            <a:endParaRPr sz="240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  <a:spcBef>
                <a:spcPts val="520"/>
              </a:spcBef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303002" y="3881247"/>
            <a:ext cx="337820" cy="131318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72085">
              <a:lnSpc>
                <a:spcPct val="100000"/>
              </a:lnSpc>
              <a:spcBef>
                <a:spcPts val="805"/>
              </a:spcBef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28575">
              <a:lnSpc>
                <a:spcPct val="100000"/>
              </a:lnSpc>
              <a:spcBef>
                <a:spcPts val="705"/>
              </a:spcBef>
            </a:pPr>
            <a:r>
              <a:rPr sz="2400" b="1" dirty="0">
                <a:solidFill>
                  <a:srgbClr val="B42C2C"/>
                </a:solidFill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56803" y="3898265"/>
            <a:ext cx="280035" cy="130048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670"/>
              </a:spcBef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45085">
              <a:lnSpc>
                <a:spcPct val="100000"/>
              </a:lnSpc>
              <a:spcBef>
                <a:spcPts val="570"/>
              </a:spcBef>
            </a:pPr>
            <a:r>
              <a:rPr sz="2400" b="1" dirty="0">
                <a:solidFill>
                  <a:srgbClr val="B42C2C"/>
                </a:solidFill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261597" y="3860419"/>
            <a:ext cx="325120" cy="137033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111760">
              <a:lnSpc>
                <a:spcPct val="100000"/>
              </a:lnSpc>
              <a:spcBef>
                <a:spcPts val="785"/>
              </a:spcBef>
            </a:pPr>
            <a:r>
              <a:rPr sz="2400" b="1" dirty="0">
                <a:solidFill>
                  <a:srgbClr val="B42C2C"/>
                </a:solidFill>
                <a:latin typeface="Times New Roman"/>
                <a:cs typeface="Times New Roman"/>
              </a:rPr>
              <a:t>8</a:t>
            </a:r>
            <a:endParaRPr sz="2400">
              <a:latin typeface="Times New Roman"/>
              <a:cs typeface="Times New Roman"/>
            </a:endParaRPr>
          </a:p>
          <a:p>
            <a:pPr marL="108585">
              <a:lnSpc>
                <a:spcPct val="100000"/>
              </a:lnSpc>
              <a:spcBef>
                <a:spcPts val="375"/>
              </a:spcBef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943847" y="4761128"/>
            <a:ext cx="267970" cy="131318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805"/>
              </a:spcBef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33020">
              <a:lnSpc>
                <a:spcPct val="100000"/>
              </a:lnSpc>
              <a:spcBef>
                <a:spcPts val="710"/>
              </a:spcBef>
            </a:pPr>
            <a:r>
              <a:rPr sz="2400" b="1" dirty="0">
                <a:solidFill>
                  <a:srgbClr val="B42C2C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872218" y="4753102"/>
            <a:ext cx="308610" cy="132969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93980">
              <a:lnSpc>
                <a:spcPct val="100000"/>
              </a:lnSpc>
              <a:spcBef>
                <a:spcPts val="785"/>
              </a:spcBef>
            </a:pPr>
            <a:r>
              <a:rPr sz="2400" b="1" dirty="0">
                <a:solidFill>
                  <a:srgbClr val="B42C2C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  <a:p>
            <a:pPr marL="58419">
              <a:lnSpc>
                <a:spcPct val="100000"/>
              </a:lnSpc>
              <a:spcBef>
                <a:spcPts val="60"/>
              </a:spcBef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52601" y="2655773"/>
            <a:ext cx="2464435" cy="1534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宋体"/>
                <a:cs typeface="宋体"/>
              </a:rPr>
              <a:t>哈夫曼编码方案</a:t>
            </a:r>
            <a:r>
              <a:rPr sz="2400" dirty="0">
                <a:latin typeface="宋体"/>
                <a:cs typeface="宋体"/>
              </a:rPr>
              <a:t>：</a:t>
            </a:r>
            <a:endParaRPr sz="2400">
              <a:latin typeface="宋体"/>
              <a:cs typeface="宋体"/>
            </a:endParaRPr>
          </a:p>
          <a:p>
            <a:pPr marL="12700" marR="1478915" algn="just">
              <a:lnSpc>
                <a:spcPct val="104200"/>
              </a:lnSpc>
            </a:pP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宋体"/>
                <a:cs typeface="宋体"/>
              </a:rPr>
              <a:t>：</a:t>
            </a:r>
            <a:r>
              <a:rPr sz="2400" spc="-5" dirty="0">
                <a:latin typeface="Times New Roman"/>
                <a:cs typeface="Times New Roman"/>
              </a:rPr>
              <a:t>00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</a:t>
            </a:r>
            <a:r>
              <a:rPr sz="2400" spc="-5" dirty="0">
                <a:latin typeface="宋体"/>
                <a:cs typeface="宋体"/>
              </a:rPr>
              <a:t>：</a:t>
            </a:r>
            <a:r>
              <a:rPr sz="2400" spc="-5" dirty="0">
                <a:latin typeface="Times New Roman"/>
                <a:cs typeface="Times New Roman"/>
              </a:rPr>
              <a:t>10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dirty="0">
                <a:latin typeface="Times New Roman"/>
                <a:cs typeface="Times New Roman"/>
              </a:rPr>
              <a:t>010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52601" y="4180154"/>
            <a:ext cx="1138555" cy="153479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80"/>
              </a:spcBef>
            </a:pPr>
            <a:r>
              <a:rPr sz="2400" spc="-20" dirty="0">
                <a:latin typeface="Times New Roman"/>
                <a:cs typeface="Times New Roman"/>
              </a:rPr>
              <a:t>D</a:t>
            </a:r>
            <a:r>
              <a:rPr sz="2400" spc="-20" dirty="0">
                <a:latin typeface="宋体"/>
                <a:cs typeface="宋体"/>
              </a:rPr>
              <a:t>：</a:t>
            </a:r>
            <a:r>
              <a:rPr sz="2400" spc="-20" dirty="0">
                <a:latin typeface="Times New Roman"/>
                <a:cs typeface="Times New Roman"/>
              </a:rPr>
              <a:t>110 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E</a:t>
            </a:r>
            <a:r>
              <a:rPr sz="2400" spc="-55" dirty="0">
                <a:latin typeface="宋体"/>
                <a:cs typeface="宋体"/>
              </a:rPr>
              <a:t>：</a:t>
            </a:r>
            <a:r>
              <a:rPr sz="2400" spc="-55" dirty="0">
                <a:latin typeface="Times New Roman"/>
                <a:cs typeface="Times New Roman"/>
              </a:rPr>
              <a:t>111 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F</a:t>
            </a:r>
            <a:r>
              <a:rPr sz="2400" spc="-20" dirty="0">
                <a:latin typeface="宋体"/>
                <a:cs typeface="宋体"/>
              </a:rPr>
              <a:t>：</a:t>
            </a:r>
            <a:r>
              <a:rPr sz="2400" spc="-20" dirty="0">
                <a:latin typeface="Times New Roman"/>
                <a:cs typeface="Times New Roman"/>
              </a:rPr>
              <a:t>0110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G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dirty="0">
                <a:latin typeface="Times New Roman"/>
                <a:cs typeface="Times New Roman"/>
              </a:rPr>
              <a:t>0</a:t>
            </a:r>
            <a:r>
              <a:rPr sz="2400" spc="-85" dirty="0">
                <a:latin typeface="Times New Roman"/>
                <a:cs typeface="Times New Roman"/>
              </a:rPr>
              <a:t>11</a:t>
            </a:r>
            <a:r>
              <a:rPr sz="24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650094" y="4834890"/>
            <a:ext cx="310515" cy="461645"/>
          </a:xfrm>
          <a:custGeom>
            <a:avLst/>
            <a:gdLst/>
            <a:ahLst/>
            <a:cxnLst/>
            <a:rect l="l" t="t" r="r" b="b"/>
            <a:pathLst>
              <a:path w="310515" h="461645">
                <a:moveTo>
                  <a:pt x="0" y="0"/>
                </a:moveTo>
                <a:lnTo>
                  <a:pt x="310133" y="461137"/>
                </a:lnTo>
              </a:path>
            </a:pathLst>
          </a:custGeom>
          <a:ln w="38100">
            <a:solidFill>
              <a:srgbClr val="285A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9255379" y="4421784"/>
            <a:ext cx="541020" cy="413384"/>
          </a:xfrm>
          <a:prstGeom prst="rect">
            <a:avLst/>
          </a:prstGeom>
          <a:ln w="28575">
            <a:solidFill>
              <a:srgbClr val="5A317C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10"/>
              </a:spcBef>
            </a:pPr>
            <a:r>
              <a:rPr sz="2400" b="1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118092" y="4834890"/>
            <a:ext cx="310515" cy="461645"/>
          </a:xfrm>
          <a:custGeom>
            <a:avLst/>
            <a:gdLst/>
            <a:ahLst/>
            <a:cxnLst/>
            <a:rect l="l" t="t" r="r" b="b"/>
            <a:pathLst>
              <a:path w="310515" h="461645">
                <a:moveTo>
                  <a:pt x="0" y="461137"/>
                </a:moveTo>
                <a:lnTo>
                  <a:pt x="310006" y="0"/>
                </a:lnTo>
              </a:path>
            </a:pathLst>
          </a:custGeom>
          <a:ln w="38100">
            <a:solidFill>
              <a:srgbClr val="285A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0656569" y="3552977"/>
            <a:ext cx="541020" cy="413384"/>
          </a:xfrm>
          <a:prstGeom prst="rect">
            <a:avLst/>
          </a:prstGeom>
          <a:ln w="28575">
            <a:solidFill>
              <a:srgbClr val="5A317C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105"/>
              </a:spcBef>
            </a:pPr>
            <a:r>
              <a:rPr sz="2400" b="1" dirty="0">
                <a:latin typeface="Times New Roman"/>
                <a:cs typeface="Times New Roman"/>
              </a:rPr>
              <a:t>15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8803195" y="3538689"/>
            <a:ext cx="2559685" cy="928369"/>
            <a:chOff x="8803195" y="3538689"/>
            <a:chExt cx="2559685" cy="928369"/>
          </a:xfrm>
        </p:grpSpPr>
        <p:sp>
          <p:nvSpPr>
            <p:cNvPr id="33" name="object 33"/>
            <p:cNvSpPr/>
            <p:nvPr/>
          </p:nvSpPr>
          <p:spPr>
            <a:xfrm>
              <a:off x="10501502" y="3986656"/>
              <a:ext cx="842644" cy="461645"/>
            </a:xfrm>
            <a:custGeom>
              <a:avLst/>
              <a:gdLst/>
              <a:ahLst/>
              <a:cxnLst/>
              <a:rect l="l" t="t" r="r" b="b"/>
              <a:pathLst>
                <a:path w="842645" h="461645">
                  <a:moveTo>
                    <a:pt x="532002" y="0"/>
                  </a:moveTo>
                  <a:lnTo>
                    <a:pt x="842137" y="461137"/>
                  </a:lnTo>
                </a:path>
                <a:path w="842645" h="461645">
                  <a:moveTo>
                    <a:pt x="0" y="461137"/>
                  </a:moveTo>
                  <a:lnTo>
                    <a:pt x="310133" y="0"/>
                  </a:lnTo>
                </a:path>
              </a:pathLst>
            </a:custGeom>
            <a:ln w="38100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817482" y="3552977"/>
              <a:ext cx="541020" cy="413384"/>
            </a:xfrm>
            <a:custGeom>
              <a:avLst/>
              <a:gdLst/>
              <a:ahLst/>
              <a:cxnLst/>
              <a:rect l="l" t="t" r="r" b="b"/>
              <a:pathLst>
                <a:path w="541020" h="413385">
                  <a:moveTo>
                    <a:pt x="0" y="413105"/>
                  </a:moveTo>
                  <a:lnTo>
                    <a:pt x="540499" y="413105"/>
                  </a:lnTo>
                  <a:lnTo>
                    <a:pt x="540499" y="0"/>
                  </a:lnTo>
                  <a:lnTo>
                    <a:pt x="0" y="0"/>
                  </a:lnTo>
                  <a:lnTo>
                    <a:pt x="0" y="413105"/>
                  </a:lnTo>
                  <a:close/>
                </a:path>
              </a:pathLst>
            </a:custGeom>
            <a:ln w="28575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8923146" y="3554095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10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8642095" y="3950461"/>
            <a:ext cx="842644" cy="461645"/>
          </a:xfrm>
          <a:custGeom>
            <a:avLst/>
            <a:gdLst/>
            <a:ahLst/>
            <a:cxnLst/>
            <a:rect l="l" t="t" r="r" b="b"/>
            <a:pathLst>
              <a:path w="842645" h="461645">
                <a:moveTo>
                  <a:pt x="532129" y="0"/>
                </a:moveTo>
                <a:lnTo>
                  <a:pt x="842263" y="461137"/>
                </a:lnTo>
              </a:path>
              <a:path w="842645" h="461645">
                <a:moveTo>
                  <a:pt x="0" y="461137"/>
                </a:moveTo>
                <a:lnTo>
                  <a:pt x="310133" y="0"/>
                </a:lnTo>
              </a:path>
            </a:pathLst>
          </a:custGeom>
          <a:ln w="38100">
            <a:solidFill>
              <a:srgbClr val="285A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10282301" y="2671216"/>
            <a:ext cx="541020" cy="413384"/>
          </a:xfrm>
          <a:prstGeom prst="rect">
            <a:avLst/>
          </a:prstGeom>
          <a:ln w="28575">
            <a:solidFill>
              <a:srgbClr val="5A317C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105"/>
              </a:spcBef>
            </a:pPr>
            <a:r>
              <a:rPr sz="2400" b="1" dirty="0">
                <a:latin typeface="Times New Roman"/>
                <a:cs typeface="Times New Roman"/>
              </a:rPr>
              <a:t>26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8353107" y="2656928"/>
            <a:ext cx="2616835" cy="911225"/>
            <a:chOff x="8353107" y="2656928"/>
            <a:chExt cx="2616835" cy="911225"/>
          </a:xfrm>
        </p:grpSpPr>
        <p:sp>
          <p:nvSpPr>
            <p:cNvPr id="39" name="object 39"/>
            <p:cNvSpPr/>
            <p:nvPr/>
          </p:nvSpPr>
          <p:spPr>
            <a:xfrm>
              <a:off x="10108310" y="3087497"/>
              <a:ext cx="842644" cy="461645"/>
            </a:xfrm>
            <a:custGeom>
              <a:avLst/>
              <a:gdLst/>
              <a:ahLst/>
              <a:cxnLst/>
              <a:rect l="l" t="t" r="r" b="b"/>
              <a:pathLst>
                <a:path w="842645" h="461645">
                  <a:moveTo>
                    <a:pt x="532003" y="0"/>
                  </a:moveTo>
                  <a:lnTo>
                    <a:pt x="842137" y="461137"/>
                  </a:lnTo>
                </a:path>
                <a:path w="842645" h="461645">
                  <a:moveTo>
                    <a:pt x="0" y="461137"/>
                  </a:moveTo>
                  <a:lnTo>
                    <a:pt x="310007" y="0"/>
                  </a:lnTo>
                </a:path>
              </a:pathLst>
            </a:custGeom>
            <a:ln w="38100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367394" y="2671216"/>
              <a:ext cx="541020" cy="413384"/>
            </a:xfrm>
            <a:custGeom>
              <a:avLst/>
              <a:gdLst/>
              <a:ahLst/>
              <a:cxnLst/>
              <a:rect l="l" t="t" r="r" b="b"/>
              <a:pathLst>
                <a:path w="541020" h="413385">
                  <a:moveTo>
                    <a:pt x="0" y="413105"/>
                  </a:moveTo>
                  <a:lnTo>
                    <a:pt x="540499" y="413105"/>
                  </a:lnTo>
                  <a:lnTo>
                    <a:pt x="540499" y="0"/>
                  </a:lnTo>
                  <a:lnTo>
                    <a:pt x="0" y="0"/>
                  </a:lnTo>
                  <a:lnTo>
                    <a:pt x="0" y="413105"/>
                  </a:lnTo>
                  <a:close/>
                </a:path>
              </a:pathLst>
            </a:custGeom>
            <a:ln w="28575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8472931" y="2671953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19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8195818" y="3067939"/>
            <a:ext cx="842644" cy="461645"/>
          </a:xfrm>
          <a:custGeom>
            <a:avLst/>
            <a:gdLst/>
            <a:ahLst/>
            <a:cxnLst/>
            <a:rect l="l" t="t" r="r" b="b"/>
            <a:pathLst>
              <a:path w="842645" h="461645">
                <a:moveTo>
                  <a:pt x="532129" y="0"/>
                </a:moveTo>
                <a:lnTo>
                  <a:pt x="842263" y="461137"/>
                </a:lnTo>
              </a:path>
              <a:path w="842645" h="461645">
                <a:moveTo>
                  <a:pt x="0" y="461137"/>
                </a:moveTo>
                <a:lnTo>
                  <a:pt x="310133" y="0"/>
                </a:lnTo>
              </a:path>
            </a:pathLst>
          </a:custGeom>
          <a:ln w="38100">
            <a:solidFill>
              <a:srgbClr val="285A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9364598" y="1803679"/>
            <a:ext cx="541020" cy="413384"/>
          </a:xfrm>
          <a:prstGeom prst="rect">
            <a:avLst/>
          </a:prstGeom>
          <a:ln w="28575">
            <a:solidFill>
              <a:srgbClr val="5A317C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18110">
              <a:lnSpc>
                <a:spcPct val="100000"/>
              </a:lnSpc>
              <a:spcBef>
                <a:spcPts val="105"/>
              </a:spcBef>
            </a:pPr>
            <a:r>
              <a:rPr sz="2400" b="1" spc="-5" dirty="0">
                <a:latin typeface="Times New Roman"/>
                <a:cs typeface="Times New Roman"/>
              </a:rPr>
              <a:t>45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222769" y="2197735"/>
            <a:ext cx="8361680" cy="3056255"/>
            <a:chOff x="2222769" y="2197735"/>
            <a:chExt cx="8361680" cy="3056255"/>
          </a:xfrm>
        </p:grpSpPr>
        <p:sp>
          <p:nvSpPr>
            <p:cNvPr id="45" name="object 45"/>
            <p:cNvSpPr/>
            <p:nvPr/>
          </p:nvSpPr>
          <p:spPr>
            <a:xfrm>
              <a:off x="8740140" y="2216785"/>
              <a:ext cx="1824989" cy="439420"/>
            </a:xfrm>
            <a:custGeom>
              <a:avLst/>
              <a:gdLst/>
              <a:ahLst/>
              <a:cxnLst/>
              <a:rect l="l" t="t" r="r" b="b"/>
              <a:pathLst>
                <a:path w="1824990" h="439419">
                  <a:moveTo>
                    <a:pt x="0" y="439165"/>
                  </a:moveTo>
                  <a:lnTo>
                    <a:pt x="821054" y="0"/>
                  </a:lnTo>
                </a:path>
                <a:path w="1824990" h="439419">
                  <a:moveTo>
                    <a:pt x="1003807" y="0"/>
                  </a:moveTo>
                  <a:lnTo>
                    <a:pt x="1824989" y="439165"/>
                  </a:lnTo>
                </a:path>
              </a:pathLst>
            </a:custGeom>
            <a:ln w="38100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222766" y="4136135"/>
              <a:ext cx="410845" cy="1117600"/>
            </a:xfrm>
            <a:custGeom>
              <a:avLst/>
              <a:gdLst/>
              <a:ahLst/>
              <a:cxnLst/>
              <a:rect l="l" t="t" r="r" b="b"/>
              <a:pathLst>
                <a:path w="410844" h="1117600">
                  <a:moveTo>
                    <a:pt x="410349" y="875525"/>
                  </a:moveTo>
                  <a:lnTo>
                    <a:pt x="401510" y="830694"/>
                  </a:lnTo>
                  <a:lnTo>
                    <a:pt x="375018" y="791337"/>
                  </a:lnTo>
                  <a:lnTo>
                    <a:pt x="362521" y="780796"/>
                  </a:lnTo>
                  <a:lnTo>
                    <a:pt x="357162" y="776274"/>
                  </a:lnTo>
                  <a:lnTo>
                    <a:pt x="336283" y="765797"/>
                  </a:lnTo>
                  <a:lnTo>
                    <a:pt x="313397" y="759675"/>
                  </a:lnTo>
                  <a:lnTo>
                    <a:pt x="289547" y="757682"/>
                  </a:lnTo>
                  <a:lnTo>
                    <a:pt x="265938" y="759980"/>
                  </a:lnTo>
                  <a:lnTo>
                    <a:pt x="243547" y="766610"/>
                  </a:lnTo>
                  <a:lnTo>
                    <a:pt x="222770" y="777189"/>
                  </a:lnTo>
                  <a:lnTo>
                    <a:pt x="203949" y="791337"/>
                  </a:lnTo>
                  <a:lnTo>
                    <a:pt x="99174" y="896620"/>
                  </a:lnTo>
                  <a:lnTo>
                    <a:pt x="26530" y="968121"/>
                  </a:lnTo>
                  <a:lnTo>
                    <a:pt x="6934" y="997051"/>
                  </a:lnTo>
                  <a:lnTo>
                    <a:pt x="0" y="1030287"/>
                  </a:lnTo>
                  <a:lnTo>
                    <a:pt x="6324" y="1063472"/>
                  </a:lnTo>
                  <a:lnTo>
                    <a:pt x="40081" y="1103414"/>
                  </a:lnTo>
                  <a:lnTo>
                    <a:pt x="88506" y="1117600"/>
                  </a:lnTo>
                  <a:lnTo>
                    <a:pt x="106019" y="1115999"/>
                  </a:lnTo>
                  <a:lnTo>
                    <a:pt x="149059" y="1093444"/>
                  </a:lnTo>
                  <a:lnTo>
                    <a:pt x="285229" y="959739"/>
                  </a:lnTo>
                  <a:lnTo>
                    <a:pt x="332346" y="915543"/>
                  </a:lnTo>
                  <a:lnTo>
                    <a:pt x="349364" y="871347"/>
                  </a:lnTo>
                  <a:lnTo>
                    <a:pt x="349415" y="859091"/>
                  </a:lnTo>
                  <a:lnTo>
                    <a:pt x="346468" y="847636"/>
                  </a:lnTo>
                  <a:lnTo>
                    <a:pt x="340715" y="836993"/>
                  </a:lnTo>
                  <a:lnTo>
                    <a:pt x="338810" y="834758"/>
                  </a:lnTo>
                  <a:lnTo>
                    <a:pt x="332346" y="827151"/>
                  </a:lnTo>
                  <a:lnTo>
                    <a:pt x="311937" y="814120"/>
                  </a:lnTo>
                  <a:lnTo>
                    <a:pt x="288150" y="809980"/>
                  </a:lnTo>
                  <a:lnTo>
                    <a:pt x="263969" y="814946"/>
                  </a:lnTo>
                  <a:lnTo>
                    <a:pt x="242430" y="829183"/>
                  </a:lnTo>
                  <a:lnTo>
                    <a:pt x="82029" y="987044"/>
                  </a:lnTo>
                  <a:lnTo>
                    <a:pt x="77838" y="991362"/>
                  </a:lnTo>
                  <a:lnTo>
                    <a:pt x="77838" y="999744"/>
                  </a:lnTo>
                  <a:lnTo>
                    <a:pt x="84188" y="1006094"/>
                  </a:lnTo>
                  <a:lnTo>
                    <a:pt x="88506" y="1008126"/>
                  </a:lnTo>
                  <a:lnTo>
                    <a:pt x="94856" y="1008126"/>
                  </a:lnTo>
                  <a:lnTo>
                    <a:pt x="97015" y="1006094"/>
                  </a:lnTo>
                  <a:lnTo>
                    <a:pt x="99174" y="1003935"/>
                  </a:lnTo>
                  <a:lnTo>
                    <a:pt x="261734" y="846074"/>
                  </a:lnTo>
                  <a:lnTo>
                    <a:pt x="302628" y="836879"/>
                  </a:lnTo>
                  <a:lnTo>
                    <a:pt x="325869" y="871347"/>
                  </a:lnTo>
                  <a:lnTo>
                    <a:pt x="179336" y="1030287"/>
                  </a:lnTo>
                  <a:lnTo>
                    <a:pt x="135496" y="1073404"/>
                  </a:lnTo>
                  <a:lnTo>
                    <a:pt x="88760" y="1093444"/>
                  </a:lnTo>
                  <a:lnTo>
                    <a:pt x="64262" y="1089444"/>
                  </a:lnTo>
                  <a:lnTo>
                    <a:pt x="43548" y="1075563"/>
                  </a:lnTo>
                  <a:lnTo>
                    <a:pt x="29108" y="1054315"/>
                  </a:lnTo>
                  <a:lnTo>
                    <a:pt x="24307" y="1030274"/>
                  </a:lnTo>
                  <a:lnTo>
                    <a:pt x="29108" y="1006271"/>
                  </a:lnTo>
                  <a:lnTo>
                    <a:pt x="223253" y="810260"/>
                  </a:lnTo>
                  <a:lnTo>
                    <a:pt x="270776" y="782739"/>
                  </a:lnTo>
                  <a:lnTo>
                    <a:pt x="289547" y="780796"/>
                  </a:lnTo>
                  <a:lnTo>
                    <a:pt x="308648" y="782713"/>
                  </a:lnTo>
                  <a:lnTo>
                    <a:pt x="358000" y="808101"/>
                  </a:lnTo>
                  <a:lnTo>
                    <a:pt x="379336" y="839863"/>
                  </a:lnTo>
                  <a:lnTo>
                    <a:pt x="386041" y="875538"/>
                  </a:lnTo>
                  <a:lnTo>
                    <a:pt x="378726" y="911174"/>
                  </a:lnTo>
                  <a:lnTo>
                    <a:pt x="358000" y="942848"/>
                  </a:lnTo>
                  <a:lnTo>
                    <a:pt x="216776" y="1079754"/>
                  </a:lnTo>
                  <a:lnTo>
                    <a:pt x="212585" y="1083945"/>
                  </a:lnTo>
                  <a:lnTo>
                    <a:pt x="212585" y="1092327"/>
                  </a:lnTo>
                  <a:lnTo>
                    <a:pt x="216776" y="1096518"/>
                  </a:lnTo>
                  <a:lnTo>
                    <a:pt x="221094" y="1098677"/>
                  </a:lnTo>
                  <a:lnTo>
                    <a:pt x="223253" y="1100836"/>
                  </a:lnTo>
                  <a:lnTo>
                    <a:pt x="229603" y="1100836"/>
                  </a:lnTo>
                  <a:lnTo>
                    <a:pt x="231762" y="1098677"/>
                  </a:lnTo>
                  <a:lnTo>
                    <a:pt x="236080" y="1096518"/>
                  </a:lnTo>
                  <a:lnTo>
                    <a:pt x="375018" y="959739"/>
                  </a:lnTo>
                  <a:lnTo>
                    <a:pt x="401510" y="920394"/>
                  </a:lnTo>
                  <a:lnTo>
                    <a:pt x="410349" y="875525"/>
                  </a:lnTo>
                  <a:close/>
                </a:path>
                <a:path w="410844" h="1117600">
                  <a:moveTo>
                    <a:pt x="410349" y="117919"/>
                  </a:moveTo>
                  <a:lnTo>
                    <a:pt x="401510" y="73025"/>
                  </a:lnTo>
                  <a:lnTo>
                    <a:pt x="375018" y="33655"/>
                  </a:lnTo>
                  <a:lnTo>
                    <a:pt x="336283" y="8166"/>
                  </a:lnTo>
                  <a:lnTo>
                    <a:pt x="289547" y="0"/>
                  </a:lnTo>
                  <a:lnTo>
                    <a:pt x="265938" y="2324"/>
                  </a:lnTo>
                  <a:lnTo>
                    <a:pt x="243547" y="8978"/>
                  </a:lnTo>
                  <a:lnTo>
                    <a:pt x="222770" y="19558"/>
                  </a:lnTo>
                  <a:lnTo>
                    <a:pt x="203949" y="33655"/>
                  </a:lnTo>
                  <a:lnTo>
                    <a:pt x="99174" y="138938"/>
                  </a:lnTo>
                  <a:lnTo>
                    <a:pt x="26530" y="210566"/>
                  </a:lnTo>
                  <a:lnTo>
                    <a:pt x="6934" y="239445"/>
                  </a:lnTo>
                  <a:lnTo>
                    <a:pt x="0" y="272669"/>
                  </a:lnTo>
                  <a:lnTo>
                    <a:pt x="6324" y="305904"/>
                  </a:lnTo>
                  <a:lnTo>
                    <a:pt x="40081" y="345859"/>
                  </a:lnTo>
                  <a:lnTo>
                    <a:pt x="88506" y="360045"/>
                  </a:lnTo>
                  <a:lnTo>
                    <a:pt x="106019" y="358444"/>
                  </a:lnTo>
                  <a:lnTo>
                    <a:pt x="149009" y="335826"/>
                  </a:lnTo>
                  <a:lnTo>
                    <a:pt x="285229" y="202184"/>
                  </a:lnTo>
                  <a:lnTo>
                    <a:pt x="332346" y="157988"/>
                  </a:lnTo>
                  <a:lnTo>
                    <a:pt x="349364" y="113665"/>
                  </a:lnTo>
                  <a:lnTo>
                    <a:pt x="349415" y="101473"/>
                  </a:lnTo>
                  <a:lnTo>
                    <a:pt x="346468" y="90043"/>
                  </a:lnTo>
                  <a:lnTo>
                    <a:pt x="311937" y="56502"/>
                  </a:lnTo>
                  <a:lnTo>
                    <a:pt x="288150" y="52412"/>
                  </a:lnTo>
                  <a:lnTo>
                    <a:pt x="263969" y="57378"/>
                  </a:lnTo>
                  <a:lnTo>
                    <a:pt x="242430" y="71628"/>
                  </a:lnTo>
                  <a:lnTo>
                    <a:pt x="82029" y="229489"/>
                  </a:lnTo>
                  <a:lnTo>
                    <a:pt x="77838" y="233680"/>
                  </a:lnTo>
                  <a:lnTo>
                    <a:pt x="77838" y="242189"/>
                  </a:lnTo>
                  <a:lnTo>
                    <a:pt x="82029" y="246380"/>
                  </a:lnTo>
                  <a:lnTo>
                    <a:pt x="84188" y="248412"/>
                  </a:lnTo>
                  <a:lnTo>
                    <a:pt x="88506" y="250571"/>
                  </a:lnTo>
                  <a:lnTo>
                    <a:pt x="94856" y="250571"/>
                  </a:lnTo>
                  <a:lnTo>
                    <a:pt x="97015" y="248412"/>
                  </a:lnTo>
                  <a:lnTo>
                    <a:pt x="99174" y="246380"/>
                  </a:lnTo>
                  <a:lnTo>
                    <a:pt x="261734" y="88392"/>
                  </a:lnTo>
                  <a:lnTo>
                    <a:pt x="302628" y="79248"/>
                  </a:lnTo>
                  <a:lnTo>
                    <a:pt x="325869" y="113665"/>
                  </a:lnTo>
                  <a:lnTo>
                    <a:pt x="179400" y="272669"/>
                  </a:lnTo>
                  <a:lnTo>
                    <a:pt x="135496" y="315849"/>
                  </a:lnTo>
                  <a:lnTo>
                    <a:pt x="88760" y="335826"/>
                  </a:lnTo>
                  <a:lnTo>
                    <a:pt x="64262" y="331787"/>
                  </a:lnTo>
                  <a:lnTo>
                    <a:pt x="43548" y="317881"/>
                  </a:lnTo>
                  <a:lnTo>
                    <a:pt x="29108" y="296633"/>
                  </a:lnTo>
                  <a:lnTo>
                    <a:pt x="24307" y="272630"/>
                  </a:lnTo>
                  <a:lnTo>
                    <a:pt x="29108" y="248640"/>
                  </a:lnTo>
                  <a:lnTo>
                    <a:pt x="223253" y="52705"/>
                  </a:lnTo>
                  <a:lnTo>
                    <a:pt x="270776" y="25171"/>
                  </a:lnTo>
                  <a:lnTo>
                    <a:pt x="289547" y="23241"/>
                  </a:lnTo>
                  <a:lnTo>
                    <a:pt x="308648" y="25133"/>
                  </a:lnTo>
                  <a:lnTo>
                    <a:pt x="358000" y="50546"/>
                  </a:lnTo>
                  <a:lnTo>
                    <a:pt x="379336" y="82245"/>
                  </a:lnTo>
                  <a:lnTo>
                    <a:pt x="386041" y="117919"/>
                  </a:lnTo>
                  <a:lnTo>
                    <a:pt x="378726" y="153606"/>
                  </a:lnTo>
                  <a:lnTo>
                    <a:pt x="358000" y="185293"/>
                  </a:lnTo>
                  <a:lnTo>
                    <a:pt x="216776" y="322199"/>
                  </a:lnTo>
                  <a:lnTo>
                    <a:pt x="212585" y="326390"/>
                  </a:lnTo>
                  <a:lnTo>
                    <a:pt x="212585" y="334772"/>
                  </a:lnTo>
                  <a:lnTo>
                    <a:pt x="216776" y="338963"/>
                  </a:lnTo>
                  <a:lnTo>
                    <a:pt x="221094" y="341122"/>
                  </a:lnTo>
                  <a:lnTo>
                    <a:pt x="223253" y="343154"/>
                  </a:lnTo>
                  <a:lnTo>
                    <a:pt x="229603" y="343154"/>
                  </a:lnTo>
                  <a:lnTo>
                    <a:pt x="231762" y="341122"/>
                  </a:lnTo>
                  <a:lnTo>
                    <a:pt x="236080" y="338963"/>
                  </a:lnTo>
                  <a:lnTo>
                    <a:pt x="375018" y="202184"/>
                  </a:lnTo>
                  <a:lnTo>
                    <a:pt x="401510" y="162814"/>
                  </a:lnTo>
                  <a:lnTo>
                    <a:pt x="410349" y="117919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777744" y="4085082"/>
            <a:ext cx="2616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等长编码的长度：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753614" y="4867402"/>
            <a:ext cx="5504815" cy="1153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  <a:latin typeface="微软雅黑"/>
                <a:cs typeface="微软雅黑"/>
              </a:rPr>
              <a:t>哈夫曼编码的平均长度：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(2</a:t>
            </a:r>
            <a:r>
              <a:rPr sz="2400" spc="-5" dirty="0">
                <a:solidFill>
                  <a:srgbClr val="404040"/>
                </a:solidFill>
                <a:latin typeface="微软雅黑"/>
                <a:cs typeface="微软雅黑"/>
              </a:rPr>
              <a:t>×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9+3</a:t>
            </a:r>
            <a:r>
              <a:rPr sz="2400" spc="-5" dirty="0">
                <a:solidFill>
                  <a:srgbClr val="404040"/>
                </a:solidFill>
                <a:latin typeface="微软雅黑"/>
                <a:cs typeface="微软雅黑"/>
              </a:rPr>
              <a:t>×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5+4</a:t>
            </a:r>
            <a:r>
              <a:rPr sz="2400" spc="-5" dirty="0">
                <a:solidFill>
                  <a:srgbClr val="404040"/>
                </a:solidFill>
                <a:latin typeface="微软雅黑"/>
                <a:cs typeface="微软雅黑"/>
              </a:rPr>
              <a:t>×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2+4</a:t>
            </a:r>
            <a:r>
              <a:rPr sz="2400" spc="-5" dirty="0">
                <a:solidFill>
                  <a:srgbClr val="404040"/>
                </a:solidFill>
                <a:latin typeface="微软雅黑"/>
                <a:cs typeface="微软雅黑"/>
              </a:rPr>
              <a:t>×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3+2</a:t>
            </a:r>
            <a:r>
              <a:rPr sz="2400" spc="-5" dirty="0">
                <a:solidFill>
                  <a:srgbClr val="404040"/>
                </a:solidFill>
                <a:latin typeface="微软雅黑"/>
                <a:cs typeface="微软雅黑"/>
              </a:rPr>
              <a:t>×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11+3</a:t>
            </a:r>
            <a:r>
              <a:rPr sz="2400" spc="-5" dirty="0">
                <a:solidFill>
                  <a:srgbClr val="404040"/>
                </a:solidFill>
                <a:latin typeface="微软雅黑"/>
                <a:cs typeface="微软雅黑"/>
              </a:rPr>
              <a:t>×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7+3</a:t>
            </a:r>
            <a:r>
              <a:rPr sz="2400" spc="-5" dirty="0">
                <a:solidFill>
                  <a:srgbClr val="404040"/>
                </a:solidFill>
                <a:latin typeface="微软雅黑"/>
                <a:cs typeface="微软雅黑"/>
              </a:rPr>
              <a:t>×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8)/45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=</a:t>
            </a:r>
            <a:r>
              <a:rPr sz="2400" spc="-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2.67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0" name="object 3"/>
          <p:cNvSpPr/>
          <p:nvPr/>
        </p:nvSpPr>
        <p:spPr>
          <a:xfrm>
            <a:off x="542925" y="100964"/>
            <a:ext cx="1152525" cy="540385"/>
          </a:xfrm>
          <a:custGeom>
            <a:avLst/>
            <a:gdLst/>
            <a:ahLst/>
            <a:cxnLst/>
            <a:rect l="l" t="t" r="r" b="b"/>
            <a:pathLst>
              <a:path w="1152525" h="540385">
                <a:moveTo>
                  <a:pt x="1061974" y="0"/>
                </a:moveTo>
                <a:lnTo>
                  <a:pt x="90004" y="0"/>
                </a:lnTo>
                <a:lnTo>
                  <a:pt x="54971" y="7068"/>
                </a:lnTo>
                <a:lnTo>
                  <a:pt x="26362" y="26352"/>
                </a:lnTo>
                <a:lnTo>
                  <a:pt x="7073" y="54971"/>
                </a:lnTo>
                <a:lnTo>
                  <a:pt x="0" y="90042"/>
                </a:lnTo>
                <a:lnTo>
                  <a:pt x="0" y="449960"/>
                </a:lnTo>
                <a:lnTo>
                  <a:pt x="7073" y="485032"/>
                </a:lnTo>
                <a:lnTo>
                  <a:pt x="26362" y="513651"/>
                </a:lnTo>
                <a:lnTo>
                  <a:pt x="54971" y="532935"/>
                </a:lnTo>
                <a:lnTo>
                  <a:pt x="90004" y="540003"/>
                </a:lnTo>
                <a:lnTo>
                  <a:pt x="1061974" y="540003"/>
                </a:lnTo>
                <a:lnTo>
                  <a:pt x="1097045" y="532935"/>
                </a:lnTo>
                <a:lnTo>
                  <a:pt x="1125664" y="513651"/>
                </a:lnTo>
                <a:lnTo>
                  <a:pt x="1144948" y="485032"/>
                </a:lnTo>
                <a:lnTo>
                  <a:pt x="1152017" y="449960"/>
                </a:lnTo>
                <a:lnTo>
                  <a:pt x="1152017" y="90042"/>
                </a:lnTo>
                <a:lnTo>
                  <a:pt x="1144948" y="54971"/>
                </a:lnTo>
                <a:lnTo>
                  <a:pt x="1125664" y="26352"/>
                </a:lnTo>
                <a:lnTo>
                  <a:pt x="1097045" y="7068"/>
                </a:lnTo>
                <a:lnTo>
                  <a:pt x="1061974" y="0"/>
                </a:lnTo>
                <a:close/>
              </a:path>
            </a:pathLst>
          </a:custGeom>
          <a:solidFill>
            <a:srgbClr val="5A31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4"/>
          <p:cNvSpPr txBox="1">
            <a:spLocks noGrp="1"/>
          </p:cNvSpPr>
          <p:nvPr>
            <p:ph type="title"/>
          </p:nvPr>
        </p:nvSpPr>
        <p:spPr>
          <a:xfrm>
            <a:off x="716991" y="141809"/>
            <a:ext cx="84264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chemeClr val="bg1"/>
                </a:solidFill>
              </a:rPr>
              <a:t>编码</a:t>
            </a:r>
          </a:p>
        </p:txBody>
      </p:sp>
    </p:spTree>
    <p:extLst>
      <p:ext uri="{BB962C8B-B14F-4D97-AF65-F5344CB8AC3E}">
        <p14:creationId xmlns:p14="http://schemas.microsoft.com/office/powerpoint/2010/main" val="2662454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48643" y="2017267"/>
            <a:ext cx="152400" cy="25355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algn="just">
              <a:lnSpc>
                <a:spcPts val="1000"/>
              </a:lnSpc>
              <a:spcBef>
                <a:spcPts val="2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数 据 结 构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880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（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从 概 念 到 实 现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ts val="975"/>
              </a:lnSpc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1000">
              <a:latin typeface="微软雅黑"/>
              <a:cs typeface="微软雅黑"/>
            </a:endParaRPr>
          </a:p>
          <a:p>
            <a:pPr marL="12700" marR="5080" algn="just">
              <a:lnSpc>
                <a:spcPts val="1000"/>
              </a:lnSpc>
              <a:spcBef>
                <a:spcPts val="640"/>
              </a:spcBef>
            </a:pPr>
            <a:r>
              <a:rPr sz="1000" spc="-5" dirty="0">
                <a:solidFill>
                  <a:srgbClr val="FFFFFF"/>
                </a:solidFill>
                <a:latin typeface="微软雅黑"/>
                <a:cs typeface="微软雅黑"/>
              </a:rPr>
              <a:t>清 华 大 学 出 版 社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4366" y="205409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76026" y="308279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11816" y="2090165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30767" y="3064586"/>
            <a:ext cx="1784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90126" y="3949700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869808" y="3507232"/>
            <a:ext cx="3812540" cy="2232025"/>
          </a:xfrm>
          <a:custGeom>
            <a:avLst/>
            <a:gdLst/>
            <a:ahLst/>
            <a:cxnLst/>
            <a:rect l="l" t="t" r="r" b="b"/>
            <a:pathLst>
              <a:path w="3812540" h="2232025">
                <a:moveTo>
                  <a:pt x="0" y="215899"/>
                </a:moveTo>
                <a:lnTo>
                  <a:pt x="4754" y="172384"/>
                </a:lnTo>
                <a:lnTo>
                  <a:pt x="18391" y="131855"/>
                </a:lnTo>
                <a:lnTo>
                  <a:pt x="39969" y="95181"/>
                </a:lnTo>
                <a:lnTo>
                  <a:pt x="68548" y="63230"/>
                </a:lnTo>
                <a:lnTo>
                  <a:pt x="103187" y="36868"/>
                </a:lnTo>
                <a:lnTo>
                  <a:pt x="142946" y="16964"/>
                </a:lnTo>
                <a:lnTo>
                  <a:pt x="186884" y="4385"/>
                </a:lnTo>
                <a:lnTo>
                  <a:pt x="234061" y="0"/>
                </a:lnTo>
                <a:lnTo>
                  <a:pt x="281237" y="4385"/>
                </a:lnTo>
                <a:lnTo>
                  <a:pt x="325175" y="16964"/>
                </a:lnTo>
                <a:lnTo>
                  <a:pt x="364934" y="36868"/>
                </a:lnTo>
                <a:lnTo>
                  <a:pt x="399573" y="63230"/>
                </a:lnTo>
                <a:lnTo>
                  <a:pt x="428152" y="95181"/>
                </a:lnTo>
                <a:lnTo>
                  <a:pt x="449730" y="131855"/>
                </a:lnTo>
                <a:lnTo>
                  <a:pt x="463367" y="172384"/>
                </a:lnTo>
                <a:lnTo>
                  <a:pt x="468122" y="215899"/>
                </a:lnTo>
                <a:lnTo>
                  <a:pt x="463367" y="259415"/>
                </a:lnTo>
                <a:lnTo>
                  <a:pt x="449730" y="299944"/>
                </a:lnTo>
                <a:lnTo>
                  <a:pt x="428152" y="336618"/>
                </a:lnTo>
                <a:lnTo>
                  <a:pt x="399573" y="368569"/>
                </a:lnTo>
                <a:lnTo>
                  <a:pt x="364934" y="394931"/>
                </a:lnTo>
                <a:lnTo>
                  <a:pt x="325175" y="414835"/>
                </a:lnTo>
                <a:lnTo>
                  <a:pt x="281237" y="427414"/>
                </a:lnTo>
                <a:lnTo>
                  <a:pt x="234061" y="431799"/>
                </a:lnTo>
                <a:lnTo>
                  <a:pt x="186884" y="427414"/>
                </a:lnTo>
                <a:lnTo>
                  <a:pt x="142946" y="414835"/>
                </a:lnTo>
                <a:lnTo>
                  <a:pt x="103187" y="394931"/>
                </a:lnTo>
                <a:lnTo>
                  <a:pt x="68548" y="368569"/>
                </a:lnTo>
                <a:lnTo>
                  <a:pt x="39969" y="336618"/>
                </a:lnTo>
                <a:lnTo>
                  <a:pt x="18391" y="299944"/>
                </a:lnTo>
                <a:lnTo>
                  <a:pt x="4754" y="259415"/>
                </a:lnTo>
                <a:lnTo>
                  <a:pt x="0" y="215899"/>
                </a:lnTo>
                <a:close/>
              </a:path>
              <a:path w="3812540" h="2232025">
                <a:moveTo>
                  <a:pt x="472948" y="1107058"/>
                </a:moveTo>
                <a:lnTo>
                  <a:pt x="477702" y="1063585"/>
                </a:lnTo>
                <a:lnTo>
                  <a:pt x="491339" y="1023088"/>
                </a:lnTo>
                <a:lnTo>
                  <a:pt x="512917" y="986436"/>
                </a:lnTo>
                <a:lnTo>
                  <a:pt x="541496" y="954500"/>
                </a:lnTo>
                <a:lnTo>
                  <a:pt x="576135" y="928147"/>
                </a:lnTo>
                <a:lnTo>
                  <a:pt x="615894" y="908248"/>
                </a:lnTo>
                <a:lnTo>
                  <a:pt x="659832" y="895671"/>
                </a:lnTo>
                <a:lnTo>
                  <a:pt x="707009" y="891285"/>
                </a:lnTo>
                <a:lnTo>
                  <a:pt x="754185" y="895671"/>
                </a:lnTo>
                <a:lnTo>
                  <a:pt x="798123" y="908248"/>
                </a:lnTo>
                <a:lnTo>
                  <a:pt x="837882" y="928147"/>
                </a:lnTo>
                <a:lnTo>
                  <a:pt x="872521" y="954500"/>
                </a:lnTo>
                <a:lnTo>
                  <a:pt x="901100" y="986436"/>
                </a:lnTo>
                <a:lnTo>
                  <a:pt x="922678" y="1023088"/>
                </a:lnTo>
                <a:lnTo>
                  <a:pt x="936315" y="1063585"/>
                </a:lnTo>
                <a:lnTo>
                  <a:pt x="941070" y="1107058"/>
                </a:lnTo>
                <a:lnTo>
                  <a:pt x="936315" y="1150574"/>
                </a:lnTo>
                <a:lnTo>
                  <a:pt x="922678" y="1191103"/>
                </a:lnTo>
                <a:lnTo>
                  <a:pt x="901100" y="1227777"/>
                </a:lnTo>
                <a:lnTo>
                  <a:pt x="872521" y="1259728"/>
                </a:lnTo>
                <a:lnTo>
                  <a:pt x="837882" y="1286090"/>
                </a:lnTo>
                <a:lnTo>
                  <a:pt x="798123" y="1305994"/>
                </a:lnTo>
                <a:lnTo>
                  <a:pt x="754185" y="1318573"/>
                </a:lnTo>
                <a:lnTo>
                  <a:pt x="707009" y="1322958"/>
                </a:lnTo>
                <a:lnTo>
                  <a:pt x="659832" y="1318573"/>
                </a:lnTo>
                <a:lnTo>
                  <a:pt x="615894" y="1305994"/>
                </a:lnTo>
                <a:lnTo>
                  <a:pt x="576135" y="1286090"/>
                </a:lnTo>
                <a:lnTo>
                  <a:pt x="541496" y="1259728"/>
                </a:lnTo>
                <a:lnTo>
                  <a:pt x="512917" y="1227777"/>
                </a:lnTo>
                <a:lnTo>
                  <a:pt x="491339" y="1191103"/>
                </a:lnTo>
                <a:lnTo>
                  <a:pt x="477702" y="1150574"/>
                </a:lnTo>
                <a:lnTo>
                  <a:pt x="472948" y="1107058"/>
                </a:lnTo>
                <a:close/>
              </a:path>
              <a:path w="3812540" h="2232025">
                <a:moveTo>
                  <a:pt x="947674" y="2004567"/>
                </a:moveTo>
                <a:lnTo>
                  <a:pt x="952434" y="1961094"/>
                </a:lnTo>
                <a:lnTo>
                  <a:pt x="966085" y="1920597"/>
                </a:lnTo>
                <a:lnTo>
                  <a:pt x="987683" y="1883945"/>
                </a:lnTo>
                <a:lnTo>
                  <a:pt x="1016285" y="1852009"/>
                </a:lnTo>
                <a:lnTo>
                  <a:pt x="1050948" y="1825656"/>
                </a:lnTo>
                <a:lnTo>
                  <a:pt x="1090727" y="1805757"/>
                </a:lnTo>
                <a:lnTo>
                  <a:pt x="1134680" y="1793180"/>
                </a:lnTo>
                <a:lnTo>
                  <a:pt x="1181862" y="1788794"/>
                </a:lnTo>
                <a:lnTo>
                  <a:pt x="1229002" y="1793180"/>
                </a:lnTo>
                <a:lnTo>
                  <a:pt x="1272922" y="1805757"/>
                </a:lnTo>
                <a:lnTo>
                  <a:pt x="1312679" y="1825656"/>
                </a:lnTo>
                <a:lnTo>
                  <a:pt x="1347327" y="1852009"/>
                </a:lnTo>
                <a:lnTo>
                  <a:pt x="1375920" y="1883945"/>
                </a:lnTo>
                <a:lnTo>
                  <a:pt x="1397513" y="1920597"/>
                </a:lnTo>
                <a:lnTo>
                  <a:pt x="1411163" y="1961094"/>
                </a:lnTo>
                <a:lnTo>
                  <a:pt x="1415923" y="2004567"/>
                </a:lnTo>
                <a:lnTo>
                  <a:pt x="1411163" y="2048091"/>
                </a:lnTo>
                <a:lnTo>
                  <a:pt x="1397513" y="2088626"/>
                </a:lnTo>
                <a:lnTo>
                  <a:pt x="1375920" y="2125305"/>
                </a:lnTo>
                <a:lnTo>
                  <a:pt x="1347327" y="2157260"/>
                </a:lnTo>
                <a:lnTo>
                  <a:pt x="1312679" y="2183623"/>
                </a:lnTo>
                <a:lnTo>
                  <a:pt x="1272922" y="2203528"/>
                </a:lnTo>
                <a:lnTo>
                  <a:pt x="1229002" y="2216107"/>
                </a:lnTo>
                <a:lnTo>
                  <a:pt x="1181862" y="2220493"/>
                </a:lnTo>
                <a:lnTo>
                  <a:pt x="1134680" y="2216107"/>
                </a:lnTo>
                <a:lnTo>
                  <a:pt x="1090727" y="2203528"/>
                </a:lnTo>
                <a:lnTo>
                  <a:pt x="1050948" y="2183623"/>
                </a:lnTo>
                <a:lnTo>
                  <a:pt x="1016285" y="2157260"/>
                </a:lnTo>
                <a:lnTo>
                  <a:pt x="987683" y="2125305"/>
                </a:lnTo>
                <a:lnTo>
                  <a:pt x="966085" y="2088626"/>
                </a:lnTo>
                <a:lnTo>
                  <a:pt x="952434" y="2048091"/>
                </a:lnTo>
                <a:lnTo>
                  <a:pt x="947674" y="2004567"/>
                </a:lnTo>
                <a:close/>
              </a:path>
              <a:path w="3812540" h="2232025">
                <a:moveTo>
                  <a:pt x="1936877" y="2016124"/>
                </a:moveTo>
                <a:lnTo>
                  <a:pt x="1941631" y="1972609"/>
                </a:lnTo>
                <a:lnTo>
                  <a:pt x="1955268" y="1932080"/>
                </a:lnTo>
                <a:lnTo>
                  <a:pt x="1976846" y="1895406"/>
                </a:lnTo>
                <a:lnTo>
                  <a:pt x="2005425" y="1863455"/>
                </a:lnTo>
                <a:lnTo>
                  <a:pt x="2040064" y="1837093"/>
                </a:lnTo>
                <a:lnTo>
                  <a:pt x="2079823" y="1817189"/>
                </a:lnTo>
                <a:lnTo>
                  <a:pt x="2123761" y="1804610"/>
                </a:lnTo>
                <a:lnTo>
                  <a:pt x="2170938" y="1800224"/>
                </a:lnTo>
                <a:lnTo>
                  <a:pt x="2218114" y="1804610"/>
                </a:lnTo>
                <a:lnTo>
                  <a:pt x="2262052" y="1817189"/>
                </a:lnTo>
                <a:lnTo>
                  <a:pt x="2301811" y="1837093"/>
                </a:lnTo>
                <a:lnTo>
                  <a:pt x="2336450" y="1863455"/>
                </a:lnTo>
                <a:lnTo>
                  <a:pt x="2365029" y="1895406"/>
                </a:lnTo>
                <a:lnTo>
                  <a:pt x="2386607" y="1932080"/>
                </a:lnTo>
                <a:lnTo>
                  <a:pt x="2400244" y="1972609"/>
                </a:lnTo>
                <a:lnTo>
                  <a:pt x="2404999" y="2016124"/>
                </a:lnTo>
                <a:lnTo>
                  <a:pt x="2400244" y="2059623"/>
                </a:lnTo>
                <a:lnTo>
                  <a:pt x="2386607" y="2100139"/>
                </a:lnTo>
                <a:lnTo>
                  <a:pt x="2365029" y="2136804"/>
                </a:lnTo>
                <a:lnTo>
                  <a:pt x="2336450" y="2168750"/>
                </a:lnTo>
                <a:lnTo>
                  <a:pt x="2301811" y="2195108"/>
                </a:lnTo>
                <a:lnTo>
                  <a:pt x="2262052" y="2215010"/>
                </a:lnTo>
                <a:lnTo>
                  <a:pt x="2218114" y="2227588"/>
                </a:lnTo>
                <a:lnTo>
                  <a:pt x="2170938" y="2231974"/>
                </a:lnTo>
                <a:lnTo>
                  <a:pt x="2123761" y="2227588"/>
                </a:lnTo>
                <a:lnTo>
                  <a:pt x="2079823" y="2215010"/>
                </a:lnTo>
                <a:lnTo>
                  <a:pt x="2040064" y="2195108"/>
                </a:lnTo>
                <a:lnTo>
                  <a:pt x="2005425" y="2168750"/>
                </a:lnTo>
                <a:lnTo>
                  <a:pt x="1976846" y="2136804"/>
                </a:lnTo>
                <a:lnTo>
                  <a:pt x="1955268" y="2100139"/>
                </a:lnTo>
                <a:lnTo>
                  <a:pt x="1941631" y="2059623"/>
                </a:lnTo>
                <a:lnTo>
                  <a:pt x="1936877" y="2016124"/>
                </a:lnTo>
                <a:close/>
              </a:path>
              <a:path w="3812540" h="2232025">
                <a:moveTo>
                  <a:pt x="1958594" y="274446"/>
                </a:moveTo>
                <a:lnTo>
                  <a:pt x="1963348" y="230931"/>
                </a:lnTo>
                <a:lnTo>
                  <a:pt x="1976985" y="190402"/>
                </a:lnTo>
                <a:lnTo>
                  <a:pt x="1998563" y="153728"/>
                </a:lnTo>
                <a:lnTo>
                  <a:pt x="2027142" y="121777"/>
                </a:lnTo>
                <a:lnTo>
                  <a:pt x="2061781" y="95415"/>
                </a:lnTo>
                <a:lnTo>
                  <a:pt x="2101540" y="75511"/>
                </a:lnTo>
                <a:lnTo>
                  <a:pt x="2145478" y="62932"/>
                </a:lnTo>
                <a:lnTo>
                  <a:pt x="2192655" y="58546"/>
                </a:lnTo>
                <a:lnTo>
                  <a:pt x="2239831" y="62932"/>
                </a:lnTo>
                <a:lnTo>
                  <a:pt x="2283769" y="75511"/>
                </a:lnTo>
                <a:lnTo>
                  <a:pt x="2323528" y="95415"/>
                </a:lnTo>
                <a:lnTo>
                  <a:pt x="2358167" y="121777"/>
                </a:lnTo>
                <a:lnTo>
                  <a:pt x="2386746" y="153728"/>
                </a:lnTo>
                <a:lnTo>
                  <a:pt x="2408324" y="190402"/>
                </a:lnTo>
                <a:lnTo>
                  <a:pt x="2421961" y="230931"/>
                </a:lnTo>
                <a:lnTo>
                  <a:pt x="2426716" y="274446"/>
                </a:lnTo>
                <a:lnTo>
                  <a:pt x="2421961" y="317920"/>
                </a:lnTo>
                <a:lnTo>
                  <a:pt x="2408324" y="358417"/>
                </a:lnTo>
                <a:lnTo>
                  <a:pt x="2386746" y="395069"/>
                </a:lnTo>
                <a:lnTo>
                  <a:pt x="2358167" y="427005"/>
                </a:lnTo>
                <a:lnTo>
                  <a:pt x="2323528" y="453358"/>
                </a:lnTo>
                <a:lnTo>
                  <a:pt x="2283769" y="473257"/>
                </a:lnTo>
                <a:lnTo>
                  <a:pt x="2239831" y="485834"/>
                </a:lnTo>
                <a:lnTo>
                  <a:pt x="2192655" y="490219"/>
                </a:lnTo>
                <a:lnTo>
                  <a:pt x="2145478" y="485834"/>
                </a:lnTo>
                <a:lnTo>
                  <a:pt x="2101540" y="473257"/>
                </a:lnTo>
                <a:lnTo>
                  <a:pt x="2061781" y="453358"/>
                </a:lnTo>
                <a:lnTo>
                  <a:pt x="2027142" y="427005"/>
                </a:lnTo>
                <a:lnTo>
                  <a:pt x="1998563" y="395069"/>
                </a:lnTo>
                <a:lnTo>
                  <a:pt x="1976985" y="358417"/>
                </a:lnTo>
                <a:lnTo>
                  <a:pt x="1963348" y="317920"/>
                </a:lnTo>
                <a:lnTo>
                  <a:pt x="1958594" y="274446"/>
                </a:lnTo>
                <a:close/>
              </a:path>
              <a:path w="3812540" h="2232025">
                <a:moveTo>
                  <a:pt x="3344418" y="1124330"/>
                </a:moveTo>
                <a:lnTo>
                  <a:pt x="3349172" y="1080815"/>
                </a:lnTo>
                <a:lnTo>
                  <a:pt x="3362809" y="1040286"/>
                </a:lnTo>
                <a:lnTo>
                  <a:pt x="3384387" y="1003612"/>
                </a:lnTo>
                <a:lnTo>
                  <a:pt x="3412966" y="971661"/>
                </a:lnTo>
                <a:lnTo>
                  <a:pt x="3447605" y="945299"/>
                </a:lnTo>
                <a:lnTo>
                  <a:pt x="3487364" y="925395"/>
                </a:lnTo>
                <a:lnTo>
                  <a:pt x="3531302" y="912816"/>
                </a:lnTo>
                <a:lnTo>
                  <a:pt x="3578479" y="908430"/>
                </a:lnTo>
                <a:lnTo>
                  <a:pt x="3625655" y="912816"/>
                </a:lnTo>
                <a:lnTo>
                  <a:pt x="3669593" y="925395"/>
                </a:lnTo>
                <a:lnTo>
                  <a:pt x="3709352" y="945299"/>
                </a:lnTo>
                <a:lnTo>
                  <a:pt x="3743991" y="971661"/>
                </a:lnTo>
                <a:lnTo>
                  <a:pt x="3772570" y="1003612"/>
                </a:lnTo>
                <a:lnTo>
                  <a:pt x="3794148" y="1040286"/>
                </a:lnTo>
                <a:lnTo>
                  <a:pt x="3807785" y="1080815"/>
                </a:lnTo>
                <a:lnTo>
                  <a:pt x="3812540" y="1124330"/>
                </a:lnTo>
                <a:lnTo>
                  <a:pt x="3807785" y="1167804"/>
                </a:lnTo>
                <a:lnTo>
                  <a:pt x="3794148" y="1208301"/>
                </a:lnTo>
                <a:lnTo>
                  <a:pt x="3772570" y="1244953"/>
                </a:lnTo>
                <a:lnTo>
                  <a:pt x="3743991" y="1276889"/>
                </a:lnTo>
                <a:lnTo>
                  <a:pt x="3709352" y="1303242"/>
                </a:lnTo>
                <a:lnTo>
                  <a:pt x="3669593" y="1323141"/>
                </a:lnTo>
                <a:lnTo>
                  <a:pt x="3625655" y="1335718"/>
                </a:lnTo>
                <a:lnTo>
                  <a:pt x="3578479" y="1340103"/>
                </a:lnTo>
                <a:lnTo>
                  <a:pt x="3531302" y="1335718"/>
                </a:lnTo>
                <a:lnTo>
                  <a:pt x="3487364" y="1323141"/>
                </a:lnTo>
                <a:lnTo>
                  <a:pt x="3447605" y="1303242"/>
                </a:lnTo>
                <a:lnTo>
                  <a:pt x="3412966" y="1276889"/>
                </a:lnTo>
                <a:lnTo>
                  <a:pt x="3384387" y="1244953"/>
                </a:lnTo>
                <a:lnTo>
                  <a:pt x="3362809" y="1208301"/>
                </a:lnTo>
                <a:lnTo>
                  <a:pt x="3349172" y="1167804"/>
                </a:lnTo>
                <a:lnTo>
                  <a:pt x="3344418" y="1124330"/>
                </a:lnTo>
                <a:close/>
              </a:path>
              <a:path w="3812540" h="2232025">
                <a:moveTo>
                  <a:pt x="2302383" y="1124330"/>
                </a:moveTo>
                <a:lnTo>
                  <a:pt x="2307137" y="1080815"/>
                </a:lnTo>
                <a:lnTo>
                  <a:pt x="2320774" y="1040286"/>
                </a:lnTo>
                <a:lnTo>
                  <a:pt x="2342352" y="1003612"/>
                </a:lnTo>
                <a:lnTo>
                  <a:pt x="2370931" y="971661"/>
                </a:lnTo>
                <a:lnTo>
                  <a:pt x="2405570" y="945299"/>
                </a:lnTo>
                <a:lnTo>
                  <a:pt x="2445329" y="925395"/>
                </a:lnTo>
                <a:lnTo>
                  <a:pt x="2489267" y="912816"/>
                </a:lnTo>
                <a:lnTo>
                  <a:pt x="2536444" y="908430"/>
                </a:lnTo>
                <a:lnTo>
                  <a:pt x="2583620" y="912816"/>
                </a:lnTo>
                <a:lnTo>
                  <a:pt x="2627558" y="925395"/>
                </a:lnTo>
                <a:lnTo>
                  <a:pt x="2667317" y="945299"/>
                </a:lnTo>
                <a:lnTo>
                  <a:pt x="2701956" y="971661"/>
                </a:lnTo>
                <a:lnTo>
                  <a:pt x="2730535" y="1003612"/>
                </a:lnTo>
                <a:lnTo>
                  <a:pt x="2752113" y="1040286"/>
                </a:lnTo>
                <a:lnTo>
                  <a:pt x="2765750" y="1080815"/>
                </a:lnTo>
                <a:lnTo>
                  <a:pt x="2770505" y="1124330"/>
                </a:lnTo>
                <a:lnTo>
                  <a:pt x="2765750" y="1167804"/>
                </a:lnTo>
                <a:lnTo>
                  <a:pt x="2752113" y="1208301"/>
                </a:lnTo>
                <a:lnTo>
                  <a:pt x="2730535" y="1244953"/>
                </a:lnTo>
                <a:lnTo>
                  <a:pt x="2701956" y="1276889"/>
                </a:lnTo>
                <a:lnTo>
                  <a:pt x="2667317" y="1303242"/>
                </a:lnTo>
                <a:lnTo>
                  <a:pt x="2627558" y="1323141"/>
                </a:lnTo>
                <a:lnTo>
                  <a:pt x="2583620" y="1335718"/>
                </a:lnTo>
                <a:lnTo>
                  <a:pt x="2536444" y="1340103"/>
                </a:lnTo>
                <a:lnTo>
                  <a:pt x="2489267" y="1335718"/>
                </a:lnTo>
                <a:lnTo>
                  <a:pt x="2445329" y="1323141"/>
                </a:lnTo>
                <a:lnTo>
                  <a:pt x="2405570" y="1303242"/>
                </a:lnTo>
                <a:lnTo>
                  <a:pt x="2370931" y="1276889"/>
                </a:lnTo>
                <a:lnTo>
                  <a:pt x="2342352" y="1244953"/>
                </a:lnTo>
                <a:lnTo>
                  <a:pt x="2320774" y="1208301"/>
                </a:lnTo>
                <a:lnTo>
                  <a:pt x="2307137" y="1167804"/>
                </a:lnTo>
                <a:lnTo>
                  <a:pt x="2302383" y="1124330"/>
                </a:lnTo>
                <a:close/>
              </a:path>
            </a:pathLst>
          </a:custGeom>
          <a:ln w="28575">
            <a:solidFill>
              <a:srgbClr val="507C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971281" y="2955417"/>
            <a:ext cx="324485" cy="138493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58750">
              <a:lnSpc>
                <a:spcPct val="100000"/>
              </a:lnSpc>
              <a:spcBef>
                <a:spcPts val="869"/>
              </a:spcBef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57785">
              <a:lnSpc>
                <a:spcPct val="100000"/>
              </a:lnSpc>
              <a:spcBef>
                <a:spcPts val="775"/>
              </a:spcBef>
            </a:pPr>
            <a:r>
              <a:rPr sz="2400" b="1" dirty="0">
                <a:solidFill>
                  <a:srgbClr val="B42C2C"/>
                </a:solidFill>
                <a:latin typeface="Times New Roman"/>
                <a:cs typeface="Times New Roman"/>
              </a:rPr>
              <a:t>9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906761" y="2951869"/>
            <a:ext cx="337820" cy="1447800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172085">
              <a:lnSpc>
                <a:spcPct val="100000"/>
              </a:lnSpc>
              <a:spcBef>
                <a:spcPts val="1115"/>
              </a:spcBef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sz="2400" b="1" spc="-135" dirty="0">
                <a:solidFill>
                  <a:srgbClr val="B42C2C"/>
                </a:solidFill>
                <a:latin typeface="Times New Roman"/>
                <a:cs typeface="Times New Roman"/>
              </a:rPr>
              <a:t>11</a:t>
            </a:r>
            <a:endParaRPr sz="240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  <a:spcBef>
                <a:spcPts val="520"/>
              </a:spcBef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03002" y="3881247"/>
            <a:ext cx="337820" cy="131318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72085">
              <a:lnSpc>
                <a:spcPct val="100000"/>
              </a:lnSpc>
              <a:spcBef>
                <a:spcPts val="805"/>
              </a:spcBef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28575">
              <a:lnSpc>
                <a:spcPct val="100000"/>
              </a:lnSpc>
              <a:spcBef>
                <a:spcPts val="705"/>
              </a:spcBef>
            </a:pPr>
            <a:r>
              <a:rPr sz="2400" b="1" dirty="0">
                <a:solidFill>
                  <a:srgbClr val="B42C2C"/>
                </a:solidFill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56803" y="3898265"/>
            <a:ext cx="280035" cy="130048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670"/>
              </a:spcBef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45085">
              <a:lnSpc>
                <a:spcPct val="100000"/>
              </a:lnSpc>
              <a:spcBef>
                <a:spcPts val="570"/>
              </a:spcBef>
            </a:pPr>
            <a:r>
              <a:rPr sz="2400" b="1" dirty="0">
                <a:solidFill>
                  <a:srgbClr val="B42C2C"/>
                </a:solidFill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261597" y="3860419"/>
            <a:ext cx="325120" cy="137033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111760">
              <a:lnSpc>
                <a:spcPct val="100000"/>
              </a:lnSpc>
              <a:spcBef>
                <a:spcPts val="785"/>
              </a:spcBef>
            </a:pPr>
            <a:r>
              <a:rPr sz="2400" b="1" dirty="0">
                <a:solidFill>
                  <a:srgbClr val="B42C2C"/>
                </a:solidFill>
                <a:latin typeface="Times New Roman"/>
                <a:cs typeface="Times New Roman"/>
              </a:rPr>
              <a:t>8</a:t>
            </a:r>
            <a:endParaRPr sz="2400">
              <a:latin typeface="Times New Roman"/>
              <a:cs typeface="Times New Roman"/>
            </a:endParaRPr>
          </a:p>
          <a:p>
            <a:pPr marL="108585">
              <a:lnSpc>
                <a:spcPct val="100000"/>
              </a:lnSpc>
              <a:spcBef>
                <a:spcPts val="375"/>
              </a:spcBef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943847" y="4761128"/>
            <a:ext cx="267970" cy="131318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805"/>
              </a:spcBef>
            </a:pPr>
            <a:r>
              <a:rPr sz="2400" b="1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33020">
              <a:lnSpc>
                <a:spcPct val="100000"/>
              </a:lnSpc>
              <a:spcBef>
                <a:spcPts val="710"/>
              </a:spcBef>
            </a:pPr>
            <a:r>
              <a:rPr sz="2400" b="1" dirty="0">
                <a:solidFill>
                  <a:srgbClr val="B42C2C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872218" y="4753102"/>
            <a:ext cx="308610" cy="132969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93980">
              <a:lnSpc>
                <a:spcPct val="100000"/>
              </a:lnSpc>
              <a:spcBef>
                <a:spcPts val="785"/>
              </a:spcBef>
            </a:pPr>
            <a:r>
              <a:rPr sz="2400" b="1" dirty="0">
                <a:solidFill>
                  <a:srgbClr val="B42C2C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  <a:p>
            <a:pPr marL="58419">
              <a:lnSpc>
                <a:spcPct val="100000"/>
              </a:lnSpc>
              <a:spcBef>
                <a:spcPts val="60"/>
              </a:spcBef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52601" y="3037078"/>
            <a:ext cx="1138555" cy="2677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3035" algn="just">
              <a:lnSpc>
                <a:spcPts val="3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宋体"/>
                <a:cs typeface="宋体"/>
              </a:rPr>
              <a:t>：</a:t>
            </a:r>
            <a:r>
              <a:rPr sz="2400" spc="-5" dirty="0">
                <a:latin typeface="Times New Roman"/>
                <a:cs typeface="Times New Roman"/>
              </a:rPr>
              <a:t>00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</a:t>
            </a:r>
            <a:r>
              <a:rPr sz="2400" spc="-5" dirty="0">
                <a:latin typeface="宋体"/>
                <a:cs typeface="宋体"/>
              </a:rPr>
              <a:t>：</a:t>
            </a:r>
            <a:r>
              <a:rPr sz="2400" spc="-5" dirty="0">
                <a:latin typeface="Times New Roman"/>
                <a:cs typeface="Times New Roman"/>
              </a:rPr>
              <a:t>10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dirty="0">
                <a:latin typeface="Times New Roman"/>
                <a:cs typeface="Times New Roman"/>
              </a:rPr>
              <a:t>010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ts val="3000"/>
              </a:lnSpc>
            </a:pPr>
            <a:r>
              <a:rPr sz="2400" spc="-20" dirty="0">
                <a:latin typeface="Times New Roman"/>
                <a:cs typeface="Times New Roman"/>
              </a:rPr>
              <a:t>D</a:t>
            </a:r>
            <a:r>
              <a:rPr sz="2400" spc="-20" dirty="0">
                <a:latin typeface="宋体"/>
                <a:cs typeface="宋体"/>
              </a:rPr>
              <a:t>：</a:t>
            </a:r>
            <a:r>
              <a:rPr sz="2400" spc="-20" dirty="0">
                <a:latin typeface="Times New Roman"/>
                <a:cs typeface="Times New Roman"/>
              </a:rPr>
              <a:t>110 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E</a:t>
            </a:r>
            <a:r>
              <a:rPr sz="2400" spc="-55" dirty="0">
                <a:latin typeface="宋体"/>
                <a:cs typeface="宋体"/>
              </a:rPr>
              <a:t>：</a:t>
            </a:r>
            <a:r>
              <a:rPr sz="2400" spc="-55" dirty="0">
                <a:latin typeface="Times New Roman"/>
                <a:cs typeface="Times New Roman"/>
              </a:rPr>
              <a:t>111 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F</a:t>
            </a:r>
            <a:r>
              <a:rPr sz="2400" spc="-20" dirty="0">
                <a:latin typeface="宋体"/>
                <a:cs typeface="宋体"/>
              </a:rPr>
              <a:t>：</a:t>
            </a:r>
            <a:r>
              <a:rPr sz="2400" spc="-20" dirty="0">
                <a:latin typeface="Times New Roman"/>
                <a:cs typeface="Times New Roman"/>
              </a:rPr>
              <a:t>0110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G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dirty="0">
                <a:latin typeface="Times New Roman"/>
                <a:cs typeface="Times New Roman"/>
              </a:rPr>
              <a:t>0</a:t>
            </a:r>
            <a:r>
              <a:rPr sz="2400" spc="-85" dirty="0">
                <a:latin typeface="Times New Roman"/>
                <a:cs typeface="Times New Roman"/>
              </a:rPr>
              <a:t>11</a:t>
            </a:r>
            <a:r>
              <a:rPr sz="24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650094" y="4834890"/>
            <a:ext cx="310515" cy="461645"/>
          </a:xfrm>
          <a:custGeom>
            <a:avLst/>
            <a:gdLst/>
            <a:ahLst/>
            <a:cxnLst/>
            <a:rect l="l" t="t" r="r" b="b"/>
            <a:pathLst>
              <a:path w="310515" h="461645">
                <a:moveTo>
                  <a:pt x="0" y="0"/>
                </a:moveTo>
                <a:lnTo>
                  <a:pt x="310133" y="461137"/>
                </a:lnTo>
              </a:path>
            </a:pathLst>
          </a:custGeom>
          <a:ln w="38100">
            <a:solidFill>
              <a:srgbClr val="285A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255379" y="4421784"/>
            <a:ext cx="541020" cy="413384"/>
          </a:xfrm>
          <a:prstGeom prst="rect">
            <a:avLst/>
          </a:prstGeom>
          <a:ln w="28575">
            <a:solidFill>
              <a:srgbClr val="5A317C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10"/>
              </a:spcBef>
            </a:pPr>
            <a:r>
              <a:rPr sz="2400" b="1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118092" y="4834890"/>
            <a:ext cx="310515" cy="461645"/>
          </a:xfrm>
          <a:custGeom>
            <a:avLst/>
            <a:gdLst/>
            <a:ahLst/>
            <a:cxnLst/>
            <a:rect l="l" t="t" r="r" b="b"/>
            <a:pathLst>
              <a:path w="310515" h="461645">
                <a:moveTo>
                  <a:pt x="0" y="461137"/>
                </a:moveTo>
                <a:lnTo>
                  <a:pt x="310006" y="0"/>
                </a:lnTo>
              </a:path>
            </a:pathLst>
          </a:custGeom>
          <a:ln w="38100">
            <a:solidFill>
              <a:srgbClr val="285A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0656569" y="3552977"/>
            <a:ext cx="541020" cy="413384"/>
          </a:xfrm>
          <a:prstGeom prst="rect">
            <a:avLst/>
          </a:prstGeom>
          <a:ln w="28575">
            <a:solidFill>
              <a:srgbClr val="5A317C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105"/>
              </a:spcBef>
            </a:pPr>
            <a:r>
              <a:rPr sz="2400" b="1" dirty="0">
                <a:latin typeface="Times New Roman"/>
                <a:cs typeface="Times New Roman"/>
              </a:rPr>
              <a:t>15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803195" y="3538689"/>
            <a:ext cx="2559685" cy="928369"/>
            <a:chOff x="8803195" y="3538689"/>
            <a:chExt cx="2559685" cy="928369"/>
          </a:xfrm>
        </p:grpSpPr>
        <p:sp>
          <p:nvSpPr>
            <p:cNvPr id="24" name="object 24"/>
            <p:cNvSpPr/>
            <p:nvPr/>
          </p:nvSpPr>
          <p:spPr>
            <a:xfrm>
              <a:off x="10501502" y="3986656"/>
              <a:ext cx="842644" cy="461645"/>
            </a:xfrm>
            <a:custGeom>
              <a:avLst/>
              <a:gdLst/>
              <a:ahLst/>
              <a:cxnLst/>
              <a:rect l="l" t="t" r="r" b="b"/>
              <a:pathLst>
                <a:path w="842645" h="461645">
                  <a:moveTo>
                    <a:pt x="532002" y="0"/>
                  </a:moveTo>
                  <a:lnTo>
                    <a:pt x="842137" y="461137"/>
                  </a:lnTo>
                </a:path>
                <a:path w="842645" h="461645">
                  <a:moveTo>
                    <a:pt x="0" y="461137"/>
                  </a:moveTo>
                  <a:lnTo>
                    <a:pt x="310133" y="0"/>
                  </a:lnTo>
                </a:path>
              </a:pathLst>
            </a:custGeom>
            <a:ln w="38100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817482" y="3552977"/>
              <a:ext cx="541020" cy="413384"/>
            </a:xfrm>
            <a:custGeom>
              <a:avLst/>
              <a:gdLst/>
              <a:ahLst/>
              <a:cxnLst/>
              <a:rect l="l" t="t" r="r" b="b"/>
              <a:pathLst>
                <a:path w="541020" h="413385">
                  <a:moveTo>
                    <a:pt x="0" y="413105"/>
                  </a:moveTo>
                  <a:lnTo>
                    <a:pt x="540499" y="413105"/>
                  </a:lnTo>
                  <a:lnTo>
                    <a:pt x="540499" y="0"/>
                  </a:lnTo>
                  <a:lnTo>
                    <a:pt x="0" y="0"/>
                  </a:lnTo>
                  <a:lnTo>
                    <a:pt x="0" y="413105"/>
                  </a:lnTo>
                  <a:close/>
                </a:path>
              </a:pathLst>
            </a:custGeom>
            <a:ln w="28575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923146" y="3554095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10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642095" y="3950461"/>
            <a:ext cx="842644" cy="461645"/>
          </a:xfrm>
          <a:custGeom>
            <a:avLst/>
            <a:gdLst/>
            <a:ahLst/>
            <a:cxnLst/>
            <a:rect l="l" t="t" r="r" b="b"/>
            <a:pathLst>
              <a:path w="842645" h="461645">
                <a:moveTo>
                  <a:pt x="532129" y="0"/>
                </a:moveTo>
                <a:lnTo>
                  <a:pt x="842263" y="461137"/>
                </a:lnTo>
              </a:path>
              <a:path w="842645" h="461645">
                <a:moveTo>
                  <a:pt x="0" y="461137"/>
                </a:moveTo>
                <a:lnTo>
                  <a:pt x="310133" y="0"/>
                </a:lnTo>
              </a:path>
            </a:pathLst>
          </a:custGeom>
          <a:ln w="38100">
            <a:solidFill>
              <a:srgbClr val="285A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0282301" y="2671216"/>
            <a:ext cx="541020" cy="413384"/>
          </a:xfrm>
          <a:prstGeom prst="rect">
            <a:avLst/>
          </a:prstGeom>
          <a:ln w="28575">
            <a:solidFill>
              <a:srgbClr val="5A317C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105"/>
              </a:spcBef>
            </a:pPr>
            <a:r>
              <a:rPr sz="2400" b="1" dirty="0">
                <a:latin typeface="Times New Roman"/>
                <a:cs typeface="Times New Roman"/>
              </a:rPr>
              <a:t>26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353107" y="2656928"/>
            <a:ext cx="2616835" cy="911225"/>
            <a:chOff x="8353107" y="2656928"/>
            <a:chExt cx="2616835" cy="911225"/>
          </a:xfrm>
        </p:grpSpPr>
        <p:sp>
          <p:nvSpPr>
            <p:cNvPr id="30" name="object 30"/>
            <p:cNvSpPr/>
            <p:nvPr/>
          </p:nvSpPr>
          <p:spPr>
            <a:xfrm>
              <a:off x="10108310" y="3087497"/>
              <a:ext cx="842644" cy="461645"/>
            </a:xfrm>
            <a:custGeom>
              <a:avLst/>
              <a:gdLst/>
              <a:ahLst/>
              <a:cxnLst/>
              <a:rect l="l" t="t" r="r" b="b"/>
              <a:pathLst>
                <a:path w="842645" h="461645">
                  <a:moveTo>
                    <a:pt x="532003" y="0"/>
                  </a:moveTo>
                  <a:lnTo>
                    <a:pt x="842137" y="461137"/>
                  </a:lnTo>
                </a:path>
                <a:path w="842645" h="461645">
                  <a:moveTo>
                    <a:pt x="0" y="461137"/>
                  </a:moveTo>
                  <a:lnTo>
                    <a:pt x="310007" y="0"/>
                  </a:lnTo>
                </a:path>
              </a:pathLst>
            </a:custGeom>
            <a:ln w="38100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367394" y="2671216"/>
              <a:ext cx="541020" cy="413384"/>
            </a:xfrm>
            <a:custGeom>
              <a:avLst/>
              <a:gdLst/>
              <a:ahLst/>
              <a:cxnLst/>
              <a:rect l="l" t="t" r="r" b="b"/>
              <a:pathLst>
                <a:path w="541020" h="413385">
                  <a:moveTo>
                    <a:pt x="0" y="413105"/>
                  </a:moveTo>
                  <a:lnTo>
                    <a:pt x="540499" y="413105"/>
                  </a:lnTo>
                  <a:lnTo>
                    <a:pt x="540499" y="0"/>
                  </a:lnTo>
                  <a:lnTo>
                    <a:pt x="0" y="0"/>
                  </a:lnTo>
                  <a:lnTo>
                    <a:pt x="0" y="413105"/>
                  </a:lnTo>
                  <a:close/>
                </a:path>
              </a:pathLst>
            </a:custGeom>
            <a:ln w="28575">
              <a:solidFill>
                <a:srgbClr val="5A31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8472931" y="2671953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19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195818" y="3067939"/>
            <a:ext cx="842644" cy="461645"/>
          </a:xfrm>
          <a:custGeom>
            <a:avLst/>
            <a:gdLst/>
            <a:ahLst/>
            <a:cxnLst/>
            <a:rect l="l" t="t" r="r" b="b"/>
            <a:pathLst>
              <a:path w="842645" h="461645">
                <a:moveTo>
                  <a:pt x="532129" y="0"/>
                </a:moveTo>
                <a:lnTo>
                  <a:pt x="842263" y="461137"/>
                </a:lnTo>
              </a:path>
              <a:path w="842645" h="461645">
                <a:moveTo>
                  <a:pt x="0" y="461137"/>
                </a:moveTo>
                <a:lnTo>
                  <a:pt x="310133" y="0"/>
                </a:lnTo>
              </a:path>
            </a:pathLst>
          </a:custGeom>
          <a:ln w="38100">
            <a:solidFill>
              <a:srgbClr val="285A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9364598" y="1803679"/>
            <a:ext cx="541020" cy="413384"/>
          </a:xfrm>
          <a:prstGeom prst="rect">
            <a:avLst/>
          </a:prstGeom>
          <a:ln w="28575">
            <a:solidFill>
              <a:srgbClr val="5A317C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18110">
              <a:lnSpc>
                <a:spcPct val="100000"/>
              </a:lnSpc>
              <a:spcBef>
                <a:spcPts val="105"/>
              </a:spcBef>
            </a:pPr>
            <a:r>
              <a:rPr sz="2400" b="1" spc="-5" dirty="0">
                <a:latin typeface="Times New Roman"/>
                <a:cs typeface="Times New Roman"/>
              </a:rPr>
              <a:t>45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39864" y="884936"/>
            <a:ext cx="9944735" cy="1790064"/>
            <a:chOff x="639864" y="884936"/>
            <a:chExt cx="9944735" cy="1790064"/>
          </a:xfrm>
        </p:grpSpPr>
        <p:sp>
          <p:nvSpPr>
            <p:cNvPr id="36" name="object 36"/>
            <p:cNvSpPr/>
            <p:nvPr/>
          </p:nvSpPr>
          <p:spPr>
            <a:xfrm>
              <a:off x="8740140" y="2216785"/>
              <a:ext cx="1824989" cy="439420"/>
            </a:xfrm>
            <a:custGeom>
              <a:avLst/>
              <a:gdLst/>
              <a:ahLst/>
              <a:cxnLst/>
              <a:rect l="l" t="t" r="r" b="b"/>
              <a:pathLst>
                <a:path w="1824990" h="439419">
                  <a:moveTo>
                    <a:pt x="0" y="439165"/>
                  </a:moveTo>
                  <a:lnTo>
                    <a:pt x="821054" y="0"/>
                  </a:lnTo>
                </a:path>
                <a:path w="1824990" h="439419">
                  <a:moveTo>
                    <a:pt x="1003807" y="0"/>
                  </a:moveTo>
                  <a:lnTo>
                    <a:pt x="1824989" y="439165"/>
                  </a:lnTo>
                </a:path>
              </a:pathLst>
            </a:custGeom>
            <a:ln w="38100">
              <a:solidFill>
                <a:srgbClr val="285A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6018" y="884936"/>
              <a:ext cx="88112" cy="80263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39864" y="958976"/>
              <a:ext cx="360045" cy="358140"/>
            </a:xfrm>
            <a:custGeom>
              <a:avLst/>
              <a:gdLst/>
              <a:ahLst/>
              <a:cxnLst/>
              <a:rect l="l" t="t" r="r" b="b"/>
              <a:pathLst>
                <a:path w="360044" h="358140">
                  <a:moveTo>
                    <a:pt x="62941" y="278892"/>
                  </a:moveTo>
                  <a:lnTo>
                    <a:pt x="60693" y="278892"/>
                  </a:lnTo>
                  <a:lnTo>
                    <a:pt x="43230" y="258127"/>
                  </a:lnTo>
                  <a:lnTo>
                    <a:pt x="28930" y="249199"/>
                  </a:lnTo>
                  <a:lnTo>
                    <a:pt x="19278" y="247345"/>
                  </a:lnTo>
                  <a:lnTo>
                    <a:pt x="15735" y="247777"/>
                  </a:lnTo>
                  <a:lnTo>
                    <a:pt x="8991" y="247777"/>
                  </a:lnTo>
                  <a:lnTo>
                    <a:pt x="0" y="316738"/>
                  </a:lnTo>
                  <a:lnTo>
                    <a:pt x="2247" y="316738"/>
                  </a:lnTo>
                  <a:lnTo>
                    <a:pt x="2247" y="319024"/>
                  </a:lnTo>
                  <a:lnTo>
                    <a:pt x="4495" y="319024"/>
                  </a:lnTo>
                  <a:lnTo>
                    <a:pt x="62941" y="278892"/>
                  </a:lnTo>
                  <a:close/>
                </a:path>
                <a:path w="360044" h="358140">
                  <a:moveTo>
                    <a:pt x="211480" y="33782"/>
                  </a:moveTo>
                  <a:lnTo>
                    <a:pt x="191833" y="22479"/>
                  </a:lnTo>
                  <a:lnTo>
                    <a:pt x="182130" y="16903"/>
                  </a:lnTo>
                  <a:lnTo>
                    <a:pt x="182130" y="33782"/>
                  </a:lnTo>
                  <a:lnTo>
                    <a:pt x="179870" y="38227"/>
                  </a:lnTo>
                  <a:lnTo>
                    <a:pt x="121196" y="137160"/>
                  </a:lnTo>
                  <a:lnTo>
                    <a:pt x="118935" y="141605"/>
                  </a:lnTo>
                  <a:lnTo>
                    <a:pt x="107645" y="141605"/>
                  </a:lnTo>
                  <a:lnTo>
                    <a:pt x="103136" y="139319"/>
                  </a:lnTo>
                  <a:lnTo>
                    <a:pt x="103136" y="132588"/>
                  </a:lnTo>
                  <a:lnTo>
                    <a:pt x="105397" y="128143"/>
                  </a:lnTo>
                  <a:lnTo>
                    <a:pt x="164071" y="29210"/>
                  </a:lnTo>
                  <a:lnTo>
                    <a:pt x="166331" y="24765"/>
                  </a:lnTo>
                  <a:lnTo>
                    <a:pt x="173101" y="22479"/>
                  </a:lnTo>
                  <a:lnTo>
                    <a:pt x="177622" y="24765"/>
                  </a:lnTo>
                  <a:lnTo>
                    <a:pt x="179870" y="29210"/>
                  </a:lnTo>
                  <a:lnTo>
                    <a:pt x="182130" y="33782"/>
                  </a:lnTo>
                  <a:lnTo>
                    <a:pt x="182130" y="16903"/>
                  </a:lnTo>
                  <a:lnTo>
                    <a:pt x="152793" y="0"/>
                  </a:lnTo>
                  <a:lnTo>
                    <a:pt x="150533" y="0"/>
                  </a:lnTo>
                  <a:lnTo>
                    <a:pt x="15113" y="229235"/>
                  </a:lnTo>
                  <a:lnTo>
                    <a:pt x="24625" y="230162"/>
                  </a:lnTo>
                  <a:lnTo>
                    <a:pt x="38811" y="234873"/>
                  </a:lnTo>
                  <a:lnTo>
                    <a:pt x="56362" y="246329"/>
                  </a:lnTo>
                  <a:lnTo>
                    <a:pt x="76047" y="267462"/>
                  </a:lnTo>
                  <a:lnTo>
                    <a:pt x="149669" y="141605"/>
                  </a:lnTo>
                  <a:lnTo>
                    <a:pt x="211480" y="35941"/>
                  </a:lnTo>
                  <a:lnTo>
                    <a:pt x="211480" y="33782"/>
                  </a:lnTo>
                  <a:close/>
                </a:path>
                <a:path w="360044" h="358140">
                  <a:moveTo>
                    <a:pt x="360006" y="179832"/>
                  </a:moveTo>
                  <a:lnTo>
                    <a:pt x="357746" y="175260"/>
                  </a:lnTo>
                  <a:lnTo>
                    <a:pt x="355498" y="170815"/>
                  </a:lnTo>
                  <a:lnTo>
                    <a:pt x="348729" y="170815"/>
                  </a:lnTo>
                  <a:lnTo>
                    <a:pt x="346468" y="173101"/>
                  </a:lnTo>
                  <a:lnTo>
                    <a:pt x="341960" y="175260"/>
                  </a:lnTo>
                  <a:lnTo>
                    <a:pt x="335191" y="179832"/>
                  </a:lnTo>
                  <a:lnTo>
                    <a:pt x="330682" y="182118"/>
                  </a:lnTo>
                  <a:lnTo>
                    <a:pt x="318541" y="189293"/>
                  </a:lnTo>
                  <a:lnTo>
                    <a:pt x="306425" y="197294"/>
                  </a:lnTo>
                  <a:lnTo>
                    <a:pt x="295135" y="206159"/>
                  </a:lnTo>
                  <a:lnTo>
                    <a:pt x="285559" y="215900"/>
                  </a:lnTo>
                  <a:lnTo>
                    <a:pt x="277342" y="228892"/>
                  </a:lnTo>
                  <a:lnTo>
                    <a:pt x="277380" y="240398"/>
                  </a:lnTo>
                  <a:lnTo>
                    <a:pt x="282067" y="249783"/>
                  </a:lnTo>
                  <a:lnTo>
                    <a:pt x="287820" y="256413"/>
                  </a:lnTo>
                  <a:lnTo>
                    <a:pt x="270116" y="262026"/>
                  </a:lnTo>
                  <a:lnTo>
                    <a:pt x="251155" y="265734"/>
                  </a:lnTo>
                  <a:lnTo>
                    <a:pt x="231343" y="268185"/>
                  </a:lnTo>
                  <a:lnTo>
                    <a:pt x="211112" y="270002"/>
                  </a:lnTo>
                  <a:lnTo>
                    <a:pt x="185407" y="271919"/>
                  </a:lnTo>
                  <a:lnTo>
                    <a:pt x="159512" y="275069"/>
                  </a:lnTo>
                  <a:lnTo>
                    <a:pt x="134023" y="280771"/>
                  </a:lnTo>
                  <a:lnTo>
                    <a:pt x="109601" y="290322"/>
                  </a:lnTo>
                  <a:lnTo>
                    <a:pt x="107340" y="290322"/>
                  </a:lnTo>
                  <a:lnTo>
                    <a:pt x="105079" y="292481"/>
                  </a:lnTo>
                  <a:lnTo>
                    <a:pt x="105079" y="297053"/>
                  </a:lnTo>
                  <a:lnTo>
                    <a:pt x="134416" y="328549"/>
                  </a:lnTo>
                  <a:lnTo>
                    <a:pt x="141185" y="330835"/>
                  </a:lnTo>
                  <a:lnTo>
                    <a:pt x="150202" y="335407"/>
                  </a:lnTo>
                  <a:lnTo>
                    <a:pt x="152463" y="337566"/>
                  </a:lnTo>
                  <a:lnTo>
                    <a:pt x="152463" y="339852"/>
                  </a:lnTo>
                  <a:lnTo>
                    <a:pt x="132156" y="339852"/>
                  </a:lnTo>
                  <a:lnTo>
                    <a:pt x="118618" y="339471"/>
                  </a:lnTo>
                  <a:lnTo>
                    <a:pt x="105079" y="338442"/>
                  </a:lnTo>
                  <a:lnTo>
                    <a:pt x="91541" y="337019"/>
                  </a:lnTo>
                  <a:lnTo>
                    <a:pt x="78016" y="335407"/>
                  </a:lnTo>
                  <a:lnTo>
                    <a:pt x="64122" y="332409"/>
                  </a:lnTo>
                  <a:lnTo>
                    <a:pt x="49809" y="330276"/>
                  </a:lnTo>
                  <a:lnTo>
                    <a:pt x="35496" y="328980"/>
                  </a:lnTo>
                  <a:lnTo>
                    <a:pt x="21615" y="328549"/>
                  </a:lnTo>
                  <a:lnTo>
                    <a:pt x="17106" y="328549"/>
                  </a:lnTo>
                  <a:lnTo>
                    <a:pt x="12598" y="333121"/>
                  </a:lnTo>
                  <a:lnTo>
                    <a:pt x="12598" y="342138"/>
                  </a:lnTo>
                  <a:lnTo>
                    <a:pt x="17106" y="346583"/>
                  </a:lnTo>
                  <a:lnTo>
                    <a:pt x="21615" y="346583"/>
                  </a:lnTo>
                  <a:lnTo>
                    <a:pt x="34823" y="346976"/>
                  </a:lnTo>
                  <a:lnTo>
                    <a:pt x="47840" y="348018"/>
                  </a:lnTo>
                  <a:lnTo>
                    <a:pt x="75755" y="351155"/>
                  </a:lnTo>
                  <a:lnTo>
                    <a:pt x="89636" y="354088"/>
                  </a:lnTo>
                  <a:lnTo>
                    <a:pt x="103949" y="356196"/>
                  </a:lnTo>
                  <a:lnTo>
                    <a:pt x="118262" y="357466"/>
                  </a:lnTo>
                  <a:lnTo>
                    <a:pt x="132156" y="357886"/>
                  </a:lnTo>
                  <a:lnTo>
                    <a:pt x="156972" y="357886"/>
                  </a:lnTo>
                  <a:lnTo>
                    <a:pt x="166001" y="355600"/>
                  </a:lnTo>
                  <a:lnTo>
                    <a:pt x="170510" y="348869"/>
                  </a:lnTo>
                  <a:lnTo>
                    <a:pt x="175018" y="339852"/>
                  </a:lnTo>
                  <a:lnTo>
                    <a:pt x="168249" y="330835"/>
                  </a:lnTo>
                  <a:lnTo>
                    <a:pt x="168249" y="328549"/>
                  </a:lnTo>
                  <a:lnTo>
                    <a:pt x="162750" y="322580"/>
                  </a:lnTo>
                  <a:lnTo>
                    <a:pt x="156400" y="317868"/>
                  </a:lnTo>
                  <a:lnTo>
                    <a:pt x="149212" y="313994"/>
                  </a:lnTo>
                  <a:lnTo>
                    <a:pt x="141185" y="310515"/>
                  </a:lnTo>
                  <a:lnTo>
                    <a:pt x="136664" y="310515"/>
                  </a:lnTo>
                  <a:lnTo>
                    <a:pt x="127647" y="306070"/>
                  </a:lnTo>
                  <a:lnTo>
                    <a:pt x="167398" y="292531"/>
                  </a:lnTo>
                  <a:lnTo>
                    <a:pt x="213372" y="288036"/>
                  </a:lnTo>
                  <a:lnTo>
                    <a:pt x="260464" y="281546"/>
                  </a:lnTo>
                  <a:lnTo>
                    <a:pt x="283476" y="276948"/>
                  </a:lnTo>
                  <a:lnTo>
                    <a:pt x="305866" y="270002"/>
                  </a:lnTo>
                  <a:lnTo>
                    <a:pt x="310375" y="270002"/>
                  </a:lnTo>
                  <a:lnTo>
                    <a:pt x="310375" y="267716"/>
                  </a:lnTo>
                  <a:lnTo>
                    <a:pt x="312635" y="265430"/>
                  </a:lnTo>
                  <a:lnTo>
                    <a:pt x="312635" y="256413"/>
                  </a:lnTo>
                  <a:lnTo>
                    <a:pt x="308114" y="251968"/>
                  </a:lnTo>
                  <a:lnTo>
                    <a:pt x="305866" y="247396"/>
                  </a:lnTo>
                  <a:lnTo>
                    <a:pt x="301345" y="245237"/>
                  </a:lnTo>
                  <a:lnTo>
                    <a:pt x="292328" y="233934"/>
                  </a:lnTo>
                  <a:lnTo>
                    <a:pt x="299097" y="227203"/>
                  </a:lnTo>
                  <a:lnTo>
                    <a:pt x="307340" y="219125"/>
                  </a:lnTo>
                  <a:lnTo>
                    <a:pt x="317703" y="211683"/>
                  </a:lnTo>
                  <a:lnTo>
                    <a:pt x="339699" y="197866"/>
                  </a:lnTo>
                  <a:lnTo>
                    <a:pt x="346468" y="193294"/>
                  </a:lnTo>
                  <a:lnTo>
                    <a:pt x="350977" y="191135"/>
                  </a:lnTo>
                  <a:lnTo>
                    <a:pt x="355498" y="188849"/>
                  </a:lnTo>
                  <a:lnTo>
                    <a:pt x="360006" y="184277"/>
                  </a:lnTo>
                  <a:lnTo>
                    <a:pt x="360006" y="179832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018" y="1526666"/>
              <a:ext cx="88112" cy="80391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639864" y="1600707"/>
              <a:ext cx="360045" cy="358140"/>
            </a:xfrm>
            <a:custGeom>
              <a:avLst/>
              <a:gdLst/>
              <a:ahLst/>
              <a:cxnLst/>
              <a:rect l="l" t="t" r="r" b="b"/>
              <a:pathLst>
                <a:path w="360044" h="358139">
                  <a:moveTo>
                    <a:pt x="62941" y="279019"/>
                  </a:moveTo>
                  <a:lnTo>
                    <a:pt x="60693" y="279019"/>
                  </a:lnTo>
                  <a:lnTo>
                    <a:pt x="43230" y="258178"/>
                  </a:lnTo>
                  <a:lnTo>
                    <a:pt x="28930" y="249212"/>
                  </a:lnTo>
                  <a:lnTo>
                    <a:pt x="19278" y="247345"/>
                  </a:lnTo>
                  <a:lnTo>
                    <a:pt x="15735" y="247777"/>
                  </a:lnTo>
                  <a:lnTo>
                    <a:pt x="8991" y="247777"/>
                  </a:lnTo>
                  <a:lnTo>
                    <a:pt x="0" y="316738"/>
                  </a:lnTo>
                  <a:lnTo>
                    <a:pt x="2247" y="316738"/>
                  </a:lnTo>
                  <a:lnTo>
                    <a:pt x="2247" y="319024"/>
                  </a:lnTo>
                  <a:lnTo>
                    <a:pt x="4495" y="319024"/>
                  </a:lnTo>
                  <a:lnTo>
                    <a:pt x="62941" y="279019"/>
                  </a:lnTo>
                  <a:close/>
                </a:path>
                <a:path w="360044" h="358139">
                  <a:moveTo>
                    <a:pt x="211480" y="33782"/>
                  </a:moveTo>
                  <a:lnTo>
                    <a:pt x="191833" y="22479"/>
                  </a:lnTo>
                  <a:lnTo>
                    <a:pt x="182130" y="16903"/>
                  </a:lnTo>
                  <a:lnTo>
                    <a:pt x="182130" y="33782"/>
                  </a:lnTo>
                  <a:lnTo>
                    <a:pt x="179870" y="38227"/>
                  </a:lnTo>
                  <a:lnTo>
                    <a:pt x="121196" y="137160"/>
                  </a:lnTo>
                  <a:lnTo>
                    <a:pt x="118935" y="141605"/>
                  </a:lnTo>
                  <a:lnTo>
                    <a:pt x="107645" y="141605"/>
                  </a:lnTo>
                  <a:lnTo>
                    <a:pt x="103136" y="139446"/>
                  </a:lnTo>
                  <a:lnTo>
                    <a:pt x="103136" y="132588"/>
                  </a:lnTo>
                  <a:lnTo>
                    <a:pt x="105397" y="128143"/>
                  </a:lnTo>
                  <a:lnTo>
                    <a:pt x="164071" y="29210"/>
                  </a:lnTo>
                  <a:lnTo>
                    <a:pt x="166331" y="24765"/>
                  </a:lnTo>
                  <a:lnTo>
                    <a:pt x="173101" y="22479"/>
                  </a:lnTo>
                  <a:lnTo>
                    <a:pt x="177622" y="24765"/>
                  </a:lnTo>
                  <a:lnTo>
                    <a:pt x="179870" y="29210"/>
                  </a:lnTo>
                  <a:lnTo>
                    <a:pt x="182130" y="33782"/>
                  </a:lnTo>
                  <a:lnTo>
                    <a:pt x="182130" y="16903"/>
                  </a:lnTo>
                  <a:lnTo>
                    <a:pt x="152793" y="0"/>
                  </a:lnTo>
                  <a:lnTo>
                    <a:pt x="150533" y="0"/>
                  </a:lnTo>
                  <a:lnTo>
                    <a:pt x="15113" y="229362"/>
                  </a:lnTo>
                  <a:lnTo>
                    <a:pt x="24625" y="230263"/>
                  </a:lnTo>
                  <a:lnTo>
                    <a:pt x="38811" y="234937"/>
                  </a:lnTo>
                  <a:lnTo>
                    <a:pt x="56362" y="246354"/>
                  </a:lnTo>
                  <a:lnTo>
                    <a:pt x="76047" y="267462"/>
                  </a:lnTo>
                  <a:lnTo>
                    <a:pt x="149669" y="141605"/>
                  </a:lnTo>
                  <a:lnTo>
                    <a:pt x="211480" y="35941"/>
                  </a:lnTo>
                  <a:lnTo>
                    <a:pt x="211480" y="33782"/>
                  </a:lnTo>
                  <a:close/>
                </a:path>
                <a:path w="360044" h="358139">
                  <a:moveTo>
                    <a:pt x="360006" y="179832"/>
                  </a:moveTo>
                  <a:lnTo>
                    <a:pt x="357746" y="175387"/>
                  </a:lnTo>
                  <a:lnTo>
                    <a:pt x="355498" y="170815"/>
                  </a:lnTo>
                  <a:lnTo>
                    <a:pt x="348729" y="170815"/>
                  </a:lnTo>
                  <a:lnTo>
                    <a:pt x="346468" y="173101"/>
                  </a:lnTo>
                  <a:lnTo>
                    <a:pt x="341960" y="175387"/>
                  </a:lnTo>
                  <a:lnTo>
                    <a:pt x="335191" y="179832"/>
                  </a:lnTo>
                  <a:lnTo>
                    <a:pt x="295135" y="206222"/>
                  </a:lnTo>
                  <a:lnTo>
                    <a:pt x="277342" y="228904"/>
                  </a:lnTo>
                  <a:lnTo>
                    <a:pt x="277380" y="240411"/>
                  </a:lnTo>
                  <a:lnTo>
                    <a:pt x="282067" y="249834"/>
                  </a:lnTo>
                  <a:lnTo>
                    <a:pt x="287820" y="256540"/>
                  </a:lnTo>
                  <a:lnTo>
                    <a:pt x="270116" y="262128"/>
                  </a:lnTo>
                  <a:lnTo>
                    <a:pt x="251155" y="265798"/>
                  </a:lnTo>
                  <a:lnTo>
                    <a:pt x="231343" y="268211"/>
                  </a:lnTo>
                  <a:lnTo>
                    <a:pt x="211112" y="270002"/>
                  </a:lnTo>
                  <a:lnTo>
                    <a:pt x="185407" y="271932"/>
                  </a:lnTo>
                  <a:lnTo>
                    <a:pt x="159512" y="275120"/>
                  </a:lnTo>
                  <a:lnTo>
                    <a:pt x="134023" y="280835"/>
                  </a:lnTo>
                  <a:lnTo>
                    <a:pt x="109601" y="290322"/>
                  </a:lnTo>
                  <a:lnTo>
                    <a:pt x="107340" y="290322"/>
                  </a:lnTo>
                  <a:lnTo>
                    <a:pt x="105105" y="292582"/>
                  </a:lnTo>
                  <a:lnTo>
                    <a:pt x="105079" y="297053"/>
                  </a:lnTo>
                  <a:lnTo>
                    <a:pt x="105537" y="308648"/>
                  </a:lnTo>
                  <a:lnTo>
                    <a:pt x="112128" y="317055"/>
                  </a:lnTo>
                  <a:lnTo>
                    <a:pt x="122529" y="323380"/>
                  </a:lnTo>
                  <a:lnTo>
                    <a:pt x="134416" y="328676"/>
                  </a:lnTo>
                  <a:lnTo>
                    <a:pt x="141185" y="330835"/>
                  </a:lnTo>
                  <a:lnTo>
                    <a:pt x="150202" y="335407"/>
                  </a:lnTo>
                  <a:lnTo>
                    <a:pt x="152463" y="337693"/>
                  </a:lnTo>
                  <a:lnTo>
                    <a:pt x="152463" y="339852"/>
                  </a:lnTo>
                  <a:lnTo>
                    <a:pt x="132156" y="339852"/>
                  </a:lnTo>
                  <a:lnTo>
                    <a:pt x="118618" y="339483"/>
                  </a:lnTo>
                  <a:lnTo>
                    <a:pt x="105079" y="338493"/>
                  </a:lnTo>
                  <a:lnTo>
                    <a:pt x="91541" y="337070"/>
                  </a:lnTo>
                  <a:lnTo>
                    <a:pt x="78016" y="335407"/>
                  </a:lnTo>
                  <a:lnTo>
                    <a:pt x="64122" y="332435"/>
                  </a:lnTo>
                  <a:lnTo>
                    <a:pt x="49809" y="330327"/>
                  </a:lnTo>
                  <a:lnTo>
                    <a:pt x="35496" y="329095"/>
                  </a:lnTo>
                  <a:lnTo>
                    <a:pt x="21615" y="328676"/>
                  </a:lnTo>
                  <a:lnTo>
                    <a:pt x="17106" y="328676"/>
                  </a:lnTo>
                  <a:lnTo>
                    <a:pt x="12598" y="333121"/>
                  </a:lnTo>
                  <a:lnTo>
                    <a:pt x="12598" y="342138"/>
                  </a:lnTo>
                  <a:lnTo>
                    <a:pt x="17106" y="346710"/>
                  </a:lnTo>
                  <a:lnTo>
                    <a:pt x="21615" y="346710"/>
                  </a:lnTo>
                  <a:lnTo>
                    <a:pt x="34823" y="347091"/>
                  </a:lnTo>
                  <a:lnTo>
                    <a:pt x="47840" y="348081"/>
                  </a:lnTo>
                  <a:lnTo>
                    <a:pt x="75755" y="351155"/>
                  </a:lnTo>
                  <a:lnTo>
                    <a:pt x="89636" y="354139"/>
                  </a:lnTo>
                  <a:lnTo>
                    <a:pt x="103949" y="356247"/>
                  </a:lnTo>
                  <a:lnTo>
                    <a:pt x="118262" y="357479"/>
                  </a:lnTo>
                  <a:lnTo>
                    <a:pt x="132156" y="357886"/>
                  </a:lnTo>
                  <a:lnTo>
                    <a:pt x="156972" y="357886"/>
                  </a:lnTo>
                  <a:lnTo>
                    <a:pt x="166001" y="355727"/>
                  </a:lnTo>
                  <a:lnTo>
                    <a:pt x="170510" y="348869"/>
                  </a:lnTo>
                  <a:lnTo>
                    <a:pt x="175018" y="339852"/>
                  </a:lnTo>
                  <a:lnTo>
                    <a:pt x="168249" y="330835"/>
                  </a:lnTo>
                  <a:lnTo>
                    <a:pt x="168249" y="328676"/>
                  </a:lnTo>
                  <a:lnTo>
                    <a:pt x="162750" y="322681"/>
                  </a:lnTo>
                  <a:lnTo>
                    <a:pt x="156400" y="317944"/>
                  </a:lnTo>
                  <a:lnTo>
                    <a:pt x="149212" y="314071"/>
                  </a:lnTo>
                  <a:lnTo>
                    <a:pt x="141185" y="310642"/>
                  </a:lnTo>
                  <a:lnTo>
                    <a:pt x="136664" y="310642"/>
                  </a:lnTo>
                  <a:lnTo>
                    <a:pt x="123139" y="303784"/>
                  </a:lnTo>
                  <a:lnTo>
                    <a:pt x="145161" y="296938"/>
                  </a:lnTo>
                  <a:lnTo>
                    <a:pt x="167398" y="292582"/>
                  </a:lnTo>
                  <a:lnTo>
                    <a:pt x="190068" y="289890"/>
                  </a:lnTo>
                  <a:lnTo>
                    <a:pt x="213372" y="288036"/>
                  </a:lnTo>
                  <a:lnTo>
                    <a:pt x="237020" y="284937"/>
                  </a:lnTo>
                  <a:lnTo>
                    <a:pt x="260464" y="281597"/>
                  </a:lnTo>
                  <a:lnTo>
                    <a:pt x="283476" y="276974"/>
                  </a:lnTo>
                  <a:lnTo>
                    <a:pt x="305866" y="270002"/>
                  </a:lnTo>
                  <a:lnTo>
                    <a:pt x="310375" y="270002"/>
                  </a:lnTo>
                  <a:lnTo>
                    <a:pt x="310375" y="267716"/>
                  </a:lnTo>
                  <a:lnTo>
                    <a:pt x="312635" y="265557"/>
                  </a:lnTo>
                  <a:lnTo>
                    <a:pt x="312635" y="256540"/>
                  </a:lnTo>
                  <a:lnTo>
                    <a:pt x="308114" y="251968"/>
                  </a:lnTo>
                  <a:lnTo>
                    <a:pt x="305866" y="247523"/>
                  </a:lnTo>
                  <a:lnTo>
                    <a:pt x="301345" y="245237"/>
                  </a:lnTo>
                  <a:lnTo>
                    <a:pt x="292328" y="233934"/>
                  </a:lnTo>
                  <a:lnTo>
                    <a:pt x="299097" y="227203"/>
                  </a:lnTo>
                  <a:lnTo>
                    <a:pt x="307340" y="219125"/>
                  </a:lnTo>
                  <a:lnTo>
                    <a:pt x="317703" y="211683"/>
                  </a:lnTo>
                  <a:lnTo>
                    <a:pt x="339699" y="197866"/>
                  </a:lnTo>
                  <a:lnTo>
                    <a:pt x="346468" y="193421"/>
                  </a:lnTo>
                  <a:lnTo>
                    <a:pt x="355498" y="188849"/>
                  </a:lnTo>
                  <a:lnTo>
                    <a:pt x="360006" y="184404"/>
                  </a:lnTo>
                  <a:lnTo>
                    <a:pt x="360006" y="179832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952601" y="614705"/>
            <a:ext cx="7298690" cy="2432685"/>
          </a:xfrm>
          <a:prstGeom prst="rect">
            <a:avLst/>
          </a:prstGeom>
        </p:spPr>
        <p:txBody>
          <a:bodyPr vert="horz" wrap="square" lIns="0" tIns="242570" rIns="0" bIns="0" rtlCol="0">
            <a:spAutoFit/>
          </a:bodyPr>
          <a:lstStyle/>
          <a:p>
            <a:pPr marL="295910">
              <a:lnSpc>
                <a:spcPct val="100000"/>
              </a:lnSpc>
              <a:spcBef>
                <a:spcPts val="1910"/>
              </a:spcBef>
              <a:tabLst>
                <a:tab pos="4803775" algn="l"/>
              </a:tabLst>
            </a:pPr>
            <a:r>
              <a:rPr sz="4200" spc="-15" baseline="-1984" dirty="0">
                <a:solidFill>
                  <a:srgbClr val="404040"/>
                </a:solidFill>
                <a:latin typeface="微软雅黑"/>
                <a:cs typeface="微软雅黑"/>
              </a:rPr>
              <a:t>对“</a:t>
            </a:r>
            <a:r>
              <a:rPr sz="4200" spc="-15" baseline="-1984" dirty="0">
                <a:solidFill>
                  <a:srgbClr val="404040"/>
                </a:solidFill>
                <a:latin typeface="Times New Roman"/>
                <a:cs typeface="Times New Roman"/>
              </a:rPr>
              <a:t>BACBAD</a:t>
            </a:r>
            <a:r>
              <a:rPr sz="4200" spc="-15" baseline="-1984" dirty="0">
                <a:solidFill>
                  <a:srgbClr val="404040"/>
                </a:solidFill>
                <a:latin typeface="微软雅黑"/>
                <a:cs typeface="微软雅黑"/>
              </a:rPr>
              <a:t>”</a:t>
            </a:r>
            <a:r>
              <a:rPr sz="4200" spc="-7" baseline="-1984" dirty="0">
                <a:solidFill>
                  <a:srgbClr val="404040"/>
                </a:solidFill>
                <a:latin typeface="微软雅黑"/>
                <a:cs typeface="微软雅黑"/>
              </a:rPr>
              <a:t>进行编</a:t>
            </a:r>
            <a:r>
              <a:rPr sz="4200" baseline="-1984" dirty="0">
                <a:solidFill>
                  <a:srgbClr val="404040"/>
                </a:solidFill>
                <a:latin typeface="微软雅黑"/>
                <a:cs typeface="微软雅黑"/>
              </a:rPr>
              <a:t>码</a:t>
            </a:r>
            <a:r>
              <a:rPr sz="4200" spc="-7" baseline="-1984" dirty="0">
                <a:solidFill>
                  <a:srgbClr val="404040"/>
                </a:solidFill>
                <a:latin typeface="微软雅黑"/>
                <a:cs typeface="微软雅黑"/>
              </a:rPr>
              <a:t>：	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10000101000110</a:t>
            </a:r>
            <a:endParaRPr sz="2800" dirty="0">
              <a:latin typeface="Times New Roman"/>
              <a:cs typeface="Times New Roman"/>
            </a:endParaRPr>
          </a:p>
          <a:p>
            <a:pPr marR="1671320" algn="r">
              <a:lnSpc>
                <a:spcPct val="100000"/>
              </a:lnSpc>
              <a:spcBef>
                <a:spcPts val="1805"/>
              </a:spcBef>
            </a:pPr>
            <a:r>
              <a:rPr sz="2800" spc="-10" dirty="0">
                <a:solidFill>
                  <a:srgbClr val="404040"/>
                </a:solidFill>
                <a:latin typeface="微软雅黑"/>
                <a:cs typeface="微软雅黑"/>
              </a:rPr>
              <a:t>对“</a:t>
            </a: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10000101000110</a:t>
            </a:r>
            <a:r>
              <a:rPr sz="2800" spc="-10" dirty="0">
                <a:solidFill>
                  <a:srgbClr val="404040"/>
                </a:solidFill>
                <a:latin typeface="微软雅黑"/>
                <a:cs typeface="微软雅黑"/>
              </a:rPr>
              <a:t>”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进行解码：</a:t>
            </a:r>
            <a:endParaRPr sz="2800" dirty="0">
              <a:latin typeface="微软雅黑"/>
              <a:cs typeface="微软雅黑"/>
            </a:endParaRPr>
          </a:p>
          <a:p>
            <a:pPr marR="1753235" algn="r">
              <a:lnSpc>
                <a:spcPct val="100000"/>
              </a:lnSpc>
              <a:spcBef>
                <a:spcPts val="415"/>
              </a:spcBef>
            </a:pPr>
            <a:r>
              <a:rPr sz="2800" spc="-10" dirty="0">
                <a:solidFill>
                  <a:srgbClr val="404040"/>
                </a:solidFill>
                <a:latin typeface="Times New Roman"/>
                <a:cs typeface="Times New Roman"/>
              </a:rPr>
              <a:t>10B-00A-010C-10B-00A-110D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60"/>
              </a:spcBef>
            </a:pPr>
            <a:r>
              <a:rPr sz="2400" spc="-5" dirty="0">
                <a:latin typeface="宋体"/>
                <a:cs typeface="宋体"/>
              </a:rPr>
              <a:t>哈夫曼编码方案</a:t>
            </a:r>
            <a:r>
              <a:rPr sz="2400" dirty="0">
                <a:latin typeface="宋体"/>
                <a:cs typeface="宋体"/>
              </a:rPr>
              <a:t>：</a:t>
            </a:r>
          </a:p>
        </p:txBody>
      </p:sp>
      <p:grpSp>
        <p:nvGrpSpPr>
          <p:cNvPr id="42" name="object 42"/>
          <p:cNvGrpSpPr/>
          <p:nvPr/>
        </p:nvGrpSpPr>
        <p:grpSpPr>
          <a:xfrm>
            <a:off x="2474341" y="4396740"/>
            <a:ext cx="432434" cy="432434"/>
            <a:chOff x="2474341" y="4396740"/>
            <a:chExt cx="432434" cy="432434"/>
          </a:xfrm>
        </p:grpSpPr>
        <p:sp>
          <p:nvSpPr>
            <p:cNvPr id="43" name="object 43"/>
            <p:cNvSpPr/>
            <p:nvPr/>
          </p:nvSpPr>
          <p:spPr>
            <a:xfrm>
              <a:off x="2554732" y="4765675"/>
              <a:ext cx="271145" cy="63500"/>
            </a:xfrm>
            <a:custGeom>
              <a:avLst/>
              <a:gdLst/>
              <a:ahLst/>
              <a:cxnLst/>
              <a:rect l="l" t="t" r="r" b="b"/>
              <a:pathLst>
                <a:path w="271144" h="63500">
                  <a:moveTo>
                    <a:pt x="233425" y="0"/>
                  </a:moveTo>
                  <a:lnTo>
                    <a:pt x="37845" y="0"/>
                  </a:lnTo>
                  <a:lnTo>
                    <a:pt x="33400" y="2031"/>
                  </a:lnTo>
                  <a:lnTo>
                    <a:pt x="33400" y="4191"/>
                  </a:lnTo>
                  <a:lnTo>
                    <a:pt x="2286" y="50418"/>
                  </a:lnTo>
                  <a:lnTo>
                    <a:pt x="0" y="54610"/>
                  </a:lnTo>
                  <a:lnTo>
                    <a:pt x="0" y="58927"/>
                  </a:lnTo>
                  <a:lnTo>
                    <a:pt x="4444" y="60960"/>
                  </a:lnTo>
                  <a:lnTo>
                    <a:pt x="6731" y="63118"/>
                  </a:lnTo>
                  <a:lnTo>
                    <a:pt x="13335" y="63118"/>
                  </a:lnTo>
                  <a:lnTo>
                    <a:pt x="17780" y="58927"/>
                  </a:lnTo>
                  <a:lnTo>
                    <a:pt x="44450" y="16763"/>
                  </a:lnTo>
                  <a:lnTo>
                    <a:pt x="246333" y="16763"/>
                  </a:lnTo>
                  <a:lnTo>
                    <a:pt x="237870" y="4191"/>
                  </a:lnTo>
                  <a:lnTo>
                    <a:pt x="233425" y="0"/>
                  </a:lnTo>
                  <a:close/>
                </a:path>
                <a:path w="271144" h="63500">
                  <a:moveTo>
                    <a:pt x="246333" y="16763"/>
                  </a:moveTo>
                  <a:lnTo>
                    <a:pt x="226694" y="16763"/>
                  </a:lnTo>
                  <a:lnTo>
                    <a:pt x="253365" y="58927"/>
                  </a:lnTo>
                  <a:lnTo>
                    <a:pt x="255650" y="60960"/>
                  </a:lnTo>
                  <a:lnTo>
                    <a:pt x="257810" y="63118"/>
                  </a:lnTo>
                  <a:lnTo>
                    <a:pt x="264541" y="63118"/>
                  </a:lnTo>
                  <a:lnTo>
                    <a:pt x="266700" y="60960"/>
                  </a:lnTo>
                  <a:lnTo>
                    <a:pt x="271144" y="58927"/>
                  </a:lnTo>
                  <a:lnTo>
                    <a:pt x="271144" y="54610"/>
                  </a:lnTo>
                  <a:lnTo>
                    <a:pt x="268986" y="50418"/>
                  </a:lnTo>
                  <a:lnTo>
                    <a:pt x="246333" y="16763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74341" y="4396740"/>
              <a:ext cx="134873" cy="114046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70124" y="4396740"/>
              <a:ext cx="136144" cy="114046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2521077" y="4438015"/>
              <a:ext cx="335915" cy="316865"/>
            </a:xfrm>
            <a:custGeom>
              <a:avLst/>
              <a:gdLst/>
              <a:ahLst/>
              <a:cxnLst/>
              <a:rect l="l" t="t" r="r" b="b"/>
              <a:pathLst>
                <a:path w="335914" h="316864">
                  <a:moveTo>
                    <a:pt x="169037" y="0"/>
                  </a:moveTo>
                  <a:lnTo>
                    <a:pt x="124060" y="5654"/>
                  </a:lnTo>
                  <a:lnTo>
                    <a:pt x="83669" y="21613"/>
                  </a:lnTo>
                  <a:lnTo>
                    <a:pt x="49466" y="46370"/>
                  </a:lnTo>
                  <a:lnTo>
                    <a:pt x="23052" y="78420"/>
                  </a:lnTo>
                  <a:lnTo>
                    <a:pt x="6030" y="116254"/>
                  </a:lnTo>
                  <a:lnTo>
                    <a:pt x="0" y="158369"/>
                  </a:lnTo>
                  <a:lnTo>
                    <a:pt x="6030" y="200483"/>
                  </a:lnTo>
                  <a:lnTo>
                    <a:pt x="23052" y="238317"/>
                  </a:lnTo>
                  <a:lnTo>
                    <a:pt x="49466" y="270367"/>
                  </a:lnTo>
                  <a:lnTo>
                    <a:pt x="83669" y="295124"/>
                  </a:lnTo>
                  <a:lnTo>
                    <a:pt x="124060" y="311083"/>
                  </a:lnTo>
                  <a:lnTo>
                    <a:pt x="169037" y="316738"/>
                  </a:lnTo>
                  <a:lnTo>
                    <a:pt x="213853" y="311083"/>
                  </a:lnTo>
                  <a:lnTo>
                    <a:pt x="253844" y="295124"/>
                  </a:lnTo>
                  <a:lnTo>
                    <a:pt x="287528" y="270367"/>
                  </a:lnTo>
                  <a:lnTo>
                    <a:pt x="313421" y="238317"/>
                  </a:lnTo>
                  <a:lnTo>
                    <a:pt x="330044" y="200483"/>
                  </a:lnTo>
                  <a:lnTo>
                    <a:pt x="334180" y="170815"/>
                  </a:lnTo>
                  <a:lnTo>
                    <a:pt x="162433" y="170815"/>
                  </a:lnTo>
                  <a:lnTo>
                    <a:pt x="157987" y="164592"/>
                  </a:lnTo>
                  <a:lnTo>
                    <a:pt x="157987" y="43815"/>
                  </a:lnTo>
                  <a:lnTo>
                    <a:pt x="162433" y="37465"/>
                  </a:lnTo>
                  <a:lnTo>
                    <a:pt x="275411" y="37465"/>
                  </a:lnTo>
                  <a:lnTo>
                    <a:pt x="253844" y="21613"/>
                  </a:lnTo>
                  <a:lnTo>
                    <a:pt x="213853" y="5654"/>
                  </a:lnTo>
                  <a:lnTo>
                    <a:pt x="169037" y="0"/>
                  </a:lnTo>
                  <a:close/>
                </a:path>
                <a:path w="335914" h="316864">
                  <a:moveTo>
                    <a:pt x="275411" y="37465"/>
                  </a:moveTo>
                  <a:lnTo>
                    <a:pt x="177927" y="37465"/>
                  </a:lnTo>
                  <a:lnTo>
                    <a:pt x="184658" y="43815"/>
                  </a:lnTo>
                  <a:lnTo>
                    <a:pt x="184658" y="145796"/>
                  </a:lnTo>
                  <a:lnTo>
                    <a:pt x="237998" y="145796"/>
                  </a:lnTo>
                  <a:lnTo>
                    <a:pt x="244729" y="149987"/>
                  </a:lnTo>
                  <a:lnTo>
                    <a:pt x="244729" y="164592"/>
                  </a:lnTo>
                  <a:lnTo>
                    <a:pt x="237998" y="170815"/>
                  </a:lnTo>
                  <a:lnTo>
                    <a:pt x="334180" y="170815"/>
                  </a:lnTo>
                  <a:lnTo>
                    <a:pt x="335915" y="158369"/>
                  </a:lnTo>
                  <a:lnTo>
                    <a:pt x="330044" y="116254"/>
                  </a:lnTo>
                  <a:lnTo>
                    <a:pt x="313421" y="78420"/>
                  </a:lnTo>
                  <a:lnTo>
                    <a:pt x="287528" y="46370"/>
                  </a:lnTo>
                  <a:lnTo>
                    <a:pt x="275411" y="37465"/>
                  </a:lnTo>
                  <a:close/>
                </a:path>
              </a:pathLst>
            </a:custGeom>
            <a:solidFill>
              <a:srgbClr val="5A3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3116960" y="4366005"/>
            <a:ext cx="4543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如何进行</a:t>
            </a:r>
            <a:r>
              <a:rPr sz="2800" i="1" spc="-10" dirty="0">
                <a:solidFill>
                  <a:srgbClr val="404040"/>
                </a:solidFill>
                <a:latin typeface="Times New Roman"/>
                <a:cs typeface="Times New Roman"/>
              </a:rPr>
              <a:t>m</a:t>
            </a:r>
            <a:r>
              <a:rPr sz="2800" spc="-5" dirty="0">
                <a:solidFill>
                  <a:srgbClr val="404040"/>
                </a:solidFill>
                <a:latin typeface="微软雅黑"/>
                <a:cs typeface="微软雅黑"/>
              </a:rPr>
              <a:t>进制不等长编码？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49" name="object 3"/>
          <p:cNvSpPr/>
          <p:nvPr/>
        </p:nvSpPr>
        <p:spPr>
          <a:xfrm>
            <a:off x="542925" y="100964"/>
            <a:ext cx="1152525" cy="540385"/>
          </a:xfrm>
          <a:custGeom>
            <a:avLst/>
            <a:gdLst/>
            <a:ahLst/>
            <a:cxnLst/>
            <a:rect l="l" t="t" r="r" b="b"/>
            <a:pathLst>
              <a:path w="1152525" h="540385">
                <a:moveTo>
                  <a:pt x="1061974" y="0"/>
                </a:moveTo>
                <a:lnTo>
                  <a:pt x="90004" y="0"/>
                </a:lnTo>
                <a:lnTo>
                  <a:pt x="54971" y="7068"/>
                </a:lnTo>
                <a:lnTo>
                  <a:pt x="26362" y="26352"/>
                </a:lnTo>
                <a:lnTo>
                  <a:pt x="7073" y="54971"/>
                </a:lnTo>
                <a:lnTo>
                  <a:pt x="0" y="90042"/>
                </a:lnTo>
                <a:lnTo>
                  <a:pt x="0" y="449960"/>
                </a:lnTo>
                <a:lnTo>
                  <a:pt x="7073" y="485032"/>
                </a:lnTo>
                <a:lnTo>
                  <a:pt x="26362" y="513651"/>
                </a:lnTo>
                <a:lnTo>
                  <a:pt x="54971" y="532935"/>
                </a:lnTo>
                <a:lnTo>
                  <a:pt x="90004" y="540003"/>
                </a:lnTo>
                <a:lnTo>
                  <a:pt x="1061974" y="540003"/>
                </a:lnTo>
                <a:lnTo>
                  <a:pt x="1097045" y="532935"/>
                </a:lnTo>
                <a:lnTo>
                  <a:pt x="1125664" y="513651"/>
                </a:lnTo>
                <a:lnTo>
                  <a:pt x="1144948" y="485032"/>
                </a:lnTo>
                <a:lnTo>
                  <a:pt x="1152017" y="449960"/>
                </a:lnTo>
                <a:lnTo>
                  <a:pt x="1152017" y="90042"/>
                </a:lnTo>
                <a:lnTo>
                  <a:pt x="1144948" y="54971"/>
                </a:lnTo>
                <a:lnTo>
                  <a:pt x="1125664" y="26352"/>
                </a:lnTo>
                <a:lnTo>
                  <a:pt x="1097045" y="7068"/>
                </a:lnTo>
                <a:lnTo>
                  <a:pt x="1061974" y="0"/>
                </a:lnTo>
                <a:close/>
              </a:path>
            </a:pathLst>
          </a:custGeom>
          <a:solidFill>
            <a:srgbClr val="5A31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4"/>
          <p:cNvSpPr txBox="1">
            <a:spLocks noGrp="1"/>
          </p:cNvSpPr>
          <p:nvPr>
            <p:ph type="title"/>
          </p:nvPr>
        </p:nvSpPr>
        <p:spPr>
          <a:xfrm>
            <a:off x="716991" y="141809"/>
            <a:ext cx="84264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chemeClr val="bg1"/>
                </a:solidFill>
              </a:rPr>
              <a:t>编码</a:t>
            </a:r>
          </a:p>
        </p:txBody>
      </p:sp>
    </p:spTree>
    <p:extLst>
      <p:ext uri="{BB962C8B-B14F-4D97-AF65-F5344CB8AC3E}">
        <p14:creationId xmlns:p14="http://schemas.microsoft.com/office/powerpoint/2010/main" val="3792591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3c63e8c2-c38e-4a5e-9eda-a26ef9399d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4504</Words>
  <Application>Microsoft Office PowerPoint</Application>
  <PresentationFormat>宽屏</PresentationFormat>
  <Paragraphs>1542</Paragraphs>
  <Slides>71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71</vt:i4>
      </vt:variant>
    </vt:vector>
  </HeadingPairs>
  <TitlesOfParts>
    <vt:vector size="87" baseType="lpstr">
      <vt:lpstr>Angsana New</vt:lpstr>
      <vt:lpstr>Microsoft YaHei UI</vt:lpstr>
      <vt:lpstr>等线</vt:lpstr>
      <vt:lpstr>黑体</vt:lpstr>
      <vt:lpstr>隶书</vt:lpstr>
      <vt:lpstr>宋体</vt:lpstr>
      <vt:lpstr>微软雅黑</vt:lpstr>
      <vt:lpstr>新宋体</vt:lpstr>
      <vt:lpstr>Arial</vt:lpstr>
      <vt:lpstr>Arial Black</vt:lpstr>
      <vt:lpstr>Calibri</vt:lpstr>
      <vt:lpstr>Symbol</vt:lpstr>
      <vt:lpstr>Times New Roman</vt:lpstr>
      <vt:lpstr>Wingdings</vt:lpstr>
      <vt:lpstr>Office Theme</vt:lpstr>
      <vt:lpstr>Clip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三叉链表</vt:lpstr>
      <vt:lpstr>三叉链表</vt:lpstr>
      <vt:lpstr>三叉链表</vt:lpstr>
      <vt:lpstr>三叉链表</vt:lpstr>
      <vt:lpstr>第五章   树和二叉树</vt:lpstr>
      <vt:lpstr>森林的定义</vt:lpstr>
      <vt:lpstr>森林的定义</vt:lpstr>
      <vt:lpstr>森林的遍历</vt:lpstr>
      <vt:lpstr>第五章   树和二叉树</vt:lpstr>
      <vt:lpstr>PowerPoint 演示文稿</vt:lpstr>
      <vt:lpstr>树与二叉树的对应关系</vt:lpstr>
      <vt:lpstr>树与二叉树的对应关系</vt:lpstr>
      <vt:lpstr>树转换为二叉树</vt:lpstr>
      <vt:lpstr>树转换为二叉树</vt:lpstr>
      <vt:lpstr>树转换为二叉树</vt:lpstr>
      <vt:lpstr>森林转换为二叉树</vt:lpstr>
      <vt:lpstr>森林转换为二叉树</vt:lpstr>
      <vt:lpstr>森林转换为二叉树</vt:lpstr>
      <vt:lpstr>二叉树转换为树（森林）</vt:lpstr>
      <vt:lpstr>第五章   树和二叉树</vt:lpstr>
      <vt:lpstr>最优二叉树</vt:lpstr>
      <vt:lpstr>最优二叉树</vt:lpstr>
      <vt:lpstr>最优二叉树</vt:lpstr>
      <vt:lpstr>哈夫曼算法</vt:lpstr>
      <vt:lpstr>哈夫曼算法</vt:lpstr>
      <vt:lpstr>哈夫曼算法</vt:lpstr>
      <vt:lpstr>哈夫曼算法</vt:lpstr>
      <vt:lpstr>哈夫曼算法</vt:lpstr>
      <vt:lpstr>哈夫曼算法</vt:lpstr>
      <vt:lpstr>哈夫曼算法</vt:lpstr>
      <vt:lpstr>哈夫曼算法</vt:lpstr>
      <vt:lpstr>哈夫曼算法</vt:lpstr>
      <vt:lpstr>哈夫曼算法</vt:lpstr>
      <vt:lpstr>第五章  树和二叉树</vt:lpstr>
      <vt:lpstr>编码</vt:lpstr>
      <vt:lpstr>编码</vt:lpstr>
      <vt:lpstr>编码</vt:lpstr>
      <vt:lpstr>编码</vt:lpstr>
    </vt:vector>
  </TitlesOfParts>
  <Company>Sky123.Org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AutoBVT</dc:creator>
  <cp:lastModifiedBy>Windows 用户</cp:lastModifiedBy>
  <cp:revision>191</cp:revision>
  <dcterms:created xsi:type="dcterms:W3CDTF">2016-09-14T00:58:00Z</dcterms:created>
  <dcterms:modified xsi:type="dcterms:W3CDTF">2024-05-10T13:28:00Z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72679742D7624522AC567FAF7945F7E2</vt:lpwstr>
  </property>
  <property fmtid="{D5CDD505-2E9C-101B-9397-08002B2CF9AE}" pid="3" name="KSOProductBuildVer">
    <vt:lpwstr>2052-11.1.0.12980</vt:lpwstr>
  </property>
</Properties>
</file>